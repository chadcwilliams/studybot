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23" r:id="rId3"/>
    <p:sldId id="418" r:id="rId4"/>
    <p:sldId id="406" r:id="rId5"/>
    <p:sldId id="405" r:id="rId6"/>
    <p:sldId id="397" r:id="rId7"/>
    <p:sldId id="399" r:id="rId8"/>
    <p:sldId id="400" r:id="rId9"/>
    <p:sldId id="398" r:id="rId10"/>
    <p:sldId id="401" r:id="rId11"/>
    <p:sldId id="402" r:id="rId12"/>
    <p:sldId id="333" r:id="rId13"/>
    <p:sldId id="447" r:id="rId14"/>
    <p:sldId id="448" r:id="rId15"/>
    <p:sldId id="446" r:id="rId16"/>
    <p:sldId id="284" r:id="rId17"/>
    <p:sldId id="330" r:id="rId18"/>
    <p:sldId id="328" r:id="rId19"/>
    <p:sldId id="331" r:id="rId20"/>
    <p:sldId id="385" r:id="rId21"/>
    <p:sldId id="336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74" r:id="rId31"/>
    <p:sldId id="404" r:id="rId32"/>
    <p:sldId id="419" r:id="rId33"/>
    <p:sldId id="407" r:id="rId34"/>
    <p:sldId id="410" r:id="rId35"/>
    <p:sldId id="411" r:id="rId36"/>
    <p:sldId id="449" r:id="rId37"/>
    <p:sldId id="412" r:id="rId38"/>
    <p:sldId id="415" r:id="rId39"/>
    <p:sldId id="379" r:id="rId40"/>
    <p:sldId id="414" r:id="rId41"/>
    <p:sldId id="416" r:id="rId42"/>
    <p:sldId id="417" r:id="rId43"/>
    <p:sldId id="386" r:id="rId44"/>
    <p:sldId id="444" r:id="rId45"/>
    <p:sldId id="44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2D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C6F60-3FDA-403D-B6CA-A620F3F08D83}" v="330" dt="2026-07-22T17:56:17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8"/>
    <p:restoredTop sz="96327"/>
  </p:normalViewPr>
  <p:slideViewPr>
    <p:cSldViewPr snapToGrid="0" snapToObjects="1">
      <p:cViewPr>
        <p:scale>
          <a:sx n="93" d="100"/>
          <a:sy n="93" d="100"/>
        </p:scale>
        <p:origin x="58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custSel addSld delSld modSld">
      <pc:chgData name="Chad Williams" userId="618f96a3-8672-4e43-ae03-eeed93bb7387" providerId="ADAL" clId="{DFF2BB08-185E-495B-B2A0-BE0942C7B81E}" dt="2026-07-22T17:57:06.697" v="1941" actId="2062"/>
      <pc:docMkLst>
        <pc:docMk/>
      </pc:docMkLst>
      <pc:sldChg chg="modSp del mod modAnim">
        <pc:chgData name="Chad Williams" userId="618f96a3-8672-4e43-ae03-eeed93bb7387" providerId="ADAL" clId="{DFF2BB08-185E-495B-B2A0-BE0942C7B81E}" dt="2026-07-22T17:36:09.240" v="1771" actId="47"/>
        <pc:sldMkLst>
          <pc:docMk/>
          <pc:sldMk cId="2557677516" sldId="265"/>
        </pc:sldMkLst>
        <pc:spChg chg="mod">
          <ac:chgData name="Chad Williams" userId="618f96a3-8672-4e43-ae03-eeed93bb7387" providerId="ADAL" clId="{DFF2BB08-185E-495B-B2A0-BE0942C7B81E}" dt="2026-07-22T16:55:33.920" v="1468" actId="20577"/>
          <ac:spMkLst>
            <pc:docMk/>
            <pc:sldMk cId="2557677516" sldId="265"/>
            <ac:spMk id="10" creationId="{29D1B64A-44F8-944F-9CD2-7692775274EB}"/>
          </ac:spMkLst>
        </pc:spChg>
      </pc:sldChg>
      <pc:sldChg chg="modSp">
        <pc:chgData name="Chad Williams" userId="618f96a3-8672-4e43-ae03-eeed93bb7387" providerId="ADAL" clId="{DFF2BB08-185E-495B-B2A0-BE0942C7B81E}" dt="2026-07-22T17:37:54.879" v="1792" actId="20577"/>
        <pc:sldMkLst>
          <pc:docMk/>
          <pc:sldMk cId="3641227417" sldId="374"/>
        </pc:sldMkLst>
        <pc:spChg chg="mod">
          <ac:chgData name="Chad Williams" userId="618f96a3-8672-4e43-ae03-eeed93bb7387" providerId="ADAL" clId="{DFF2BB08-185E-495B-B2A0-BE0942C7B81E}" dt="2026-07-22T17:37:54.879" v="1792" actId="20577"/>
          <ac:spMkLst>
            <pc:docMk/>
            <pc:sldMk cId="3641227417" sldId="374"/>
            <ac:spMk id="3" creationId="{0AEDD9E7-2483-7A49-96F8-35144B7D539C}"/>
          </ac:spMkLst>
        </pc:spChg>
      </pc:sldChg>
      <pc:sldChg chg="addSp delSp modSp add mod">
        <pc:chgData name="Chad Williams" userId="618f96a3-8672-4e43-ae03-eeed93bb7387" providerId="ADAL" clId="{DFF2BB08-185E-495B-B2A0-BE0942C7B81E}" dt="2026-07-22T17:57:06.697" v="1941" actId="2062"/>
        <pc:sldMkLst>
          <pc:docMk/>
          <pc:sldMk cId="2194340498" sldId="386"/>
        </pc:sldMkLst>
        <pc:spChg chg="mod">
          <ac:chgData name="Chad Williams" userId="618f96a3-8672-4e43-ae03-eeed93bb7387" providerId="ADAL" clId="{DFF2BB08-185E-495B-B2A0-BE0942C7B81E}" dt="2026-07-22T17:25:01.150" v="1726" actId="14100"/>
          <ac:spMkLst>
            <pc:docMk/>
            <pc:sldMk cId="2194340498" sldId="386"/>
            <ac:spMk id="2" creationId="{DC3AE6BB-58A8-1546-92D6-2C0306990118}"/>
          </ac:spMkLst>
        </pc:spChg>
        <pc:graphicFrameChg chg="mod modGraphic">
          <ac:chgData name="Chad Williams" userId="618f96a3-8672-4e43-ae03-eeed93bb7387" providerId="ADAL" clId="{DFF2BB08-185E-495B-B2A0-BE0942C7B81E}" dt="2026-07-22T17:57:06.697" v="1941" actId="2062"/>
          <ac:graphicFrameMkLst>
            <pc:docMk/>
            <pc:sldMk cId="2194340498" sldId="386"/>
            <ac:graphicFrameMk id="9" creationId="{0D6EC0FC-CC18-974B-AD31-52C27E382E2F}"/>
          </ac:graphicFrameMkLst>
        </pc:graphicFrameChg>
        <pc:picChg chg="del">
          <ac:chgData name="Chad Williams" userId="618f96a3-8672-4e43-ae03-eeed93bb7387" providerId="ADAL" clId="{DFF2BB08-185E-495B-B2A0-BE0942C7B81E}" dt="2026-07-22T17:34:18.449" v="1766" actId="478"/>
          <ac:picMkLst>
            <pc:docMk/>
            <pc:sldMk cId="2194340498" sldId="386"/>
            <ac:picMk id="3" creationId="{39255D02-709C-8284-4430-384E83ADB7A9}"/>
          </ac:picMkLst>
        </pc:picChg>
        <pc:picChg chg="add del mod">
          <ac:chgData name="Chad Williams" userId="618f96a3-8672-4e43-ae03-eeed93bb7387" providerId="ADAL" clId="{DFF2BB08-185E-495B-B2A0-BE0942C7B81E}" dt="2026-07-22T17:32:29.750" v="1751" actId="931"/>
          <ac:picMkLst>
            <pc:docMk/>
            <pc:sldMk cId="2194340498" sldId="386"/>
            <ac:picMk id="5" creationId="{A0B232BD-52F8-8B83-6FE9-58A930049EBD}"/>
          </ac:picMkLst>
        </pc:picChg>
      </pc:sldChg>
      <pc:sldChg chg="modSp mod">
        <pc:chgData name="Chad Williams" userId="618f96a3-8672-4e43-ae03-eeed93bb7387" providerId="ADAL" clId="{DFF2BB08-185E-495B-B2A0-BE0942C7B81E}" dt="2026-07-22T16:57:48.177" v="1501" actId="1037"/>
        <pc:sldMkLst>
          <pc:docMk/>
          <pc:sldMk cId="1402901606" sldId="389"/>
        </pc:sldMkLst>
        <pc:spChg chg="mod">
          <ac:chgData name="Chad Williams" userId="618f96a3-8672-4e43-ae03-eeed93bb7387" providerId="ADAL" clId="{DFF2BB08-185E-495B-B2A0-BE0942C7B81E}" dt="2026-07-22T16:57:48.177" v="1501" actId="1037"/>
          <ac:spMkLst>
            <pc:docMk/>
            <pc:sldMk cId="1402901606" sldId="389"/>
            <ac:spMk id="22" creationId="{A3A9A30C-5232-7930-8EFD-311DE6F8DF9E}"/>
          </ac:spMkLst>
        </pc:spChg>
        <pc:spChg chg="mod">
          <ac:chgData name="Chad Williams" userId="618f96a3-8672-4e43-ae03-eeed93bb7387" providerId="ADAL" clId="{DFF2BB08-185E-495B-B2A0-BE0942C7B81E}" dt="2026-07-22T16:57:43.233" v="1496" actId="1076"/>
          <ac:spMkLst>
            <pc:docMk/>
            <pc:sldMk cId="1402901606" sldId="389"/>
            <ac:spMk id="24" creationId="{072273A3-4F4D-E748-A51D-B174327B28E9}"/>
          </ac:spMkLst>
        </pc:spChg>
      </pc:sldChg>
      <pc:sldChg chg="modSp add del mod">
        <pc:chgData name="Chad Williams" userId="618f96a3-8672-4e43-ae03-eeed93bb7387" providerId="ADAL" clId="{DFF2BB08-185E-495B-B2A0-BE0942C7B81E}" dt="2026-07-22T16:57:53.952" v="1502" actId="1076"/>
        <pc:sldMkLst>
          <pc:docMk/>
          <pc:sldMk cId="3567649462" sldId="390"/>
        </pc:sldMkLst>
        <pc:spChg chg="mod">
          <ac:chgData name="Chad Williams" userId="618f96a3-8672-4e43-ae03-eeed93bb7387" providerId="ADAL" clId="{DFF2BB08-185E-495B-B2A0-BE0942C7B81E}" dt="2026-07-22T16:57:53.952" v="1502" actId="1076"/>
          <ac:spMkLst>
            <pc:docMk/>
            <pc:sldMk cId="3567649462" sldId="390"/>
            <ac:spMk id="22" creationId="{BE035C8A-123E-8878-8B56-6BC8A218EC26}"/>
          </ac:spMkLst>
        </pc:spChg>
      </pc:sldChg>
      <pc:sldChg chg="add del">
        <pc:chgData name="Chad Williams" userId="618f96a3-8672-4e43-ae03-eeed93bb7387" providerId="ADAL" clId="{DFF2BB08-185E-495B-B2A0-BE0942C7B81E}" dt="2026-07-22T16:57:36.096" v="1495" actId="47"/>
        <pc:sldMkLst>
          <pc:docMk/>
          <pc:sldMk cId="3881556710" sldId="391"/>
        </pc:sldMkLst>
      </pc:sldChg>
      <pc:sldChg chg="modSp add del mod">
        <pc:chgData name="Chad Williams" userId="618f96a3-8672-4e43-ae03-eeed93bb7387" providerId="ADAL" clId="{DFF2BB08-185E-495B-B2A0-BE0942C7B81E}" dt="2026-07-22T16:58:11.410" v="1503" actId="1076"/>
        <pc:sldMkLst>
          <pc:docMk/>
          <pc:sldMk cId="2901888470" sldId="392"/>
        </pc:sldMkLst>
        <pc:spChg chg="mod">
          <ac:chgData name="Chad Williams" userId="618f96a3-8672-4e43-ae03-eeed93bb7387" providerId="ADAL" clId="{DFF2BB08-185E-495B-B2A0-BE0942C7B81E}" dt="2026-07-22T16:58:11.410" v="1503" actId="1076"/>
          <ac:spMkLst>
            <pc:docMk/>
            <pc:sldMk cId="2901888470" sldId="392"/>
            <ac:spMk id="22" creationId="{1CE9E4DB-8AC8-2FDD-4918-4C33AC5ADAF1}"/>
          </ac:spMkLst>
        </pc:spChg>
      </pc:sldChg>
      <pc:sldChg chg="modSp add del mod">
        <pc:chgData name="Chad Williams" userId="618f96a3-8672-4e43-ae03-eeed93bb7387" providerId="ADAL" clId="{DFF2BB08-185E-495B-B2A0-BE0942C7B81E}" dt="2026-07-22T16:58:19.949" v="1504" actId="1076"/>
        <pc:sldMkLst>
          <pc:docMk/>
          <pc:sldMk cId="435751581" sldId="393"/>
        </pc:sldMkLst>
        <pc:spChg chg="mod">
          <ac:chgData name="Chad Williams" userId="618f96a3-8672-4e43-ae03-eeed93bb7387" providerId="ADAL" clId="{DFF2BB08-185E-495B-B2A0-BE0942C7B81E}" dt="2026-07-22T16:58:19.949" v="1504" actId="1076"/>
          <ac:spMkLst>
            <pc:docMk/>
            <pc:sldMk cId="435751581" sldId="393"/>
            <ac:spMk id="22" creationId="{4979464F-8822-9ED2-386B-6853906C0655}"/>
          </ac:spMkLst>
        </pc:spChg>
      </pc:sldChg>
      <pc:sldChg chg="addSp delSp modSp mod">
        <pc:chgData name="Chad Williams" userId="618f96a3-8672-4e43-ae03-eeed93bb7387" providerId="ADAL" clId="{DFF2BB08-185E-495B-B2A0-BE0942C7B81E}" dt="2026-07-22T16:59:46.945" v="1509" actId="14100"/>
        <pc:sldMkLst>
          <pc:docMk/>
          <pc:sldMk cId="1356179476" sldId="395"/>
        </pc:sldMkLst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5" creationId="{E08871C3-49C7-51F6-51AB-0B17C83674C9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22" creationId="{A9BDBA67-3265-E056-66F9-C6C0207F118E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24" creationId="{13BE2E40-FF8E-9051-0081-E8A08B39D4BB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48" creationId="{BC726298-EF42-85F9-2233-D3ED1D726798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49" creationId="{2B4D8445-6128-553C-FEAC-48D48918878C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74" creationId="{516A1F70-28ED-7D34-A867-71C2862E0C1C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75" creationId="{319EE88C-15CF-4C5A-AF0D-AB9613847E65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77" creationId="{8BC3C89C-7B53-F83A-266C-93EE4BC9D1CB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80" creationId="{F40FAD0D-5AA7-F15A-7A04-28FF313AF90E}"/>
          </ac:spMkLst>
        </pc:spChg>
        <pc:spChg chg="mod topLvl">
          <ac:chgData name="Chad Williams" userId="618f96a3-8672-4e43-ae03-eeed93bb7387" providerId="ADAL" clId="{DFF2BB08-185E-495B-B2A0-BE0942C7B81E}" dt="2026-07-22T16:59:42.278" v="1508" actId="164"/>
          <ac:spMkLst>
            <pc:docMk/>
            <pc:sldMk cId="1356179476" sldId="395"/>
            <ac:spMk id="81" creationId="{23C03F4D-63A9-BA7E-D6DE-3387F0D8C53D}"/>
          </ac:spMkLst>
        </pc:spChg>
        <pc:grpChg chg="mod">
          <ac:chgData name="Chad Williams" userId="618f96a3-8672-4e43-ae03-eeed93bb7387" providerId="ADAL" clId="{DFF2BB08-185E-495B-B2A0-BE0942C7B81E}" dt="2026-07-22T16:59:46.945" v="1509" actId="14100"/>
          <ac:grpSpMkLst>
            <pc:docMk/>
            <pc:sldMk cId="1356179476" sldId="395"/>
            <ac:grpSpMk id="7" creationId="{77F7B035-B804-8E14-713F-F464CD05F691}"/>
          </ac:grpSpMkLst>
        </pc:grpChg>
      </pc:sldChg>
      <pc:sldChg chg="modSp mod">
        <pc:chgData name="Chad Williams" userId="618f96a3-8672-4e43-ae03-eeed93bb7387" providerId="ADAL" clId="{DFF2BB08-185E-495B-B2A0-BE0942C7B81E}" dt="2026-07-22T16:17:08.832" v="84" actId="20577"/>
        <pc:sldMkLst>
          <pc:docMk/>
          <pc:sldMk cId="724536929" sldId="397"/>
        </pc:sldMkLst>
        <pc:graphicFrameChg chg="modGraphic">
          <ac:chgData name="Chad Williams" userId="618f96a3-8672-4e43-ae03-eeed93bb7387" providerId="ADAL" clId="{DFF2BB08-185E-495B-B2A0-BE0942C7B81E}" dt="2026-07-22T16:17:08.832" v="84" actId="20577"/>
          <ac:graphicFrameMkLst>
            <pc:docMk/>
            <pc:sldMk cId="724536929" sldId="397"/>
            <ac:graphicFrameMk id="5" creationId="{CE1036C0-ADA7-80EF-EEAB-0DF46A5B6936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2T16:17:21.259" v="85" actId="20577"/>
        <pc:sldMkLst>
          <pc:docMk/>
          <pc:sldMk cId="1630739368" sldId="398"/>
        </pc:sldMkLst>
        <pc:graphicFrameChg chg="modGraphic">
          <ac:chgData name="Chad Williams" userId="618f96a3-8672-4e43-ae03-eeed93bb7387" providerId="ADAL" clId="{DFF2BB08-185E-495B-B2A0-BE0942C7B81E}" dt="2026-07-22T16:17:21.259" v="85" actId="20577"/>
          <ac:graphicFrameMkLst>
            <pc:docMk/>
            <pc:sldMk cId="1630739368" sldId="398"/>
            <ac:graphicFrameMk id="5" creationId="{26F1E5DE-8F1D-9256-A3E2-1B2B56D8D506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2T16:17:01.825" v="83" actId="20577"/>
        <pc:sldMkLst>
          <pc:docMk/>
          <pc:sldMk cId="2238463805" sldId="399"/>
        </pc:sldMkLst>
        <pc:graphicFrameChg chg="modGraphic">
          <ac:chgData name="Chad Williams" userId="618f96a3-8672-4e43-ae03-eeed93bb7387" providerId="ADAL" clId="{DFF2BB08-185E-495B-B2A0-BE0942C7B81E}" dt="2026-07-22T16:17:01.825" v="83" actId="20577"/>
          <ac:graphicFrameMkLst>
            <pc:docMk/>
            <pc:sldMk cId="2238463805" sldId="399"/>
            <ac:graphicFrameMk id="5" creationId="{EAA260A1-0A26-F9E4-10C5-F1FED7024ADB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2T16:16:33.096" v="81" actId="20577"/>
        <pc:sldMkLst>
          <pc:docMk/>
          <pc:sldMk cId="239029364" sldId="400"/>
        </pc:sldMkLst>
        <pc:graphicFrameChg chg="modGraphic">
          <ac:chgData name="Chad Williams" userId="618f96a3-8672-4e43-ae03-eeed93bb7387" providerId="ADAL" clId="{DFF2BB08-185E-495B-B2A0-BE0942C7B81E}" dt="2026-07-22T16:16:33.096" v="81" actId="20577"/>
          <ac:graphicFrameMkLst>
            <pc:docMk/>
            <pc:sldMk cId="239029364" sldId="400"/>
            <ac:graphicFrameMk id="5" creationId="{754C5079-7107-B2D5-222F-4222614C777F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2T16:17:24.290" v="86" actId="20577"/>
        <pc:sldMkLst>
          <pc:docMk/>
          <pc:sldMk cId="2931194783" sldId="401"/>
        </pc:sldMkLst>
        <pc:graphicFrameChg chg="modGraphic">
          <ac:chgData name="Chad Williams" userId="618f96a3-8672-4e43-ae03-eeed93bb7387" providerId="ADAL" clId="{DFF2BB08-185E-495B-B2A0-BE0942C7B81E}" dt="2026-07-22T16:17:24.290" v="86" actId="20577"/>
          <ac:graphicFrameMkLst>
            <pc:docMk/>
            <pc:sldMk cId="2931194783" sldId="401"/>
            <ac:graphicFrameMk id="5" creationId="{97C998CF-D9CB-A209-70F4-62F2883D888C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2T16:16:44.752" v="82" actId="20577"/>
        <pc:sldMkLst>
          <pc:docMk/>
          <pc:sldMk cId="1699187506" sldId="402"/>
        </pc:sldMkLst>
        <pc:graphicFrameChg chg="modGraphic">
          <ac:chgData name="Chad Williams" userId="618f96a3-8672-4e43-ae03-eeed93bb7387" providerId="ADAL" clId="{DFF2BB08-185E-495B-B2A0-BE0942C7B81E}" dt="2026-07-22T16:16:44.752" v="82" actId="20577"/>
          <ac:graphicFrameMkLst>
            <pc:docMk/>
            <pc:sldMk cId="1699187506" sldId="402"/>
            <ac:graphicFrameMk id="5" creationId="{BDB58EA8-D1C8-4EB9-4EBB-A731AD666842}"/>
          </ac:graphicFrameMkLst>
        </pc:graphicFrameChg>
      </pc:sldChg>
      <pc:sldChg chg="modSp modAnim">
        <pc:chgData name="Chad Williams" userId="618f96a3-8672-4e43-ae03-eeed93bb7387" providerId="ADAL" clId="{DFF2BB08-185E-495B-B2A0-BE0942C7B81E}" dt="2026-07-22T17:00:31.373" v="1511" actId="20577"/>
        <pc:sldMkLst>
          <pc:docMk/>
          <pc:sldMk cId="1660699145" sldId="404"/>
        </pc:sldMkLst>
        <pc:spChg chg="mod">
          <ac:chgData name="Chad Williams" userId="618f96a3-8672-4e43-ae03-eeed93bb7387" providerId="ADAL" clId="{DFF2BB08-185E-495B-B2A0-BE0942C7B81E}" dt="2026-07-22T17:00:31.373" v="1511" actId="20577"/>
          <ac:spMkLst>
            <pc:docMk/>
            <pc:sldMk cId="1660699145" sldId="404"/>
            <ac:spMk id="3" creationId="{E06DAA77-2705-5BAD-1FA2-5140D843AD7C}"/>
          </ac:spMkLst>
        </pc:spChg>
      </pc:sldChg>
      <pc:sldChg chg="modSp modAnim">
        <pc:chgData name="Chad Williams" userId="618f96a3-8672-4e43-ae03-eeed93bb7387" providerId="ADAL" clId="{DFF2BB08-185E-495B-B2A0-BE0942C7B81E}" dt="2026-07-22T17:53:31.646" v="1895"/>
        <pc:sldMkLst>
          <pc:docMk/>
          <pc:sldMk cId="668911560" sldId="406"/>
        </pc:sldMkLst>
        <pc:spChg chg="mod">
          <ac:chgData name="Chad Williams" userId="618f96a3-8672-4e43-ae03-eeed93bb7387" providerId="ADAL" clId="{DFF2BB08-185E-495B-B2A0-BE0942C7B81E}" dt="2026-07-22T17:35:10.145" v="1768" actId="20577"/>
          <ac:spMkLst>
            <pc:docMk/>
            <pc:sldMk cId="668911560" sldId="406"/>
            <ac:spMk id="3" creationId="{212B32C6-D058-EA93-4DAB-A345954ECA1B}"/>
          </ac:spMkLst>
        </pc:spChg>
      </pc:sldChg>
      <pc:sldChg chg="modSp mod">
        <pc:chgData name="Chad Williams" userId="618f96a3-8672-4e43-ae03-eeed93bb7387" providerId="ADAL" clId="{DFF2BB08-185E-495B-B2A0-BE0942C7B81E}" dt="2026-07-22T17:01:51.105" v="1563" actId="20577"/>
        <pc:sldMkLst>
          <pc:docMk/>
          <pc:sldMk cId="3548847751" sldId="407"/>
        </pc:sldMkLst>
        <pc:spChg chg="mod">
          <ac:chgData name="Chad Williams" userId="618f96a3-8672-4e43-ae03-eeed93bb7387" providerId="ADAL" clId="{DFF2BB08-185E-495B-B2A0-BE0942C7B81E}" dt="2026-07-22T17:01:51.105" v="1563" actId="20577"/>
          <ac:spMkLst>
            <pc:docMk/>
            <pc:sldMk cId="3548847751" sldId="407"/>
            <ac:spMk id="3" creationId="{4CC2676E-D750-29F4-62EF-AE10583F92F6}"/>
          </ac:spMkLst>
        </pc:spChg>
      </pc:sldChg>
      <pc:sldChg chg="modSp mod">
        <pc:chgData name="Chad Williams" userId="618f96a3-8672-4e43-ae03-eeed93bb7387" providerId="ADAL" clId="{DFF2BB08-185E-495B-B2A0-BE0942C7B81E}" dt="2026-07-22T17:38:44.235" v="1793" actId="20577"/>
        <pc:sldMkLst>
          <pc:docMk/>
          <pc:sldMk cId="3644372978" sldId="410"/>
        </pc:sldMkLst>
        <pc:spChg chg="mod">
          <ac:chgData name="Chad Williams" userId="618f96a3-8672-4e43-ae03-eeed93bb7387" providerId="ADAL" clId="{DFF2BB08-185E-495B-B2A0-BE0942C7B81E}" dt="2026-07-22T17:38:44.235" v="1793" actId="20577"/>
          <ac:spMkLst>
            <pc:docMk/>
            <pc:sldMk cId="3644372978" sldId="410"/>
            <ac:spMk id="3" creationId="{24F2270E-C431-F9C9-DC47-4CA4FBA1E348}"/>
          </ac:spMkLst>
        </pc:spChg>
      </pc:sldChg>
      <pc:sldChg chg="addSp delSp modSp mod modAnim">
        <pc:chgData name="Chad Williams" userId="618f96a3-8672-4e43-ae03-eeed93bb7387" providerId="ADAL" clId="{DFF2BB08-185E-495B-B2A0-BE0942C7B81E}" dt="2026-07-22T17:05:36.055" v="1655" actId="403"/>
        <pc:sldMkLst>
          <pc:docMk/>
          <pc:sldMk cId="231442370" sldId="411"/>
        </pc:sldMkLst>
        <pc:spChg chg="mod">
          <ac:chgData name="Chad Williams" userId="618f96a3-8672-4e43-ae03-eeed93bb7387" providerId="ADAL" clId="{DFF2BB08-185E-495B-B2A0-BE0942C7B81E}" dt="2026-07-22T17:05:36.055" v="1655" actId="403"/>
          <ac:spMkLst>
            <pc:docMk/>
            <pc:sldMk cId="231442370" sldId="411"/>
            <ac:spMk id="3" creationId="{470523EA-C4DF-7F92-7152-F33FB7F1AC2D}"/>
          </ac:spMkLst>
        </pc:spChg>
        <pc:grpChg chg="del">
          <ac:chgData name="Chad Williams" userId="618f96a3-8672-4e43-ae03-eeed93bb7387" providerId="ADAL" clId="{DFF2BB08-185E-495B-B2A0-BE0942C7B81E}" dt="2026-07-22T17:04:37.212" v="1639" actId="478"/>
          <ac:grpSpMkLst>
            <pc:docMk/>
            <pc:sldMk cId="231442370" sldId="411"/>
            <ac:grpSpMk id="25" creationId="{63CA7A21-0615-9166-CE6E-F778F6840D88}"/>
          </ac:grpSpMkLst>
        </pc:grpChg>
        <pc:picChg chg="add mod">
          <ac:chgData name="Chad Williams" userId="618f96a3-8672-4e43-ae03-eeed93bb7387" providerId="ADAL" clId="{DFF2BB08-185E-495B-B2A0-BE0942C7B81E}" dt="2026-07-22T17:04:40.161" v="1641" actId="1076"/>
          <ac:picMkLst>
            <pc:docMk/>
            <pc:sldMk cId="231442370" sldId="411"/>
            <ac:picMk id="5" creationId="{1BD6300B-1B7D-E083-AF5A-29CEC6BC874A}"/>
          </ac:picMkLst>
        </pc:picChg>
        <pc:picChg chg="add mod">
          <ac:chgData name="Chad Williams" userId="618f96a3-8672-4e43-ae03-eeed93bb7387" providerId="ADAL" clId="{DFF2BB08-185E-495B-B2A0-BE0942C7B81E}" dt="2026-07-22T17:04:40.161" v="1641" actId="1076"/>
          <ac:picMkLst>
            <pc:docMk/>
            <pc:sldMk cId="231442370" sldId="411"/>
            <ac:picMk id="6" creationId="{638AA11E-6922-14FA-0653-69653613B8CB}"/>
          </ac:picMkLst>
        </pc:picChg>
      </pc:sldChg>
      <pc:sldChg chg="addSp delSp modSp mod">
        <pc:chgData name="Chad Williams" userId="618f96a3-8672-4e43-ae03-eeed93bb7387" providerId="ADAL" clId="{DFF2BB08-185E-495B-B2A0-BE0942C7B81E}" dt="2026-07-22T17:32:55.145" v="1758" actId="21"/>
        <pc:sldMkLst>
          <pc:docMk/>
          <pc:sldMk cId="788902290" sldId="412"/>
        </pc:sldMkLst>
        <pc:picChg chg="add del mod">
          <ac:chgData name="Chad Williams" userId="618f96a3-8672-4e43-ae03-eeed93bb7387" providerId="ADAL" clId="{DFF2BB08-185E-495B-B2A0-BE0942C7B81E}" dt="2026-07-22T17:32:55.145" v="1758" actId="21"/>
          <ac:picMkLst>
            <pc:docMk/>
            <pc:sldMk cId="788902290" sldId="412"/>
            <ac:picMk id="5" creationId="{27DF249C-7CC8-B35C-C54B-2A563C32AD84}"/>
          </ac:picMkLst>
        </pc:picChg>
      </pc:sldChg>
      <pc:sldChg chg="addSp delSp modSp mod">
        <pc:chgData name="Chad Williams" userId="618f96a3-8672-4e43-ae03-eeed93bb7387" providerId="ADAL" clId="{DFF2BB08-185E-495B-B2A0-BE0942C7B81E}" dt="2026-07-22T17:50:16.241" v="1812" actId="21"/>
        <pc:sldMkLst>
          <pc:docMk/>
          <pc:sldMk cId="302842631" sldId="414"/>
        </pc:sldMkLst>
        <pc:spChg chg="mod">
          <ac:chgData name="Chad Williams" userId="618f96a3-8672-4e43-ae03-eeed93bb7387" providerId="ADAL" clId="{DFF2BB08-185E-495B-B2A0-BE0942C7B81E}" dt="2026-07-22T17:11:37.767" v="1697" actId="20577"/>
          <ac:spMkLst>
            <pc:docMk/>
            <pc:sldMk cId="302842631" sldId="414"/>
            <ac:spMk id="3" creationId="{AD0813D9-0A35-CEF6-EF2D-DA17856478A9}"/>
          </ac:spMkLst>
        </pc:spChg>
        <pc:picChg chg="add del mod">
          <ac:chgData name="Chad Williams" userId="618f96a3-8672-4e43-ae03-eeed93bb7387" providerId="ADAL" clId="{DFF2BB08-185E-495B-B2A0-BE0942C7B81E}" dt="2026-07-22T17:50:16.241" v="1812" actId="21"/>
          <ac:picMkLst>
            <pc:docMk/>
            <pc:sldMk cId="302842631" sldId="414"/>
            <ac:picMk id="15" creationId="{B12B0E8C-81D4-321C-751A-8143B2A202F9}"/>
          </ac:picMkLst>
        </pc:picChg>
      </pc:sldChg>
      <pc:sldChg chg="modSp">
        <pc:chgData name="Chad Williams" userId="618f96a3-8672-4e43-ae03-eeed93bb7387" providerId="ADAL" clId="{DFF2BB08-185E-495B-B2A0-BE0942C7B81E}" dt="2026-07-22T17:42:10.236" v="1809" actId="20577"/>
        <pc:sldMkLst>
          <pc:docMk/>
          <pc:sldMk cId="3979880850" sldId="417"/>
        </pc:sldMkLst>
        <pc:spChg chg="mod">
          <ac:chgData name="Chad Williams" userId="618f96a3-8672-4e43-ae03-eeed93bb7387" providerId="ADAL" clId="{DFF2BB08-185E-495B-B2A0-BE0942C7B81E}" dt="2026-07-22T17:42:10.236" v="1809" actId="20577"/>
          <ac:spMkLst>
            <pc:docMk/>
            <pc:sldMk cId="3979880850" sldId="417"/>
            <ac:spMk id="2" creationId="{AF56367C-E605-31A1-E551-9FAFFFA41AE7}"/>
          </ac:spMkLst>
        </pc:spChg>
      </pc:sldChg>
      <pc:sldChg chg="add">
        <pc:chgData name="Chad Williams" userId="618f96a3-8672-4e43-ae03-eeed93bb7387" providerId="ADAL" clId="{DFF2BB08-185E-495B-B2A0-BE0942C7B81E}" dt="2026-07-22T16:18:40.440" v="88"/>
        <pc:sldMkLst>
          <pc:docMk/>
          <pc:sldMk cId="1678747545" sldId="446"/>
        </pc:sldMkLst>
      </pc:sldChg>
      <pc:sldChg chg="addSp delSp modSp add mod modAnim">
        <pc:chgData name="Chad Williams" userId="618f96a3-8672-4e43-ae03-eeed93bb7387" providerId="ADAL" clId="{DFF2BB08-185E-495B-B2A0-BE0942C7B81E}" dt="2026-07-22T17:36:48.497" v="1791" actId="20577"/>
        <pc:sldMkLst>
          <pc:docMk/>
          <pc:sldMk cId="76533413" sldId="447"/>
        </pc:sldMkLst>
        <pc:spChg chg="mod ord">
          <ac:chgData name="Chad Williams" userId="618f96a3-8672-4e43-ae03-eeed93bb7387" providerId="ADAL" clId="{DFF2BB08-185E-495B-B2A0-BE0942C7B81E}" dt="2026-07-22T17:36:48.497" v="1791" actId="20577"/>
          <ac:spMkLst>
            <pc:docMk/>
            <pc:sldMk cId="76533413" sldId="447"/>
            <ac:spMk id="10" creationId="{F9E88E0C-67B6-FEA4-1998-1D0171135A49}"/>
          </ac:spMkLst>
        </pc:spChg>
        <pc:picChg chg="add">
          <ac:chgData name="Chad Williams" userId="618f96a3-8672-4e43-ae03-eeed93bb7387" providerId="ADAL" clId="{DFF2BB08-185E-495B-B2A0-BE0942C7B81E}" dt="2026-07-22T16:35:52.069" v="1052" actId="22"/>
          <ac:picMkLst>
            <pc:docMk/>
            <pc:sldMk cId="76533413" sldId="447"/>
            <ac:picMk id="4" creationId="{0F4D335A-D98B-5608-08FF-E95F6639F7EC}"/>
          </ac:picMkLst>
        </pc:picChg>
        <pc:picChg chg="del mod">
          <ac:chgData name="Chad Williams" userId="618f96a3-8672-4e43-ae03-eeed93bb7387" providerId="ADAL" clId="{DFF2BB08-185E-495B-B2A0-BE0942C7B81E}" dt="2026-07-22T16:35:51.890" v="1051" actId="478"/>
          <ac:picMkLst>
            <pc:docMk/>
            <pc:sldMk cId="76533413" sldId="447"/>
            <ac:picMk id="17" creationId="{77D311C7-6C34-BFB0-E04F-6D3D4162E09F}"/>
          </ac:picMkLst>
        </pc:picChg>
      </pc:sldChg>
      <pc:sldChg chg="addSp delSp modSp new mod modAnim">
        <pc:chgData name="Chad Williams" userId="618f96a3-8672-4e43-ae03-eeed93bb7387" providerId="ADAL" clId="{DFF2BB08-185E-495B-B2A0-BE0942C7B81E}" dt="2026-07-22T16:39:44.457" v="1228" actId="1076"/>
        <pc:sldMkLst>
          <pc:docMk/>
          <pc:sldMk cId="3803284888" sldId="448"/>
        </pc:sldMkLst>
        <pc:spChg chg="mod">
          <ac:chgData name="Chad Williams" userId="618f96a3-8672-4e43-ae03-eeed93bb7387" providerId="ADAL" clId="{DFF2BB08-185E-495B-B2A0-BE0942C7B81E}" dt="2026-07-22T16:32:53.881" v="998" actId="20577"/>
          <ac:spMkLst>
            <pc:docMk/>
            <pc:sldMk cId="3803284888" sldId="448"/>
            <ac:spMk id="2" creationId="{4948AFC6-5E75-9CC8-1F8D-CA8D19E75927}"/>
          </ac:spMkLst>
        </pc:spChg>
        <pc:spChg chg="del">
          <ac:chgData name="Chad Williams" userId="618f96a3-8672-4e43-ae03-eeed93bb7387" providerId="ADAL" clId="{DFF2BB08-185E-495B-B2A0-BE0942C7B81E}" dt="2026-07-22T16:33:09.096" v="999" actId="478"/>
          <ac:spMkLst>
            <pc:docMk/>
            <pc:sldMk cId="3803284888" sldId="448"/>
            <ac:spMk id="3" creationId="{F029375A-5736-1CAD-1914-045331F1F2C9}"/>
          </ac:spMkLst>
        </pc:spChg>
        <pc:spChg chg="add mod">
          <ac:chgData name="Chad Williams" userId="618f96a3-8672-4e43-ae03-eeed93bb7387" providerId="ADAL" clId="{DFF2BB08-185E-495B-B2A0-BE0942C7B81E}" dt="2026-07-22T16:38:53.100" v="1223" actId="20577"/>
          <ac:spMkLst>
            <pc:docMk/>
            <pc:sldMk cId="3803284888" sldId="448"/>
            <ac:spMk id="11" creationId="{B368CF86-727F-2ABF-772D-06868913316D}"/>
          </ac:spMkLst>
        </pc:spChg>
        <pc:spChg chg="add mod">
          <ac:chgData name="Chad Williams" userId="618f96a3-8672-4e43-ae03-eeed93bb7387" providerId="ADAL" clId="{DFF2BB08-185E-495B-B2A0-BE0942C7B81E}" dt="2026-07-22T16:39:44.457" v="1228" actId="1076"/>
          <ac:spMkLst>
            <pc:docMk/>
            <pc:sldMk cId="3803284888" sldId="448"/>
            <ac:spMk id="13" creationId="{6EAF8ADA-02FF-31F9-AF45-5501E26A7816}"/>
          </ac:spMkLst>
        </pc:spChg>
        <pc:picChg chg="add mod">
          <ac:chgData name="Chad Williams" userId="618f96a3-8672-4e43-ae03-eeed93bb7387" providerId="ADAL" clId="{DFF2BB08-185E-495B-B2A0-BE0942C7B81E}" dt="2026-07-22T16:34:13.958" v="1012" actId="1076"/>
          <ac:picMkLst>
            <pc:docMk/>
            <pc:sldMk cId="3803284888" sldId="448"/>
            <ac:picMk id="5" creationId="{67D85A1C-C1E1-4A01-3B1B-6F84D1A298B5}"/>
          </ac:picMkLst>
        </pc:picChg>
        <pc:picChg chg="add mod">
          <ac:chgData name="Chad Williams" userId="618f96a3-8672-4e43-ae03-eeed93bb7387" providerId="ADAL" clId="{DFF2BB08-185E-495B-B2A0-BE0942C7B81E}" dt="2026-07-22T16:34:13.958" v="1012" actId="1076"/>
          <ac:picMkLst>
            <pc:docMk/>
            <pc:sldMk cId="3803284888" sldId="448"/>
            <ac:picMk id="7" creationId="{BA9C244B-54A0-0DC8-D1F5-AA7EA4BD23E9}"/>
          </ac:picMkLst>
        </pc:picChg>
        <pc:cxnChg chg="add mod">
          <ac:chgData name="Chad Williams" userId="618f96a3-8672-4e43-ae03-eeed93bb7387" providerId="ADAL" clId="{DFF2BB08-185E-495B-B2A0-BE0942C7B81E}" dt="2026-07-22T16:37:32.986" v="1097" actId="14100"/>
          <ac:cxnSpMkLst>
            <pc:docMk/>
            <pc:sldMk cId="3803284888" sldId="448"/>
            <ac:cxnSpMk id="9" creationId="{D1E6C9C7-4AAD-DEEE-0186-CBCFFE16492E}"/>
          </ac:cxnSpMkLst>
        </pc:cxnChg>
        <pc:cxnChg chg="add mod">
          <ac:chgData name="Chad Williams" userId="618f96a3-8672-4e43-ae03-eeed93bb7387" providerId="ADAL" clId="{DFF2BB08-185E-495B-B2A0-BE0942C7B81E}" dt="2026-07-22T16:38:15.023" v="1157" actId="1076"/>
          <ac:cxnSpMkLst>
            <pc:docMk/>
            <pc:sldMk cId="3803284888" sldId="448"/>
            <ac:cxnSpMk id="12" creationId="{B9A79B33-A1E6-CAFA-C9FC-00795E87902E}"/>
          </ac:cxnSpMkLst>
        </pc:cxnChg>
      </pc:sldChg>
      <pc:sldChg chg="addSp delSp modSp add mod delAnim modAnim">
        <pc:chgData name="Chad Williams" userId="618f96a3-8672-4e43-ae03-eeed93bb7387" providerId="ADAL" clId="{DFF2BB08-185E-495B-B2A0-BE0942C7B81E}" dt="2026-07-22T17:54:54.189" v="1899"/>
        <pc:sldMkLst>
          <pc:docMk/>
          <pc:sldMk cId="1239744429" sldId="449"/>
        </pc:sldMkLst>
        <pc:spChg chg="mod">
          <ac:chgData name="Chad Williams" userId="618f96a3-8672-4e43-ae03-eeed93bb7387" providerId="ADAL" clId="{DFF2BB08-185E-495B-B2A0-BE0942C7B81E}" dt="2026-07-22T17:39:29.302" v="1795" actId="20577"/>
          <ac:spMkLst>
            <pc:docMk/>
            <pc:sldMk cId="1239744429" sldId="449"/>
            <ac:spMk id="3" creationId="{77114868-74FE-7BBB-8738-5FD5FF1949FB}"/>
          </ac:spMkLst>
        </pc:spChg>
        <pc:picChg chg="del">
          <ac:chgData name="Chad Williams" userId="618f96a3-8672-4e43-ae03-eeed93bb7387" providerId="ADAL" clId="{DFF2BB08-185E-495B-B2A0-BE0942C7B81E}" dt="2026-07-22T17:33:44.232" v="1765" actId="478"/>
          <ac:picMkLst>
            <pc:docMk/>
            <pc:sldMk cId="1239744429" sldId="449"/>
            <ac:picMk id="6" creationId="{875AC88B-4C59-3157-E006-6104BEDC3B89}"/>
          </ac:picMkLst>
        </pc:picChg>
        <pc:picChg chg="add del mod">
          <ac:chgData name="Chad Williams" userId="618f96a3-8672-4e43-ae03-eeed93bb7387" providerId="ADAL" clId="{DFF2BB08-185E-495B-B2A0-BE0942C7B81E}" dt="2026-07-22T17:51:36.337" v="1833" actId="478"/>
          <ac:picMkLst>
            <pc:docMk/>
            <pc:sldMk cId="1239744429" sldId="449"/>
            <ac:picMk id="7" creationId="{8F71D50D-2E71-8482-EB9B-C51A26576AEB}"/>
          </ac:picMkLst>
        </pc:picChg>
        <pc:picChg chg="add mod ord modCrop">
          <ac:chgData name="Chad Williams" userId="618f96a3-8672-4e43-ae03-eeed93bb7387" providerId="ADAL" clId="{DFF2BB08-185E-495B-B2A0-BE0942C7B81E}" dt="2026-07-22T17:52:59.284" v="1893" actId="1036"/>
          <ac:picMkLst>
            <pc:docMk/>
            <pc:sldMk cId="1239744429" sldId="449"/>
            <ac:picMk id="9" creationId="{78BFB398-7326-D577-91A1-28CBF53A20E5}"/>
          </ac:picMkLst>
        </pc:picChg>
        <pc:picChg chg="add mod ord">
          <ac:chgData name="Chad Williams" userId="618f96a3-8672-4e43-ae03-eeed93bb7387" providerId="ADAL" clId="{DFF2BB08-185E-495B-B2A0-BE0942C7B81E}" dt="2026-07-22T17:51:59.262" v="1839" actId="167"/>
          <ac:picMkLst>
            <pc:docMk/>
            <pc:sldMk cId="1239744429" sldId="449"/>
            <ac:picMk id="10" creationId="{CCC92E86-BFAD-5E2F-F38B-9EB5A5F1798D}"/>
          </ac:picMkLst>
        </pc:picChg>
        <pc:picChg chg="add mod modCrop">
          <ac:chgData name="Chad Williams" userId="618f96a3-8672-4e43-ae03-eeed93bb7387" providerId="ADAL" clId="{DFF2BB08-185E-495B-B2A0-BE0942C7B81E}" dt="2026-07-22T17:52:43.848" v="1887" actId="1038"/>
          <ac:picMkLst>
            <pc:docMk/>
            <pc:sldMk cId="1239744429" sldId="449"/>
            <ac:picMk id="12" creationId="{EAF44DA3-6385-DF42-CD1D-9CE0B7EE55C0}"/>
          </ac:picMkLst>
        </pc:picChg>
      </pc:sldChg>
      <pc:sldChg chg="add del">
        <pc:chgData name="Chad Williams" userId="618f96a3-8672-4e43-ae03-eeed93bb7387" providerId="ADAL" clId="{DFF2BB08-185E-495B-B2A0-BE0942C7B81E}" dt="2026-07-22T17:32:43.683" v="1755"/>
        <pc:sldMkLst>
          <pc:docMk/>
          <pc:sldMk cId="2237622277" sldId="45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21A4-30BB-D84D-9624-576C95B5C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FE4AB-24E8-0A40-9AE8-6E1C7B49F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CDE5-A01B-E842-B0E2-BDF38B19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2365-623D-FB4B-8AB7-769A68AB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6696-57B2-9C47-BB70-900F8E3C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8F0F-A6E6-A94B-96BE-0492F44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CA93-6A64-FA47-8AA0-F0BD828DA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75090-A415-EF4B-9339-F3F7C65E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D7A8E-E996-5F4A-8C12-0A3A7BFB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EA12-3476-E948-AC83-98FA9852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2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7B3D-75B4-7B4E-8B4F-F8B040CE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656B2-DE23-8C44-83CB-2573FD0E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8D425-BCA5-484D-ACB7-006717C3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3CB64-01C5-4146-B318-CD0945EB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33571-4F78-904D-A746-C030452E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1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D2EC-8B5D-1741-9D0C-27C06458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A908-D215-A345-81F8-5E006C32E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EAC4B-7C60-6743-A785-BBC389F42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A296D-2F66-2B4B-A5FA-1B260BC1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59DD6-D2F4-C548-AC54-672581F0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26ECA-6E13-9F4E-A23C-A324357D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8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7E14-F596-6248-93B7-F6362777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5ED79-E6F6-4941-B880-69FF69286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1E395-D625-CF41-B08E-FD16F2CD3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044DE-B069-E14D-B0EE-ABE6D87BD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F37FE-5651-CA46-9F70-E285C9EC0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02925-6C09-D44B-8CB7-68E3195F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05934-4876-6B4E-99AF-C4A2EA90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5ED9F-8ABA-024C-B060-2A587F20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8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D54F-C542-4B4C-9230-82AC8E99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43EC9-D0DD-6C47-90FA-733366D9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5DFD8-0630-294E-B0AC-2D7D57DB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73D01-F969-AD45-97AF-49ED9027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9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31964-5D28-AE4C-9C3B-3152F345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B4487-1CC2-964A-BF71-205F4EEE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79ED6-15A7-6040-9F41-86174E6D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6C5E-6826-2740-AC80-4B7BE19D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5D83-D763-0648-B06B-9688C5472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6F309-7EC6-5F42-9E28-A33EFB521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03A1E-DFCA-7E4A-B997-FEBBDD29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E05AB-3B43-024A-9A3A-17D89280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F1E47-BBE7-7448-81B3-341EDEAE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7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9A45-40A0-FC4F-9778-E31B8D86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9B9D4-5756-0547-8446-A9F6B117A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90680-BE4F-9D4A-B1F9-F289A3DD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4FA9D-66FF-0D4A-B240-17AB265E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E99E9-E5E9-0641-AEA5-A56F2B35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CD24B-7EB3-1D45-B99B-666C5532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7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AD5E-F454-CE4E-B2BB-25905462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6208D-7421-1C4B-AF22-0D43AF5F1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8772F-5DDB-2740-B9D6-C2ACBB1E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A0DBC-6A45-BC4C-BD62-53679CA9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DD2C-0664-AA48-8C8D-44B52B43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5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CF8AF-2718-694C-80DE-BF593ED8A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2CD1E-D5A2-8642-84A5-84546FD60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9DE82-4BB6-124B-9474-DBA89CCC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0D1BA-A50D-3948-B714-A7F110B5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F97B0-5E74-3A4E-B9CF-57685E47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5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427A5-9E14-F04B-9B89-722A7BBA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F0F1E-CA82-0140-89CC-1E3CF671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806D8-58D4-8D45-8FD3-8E0E9D1A7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7FFA1-8504-9D40-8F95-D251061DDF8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FF50-7F75-8F40-9957-D482C1924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F175A-4155-824B-AD63-69108CABB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B7CA-72CC-5445-92CB-F91254D4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9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youtu.be/7S7j75d3GM4?si=JABFj6jN7DUHKxZ-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hyperlink" Target="https://youtu.be/ivd8wEHnMCg?si=V0aeDtpcIxCzFY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805" y="1122363"/>
            <a:ext cx="6197089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Sampling Distribution of the Mean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805" y="3602038"/>
            <a:ext cx="6197089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Distributions of Hypothesis Testing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Defining the Sampling Distribution</a:t>
            </a:r>
            <a:endParaRPr lang="en-US" sz="2800" dirty="0"/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6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5EDC-25A6-D3BB-0CEA-01A94E3CC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2F767D9-8BB6-2852-91A0-F28783F1E5CB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4B2D50E-6A40-7C20-7EE7-1904D3CC1661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93FC601-B07C-84C3-A8EF-4D7EF8F2C9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1B5DFA9-F6BB-A564-D195-E4AFA7155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8A5842C-A0F1-CAAB-A3E7-D8F14AB9B091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CA967B68-81DE-7E08-F111-07FF9DE2EDA8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9231F10C-9378-B1E1-C5A7-58F2F32A2150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AB142F0-EE14-55DF-88F3-C205C5F9F54F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6C5D9CD-3AED-03C2-3E2D-036020E89E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76CCE5-4D4C-5B20-A4E8-1F46D94E56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20BDA2-665A-34A7-323C-452F4C1C7241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1E3E459-9DF6-BDB2-C36E-980FC603D022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AF0E03-5935-4401-FE3B-ED04C8CE7C65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3298CF-C2B2-FA54-6B9C-EEA24D769304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88B41A6-86CA-06AA-6932-25C2B3B52A96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A1CA8F-0F1E-8000-C4E2-CB4F7FD53277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180315F2-5EBF-D45A-D536-2CB2A6674C97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Distributions of Hypothesis Testing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Defining the Sampling Distribution</a:t>
            </a:r>
            <a:endParaRPr lang="en-US" sz="2800" dirty="0"/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16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BCF5-1936-C174-91D1-A584A7BA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2267" cy="1325563"/>
          </a:xfrm>
        </p:spPr>
        <p:txBody>
          <a:bodyPr/>
          <a:lstStyle/>
          <a:p>
            <a:r>
              <a:rPr lang="en-US" dirty="0"/>
              <a:t>Single Participant versus Single Sample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32C6-D058-EA93-4DAB-A345954EC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879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Single-Participant Design</a:t>
            </a:r>
            <a:r>
              <a:rPr lang="en-US" dirty="0"/>
              <a:t>: We are comparing a single participant’s </a:t>
            </a:r>
            <a:r>
              <a:rPr lang="en-US" b="1" dirty="0"/>
              <a:t>score (x) </a:t>
            </a:r>
            <a:r>
              <a:rPr lang="en-US" dirty="0"/>
              <a:t>to a distribution of </a:t>
            </a:r>
            <a:r>
              <a:rPr lang="en-US" b="1" dirty="0"/>
              <a:t>population scores</a:t>
            </a:r>
          </a:p>
          <a:p>
            <a:r>
              <a:rPr lang="en-US" dirty="0"/>
              <a:t>Does my participant fit this population?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Single-Sample Design</a:t>
            </a:r>
            <a:r>
              <a:rPr lang="en-US" dirty="0"/>
              <a:t>: We are comparing a sample’s </a:t>
            </a:r>
            <a:r>
              <a:rPr lang="en-US" b="1" dirty="0"/>
              <a:t>mean (x̅)</a:t>
            </a:r>
            <a:r>
              <a:rPr lang="en-US" dirty="0"/>
              <a:t> to a distribution of possible </a:t>
            </a:r>
            <a:r>
              <a:rPr lang="en-US" b="1" dirty="0"/>
              <a:t>population means</a:t>
            </a:r>
          </a:p>
          <a:p>
            <a:r>
              <a:rPr lang="en-US" dirty="0"/>
              <a:t>Does my sample fit this population?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909B07E9-ABCD-216F-74F0-293B17E1E8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6" t="26621" r="88573" b="56638"/>
          <a:stretch>
            <a:fillRect/>
          </a:stretch>
        </p:blipFill>
        <p:spPr>
          <a:xfrm>
            <a:off x="9351468" y="1690688"/>
            <a:ext cx="668511" cy="1692957"/>
          </a:xfrm>
          <a:prstGeom prst="rect">
            <a:avLst/>
          </a:prstGeom>
        </p:spPr>
      </p:pic>
      <p:pic>
        <p:nvPicPr>
          <p:cNvPr id="9" name="Picture 8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098F3833-AD29-6014-5011-9C6DC3C81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4" t="9459" r="57770" b="56639"/>
          <a:stretch>
            <a:fillRect/>
          </a:stretch>
        </p:blipFill>
        <p:spPr>
          <a:xfrm>
            <a:off x="8552329" y="3907626"/>
            <a:ext cx="2328263" cy="199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1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16CD-255A-D57F-A2C2-CC15F8F0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2166-F24E-1359-2682-FF552F70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of Hypothesis Testing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E9B193E-6DEF-8185-8303-ED9936640EA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200" y="768491"/>
            <a:ext cx="10194472" cy="532101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997AE22-D991-D7C2-7FA2-AA599205792F}"/>
              </a:ext>
            </a:extLst>
          </p:cNvPr>
          <p:cNvSpPr/>
          <p:nvPr/>
        </p:nvSpPr>
        <p:spPr>
          <a:xfrm>
            <a:off x="2090057" y="1862506"/>
            <a:ext cx="3976005" cy="381725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FFC0EA-F4BF-7409-6F96-34AEAD8084C1}"/>
              </a:ext>
            </a:extLst>
          </p:cNvPr>
          <p:cNvGrpSpPr/>
          <p:nvPr/>
        </p:nvGrpSpPr>
        <p:grpSpPr>
          <a:xfrm>
            <a:off x="5329916" y="3604591"/>
            <a:ext cx="3976006" cy="3253409"/>
            <a:chOff x="5329916" y="3604591"/>
            <a:chExt cx="3976006" cy="3253409"/>
          </a:xfrm>
        </p:grpSpPr>
        <p:pic>
          <p:nvPicPr>
            <p:cNvPr id="11" name="Picture 10" descr="Diagram&#10;&#10;Description automatically generated">
              <a:extLst>
                <a:ext uri="{FF2B5EF4-FFF2-40B4-BE49-F238E27FC236}">
                  <a16:creationId xmlns:a16="http://schemas.microsoft.com/office/drawing/2014/main" id="{DEADBBA9-68E6-C8DD-A29E-94117A4F2A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8015" r="47703"/>
            <a:stretch/>
          </p:blipFill>
          <p:spPr>
            <a:xfrm>
              <a:off x="5329916" y="3604591"/>
              <a:ext cx="3976006" cy="3253409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8D6AB-EAA1-DFB3-4620-EF6BBD25515D}"/>
                </a:ext>
              </a:extLst>
            </p:cNvPr>
            <p:cNvSpPr/>
            <p:nvPr/>
          </p:nvSpPr>
          <p:spPr>
            <a:xfrm>
              <a:off x="6427571" y="3741768"/>
              <a:ext cx="2799013" cy="277909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4" name="Picture 13" descr="Diagram&#10;&#10;Description automatically generated">
              <a:extLst>
                <a:ext uri="{FF2B5EF4-FFF2-40B4-BE49-F238E27FC236}">
                  <a16:creationId xmlns:a16="http://schemas.microsoft.com/office/drawing/2014/main" id="{AB985E5D-3D91-B87D-9993-7515D92E92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9063" t="32669" r="6153" b="48855"/>
            <a:stretch/>
          </p:blipFill>
          <p:spPr>
            <a:xfrm>
              <a:off x="6609314" y="3984170"/>
              <a:ext cx="1507084" cy="983096"/>
            </a:xfrm>
            <a:prstGeom prst="rect">
              <a:avLst/>
            </a:prstGeom>
          </p:spPr>
        </p:pic>
        <p:pic>
          <p:nvPicPr>
            <p:cNvPr id="15" name="Picture 14" descr="Diagram&#10;&#10;Description automatically generated">
              <a:extLst>
                <a:ext uri="{FF2B5EF4-FFF2-40B4-BE49-F238E27FC236}">
                  <a16:creationId xmlns:a16="http://schemas.microsoft.com/office/drawing/2014/main" id="{229696BA-0033-EC01-5430-65463B7A1B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9063" t="32669" r="6153" b="48855"/>
            <a:stretch/>
          </p:blipFill>
          <p:spPr>
            <a:xfrm>
              <a:off x="6701474" y="4999110"/>
              <a:ext cx="1507084" cy="983096"/>
            </a:xfrm>
            <a:prstGeom prst="rect">
              <a:avLst/>
            </a:prstGeom>
          </p:spPr>
        </p:pic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E1E7037E-67FA-D0BC-1D06-CD0D9F9235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9063" t="32669" r="6153" b="48855"/>
            <a:stretch/>
          </p:blipFill>
          <p:spPr>
            <a:xfrm flipH="1">
              <a:off x="7731189" y="4500971"/>
              <a:ext cx="1507084" cy="983096"/>
            </a:xfrm>
            <a:prstGeom prst="rect">
              <a:avLst/>
            </a:prstGeom>
          </p:spPr>
        </p:pic>
        <p:pic>
          <p:nvPicPr>
            <p:cNvPr id="17" name="Picture 16" descr="Diagram&#10;&#10;Description automatically generated">
              <a:extLst>
                <a:ext uri="{FF2B5EF4-FFF2-40B4-BE49-F238E27FC236}">
                  <a16:creationId xmlns:a16="http://schemas.microsoft.com/office/drawing/2014/main" id="{EA47FC9C-DE0D-68A9-349D-2C1EA004A6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9063" t="41489" r="6153" b="48855"/>
            <a:stretch/>
          </p:blipFill>
          <p:spPr>
            <a:xfrm>
              <a:off x="7106067" y="4069612"/>
              <a:ext cx="1507084" cy="513824"/>
            </a:xfrm>
            <a:prstGeom prst="rect">
              <a:avLst/>
            </a:prstGeom>
          </p:spPr>
        </p:pic>
        <p:pic>
          <p:nvPicPr>
            <p:cNvPr id="18" name="Picture 17" descr="Diagram&#10;&#10;Description automatically generated">
              <a:extLst>
                <a:ext uri="{FF2B5EF4-FFF2-40B4-BE49-F238E27FC236}">
                  <a16:creationId xmlns:a16="http://schemas.microsoft.com/office/drawing/2014/main" id="{6B15F8A0-3703-8AE9-89E8-D9C9EE7A55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9063" t="41489" r="6153" b="48855"/>
            <a:stretch/>
          </p:blipFill>
          <p:spPr>
            <a:xfrm>
              <a:off x="7084965" y="5903528"/>
              <a:ext cx="1507084" cy="513824"/>
            </a:xfrm>
            <a:prstGeom prst="rect">
              <a:avLst/>
            </a:prstGeom>
          </p:spPr>
        </p:pic>
        <p:pic>
          <p:nvPicPr>
            <p:cNvPr id="19" name="Picture 18" descr="Diagram&#10;&#10;Description automatically generated">
              <a:extLst>
                <a:ext uri="{FF2B5EF4-FFF2-40B4-BE49-F238E27FC236}">
                  <a16:creationId xmlns:a16="http://schemas.microsoft.com/office/drawing/2014/main" id="{9DC53541-4708-05BC-A8E0-93420B8A4E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9063" t="41489" r="6153" b="48855"/>
            <a:stretch/>
          </p:blipFill>
          <p:spPr>
            <a:xfrm flipH="1">
              <a:off x="7543610" y="5396821"/>
              <a:ext cx="1507084" cy="513824"/>
            </a:xfrm>
            <a:prstGeom prst="rect">
              <a:avLst/>
            </a:prstGeom>
          </p:spPr>
        </p:pic>
      </p:grpSp>
      <p:sp>
        <p:nvSpPr>
          <p:cNvPr id="21" name="Bent Arrow 20">
            <a:extLst>
              <a:ext uri="{FF2B5EF4-FFF2-40B4-BE49-F238E27FC236}">
                <a16:creationId xmlns:a16="http://schemas.microsoft.com/office/drawing/2014/main" id="{64ADD7DF-B558-A94C-C9F9-796F4E955821}"/>
              </a:ext>
            </a:extLst>
          </p:cNvPr>
          <p:cNvSpPr/>
          <p:nvPr/>
        </p:nvSpPr>
        <p:spPr>
          <a:xfrm rot="16200000">
            <a:off x="5402021" y="5132546"/>
            <a:ext cx="570316" cy="112900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8D2627-14DD-D772-4354-F6AE7E21DF27}"/>
              </a:ext>
            </a:extLst>
          </p:cNvPr>
          <p:cNvSpPr txBox="1"/>
          <p:nvPr/>
        </p:nvSpPr>
        <p:spPr>
          <a:xfrm>
            <a:off x="8704232" y="6160440"/>
            <a:ext cx="24901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Sampling Distribution</a:t>
            </a:r>
          </a:p>
          <a:p>
            <a:pPr algn="ctr"/>
            <a:r>
              <a:rPr lang="en-US" sz="2000" b="1" dirty="0"/>
              <a:t>Of the Mean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CDC6853-5C4F-9069-F3CE-9EE290077AA4}"/>
              </a:ext>
            </a:extLst>
          </p:cNvPr>
          <p:cNvSpPr/>
          <p:nvPr/>
        </p:nvSpPr>
        <p:spPr>
          <a:xfrm>
            <a:off x="9050694" y="4301412"/>
            <a:ext cx="662473" cy="1129004"/>
          </a:xfrm>
          <a:custGeom>
            <a:avLst/>
            <a:gdLst>
              <a:gd name="connsiteX0" fmla="*/ 0 w 662473"/>
              <a:gd name="connsiteY0" fmla="*/ 46653 h 1129004"/>
              <a:gd name="connsiteX1" fmla="*/ 121298 w 662473"/>
              <a:gd name="connsiteY1" fmla="*/ 307910 h 1129004"/>
              <a:gd name="connsiteX2" fmla="*/ 214604 w 662473"/>
              <a:gd name="connsiteY2" fmla="*/ 587829 h 1129004"/>
              <a:gd name="connsiteX3" fmla="*/ 233265 w 662473"/>
              <a:gd name="connsiteY3" fmla="*/ 849086 h 1129004"/>
              <a:gd name="connsiteX4" fmla="*/ 195943 w 662473"/>
              <a:gd name="connsiteY4" fmla="*/ 1129004 h 1129004"/>
              <a:gd name="connsiteX5" fmla="*/ 662473 w 662473"/>
              <a:gd name="connsiteY5" fmla="*/ 578498 h 1129004"/>
              <a:gd name="connsiteX6" fmla="*/ 363894 w 662473"/>
              <a:gd name="connsiteY6" fmla="*/ 0 h 1129004"/>
              <a:gd name="connsiteX7" fmla="*/ 0 w 662473"/>
              <a:gd name="connsiteY7" fmla="*/ 46653 h 112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2473" h="1129004">
                <a:moveTo>
                  <a:pt x="0" y="46653"/>
                </a:moveTo>
                <a:lnTo>
                  <a:pt x="121298" y="307910"/>
                </a:lnTo>
                <a:lnTo>
                  <a:pt x="214604" y="587829"/>
                </a:lnTo>
                <a:lnTo>
                  <a:pt x="233265" y="849086"/>
                </a:lnTo>
                <a:lnTo>
                  <a:pt x="195943" y="1129004"/>
                </a:lnTo>
                <a:lnTo>
                  <a:pt x="662473" y="578498"/>
                </a:lnTo>
                <a:lnTo>
                  <a:pt x="363894" y="0"/>
                </a:lnTo>
                <a:lnTo>
                  <a:pt x="0" y="4665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Bent Arrow 3">
            <a:extLst>
              <a:ext uri="{FF2B5EF4-FFF2-40B4-BE49-F238E27FC236}">
                <a16:creationId xmlns:a16="http://schemas.microsoft.com/office/drawing/2014/main" id="{1F5D2181-32B7-571C-A8C9-7CA08AFD9D93}"/>
              </a:ext>
            </a:extLst>
          </p:cNvPr>
          <p:cNvSpPr/>
          <p:nvPr/>
        </p:nvSpPr>
        <p:spPr>
          <a:xfrm rot="10800000">
            <a:off x="9378969" y="4066456"/>
            <a:ext cx="570316" cy="112900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92AB17-B189-839E-0D2E-99A51F9A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Symbols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1036C0-ADA7-80EF-EEAB-0DF46A5B6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638081"/>
              </p:ext>
            </p:extLst>
          </p:nvPr>
        </p:nvGraphicFramePr>
        <p:xfrm>
          <a:off x="1105786" y="1749056"/>
          <a:ext cx="10435856" cy="46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964">
                  <a:extLst>
                    <a:ext uri="{9D8B030D-6E8A-4147-A177-3AD203B41FA5}">
                      <a16:colId xmlns:a16="http://schemas.microsoft.com/office/drawing/2014/main" val="3063452669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1361616080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1902256289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3904663922"/>
                    </a:ext>
                  </a:extLst>
                </a:gridCol>
              </a:tblGrid>
              <a:tr h="1147825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Population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Sampling Distribution of the Mean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453292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Entire set of data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Distribution of means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Subset of data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166393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μ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>
                          <a:solidFill>
                            <a:schemeClr val="bg1"/>
                          </a:solidFill>
                        </a:rPr>
                        <a:t>μ</a:t>
                      </a:r>
                      <a:r>
                        <a:rPr lang="en-US" sz="2400" baseline="-25000">
                          <a:solidFill>
                            <a:schemeClr val="bg1"/>
                          </a:solidFill>
                        </a:rPr>
                        <a:t>x̅</a:t>
                      </a:r>
                      <a:endParaRPr lang="en-US" sz="2400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x̅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862060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Variability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σ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>
                          <a:solidFill>
                            <a:schemeClr val="bg1"/>
                          </a:solidFill>
                        </a:rPr>
                        <a:t>σ</a:t>
                      </a:r>
                      <a:r>
                        <a:rPr lang="en-US" sz="2400" baseline="-25000">
                          <a:solidFill>
                            <a:schemeClr val="bg1"/>
                          </a:solidFill>
                        </a:rPr>
                        <a:t>x̅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SD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094781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Shape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Assumed to be 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Any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1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53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3E48D-4903-E20D-F55E-319CEE11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611A4B3-FA0F-F8A9-C0FC-101F8FAF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Symbols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A260A1-0A26-F9E4-10C5-F1FED7024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242352"/>
              </p:ext>
            </p:extLst>
          </p:nvPr>
        </p:nvGraphicFramePr>
        <p:xfrm>
          <a:off x="1105786" y="1749056"/>
          <a:ext cx="10435856" cy="46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964">
                  <a:extLst>
                    <a:ext uri="{9D8B030D-6E8A-4147-A177-3AD203B41FA5}">
                      <a16:colId xmlns:a16="http://schemas.microsoft.com/office/drawing/2014/main" val="3063452669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1361616080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1902256289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3904663922"/>
                    </a:ext>
                  </a:extLst>
                </a:gridCol>
              </a:tblGrid>
              <a:tr h="1147825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Population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Sampling Distribution of the Mean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453292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Entire set of data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Distribution of means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Subset of data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166393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μ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>
                          <a:solidFill>
                            <a:schemeClr val="bg1"/>
                          </a:solidFill>
                        </a:rPr>
                        <a:t>μ</a:t>
                      </a:r>
                      <a:r>
                        <a:rPr lang="en-US" sz="2400" baseline="-25000">
                          <a:solidFill>
                            <a:schemeClr val="bg1"/>
                          </a:solidFill>
                        </a:rPr>
                        <a:t>x̅</a:t>
                      </a:r>
                      <a:endParaRPr lang="en-US" sz="2400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x̅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862060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Variability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σ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>
                          <a:solidFill>
                            <a:schemeClr val="bg1"/>
                          </a:solidFill>
                        </a:rPr>
                        <a:t>σ</a:t>
                      </a:r>
                      <a:r>
                        <a:rPr lang="en-US" sz="2400" baseline="-25000">
                          <a:solidFill>
                            <a:schemeClr val="bg1"/>
                          </a:solidFill>
                        </a:rPr>
                        <a:t>x̅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094781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Shape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Assumed to be 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1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46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28F0-E5F3-43AB-2E39-E13AFE4D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139F80-3FA9-4C3A-AF3B-47FBF5FF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Symbols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4C5079-7107-B2D5-222F-4222614C7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963327"/>
              </p:ext>
            </p:extLst>
          </p:nvPr>
        </p:nvGraphicFramePr>
        <p:xfrm>
          <a:off x="1105786" y="1749056"/>
          <a:ext cx="10435856" cy="46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964">
                  <a:extLst>
                    <a:ext uri="{9D8B030D-6E8A-4147-A177-3AD203B41FA5}">
                      <a16:colId xmlns:a16="http://schemas.microsoft.com/office/drawing/2014/main" val="3063452669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1361616080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1902256289"/>
                    </a:ext>
                  </a:extLst>
                </a:gridCol>
                <a:gridCol w="2608964">
                  <a:extLst>
                    <a:ext uri="{9D8B030D-6E8A-4147-A177-3AD203B41FA5}">
                      <a16:colId xmlns:a16="http://schemas.microsoft.com/office/drawing/2014/main" val="3904663922"/>
                    </a:ext>
                  </a:extLst>
                </a:gridCol>
              </a:tblGrid>
              <a:tr h="1147825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Population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Sampling Distribution of the Mean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Sample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453292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Entire set of data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Distribution of means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Subset of data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166393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Central Tendency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μ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</a:rPr>
                        <a:t>x̅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x̅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862060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Variability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σ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baseline="-25000" dirty="0">
                          <a:solidFill>
                            <a:schemeClr val="tx1"/>
                          </a:solidFill>
                        </a:rPr>
                        <a:t>x̅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094781"/>
                  </a:ext>
                </a:extLst>
              </a:tr>
              <a:tr h="85690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Shape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Assumed to be 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Approaches Normal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1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2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78DC-1C5A-A040-E87A-BED49157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652403-950B-70E3-8B63-7A84CABD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6F1E5DE-8F1D-9256-A3E2-1B2B56D8D5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044654"/>
                  </p:ext>
                </p:extLst>
              </p:nvPr>
            </p:nvGraphicFramePr>
            <p:xfrm>
              <a:off x="1105786" y="1610744"/>
              <a:ext cx="10435856" cy="4616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341001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bg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bg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x̅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σ</a:t>
                          </a:r>
                          <a:r>
                            <a:rPr lang="en-US" sz="2400" baseline="-25000" dirty="0">
                              <a:solidFill>
                                <a:schemeClr val="bg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bg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l-GR" sz="2400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σ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i="1" baseline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baseline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SD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lang="en-US" sz="2400" b="0" i="1" baseline="3000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6F1E5DE-8F1D-9256-A3E2-1B2B56D8D5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044654"/>
                  </p:ext>
                </p:extLst>
              </p:nvPr>
            </p:nvGraphicFramePr>
            <p:xfrm>
              <a:off x="1105786" y="1610744"/>
              <a:ext cx="10435856" cy="4616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bg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bg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243972" r="-467" b="-213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7" t="-346429" r="-100467" b="-1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346429" r="-467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073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C240-F10C-A12E-DEF5-93714801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505A1A-08A1-45E9-C324-EAEFB65E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7C998CF-D9CB-A209-70F4-62F2883D8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4648722"/>
                  </p:ext>
                </p:extLst>
              </p:nvPr>
            </p:nvGraphicFramePr>
            <p:xfrm>
              <a:off x="1105786" y="1610744"/>
              <a:ext cx="10435856" cy="4616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341001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bg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bg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x̅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σ</a:t>
                          </a:r>
                          <a:r>
                            <a:rPr lang="en-US" sz="2400" baseline="-25000" dirty="0">
                              <a:solidFill>
                                <a:schemeClr val="bg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bg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l-GR" sz="2400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σ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i="1" baseline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baseline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SD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lang="en-US" sz="2400" b="0" i="1" baseline="3000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7C998CF-D9CB-A209-70F4-62F2883D8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4648722"/>
                  </p:ext>
                </p:extLst>
              </p:nvPr>
            </p:nvGraphicFramePr>
            <p:xfrm>
              <a:off x="1105786" y="1610744"/>
              <a:ext cx="10435856" cy="4616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bg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bg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bg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243972" r="-467" b="-213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7" t="-346429" r="-100467" b="-1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346429" r="-467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bg1"/>
                              </a:solidFill>
                            </a:rPr>
                            <a:t>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119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D488-CA3E-132D-1A3E-909FFB8E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2A21C7-9AFD-BA02-83D7-8A77B27C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DB58EA8-D1C8-4EB9-4EBB-A731AD666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2405792"/>
                  </p:ext>
                </p:extLst>
              </p:nvPr>
            </p:nvGraphicFramePr>
            <p:xfrm>
              <a:off x="1105786" y="1610744"/>
              <a:ext cx="10435856" cy="4616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341001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tx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x̅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baseline="-25000" dirty="0">
                              <a:solidFill>
                                <a:schemeClr val="tx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l-GR" sz="2400" dirty="0" smtClean="0">
                                      <a:solidFill>
                                        <a:schemeClr val="tx1"/>
                                      </a:solidFill>
                                    </a:rPr>
                                    <m:t>σ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SD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lang="en-US" sz="2400" b="0" i="1" baseline="3000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Approaches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DB58EA8-D1C8-4EB9-4EBB-A731AD666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2405792"/>
                  </p:ext>
                </p:extLst>
              </p:nvPr>
            </p:nvGraphicFramePr>
            <p:xfrm>
              <a:off x="1105786" y="1610744"/>
              <a:ext cx="10435856" cy="4616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tx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243972" r="-467" b="-213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7" t="-346429" r="-100467" b="-1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346429" r="-467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Approaches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918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1019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Population: </a:t>
            </a:r>
            <a:r>
              <a:rPr lang="en-US" sz="3600" dirty="0"/>
              <a:t>An entire set of data trying to be estimated by statistics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Sample: </a:t>
            </a:r>
            <a:r>
              <a:rPr lang="en-US" sz="3600" dirty="0"/>
              <a:t>Subset of persons, animals, events, etc. from a given population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479CF-5AC6-4675-408B-1E45A277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94" y="2082374"/>
            <a:ext cx="5460786" cy="315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3733-D800-6FA1-1460-33C708487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F8DE-0C4F-7363-AD97-A107E830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Distributions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D335A-D98B-5608-08FF-E95F6639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94" y="2082374"/>
            <a:ext cx="5460786" cy="31504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E88E0C-67B6-FEA4-1998-1D0171135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1453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Sampling Distribution of the Mean</a:t>
            </a:r>
          </a:p>
          <a:p>
            <a:r>
              <a:rPr lang="en-US" dirty="0"/>
              <a:t>This distribution gives us a range of possible </a:t>
            </a:r>
            <a:r>
              <a:rPr lang="en-US" b="1" i="1" dirty="0"/>
              <a:t>population means </a:t>
            </a:r>
            <a:r>
              <a:rPr lang="en-US" dirty="0"/>
              <a:t>and their probabilities</a:t>
            </a:r>
          </a:p>
          <a:p>
            <a:pPr lvl="1"/>
            <a:r>
              <a:rPr lang="en-US" dirty="0"/>
              <a:t>We can also use this to understand the standard deviation of possible population means, which is called </a:t>
            </a:r>
            <a:r>
              <a:rPr lang="en-US" b="1" dirty="0"/>
              <a:t>standard error</a:t>
            </a:r>
          </a:p>
          <a:p>
            <a:r>
              <a:rPr lang="en-US" dirty="0"/>
              <a:t>We can then see whether our sample’s mean fits the population’s mean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3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AFC6-5E75-9CC8-1F8D-CA8D19E75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Distributions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85A1C-C1E1-4A01-3B1B-6F84D1A2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912" y="1165087"/>
            <a:ext cx="5144175" cy="2893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9C244B-54A0-0DC8-D1F5-AA7EA4BD2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912" y="3910957"/>
            <a:ext cx="5144175" cy="289359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E6C9C7-4AAD-DEEE-0186-CBCFFE16492E}"/>
              </a:ext>
            </a:extLst>
          </p:cNvPr>
          <p:cNvCxnSpPr>
            <a:cxnSpLocks/>
          </p:cNvCxnSpPr>
          <p:nvPr/>
        </p:nvCxnSpPr>
        <p:spPr>
          <a:xfrm>
            <a:off x="3523912" y="2302933"/>
            <a:ext cx="2165688" cy="1778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68CF86-727F-2ABF-772D-06868913316D}"/>
              </a:ext>
            </a:extLst>
          </p:cNvPr>
          <p:cNvSpPr txBox="1"/>
          <p:nvPr/>
        </p:nvSpPr>
        <p:spPr>
          <a:xfrm>
            <a:off x="1391724" y="1929480"/>
            <a:ext cx="2228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Probability distribution of an individual IQ score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A79B33-A1E6-CAFA-C9FC-00795E87902E}"/>
              </a:ext>
            </a:extLst>
          </p:cNvPr>
          <p:cNvCxnSpPr>
            <a:cxnSpLocks/>
          </p:cNvCxnSpPr>
          <p:nvPr/>
        </p:nvCxnSpPr>
        <p:spPr>
          <a:xfrm>
            <a:off x="3930312" y="5232100"/>
            <a:ext cx="2165688" cy="1778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AF8ADA-02FF-31F9-AF45-5501E26A7816}"/>
              </a:ext>
            </a:extLst>
          </p:cNvPr>
          <p:cNvSpPr txBox="1"/>
          <p:nvPr/>
        </p:nvSpPr>
        <p:spPr>
          <a:xfrm>
            <a:off x="1701495" y="4701002"/>
            <a:ext cx="2228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Probability distribution of IQ score averages</a:t>
            </a:r>
          </a:p>
        </p:txBody>
      </p:sp>
    </p:spTree>
    <p:extLst>
      <p:ext uri="{BB962C8B-B14F-4D97-AF65-F5344CB8AC3E}">
        <p14:creationId xmlns:p14="http://schemas.microsoft.com/office/powerpoint/2010/main" val="380328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6BC7-CCE5-24FC-7652-029ECD61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2F16759-C757-223D-12BE-76B50F01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94" y="2082374"/>
            <a:ext cx="5460786" cy="3150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B9D3C7-4C50-92B7-D360-3FBC6342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Distributions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4092AF-5092-D8DE-1202-EAAA72E1C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4683" cy="58023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Sampling Distribution of the Mean</a:t>
            </a:r>
          </a:p>
          <a:p>
            <a:r>
              <a:rPr lang="en-US" dirty="0"/>
              <a:t>A distribution of possible </a:t>
            </a:r>
            <a:r>
              <a:rPr lang="en-US" b="1" dirty="0"/>
              <a:t>means</a:t>
            </a:r>
            <a:r>
              <a:rPr lang="en-US" dirty="0"/>
              <a:t> to estimate population parameters</a:t>
            </a:r>
          </a:p>
          <a:p>
            <a:pPr lvl="1"/>
            <a:r>
              <a:rPr lang="en-US" dirty="0"/>
              <a:t>Specifically, the </a:t>
            </a:r>
            <a:r>
              <a:rPr lang="en-US" b="1" dirty="0"/>
              <a:t>central tendency,   variability</a:t>
            </a:r>
            <a:r>
              <a:rPr lang="en-US" dirty="0"/>
              <a:t>, and </a:t>
            </a:r>
            <a:r>
              <a:rPr lang="en-US" b="1" dirty="0"/>
              <a:t>shape</a:t>
            </a:r>
            <a:r>
              <a:rPr lang="en-US" dirty="0"/>
              <a:t> of the population </a:t>
            </a:r>
          </a:p>
          <a:p>
            <a:pPr lvl="1"/>
            <a:r>
              <a:rPr lang="en-US" dirty="0"/>
              <a:t>Depends on </a:t>
            </a:r>
            <a:r>
              <a:rPr lang="en-US" b="1" dirty="0"/>
              <a:t>sample size</a:t>
            </a:r>
            <a:r>
              <a:rPr lang="en-US" dirty="0"/>
              <a:t> (</a:t>
            </a:r>
            <a:r>
              <a:rPr lang="en-US" i="1" dirty="0"/>
              <a:t>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Theoretical or Empirical (matches the population)</a:t>
            </a:r>
          </a:p>
          <a:p>
            <a:r>
              <a:rPr lang="en-US" b="1" dirty="0"/>
              <a:t>Central Tendency</a:t>
            </a:r>
            <a:r>
              <a:rPr lang="en-US" dirty="0"/>
              <a:t>: Mean (</a:t>
            </a:r>
            <a:r>
              <a:rPr lang="el-GR" i="1" dirty="0"/>
              <a:t>μ</a:t>
            </a:r>
            <a:r>
              <a:rPr lang="en-US" i="1" baseline="-25000" dirty="0"/>
              <a:t>x̅</a:t>
            </a:r>
            <a:r>
              <a:rPr lang="en-US" dirty="0"/>
              <a:t>)</a:t>
            </a:r>
          </a:p>
          <a:p>
            <a:r>
              <a:rPr lang="en-US" b="1" dirty="0"/>
              <a:t>Variability</a:t>
            </a:r>
            <a:r>
              <a:rPr lang="en-US" dirty="0"/>
              <a:t>: Standard error (</a:t>
            </a:r>
            <a:r>
              <a:rPr lang="el-GR" i="1" dirty="0"/>
              <a:t>σ</a:t>
            </a:r>
            <a:r>
              <a:rPr lang="en-US" i="1" baseline="-25000" dirty="0"/>
              <a:t>x̅</a:t>
            </a:r>
            <a:r>
              <a:rPr lang="en-US" dirty="0"/>
              <a:t>)</a:t>
            </a:r>
          </a:p>
          <a:p>
            <a:r>
              <a:rPr lang="en-US" b="1" dirty="0"/>
              <a:t>Shape</a:t>
            </a:r>
            <a:r>
              <a:rPr lang="en-US" dirty="0"/>
              <a:t>: Becomes normal with increasing </a:t>
            </a:r>
            <a:r>
              <a:rPr lang="en-US" i="1" dirty="0"/>
              <a:t>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4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17CF-2169-8043-8073-BA292A47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8CBB0C0-C6B1-3C41-BB0E-3BB1865EE005}"/>
              </a:ext>
            </a:extLst>
          </p:cNvPr>
          <p:cNvSpPr/>
          <p:nvPr/>
        </p:nvSpPr>
        <p:spPr>
          <a:xfrm>
            <a:off x="3270325" y="1258645"/>
            <a:ext cx="6228677" cy="5335793"/>
          </a:xfrm>
          <a:custGeom>
            <a:avLst/>
            <a:gdLst>
              <a:gd name="connsiteX0" fmla="*/ 0 w 6228677"/>
              <a:gd name="connsiteY0" fmla="*/ 43030 h 5335793"/>
              <a:gd name="connsiteX1" fmla="*/ 96819 w 6228677"/>
              <a:gd name="connsiteY1" fmla="*/ 527124 h 5335793"/>
              <a:gd name="connsiteX2" fmla="*/ 4130936 w 6228677"/>
              <a:gd name="connsiteY2" fmla="*/ 623943 h 5335793"/>
              <a:gd name="connsiteX3" fmla="*/ 4421393 w 6228677"/>
              <a:gd name="connsiteY3" fmla="*/ 2011680 h 5335793"/>
              <a:gd name="connsiteX4" fmla="*/ 6067313 w 6228677"/>
              <a:gd name="connsiteY4" fmla="*/ 5335793 h 5335793"/>
              <a:gd name="connsiteX5" fmla="*/ 6228677 w 6228677"/>
              <a:gd name="connsiteY5" fmla="*/ 0 h 5335793"/>
              <a:gd name="connsiteX6" fmla="*/ 0 w 6228677"/>
              <a:gd name="connsiteY6" fmla="*/ 43030 h 533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8677" h="5335793">
                <a:moveTo>
                  <a:pt x="0" y="43030"/>
                </a:moveTo>
                <a:lnTo>
                  <a:pt x="96819" y="527124"/>
                </a:lnTo>
                <a:lnTo>
                  <a:pt x="4130936" y="623943"/>
                </a:lnTo>
                <a:lnTo>
                  <a:pt x="4421393" y="2011680"/>
                </a:lnTo>
                <a:lnTo>
                  <a:pt x="6067313" y="5335793"/>
                </a:lnTo>
                <a:lnTo>
                  <a:pt x="6228677" y="0"/>
                </a:lnTo>
                <a:lnTo>
                  <a:pt x="0" y="4303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8A7DF8E-D405-1248-AAA6-2BA936E7D76F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890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246C-04F8-8A0A-1DC5-74AF53AE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1FF3-9BC5-FF1F-D5FB-747DB47E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AFE562A-C185-341D-7D7F-208C5EDF63F8}"/>
              </a:ext>
            </a:extLst>
          </p:cNvPr>
          <p:cNvSpPr/>
          <p:nvPr/>
        </p:nvSpPr>
        <p:spPr>
          <a:xfrm>
            <a:off x="3270325" y="1258645"/>
            <a:ext cx="6228677" cy="5335793"/>
          </a:xfrm>
          <a:custGeom>
            <a:avLst/>
            <a:gdLst>
              <a:gd name="connsiteX0" fmla="*/ 0 w 6228677"/>
              <a:gd name="connsiteY0" fmla="*/ 43030 h 5335793"/>
              <a:gd name="connsiteX1" fmla="*/ 96819 w 6228677"/>
              <a:gd name="connsiteY1" fmla="*/ 527124 h 5335793"/>
              <a:gd name="connsiteX2" fmla="*/ 4130936 w 6228677"/>
              <a:gd name="connsiteY2" fmla="*/ 623943 h 5335793"/>
              <a:gd name="connsiteX3" fmla="*/ 4421393 w 6228677"/>
              <a:gd name="connsiteY3" fmla="*/ 2011680 h 5335793"/>
              <a:gd name="connsiteX4" fmla="*/ 6067313 w 6228677"/>
              <a:gd name="connsiteY4" fmla="*/ 5335793 h 5335793"/>
              <a:gd name="connsiteX5" fmla="*/ 6228677 w 6228677"/>
              <a:gd name="connsiteY5" fmla="*/ 0 h 5335793"/>
              <a:gd name="connsiteX6" fmla="*/ 0 w 6228677"/>
              <a:gd name="connsiteY6" fmla="*/ 43030 h 533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8677" h="5335793">
                <a:moveTo>
                  <a:pt x="0" y="43030"/>
                </a:moveTo>
                <a:lnTo>
                  <a:pt x="96819" y="527124"/>
                </a:lnTo>
                <a:lnTo>
                  <a:pt x="4130936" y="623943"/>
                </a:lnTo>
                <a:lnTo>
                  <a:pt x="4421393" y="2011680"/>
                </a:lnTo>
                <a:lnTo>
                  <a:pt x="6067313" y="5335793"/>
                </a:lnTo>
                <a:lnTo>
                  <a:pt x="6228677" y="0"/>
                </a:lnTo>
                <a:lnTo>
                  <a:pt x="0" y="4303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8C86120-B06E-4D19-2704-D2F9A9E7643C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pic>
        <p:nvPicPr>
          <p:cNvPr id="5" name="Picture 8" descr="Pin on first siteSUP paddle boards">
            <a:extLst>
              <a:ext uri="{FF2B5EF4-FFF2-40B4-BE49-F238E27FC236}">
                <a16:creationId xmlns:a16="http://schemas.microsoft.com/office/drawing/2014/main" id="{FD5665BB-36BD-A04D-06C6-19A35C630B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83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AE9B-22BD-556E-81C9-EADA8928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D0C5BDB6-9522-DB28-0728-F0A0E356D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5780EA-C398-8A2C-21A5-E4DC7F43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F074F17-DDDF-E2D8-21F2-9A273359CB39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FE565E2-49AF-7229-6214-B93B40C7D28D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C90C15-6D6B-87BC-C83E-93E579C285E3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A26A9-44FB-52C6-FC4D-DFC7C16BF418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18A1D-605C-3A2B-5055-F295D7628651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213FDB-611B-B12F-0BFC-A6C89434E361}"/>
              </a:ext>
            </a:extLst>
          </p:cNvPr>
          <p:cNvSpPr/>
          <p:nvPr/>
        </p:nvSpPr>
        <p:spPr>
          <a:xfrm>
            <a:off x="845820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C72B00-5D84-37C3-746B-88E5318346D9}"/>
              </a:ext>
            </a:extLst>
          </p:cNvPr>
          <p:cNvSpPr/>
          <p:nvPr/>
        </p:nvSpPr>
        <p:spPr>
          <a:xfrm>
            <a:off x="3649980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93EDE7-1F2E-A896-952C-83500ECEC17E}"/>
              </a:ext>
            </a:extLst>
          </p:cNvPr>
          <p:cNvSpPr/>
          <p:nvPr/>
        </p:nvSpPr>
        <p:spPr>
          <a:xfrm>
            <a:off x="1775460" y="29323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99CEE1-8B00-000A-448C-ABC51CF106D9}"/>
              </a:ext>
            </a:extLst>
          </p:cNvPr>
          <p:cNvSpPr/>
          <p:nvPr/>
        </p:nvSpPr>
        <p:spPr>
          <a:xfrm>
            <a:off x="845820" y="4830002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01B7-C54B-010F-8725-F9642D9A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43E15128-7447-CF7D-7232-5A1EE62476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AE3E4-1AB1-208F-F177-4758908D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C32C36F-92AD-7779-0F51-DC8C7D1816EA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09DACB-D7E9-1158-B50B-E9E41293C3E8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B505B-EA88-26FD-B899-44BA00DB722C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2EAAE-E525-875D-E9A9-E1D5C81C4334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24218-2062-5F04-6D6C-4426E353E7AE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C416A-78B2-FAD3-0259-AA30738FCA09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291CB0-B149-80FB-9C57-6DA0AFB934C6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88AEEE-A366-158D-734B-9442CCF233C8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D32EDA-522E-62FD-383C-8FBBF2C36976}"/>
              </a:ext>
            </a:extLst>
          </p:cNvPr>
          <p:cNvSpPr/>
          <p:nvPr/>
        </p:nvSpPr>
        <p:spPr>
          <a:xfrm>
            <a:off x="1775460" y="20179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247C8B-36EB-F538-4D58-5144A7079CA1}"/>
              </a:ext>
            </a:extLst>
          </p:cNvPr>
          <p:cNvSpPr/>
          <p:nvPr/>
        </p:nvSpPr>
        <p:spPr>
          <a:xfrm>
            <a:off x="841214" y="296118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93C0CC-0AAD-F69D-25E4-3695D7F390E1}"/>
              </a:ext>
            </a:extLst>
          </p:cNvPr>
          <p:cNvSpPr/>
          <p:nvPr/>
        </p:nvSpPr>
        <p:spPr>
          <a:xfrm>
            <a:off x="1775460" y="38818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9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28A1-9D8E-1DB6-34B5-7E49E9A6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4554644D-8E5E-3F8B-B378-6F46BD7833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F751DA-531A-9378-DDD6-55221612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Distributions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95E7664-D1D2-1082-E04D-353AB2E4CF1C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59D2EFA-6215-297D-E63F-CEABF6DCBAFC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28259-1EF7-2445-DC6D-15AAFCD7AA74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DE971-9077-D139-E959-8C1BC1FBAB80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63C5B-EFE0-2CFB-CBBD-B4D2E02187E8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1195D0-E02B-52EE-777E-5B406CF33CF4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6E399-F7D2-D834-7049-658ACF1E0BEB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BEDB61-086E-1E48-A515-38CE4390221D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6651C3-D252-F4A4-767E-C533B3B190A2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64F7A5-B35F-35A4-CB2E-2946BAB1BAA7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B94073-8F20-CE20-8F56-D14BC2349322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C48F33-E499-D6C1-A220-53C6B09A0D00}"/>
              </a:ext>
            </a:extLst>
          </p:cNvPr>
          <p:cNvSpPr/>
          <p:nvPr/>
        </p:nvSpPr>
        <p:spPr>
          <a:xfrm>
            <a:off x="876300" y="388184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AAF25F-0B47-9F59-58F1-9B706172CD3B}"/>
              </a:ext>
            </a:extLst>
          </p:cNvPr>
          <p:cNvSpPr/>
          <p:nvPr/>
        </p:nvSpPr>
        <p:spPr>
          <a:xfrm>
            <a:off x="2720340" y="2965407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EBC13E-AD2A-2FB7-75FD-B39710823AAB}"/>
              </a:ext>
            </a:extLst>
          </p:cNvPr>
          <p:cNvSpPr/>
          <p:nvPr/>
        </p:nvSpPr>
        <p:spPr>
          <a:xfrm>
            <a:off x="2720340" y="481776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85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EDCD-65E8-935B-402E-9E173453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2B17DBF7-C472-6657-566F-586A24542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3634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CC6D56-6453-1626-461E-C5688811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816" y="365125"/>
            <a:ext cx="10515600" cy="1325563"/>
          </a:xfrm>
        </p:spPr>
        <p:txBody>
          <a:bodyPr/>
          <a:lstStyle/>
          <a:p>
            <a:r>
              <a:rPr lang="en-US" dirty="0"/>
              <a:t>Building a Distributions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C221B58-EAB1-118E-8820-79F498C25F94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E3B8B97-DE1C-EBA6-65EC-DDEB80BA6E3D}"/>
              </a:ext>
            </a:extLst>
          </p:cNvPr>
          <p:cNvSpPr/>
          <p:nvPr/>
        </p:nvSpPr>
        <p:spPr>
          <a:xfrm>
            <a:off x="7936230" y="442912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7BAFE9-A9C3-4C29-AEE2-5F1F7C39FBEF}"/>
              </a:ext>
            </a:extLst>
          </p:cNvPr>
          <p:cNvSpPr/>
          <p:nvPr/>
        </p:nvSpPr>
        <p:spPr>
          <a:xfrm>
            <a:off x="7936230" y="383476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335E3-345B-FFF6-49C2-0BA33009A565}"/>
              </a:ext>
            </a:extLst>
          </p:cNvPr>
          <p:cNvSpPr/>
          <p:nvPr/>
        </p:nvSpPr>
        <p:spPr>
          <a:xfrm>
            <a:off x="7936230" y="324040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2C0E33-2968-0BB9-3208-2F1CAE579240}"/>
              </a:ext>
            </a:extLst>
          </p:cNvPr>
          <p:cNvSpPr/>
          <p:nvPr/>
        </p:nvSpPr>
        <p:spPr>
          <a:xfrm>
            <a:off x="7936230" y="266400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F30282-E061-C784-7AE6-D667FC88C9CE}"/>
              </a:ext>
            </a:extLst>
          </p:cNvPr>
          <p:cNvSpPr/>
          <p:nvPr/>
        </p:nvSpPr>
        <p:spPr>
          <a:xfrm>
            <a:off x="7021830" y="325836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A2F32-F57C-6B67-CF2A-B0EB786D78F0}"/>
              </a:ext>
            </a:extLst>
          </p:cNvPr>
          <p:cNvSpPr/>
          <p:nvPr/>
        </p:nvSpPr>
        <p:spPr>
          <a:xfrm>
            <a:off x="70218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D7D22-C028-AE9F-D9F8-29A00DF72D40}"/>
              </a:ext>
            </a:extLst>
          </p:cNvPr>
          <p:cNvSpPr/>
          <p:nvPr/>
        </p:nvSpPr>
        <p:spPr>
          <a:xfrm>
            <a:off x="7021830" y="442993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4237C-EAE2-C63A-1080-F7198D45BB70}"/>
              </a:ext>
            </a:extLst>
          </p:cNvPr>
          <p:cNvSpPr/>
          <p:nvPr/>
        </p:nvSpPr>
        <p:spPr>
          <a:xfrm>
            <a:off x="8845867" y="3253192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BC4E05-9023-BBF0-66E9-5606E5A4181D}"/>
              </a:ext>
            </a:extLst>
          </p:cNvPr>
          <p:cNvSpPr/>
          <p:nvPr/>
        </p:nvSpPr>
        <p:spPr>
          <a:xfrm>
            <a:off x="8847772" y="3833953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5B593B-F45B-DE52-BC51-09945BFD941D}"/>
              </a:ext>
            </a:extLst>
          </p:cNvPr>
          <p:cNvSpPr/>
          <p:nvPr/>
        </p:nvSpPr>
        <p:spPr>
          <a:xfrm>
            <a:off x="8845867" y="443050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93D10F-6E94-EC5C-F894-3F151C27EBC7}"/>
              </a:ext>
            </a:extLst>
          </p:cNvPr>
          <p:cNvSpPr/>
          <p:nvPr/>
        </p:nvSpPr>
        <p:spPr>
          <a:xfrm>
            <a:off x="6107430" y="3835575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8D8CC6-4A85-C00C-A594-F7F2189C0188}"/>
              </a:ext>
            </a:extLst>
          </p:cNvPr>
          <p:cNvSpPr/>
          <p:nvPr/>
        </p:nvSpPr>
        <p:spPr>
          <a:xfrm>
            <a:off x="6109616" y="4431840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F2C318-8892-F29C-E1FC-C26820673D90}"/>
              </a:ext>
            </a:extLst>
          </p:cNvPr>
          <p:cNvSpPr/>
          <p:nvPr/>
        </p:nvSpPr>
        <p:spPr>
          <a:xfrm>
            <a:off x="9760659" y="3832591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9A1971-EC4E-CC51-E8A3-26A3953188D1}"/>
              </a:ext>
            </a:extLst>
          </p:cNvPr>
          <p:cNvSpPr/>
          <p:nvPr/>
        </p:nvSpPr>
        <p:spPr>
          <a:xfrm>
            <a:off x="97625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7EBE47-8300-55BA-70CB-7572B3EECBFE}"/>
              </a:ext>
            </a:extLst>
          </p:cNvPr>
          <p:cNvSpPr/>
          <p:nvPr/>
        </p:nvSpPr>
        <p:spPr>
          <a:xfrm>
            <a:off x="5193030" y="4431294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D37C0C-B813-4796-073F-6A90EE859FF2}"/>
              </a:ext>
            </a:extLst>
          </p:cNvPr>
          <p:cNvSpPr/>
          <p:nvPr/>
        </p:nvSpPr>
        <p:spPr>
          <a:xfrm>
            <a:off x="10676964" y="4428877"/>
            <a:ext cx="914400" cy="59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58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3867-0613-CE76-2FB6-D4A29B07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AC67366B-8332-F6F4-7177-ED919B405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914388-0824-80F7-FA50-053BE769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C8BF6A3-E8F2-25CC-239F-2884396A9396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415EE0-53A8-AA42-BE60-8A8E563EF4A7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</p:spTree>
    <p:extLst>
      <p:ext uri="{BB962C8B-B14F-4D97-AF65-F5344CB8AC3E}">
        <p14:creationId xmlns:p14="http://schemas.microsoft.com/office/powerpoint/2010/main" val="2015713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9280-4A57-B32A-D405-D238357F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5BE65177-1F79-5778-5D7A-B4CDB963C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AC5F5-E650-D3DF-A302-500262CA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D40110D-CEA2-2A88-7B4C-F4DF3E243FC4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38F21C2-DFF2-7F60-3E9C-5F154278CF9F}"/>
              </a:ext>
            </a:extLst>
          </p:cNvPr>
          <p:cNvSpPr/>
          <p:nvPr/>
        </p:nvSpPr>
        <p:spPr>
          <a:xfrm>
            <a:off x="8630497" y="472697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3A9A30C-5232-7930-8EFD-311DE6F8DF9E}"/>
              </a:ext>
            </a:extLst>
          </p:cNvPr>
          <p:cNvSpPr/>
          <p:nvPr/>
        </p:nvSpPr>
        <p:spPr>
          <a:xfrm>
            <a:off x="2698325" y="38746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72273A3-4F4D-E748-A51D-B174327B28E9}"/>
              </a:ext>
            </a:extLst>
          </p:cNvPr>
          <p:cNvSpPr/>
          <p:nvPr/>
        </p:nvSpPr>
        <p:spPr>
          <a:xfrm>
            <a:off x="2732193" y="2933833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43BF5-5540-1358-3E81-94FF9253A18B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</p:spTree>
    <p:extLst>
      <p:ext uri="{BB962C8B-B14F-4D97-AF65-F5344CB8AC3E}">
        <p14:creationId xmlns:p14="http://schemas.microsoft.com/office/powerpoint/2010/main" val="1402901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42C1-13BD-8B30-7528-5A1A343D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A05AAE9E-84AF-81AD-8304-BEE5742B4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E3C1B2-933D-6D1C-FC0B-F1C67082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176E62-CD68-FD5C-D163-FD7794A79767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3E28DD2-A042-04B5-C0AF-7D7DC48B25FB}"/>
              </a:ext>
            </a:extLst>
          </p:cNvPr>
          <p:cNvSpPr/>
          <p:nvPr/>
        </p:nvSpPr>
        <p:spPr>
          <a:xfrm>
            <a:off x="8630497" y="472697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035C8A-123E-8878-8B56-6BC8A218EC26}"/>
              </a:ext>
            </a:extLst>
          </p:cNvPr>
          <p:cNvSpPr/>
          <p:nvPr/>
        </p:nvSpPr>
        <p:spPr>
          <a:xfrm>
            <a:off x="845820" y="481014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BBC7CC-C5A4-DD2C-0FA7-E71DA07F2585}"/>
              </a:ext>
            </a:extLst>
          </p:cNvPr>
          <p:cNvSpPr/>
          <p:nvPr/>
        </p:nvSpPr>
        <p:spPr>
          <a:xfrm>
            <a:off x="2718035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1FD7E-19E6-A1E4-E4E5-BA373A35474D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9F4D5-8B5B-EF04-64E2-9C7CAD94A69D}"/>
              </a:ext>
            </a:extLst>
          </p:cNvPr>
          <p:cNvSpPr/>
          <p:nvPr/>
        </p:nvSpPr>
        <p:spPr>
          <a:xfrm>
            <a:off x="7258898" y="472849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49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6C07-1679-0C78-3A44-1A847F37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685E458E-7CAA-A699-5BCC-E632A9B20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6189E6-B8A8-B008-4CDF-BB8C157C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4F1BE5A-BC45-2989-83C0-9D213203DCD4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70F7E75-362F-1BF9-218E-B8F204DF3891}"/>
              </a:ext>
            </a:extLst>
          </p:cNvPr>
          <p:cNvSpPr/>
          <p:nvPr/>
        </p:nvSpPr>
        <p:spPr>
          <a:xfrm>
            <a:off x="8630497" y="4730423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7435DA-B721-D60F-A50E-E04363D06576}"/>
              </a:ext>
            </a:extLst>
          </p:cNvPr>
          <p:cNvSpPr/>
          <p:nvPr/>
        </p:nvSpPr>
        <p:spPr>
          <a:xfrm>
            <a:off x="845820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FFD737-76C3-689E-DF45-6C5CFACF921E}"/>
              </a:ext>
            </a:extLst>
          </p:cNvPr>
          <p:cNvSpPr/>
          <p:nvPr/>
        </p:nvSpPr>
        <p:spPr>
          <a:xfrm>
            <a:off x="3632435" y="1995086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D1FEF-FD0A-8AFC-5B74-3DA49887CDFD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1FE999-E0C3-693C-DFAE-A765EC7234A3}"/>
              </a:ext>
            </a:extLst>
          </p:cNvPr>
          <p:cNvSpPr/>
          <p:nvPr/>
        </p:nvSpPr>
        <p:spPr>
          <a:xfrm>
            <a:off x="7258898" y="473618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99DDB-A19E-2A6B-1CC9-FBD362CEC8F4}"/>
              </a:ext>
            </a:extLst>
          </p:cNvPr>
          <p:cNvSpPr/>
          <p:nvPr/>
        </p:nvSpPr>
        <p:spPr>
          <a:xfrm>
            <a:off x="8173297" y="473002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56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738E-C7A0-2C85-8107-65E89D5D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98263991-0CF9-FC54-DCF2-4E2D5C2C37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597298-3DAF-9321-631E-1FED35F8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F7F4E19-1BC3-EE01-3A4F-23ADB203110D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8A38470-C1B6-F123-5546-B5D669CF2C6F}"/>
              </a:ext>
            </a:extLst>
          </p:cNvPr>
          <p:cNvSpPr/>
          <p:nvPr/>
        </p:nvSpPr>
        <p:spPr>
          <a:xfrm>
            <a:off x="8630497" y="472775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E9E4DB-8AC8-2FDD-4918-4C33AC5ADAF1}"/>
              </a:ext>
            </a:extLst>
          </p:cNvPr>
          <p:cNvSpPr/>
          <p:nvPr/>
        </p:nvSpPr>
        <p:spPr>
          <a:xfrm>
            <a:off x="838200" y="481014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7E0E934-E3CD-DBCD-51F4-A6398990611F}"/>
              </a:ext>
            </a:extLst>
          </p:cNvPr>
          <p:cNvSpPr/>
          <p:nvPr/>
        </p:nvSpPr>
        <p:spPr>
          <a:xfrm>
            <a:off x="838200" y="2956608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FEAB5-BDDB-E04A-4E7C-7B4AEEFE871D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73FAF-187E-4D95-280E-4E811CC0B733}"/>
              </a:ext>
            </a:extLst>
          </p:cNvPr>
          <p:cNvSpPr/>
          <p:nvPr/>
        </p:nvSpPr>
        <p:spPr>
          <a:xfrm>
            <a:off x="7258898" y="473618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9A54D-82AF-F31C-AD7E-13C038B785DB}"/>
              </a:ext>
            </a:extLst>
          </p:cNvPr>
          <p:cNvSpPr/>
          <p:nvPr/>
        </p:nvSpPr>
        <p:spPr>
          <a:xfrm>
            <a:off x="8173297" y="473002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8B8F4-9474-1810-A942-51030ACB6C60}"/>
              </a:ext>
            </a:extLst>
          </p:cNvPr>
          <p:cNvSpPr/>
          <p:nvPr/>
        </p:nvSpPr>
        <p:spPr>
          <a:xfrm>
            <a:off x="8630497" y="442598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88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F732-E29C-40F2-B611-D66E113D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F995A52A-AC06-2A8C-E430-0E94137F6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D7F8D7-D5C6-5170-16A8-B79A31B3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9A9BFBF-DEC2-402C-F4B7-9CC3775458F2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1629BFF-79CC-B2AC-2B22-3250F54FB37D}"/>
              </a:ext>
            </a:extLst>
          </p:cNvPr>
          <p:cNvSpPr/>
          <p:nvPr/>
        </p:nvSpPr>
        <p:spPr>
          <a:xfrm>
            <a:off x="8630497" y="472775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79464F-8822-9ED2-386B-6853906C0655}"/>
              </a:ext>
            </a:extLst>
          </p:cNvPr>
          <p:cNvSpPr/>
          <p:nvPr/>
        </p:nvSpPr>
        <p:spPr>
          <a:xfrm>
            <a:off x="838200" y="4810141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32B59F-BDE3-FB39-C123-86EAC71303DC}"/>
              </a:ext>
            </a:extLst>
          </p:cNvPr>
          <p:cNvSpPr/>
          <p:nvPr/>
        </p:nvSpPr>
        <p:spPr>
          <a:xfrm>
            <a:off x="1786467" y="2956608"/>
            <a:ext cx="536414" cy="549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0EFB6-2640-365B-260E-C138E282258F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8E8058-B043-0F7E-8AAE-4DECDE6ED743}"/>
              </a:ext>
            </a:extLst>
          </p:cNvPr>
          <p:cNvSpPr/>
          <p:nvPr/>
        </p:nvSpPr>
        <p:spPr>
          <a:xfrm>
            <a:off x="7258898" y="473618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28CA08-1606-B014-0116-539201862260}"/>
              </a:ext>
            </a:extLst>
          </p:cNvPr>
          <p:cNvSpPr/>
          <p:nvPr/>
        </p:nvSpPr>
        <p:spPr>
          <a:xfrm>
            <a:off x="8173297" y="473002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355A2C-6E15-188D-FD78-80F41EEB503A}"/>
              </a:ext>
            </a:extLst>
          </p:cNvPr>
          <p:cNvSpPr/>
          <p:nvPr/>
        </p:nvSpPr>
        <p:spPr>
          <a:xfrm>
            <a:off x="8630497" y="442598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688878-92CF-9E67-6E5A-F77A8C11A8C6}"/>
              </a:ext>
            </a:extLst>
          </p:cNvPr>
          <p:cNvSpPr/>
          <p:nvPr/>
        </p:nvSpPr>
        <p:spPr>
          <a:xfrm>
            <a:off x="8173297" y="442598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51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A31C-3861-8F8D-EEFA-3FB6D60F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Pin on first siteSUP paddle boards">
            <a:extLst>
              <a:ext uri="{FF2B5EF4-FFF2-40B4-BE49-F238E27FC236}">
                <a16:creationId xmlns:a16="http://schemas.microsoft.com/office/drawing/2014/main" id="{AF610C6C-9D36-3536-9E04-E56679F974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081217" y="5028724"/>
            <a:ext cx="6849910" cy="66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82CDA-96DB-7724-A8ED-3A7486E5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5A5A0D4-18E0-D850-1AC2-9838964F9D83}"/>
              </a:ext>
            </a:extLst>
          </p:cNvPr>
          <p:cNvGraphicFramePr>
            <a:graphicFrameLocks noGrp="1"/>
          </p:cNvGraphicFramePr>
          <p:nvPr/>
        </p:nvGraphicFramePr>
        <p:xfrm>
          <a:off x="645458" y="1906354"/>
          <a:ext cx="3729596" cy="47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99">
                  <a:extLst>
                    <a:ext uri="{9D8B030D-6E8A-4147-A177-3AD203B41FA5}">
                      <a16:colId xmlns:a16="http://schemas.microsoft.com/office/drawing/2014/main" val="1206966878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174182402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6751093"/>
                    </a:ext>
                  </a:extLst>
                </a:gridCol>
                <a:gridCol w="932399">
                  <a:extLst>
                    <a:ext uri="{9D8B030D-6E8A-4147-A177-3AD203B41FA5}">
                      <a16:colId xmlns:a16="http://schemas.microsoft.com/office/drawing/2014/main" val="4277576210"/>
                    </a:ext>
                  </a:extLst>
                </a:gridCol>
              </a:tblGrid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15682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5460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52203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4947"/>
                  </a:ext>
                </a:extLst>
              </a:tr>
              <a:tr h="943441"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4668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7597DC2-52B2-00A7-7EE7-2BB318E96EE6}"/>
              </a:ext>
            </a:extLst>
          </p:cNvPr>
          <p:cNvSpPr txBox="1"/>
          <p:nvPr/>
        </p:nvSpPr>
        <p:spPr>
          <a:xfrm>
            <a:off x="6270871" y="5506881"/>
            <a:ext cx="425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Sampling Distribution of the Mean for </a:t>
            </a:r>
            <a:r>
              <a:rPr lang="en-US" b="1" dirty="0"/>
              <a:t>n =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BEE3EB-87CC-5D1B-C3A7-A549E90C4F5F}"/>
              </a:ext>
            </a:extLst>
          </p:cNvPr>
          <p:cNvSpPr/>
          <p:nvPr/>
        </p:nvSpPr>
        <p:spPr>
          <a:xfrm>
            <a:off x="8173297" y="473002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28E59E-587E-ED7A-AD51-929B5BDCB864}"/>
              </a:ext>
            </a:extLst>
          </p:cNvPr>
          <p:cNvSpPr/>
          <p:nvPr/>
        </p:nvSpPr>
        <p:spPr>
          <a:xfrm>
            <a:off x="8173297" y="442598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D7AC98-FB69-BA0F-7FED-793F70159A6F}"/>
              </a:ext>
            </a:extLst>
          </p:cNvPr>
          <p:cNvSpPr/>
          <p:nvPr/>
        </p:nvSpPr>
        <p:spPr>
          <a:xfrm>
            <a:off x="8173297" y="412152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F6D7D-A288-12A8-29C2-25191D24615D}"/>
              </a:ext>
            </a:extLst>
          </p:cNvPr>
          <p:cNvSpPr/>
          <p:nvPr/>
        </p:nvSpPr>
        <p:spPr>
          <a:xfrm>
            <a:off x="8173297" y="381570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5D7184-5E45-807F-7D38-7C1A035D69B8}"/>
              </a:ext>
            </a:extLst>
          </p:cNvPr>
          <p:cNvSpPr/>
          <p:nvPr/>
        </p:nvSpPr>
        <p:spPr>
          <a:xfrm>
            <a:off x="8173297" y="3511667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5CDE6-7F12-D6CD-4241-AC9C916A26F4}"/>
              </a:ext>
            </a:extLst>
          </p:cNvPr>
          <p:cNvSpPr/>
          <p:nvPr/>
        </p:nvSpPr>
        <p:spPr>
          <a:xfrm>
            <a:off x="8173297" y="320720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18402-743A-37C5-839E-03AAF6831C6A}"/>
              </a:ext>
            </a:extLst>
          </p:cNvPr>
          <p:cNvSpPr/>
          <p:nvPr/>
        </p:nvSpPr>
        <p:spPr>
          <a:xfrm>
            <a:off x="8173297" y="291033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68FA0-5B12-2749-AA69-7F1E70FD1CFD}"/>
              </a:ext>
            </a:extLst>
          </p:cNvPr>
          <p:cNvSpPr/>
          <p:nvPr/>
        </p:nvSpPr>
        <p:spPr>
          <a:xfrm>
            <a:off x="8173297" y="260630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8655F-ED49-F05F-948C-8BFAB9C7C177}"/>
              </a:ext>
            </a:extLst>
          </p:cNvPr>
          <p:cNvSpPr/>
          <p:nvPr/>
        </p:nvSpPr>
        <p:spPr>
          <a:xfrm>
            <a:off x="8173297" y="2301839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C54D10-41C3-5D54-F535-1893EC040B34}"/>
              </a:ext>
            </a:extLst>
          </p:cNvPr>
          <p:cNvSpPr/>
          <p:nvPr/>
        </p:nvSpPr>
        <p:spPr>
          <a:xfrm>
            <a:off x="8173297" y="199761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5B8825-6FA5-C919-B182-4E533D7EB191}"/>
              </a:ext>
            </a:extLst>
          </p:cNvPr>
          <p:cNvSpPr/>
          <p:nvPr/>
        </p:nvSpPr>
        <p:spPr>
          <a:xfrm>
            <a:off x="8630497" y="473002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ADB4A2-4D51-BE60-695E-EE895F0B5C5A}"/>
              </a:ext>
            </a:extLst>
          </p:cNvPr>
          <p:cNvSpPr/>
          <p:nvPr/>
        </p:nvSpPr>
        <p:spPr>
          <a:xfrm>
            <a:off x="8630497" y="442598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EFB31E-8B8C-5311-29A7-A2A66C4C7757}"/>
              </a:ext>
            </a:extLst>
          </p:cNvPr>
          <p:cNvSpPr/>
          <p:nvPr/>
        </p:nvSpPr>
        <p:spPr>
          <a:xfrm>
            <a:off x="8630497" y="412152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454393-09B4-41C5-C1D7-FFAC98EC381C}"/>
              </a:ext>
            </a:extLst>
          </p:cNvPr>
          <p:cNvSpPr/>
          <p:nvPr/>
        </p:nvSpPr>
        <p:spPr>
          <a:xfrm>
            <a:off x="8630497" y="381570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A98A15-C105-7CE0-BF2A-B0141493C6AB}"/>
              </a:ext>
            </a:extLst>
          </p:cNvPr>
          <p:cNvSpPr/>
          <p:nvPr/>
        </p:nvSpPr>
        <p:spPr>
          <a:xfrm>
            <a:off x="8630497" y="3511667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172B34-2EBF-B8ED-7678-76F477757AAE}"/>
              </a:ext>
            </a:extLst>
          </p:cNvPr>
          <p:cNvSpPr/>
          <p:nvPr/>
        </p:nvSpPr>
        <p:spPr>
          <a:xfrm>
            <a:off x="8630497" y="320720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AF8D48-173A-A23C-A89F-759AB94DD819}"/>
              </a:ext>
            </a:extLst>
          </p:cNvPr>
          <p:cNvSpPr/>
          <p:nvPr/>
        </p:nvSpPr>
        <p:spPr>
          <a:xfrm>
            <a:off x="8630497" y="291033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71DC7E-501A-A488-0073-1C2D98718F22}"/>
              </a:ext>
            </a:extLst>
          </p:cNvPr>
          <p:cNvSpPr/>
          <p:nvPr/>
        </p:nvSpPr>
        <p:spPr>
          <a:xfrm>
            <a:off x="8630497" y="260630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E3FF69-338B-C7B8-A658-16F5D650DF68}"/>
              </a:ext>
            </a:extLst>
          </p:cNvPr>
          <p:cNvSpPr/>
          <p:nvPr/>
        </p:nvSpPr>
        <p:spPr>
          <a:xfrm>
            <a:off x="8630497" y="2301839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FB484D-60EE-D5A4-E89F-A343DDED9D7C}"/>
              </a:ext>
            </a:extLst>
          </p:cNvPr>
          <p:cNvSpPr/>
          <p:nvPr/>
        </p:nvSpPr>
        <p:spPr>
          <a:xfrm>
            <a:off x="8630497" y="199761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767998-7CB2-7971-FCCF-133C485C38DD}"/>
              </a:ext>
            </a:extLst>
          </p:cNvPr>
          <p:cNvSpPr/>
          <p:nvPr/>
        </p:nvSpPr>
        <p:spPr>
          <a:xfrm>
            <a:off x="7716097" y="472723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9E75FF-505D-9D56-73D0-36FB566E5E58}"/>
              </a:ext>
            </a:extLst>
          </p:cNvPr>
          <p:cNvSpPr/>
          <p:nvPr/>
        </p:nvSpPr>
        <p:spPr>
          <a:xfrm>
            <a:off x="7716097" y="442319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19B539-CFBC-CEE3-A155-BEC913639C97}"/>
              </a:ext>
            </a:extLst>
          </p:cNvPr>
          <p:cNvSpPr/>
          <p:nvPr/>
        </p:nvSpPr>
        <p:spPr>
          <a:xfrm>
            <a:off x="7716097" y="4118737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B298DE-92FB-05E5-2835-CEF37060C80D}"/>
              </a:ext>
            </a:extLst>
          </p:cNvPr>
          <p:cNvSpPr/>
          <p:nvPr/>
        </p:nvSpPr>
        <p:spPr>
          <a:xfrm>
            <a:off x="7716097" y="381292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92C0EF-6A31-F8EA-73BD-37BB236F8F03}"/>
              </a:ext>
            </a:extLst>
          </p:cNvPr>
          <p:cNvSpPr/>
          <p:nvPr/>
        </p:nvSpPr>
        <p:spPr>
          <a:xfrm>
            <a:off x="7716097" y="3508883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FA7AFE-421B-A0F8-5B37-C38A34A3F268}"/>
              </a:ext>
            </a:extLst>
          </p:cNvPr>
          <p:cNvSpPr/>
          <p:nvPr/>
        </p:nvSpPr>
        <p:spPr>
          <a:xfrm>
            <a:off x="7716097" y="320442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A2B2E2-B656-8899-A8C6-E31C08A8F7C6}"/>
              </a:ext>
            </a:extLst>
          </p:cNvPr>
          <p:cNvSpPr/>
          <p:nvPr/>
        </p:nvSpPr>
        <p:spPr>
          <a:xfrm>
            <a:off x="7716097" y="2907554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98C5B7-EF6B-F486-6A5A-2D642FAF8C6A}"/>
              </a:ext>
            </a:extLst>
          </p:cNvPr>
          <p:cNvSpPr/>
          <p:nvPr/>
        </p:nvSpPr>
        <p:spPr>
          <a:xfrm>
            <a:off x="7716097" y="260351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DB1B1A-AAC4-8D14-521A-900DE1749F4C}"/>
              </a:ext>
            </a:extLst>
          </p:cNvPr>
          <p:cNvSpPr/>
          <p:nvPr/>
        </p:nvSpPr>
        <p:spPr>
          <a:xfrm>
            <a:off x="7716097" y="229905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F113BC-CEAE-8CD8-B2F6-B07287E8CFAB}"/>
              </a:ext>
            </a:extLst>
          </p:cNvPr>
          <p:cNvSpPr/>
          <p:nvPr/>
        </p:nvSpPr>
        <p:spPr>
          <a:xfrm>
            <a:off x="7716097" y="1994834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6151E1-E1F8-0CE5-14D6-E4F0F2E0852D}"/>
              </a:ext>
            </a:extLst>
          </p:cNvPr>
          <p:cNvSpPr/>
          <p:nvPr/>
        </p:nvSpPr>
        <p:spPr>
          <a:xfrm>
            <a:off x="7258897" y="473002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913701-B7B6-3151-13B9-CDFA1885701D}"/>
              </a:ext>
            </a:extLst>
          </p:cNvPr>
          <p:cNvSpPr/>
          <p:nvPr/>
        </p:nvSpPr>
        <p:spPr>
          <a:xfrm>
            <a:off x="7258897" y="442598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99A525-D83A-CAE1-EE33-846C2E89A86D}"/>
              </a:ext>
            </a:extLst>
          </p:cNvPr>
          <p:cNvSpPr/>
          <p:nvPr/>
        </p:nvSpPr>
        <p:spPr>
          <a:xfrm>
            <a:off x="7258897" y="412152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DC13C3-E6DA-63DC-0AC8-1C9CD30A4FB0}"/>
              </a:ext>
            </a:extLst>
          </p:cNvPr>
          <p:cNvSpPr/>
          <p:nvPr/>
        </p:nvSpPr>
        <p:spPr>
          <a:xfrm>
            <a:off x="7258897" y="381570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7DC9E8-1EE1-62BD-D567-4D2C906F37E7}"/>
              </a:ext>
            </a:extLst>
          </p:cNvPr>
          <p:cNvSpPr/>
          <p:nvPr/>
        </p:nvSpPr>
        <p:spPr>
          <a:xfrm>
            <a:off x="7258897" y="3511667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5ABBF9-D053-53F6-695B-D1ED06EED9A8}"/>
              </a:ext>
            </a:extLst>
          </p:cNvPr>
          <p:cNvSpPr/>
          <p:nvPr/>
        </p:nvSpPr>
        <p:spPr>
          <a:xfrm>
            <a:off x="7258897" y="320720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9C8498-8054-28ED-8D5C-F224287E8635}"/>
              </a:ext>
            </a:extLst>
          </p:cNvPr>
          <p:cNvSpPr/>
          <p:nvPr/>
        </p:nvSpPr>
        <p:spPr>
          <a:xfrm>
            <a:off x="7258897" y="291033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F3CDB08-F7C8-C71A-20D4-61D5E0BE8554}"/>
              </a:ext>
            </a:extLst>
          </p:cNvPr>
          <p:cNvSpPr/>
          <p:nvPr/>
        </p:nvSpPr>
        <p:spPr>
          <a:xfrm>
            <a:off x="9087697" y="473094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C6E702-422B-096F-96C3-DE7D9242A717}"/>
              </a:ext>
            </a:extLst>
          </p:cNvPr>
          <p:cNvSpPr/>
          <p:nvPr/>
        </p:nvSpPr>
        <p:spPr>
          <a:xfrm>
            <a:off x="9087697" y="4426904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D0BEF9-C270-E4AC-6948-C6C2F753F00B}"/>
              </a:ext>
            </a:extLst>
          </p:cNvPr>
          <p:cNvSpPr/>
          <p:nvPr/>
        </p:nvSpPr>
        <p:spPr>
          <a:xfrm>
            <a:off x="9087697" y="4122443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DAD0090-22C4-BD22-087C-B6FDF5790190}"/>
              </a:ext>
            </a:extLst>
          </p:cNvPr>
          <p:cNvSpPr/>
          <p:nvPr/>
        </p:nvSpPr>
        <p:spPr>
          <a:xfrm>
            <a:off x="9087697" y="3816627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B42E09D-CB83-6B29-CB1D-C3143EAAF8CB}"/>
              </a:ext>
            </a:extLst>
          </p:cNvPr>
          <p:cNvSpPr/>
          <p:nvPr/>
        </p:nvSpPr>
        <p:spPr>
          <a:xfrm>
            <a:off x="9087697" y="3512589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BCD0715-3B25-DB63-C77C-F04505B3B58E}"/>
              </a:ext>
            </a:extLst>
          </p:cNvPr>
          <p:cNvSpPr/>
          <p:nvPr/>
        </p:nvSpPr>
        <p:spPr>
          <a:xfrm>
            <a:off x="9087697" y="3208128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97E945-F6A4-E9D6-E43D-B53FC29120BD}"/>
              </a:ext>
            </a:extLst>
          </p:cNvPr>
          <p:cNvSpPr/>
          <p:nvPr/>
        </p:nvSpPr>
        <p:spPr>
          <a:xfrm>
            <a:off x="9087697" y="291126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90494D-9E96-4FBC-D973-92484C230C50}"/>
              </a:ext>
            </a:extLst>
          </p:cNvPr>
          <p:cNvSpPr/>
          <p:nvPr/>
        </p:nvSpPr>
        <p:spPr>
          <a:xfrm>
            <a:off x="6799554" y="4737669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BA0C0BF-7047-D9FF-ACF7-971D79FACEFE}"/>
              </a:ext>
            </a:extLst>
          </p:cNvPr>
          <p:cNvSpPr/>
          <p:nvPr/>
        </p:nvSpPr>
        <p:spPr>
          <a:xfrm>
            <a:off x="6799554" y="443363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9A4551-4D32-01A0-1742-622B721E6E02}"/>
              </a:ext>
            </a:extLst>
          </p:cNvPr>
          <p:cNvSpPr/>
          <p:nvPr/>
        </p:nvSpPr>
        <p:spPr>
          <a:xfrm>
            <a:off x="6799554" y="412917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C3EC2F-D707-AD0C-E6E4-E4A6F9BF7A91}"/>
              </a:ext>
            </a:extLst>
          </p:cNvPr>
          <p:cNvSpPr/>
          <p:nvPr/>
        </p:nvSpPr>
        <p:spPr>
          <a:xfrm>
            <a:off x="6799554" y="3823354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698D66-2D91-2055-5320-FE3D5D32897E}"/>
              </a:ext>
            </a:extLst>
          </p:cNvPr>
          <p:cNvSpPr/>
          <p:nvPr/>
        </p:nvSpPr>
        <p:spPr>
          <a:xfrm>
            <a:off x="6799554" y="351931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9C4B57-0789-1F26-CF3C-53D79AACEA77}"/>
              </a:ext>
            </a:extLst>
          </p:cNvPr>
          <p:cNvSpPr/>
          <p:nvPr/>
        </p:nvSpPr>
        <p:spPr>
          <a:xfrm>
            <a:off x="9544897" y="472495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914D28B-8DFA-C025-7C4E-F4D3D1F1C3B6}"/>
              </a:ext>
            </a:extLst>
          </p:cNvPr>
          <p:cNvSpPr/>
          <p:nvPr/>
        </p:nvSpPr>
        <p:spPr>
          <a:xfrm>
            <a:off x="9544897" y="442091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0226AA-8AC5-60F6-B1B4-24ECC8EFBF92}"/>
              </a:ext>
            </a:extLst>
          </p:cNvPr>
          <p:cNvSpPr/>
          <p:nvPr/>
        </p:nvSpPr>
        <p:spPr>
          <a:xfrm>
            <a:off x="9544897" y="411645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39DE59C-1289-E74A-FB8A-2B774CC4453B}"/>
              </a:ext>
            </a:extLst>
          </p:cNvPr>
          <p:cNvSpPr/>
          <p:nvPr/>
        </p:nvSpPr>
        <p:spPr>
          <a:xfrm>
            <a:off x="9544897" y="381063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B500828-6B84-D187-8CB5-7191D2D398A5}"/>
              </a:ext>
            </a:extLst>
          </p:cNvPr>
          <p:cNvSpPr/>
          <p:nvPr/>
        </p:nvSpPr>
        <p:spPr>
          <a:xfrm>
            <a:off x="9544897" y="3511567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26A090B-5B9C-211B-C8C2-B2C40D7AAD82}"/>
              </a:ext>
            </a:extLst>
          </p:cNvPr>
          <p:cNvSpPr/>
          <p:nvPr/>
        </p:nvSpPr>
        <p:spPr>
          <a:xfrm>
            <a:off x="6342354" y="4738129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BA0965-C3A3-DDE6-95FB-A8CBE1DD7FFE}"/>
              </a:ext>
            </a:extLst>
          </p:cNvPr>
          <p:cNvSpPr/>
          <p:nvPr/>
        </p:nvSpPr>
        <p:spPr>
          <a:xfrm>
            <a:off x="6342354" y="443409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B520CE8-5571-E1CE-C1FB-B51C9DCD3DD5}"/>
              </a:ext>
            </a:extLst>
          </p:cNvPr>
          <p:cNvSpPr/>
          <p:nvPr/>
        </p:nvSpPr>
        <p:spPr>
          <a:xfrm>
            <a:off x="10007827" y="4731206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A73D61-89B8-74D7-B21F-734477A3D5C1}"/>
              </a:ext>
            </a:extLst>
          </p:cNvPr>
          <p:cNvSpPr/>
          <p:nvPr/>
        </p:nvSpPr>
        <p:spPr>
          <a:xfrm>
            <a:off x="10007827" y="4423173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EDE9052-5B65-CB10-B4C6-4C39ACB1728C}"/>
              </a:ext>
            </a:extLst>
          </p:cNvPr>
          <p:cNvSpPr/>
          <p:nvPr/>
        </p:nvSpPr>
        <p:spPr>
          <a:xfrm>
            <a:off x="10459297" y="4723073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E055FD1-930C-2376-83A5-9BAA696CA403}"/>
              </a:ext>
            </a:extLst>
          </p:cNvPr>
          <p:cNvSpPr/>
          <p:nvPr/>
        </p:nvSpPr>
        <p:spPr>
          <a:xfrm>
            <a:off x="5887297" y="4741003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AB92D-83C7-0F25-20DA-6D33E7DFCABA}"/>
              </a:ext>
            </a:extLst>
          </p:cNvPr>
          <p:cNvSpPr/>
          <p:nvPr/>
        </p:nvSpPr>
        <p:spPr>
          <a:xfrm>
            <a:off x="8176880" y="1694899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AB065F-D8A3-A7B6-E831-C88AAD3AE079}"/>
              </a:ext>
            </a:extLst>
          </p:cNvPr>
          <p:cNvSpPr/>
          <p:nvPr/>
        </p:nvSpPr>
        <p:spPr>
          <a:xfrm>
            <a:off x="8176880" y="1393475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64E043-6EE1-1C23-0291-B057DDEF0D25}"/>
              </a:ext>
            </a:extLst>
          </p:cNvPr>
          <p:cNvSpPr/>
          <p:nvPr/>
        </p:nvSpPr>
        <p:spPr>
          <a:xfrm>
            <a:off x="7258897" y="260452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78FEFA-9BAF-0DE5-A3C8-11257BF66D35}"/>
              </a:ext>
            </a:extLst>
          </p:cNvPr>
          <p:cNvSpPr/>
          <p:nvPr/>
        </p:nvSpPr>
        <p:spPr>
          <a:xfrm>
            <a:off x="9087697" y="2604521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EDF27B-AC84-0486-6C69-2B9A51CB1E38}"/>
              </a:ext>
            </a:extLst>
          </p:cNvPr>
          <p:cNvSpPr/>
          <p:nvPr/>
        </p:nvSpPr>
        <p:spPr>
          <a:xfrm>
            <a:off x="6342354" y="4124130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A5CB8E-62F4-C6FE-492D-9E60BBB1725B}"/>
              </a:ext>
            </a:extLst>
          </p:cNvPr>
          <p:cNvSpPr/>
          <p:nvPr/>
        </p:nvSpPr>
        <p:spPr>
          <a:xfrm>
            <a:off x="10002097" y="4112722"/>
            <a:ext cx="457200" cy="3017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843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B0C8-5134-7E92-4FDC-7A94E50F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BCD6-96F6-5267-0F46-40500C61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Sampling Distribution of the Mean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57BF97E-F5F7-0604-62D9-5D37640DD909}"/>
              </a:ext>
            </a:extLst>
          </p:cNvPr>
          <p:cNvGrpSpPr/>
          <p:nvPr/>
        </p:nvGrpSpPr>
        <p:grpSpPr>
          <a:xfrm>
            <a:off x="6507109" y="2399737"/>
            <a:ext cx="5835280" cy="3361164"/>
            <a:chOff x="5081217" y="1994834"/>
            <a:chExt cx="6849910" cy="3945598"/>
          </a:xfrm>
        </p:grpSpPr>
        <p:pic>
          <p:nvPicPr>
            <p:cNvPr id="15" name="Picture 8" descr="Pin on first siteSUP paddle boards">
              <a:extLst>
                <a:ext uri="{FF2B5EF4-FFF2-40B4-BE49-F238E27FC236}">
                  <a16:creationId xmlns:a16="http://schemas.microsoft.com/office/drawing/2014/main" id="{F8543FA6-9DAA-B860-DB96-8BA0FF280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100"/>
            <a:stretch>
              <a:fillRect/>
            </a:stretch>
          </p:blipFill>
          <p:spPr bwMode="auto">
            <a:xfrm>
              <a:off x="5081217" y="5028724"/>
              <a:ext cx="6849910" cy="662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D6976F-760B-880B-9A89-A3648DEC6C70}"/>
                </a:ext>
              </a:extLst>
            </p:cNvPr>
            <p:cNvSpPr txBox="1"/>
            <p:nvPr/>
          </p:nvSpPr>
          <p:spPr>
            <a:xfrm>
              <a:off x="5929720" y="5506881"/>
              <a:ext cx="5383867" cy="433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Sampling Distribution of the Mean for </a:t>
              </a:r>
              <a:r>
                <a:rPr lang="en-US" b="1" dirty="0"/>
                <a:t>n = 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854491-3265-25F0-04D9-69814F09D98D}"/>
                </a:ext>
              </a:extLst>
            </p:cNvPr>
            <p:cNvSpPr/>
            <p:nvPr/>
          </p:nvSpPr>
          <p:spPr>
            <a:xfrm>
              <a:off x="8173297" y="473002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18C6B6-F55C-1336-AA0E-8853A24E2ACA}"/>
                </a:ext>
              </a:extLst>
            </p:cNvPr>
            <p:cNvSpPr/>
            <p:nvPr/>
          </p:nvSpPr>
          <p:spPr>
            <a:xfrm>
              <a:off x="8173297" y="4425982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CBBDB3-4258-9902-3537-6F477F47E14F}"/>
                </a:ext>
              </a:extLst>
            </p:cNvPr>
            <p:cNvSpPr/>
            <p:nvPr/>
          </p:nvSpPr>
          <p:spPr>
            <a:xfrm>
              <a:off x="8173297" y="412152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900207-CDFD-6065-EB3B-8B19D0C5EADC}"/>
                </a:ext>
              </a:extLst>
            </p:cNvPr>
            <p:cNvSpPr/>
            <p:nvPr/>
          </p:nvSpPr>
          <p:spPr>
            <a:xfrm>
              <a:off x="8173297" y="3815705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3BCE21-3A2B-0011-4ED1-ABC732BD69EA}"/>
                </a:ext>
              </a:extLst>
            </p:cNvPr>
            <p:cNvSpPr/>
            <p:nvPr/>
          </p:nvSpPr>
          <p:spPr>
            <a:xfrm>
              <a:off x="8173297" y="3511667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E2A99-AD6E-1DBD-98C4-EE692DFA8320}"/>
                </a:ext>
              </a:extLst>
            </p:cNvPr>
            <p:cNvSpPr/>
            <p:nvPr/>
          </p:nvSpPr>
          <p:spPr>
            <a:xfrm>
              <a:off x="8173297" y="320720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9497DC-8B66-65B1-4791-DE8C662553C7}"/>
                </a:ext>
              </a:extLst>
            </p:cNvPr>
            <p:cNvSpPr/>
            <p:nvPr/>
          </p:nvSpPr>
          <p:spPr>
            <a:xfrm>
              <a:off x="8173297" y="291033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69C47D-7B61-91F1-12F2-0C5733962C17}"/>
                </a:ext>
              </a:extLst>
            </p:cNvPr>
            <p:cNvSpPr/>
            <p:nvPr/>
          </p:nvSpPr>
          <p:spPr>
            <a:xfrm>
              <a:off x="8173297" y="260630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615CF2-EDEF-B088-B81C-67ED9D8865AF}"/>
                </a:ext>
              </a:extLst>
            </p:cNvPr>
            <p:cNvSpPr/>
            <p:nvPr/>
          </p:nvSpPr>
          <p:spPr>
            <a:xfrm>
              <a:off x="8173297" y="2301839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FA93E0-E12A-61C9-49D8-6247BBA027CE}"/>
                </a:ext>
              </a:extLst>
            </p:cNvPr>
            <p:cNvSpPr/>
            <p:nvPr/>
          </p:nvSpPr>
          <p:spPr>
            <a:xfrm>
              <a:off x="8173297" y="199761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276EA3-BADB-24FC-68D7-F40523C99E01}"/>
                </a:ext>
              </a:extLst>
            </p:cNvPr>
            <p:cNvSpPr/>
            <p:nvPr/>
          </p:nvSpPr>
          <p:spPr>
            <a:xfrm>
              <a:off x="8630497" y="473002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8367FB-93B3-86F6-21F7-CCF72C8A71B7}"/>
                </a:ext>
              </a:extLst>
            </p:cNvPr>
            <p:cNvSpPr/>
            <p:nvPr/>
          </p:nvSpPr>
          <p:spPr>
            <a:xfrm>
              <a:off x="8630497" y="4425982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BF38020-3CA7-104D-56FB-EA7D76DC1154}"/>
                </a:ext>
              </a:extLst>
            </p:cNvPr>
            <p:cNvSpPr/>
            <p:nvPr/>
          </p:nvSpPr>
          <p:spPr>
            <a:xfrm>
              <a:off x="8630497" y="412152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A4E57E-5386-9375-3875-58D34C5ECE8D}"/>
                </a:ext>
              </a:extLst>
            </p:cNvPr>
            <p:cNvSpPr/>
            <p:nvPr/>
          </p:nvSpPr>
          <p:spPr>
            <a:xfrm>
              <a:off x="8630497" y="3815705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6FF0E9-7473-2B4A-07B5-A88C5DE26B09}"/>
                </a:ext>
              </a:extLst>
            </p:cNvPr>
            <p:cNvSpPr/>
            <p:nvPr/>
          </p:nvSpPr>
          <p:spPr>
            <a:xfrm>
              <a:off x="8630497" y="3511667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0DCC5AA-BD3D-F223-CD96-A029556AAA75}"/>
                </a:ext>
              </a:extLst>
            </p:cNvPr>
            <p:cNvSpPr/>
            <p:nvPr/>
          </p:nvSpPr>
          <p:spPr>
            <a:xfrm>
              <a:off x="8630497" y="320720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8515CE6-10A5-B508-4985-3C2C5EC158D4}"/>
                </a:ext>
              </a:extLst>
            </p:cNvPr>
            <p:cNvSpPr/>
            <p:nvPr/>
          </p:nvSpPr>
          <p:spPr>
            <a:xfrm>
              <a:off x="8630497" y="291033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CEC9196-24ED-3546-113E-F3B79892EEFA}"/>
                </a:ext>
              </a:extLst>
            </p:cNvPr>
            <p:cNvSpPr/>
            <p:nvPr/>
          </p:nvSpPr>
          <p:spPr>
            <a:xfrm>
              <a:off x="8630497" y="260630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4C2C23-A937-E948-33C5-0F9247A98AA2}"/>
                </a:ext>
              </a:extLst>
            </p:cNvPr>
            <p:cNvSpPr/>
            <p:nvPr/>
          </p:nvSpPr>
          <p:spPr>
            <a:xfrm>
              <a:off x="8630497" y="2301839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DC9C4D-CACD-AD9B-73A8-C39623DD0A82}"/>
                </a:ext>
              </a:extLst>
            </p:cNvPr>
            <p:cNvSpPr/>
            <p:nvPr/>
          </p:nvSpPr>
          <p:spPr>
            <a:xfrm>
              <a:off x="8630497" y="199761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E3F7A87-79ED-9FA3-1BFA-FC06A0A63B25}"/>
                </a:ext>
              </a:extLst>
            </p:cNvPr>
            <p:cNvSpPr/>
            <p:nvPr/>
          </p:nvSpPr>
          <p:spPr>
            <a:xfrm>
              <a:off x="7716097" y="472723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505AF76-0B2E-864F-FEA2-E1B139114625}"/>
                </a:ext>
              </a:extLst>
            </p:cNvPr>
            <p:cNvSpPr/>
            <p:nvPr/>
          </p:nvSpPr>
          <p:spPr>
            <a:xfrm>
              <a:off x="7716097" y="442319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7D8E875-FD3A-90AA-EC3C-C7D5BA336859}"/>
                </a:ext>
              </a:extLst>
            </p:cNvPr>
            <p:cNvSpPr/>
            <p:nvPr/>
          </p:nvSpPr>
          <p:spPr>
            <a:xfrm>
              <a:off x="7716097" y="4118737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03684B7-D602-8956-236A-8EBFB20CF297}"/>
                </a:ext>
              </a:extLst>
            </p:cNvPr>
            <p:cNvSpPr/>
            <p:nvPr/>
          </p:nvSpPr>
          <p:spPr>
            <a:xfrm>
              <a:off x="7716097" y="381292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E59EC6C-B19A-12DC-173B-AE668F3DF33F}"/>
                </a:ext>
              </a:extLst>
            </p:cNvPr>
            <p:cNvSpPr/>
            <p:nvPr/>
          </p:nvSpPr>
          <p:spPr>
            <a:xfrm>
              <a:off x="7716097" y="3508883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0410F17-6F4C-8982-DE9E-9AC8F785CCAD}"/>
                </a:ext>
              </a:extLst>
            </p:cNvPr>
            <p:cNvSpPr/>
            <p:nvPr/>
          </p:nvSpPr>
          <p:spPr>
            <a:xfrm>
              <a:off x="7716097" y="3204422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D986FD7-8F31-5F77-8DC5-E0995FF420D0}"/>
                </a:ext>
              </a:extLst>
            </p:cNvPr>
            <p:cNvSpPr/>
            <p:nvPr/>
          </p:nvSpPr>
          <p:spPr>
            <a:xfrm>
              <a:off x="7716097" y="2907554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5AB987E-C230-2231-C68A-D1661857C470}"/>
                </a:ext>
              </a:extLst>
            </p:cNvPr>
            <p:cNvSpPr/>
            <p:nvPr/>
          </p:nvSpPr>
          <p:spPr>
            <a:xfrm>
              <a:off x="7716097" y="260351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AABE319-9516-8F4A-FF10-3E256602FC96}"/>
                </a:ext>
              </a:extLst>
            </p:cNvPr>
            <p:cNvSpPr/>
            <p:nvPr/>
          </p:nvSpPr>
          <p:spPr>
            <a:xfrm>
              <a:off x="7716097" y="2299055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C8F62E8-1956-A286-F975-66739CF340AC}"/>
                </a:ext>
              </a:extLst>
            </p:cNvPr>
            <p:cNvSpPr/>
            <p:nvPr/>
          </p:nvSpPr>
          <p:spPr>
            <a:xfrm>
              <a:off x="7716097" y="1994834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6FAD80-FCD4-4946-E9FD-108AE0086AC4}"/>
                </a:ext>
              </a:extLst>
            </p:cNvPr>
            <p:cNvSpPr/>
            <p:nvPr/>
          </p:nvSpPr>
          <p:spPr>
            <a:xfrm>
              <a:off x="7258897" y="473002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B7C399-399C-74E6-4FDF-6B16DC0762B4}"/>
                </a:ext>
              </a:extLst>
            </p:cNvPr>
            <p:cNvSpPr/>
            <p:nvPr/>
          </p:nvSpPr>
          <p:spPr>
            <a:xfrm>
              <a:off x="7258897" y="4425982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764A88C-CE86-0EB6-FA4F-F8A9AB100F0D}"/>
                </a:ext>
              </a:extLst>
            </p:cNvPr>
            <p:cNvSpPr/>
            <p:nvPr/>
          </p:nvSpPr>
          <p:spPr>
            <a:xfrm>
              <a:off x="7258897" y="412152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492427-2BB1-7A0D-D6F9-AE7594DB16B7}"/>
                </a:ext>
              </a:extLst>
            </p:cNvPr>
            <p:cNvSpPr/>
            <p:nvPr/>
          </p:nvSpPr>
          <p:spPr>
            <a:xfrm>
              <a:off x="7258897" y="3815705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CBC644E-AC02-35F8-B909-F7E7EACFEEE1}"/>
                </a:ext>
              </a:extLst>
            </p:cNvPr>
            <p:cNvSpPr/>
            <p:nvPr/>
          </p:nvSpPr>
          <p:spPr>
            <a:xfrm>
              <a:off x="7258897" y="3511667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086AC10-3DF8-0994-8BE1-0BCA203A6911}"/>
                </a:ext>
              </a:extLst>
            </p:cNvPr>
            <p:cNvSpPr/>
            <p:nvPr/>
          </p:nvSpPr>
          <p:spPr>
            <a:xfrm>
              <a:off x="7258897" y="320720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071E444-22CE-F264-28A9-4F3CAB578277}"/>
                </a:ext>
              </a:extLst>
            </p:cNvPr>
            <p:cNvSpPr/>
            <p:nvPr/>
          </p:nvSpPr>
          <p:spPr>
            <a:xfrm>
              <a:off x="7258897" y="291033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032A497-DE73-C24A-4314-3B23387F7B6A}"/>
                </a:ext>
              </a:extLst>
            </p:cNvPr>
            <p:cNvSpPr/>
            <p:nvPr/>
          </p:nvSpPr>
          <p:spPr>
            <a:xfrm>
              <a:off x="9087697" y="4730942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ECFFB9-AFF8-9384-F9EB-61BDAF8EC608}"/>
                </a:ext>
              </a:extLst>
            </p:cNvPr>
            <p:cNvSpPr/>
            <p:nvPr/>
          </p:nvSpPr>
          <p:spPr>
            <a:xfrm>
              <a:off x="9087697" y="4426904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C737CBD-9071-CAF8-CC1F-D648ED8DA722}"/>
                </a:ext>
              </a:extLst>
            </p:cNvPr>
            <p:cNvSpPr/>
            <p:nvPr/>
          </p:nvSpPr>
          <p:spPr>
            <a:xfrm>
              <a:off x="9087697" y="4122443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7603B2A-FFAF-4EB7-CDDE-800894B8C7E1}"/>
                </a:ext>
              </a:extLst>
            </p:cNvPr>
            <p:cNvSpPr/>
            <p:nvPr/>
          </p:nvSpPr>
          <p:spPr>
            <a:xfrm>
              <a:off x="9087697" y="3816627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125E78-B192-F5F6-A3B4-5913F5605E10}"/>
                </a:ext>
              </a:extLst>
            </p:cNvPr>
            <p:cNvSpPr/>
            <p:nvPr/>
          </p:nvSpPr>
          <p:spPr>
            <a:xfrm>
              <a:off x="9087697" y="3512589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40A3CC1-2D13-A6B7-7EE5-7F1A33081A2A}"/>
                </a:ext>
              </a:extLst>
            </p:cNvPr>
            <p:cNvSpPr/>
            <p:nvPr/>
          </p:nvSpPr>
          <p:spPr>
            <a:xfrm>
              <a:off x="9087697" y="3208128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1B2EF5-2564-CB1E-CDE9-D158A4141FDD}"/>
                </a:ext>
              </a:extLst>
            </p:cNvPr>
            <p:cNvSpPr/>
            <p:nvPr/>
          </p:nvSpPr>
          <p:spPr>
            <a:xfrm>
              <a:off x="9087697" y="291126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AE78D8F-99F1-2753-C960-E10B633301A6}"/>
                </a:ext>
              </a:extLst>
            </p:cNvPr>
            <p:cNvSpPr/>
            <p:nvPr/>
          </p:nvSpPr>
          <p:spPr>
            <a:xfrm>
              <a:off x="6799554" y="4737669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0FF057A-65E6-01EF-3137-14242F122E50}"/>
                </a:ext>
              </a:extLst>
            </p:cNvPr>
            <p:cNvSpPr/>
            <p:nvPr/>
          </p:nvSpPr>
          <p:spPr>
            <a:xfrm>
              <a:off x="6799554" y="443363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4DA984D-EA02-2DA9-47F1-D206CB2048C6}"/>
                </a:ext>
              </a:extLst>
            </p:cNvPr>
            <p:cNvSpPr/>
            <p:nvPr/>
          </p:nvSpPr>
          <p:spPr>
            <a:xfrm>
              <a:off x="6799554" y="412917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28C8AFA-5BDB-D363-615C-262AC7A7C320}"/>
                </a:ext>
              </a:extLst>
            </p:cNvPr>
            <p:cNvSpPr/>
            <p:nvPr/>
          </p:nvSpPr>
          <p:spPr>
            <a:xfrm>
              <a:off x="6799554" y="3823354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8AD44FC-36E5-2D48-CB01-B2F7369FC2F9}"/>
                </a:ext>
              </a:extLst>
            </p:cNvPr>
            <p:cNvSpPr/>
            <p:nvPr/>
          </p:nvSpPr>
          <p:spPr>
            <a:xfrm>
              <a:off x="6799554" y="351931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5634EF-1241-DECB-8C33-9D8C43A4DE25}"/>
                </a:ext>
              </a:extLst>
            </p:cNvPr>
            <p:cNvSpPr/>
            <p:nvPr/>
          </p:nvSpPr>
          <p:spPr>
            <a:xfrm>
              <a:off x="9544897" y="4724950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A8B7AC2-C941-BAD3-F6A4-32C88EFCACED}"/>
                </a:ext>
              </a:extLst>
            </p:cNvPr>
            <p:cNvSpPr/>
            <p:nvPr/>
          </p:nvSpPr>
          <p:spPr>
            <a:xfrm>
              <a:off x="9544897" y="4420912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B62987F-DD97-AC49-1753-2F77930EAF34}"/>
                </a:ext>
              </a:extLst>
            </p:cNvPr>
            <p:cNvSpPr/>
            <p:nvPr/>
          </p:nvSpPr>
          <p:spPr>
            <a:xfrm>
              <a:off x="9544897" y="411645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CE55D5-3929-1FD8-F0B2-0F7B18D8643B}"/>
                </a:ext>
              </a:extLst>
            </p:cNvPr>
            <p:cNvSpPr/>
            <p:nvPr/>
          </p:nvSpPr>
          <p:spPr>
            <a:xfrm>
              <a:off x="9544897" y="3810635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4780010-4D03-56DB-9E59-9E2FE5384E17}"/>
                </a:ext>
              </a:extLst>
            </p:cNvPr>
            <p:cNvSpPr/>
            <p:nvPr/>
          </p:nvSpPr>
          <p:spPr>
            <a:xfrm>
              <a:off x="9544897" y="3506597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CD3D42D-E393-33ED-2299-0DF440C1C65D}"/>
                </a:ext>
              </a:extLst>
            </p:cNvPr>
            <p:cNvSpPr/>
            <p:nvPr/>
          </p:nvSpPr>
          <p:spPr>
            <a:xfrm>
              <a:off x="6342354" y="4738129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9DB2A0C-1EA5-DD44-4A57-06DF6EDE7F67}"/>
                </a:ext>
              </a:extLst>
            </p:cNvPr>
            <p:cNvSpPr/>
            <p:nvPr/>
          </p:nvSpPr>
          <p:spPr>
            <a:xfrm>
              <a:off x="6342354" y="4434091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BC1EAC-75DF-CFA6-0A2A-5A715EFBE559}"/>
                </a:ext>
              </a:extLst>
            </p:cNvPr>
            <p:cNvSpPr/>
            <p:nvPr/>
          </p:nvSpPr>
          <p:spPr>
            <a:xfrm>
              <a:off x="10007827" y="4731206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A6E7AAB-F676-B349-3755-E35AC89C5B6F}"/>
                </a:ext>
              </a:extLst>
            </p:cNvPr>
            <p:cNvSpPr/>
            <p:nvPr/>
          </p:nvSpPr>
          <p:spPr>
            <a:xfrm>
              <a:off x="10007827" y="4418203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510D956-A927-E7A2-CA7D-042E4FC1B967}"/>
                </a:ext>
              </a:extLst>
            </p:cNvPr>
            <p:cNvSpPr/>
            <p:nvPr/>
          </p:nvSpPr>
          <p:spPr>
            <a:xfrm>
              <a:off x="10459297" y="4723073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EE8010A-A9C5-18D9-3AED-920FAA690275}"/>
                </a:ext>
              </a:extLst>
            </p:cNvPr>
            <p:cNvSpPr/>
            <p:nvPr/>
          </p:nvSpPr>
          <p:spPr>
            <a:xfrm>
              <a:off x="5887297" y="4741003"/>
              <a:ext cx="457200" cy="3017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8" descr="Pin on first siteSUP paddle boards">
            <a:extLst>
              <a:ext uri="{FF2B5EF4-FFF2-40B4-BE49-F238E27FC236}">
                <a16:creationId xmlns:a16="http://schemas.microsoft.com/office/drawing/2014/main" id="{CEADFE0C-26AC-B3DB-67B6-99E734792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0"/>
          <a:stretch>
            <a:fillRect/>
          </a:stretch>
        </p:blipFill>
        <p:spPr bwMode="auto">
          <a:xfrm>
            <a:off x="522659" y="4971531"/>
            <a:ext cx="5835280" cy="56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7F7B035-B804-8E14-713F-F464CD05F691}"/>
              </a:ext>
            </a:extLst>
          </p:cNvPr>
          <p:cNvGrpSpPr/>
          <p:nvPr/>
        </p:nvGrpSpPr>
        <p:grpSpPr>
          <a:xfrm>
            <a:off x="617910" y="1885895"/>
            <a:ext cx="5450593" cy="3076995"/>
            <a:chOff x="617910" y="2950587"/>
            <a:chExt cx="5450593" cy="20123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8871C3-49C7-51F6-51AB-0B17C83674C9}"/>
                </a:ext>
              </a:extLst>
            </p:cNvPr>
            <p:cNvSpPr/>
            <p:nvPr/>
          </p:nvSpPr>
          <p:spPr>
            <a:xfrm>
              <a:off x="2954779" y="4454255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620384-7A41-83E9-F774-46ECAA42235E}"/>
                </a:ext>
              </a:extLst>
            </p:cNvPr>
            <p:cNvSpPr/>
            <p:nvPr/>
          </p:nvSpPr>
          <p:spPr>
            <a:xfrm>
              <a:off x="2954779" y="3947933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9BDBA67-3265-E056-66F9-C6C0207F118E}"/>
                </a:ext>
              </a:extLst>
            </p:cNvPr>
            <p:cNvSpPr/>
            <p:nvPr/>
          </p:nvSpPr>
          <p:spPr>
            <a:xfrm>
              <a:off x="2954779" y="3441611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3BE2E40-FF8E-9051-0081-E8A08B39D4BB}"/>
                </a:ext>
              </a:extLst>
            </p:cNvPr>
            <p:cNvSpPr/>
            <p:nvPr/>
          </p:nvSpPr>
          <p:spPr>
            <a:xfrm>
              <a:off x="2954779" y="2950587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C726298-EF42-85F9-2233-D3ED1D726798}"/>
                </a:ext>
              </a:extLst>
            </p:cNvPr>
            <p:cNvSpPr/>
            <p:nvPr/>
          </p:nvSpPr>
          <p:spPr>
            <a:xfrm>
              <a:off x="2175822" y="3456909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B4D8445-6128-553C-FEAC-48D48918878C}"/>
                </a:ext>
              </a:extLst>
            </p:cNvPr>
            <p:cNvSpPr/>
            <p:nvPr/>
          </p:nvSpPr>
          <p:spPr>
            <a:xfrm>
              <a:off x="2175822" y="3948624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4D97679-16D4-C8E5-C256-E4EAB4704968}"/>
                </a:ext>
              </a:extLst>
            </p:cNvPr>
            <p:cNvSpPr/>
            <p:nvPr/>
          </p:nvSpPr>
          <p:spPr>
            <a:xfrm>
              <a:off x="2175822" y="4454945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16A1F70-28ED-7D34-A867-71C2862E0C1C}"/>
                </a:ext>
              </a:extLst>
            </p:cNvPr>
            <p:cNvSpPr/>
            <p:nvPr/>
          </p:nvSpPr>
          <p:spPr>
            <a:xfrm>
              <a:off x="3729677" y="3452505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19EE88C-15CF-4C5A-AF0D-AB9613847E65}"/>
                </a:ext>
              </a:extLst>
            </p:cNvPr>
            <p:cNvSpPr/>
            <p:nvPr/>
          </p:nvSpPr>
          <p:spPr>
            <a:xfrm>
              <a:off x="3731300" y="3947242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3C3F79D-06DF-FE8E-50B3-901D374CE02A}"/>
                </a:ext>
              </a:extLst>
            </p:cNvPr>
            <p:cNvSpPr/>
            <p:nvPr/>
          </p:nvSpPr>
          <p:spPr>
            <a:xfrm>
              <a:off x="3729677" y="4455427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BC3C89C-7B53-F83A-266C-93EE4BC9D1CB}"/>
                </a:ext>
              </a:extLst>
            </p:cNvPr>
            <p:cNvSpPr/>
            <p:nvPr/>
          </p:nvSpPr>
          <p:spPr>
            <a:xfrm>
              <a:off x="1396866" y="3948624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2E1C37-CFC2-54C2-9736-1EF654AA65C7}"/>
                </a:ext>
              </a:extLst>
            </p:cNvPr>
            <p:cNvSpPr/>
            <p:nvPr/>
          </p:nvSpPr>
          <p:spPr>
            <a:xfrm>
              <a:off x="1398728" y="4456568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25C0361-2247-A589-391D-BC320856C229}"/>
                </a:ext>
              </a:extLst>
            </p:cNvPr>
            <p:cNvSpPr/>
            <p:nvPr/>
          </p:nvSpPr>
          <p:spPr>
            <a:xfrm>
              <a:off x="4508967" y="3946082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40FAD0D-5AA7-F15A-7A04-28FF313AF90E}"/>
                </a:ext>
              </a:extLst>
            </p:cNvPr>
            <p:cNvSpPr/>
            <p:nvPr/>
          </p:nvSpPr>
          <p:spPr>
            <a:xfrm>
              <a:off x="4510590" y="4454044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3C03F4D-63A9-BA7E-D6DE-3387F0D8C53D}"/>
                </a:ext>
              </a:extLst>
            </p:cNvPr>
            <p:cNvSpPr/>
            <p:nvPr/>
          </p:nvSpPr>
          <p:spPr>
            <a:xfrm>
              <a:off x="617910" y="4456103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433F01-DEF9-AA62-1E06-55ABFDEB8635}"/>
                </a:ext>
              </a:extLst>
            </p:cNvPr>
            <p:cNvSpPr/>
            <p:nvPr/>
          </p:nvSpPr>
          <p:spPr>
            <a:xfrm>
              <a:off x="5289547" y="4454044"/>
              <a:ext cx="778956" cy="50632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F9A1E329-0312-A0C4-29ED-9885091B79A9}"/>
              </a:ext>
            </a:extLst>
          </p:cNvPr>
          <p:cNvSpPr txBox="1"/>
          <p:nvPr/>
        </p:nvSpPr>
        <p:spPr>
          <a:xfrm>
            <a:off x="617911" y="5336862"/>
            <a:ext cx="547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Population Distribution of Individual Scores</a:t>
            </a:r>
            <a:endParaRPr lang="en-US" b="1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B832E97-FA20-091D-0DBA-4D29F4AEE36A}"/>
              </a:ext>
            </a:extLst>
          </p:cNvPr>
          <p:cNvSpPr/>
          <p:nvPr/>
        </p:nvSpPr>
        <p:spPr>
          <a:xfrm>
            <a:off x="9141181" y="2145053"/>
            <a:ext cx="389478" cy="257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6FD537-642D-077D-85D3-72CCF8D6890A}"/>
              </a:ext>
            </a:extLst>
          </p:cNvPr>
          <p:cNvSpPr/>
          <p:nvPr/>
        </p:nvSpPr>
        <p:spPr>
          <a:xfrm>
            <a:off x="9141181" y="1885895"/>
            <a:ext cx="389478" cy="257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6B9B6E8-2717-4BFB-8C69-4614AA18B49F}"/>
              </a:ext>
            </a:extLst>
          </p:cNvPr>
          <p:cNvSpPr/>
          <p:nvPr/>
        </p:nvSpPr>
        <p:spPr>
          <a:xfrm>
            <a:off x="8365369" y="2920922"/>
            <a:ext cx="389478" cy="257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8811B33-3322-3120-0427-D0F26196513E}"/>
              </a:ext>
            </a:extLst>
          </p:cNvPr>
          <p:cNvSpPr/>
          <p:nvPr/>
        </p:nvSpPr>
        <p:spPr>
          <a:xfrm>
            <a:off x="9920137" y="2915952"/>
            <a:ext cx="389478" cy="257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DA204D-DCD4-0F19-4AEC-C4A4D4AE22B8}"/>
              </a:ext>
            </a:extLst>
          </p:cNvPr>
          <p:cNvSpPr/>
          <p:nvPr/>
        </p:nvSpPr>
        <p:spPr>
          <a:xfrm>
            <a:off x="10703974" y="4204565"/>
            <a:ext cx="389478" cy="257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2A35F9B-DB58-943B-B69C-1AD6D832B967}"/>
              </a:ext>
            </a:extLst>
          </p:cNvPr>
          <p:cNvSpPr/>
          <p:nvPr/>
        </p:nvSpPr>
        <p:spPr>
          <a:xfrm>
            <a:off x="7583268" y="4220236"/>
            <a:ext cx="389478" cy="257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79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pyramid&#10;&#10;AI-generated content may be incorrect.">
            <a:extLst>
              <a:ext uri="{FF2B5EF4-FFF2-40B4-BE49-F238E27FC236}">
                <a16:creationId xmlns:a16="http://schemas.microsoft.com/office/drawing/2014/main" id="{91FF6B30-34B7-4ECF-CD37-432D5C55D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73" y="1825624"/>
            <a:ext cx="5861281" cy="4261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D9B5CD-1111-E645-81C4-C6EB1366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 of the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D9E7-2483-7A49-96F8-35144B7D5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99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Mean (x̅) Values</a:t>
            </a:r>
          </a:p>
          <a:p>
            <a:r>
              <a:rPr lang="en-CA" dirty="0"/>
              <a:t>A sampling distribution is all possible </a:t>
            </a:r>
            <a:r>
              <a:rPr lang="en-CA" i="1" dirty="0"/>
              <a:t>means</a:t>
            </a:r>
            <a:r>
              <a:rPr lang="en-CA" dirty="0"/>
              <a:t> and their probabilities</a:t>
            </a:r>
          </a:p>
          <a:p>
            <a:r>
              <a:rPr lang="en-CA" dirty="0"/>
              <a:t>This new probability distribution will be our </a:t>
            </a:r>
            <a:r>
              <a:rPr lang="en-CA" i="1" dirty="0"/>
              <a:t>null</a:t>
            </a:r>
            <a:r>
              <a:rPr lang="en-CA" dirty="0"/>
              <a:t> distribution</a:t>
            </a:r>
          </a:p>
          <a:p>
            <a:pPr lvl="1"/>
            <a:r>
              <a:rPr lang="en-CA" dirty="0"/>
              <a:t>We will compare a sample mean to this null distribution, asking whether the sample fits the null or not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2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4DC0-1732-3E75-812D-018567DF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yramid&#10;&#10;AI-generated content may be incorrect.">
            <a:extLst>
              <a:ext uri="{FF2B5EF4-FFF2-40B4-BE49-F238E27FC236}">
                <a16:creationId xmlns:a16="http://schemas.microsoft.com/office/drawing/2014/main" id="{2D962877-C278-AB42-0A3B-9F4262E18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73" y="1825624"/>
            <a:ext cx="5861281" cy="4261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7C491-E50C-7B69-57DE-2621E410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 of the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AA77-2705-5BAD-1FA2-5140D843A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99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Mean (x̅) Values</a:t>
            </a:r>
          </a:p>
          <a:p>
            <a:r>
              <a:rPr lang="en-US" dirty="0"/>
              <a:t>We can determine three properties of our population from the sampling distribution</a:t>
            </a:r>
          </a:p>
          <a:p>
            <a:pPr lvl="1"/>
            <a:r>
              <a:rPr lang="en-US" dirty="0"/>
              <a:t>Central Tendency</a:t>
            </a:r>
          </a:p>
          <a:p>
            <a:pPr lvl="1"/>
            <a:r>
              <a:rPr lang="en-US" dirty="0"/>
              <a:t>Variability</a:t>
            </a:r>
          </a:p>
          <a:p>
            <a:pPr lvl="1"/>
            <a:r>
              <a:rPr lang="en-US" dirty="0"/>
              <a:t>Shape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9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66D1-79C5-D95F-14B1-60C51E674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9563AF9-31CC-04C0-4936-2A8E99B8AAC6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BD10CE1-097F-B2FA-C5A2-F4FE9235FD43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AE70D91-9026-D2E9-EB13-D8B43E9A31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36098D5-ED0C-6470-4120-A62AA2BC2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410F208-3350-CC2F-8011-0D75F9E3BB7F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5349173-23F8-EF5E-C180-F18A100EC89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B0D26C65-AACD-2F88-CC13-276211C8686B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F7DE8F1-3FD5-B57D-0F11-5E2F40D87865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0640564-F8BF-2238-2FB3-3142CFCBC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F7C9AA3-F1F2-5A68-3231-53F4F090F9E6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2B7642-9217-4CA9-E7A1-CDC6478F0E47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25337A6-5DD1-144A-8968-3DFEABAE7A70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BB66710-1998-AED4-11FA-01D059F5EA6A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071FE6-0B24-177C-CEBC-FF4DC62AEC60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4381C2E-9572-CBC7-DF8E-0709C0C7C89B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9272E57-14D4-809B-8990-4D84FE13461A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333B6F6-2FCA-BA7E-E4B2-B11FCDED788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Distributions of Hypothesis Testing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Defining the Sampling Distribution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13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60C1-D647-E60E-C961-42924BDD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676E-D750-29F4-62EF-AE10583F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129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Central Tendency</a:t>
            </a:r>
            <a:r>
              <a:rPr lang="en-US" dirty="0"/>
              <a:t>: We estimate the mean</a:t>
            </a:r>
          </a:p>
          <a:p>
            <a:r>
              <a:rPr lang="en-US" dirty="0"/>
              <a:t>The average of our means (</a:t>
            </a:r>
            <a:r>
              <a:rPr lang="el-GR" dirty="0"/>
              <a:t>μ</a:t>
            </a:r>
            <a:r>
              <a:rPr lang="en-US" baseline="-25000" dirty="0"/>
              <a:t>x̅</a:t>
            </a:r>
            <a:r>
              <a:rPr lang="en-US" dirty="0"/>
              <a:t>)</a:t>
            </a:r>
          </a:p>
          <a:p>
            <a:r>
              <a:rPr lang="en-US" dirty="0"/>
              <a:t>The mean of the sampling distribution (</a:t>
            </a:r>
            <a:r>
              <a:rPr lang="el-GR" dirty="0"/>
              <a:t>μ</a:t>
            </a:r>
            <a:r>
              <a:rPr lang="en-US" baseline="-25000" dirty="0"/>
              <a:t>x̅</a:t>
            </a:r>
            <a:r>
              <a:rPr lang="en-US" dirty="0"/>
              <a:t>) will be the same as the mean of the population (</a:t>
            </a:r>
            <a:r>
              <a:rPr lang="el-GR" dirty="0"/>
              <a:t>μ</a:t>
            </a:r>
            <a:r>
              <a:rPr lang="en-US" dirty="0"/>
              <a:t>)</a:t>
            </a:r>
          </a:p>
          <a:p>
            <a:pPr lvl="1"/>
            <a:r>
              <a:rPr lang="el-GR" dirty="0"/>
              <a:t>μ</a:t>
            </a:r>
            <a:r>
              <a:rPr lang="en-US" baseline="-25000" dirty="0"/>
              <a:t>x̅ </a:t>
            </a:r>
            <a:r>
              <a:rPr lang="en-US" dirty="0"/>
              <a:t>= </a:t>
            </a:r>
            <a:r>
              <a:rPr lang="el-GR" dirty="0"/>
              <a:t>μ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This is true because:</a:t>
            </a:r>
          </a:p>
          <a:p>
            <a:pPr lvl="1"/>
            <a:r>
              <a:rPr lang="en-US" dirty="0"/>
              <a:t>All possible means are included</a:t>
            </a:r>
          </a:p>
          <a:p>
            <a:pPr lvl="1"/>
            <a:r>
              <a:rPr lang="en-US" dirty="0"/>
              <a:t>Each sample is randomly pulled from the population</a:t>
            </a:r>
          </a:p>
          <a:p>
            <a:pPr lvl="2"/>
            <a:r>
              <a:rPr lang="en-US" dirty="0"/>
              <a:t>Doing this enough times will ensure that the population is accurately represented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375C52-78C6-B152-C6B4-E8B6132812E9}"/>
              </a:ext>
            </a:extLst>
          </p:cNvPr>
          <p:cNvGrpSpPr/>
          <p:nvPr/>
        </p:nvGrpSpPr>
        <p:grpSpPr>
          <a:xfrm>
            <a:off x="7705087" y="878963"/>
            <a:ext cx="4208913" cy="5347817"/>
            <a:chOff x="7468682" y="708238"/>
            <a:chExt cx="4800736" cy="6099784"/>
          </a:xfrm>
        </p:grpSpPr>
        <p:pic>
          <p:nvPicPr>
            <p:cNvPr id="4" name="Picture 3" descr="A diagram of a pyramid&#10;&#10;AI-generated content may be incorrect.">
              <a:extLst>
                <a:ext uri="{FF2B5EF4-FFF2-40B4-BE49-F238E27FC236}">
                  <a16:creationId xmlns:a16="http://schemas.microsoft.com/office/drawing/2014/main" id="{FBCA17B5-38C3-B426-C1F3-BDFFEF814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7938" y="3429000"/>
              <a:ext cx="4647893" cy="337902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3074E05-9951-8131-EA6D-DDDA14D2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8682" y="708238"/>
              <a:ext cx="4800736" cy="2505784"/>
            </a:xfrm>
            <a:prstGeom prst="rect">
              <a:avLst/>
            </a:prstGeom>
          </p:spPr>
        </p:pic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66D720-6C55-B076-C4FF-5DF1109770D8}"/>
              </a:ext>
            </a:extLst>
          </p:cNvPr>
          <p:cNvCxnSpPr>
            <a:cxnSpLocks/>
          </p:cNvCxnSpPr>
          <p:nvPr/>
        </p:nvCxnSpPr>
        <p:spPr>
          <a:xfrm flipV="1">
            <a:off x="9781955" y="687572"/>
            <a:ext cx="0" cy="575575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84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46EF-109D-A041-B50C-3FC615EE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C99-A743-799C-9A78-820C8D8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Variability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F2270E-C431-F9C9-DC47-4CA4FBA1E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705273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Variability</a:t>
                </a:r>
                <a:r>
                  <a:rPr lang="en-US" dirty="0"/>
                  <a:t>: We estimate the standard deviation (of the sampling distribution)</a:t>
                </a:r>
              </a:p>
              <a:p>
                <a:pPr lvl="1"/>
                <a:r>
                  <a:rPr lang="en-US" dirty="0"/>
                  <a:t>This is called </a:t>
                </a:r>
                <a:r>
                  <a:rPr lang="en-US" b="1" i="1" dirty="0"/>
                  <a:t>standard error</a:t>
                </a:r>
                <a:endParaRPr lang="en-US" dirty="0"/>
              </a:p>
              <a:p>
                <a:pPr lvl="1"/>
                <a:r>
                  <a:rPr lang="en-US" dirty="0"/>
                  <a:t>The standard deviation of means (</a:t>
                </a:r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The standard error will be our population standard deviation, but </a:t>
                </a:r>
                <a:r>
                  <a:rPr lang="en-US" i="1" dirty="0"/>
                  <a:t>scaled </a:t>
                </a:r>
                <a:r>
                  <a:rPr lang="en-US" dirty="0"/>
                  <a:t>(</a:t>
                </a:r>
                <a:r>
                  <a:rPr lang="en-US" i="1" dirty="0"/>
                  <a:t>reduced</a:t>
                </a:r>
                <a:r>
                  <a:rPr lang="en-US" dirty="0"/>
                  <a:t>) by n</a:t>
                </a:r>
              </a:p>
              <a:p>
                <a:pPr lvl="1"/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dirty="0"/>
                          <m:t>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other words, how far on average each of our means deviate from the population mean</a:t>
                </a:r>
              </a:p>
              <a:p>
                <a:pPr lvl="1"/>
                <a:r>
                  <a:rPr lang="en-US" dirty="0"/>
                  <a:t>Because it is </a:t>
                </a:r>
                <a:r>
                  <a:rPr lang="en-US" i="1" dirty="0"/>
                  <a:t>scaled</a:t>
                </a:r>
                <a:r>
                  <a:rPr lang="en-US" dirty="0"/>
                  <a:t> by </a:t>
                </a:r>
                <a:r>
                  <a:rPr lang="en-US" i="1" dirty="0"/>
                  <a:t>n</a:t>
                </a:r>
                <a:r>
                  <a:rPr lang="en-US" dirty="0"/>
                  <a:t>, </a:t>
                </a:r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 &lt;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σ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F2270E-C431-F9C9-DC47-4CA4FBA1E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7052733" cy="4351338"/>
              </a:xfrm>
              <a:blipFill>
                <a:blip r:embed="rId2"/>
                <a:stretch>
                  <a:fillRect l="-1729" t="-224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52244BB-E404-6991-A207-8D79A2F87A58}"/>
              </a:ext>
            </a:extLst>
          </p:cNvPr>
          <p:cNvGrpSpPr/>
          <p:nvPr/>
        </p:nvGrpSpPr>
        <p:grpSpPr>
          <a:xfrm>
            <a:off x="7705087" y="878963"/>
            <a:ext cx="4208913" cy="5347817"/>
            <a:chOff x="7468682" y="708238"/>
            <a:chExt cx="4800736" cy="6099784"/>
          </a:xfrm>
        </p:grpSpPr>
        <p:pic>
          <p:nvPicPr>
            <p:cNvPr id="4" name="Picture 3" descr="A diagram of a pyramid&#10;&#10;AI-generated content may be incorrect.">
              <a:extLst>
                <a:ext uri="{FF2B5EF4-FFF2-40B4-BE49-F238E27FC236}">
                  <a16:creationId xmlns:a16="http://schemas.microsoft.com/office/drawing/2014/main" id="{38A515C6-4375-6CA6-0DDA-34080F69F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7938" y="3429000"/>
              <a:ext cx="4647893" cy="337902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130519F-C673-13C8-6E8C-BC4FF1386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8682" y="708238"/>
              <a:ext cx="4800736" cy="2505784"/>
            </a:xfrm>
            <a:prstGeom prst="rect">
              <a:avLst/>
            </a:prstGeom>
          </p:spPr>
        </p:pic>
      </p:grpSp>
      <p:sp>
        <p:nvSpPr>
          <p:cNvPr id="7" name="Left Bracket 6">
            <a:extLst>
              <a:ext uri="{FF2B5EF4-FFF2-40B4-BE49-F238E27FC236}">
                <a16:creationId xmlns:a16="http://schemas.microsoft.com/office/drawing/2014/main" id="{07AFEE72-EB95-2483-F4C4-20C36E238273}"/>
              </a:ext>
            </a:extLst>
          </p:cNvPr>
          <p:cNvSpPr/>
          <p:nvPr/>
        </p:nvSpPr>
        <p:spPr>
          <a:xfrm rot="16200000">
            <a:off x="9694662" y="1493599"/>
            <a:ext cx="188580" cy="2443941"/>
          </a:xfrm>
          <a:prstGeom prst="leftBracke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3D370EB2-A9FA-4516-66D1-FB12674A80A0}"/>
              </a:ext>
            </a:extLst>
          </p:cNvPr>
          <p:cNvSpPr/>
          <p:nvPr/>
        </p:nvSpPr>
        <p:spPr>
          <a:xfrm rot="16200000">
            <a:off x="9694662" y="5212217"/>
            <a:ext cx="188580" cy="1371600"/>
          </a:xfrm>
          <a:prstGeom prst="leftBracke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7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44A9-2B3B-2877-5D21-58C7F6D4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A342-2596-8F15-B235-1C1879E2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523EA-C4DF-7F92-7152-F33FB7F1A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661298" cy="49307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r>
                  <a:rPr lang="en-US" b="1" dirty="0"/>
                  <a:t>Population Parameters</a:t>
                </a:r>
                <a:r>
                  <a:rPr lang="en-US" dirty="0"/>
                  <a:t>: </a:t>
                </a:r>
                <a:r>
                  <a:rPr lang="el-GR" dirty="0"/>
                  <a:t>μ </a:t>
                </a:r>
                <a:r>
                  <a:rPr lang="en-US" dirty="0"/>
                  <a:t>= 100.00, </a:t>
                </a:r>
                <a:r>
                  <a:rPr lang="el-GR" dirty="0"/>
                  <a:t>σ</a:t>
                </a:r>
                <a:r>
                  <a:rPr lang="en-US" dirty="0"/>
                  <a:t> = 15.00</a:t>
                </a:r>
              </a:p>
              <a:p>
                <a:endParaRPr lang="en-US" b="1" dirty="0"/>
              </a:p>
              <a:p>
                <a:r>
                  <a:rPr lang="en-US" b="1" dirty="0"/>
                  <a:t>Sample Statistics: </a:t>
                </a:r>
                <a:r>
                  <a:rPr lang="en-US" dirty="0"/>
                  <a:t>n = 20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b="1" dirty="0"/>
                  <a:t>Central Tendency:</a:t>
                </a:r>
              </a:p>
              <a:p>
                <a:pPr lvl="1"/>
                <a:r>
                  <a:rPr lang="el-GR" dirty="0"/>
                  <a:t>μ</a:t>
                </a:r>
                <a:r>
                  <a:rPr lang="en-US" baseline="-25000" dirty="0"/>
                  <a:t>x̅ </a:t>
                </a:r>
                <a:r>
                  <a:rPr lang="en-US" dirty="0"/>
                  <a:t>= </a:t>
                </a:r>
                <a:r>
                  <a:rPr lang="el-GR" dirty="0"/>
                  <a:t>μ</a:t>
                </a:r>
                <a:endParaRPr lang="en-US" dirty="0"/>
              </a:p>
              <a:p>
                <a:pPr lvl="1"/>
                <a:r>
                  <a:rPr lang="el-GR" dirty="0"/>
                  <a:t>μ</a:t>
                </a:r>
                <a:r>
                  <a:rPr lang="en-US" baseline="-25000" dirty="0"/>
                  <a:t>x̅ </a:t>
                </a:r>
                <a:r>
                  <a:rPr lang="en-US" dirty="0"/>
                  <a:t>= 100.00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b="1" dirty="0"/>
                  <a:t>Variability:</a:t>
                </a:r>
              </a:p>
              <a:p>
                <a:pPr lvl="1"/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dirty="0"/>
                          <m:t>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>
                  <a:lnSpc>
                    <a:spcPct val="160000"/>
                  </a:lnSpc>
                </a:pPr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15.0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= 3.3541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523EA-C4DF-7F92-7152-F33FB7F1A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661298" cy="4930775"/>
              </a:xfrm>
              <a:blipFill>
                <a:blip r:embed="rId2"/>
                <a:stretch>
                  <a:fillRect l="-1465" t="-2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BD6300B-1B7D-E083-AF5A-29CEC6BC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179" y="1116931"/>
            <a:ext cx="5144175" cy="2893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8AA11E-6922-14FA-0653-69653613B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179" y="3862801"/>
            <a:ext cx="5144175" cy="289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4406-341E-C097-42BB-FA4B2038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C92E86-BFAD-5E2F-F38B-9EB5A5F17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179" y="3862801"/>
            <a:ext cx="5144175" cy="2893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F42C8F-F3F9-1FDC-309E-5ECF26C2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14868-74FE-7BBB-8738-5FD5FF194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661298" cy="49307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Example with a much higher n:</a:t>
                </a:r>
              </a:p>
              <a:p>
                <a:r>
                  <a:rPr lang="en-US" b="1" dirty="0"/>
                  <a:t>Population Parameters</a:t>
                </a:r>
                <a:r>
                  <a:rPr lang="en-US" dirty="0"/>
                  <a:t>: </a:t>
                </a:r>
                <a:r>
                  <a:rPr lang="el-GR" dirty="0"/>
                  <a:t>μ </a:t>
                </a:r>
                <a:r>
                  <a:rPr lang="en-US" dirty="0"/>
                  <a:t>= 100.00, </a:t>
                </a:r>
                <a:r>
                  <a:rPr lang="el-GR" dirty="0"/>
                  <a:t>σ</a:t>
                </a:r>
                <a:r>
                  <a:rPr lang="en-US" dirty="0"/>
                  <a:t> = 15.00</a:t>
                </a:r>
              </a:p>
              <a:p>
                <a:endParaRPr lang="en-US" b="1" dirty="0"/>
              </a:p>
              <a:p>
                <a:r>
                  <a:rPr lang="en-US" b="1" dirty="0"/>
                  <a:t>Sample Statistics: </a:t>
                </a:r>
                <a:r>
                  <a:rPr lang="en-US" dirty="0"/>
                  <a:t>n = 100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b="1" dirty="0"/>
                  <a:t>Central Tendency:</a:t>
                </a:r>
              </a:p>
              <a:p>
                <a:pPr lvl="1"/>
                <a:r>
                  <a:rPr lang="el-GR" dirty="0"/>
                  <a:t>μ</a:t>
                </a:r>
                <a:r>
                  <a:rPr lang="en-US" baseline="-25000" dirty="0"/>
                  <a:t>x̅ </a:t>
                </a:r>
                <a:r>
                  <a:rPr lang="en-US" dirty="0"/>
                  <a:t>= </a:t>
                </a:r>
                <a:r>
                  <a:rPr lang="el-GR" dirty="0"/>
                  <a:t>μ</a:t>
                </a:r>
                <a:endParaRPr lang="en-US" dirty="0"/>
              </a:p>
              <a:p>
                <a:pPr lvl="1"/>
                <a:r>
                  <a:rPr lang="el-GR" dirty="0"/>
                  <a:t>μ</a:t>
                </a:r>
                <a:r>
                  <a:rPr lang="en-US" baseline="-25000" dirty="0"/>
                  <a:t>x̅ </a:t>
                </a:r>
                <a:r>
                  <a:rPr lang="en-US" dirty="0"/>
                  <a:t>= 100.00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b="1" dirty="0"/>
                  <a:t>Variability:</a:t>
                </a:r>
              </a:p>
              <a:p>
                <a:pPr lvl="1"/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dirty="0"/>
                          <m:t>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>
                  <a:lnSpc>
                    <a:spcPct val="160000"/>
                  </a:lnSpc>
                </a:pPr>
                <a:r>
                  <a:rPr lang="el-GR" dirty="0"/>
                  <a:t>σ</a:t>
                </a:r>
                <a:r>
                  <a:rPr lang="en-US" baseline="-25000" dirty="0"/>
                  <a:t>x̅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15.0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= 1.5000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14868-74FE-7BBB-8738-5FD5FF194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661298" cy="4930775"/>
              </a:xfrm>
              <a:blipFill>
                <a:blip r:embed="rId3"/>
                <a:stretch>
                  <a:fillRect l="-1465" t="-2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8CD59C-24C4-59E2-BCEC-B27857B41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179" y="1116931"/>
            <a:ext cx="5144175" cy="2893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BFB398-7326-D577-91A1-28CBF53A20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609"/>
          <a:stretch>
            <a:fillRect/>
          </a:stretch>
        </p:blipFill>
        <p:spPr>
          <a:xfrm>
            <a:off x="6885179" y="3788090"/>
            <a:ext cx="5144174" cy="2557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F44DA3-6385-DF42-CD1D-9CE0B7EE55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3421" b="-2832"/>
          <a:stretch>
            <a:fillRect/>
          </a:stretch>
        </p:blipFill>
        <p:spPr>
          <a:xfrm>
            <a:off x="6455097" y="6493886"/>
            <a:ext cx="6050612" cy="3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4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50BF-97A7-C506-D82C-EA0E4C7EA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385A-ACB6-9904-5F10-2D297297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9CBE-4248-0315-CCAA-21C6DEECA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17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Shape: </a:t>
            </a:r>
            <a:r>
              <a:rPr lang="en-US" dirty="0"/>
              <a:t>We want to estimate the shape </a:t>
            </a:r>
          </a:p>
          <a:p>
            <a:r>
              <a:rPr lang="en-US" dirty="0"/>
              <a:t>Shape of the sampling distribution is normal if the population is normal</a:t>
            </a:r>
          </a:p>
          <a:p>
            <a:r>
              <a:rPr lang="en-CA" b="1" dirty="0"/>
              <a:t>Central Limit Theorem: </a:t>
            </a:r>
            <a:r>
              <a:rPr lang="en-CA" dirty="0"/>
              <a:t>As sample size (</a:t>
            </a:r>
            <a:r>
              <a:rPr lang="en-CA" i="1" dirty="0"/>
              <a:t>n</a:t>
            </a:r>
            <a:r>
              <a:rPr lang="en-CA" dirty="0"/>
              <a:t>) increases, shape of the sampling distribution of the mean becomes normal</a:t>
            </a:r>
          </a:p>
          <a:p>
            <a:pPr lvl="1"/>
            <a:r>
              <a:rPr lang="en-CA" dirty="0"/>
              <a:t>We want a normal distribution so we can use the standard normal distribution</a:t>
            </a:r>
          </a:p>
          <a:p>
            <a:pPr lvl="1"/>
            <a:endParaRPr lang="en-US" dirty="0"/>
          </a:p>
        </p:txBody>
      </p:sp>
      <p:pic>
        <p:nvPicPr>
          <p:cNvPr id="15" name="Picture 14" descr="Chart, histogram&#10;&#10;Description automatically generated">
            <a:extLst>
              <a:ext uri="{FF2B5EF4-FFF2-40B4-BE49-F238E27FC236}">
                <a16:creationId xmlns:a16="http://schemas.microsoft.com/office/drawing/2014/main" id="{5BD2ACCF-7E5B-62AD-7E2C-1B1A4B532B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594791"/>
            <a:ext cx="3177926" cy="202746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5F1EC33-C6B9-7362-D544-169A7AA7B75D}"/>
              </a:ext>
            </a:extLst>
          </p:cNvPr>
          <p:cNvGrpSpPr/>
          <p:nvPr/>
        </p:nvGrpSpPr>
        <p:grpSpPr>
          <a:xfrm>
            <a:off x="3026425" y="3886905"/>
            <a:ext cx="2961035" cy="2735347"/>
            <a:chOff x="3026425" y="4128240"/>
            <a:chExt cx="2961035" cy="273534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7DD7D5-9118-7FBD-EC88-D0DC26EAF483}"/>
                </a:ext>
              </a:extLst>
            </p:cNvPr>
            <p:cNvSpPr txBox="1"/>
            <p:nvPr/>
          </p:nvSpPr>
          <p:spPr>
            <a:xfrm>
              <a:off x="4171593" y="4128240"/>
              <a:ext cx="11945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i="1" dirty="0"/>
                <a:t>n </a:t>
              </a:r>
              <a:r>
                <a:rPr lang="en-US" sz="4000" dirty="0"/>
                <a:t>= 2</a:t>
              </a:r>
              <a:endParaRPr lang="en-US" sz="4000" i="1" dirty="0"/>
            </a:p>
          </p:txBody>
        </p:sp>
        <p:pic>
          <p:nvPicPr>
            <p:cNvPr id="18" name="Picture 17" descr="Chart, histogram&#10;&#10;Description automatically generated">
              <a:extLst>
                <a:ext uri="{FF2B5EF4-FFF2-40B4-BE49-F238E27FC236}">
                  <a16:creationId xmlns:a16="http://schemas.microsoft.com/office/drawing/2014/main" id="{064EFCBD-51A5-516D-E155-BC96CEE45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026425" y="4760686"/>
              <a:ext cx="2961035" cy="210290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E3823B-520D-340F-39C2-C5767807D5FC}"/>
              </a:ext>
            </a:extLst>
          </p:cNvPr>
          <p:cNvGrpSpPr/>
          <p:nvPr/>
        </p:nvGrpSpPr>
        <p:grpSpPr>
          <a:xfrm>
            <a:off x="6044661" y="3896335"/>
            <a:ext cx="3008185" cy="2725917"/>
            <a:chOff x="6044661" y="4137670"/>
            <a:chExt cx="3008185" cy="2725917"/>
          </a:xfrm>
        </p:grpSpPr>
        <p:pic>
          <p:nvPicPr>
            <p:cNvPr id="20" name="Picture 19" descr="Chart, histogram&#10;&#10;Description automatically generated">
              <a:extLst>
                <a:ext uri="{FF2B5EF4-FFF2-40B4-BE49-F238E27FC236}">
                  <a16:creationId xmlns:a16="http://schemas.microsoft.com/office/drawing/2014/main" id="{2845CF3F-BBE1-51CD-3DC7-0F264A337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044661" y="4845556"/>
              <a:ext cx="3008185" cy="20180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240FB9-A9B9-2D74-1D17-FFAD5A3CFD05}"/>
                </a:ext>
              </a:extLst>
            </p:cNvPr>
            <p:cNvSpPr txBox="1"/>
            <p:nvPr/>
          </p:nvSpPr>
          <p:spPr>
            <a:xfrm>
              <a:off x="7069022" y="4137670"/>
              <a:ext cx="11945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i="1" dirty="0"/>
                <a:t>n </a:t>
              </a:r>
              <a:r>
                <a:rPr lang="en-US" sz="4000" dirty="0"/>
                <a:t>= 4</a:t>
              </a:r>
              <a:endParaRPr lang="en-US" sz="4000" i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D81F18B-F5DA-B7F0-45DB-B4B76AC1F659}"/>
              </a:ext>
            </a:extLst>
          </p:cNvPr>
          <p:cNvGrpSpPr/>
          <p:nvPr/>
        </p:nvGrpSpPr>
        <p:grpSpPr>
          <a:xfrm>
            <a:off x="9052846" y="3886905"/>
            <a:ext cx="3027045" cy="2697627"/>
            <a:chOff x="9052846" y="4128240"/>
            <a:chExt cx="3027045" cy="2697627"/>
          </a:xfrm>
        </p:grpSpPr>
        <p:pic>
          <p:nvPicPr>
            <p:cNvPr id="23" name="Picture 22" descr="Chart, histogram&#10;&#10;Description automatically generated">
              <a:extLst>
                <a:ext uri="{FF2B5EF4-FFF2-40B4-BE49-F238E27FC236}">
                  <a16:creationId xmlns:a16="http://schemas.microsoft.com/office/drawing/2014/main" id="{11614015-5C1B-45D5-75D1-28D29D198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52846" y="4760686"/>
              <a:ext cx="3027045" cy="206518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0B8A2E-205A-DA48-D929-26869935331A}"/>
                </a:ext>
              </a:extLst>
            </p:cNvPr>
            <p:cNvSpPr txBox="1"/>
            <p:nvPr/>
          </p:nvSpPr>
          <p:spPr>
            <a:xfrm>
              <a:off x="10169007" y="4128240"/>
              <a:ext cx="11945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i="1" dirty="0"/>
                <a:t>n </a:t>
              </a:r>
              <a:r>
                <a:rPr lang="en-US" sz="4000" dirty="0"/>
                <a:t>= 8</a:t>
              </a:r>
              <a:endParaRPr lang="en-US" sz="4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8890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878A-9664-B735-EBA5-E368DC2D2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3CEA-4B0F-8BE7-A569-7FEC41EB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 of the Mean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3CBC06C7-F4B3-1F9F-B22B-179A59EEDE5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8101" y="1551540"/>
            <a:ext cx="5178369" cy="2217763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342AE651-6105-0B27-A651-131E561A8D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172225"/>
            <a:ext cx="3479800" cy="2692400"/>
          </a:xfrm>
          <a:prstGeom prst="rect">
            <a:avLst/>
          </a:prstGeom>
        </p:spPr>
      </p:pic>
      <p:pic>
        <p:nvPicPr>
          <p:cNvPr id="18" name="Picture 17" descr="Chart, histogram&#10;&#10;Description automatically generated">
            <a:extLst>
              <a:ext uri="{FF2B5EF4-FFF2-40B4-BE49-F238E27FC236}">
                <a16:creationId xmlns:a16="http://schemas.microsoft.com/office/drawing/2014/main" id="{748B926E-D1B9-0C3C-7B1A-F738AB37F2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961"/>
          <a:stretch/>
        </p:blipFill>
        <p:spPr>
          <a:xfrm>
            <a:off x="3252093" y="4241799"/>
            <a:ext cx="3225800" cy="2616200"/>
          </a:xfrm>
          <a:prstGeom prst="rect">
            <a:avLst/>
          </a:prstGeom>
        </p:spPr>
      </p:pic>
      <p:pic>
        <p:nvPicPr>
          <p:cNvPr id="20" name="Picture 19" descr="Chart, histogram&#10;&#10;Description automatically generated">
            <a:extLst>
              <a:ext uri="{FF2B5EF4-FFF2-40B4-BE49-F238E27FC236}">
                <a16:creationId xmlns:a16="http://schemas.microsoft.com/office/drawing/2014/main" id="{F75EBCCD-A63E-81F7-73E8-9E35E41D762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94773" y="4216399"/>
            <a:ext cx="3390900" cy="2667000"/>
          </a:xfrm>
          <a:prstGeom prst="rect">
            <a:avLst/>
          </a:prstGeom>
        </p:spPr>
      </p:pic>
      <p:pic>
        <p:nvPicPr>
          <p:cNvPr id="22" name="Picture 21" descr="Chart, histogram&#10;&#10;Description automatically generated">
            <a:extLst>
              <a:ext uri="{FF2B5EF4-FFF2-40B4-BE49-F238E27FC236}">
                <a16:creationId xmlns:a16="http://schemas.microsoft.com/office/drawing/2014/main" id="{13D2962F-D31B-ABD5-679E-C4A57286583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97536" y="4241799"/>
            <a:ext cx="3175000" cy="2616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AFCF913-2C55-80AA-FF9D-79120CEEC1B4}"/>
              </a:ext>
            </a:extLst>
          </p:cNvPr>
          <p:cNvSpPr txBox="1"/>
          <p:nvPr/>
        </p:nvSpPr>
        <p:spPr>
          <a:xfrm>
            <a:off x="4796773" y="4491613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10</a:t>
            </a:r>
            <a:endParaRPr lang="en-US" sz="28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F69A0A-B8CE-8DF7-1CAF-45F0F53B6B03}"/>
              </a:ext>
            </a:extLst>
          </p:cNvPr>
          <p:cNvSpPr txBox="1"/>
          <p:nvPr/>
        </p:nvSpPr>
        <p:spPr>
          <a:xfrm>
            <a:off x="7959784" y="4491613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20</a:t>
            </a:r>
            <a:endParaRPr lang="en-US" sz="28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0F435A-131F-9193-D074-77173672636A}"/>
              </a:ext>
            </a:extLst>
          </p:cNvPr>
          <p:cNvSpPr txBox="1"/>
          <p:nvPr/>
        </p:nvSpPr>
        <p:spPr>
          <a:xfrm>
            <a:off x="10823107" y="4491613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30</a:t>
            </a:r>
            <a:endParaRPr lang="en-US" sz="28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306D72-4CD8-16E4-F4EE-700F41F44F1F}"/>
              </a:ext>
            </a:extLst>
          </p:cNvPr>
          <p:cNvSpPr txBox="1"/>
          <p:nvPr/>
        </p:nvSpPr>
        <p:spPr>
          <a:xfrm>
            <a:off x="1935120" y="4491613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5</a:t>
            </a:r>
            <a:endParaRPr lang="en-US" sz="2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FF4D-7222-4B51-C014-B6A547439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4449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Shape: </a:t>
            </a:r>
            <a:r>
              <a:rPr lang="en-US" dirty="0"/>
              <a:t>We want to estimate the shape </a:t>
            </a:r>
          </a:p>
          <a:p>
            <a:r>
              <a:rPr lang="en-CA" sz="2400" b="1" dirty="0"/>
              <a:t>Central Limit Theorem: </a:t>
            </a:r>
            <a:r>
              <a:rPr lang="en-CA" sz="2400" dirty="0"/>
              <a:t>As sample size (</a:t>
            </a:r>
            <a:r>
              <a:rPr lang="en-CA" sz="2400" i="1" dirty="0"/>
              <a:t>n</a:t>
            </a:r>
            <a:r>
              <a:rPr lang="en-CA" sz="2400" dirty="0"/>
              <a:t>) increases, shape of the sampling distribution of the mean becomes normal</a:t>
            </a:r>
          </a:p>
          <a:p>
            <a:pPr lvl="1"/>
            <a:r>
              <a:rPr lang="en-CA" sz="2000" dirty="0"/>
              <a:t>This occurs no matter the shape of the sample</a:t>
            </a:r>
            <a:endParaRPr lang="en-US" sz="2000" dirty="0"/>
          </a:p>
          <a:p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62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B5CD-1111-E645-81C4-C6EB1366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 of the Mean</a:t>
            </a:r>
          </a:p>
        </p:txBody>
      </p:sp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DF9E10A2-F92C-844A-AC46-4AFA1BD6E88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172225"/>
            <a:ext cx="3479800" cy="2692400"/>
          </a:xfrm>
          <a:prstGeom prst="rect">
            <a:avLst/>
          </a:prstGeom>
        </p:spPr>
      </p:pic>
      <p:pic>
        <p:nvPicPr>
          <p:cNvPr id="18" name="Picture 17" descr="Chart, histogram&#10;&#10;Description automatically generated">
            <a:extLst>
              <a:ext uri="{FF2B5EF4-FFF2-40B4-BE49-F238E27FC236}">
                <a16:creationId xmlns:a16="http://schemas.microsoft.com/office/drawing/2014/main" id="{A3D5508C-1636-DC4E-8BE9-8843AE3BBC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961"/>
          <a:stretch/>
        </p:blipFill>
        <p:spPr>
          <a:xfrm>
            <a:off x="3252093" y="4241799"/>
            <a:ext cx="3225800" cy="2616200"/>
          </a:xfrm>
          <a:prstGeom prst="rect">
            <a:avLst/>
          </a:prstGeom>
        </p:spPr>
      </p:pic>
      <p:pic>
        <p:nvPicPr>
          <p:cNvPr id="20" name="Picture 19" descr="Chart, histogram&#10;&#10;Description automatically generated">
            <a:extLst>
              <a:ext uri="{FF2B5EF4-FFF2-40B4-BE49-F238E27FC236}">
                <a16:creationId xmlns:a16="http://schemas.microsoft.com/office/drawing/2014/main" id="{4B4AE71A-606E-4A40-AF6C-B1C5424C6AE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94773" y="4216399"/>
            <a:ext cx="3390900" cy="2667000"/>
          </a:xfrm>
          <a:prstGeom prst="rect">
            <a:avLst/>
          </a:prstGeom>
        </p:spPr>
      </p:pic>
      <p:pic>
        <p:nvPicPr>
          <p:cNvPr id="22" name="Picture 21" descr="Chart, histogram&#10;&#10;Description automatically generated">
            <a:extLst>
              <a:ext uri="{FF2B5EF4-FFF2-40B4-BE49-F238E27FC236}">
                <a16:creationId xmlns:a16="http://schemas.microsoft.com/office/drawing/2014/main" id="{F4E8D780-761B-EF41-B3BA-9A39A89C552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97536" y="4241799"/>
            <a:ext cx="3175000" cy="2616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B0AA707-57F8-2243-B559-3DC2EB8550B3}"/>
              </a:ext>
            </a:extLst>
          </p:cNvPr>
          <p:cNvSpPr txBox="1"/>
          <p:nvPr/>
        </p:nvSpPr>
        <p:spPr>
          <a:xfrm>
            <a:off x="4796773" y="4491613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10</a:t>
            </a:r>
            <a:endParaRPr lang="en-US" sz="28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5FCA51-7520-0E41-B89C-88795891305B}"/>
              </a:ext>
            </a:extLst>
          </p:cNvPr>
          <p:cNvSpPr txBox="1"/>
          <p:nvPr/>
        </p:nvSpPr>
        <p:spPr>
          <a:xfrm>
            <a:off x="7959784" y="4491613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20</a:t>
            </a:r>
            <a:endParaRPr lang="en-US" sz="28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CC71A4-1466-A84A-A16E-C14A64AB7A9A}"/>
              </a:ext>
            </a:extLst>
          </p:cNvPr>
          <p:cNvSpPr txBox="1"/>
          <p:nvPr/>
        </p:nvSpPr>
        <p:spPr>
          <a:xfrm>
            <a:off x="10823107" y="4491613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30</a:t>
            </a:r>
            <a:endParaRPr lang="en-US" sz="28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122CD1-1701-DF4A-9582-405497F49A25}"/>
              </a:ext>
            </a:extLst>
          </p:cNvPr>
          <p:cNvSpPr txBox="1"/>
          <p:nvPr/>
        </p:nvSpPr>
        <p:spPr>
          <a:xfrm>
            <a:off x="1935120" y="4491613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n </a:t>
            </a:r>
            <a:r>
              <a:rPr lang="en-US" sz="2800" dirty="0"/>
              <a:t>= 5</a:t>
            </a:r>
            <a:endParaRPr lang="en-US" sz="2800" i="1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D7824B-CD31-6945-AFB7-D3B354CF9992}"/>
              </a:ext>
            </a:extLst>
          </p:cNvPr>
          <p:cNvSpPr txBox="1">
            <a:spLocks/>
          </p:cNvSpPr>
          <p:nvPr/>
        </p:nvSpPr>
        <p:spPr>
          <a:xfrm>
            <a:off x="6844872" y="1656037"/>
            <a:ext cx="5593646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Required </a:t>
            </a:r>
            <a:r>
              <a:rPr lang="en-CA" b="1" i="1" dirty="0"/>
              <a:t>n </a:t>
            </a:r>
            <a:r>
              <a:rPr lang="en-CA" b="1" dirty="0"/>
              <a:t>to make skew normal</a:t>
            </a:r>
          </a:p>
          <a:p>
            <a:r>
              <a:rPr lang="en-CA" b="1" dirty="0"/>
              <a:t>Mild skew: </a:t>
            </a:r>
            <a:r>
              <a:rPr lang="en-CA" dirty="0"/>
              <a:t>n = 10+</a:t>
            </a:r>
          </a:p>
          <a:p>
            <a:r>
              <a:rPr lang="en-CA" b="1" dirty="0"/>
              <a:t>Moderate skew: </a:t>
            </a:r>
            <a:r>
              <a:rPr lang="en-CA" dirty="0"/>
              <a:t>n = 18+</a:t>
            </a:r>
          </a:p>
          <a:p>
            <a:r>
              <a:rPr lang="en-CA" b="1" dirty="0"/>
              <a:t>Strong skew: </a:t>
            </a:r>
            <a:r>
              <a:rPr lang="en-CA" dirty="0"/>
              <a:t>n = 25+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D9E7-2483-7A49-96F8-35144B7D5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8990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Shape: </a:t>
            </a:r>
            <a:r>
              <a:rPr lang="en-US" dirty="0"/>
              <a:t>We want to estimate the shape </a:t>
            </a:r>
          </a:p>
          <a:p>
            <a:r>
              <a:rPr lang="en-CA" sz="2400" b="1" dirty="0"/>
              <a:t>Central Limit Theorem: </a:t>
            </a:r>
            <a:r>
              <a:rPr lang="en-CA" sz="2400" dirty="0"/>
              <a:t>As sample size (</a:t>
            </a:r>
            <a:r>
              <a:rPr lang="en-CA" sz="2400" i="1" dirty="0"/>
              <a:t>n</a:t>
            </a:r>
            <a:r>
              <a:rPr lang="en-CA" sz="2400" dirty="0"/>
              <a:t>) increases, shape of the sampling distribution of the mean becomes normal</a:t>
            </a:r>
          </a:p>
          <a:p>
            <a:pPr lvl="1"/>
            <a:r>
              <a:rPr lang="en-CA" sz="2000" dirty="0"/>
              <a:t>This occurs no matter the shape of the sample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887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BABF-BBE2-E96D-4900-4989CDF6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6C90-2A1D-B8B2-5809-03F7884E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n </a:t>
            </a:r>
            <a:r>
              <a:rPr lang="en-US" dirty="0"/>
              <a:t>and our estimates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0813D9-0A35-CEF6-EF2D-DA17856478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7240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How does </a:t>
                </a:r>
                <a:r>
                  <a:rPr lang="en-US" b="1" i="1" dirty="0"/>
                  <a:t>n</a:t>
                </a:r>
                <a:r>
                  <a:rPr lang="en-US" b="1" dirty="0"/>
                  <a:t> affect our central tendency, variability, and shape?</a:t>
                </a:r>
              </a:p>
              <a:p>
                <a:r>
                  <a:rPr lang="en-US" sz="2400" b="1" dirty="0"/>
                  <a:t>Mean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400" dirty="0"/>
                      <m:t>μ</m:t>
                    </m:r>
                    <m:r>
                      <m:rPr>
                        <m:nor/>
                      </m:rPr>
                      <a:rPr lang="en-US" sz="2400" b="0" i="0" baseline="-25000" dirty="0" smtClean="0"/>
                      <m:t>x</m:t>
                    </m:r>
                    <m:r>
                      <a:rPr lang="en-US" sz="2400" b="0" i="1" baseline="-25000" dirty="0" smtClean="0"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 sz="2400" dirty="0"/>
                  <a:t> is unaffected by </a:t>
                </a:r>
                <a:r>
                  <a:rPr lang="en-US" sz="2400" i="1" dirty="0"/>
                  <a:t>n</a:t>
                </a:r>
              </a:p>
              <a:p>
                <a:r>
                  <a:rPr lang="en-US" sz="2400" b="1" dirty="0"/>
                  <a:t>Standard Error</a:t>
                </a:r>
                <a:r>
                  <a:rPr lang="en-US" sz="2400" dirty="0"/>
                  <a:t>: </a:t>
                </a:r>
                <a:r>
                  <a:rPr lang="el-GR" sz="2400" dirty="0"/>
                  <a:t>σ</a:t>
                </a:r>
                <a:r>
                  <a:rPr lang="en-US" sz="2400" baseline="-25000" dirty="0"/>
                  <a:t>x̅</a:t>
                </a:r>
                <a:r>
                  <a:rPr lang="en-US" sz="2400" dirty="0"/>
                  <a:t> decreases with </a:t>
                </a:r>
                <a:r>
                  <a:rPr lang="en-US" sz="2400" i="1" dirty="0"/>
                  <a:t>n </a:t>
                </a:r>
                <a:r>
                  <a:rPr lang="en-US" sz="2400" dirty="0"/>
                  <a:t>because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sz="2400" dirty="0"/>
                          <m:t>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i="1" dirty="0"/>
              </a:p>
              <a:p>
                <a:r>
                  <a:rPr lang="en-US" sz="2400" b="1" dirty="0"/>
                  <a:t>Shape: </a:t>
                </a:r>
                <a:r>
                  <a:rPr lang="en-US" sz="2400" dirty="0"/>
                  <a:t>Approaches normal with increasing </a:t>
                </a:r>
                <a:r>
                  <a:rPr lang="en-US" sz="2400" i="1" dirty="0"/>
                  <a:t>n</a:t>
                </a:r>
              </a:p>
              <a:p>
                <a:endParaRPr lang="en-US" i="1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0813D9-0A35-CEF6-EF2D-DA17856478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72404" cy="4351338"/>
              </a:xfrm>
              <a:blipFill>
                <a:blip r:embed="rId2"/>
                <a:stretch>
                  <a:fillRect l="-121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E3754193-7D95-D029-F6A5-B1687699C0F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483951"/>
            <a:ext cx="3177926" cy="202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2341142-A61D-412F-0BC4-9A1601C7E061}"/>
              </a:ext>
            </a:extLst>
          </p:cNvPr>
          <p:cNvGrpSpPr/>
          <p:nvPr/>
        </p:nvGrpSpPr>
        <p:grpSpPr>
          <a:xfrm>
            <a:off x="3026425" y="3776065"/>
            <a:ext cx="2961035" cy="2735347"/>
            <a:chOff x="3026425" y="4128240"/>
            <a:chExt cx="2961035" cy="273534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8B5F7B-5CE9-832D-BA5D-2BBBF2E0E4AE}"/>
                </a:ext>
              </a:extLst>
            </p:cNvPr>
            <p:cNvSpPr txBox="1"/>
            <p:nvPr/>
          </p:nvSpPr>
          <p:spPr>
            <a:xfrm>
              <a:off x="4171593" y="4128240"/>
              <a:ext cx="11945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i="1" dirty="0"/>
                <a:t>n </a:t>
              </a:r>
              <a:r>
                <a:rPr lang="en-US" sz="4000" dirty="0"/>
                <a:t>= 2</a:t>
              </a:r>
              <a:endParaRPr lang="en-US" sz="4000" i="1" dirty="0"/>
            </a:p>
          </p:txBody>
        </p:sp>
        <p:pic>
          <p:nvPicPr>
            <p:cNvPr id="8" name="Picture 7" descr="Chart, histogram&#10;&#10;Description automatically generated">
              <a:extLst>
                <a:ext uri="{FF2B5EF4-FFF2-40B4-BE49-F238E27FC236}">
                  <a16:creationId xmlns:a16="http://schemas.microsoft.com/office/drawing/2014/main" id="{8327E501-AA37-DC3F-118C-7AA4974D0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026425" y="4760686"/>
              <a:ext cx="2961035" cy="2102901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60DB304-AE07-FD81-E14F-CA049BF3B748}"/>
              </a:ext>
            </a:extLst>
          </p:cNvPr>
          <p:cNvGrpSpPr/>
          <p:nvPr/>
        </p:nvGrpSpPr>
        <p:grpSpPr>
          <a:xfrm>
            <a:off x="6044661" y="3785495"/>
            <a:ext cx="3008185" cy="2725917"/>
            <a:chOff x="6044661" y="4137670"/>
            <a:chExt cx="3008185" cy="2725917"/>
          </a:xfrm>
        </p:grpSpPr>
        <p:pic>
          <p:nvPicPr>
            <p:cNvPr id="10" name="Picture 9" descr="Chart, histogram&#10;&#10;Description automatically generated">
              <a:extLst>
                <a:ext uri="{FF2B5EF4-FFF2-40B4-BE49-F238E27FC236}">
                  <a16:creationId xmlns:a16="http://schemas.microsoft.com/office/drawing/2014/main" id="{7196732B-3EFA-B5DC-5D1D-9C2594B55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044661" y="4845556"/>
              <a:ext cx="3008185" cy="201803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8B9E34-4DA9-C310-101A-E5D6658FB64F}"/>
                </a:ext>
              </a:extLst>
            </p:cNvPr>
            <p:cNvSpPr txBox="1"/>
            <p:nvPr/>
          </p:nvSpPr>
          <p:spPr>
            <a:xfrm>
              <a:off x="7069022" y="4137670"/>
              <a:ext cx="11945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i="1" dirty="0"/>
                <a:t>n </a:t>
              </a:r>
              <a:r>
                <a:rPr lang="en-US" sz="4000" dirty="0"/>
                <a:t>= 4</a:t>
              </a:r>
              <a:endParaRPr lang="en-US" sz="4000" i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30B704-BC1D-0C78-46F6-C5AD304A10CA}"/>
              </a:ext>
            </a:extLst>
          </p:cNvPr>
          <p:cNvGrpSpPr/>
          <p:nvPr/>
        </p:nvGrpSpPr>
        <p:grpSpPr>
          <a:xfrm>
            <a:off x="9052846" y="3776065"/>
            <a:ext cx="3027045" cy="2697627"/>
            <a:chOff x="9052846" y="4128240"/>
            <a:chExt cx="3027045" cy="2697627"/>
          </a:xfrm>
        </p:grpSpPr>
        <p:pic>
          <p:nvPicPr>
            <p:cNvPr id="13" name="Picture 12" descr="Chart, histogram&#10;&#10;Description automatically generated">
              <a:extLst>
                <a:ext uri="{FF2B5EF4-FFF2-40B4-BE49-F238E27FC236}">
                  <a16:creationId xmlns:a16="http://schemas.microsoft.com/office/drawing/2014/main" id="{3221A846-4145-35AC-7241-1AD76EB9E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52846" y="4760686"/>
              <a:ext cx="3027045" cy="206518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8287D0-EEDC-C356-E2F7-40412BD5E058}"/>
                </a:ext>
              </a:extLst>
            </p:cNvPr>
            <p:cNvSpPr txBox="1"/>
            <p:nvPr/>
          </p:nvSpPr>
          <p:spPr>
            <a:xfrm>
              <a:off x="10169007" y="4128240"/>
              <a:ext cx="11945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i="1" dirty="0"/>
                <a:t>n </a:t>
              </a:r>
              <a:r>
                <a:rPr lang="en-US" sz="4000" dirty="0"/>
                <a:t>= 8</a:t>
              </a:r>
              <a:endParaRPr lang="en-US" sz="4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284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B0A9-18E4-7A2C-A378-BA3928F2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F78994-CECA-092F-1241-CB025F3A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Distribution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0C6AD51-47C2-63B8-2952-7E8F77257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841975"/>
                  </p:ext>
                </p:extLst>
              </p:nvPr>
            </p:nvGraphicFramePr>
            <p:xfrm>
              <a:off x="1105786" y="1610744"/>
              <a:ext cx="10435856" cy="49481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341001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 across samples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tx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x̅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baseline="-25000" dirty="0">
                              <a:solidFill>
                                <a:schemeClr val="tx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l-GR" sz="2400" dirty="0" smtClean="0">
                                      <a:solidFill>
                                        <a:schemeClr val="tx1"/>
                                      </a:solidFill>
                                    </a:rPr>
                                    <m:t>σ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40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baseline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SD 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r>
                                        <a:rPr lang="en-US" sz="2400" b="0" i="1" baseline="3000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Approaches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0C6AD51-47C2-63B8-2952-7E8F772572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841975"/>
                  </p:ext>
                </p:extLst>
              </p:nvPr>
            </p:nvGraphicFramePr>
            <p:xfrm>
              <a:off x="1105786" y="1610744"/>
              <a:ext cx="10435856" cy="49481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8964">
                      <a:extLst>
                        <a:ext uri="{9D8B030D-6E8A-4147-A177-3AD203B41FA5}">
                          <a16:colId xmlns:a16="http://schemas.microsoft.com/office/drawing/2014/main" val="306345266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361616080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1902256289"/>
                        </a:ext>
                      </a:extLst>
                    </a:gridCol>
                    <a:gridCol w="2608964">
                      <a:extLst>
                        <a:ext uri="{9D8B030D-6E8A-4147-A177-3AD203B41FA5}">
                          <a16:colId xmlns:a16="http://schemas.microsoft.com/office/drawing/2014/main" val="390466392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Population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Sampling Distribution of the Mean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Sample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45329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Entire 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Distribution of means across samples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Subset of data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6886279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Central Tendency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baseline="-25000" dirty="0">
                              <a:solidFill>
                                <a:schemeClr val="tx1"/>
                              </a:solidFill>
                            </a:rPr>
                            <a:t>x̅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endParaRPr lang="en-US" sz="2400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282270" r="-467" b="-213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3862060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Variability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:r>
                            <a:rPr lang="en-US" sz="2400" i="1" dirty="0">
                              <a:solidFill>
                                <a:schemeClr val="tx1"/>
                              </a:solidFill>
                            </a:rPr>
                            <a:t>known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7" t="-385000" r="-100467" b="-1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67" t="-385000" r="-467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94781"/>
                      </a:ext>
                    </a:extLst>
                  </a:tr>
                  <a:tr h="85690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Shape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Assumed to be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Approaches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Normal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Any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5148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86367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97CB-C173-E0EE-953F-F25D863E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yramid&#10;&#10;AI-generated content may be incorrect.">
            <a:extLst>
              <a:ext uri="{FF2B5EF4-FFF2-40B4-BE49-F238E27FC236}">
                <a16:creationId xmlns:a16="http://schemas.microsoft.com/office/drawing/2014/main" id="{0A84DBF8-1E1F-9022-285A-4CF2F7E4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34" y="2668044"/>
            <a:ext cx="4702520" cy="34187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4B613A4-C883-C8AE-EA0F-E441D8F7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Naming the Sampling Distribution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F56367C-E605-31A1-E551-9FAFFFA4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8145" cy="5175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Sampling distribution of the </a:t>
            </a:r>
            <a:r>
              <a:rPr lang="en-US" b="1" dirty="0"/>
              <a:t>mean</a:t>
            </a:r>
            <a:r>
              <a:rPr lang="en-US" dirty="0"/>
              <a:t> for </a:t>
            </a:r>
            <a:r>
              <a:rPr lang="en-US" b="1" dirty="0"/>
              <a:t>n = 2 </a:t>
            </a:r>
            <a:r>
              <a:rPr lang="en-US" dirty="0"/>
              <a:t>when population parameters are </a:t>
            </a:r>
            <a:r>
              <a:rPr lang="en-US" b="1" dirty="0"/>
              <a:t>known</a:t>
            </a:r>
          </a:p>
          <a:p>
            <a:r>
              <a:rPr lang="en-US" dirty="0"/>
              <a:t>What statistic we are building?</a:t>
            </a:r>
          </a:p>
          <a:p>
            <a:pPr lvl="1"/>
            <a:r>
              <a:rPr lang="en-US" dirty="0"/>
              <a:t>Here, we did the </a:t>
            </a:r>
            <a:r>
              <a:rPr lang="en-US" b="1" dirty="0"/>
              <a:t>mean</a:t>
            </a:r>
          </a:p>
          <a:p>
            <a:r>
              <a:rPr lang="en-US" dirty="0"/>
              <a:t>What sample size are we using?</a:t>
            </a:r>
          </a:p>
          <a:p>
            <a:pPr lvl="1"/>
            <a:r>
              <a:rPr lang="en-US" dirty="0"/>
              <a:t>Here, we used </a:t>
            </a:r>
            <a:r>
              <a:rPr lang="en-US" b="1" dirty="0"/>
              <a:t>n = 2</a:t>
            </a:r>
          </a:p>
          <a:p>
            <a:pPr lvl="1"/>
            <a:r>
              <a:rPr lang="en-US" dirty="0"/>
              <a:t>But it can be anything n &gt; 1</a:t>
            </a:r>
          </a:p>
          <a:p>
            <a:r>
              <a:rPr lang="en-US" dirty="0"/>
              <a:t>Are population parameters known?</a:t>
            </a:r>
          </a:p>
          <a:p>
            <a:pPr lvl="1"/>
            <a:r>
              <a:rPr lang="en-US" dirty="0"/>
              <a:t>Here they are </a:t>
            </a:r>
            <a:r>
              <a:rPr lang="en-US" b="1" dirty="0"/>
              <a:t>known</a:t>
            </a:r>
          </a:p>
          <a:p>
            <a:pPr lvl="1"/>
            <a:r>
              <a:rPr lang="en-US" dirty="0"/>
              <a:t>We will see examples later where they are unknown (Unit 4.3.)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988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E6BB-58A8-1546-92D6-2C030699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Hypothesis Testing and the Sampling Distribution</a:t>
            </a: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0D6EC0FC-CC18-974B-AD31-52C27E382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74340"/>
              </p:ext>
            </p:extLst>
          </p:nvPr>
        </p:nvGraphicFramePr>
        <p:xfrm>
          <a:off x="2349403" y="1690688"/>
          <a:ext cx="7493194" cy="4955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97">
                  <a:extLst>
                    <a:ext uri="{9D8B030D-6E8A-4147-A177-3AD203B41FA5}">
                      <a16:colId xmlns:a16="http://schemas.microsoft.com/office/drawing/2014/main" val="4004983389"/>
                    </a:ext>
                  </a:extLst>
                </a:gridCol>
                <a:gridCol w="3746597">
                  <a:extLst>
                    <a:ext uri="{9D8B030D-6E8A-4147-A177-3AD203B41FA5}">
                      <a16:colId xmlns:a16="http://schemas.microsoft.com/office/drawing/2014/main" val="3608128689"/>
                    </a:ext>
                  </a:extLst>
                </a:gridCol>
              </a:tblGrid>
              <a:tr h="52073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 of Research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Single Sample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681456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Model of Hypothesis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Random 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34762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Nature of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Score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837357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Statistic Being Analyzed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̅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493759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Information of Population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000" i="1" dirty="0"/>
                        <a:t>μ</a:t>
                      </a:r>
                      <a:r>
                        <a:rPr lang="en-US" sz="2000" dirty="0"/>
                        <a:t> = 100.00, </a:t>
                      </a:r>
                      <a:r>
                        <a:rPr lang="en-US" sz="2000" i="1" dirty="0"/>
                        <a:t>σ</a:t>
                      </a:r>
                      <a:r>
                        <a:rPr lang="en-US" sz="2000" dirty="0"/>
                        <a:t> = 15.00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844694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Sample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408113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Normally Distributed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1104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Sampling 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Sampling Distribution of the Mean when n = 20 and population parameters are known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37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3404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E47BF31B-048D-AA84-AD39-C452A3460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20" y="2154475"/>
            <a:ext cx="5530846" cy="31315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184033-3F72-AB34-1150-99A32090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0914BC5F-5D33-033F-B2B4-A8587DF85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374" y="2126648"/>
            <a:ext cx="5530846" cy="31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1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</TotalTime>
  <Words>1793</Words>
  <Application>Microsoft Office PowerPoint</Application>
  <PresentationFormat>Widescreen</PresentationFormat>
  <Paragraphs>541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Office Theme</vt:lpstr>
      <vt:lpstr>Sampling Distribution of the Mean</vt:lpstr>
      <vt:lpstr>PowerPoint Presentation</vt:lpstr>
      <vt:lpstr>PowerPoint Presentation</vt:lpstr>
      <vt:lpstr>Single Participant versus Single Sample Design</vt:lpstr>
      <vt:lpstr>Distributions of Hypothesis Testing</vt:lpstr>
      <vt:lpstr>Distribution Symbols</vt:lpstr>
      <vt:lpstr>Distribution Symbols</vt:lpstr>
      <vt:lpstr>Distribution Symbols</vt:lpstr>
      <vt:lpstr>Distribution Equations</vt:lpstr>
      <vt:lpstr>Distribution Equations</vt:lpstr>
      <vt:lpstr>Distribution Equations</vt:lpstr>
      <vt:lpstr>Types of Distributions</vt:lpstr>
      <vt:lpstr>Types of Distributions</vt:lpstr>
      <vt:lpstr>Types of Distributions</vt:lpstr>
      <vt:lpstr>Types of Distributions</vt:lpstr>
      <vt:lpstr>Building a Distributions</vt:lpstr>
      <vt:lpstr>Building a Distributions</vt:lpstr>
      <vt:lpstr>Building a Distributions</vt:lpstr>
      <vt:lpstr>Building a Distributions</vt:lpstr>
      <vt:lpstr>Building a Distributions</vt:lpstr>
      <vt:lpstr>Building a Distributions</vt:lpstr>
      <vt:lpstr>Building a Sampling Distribution of the Mean</vt:lpstr>
      <vt:lpstr>Building a Sampling Distribution of the Mean</vt:lpstr>
      <vt:lpstr>Building a Sampling Distribution of the Mean</vt:lpstr>
      <vt:lpstr>Building a Sampling Distribution of the Mean</vt:lpstr>
      <vt:lpstr>Building a Sampling Distribution of the Mean</vt:lpstr>
      <vt:lpstr>Building a Sampling Distribution of the Mean</vt:lpstr>
      <vt:lpstr>Building a Sampling Distribution of the Mean</vt:lpstr>
      <vt:lpstr>Building a Sampling Distribution of the Mean</vt:lpstr>
      <vt:lpstr>Sampling Distribution of the Mean</vt:lpstr>
      <vt:lpstr>Sampling Distribution of the Mean</vt:lpstr>
      <vt:lpstr>PowerPoint Presentation</vt:lpstr>
      <vt:lpstr>Estimation Central Tendency</vt:lpstr>
      <vt:lpstr>Estimation Variability</vt:lpstr>
      <vt:lpstr>Estimation Example</vt:lpstr>
      <vt:lpstr>Estimation Example</vt:lpstr>
      <vt:lpstr>Estimation Shape</vt:lpstr>
      <vt:lpstr>Sampling Distribution of the Mean</vt:lpstr>
      <vt:lpstr>Sampling Distribution of the Mean</vt:lpstr>
      <vt:lpstr>n and our estimates</vt:lpstr>
      <vt:lpstr>Distribution Equations</vt:lpstr>
      <vt:lpstr>Naming the Sampling Distribution</vt:lpstr>
      <vt:lpstr>Hypothesis Testing and the Sampling Distribution</vt:lpstr>
      <vt:lpstr>Extra Resources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creator>Microsoft Office User</dc:creator>
  <cp:lastModifiedBy>Chad Williams</cp:lastModifiedBy>
  <cp:revision>210</cp:revision>
  <dcterms:created xsi:type="dcterms:W3CDTF">2021-06-09T23:13:38Z</dcterms:created>
  <dcterms:modified xsi:type="dcterms:W3CDTF">2026-07-22T17:57:09Z</dcterms:modified>
</cp:coreProperties>
</file>