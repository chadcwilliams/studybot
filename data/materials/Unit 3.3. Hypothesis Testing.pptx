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2"/>
    <p:sldId id="323" r:id="rId3"/>
    <p:sldId id="389" r:id="rId4"/>
    <p:sldId id="259" r:id="rId5"/>
    <p:sldId id="335" r:id="rId6"/>
    <p:sldId id="453" r:id="rId7"/>
    <p:sldId id="454" r:id="rId8"/>
    <p:sldId id="354" r:id="rId9"/>
    <p:sldId id="447" r:id="rId10"/>
    <p:sldId id="337" r:id="rId11"/>
    <p:sldId id="338" r:id="rId12"/>
    <p:sldId id="339" r:id="rId13"/>
    <p:sldId id="391" r:id="rId14"/>
    <p:sldId id="340" r:id="rId15"/>
    <p:sldId id="355" r:id="rId16"/>
    <p:sldId id="448" r:id="rId17"/>
    <p:sldId id="262" r:id="rId18"/>
    <p:sldId id="392" r:id="rId19"/>
    <p:sldId id="386" r:id="rId20"/>
    <p:sldId id="356" r:id="rId21"/>
    <p:sldId id="449" r:id="rId22"/>
    <p:sldId id="343" r:id="rId23"/>
    <p:sldId id="362" r:id="rId24"/>
    <p:sldId id="393" r:id="rId25"/>
    <p:sldId id="467" r:id="rId26"/>
    <p:sldId id="468" r:id="rId27"/>
    <p:sldId id="469" r:id="rId28"/>
    <p:sldId id="470" r:id="rId29"/>
    <p:sldId id="525" r:id="rId30"/>
    <p:sldId id="526" r:id="rId31"/>
    <p:sldId id="360" r:id="rId32"/>
    <p:sldId id="456" r:id="rId33"/>
    <p:sldId id="396" r:id="rId34"/>
    <p:sldId id="293" r:id="rId35"/>
    <p:sldId id="296" r:id="rId36"/>
    <p:sldId id="294" r:id="rId37"/>
    <p:sldId id="297" r:id="rId38"/>
    <p:sldId id="357" r:id="rId39"/>
    <p:sldId id="450" r:id="rId40"/>
    <p:sldId id="365" r:id="rId41"/>
    <p:sldId id="345" r:id="rId42"/>
    <p:sldId id="457" r:id="rId43"/>
    <p:sldId id="446" r:id="rId44"/>
    <p:sldId id="397" r:id="rId45"/>
    <p:sldId id="451" r:id="rId46"/>
    <p:sldId id="347" r:id="rId47"/>
    <p:sldId id="458" r:id="rId48"/>
    <p:sldId id="366" r:id="rId49"/>
    <p:sldId id="348" r:id="rId50"/>
    <p:sldId id="367" r:id="rId51"/>
    <p:sldId id="349" r:id="rId52"/>
    <p:sldId id="398" r:id="rId53"/>
    <p:sldId id="452" r:id="rId54"/>
    <p:sldId id="351" r:id="rId55"/>
    <p:sldId id="368" r:id="rId56"/>
    <p:sldId id="353" r:id="rId57"/>
    <p:sldId id="444" r:id="rId58"/>
    <p:sldId id="465" r:id="rId59"/>
    <p:sldId id="431" r:id="rId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7E2DE"/>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60BF08-0FB1-4913-B498-07E8BBAD5E0D}" v="28" dt="2026-08-20T20:49:03.68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428"/>
    <p:restoredTop sz="96327"/>
  </p:normalViewPr>
  <p:slideViewPr>
    <p:cSldViewPr snapToGrid="0" snapToObjects="1">
      <p:cViewPr>
        <p:scale>
          <a:sx n="92" d="100"/>
          <a:sy n="92" d="100"/>
        </p:scale>
        <p:origin x="1164" y="7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d Williams" userId="618f96a3-8672-4e43-ae03-eeed93bb7387" providerId="ADAL" clId="{DFF2BB08-185E-495B-B2A0-BE0942C7B81E}"/>
    <pc:docChg chg="undo redo custSel addSld delSld modSld sldOrd">
      <pc:chgData name="Chad Williams" userId="618f96a3-8672-4e43-ae03-eeed93bb7387" providerId="ADAL" clId="{DFF2BB08-185E-495B-B2A0-BE0942C7B81E}" dt="2026-08-20T20:49:11.593" v="4258" actId="47"/>
      <pc:docMkLst>
        <pc:docMk/>
      </pc:docMkLst>
      <pc:sldChg chg="modSp">
        <pc:chgData name="Chad Williams" userId="618f96a3-8672-4e43-ae03-eeed93bb7387" providerId="ADAL" clId="{DFF2BB08-185E-495B-B2A0-BE0942C7B81E}" dt="2026-07-21T16:48:10.722" v="620" actId="20577"/>
        <pc:sldMkLst>
          <pc:docMk/>
          <pc:sldMk cId="225705519" sldId="259"/>
        </pc:sldMkLst>
        <pc:spChg chg="mod">
          <ac:chgData name="Chad Williams" userId="618f96a3-8672-4e43-ae03-eeed93bb7387" providerId="ADAL" clId="{DFF2BB08-185E-495B-B2A0-BE0942C7B81E}" dt="2026-07-21T16:48:10.722" v="620" actId="20577"/>
          <ac:spMkLst>
            <pc:docMk/>
            <pc:sldMk cId="225705519" sldId="259"/>
            <ac:spMk id="3" creationId="{378FCDFA-0D6E-DB41-948F-9A6ED1D0F9DB}"/>
          </ac:spMkLst>
        </pc:spChg>
      </pc:sldChg>
      <pc:sldChg chg="modSp mod modAnim">
        <pc:chgData name="Chad Williams" userId="618f96a3-8672-4e43-ae03-eeed93bb7387" providerId="ADAL" clId="{DFF2BB08-185E-495B-B2A0-BE0942C7B81E}" dt="2026-07-21T18:39:04.231" v="2003" actId="20577"/>
        <pc:sldMkLst>
          <pc:docMk/>
          <pc:sldMk cId="613205307" sldId="262"/>
        </pc:sldMkLst>
        <pc:spChg chg="mod">
          <ac:chgData name="Chad Williams" userId="618f96a3-8672-4e43-ae03-eeed93bb7387" providerId="ADAL" clId="{DFF2BB08-185E-495B-B2A0-BE0942C7B81E}" dt="2026-07-21T18:39:04.231" v="2003" actId="20577"/>
          <ac:spMkLst>
            <pc:docMk/>
            <pc:sldMk cId="613205307" sldId="262"/>
            <ac:spMk id="3" creationId="{378FCDFA-0D6E-DB41-948F-9A6ED1D0F9DB}"/>
          </ac:spMkLst>
        </pc:spChg>
      </pc:sldChg>
      <pc:sldChg chg="modSp add mod">
        <pc:chgData name="Chad Williams" userId="618f96a3-8672-4e43-ae03-eeed93bb7387" providerId="ADAL" clId="{DFF2BB08-185E-495B-B2A0-BE0942C7B81E}" dt="2026-07-31T16:50:33.421" v="4149"/>
        <pc:sldMkLst>
          <pc:docMk/>
          <pc:sldMk cId="526072735" sldId="293"/>
        </pc:sldMkLst>
        <pc:spChg chg="mod">
          <ac:chgData name="Chad Williams" userId="618f96a3-8672-4e43-ae03-eeed93bb7387" providerId="ADAL" clId="{DFF2BB08-185E-495B-B2A0-BE0942C7B81E}" dt="2026-07-31T16:50:33.421" v="4149"/>
          <ac:spMkLst>
            <pc:docMk/>
            <pc:sldMk cId="526072735" sldId="293"/>
            <ac:spMk id="2" creationId="{C5B2A752-8E40-BCBC-B074-1865A9319986}"/>
          </ac:spMkLst>
        </pc:spChg>
        <pc:spChg chg="mod">
          <ac:chgData name="Chad Williams" userId="618f96a3-8672-4e43-ae03-eeed93bb7387" providerId="ADAL" clId="{DFF2BB08-185E-495B-B2A0-BE0942C7B81E}" dt="2026-07-31T15:31:38.995" v="4129" actId="1076"/>
          <ac:spMkLst>
            <pc:docMk/>
            <pc:sldMk cId="526072735" sldId="293"/>
            <ac:spMk id="7" creationId="{6A66D5BD-2AC6-390C-12FE-34AC23C728E7}"/>
          </ac:spMkLst>
        </pc:spChg>
        <pc:spChg chg="mod">
          <ac:chgData name="Chad Williams" userId="618f96a3-8672-4e43-ae03-eeed93bb7387" providerId="ADAL" clId="{DFF2BB08-185E-495B-B2A0-BE0942C7B81E}" dt="2026-07-31T15:31:38.995" v="4129" actId="1076"/>
          <ac:spMkLst>
            <pc:docMk/>
            <pc:sldMk cId="526072735" sldId="293"/>
            <ac:spMk id="9" creationId="{231A56E2-B7A6-DCC4-94D8-554303E48812}"/>
          </ac:spMkLst>
        </pc:spChg>
        <pc:spChg chg="mod">
          <ac:chgData name="Chad Williams" userId="618f96a3-8672-4e43-ae03-eeed93bb7387" providerId="ADAL" clId="{DFF2BB08-185E-495B-B2A0-BE0942C7B81E}" dt="2026-07-31T15:32:33.909" v="4148" actId="1076"/>
          <ac:spMkLst>
            <pc:docMk/>
            <pc:sldMk cId="526072735" sldId="293"/>
            <ac:spMk id="10" creationId="{2059ACD5-8520-5E32-C32E-53046BBCDB5B}"/>
          </ac:spMkLst>
        </pc:spChg>
        <pc:spChg chg="mod">
          <ac:chgData name="Chad Williams" userId="618f96a3-8672-4e43-ae03-eeed93bb7387" providerId="ADAL" clId="{DFF2BB08-185E-495B-B2A0-BE0942C7B81E}" dt="2026-07-31T15:31:38.995" v="4129" actId="1076"/>
          <ac:spMkLst>
            <pc:docMk/>
            <pc:sldMk cId="526072735" sldId="293"/>
            <ac:spMk id="11" creationId="{873B1AB1-A03E-C9A1-7DF6-C529F24CB4E7}"/>
          </ac:spMkLst>
        </pc:spChg>
        <pc:graphicFrameChg chg="modGraphic">
          <ac:chgData name="Chad Williams" userId="618f96a3-8672-4e43-ae03-eeed93bb7387" providerId="ADAL" clId="{DFF2BB08-185E-495B-B2A0-BE0942C7B81E}" dt="2026-07-31T15:32:32.300" v="4147" actId="20577"/>
          <ac:graphicFrameMkLst>
            <pc:docMk/>
            <pc:sldMk cId="526072735" sldId="293"/>
            <ac:graphicFrameMk id="4" creationId="{68A384C8-4C90-D2C1-40C2-6FE565C4CA92}"/>
          </ac:graphicFrameMkLst>
        </pc:graphicFrameChg>
      </pc:sldChg>
      <pc:sldChg chg="modSp add mod">
        <pc:chgData name="Chad Williams" userId="618f96a3-8672-4e43-ae03-eeed93bb7387" providerId="ADAL" clId="{DFF2BB08-185E-495B-B2A0-BE0942C7B81E}" dt="2026-07-31T16:50:39.059" v="4151"/>
        <pc:sldMkLst>
          <pc:docMk/>
          <pc:sldMk cId="127029764" sldId="294"/>
        </pc:sldMkLst>
        <pc:spChg chg="mod">
          <ac:chgData name="Chad Williams" userId="618f96a3-8672-4e43-ae03-eeed93bb7387" providerId="ADAL" clId="{DFF2BB08-185E-495B-B2A0-BE0942C7B81E}" dt="2026-07-31T16:50:39.059" v="4151"/>
          <ac:spMkLst>
            <pc:docMk/>
            <pc:sldMk cId="127029764" sldId="294"/>
            <ac:spMk id="2" creationId="{CBD7EAEB-B45B-7136-991E-931635FBD4F3}"/>
          </ac:spMkLst>
        </pc:spChg>
        <pc:spChg chg="mod">
          <ac:chgData name="Chad Williams" userId="618f96a3-8672-4e43-ae03-eeed93bb7387" providerId="ADAL" clId="{DFF2BB08-185E-495B-B2A0-BE0942C7B81E}" dt="2026-07-31T15:32:14.660" v="4141" actId="1076"/>
          <ac:spMkLst>
            <pc:docMk/>
            <pc:sldMk cId="127029764" sldId="294"/>
            <ac:spMk id="7" creationId="{25C3F14A-23B0-F28F-EBCD-0337B25A1A9B}"/>
          </ac:spMkLst>
        </pc:spChg>
        <pc:spChg chg="mod">
          <ac:chgData name="Chad Williams" userId="618f96a3-8672-4e43-ae03-eeed93bb7387" providerId="ADAL" clId="{DFF2BB08-185E-495B-B2A0-BE0942C7B81E}" dt="2026-07-31T15:32:14.660" v="4141" actId="1076"/>
          <ac:spMkLst>
            <pc:docMk/>
            <pc:sldMk cId="127029764" sldId="294"/>
            <ac:spMk id="9" creationId="{EB4AB7B8-0847-DC3E-2B73-180E0BCF1033}"/>
          </ac:spMkLst>
        </pc:spChg>
        <pc:spChg chg="mod">
          <ac:chgData name="Chad Williams" userId="618f96a3-8672-4e43-ae03-eeed93bb7387" providerId="ADAL" clId="{DFF2BB08-185E-495B-B2A0-BE0942C7B81E}" dt="2026-07-31T15:32:14.660" v="4141" actId="1076"/>
          <ac:spMkLst>
            <pc:docMk/>
            <pc:sldMk cId="127029764" sldId="294"/>
            <ac:spMk id="10" creationId="{98BA35B6-96F1-09B0-152A-CC6E70A450BC}"/>
          </ac:spMkLst>
        </pc:spChg>
        <pc:spChg chg="mod">
          <ac:chgData name="Chad Williams" userId="618f96a3-8672-4e43-ae03-eeed93bb7387" providerId="ADAL" clId="{DFF2BB08-185E-495B-B2A0-BE0942C7B81E}" dt="2026-07-31T15:32:14.660" v="4141" actId="1076"/>
          <ac:spMkLst>
            <pc:docMk/>
            <pc:sldMk cId="127029764" sldId="294"/>
            <ac:spMk id="11" creationId="{B2CA0D77-908F-A349-3134-306C8FE117D1}"/>
          </ac:spMkLst>
        </pc:spChg>
        <pc:graphicFrameChg chg="modGraphic">
          <ac:chgData name="Chad Williams" userId="618f96a3-8672-4e43-ae03-eeed93bb7387" providerId="ADAL" clId="{DFF2BB08-185E-495B-B2A0-BE0942C7B81E}" dt="2026-07-31T15:32:07.566" v="4140" actId="20577"/>
          <ac:graphicFrameMkLst>
            <pc:docMk/>
            <pc:sldMk cId="127029764" sldId="294"/>
            <ac:graphicFrameMk id="4" creationId="{4F884906-7BCB-14D3-748D-5A034FB61180}"/>
          </ac:graphicFrameMkLst>
        </pc:graphicFrameChg>
      </pc:sldChg>
      <pc:sldChg chg="modSp add mod">
        <pc:chgData name="Chad Williams" userId="618f96a3-8672-4e43-ae03-eeed93bb7387" providerId="ADAL" clId="{DFF2BB08-185E-495B-B2A0-BE0942C7B81E}" dt="2026-07-31T16:50:36.197" v="4150"/>
        <pc:sldMkLst>
          <pc:docMk/>
          <pc:sldMk cId="1982636300" sldId="296"/>
        </pc:sldMkLst>
        <pc:spChg chg="mod">
          <ac:chgData name="Chad Williams" userId="618f96a3-8672-4e43-ae03-eeed93bb7387" providerId="ADAL" clId="{DFF2BB08-185E-495B-B2A0-BE0942C7B81E}" dt="2026-07-31T16:50:36.197" v="4150"/>
          <ac:spMkLst>
            <pc:docMk/>
            <pc:sldMk cId="1982636300" sldId="296"/>
            <ac:spMk id="2" creationId="{1CE10A74-A0CD-8C9F-B6E1-36DEAAFCC11A}"/>
          </ac:spMkLst>
        </pc:spChg>
        <pc:graphicFrameChg chg="modGraphic">
          <ac:chgData name="Chad Williams" userId="618f96a3-8672-4e43-ae03-eeed93bb7387" providerId="ADAL" clId="{DFF2BB08-185E-495B-B2A0-BE0942C7B81E}" dt="2026-07-31T15:32:29.068" v="4144" actId="20577"/>
          <ac:graphicFrameMkLst>
            <pc:docMk/>
            <pc:sldMk cId="1982636300" sldId="296"/>
            <ac:graphicFrameMk id="4" creationId="{77655EAC-CE2F-C569-C925-AC8B7804B3A7}"/>
          </ac:graphicFrameMkLst>
        </pc:graphicFrameChg>
      </pc:sldChg>
      <pc:sldChg chg="modSp add mod">
        <pc:chgData name="Chad Williams" userId="618f96a3-8672-4e43-ae03-eeed93bb7387" providerId="ADAL" clId="{DFF2BB08-185E-495B-B2A0-BE0942C7B81E}" dt="2026-07-31T16:50:40.896" v="4152"/>
        <pc:sldMkLst>
          <pc:docMk/>
          <pc:sldMk cId="4279727726" sldId="297"/>
        </pc:sldMkLst>
        <pc:spChg chg="mod">
          <ac:chgData name="Chad Williams" userId="618f96a3-8672-4e43-ae03-eeed93bb7387" providerId="ADAL" clId="{DFF2BB08-185E-495B-B2A0-BE0942C7B81E}" dt="2026-07-31T16:50:40.896" v="4152"/>
          <ac:spMkLst>
            <pc:docMk/>
            <pc:sldMk cId="4279727726" sldId="297"/>
            <ac:spMk id="2" creationId="{EDD18B0E-9658-2D6B-A7E2-1630CA675925}"/>
          </ac:spMkLst>
        </pc:spChg>
        <pc:graphicFrameChg chg="modGraphic">
          <ac:chgData name="Chad Williams" userId="618f96a3-8672-4e43-ae03-eeed93bb7387" providerId="ADAL" clId="{DFF2BB08-185E-495B-B2A0-BE0942C7B81E}" dt="2026-07-31T15:31:53.503" v="4135" actId="20577"/>
          <ac:graphicFrameMkLst>
            <pc:docMk/>
            <pc:sldMk cId="4279727726" sldId="297"/>
            <ac:graphicFrameMk id="4" creationId="{A5842B84-0BFA-36E6-E910-A441EA0C4C46}"/>
          </ac:graphicFrameMkLst>
        </pc:graphicFrameChg>
      </pc:sldChg>
      <pc:sldChg chg="modAnim">
        <pc:chgData name="Chad Williams" userId="618f96a3-8672-4e43-ae03-eeed93bb7387" providerId="ADAL" clId="{DFF2BB08-185E-495B-B2A0-BE0942C7B81E}" dt="2026-07-21T16:47:48.081" v="615"/>
        <pc:sldMkLst>
          <pc:docMk/>
          <pc:sldMk cId="2423649610" sldId="323"/>
        </pc:sldMkLst>
      </pc:sldChg>
      <pc:sldChg chg="modSp">
        <pc:chgData name="Chad Williams" userId="618f96a3-8672-4e43-ae03-eeed93bb7387" providerId="ADAL" clId="{DFF2BB08-185E-495B-B2A0-BE0942C7B81E}" dt="2026-07-21T16:48:47.977" v="623" actId="20577"/>
        <pc:sldMkLst>
          <pc:docMk/>
          <pc:sldMk cId="2648756106" sldId="335"/>
        </pc:sldMkLst>
        <pc:spChg chg="mod">
          <ac:chgData name="Chad Williams" userId="618f96a3-8672-4e43-ae03-eeed93bb7387" providerId="ADAL" clId="{DFF2BB08-185E-495B-B2A0-BE0942C7B81E}" dt="2026-07-21T16:48:47.977" v="623" actId="20577"/>
          <ac:spMkLst>
            <pc:docMk/>
            <pc:sldMk cId="2648756106" sldId="335"/>
            <ac:spMk id="3" creationId="{8D4A4BA0-3F62-FF41-8FB8-0BDD124D4510}"/>
          </ac:spMkLst>
        </pc:spChg>
      </pc:sldChg>
      <pc:sldChg chg="modSp">
        <pc:chgData name="Chad Williams" userId="618f96a3-8672-4e43-ae03-eeed93bb7387" providerId="ADAL" clId="{DFF2BB08-185E-495B-B2A0-BE0942C7B81E}" dt="2026-07-21T18:18:32.081" v="694" actId="20577"/>
        <pc:sldMkLst>
          <pc:docMk/>
          <pc:sldMk cId="2593064619" sldId="337"/>
        </pc:sldMkLst>
        <pc:spChg chg="mod">
          <ac:chgData name="Chad Williams" userId="618f96a3-8672-4e43-ae03-eeed93bb7387" providerId="ADAL" clId="{DFF2BB08-185E-495B-B2A0-BE0942C7B81E}" dt="2026-07-21T18:18:32.081" v="694" actId="20577"/>
          <ac:spMkLst>
            <pc:docMk/>
            <pc:sldMk cId="2593064619" sldId="337"/>
            <ac:spMk id="3" creationId="{09D325FF-BBF8-EB4E-8152-C8DD6BC3948E}"/>
          </ac:spMkLst>
        </pc:spChg>
      </pc:sldChg>
      <pc:sldChg chg="modSp mod modAnim">
        <pc:chgData name="Chad Williams" userId="618f96a3-8672-4e43-ae03-eeed93bb7387" providerId="ADAL" clId="{DFF2BB08-185E-495B-B2A0-BE0942C7B81E}" dt="2026-08-07T18:55:36.655" v="4165" actId="20577"/>
        <pc:sldMkLst>
          <pc:docMk/>
          <pc:sldMk cId="3047210938" sldId="338"/>
        </pc:sldMkLst>
        <pc:spChg chg="mod">
          <ac:chgData name="Chad Williams" userId="618f96a3-8672-4e43-ae03-eeed93bb7387" providerId="ADAL" clId="{DFF2BB08-185E-495B-B2A0-BE0942C7B81E}" dt="2026-08-07T18:55:36.655" v="4165" actId="20577"/>
          <ac:spMkLst>
            <pc:docMk/>
            <pc:sldMk cId="3047210938" sldId="338"/>
            <ac:spMk id="3" creationId="{09D325FF-BBF8-EB4E-8152-C8DD6BC3948E}"/>
          </ac:spMkLst>
        </pc:spChg>
      </pc:sldChg>
      <pc:sldChg chg="modSp modAnim">
        <pc:chgData name="Chad Williams" userId="618f96a3-8672-4e43-ae03-eeed93bb7387" providerId="ADAL" clId="{DFF2BB08-185E-495B-B2A0-BE0942C7B81E}" dt="2026-07-21T18:37:27.812" v="1954"/>
        <pc:sldMkLst>
          <pc:docMk/>
          <pc:sldMk cId="3992955864" sldId="339"/>
        </pc:sldMkLst>
        <pc:spChg chg="mod">
          <ac:chgData name="Chad Williams" userId="618f96a3-8672-4e43-ae03-eeed93bb7387" providerId="ADAL" clId="{DFF2BB08-185E-495B-B2A0-BE0942C7B81E}" dt="2026-07-21T18:37:27.812" v="1954"/>
          <ac:spMkLst>
            <pc:docMk/>
            <pc:sldMk cId="3992955864" sldId="339"/>
            <ac:spMk id="3" creationId="{09D325FF-BBF8-EB4E-8152-C8DD6BC3948E}"/>
          </ac:spMkLst>
        </pc:spChg>
      </pc:sldChg>
      <pc:sldChg chg="modSp mod modAnim">
        <pc:chgData name="Chad Williams" userId="618f96a3-8672-4e43-ae03-eeed93bb7387" providerId="ADAL" clId="{DFF2BB08-185E-495B-B2A0-BE0942C7B81E}" dt="2026-07-29T20:40:43.343" v="4080"/>
        <pc:sldMkLst>
          <pc:docMk/>
          <pc:sldMk cId="170107365" sldId="340"/>
        </pc:sldMkLst>
        <pc:spChg chg="mod">
          <ac:chgData name="Chad Williams" userId="618f96a3-8672-4e43-ae03-eeed93bb7387" providerId="ADAL" clId="{DFF2BB08-185E-495B-B2A0-BE0942C7B81E}" dt="2026-07-29T20:40:43.343" v="4080"/>
          <ac:spMkLst>
            <pc:docMk/>
            <pc:sldMk cId="170107365" sldId="340"/>
            <ac:spMk id="3" creationId="{09D325FF-BBF8-EB4E-8152-C8DD6BC3948E}"/>
          </ac:spMkLst>
        </pc:spChg>
      </pc:sldChg>
      <pc:sldChg chg="delSp modSp mod delAnim modAnim">
        <pc:chgData name="Chad Williams" userId="618f96a3-8672-4e43-ae03-eeed93bb7387" providerId="ADAL" clId="{DFF2BB08-185E-495B-B2A0-BE0942C7B81E}" dt="2026-07-21T19:28:42.038" v="2734" actId="732"/>
        <pc:sldMkLst>
          <pc:docMk/>
          <pc:sldMk cId="2084211771" sldId="345"/>
        </pc:sldMkLst>
        <pc:spChg chg="mod">
          <ac:chgData name="Chad Williams" userId="618f96a3-8672-4e43-ae03-eeed93bb7387" providerId="ADAL" clId="{DFF2BB08-185E-495B-B2A0-BE0942C7B81E}" dt="2026-07-21T19:26:55.448" v="2720" actId="27636"/>
          <ac:spMkLst>
            <pc:docMk/>
            <pc:sldMk cId="2084211771" sldId="345"/>
            <ac:spMk id="3" creationId="{378FCDFA-0D6E-DB41-948F-9A6ED1D0F9DB}"/>
          </ac:spMkLst>
        </pc:spChg>
        <pc:picChg chg="mod modCrop">
          <ac:chgData name="Chad Williams" userId="618f96a3-8672-4e43-ae03-eeed93bb7387" providerId="ADAL" clId="{DFF2BB08-185E-495B-B2A0-BE0942C7B81E}" dt="2026-07-21T19:28:42.038" v="2734" actId="732"/>
          <ac:picMkLst>
            <pc:docMk/>
            <pc:sldMk cId="2084211771" sldId="345"/>
            <ac:picMk id="5" creationId="{4B26E6D9-BDE8-C04E-95C7-DA80AEA0A5C7}"/>
          </ac:picMkLst>
        </pc:picChg>
      </pc:sldChg>
      <pc:sldChg chg="modSp mod modAnim">
        <pc:chgData name="Chad Williams" userId="618f96a3-8672-4e43-ae03-eeed93bb7387" providerId="ADAL" clId="{DFF2BB08-185E-495B-B2A0-BE0942C7B81E}" dt="2026-07-23T19:12:23.375" v="4034"/>
        <pc:sldMkLst>
          <pc:docMk/>
          <pc:sldMk cId="389488037" sldId="347"/>
        </pc:sldMkLst>
        <pc:spChg chg="mod">
          <ac:chgData name="Chad Williams" userId="618f96a3-8672-4e43-ae03-eeed93bb7387" providerId="ADAL" clId="{DFF2BB08-185E-495B-B2A0-BE0942C7B81E}" dt="2026-07-23T19:12:23.375" v="4034"/>
          <ac:spMkLst>
            <pc:docMk/>
            <pc:sldMk cId="389488037" sldId="347"/>
            <ac:spMk id="7" creationId="{D225BD0C-D24D-5A42-ADF6-D9633BF8CAA0}"/>
          </ac:spMkLst>
        </pc:spChg>
      </pc:sldChg>
      <pc:sldChg chg="modSp modAnim">
        <pc:chgData name="Chad Williams" userId="618f96a3-8672-4e43-ae03-eeed93bb7387" providerId="ADAL" clId="{DFF2BB08-185E-495B-B2A0-BE0942C7B81E}" dt="2026-07-23T19:12:23.375" v="4034"/>
        <pc:sldMkLst>
          <pc:docMk/>
          <pc:sldMk cId="1581451314" sldId="348"/>
        </pc:sldMkLst>
        <pc:spChg chg="mod">
          <ac:chgData name="Chad Williams" userId="618f96a3-8672-4e43-ae03-eeed93bb7387" providerId="ADAL" clId="{DFF2BB08-185E-495B-B2A0-BE0942C7B81E}" dt="2026-07-23T19:12:23.375" v="4034"/>
          <ac:spMkLst>
            <pc:docMk/>
            <pc:sldMk cId="1581451314" sldId="348"/>
            <ac:spMk id="7" creationId="{D225BD0C-D24D-5A42-ADF6-D9633BF8CAA0}"/>
          </ac:spMkLst>
        </pc:spChg>
      </pc:sldChg>
      <pc:sldChg chg="modSp modAnim">
        <pc:chgData name="Chad Williams" userId="618f96a3-8672-4e43-ae03-eeed93bb7387" providerId="ADAL" clId="{DFF2BB08-185E-495B-B2A0-BE0942C7B81E}" dt="2026-07-23T19:12:23.375" v="4034"/>
        <pc:sldMkLst>
          <pc:docMk/>
          <pc:sldMk cId="3015048001" sldId="349"/>
        </pc:sldMkLst>
        <pc:spChg chg="mod">
          <ac:chgData name="Chad Williams" userId="618f96a3-8672-4e43-ae03-eeed93bb7387" providerId="ADAL" clId="{DFF2BB08-185E-495B-B2A0-BE0942C7B81E}" dt="2026-07-23T19:12:23.375" v="4034"/>
          <ac:spMkLst>
            <pc:docMk/>
            <pc:sldMk cId="3015048001" sldId="349"/>
            <ac:spMk id="7" creationId="{D225BD0C-D24D-5A42-ADF6-D9633BF8CAA0}"/>
          </ac:spMkLst>
        </pc:spChg>
      </pc:sldChg>
      <pc:sldChg chg="modSp mod">
        <pc:chgData name="Chad Williams" userId="618f96a3-8672-4e43-ae03-eeed93bb7387" providerId="ADAL" clId="{DFF2BB08-185E-495B-B2A0-BE0942C7B81E}" dt="2026-07-29T20:43:35.237" v="4114" actId="20577"/>
        <pc:sldMkLst>
          <pc:docMk/>
          <pc:sldMk cId="2107881934" sldId="353"/>
        </pc:sldMkLst>
        <pc:spChg chg="mod">
          <ac:chgData name="Chad Williams" userId="618f96a3-8672-4e43-ae03-eeed93bb7387" providerId="ADAL" clId="{DFF2BB08-185E-495B-B2A0-BE0942C7B81E}" dt="2026-07-29T20:43:35.237" v="4114" actId="20577"/>
          <ac:spMkLst>
            <pc:docMk/>
            <pc:sldMk cId="2107881934" sldId="353"/>
            <ac:spMk id="3" creationId="{F1A115E2-4FE8-2E4C-A37A-70FF38E79C49}"/>
          </ac:spMkLst>
        </pc:spChg>
        <pc:spChg chg="mod">
          <ac:chgData name="Chad Williams" userId="618f96a3-8672-4e43-ae03-eeed93bb7387" providerId="ADAL" clId="{DFF2BB08-185E-495B-B2A0-BE0942C7B81E}" dt="2026-07-23T19:12:23.375" v="4034"/>
          <ac:spMkLst>
            <pc:docMk/>
            <pc:sldMk cId="2107881934" sldId="353"/>
            <ac:spMk id="4" creationId="{574432C5-7DF4-5F4D-A83A-EE45D530B8EC}"/>
          </ac:spMkLst>
        </pc:spChg>
      </pc:sldChg>
      <pc:sldChg chg="modSp mod">
        <pc:chgData name="Chad Williams" userId="618f96a3-8672-4e43-ae03-eeed93bb7387" providerId="ADAL" clId="{DFF2BB08-185E-495B-B2A0-BE0942C7B81E}" dt="2026-07-29T20:45:53.517" v="4116"/>
        <pc:sldMkLst>
          <pc:docMk/>
          <pc:sldMk cId="2432802029" sldId="354"/>
        </pc:sldMkLst>
        <pc:spChg chg="mod">
          <ac:chgData name="Chad Williams" userId="618f96a3-8672-4e43-ae03-eeed93bb7387" providerId="ADAL" clId="{DFF2BB08-185E-495B-B2A0-BE0942C7B81E}" dt="2026-07-29T20:45:53.517" v="4116"/>
          <ac:spMkLst>
            <pc:docMk/>
            <pc:sldMk cId="2432802029" sldId="354"/>
            <ac:spMk id="3" creationId="{F1A115E2-4FE8-2E4C-A37A-70FF38E79C49}"/>
          </ac:spMkLst>
        </pc:spChg>
        <pc:spChg chg="mod">
          <ac:chgData name="Chad Williams" userId="618f96a3-8672-4e43-ae03-eeed93bb7387" providerId="ADAL" clId="{DFF2BB08-185E-495B-B2A0-BE0942C7B81E}" dt="2026-07-23T19:12:23.375" v="4034"/>
          <ac:spMkLst>
            <pc:docMk/>
            <pc:sldMk cId="2432802029" sldId="354"/>
            <ac:spMk id="4" creationId="{574432C5-7DF4-5F4D-A83A-EE45D530B8EC}"/>
          </ac:spMkLst>
        </pc:spChg>
      </pc:sldChg>
      <pc:sldChg chg="modSp mod">
        <pc:chgData name="Chad Williams" userId="618f96a3-8672-4e43-ae03-eeed93bb7387" providerId="ADAL" clId="{DFF2BB08-185E-495B-B2A0-BE0942C7B81E}" dt="2026-07-29T20:41:05.542" v="4100" actId="20577"/>
        <pc:sldMkLst>
          <pc:docMk/>
          <pc:sldMk cId="2099371758" sldId="355"/>
        </pc:sldMkLst>
        <pc:spChg chg="mod">
          <ac:chgData name="Chad Williams" userId="618f96a3-8672-4e43-ae03-eeed93bb7387" providerId="ADAL" clId="{DFF2BB08-185E-495B-B2A0-BE0942C7B81E}" dt="2026-07-29T20:41:05.542" v="4100" actId="20577"/>
          <ac:spMkLst>
            <pc:docMk/>
            <pc:sldMk cId="2099371758" sldId="355"/>
            <ac:spMk id="3" creationId="{F1A115E2-4FE8-2E4C-A37A-70FF38E79C49}"/>
          </ac:spMkLst>
        </pc:spChg>
      </pc:sldChg>
      <pc:sldChg chg="modSp mod">
        <pc:chgData name="Chad Williams" userId="618f96a3-8672-4e43-ae03-eeed93bb7387" providerId="ADAL" clId="{DFF2BB08-185E-495B-B2A0-BE0942C7B81E}" dt="2026-07-29T20:41:12.021" v="4101"/>
        <pc:sldMkLst>
          <pc:docMk/>
          <pc:sldMk cId="1166121464" sldId="356"/>
        </pc:sldMkLst>
        <pc:spChg chg="mod">
          <ac:chgData name="Chad Williams" userId="618f96a3-8672-4e43-ae03-eeed93bb7387" providerId="ADAL" clId="{DFF2BB08-185E-495B-B2A0-BE0942C7B81E}" dt="2026-07-29T20:41:12.021" v="4101"/>
          <ac:spMkLst>
            <pc:docMk/>
            <pc:sldMk cId="1166121464" sldId="356"/>
            <ac:spMk id="3" creationId="{F1A115E2-4FE8-2E4C-A37A-70FF38E79C49}"/>
          </ac:spMkLst>
        </pc:spChg>
      </pc:sldChg>
      <pc:sldChg chg="modSp mod">
        <pc:chgData name="Chad Williams" userId="618f96a3-8672-4e43-ae03-eeed93bb7387" providerId="ADAL" clId="{DFF2BB08-185E-495B-B2A0-BE0942C7B81E}" dt="2026-07-29T20:42:53.919" v="4108"/>
        <pc:sldMkLst>
          <pc:docMk/>
          <pc:sldMk cId="2848026181" sldId="357"/>
        </pc:sldMkLst>
        <pc:spChg chg="mod">
          <ac:chgData name="Chad Williams" userId="618f96a3-8672-4e43-ae03-eeed93bb7387" providerId="ADAL" clId="{DFF2BB08-185E-495B-B2A0-BE0942C7B81E}" dt="2026-07-29T20:42:53.919" v="4108"/>
          <ac:spMkLst>
            <pc:docMk/>
            <pc:sldMk cId="2848026181" sldId="357"/>
            <ac:spMk id="3" creationId="{F1A115E2-4FE8-2E4C-A37A-70FF38E79C49}"/>
          </ac:spMkLst>
        </pc:spChg>
      </pc:sldChg>
      <pc:sldChg chg="addSp modSp mod modAnim">
        <pc:chgData name="Chad Williams" userId="618f96a3-8672-4e43-ae03-eeed93bb7387" providerId="ADAL" clId="{DFF2BB08-185E-495B-B2A0-BE0942C7B81E}" dt="2026-07-21T19:11:35.840" v="2483"/>
        <pc:sldMkLst>
          <pc:docMk/>
          <pc:sldMk cId="2081572088" sldId="360"/>
        </pc:sldMkLst>
        <pc:spChg chg="mod">
          <ac:chgData name="Chad Williams" userId="618f96a3-8672-4e43-ae03-eeed93bb7387" providerId="ADAL" clId="{DFF2BB08-185E-495B-B2A0-BE0942C7B81E}" dt="2026-07-21T19:07:31.406" v="2317" actId="20577"/>
          <ac:spMkLst>
            <pc:docMk/>
            <pc:sldMk cId="2081572088" sldId="360"/>
            <ac:spMk id="3" creationId="{378FCDFA-0D6E-DB41-948F-9A6ED1D0F9DB}"/>
          </ac:spMkLst>
        </pc:spChg>
        <pc:spChg chg="add mod">
          <ac:chgData name="Chad Williams" userId="618f96a3-8672-4e43-ae03-eeed93bb7387" providerId="ADAL" clId="{DFF2BB08-185E-495B-B2A0-BE0942C7B81E}" dt="2026-07-21T19:09:39.576" v="2353" actId="208"/>
          <ac:spMkLst>
            <pc:docMk/>
            <pc:sldMk cId="2081572088" sldId="360"/>
            <ac:spMk id="6" creationId="{73525329-4A96-86E7-93B8-2C67807A9B70}"/>
          </ac:spMkLst>
        </pc:spChg>
        <pc:spChg chg="add mod">
          <ac:chgData name="Chad Williams" userId="618f96a3-8672-4e43-ae03-eeed93bb7387" providerId="ADAL" clId="{DFF2BB08-185E-495B-B2A0-BE0942C7B81E}" dt="2026-07-21T19:11:32.345" v="2482" actId="1037"/>
          <ac:spMkLst>
            <pc:docMk/>
            <pc:sldMk cId="2081572088" sldId="360"/>
            <ac:spMk id="8" creationId="{F9B8AFF8-2420-38CA-C7BD-C274BB948287}"/>
          </ac:spMkLst>
        </pc:spChg>
        <pc:spChg chg="add mod">
          <ac:chgData name="Chad Williams" userId="618f96a3-8672-4e43-ae03-eeed93bb7387" providerId="ADAL" clId="{DFF2BB08-185E-495B-B2A0-BE0942C7B81E}" dt="2026-07-21T19:09:55.972" v="2359" actId="1076"/>
          <ac:spMkLst>
            <pc:docMk/>
            <pc:sldMk cId="2081572088" sldId="360"/>
            <ac:spMk id="10" creationId="{D9E6BD14-B081-16D1-D7B3-F488EB0A280F}"/>
          </ac:spMkLst>
        </pc:spChg>
        <pc:spChg chg="add mod">
          <ac:chgData name="Chad Williams" userId="618f96a3-8672-4e43-ae03-eeed93bb7387" providerId="ADAL" clId="{DFF2BB08-185E-495B-B2A0-BE0942C7B81E}" dt="2026-07-21T19:11:08.669" v="2471" actId="207"/>
          <ac:spMkLst>
            <pc:docMk/>
            <pc:sldMk cId="2081572088" sldId="360"/>
            <ac:spMk id="11" creationId="{397FE0B1-2DF6-A0D4-97C4-1ACEE9B36096}"/>
          </ac:spMkLst>
        </pc:spChg>
        <pc:spChg chg="add mod">
          <ac:chgData name="Chad Williams" userId="618f96a3-8672-4e43-ae03-eeed93bb7387" providerId="ADAL" clId="{DFF2BB08-185E-495B-B2A0-BE0942C7B81E}" dt="2026-07-21T19:11:00.974" v="2469" actId="207"/>
          <ac:spMkLst>
            <pc:docMk/>
            <pc:sldMk cId="2081572088" sldId="360"/>
            <ac:spMk id="13" creationId="{0C72B476-4567-AC8E-FB07-220E735657DA}"/>
          </ac:spMkLst>
        </pc:spChg>
        <pc:spChg chg="add mod">
          <ac:chgData name="Chad Williams" userId="618f96a3-8672-4e43-ae03-eeed93bb7387" providerId="ADAL" clId="{DFF2BB08-185E-495B-B2A0-BE0942C7B81E}" dt="2026-07-21T19:11:15.574" v="2473" actId="113"/>
          <ac:spMkLst>
            <pc:docMk/>
            <pc:sldMk cId="2081572088" sldId="360"/>
            <ac:spMk id="15" creationId="{4CC6EA6B-FD10-7A7A-503E-45E48125538F}"/>
          </ac:spMkLst>
        </pc:spChg>
        <pc:picChg chg="add mod modCrop">
          <ac:chgData name="Chad Williams" userId="618f96a3-8672-4e43-ae03-eeed93bb7387" providerId="ADAL" clId="{DFF2BB08-185E-495B-B2A0-BE0942C7B81E}" dt="2026-07-21T19:08:40.903" v="2340" actId="1076"/>
          <ac:picMkLst>
            <pc:docMk/>
            <pc:sldMk cId="2081572088" sldId="360"/>
            <ac:picMk id="5" creationId="{28DBDA3F-8FCC-E542-4E39-933571713E96}"/>
          </ac:picMkLst>
        </pc:picChg>
        <pc:picChg chg="mod">
          <ac:chgData name="Chad Williams" userId="618f96a3-8672-4e43-ae03-eeed93bb7387" providerId="ADAL" clId="{DFF2BB08-185E-495B-B2A0-BE0942C7B81E}" dt="2026-07-21T19:08:12.567" v="2327" actId="14100"/>
          <ac:picMkLst>
            <pc:docMk/>
            <pc:sldMk cId="2081572088" sldId="360"/>
            <ac:picMk id="24578" creationId="{8BFA156B-D149-1F4A-9673-DA7685CF7A33}"/>
          </ac:picMkLst>
        </pc:picChg>
      </pc:sldChg>
      <pc:sldChg chg="modSp del modAnim">
        <pc:chgData name="Chad Williams" userId="618f96a3-8672-4e43-ae03-eeed93bb7387" providerId="ADAL" clId="{DFF2BB08-185E-495B-B2A0-BE0942C7B81E}" dt="2026-08-20T20:49:11.593" v="4258" actId="47"/>
        <pc:sldMkLst>
          <pc:docMk/>
          <pc:sldMk cId="1796683163" sldId="361"/>
        </pc:sldMkLst>
      </pc:sldChg>
      <pc:sldChg chg="addSp modSp del mod modAnim">
        <pc:chgData name="Chad Williams" userId="618f96a3-8672-4e43-ae03-eeed93bb7387" providerId="ADAL" clId="{DFF2BB08-185E-495B-B2A0-BE0942C7B81E}" dt="2026-08-20T20:49:11.593" v="4258" actId="47"/>
        <pc:sldMkLst>
          <pc:docMk/>
          <pc:sldMk cId="71922764" sldId="363"/>
        </pc:sldMkLst>
      </pc:sldChg>
      <pc:sldChg chg="addSp delSp modSp mod">
        <pc:chgData name="Chad Williams" userId="618f96a3-8672-4e43-ae03-eeed93bb7387" providerId="ADAL" clId="{DFF2BB08-185E-495B-B2A0-BE0942C7B81E}" dt="2026-07-21T19:29:11.951" v="2744" actId="478"/>
        <pc:sldMkLst>
          <pc:docMk/>
          <pc:sldMk cId="2911956884" sldId="365"/>
        </pc:sldMkLst>
        <pc:picChg chg="add ord">
          <ac:chgData name="Chad Williams" userId="618f96a3-8672-4e43-ae03-eeed93bb7387" providerId="ADAL" clId="{DFF2BB08-185E-495B-B2A0-BE0942C7B81E}" dt="2026-07-21T19:28:50.776" v="2737" actId="167"/>
          <ac:picMkLst>
            <pc:docMk/>
            <pc:sldMk cId="2911956884" sldId="365"/>
            <ac:picMk id="8" creationId="{FF82571A-41DE-C033-6C7F-73F94DA277ED}"/>
          </ac:picMkLst>
        </pc:picChg>
      </pc:sldChg>
      <pc:sldChg chg="modSp mod">
        <pc:chgData name="Chad Williams" userId="618f96a3-8672-4e43-ae03-eeed93bb7387" providerId="ADAL" clId="{DFF2BB08-185E-495B-B2A0-BE0942C7B81E}" dt="2026-07-23T19:12:23.375" v="4034"/>
        <pc:sldMkLst>
          <pc:docMk/>
          <pc:sldMk cId="1012964946" sldId="366"/>
        </pc:sldMkLst>
        <pc:spChg chg="mod">
          <ac:chgData name="Chad Williams" userId="618f96a3-8672-4e43-ae03-eeed93bb7387" providerId="ADAL" clId="{DFF2BB08-185E-495B-B2A0-BE0942C7B81E}" dt="2026-07-23T19:12:23.375" v="4034"/>
          <ac:spMkLst>
            <pc:docMk/>
            <pc:sldMk cId="1012964946" sldId="366"/>
            <ac:spMk id="7" creationId="{D225BD0C-D24D-5A42-ADF6-D9633BF8CAA0}"/>
          </ac:spMkLst>
        </pc:spChg>
      </pc:sldChg>
      <pc:sldChg chg="modSp mod modAnim">
        <pc:chgData name="Chad Williams" userId="618f96a3-8672-4e43-ae03-eeed93bb7387" providerId="ADAL" clId="{DFF2BB08-185E-495B-B2A0-BE0942C7B81E}" dt="2026-07-23T19:12:23.375" v="4034"/>
        <pc:sldMkLst>
          <pc:docMk/>
          <pc:sldMk cId="2993292245" sldId="367"/>
        </pc:sldMkLst>
        <pc:spChg chg="mod">
          <ac:chgData name="Chad Williams" userId="618f96a3-8672-4e43-ae03-eeed93bb7387" providerId="ADAL" clId="{DFF2BB08-185E-495B-B2A0-BE0942C7B81E}" dt="2026-07-23T19:12:23.375" v="4034"/>
          <ac:spMkLst>
            <pc:docMk/>
            <pc:sldMk cId="2993292245" sldId="367"/>
            <ac:spMk id="7" creationId="{D225BD0C-D24D-5A42-ADF6-D9633BF8CAA0}"/>
          </ac:spMkLst>
        </pc:spChg>
      </pc:sldChg>
      <pc:sldChg chg="modSp mod modAnim">
        <pc:chgData name="Chad Williams" userId="618f96a3-8672-4e43-ae03-eeed93bb7387" providerId="ADAL" clId="{DFF2BB08-185E-495B-B2A0-BE0942C7B81E}" dt="2026-08-20T20:34:46.821" v="4187" actId="27636"/>
        <pc:sldMkLst>
          <pc:docMk/>
          <pc:sldMk cId="1798089184" sldId="368"/>
        </pc:sldMkLst>
        <pc:spChg chg="mod">
          <ac:chgData name="Chad Williams" userId="618f96a3-8672-4e43-ae03-eeed93bb7387" providerId="ADAL" clId="{DFF2BB08-185E-495B-B2A0-BE0942C7B81E}" dt="2026-08-20T20:34:46.821" v="4187" actId="27636"/>
          <ac:spMkLst>
            <pc:docMk/>
            <pc:sldMk cId="1798089184" sldId="368"/>
            <ac:spMk id="3" creationId="{A36D13B5-C64B-9348-A91A-B0C49455909B}"/>
          </ac:spMkLst>
        </pc:spChg>
      </pc:sldChg>
      <pc:sldChg chg="modSp mod">
        <pc:chgData name="Chad Williams" userId="618f96a3-8672-4e43-ae03-eeed93bb7387" providerId="ADAL" clId="{DFF2BB08-185E-495B-B2A0-BE0942C7B81E}" dt="2026-07-22T17:26:00.171" v="4026" actId="20577"/>
        <pc:sldMkLst>
          <pc:docMk/>
          <pc:sldMk cId="2194340498" sldId="386"/>
        </pc:sldMkLst>
        <pc:graphicFrameChg chg="mod modGraphic">
          <ac:chgData name="Chad Williams" userId="618f96a3-8672-4e43-ae03-eeed93bb7387" providerId="ADAL" clId="{DFF2BB08-185E-495B-B2A0-BE0942C7B81E}" dt="2026-07-22T17:26:00.171" v="4026" actId="20577"/>
          <ac:graphicFrameMkLst>
            <pc:docMk/>
            <pc:sldMk cId="2194340498" sldId="386"/>
            <ac:graphicFrameMk id="9" creationId="{0D6EC0FC-CC18-974B-AD31-52C27E382E2F}"/>
          </ac:graphicFrameMkLst>
        </pc:graphicFrameChg>
      </pc:sldChg>
      <pc:sldChg chg="modSp mod">
        <pc:chgData name="Chad Williams" userId="618f96a3-8672-4e43-ae03-eeed93bb7387" providerId="ADAL" clId="{DFF2BB08-185E-495B-B2A0-BE0942C7B81E}" dt="2026-07-21T16:49:15.212" v="624" actId="207"/>
        <pc:sldMkLst>
          <pc:docMk/>
          <pc:sldMk cId="2117084686" sldId="389"/>
        </pc:sldMkLst>
        <pc:spChg chg="mod">
          <ac:chgData name="Chad Williams" userId="618f96a3-8672-4e43-ae03-eeed93bb7387" providerId="ADAL" clId="{DFF2BB08-185E-495B-B2A0-BE0942C7B81E}" dt="2026-07-21T16:49:15.212" v="624" actId="207"/>
          <ac:spMkLst>
            <pc:docMk/>
            <pc:sldMk cId="2117084686" sldId="389"/>
            <ac:spMk id="20" creationId="{7E4F8C96-B1F8-F340-9530-E0398316CFA5}"/>
          </ac:spMkLst>
        </pc:spChg>
      </pc:sldChg>
      <pc:sldChg chg="modSp modAnim">
        <pc:chgData name="Chad Williams" userId="618f96a3-8672-4e43-ae03-eeed93bb7387" providerId="ADAL" clId="{DFF2BB08-185E-495B-B2A0-BE0942C7B81E}" dt="2026-07-21T18:37:25.079" v="1953"/>
        <pc:sldMkLst>
          <pc:docMk/>
          <pc:sldMk cId="292850718" sldId="391"/>
        </pc:sldMkLst>
        <pc:spChg chg="mod">
          <ac:chgData name="Chad Williams" userId="618f96a3-8672-4e43-ae03-eeed93bb7387" providerId="ADAL" clId="{DFF2BB08-185E-495B-B2A0-BE0942C7B81E}" dt="2026-07-21T18:37:25.079" v="1953"/>
          <ac:spMkLst>
            <pc:docMk/>
            <pc:sldMk cId="292850718" sldId="391"/>
            <ac:spMk id="3" creationId="{54D43C6B-B40E-CBE6-4AED-0342F627FFBB}"/>
          </ac:spMkLst>
        </pc:spChg>
      </pc:sldChg>
      <pc:sldChg chg="modSp mod modAnim">
        <pc:chgData name="Chad Williams" userId="618f96a3-8672-4e43-ae03-eeed93bb7387" providerId="ADAL" clId="{DFF2BB08-185E-495B-B2A0-BE0942C7B81E}" dt="2026-07-21T18:41:24.441" v="2093" actId="114"/>
        <pc:sldMkLst>
          <pc:docMk/>
          <pc:sldMk cId="2362889583" sldId="392"/>
        </pc:sldMkLst>
        <pc:spChg chg="mod">
          <ac:chgData name="Chad Williams" userId="618f96a3-8672-4e43-ae03-eeed93bb7387" providerId="ADAL" clId="{DFF2BB08-185E-495B-B2A0-BE0942C7B81E}" dt="2026-07-21T18:41:24.441" v="2093" actId="114"/>
          <ac:spMkLst>
            <pc:docMk/>
            <pc:sldMk cId="2362889583" sldId="392"/>
            <ac:spMk id="3" creationId="{9B77A2EA-92F6-C7FE-7F7A-F00546CC423F}"/>
          </ac:spMkLst>
        </pc:spChg>
      </pc:sldChg>
      <pc:sldChg chg="modSp modAnim">
        <pc:chgData name="Chad Williams" userId="618f96a3-8672-4e43-ae03-eeed93bb7387" providerId="ADAL" clId="{DFF2BB08-185E-495B-B2A0-BE0942C7B81E}" dt="2026-07-21T18:46:20.134" v="2185" actId="20577"/>
        <pc:sldMkLst>
          <pc:docMk/>
          <pc:sldMk cId="900682145" sldId="393"/>
        </pc:sldMkLst>
        <pc:spChg chg="mod">
          <ac:chgData name="Chad Williams" userId="618f96a3-8672-4e43-ae03-eeed93bb7387" providerId="ADAL" clId="{DFF2BB08-185E-495B-B2A0-BE0942C7B81E}" dt="2026-07-21T18:46:20.134" v="2185" actId="20577"/>
          <ac:spMkLst>
            <pc:docMk/>
            <pc:sldMk cId="900682145" sldId="393"/>
            <ac:spMk id="3" creationId="{54F142A5-8403-C5DD-636A-B75056493041}"/>
          </ac:spMkLst>
        </pc:spChg>
      </pc:sldChg>
      <pc:sldChg chg="modSp del ord modAnim">
        <pc:chgData name="Chad Williams" userId="618f96a3-8672-4e43-ae03-eeed93bb7387" providerId="ADAL" clId="{DFF2BB08-185E-495B-B2A0-BE0942C7B81E}" dt="2026-08-20T20:49:11.593" v="4258" actId="47"/>
        <pc:sldMkLst>
          <pc:docMk/>
          <pc:sldMk cId="1395024218" sldId="394"/>
        </pc:sldMkLst>
      </pc:sldChg>
      <pc:sldChg chg="addSp delSp modSp mod delAnim modAnim">
        <pc:chgData name="Chad Williams" userId="618f96a3-8672-4e43-ae03-eeed93bb7387" providerId="ADAL" clId="{DFF2BB08-185E-495B-B2A0-BE0942C7B81E}" dt="2026-07-21T23:19:10.941" v="4018"/>
        <pc:sldMkLst>
          <pc:docMk/>
          <pc:sldMk cId="1920799264" sldId="396"/>
        </pc:sldMkLst>
        <pc:spChg chg="mod">
          <ac:chgData name="Chad Williams" userId="618f96a3-8672-4e43-ae03-eeed93bb7387" providerId="ADAL" clId="{DFF2BB08-185E-495B-B2A0-BE0942C7B81E}" dt="2026-07-21T19:13:10.600" v="2504" actId="6549"/>
          <ac:spMkLst>
            <pc:docMk/>
            <pc:sldMk cId="1920799264" sldId="396"/>
            <ac:spMk id="3" creationId="{0659FBD1-9360-E45A-9400-505A9E3284CB}"/>
          </ac:spMkLst>
        </pc:spChg>
        <pc:spChg chg="add mod">
          <ac:chgData name="Chad Williams" userId="618f96a3-8672-4e43-ae03-eeed93bb7387" providerId="ADAL" clId="{DFF2BB08-185E-495B-B2A0-BE0942C7B81E}" dt="2026-07-21T23:15:02.458" v="3911" actId="1076"/>
          <ac:spMkLst>
            <pc:docMk/>
            <pc:sldMk cId="1920799264" sldId="396"/>
            <ac:spMk id="15" creationId="{2A173A97-8553-5F91-9161-CDEB0E485ABE}"/>
          </ac:spMkLst>
        </pc:spChg>
        <pc:spChg chg="add mod">
          <ac:chgData name="Chad Williams" userId="618f96a3-8672-4e43-ae03-eeed93bb7387" providerId="ADAL" clId="{DFF2BB08-185E-495B-B2A0-BE0942C7B81E}" dt="2026-07-21T23:15:47.382" v="3963" actId="1076"/>
          <ac:spMkLst>
            <pc:docMk/>
            <pc:sldMk cId="1920799264" sldId="396"/>
            <ac:spMk id="17" creationId="{90BAC90E-6FA7-1E72-A6F5-3FB120DF4482}"/>
          </ac:spMkLst>
        </pc:spChg>
        <pc:spChg chg="add mod">
          <ac:chgData name="Chad Williams" userId="618f96a3-8672-4e43-ae03-eeed93bb7387" providerId="ADAL" clId="{DFF2BB08-185E-495B-B2A0-BE0942C7B81E}" dt="2026-07-21T23:15:47.382" v="3963" actId="1076"/>
          <ac:spMkLst>
            <pc:docMk/>
            <pc:sldMk cId="1920799264" sldId="396"/>
            <ac:spMk id="18" creationId="{B9CB707C-E8F9-CB3F-F462-D4F6F001DBB3}"/>
          </ac:spMkLst>
        </pc:spChg>
        <pc:spChg chg="add mod">
          <ac:chgData name="Chad Williams" userId="618f96a3-8672-4e43-ae03-eeed93bb7387" providerId="ADAL" clId="{DFF2BB08-185E-495B-B2A0-BE0942C7B81E}" dt="2026-07-21T23:16:24.995" v="3965" actId="1076"/>
          <ac:spMkLst>
            <pc:docMk/>
            <pc:sldMk cId="1920799264" sldId="396"/>
            <ac:spMk id="21" creationId="{BA1B0295-F7C5-8F1B-0029-9D50856035C3}"/>
          </ac:spMkLst>
        </pc:spChg>
        <pc:spChg chg="add mod">
          <ac:chgData name="Chad Williams" userId="618f96a3-8672-4e43-ae03-eeed93bb7387" providerId="ADAL" clId="{DFF2BB08-185E-495B-B2A0-BE0942C7B81E}" dt="2026-07-21T23:15:47.382" v="3963" actId="1076"/>
          <ac:spMkLst>
            <pc:docMk/>
            <pc:sldMk cId="1920799264" sldId="396"/>
            <ac:spMk id="22" creationId="{D34DCC46-F2DC-99BD-6E7D-3A4C21EA96B4}"/>
          </ac:spMkLst>
        </pc:spChg>
        <pc:spChg chg="add mod">
          <ac:chgData name="Chad Williams" userId="618f96a3-8672-4e43-ae03-eeed93bb7387" providerId="ADAL" clId="{DFF2BB08-185E-495B-B2A0-BE0942C7B81E}" dt="2026-07-21T23:15:51.309" v="3964" actId="20577"/>
          <ac:spMkLst>
            <pc:docMk/>
            <pc:sldMk cId="1920799264" sldId="396"/>
            <ac:spMk id="23" creationId="{05CD794D-2DC2-0EF0-A677-40BAD9EA50B4}"/>
          </ac:spMkLst>
        </pc:spChg>
        <pc:spChg chg="add mod">
          <ac:chgData name="Chad Williams" userId="618f96a3-8672-4e43-ae03-eeed93bb7387" providerId="ADAL" clId="{DFF2BB08-185E-495B-B2A0-BE0942C7B81E}" dt="2026-07-21T23:17:23.625" v="3982" actId="1076"/>
          <ac:spMkLst>
            <pc:docMk/>
            <pc:sldMk cId="1920799264" sldId="396"/>
            <ac:spMk id="24" creationId="{9CEDC91E-ECAE-BE23-F26F-89E97A3FFCAD}"/>
          </ac:spMkLst>
        </pc:spChg>
        <pc:spChg chg="add mod">
          <ac:chgData name="Chad Williams" userId="618f96a3-8672-4e43-ae03-eeed93bb7387" providerId="ADAL" clId="{DFF2BB08-185E-495B-B2A0-BE0942C7B81E}" dt="2026-07-21T23:18:17.317" v="4009" actId="13822"/>
          <ac:spMkLst>
            <pc:docMk/>
            <pc:sldMk cId="1920799264" sldId="396"/>
            <ac:spMk id="25" creationId="{13AC66CD-B66A-EFCA-DE43-178C69B3C4B5}"/>
          </ac:spMkLst>
        </pc:spChg>
        <pc:spChg chg="add mod">
          <ac:chgData name="Chad Williams" userId="618f96a3-8672-4e43-ae03-eeed93bb7387" providerId="ADAL" clId="{DFF2BB08-185E-495B-B2A0-BE0942C7B81E}" dt="2026-07-21T23:18:08.813" v="4008" actId="207"/>
          <ac:spMkLst>
            <pc:docMk/>
            <pc:sldMk cId="1920799264" sldId="396"/>
            <ac:spMk id="26" creationId="{E0AA7E7C-9A0D-18F6-1EB1-02967C5D2466}"/>
          </ac:spMkLst>
        </pc:spChg>
        <pc:picChg chg="add mod modCrop">
          <ac:chgData name="Chad Williams" userId="618f96a3-8672-4e43-ae03-eeed93bb7387" providerId="ADAL" clId="{DFF2BB08-185E-495B-B2A0-BE0942C7B81E}" dt="2026-07-21T19:13:44.695" v="2512" actId="1076"/>
          <ac:picMkLst>
            <pc:docMk/>
            <pc:sldMk cId="1920799264" sldId="396"/>
            <ac:picMk id="5" creationId="{366258DD-2382-D775-B15F-AA080D1CBA18}"/>
          </ac:picMkLst>
        </pc:picChg>
      </pc:sldChg>
      <pc:sldChg chg="modSp mod">
        <pc:chgData name="Chad Williams" userId="618f96a3-8672-4e43-ae03-eeed93bb7387" providerId="ADAL" clId="{DFF2BB08-185E-495B-B2A0-BE0942C7B81E}" dt="2026-07-29T20:43:09.849" v="4110"/>
        <pc:sldMkLst>
          <pc:docMk/>
          <pc:sldMk cId="1314923591" sldId="397"/>
        </pc:sldMkLst>
        <pc:spChg chg="mod">
          <ac:chgData name="Chad Williams" userId="618f96a3-8672-4e43-ae03-eeed93bb7387" providerId="ADAL" clId="{DFF2BB08-185E-495B-B2A0-BE0942C7B81E}" dt="2026-07-29T20:43:09.849" v="4110"/>
          <ac:spMkLst>
            <pc:docMk/>
            <pc:sldMk cId="1314923591" sldId="397"/>
            <ac:spMk id="3" creationId="{B4DA1986-ACEC-B356-2687-90D97ACB810A}"/>
          </ac:spMkLst>
        </pc:spChg>
        <pc:spChg chg="mod">
          <ac:chgData name="Chad Williams" userId="618f96a3-8672-4e43-ae03-eeed93bb7387" providerId="ADAL" clId="{DFF2BB08-185E-495B-B2A0-BE0942C7B81E}" dt="2026-07-21T23:07:22.582" v="3897" actId="20577"/>
          <ac:spMkLst>
            <pc:docMk/>
            <pc:sldMk cId="1314923591" sldId="397"/>
            <ac:spMk id="4" creationId="{F278465F-EED8-DB2C-AD1A-D5407CE0C40E}"/>
          </ac:spMkLst>
        </pc:spChg>
      </pc:sldChg>
      <pc:sldChg chg="modSp mod">
        <pc:chgData name="Chad Williams" userId="618f96a3-8672-4e43-ae03-eeed93bb7387" providerId="ADAL" clId="{DFF2BB08-185E-495B-B2A0-BE0942C7B81E}" dt="2026-07-29T20:43:22.973" v="4112" actId="20577"/>
        <pc:sldMkLst>
          <pc:docMk/>
          <pc:sldMk cId="3621606668" sldId="398"/>
        </pc:sldMkLst>
        <pc:spChg chg="mod">
          <ac:chgData name="Chad Williams" userId="618f96a3-8672-4e43-ae03-eeed93bb7387" providerId="ADAL" clId="{DFF2BB08-185E-495B-B2A0-BE0942C7B81E}" dt="2026-07-29T20:43:22.973" v="4112" actId="20577"/>
          <ac:spMkLst>
            <pc:docMk/>
            <pc:sldMk cId="3621606668" sldId="398"/>
            <ac:spMk id="3" creationId="{AA4A29DE-AE02-5ACD-072D-D4A3B2525AE1}"/>
          </ac:spMkLst>
        </pc:spChg>
        <pc:spChg chg="mod">
          <ac:chgData name="Chad Williams" userId="618f96a3-8672-4e43-ae03-eeed93bb7387" providerId="ADAL" clId="{DFF2BB08-185E-495B-B2A0-BE0942C7B81E}" dt="2026-07-23T19:12:23.375" v="4034"/>
          <ac:spMkLst>
            <pc:docMk/>
            <pc:sldMk cId="3621606668" sldId="398"/>
            <ac:spMk id="4" creationId="{CCC794E0-E08F-8598-FC0F-3AFD1D113E61}"/>
          </ac:spMkLst>
        </pc:spChg>
      </pc:sldChg>
      <pc:sldChg chg="addSp delSp modSp mod modAnim">
        <pc:chgData name="Chad Williams" userId="618f96a3-8672-4e43-ae03-eeed93bb7387" providerId="ADAL" clId="{DFF2BB08-185E-495B-B2A0-BE0942C7B81E}" dt="2026-08-20T20:37:31.213" v="4256"/>
        <pc:sldMkLst>
          <pc:docMk/>
          <pc:sldMk cId="3831212268" sldId="446"/>
        </pc:sldMkLst>
        <pc:spChg chg="mod">
          <ac:chgData name="Chad Williams" userId="618f96a3-8672-4e43-ae03-eeed93bb7387" providerId="ADAL" clId="{DFF2BB08-185E-495B-B2A0-BE0942C7B81E}" dt="2026-07-21T19:28:04.047" v="2733" actId="20577"/>
          <ac:spMkLst>
            <pc:docMk/>
            <pc:sldMk cId="3831212268" sldId="446"/>
            <ac:spMk id="3" creationId="{0D17367A-F981-31C5-2F44-37BC6DCF2C28}"/>
          </ac:spMkLst>
        </pc:spChg>
        <pc:picChg chg="add ord">
          <ac:chgData name="Chad Williams" userId="618f96a3-8672-4e43-ae03-eeed93bb7387" providerId="ADAL" clId="{DFF2BB08-185E-495B-B2A0-BE0942C7B81E}" dt="2026-07-21T19:29:00.280" v="2743" actId="167"/>
          <ac:picMkLst>
            <pc:docMk/>
            <pc:sldMk cId="3831212268" sldId="446"/>
            <ac:picMk id="7" creationId="{FFEA5731-0B52-A924-EFE1-52D86CDBB4DB}"/>
          </ac:picMkLst>
        </pc:picChg>
      </pc:sldChg>
      <pc:sldChg chg="modSp add mod">
        <pc:chgData name="Chad Williams" userId="618f96a3-8672-4e43-ae03-eeed93bb7387" providerId="ADAL" clId="{DFF2BB08-185E-495B-B2A0-BE0942C7B81E}" dt="2026-07-21T16:49:32.596" v="627" actId="207"/>
        <pc:sldMkLst>
          <pc:docMk/>
          <pc:sldMk cId="3409110877" sldId="447"/>
        </pc:sldMkLst>
        <pc:spChg chg="mod">
          <ac:chgData name="Chad Williams" userId="618f96a3-8672-4e43-ae03-eeed93bb7387" providerId="ADAL" clId="{DFF2BB08-185E-495B-B2A0-BE0942C7B81E}" dt="2026-07-21T16:49:32.596" v="627" actId="207"/>
          <ac:spMkLst>
            <pc:docMk/>
            <pc:sldMk cId="3409110877" sldId="447"/>
            <ac:spMk id="20" creationId="{88AB1A6A-7580-7029-B5A5-A18A823ECE8F}"/>
          </ac:spMkLst>
        </pc:spChg>
      </pc:sldChg>
      <pc:sldChg chg="modSp add mod">
        <pc:chgData name="Chad Williams" userId="618f96a3-8672-4e43-ae03-eeed93bb7387" providerId="ADAL" clId="{DFF2BB08-185E-495B-B2A0-BE0942C7B81E}" dt="2026-07-21T16:49:45.801" v="631" actId="207"/>
        <pc:sldMkLst>
          <pc:docMk/>
          <pc:sldMk cId="1108546093" sldId="448"/>
        </pc:sldMkLst>
        <pc:spChg chg="mod">
          <ac:chgData name="Chad Williams" userId="618f96a3-8672-4e43-ae03-eeed93bb7387" providerId="ADAL" clId="{DFF2BB08-185E-495B-B2A0-BE0942C7B81E}" dt="2026-07-21T16:49:45.801" v="631" actId="207"/>
          <ac:spMkLst>
            <pc:docMk/>
            <pc:sldMk cId="1108546093" sldId="448"/>
            <ac:spMk id="20" creationId="{83B28DF1-5F89-FD1F-5515-E579A6AD07E9}"/>
          </ac:spMkLst>
        </pc:spChg>
      </pc:sldChg>
      <pc:sldChg chg="modSp add mod">
        <pc:chgData name="Chad Williams" userId="618f96a3-8672-4e43-ae03-eeed93bb7387" providerId="ADAL" clId="{DFF2BB08-185E-495B-B2A0-BE0942C7B81E}" dt="2026-07-21T16:49:57.864" v="634" actId="207"/>
        <pc:sldMkLst>
          <pc:docMk/>
          <pc:sldMk cId="2215415704" sldId="449"/>
        </pc:sldMkLst>
        <pc:spChg chg="mod">
          <ac:chgData name="Chad Williams" userId="618f96a3-8672-4e43-ae03-eeed93bb7387" providerId="ADAL" clId="{DFF2BB08-185E-495B-B2A0-BE0942C7B81E}" dt="2026-07-21T16:49:57.864" v="634" actId="207"/>
          <ac:spMkLst>
            <pc:docMk/>
            <pc:sldMk cId="2215415704" sldId="449"/>
            <ac:spMk id="20" creationId="{E8C9C169-BA78-C6A3-BB53-65935CDA001C}"/>
          </ac:spMkLst>
        </pc:spChg>
      </pc:sldChg>
      <pc:sldChg chg="modSp add mod">
        <pc:chgData name="Chad Williams" userId="618f96a3-8672-4e43-ae03-eeed93bb7387" providerId="ADAL" clId="{DFF2BB08-185E-495B-B2A0-BE0942C7B81E}" dt="2026-07-21T16:50:16.430" v="637" actId="207"/>
        <pc:sldMkLst>
          <pc:docMk/>
          <pc:sldMk cId="431630655" sldId="450"/>
        </pc:sldMkLst>
        <pc:spChg chg="mod">
          <ac:chgData name="Chad Williams" userId="618f96a3-8672-4e43-ae03-eeed93bb7387" providerId="ADAL" clId="{DFF2BB08-185E-495B-B2A0-BE0942C7B81E}" dt="2026-07-21T16:50:16.430" v="637" actId="207"/>
          <ac:spMkLst>
            <pc:docMk/>
            <pc:sldMk cId="431630655" sldId="450"/>
            <ac:spMk id="20" creationId="{CD566067-4D08-D498-7443-94EBE1D86AF0}"/>
          </ac:spMkLst>
        </pc:spChg>
      </pc:sldChg>
      <pc:sldChg chg="modSp add mod">
        <pc:chgData name="Chad Williams" userId="618f96a3-8672-4e43-ae03-eeed93bb7387" providerId="ADAL" clId="{DFF2BB08-185E-495B-B2A0-BE0942C7B81E}" dt="2026-07-21T16:50:25.839" v="640" actId="207"/>
        <pc:sldMkLst>
          <pc:docMk/>
          <pc:sldMk cId="565123831" sldId="451"/>
        </pc:sldMkLst>
        <pc:spChg chg="mod">
          <ac:chgData name="Chad Williams" userId="618f96a3-8672-4e43-ae03-eeed93bb7387" providerId="ADAL" clId="{DFF2BB08-185E-495B-B2A0-BE0942C7B81E}" dt="2026-07-21T16:50:25.839" v="640" actId="207"/>
          <ac:spMkLst>
            <pc:docMk/>
            <pc:sldMk cId="565123831" sldId="451"/>
            <ac:spMk id="20" creationId="{AF86FBB2-26FA-B339-FA6C-625FE14E41E6}"/>
          </ac:spMkLst>
        </pc:spChg>
      </pc:sldChg>
      <pc:sldChg chg="modSp add mod">
        <pc:chgData name="Chad Williams" userId="618f96a3-8672-4e43-ae03-eeed93bb7387" providerId="ADAL" clId="{DFF2BB08-185E-495B-B2A0-BE0942C7B81E}" dt="2026-07-21T16:50:36.290" v="643" actId="207"/>
        <pc:sldMkLst>
          <pc:docMk/>
          <pc:sldMk cId="3740870418" sldId="452"/>
        </pc:sldMkLst>
        <pc:spChg chg="mod">
          <ac:chgData name="Chad Williams" userId="618f96a3-8672-4e43-ae03-eeed93bb7387" providerId="ADAL" clId="{DFF2BB08-185E-495B-B2A0-BE0942C7B81E}" dt="2026-07-21T16:50:36.290" v="643" actId="207"/>
          <ac:spMkLst>
            <pc:docMk/>
            <pc:sldMk cId="3740870418" sldId="452"/>
            <ac:spMk id="20" creationId="{0ECFD531-4573-2AA3-6B5C-0996E4DFFDBF}"/>
          </ac:spMkLst>
        </pc:spChg>
      </pc:sldChg>
      <pc:sldChg chg="modSp add mod modAnim">
        <pc:chgData name="Chad Williams" userId="618f96a3-8672-4e43-ae03-eeed93bb7387" providerId="ADAL" clId="{DFF2BB08-185E-495B-B2A0-BE0942C7B81E}" dt="2026-07-21T18:30:32.308" v="1575" actId="113"/>
        <pc:sldMkLst>
          <pc:docMk/>
          <pc:sldMk cId="2857781204" sldId="453"/>
        </pc:sldMkLst>
        <pc:spChg chg="mod">
          <ac:chgData name="Chad Williams" userId="618f96a3-8672-4e43-ae03-eeed93bb7387" providerId="ADAL" clId="{DFF2BB08-185E-495B-B2A0-BE0942C7B81E}" dt="2026-07-21T18:30:32.308" v="1575" actId="113"/>
          <ac:spMkLst>
            <pc:docMk/>
            <pc:sldMk cId="2857781204" sldId="453"/>
            <ac:spMk id="3" creationId="{E5B9CB58-A2B4-C4A6-8F98-6F65203DFC3D}"/>
          </ac:spMkLst>
        </pc:spChg>
      </pc:sldChg>
      <pc:sldChg chg="modSp add mod modAnim">
        <pc:chgData name="Chad Williams" userId="618f96a3-8672-4e43-ae03-eeed93bb7387" providerId="ADAL" clId="{DFF2BB08-185E-495B-B2A0-BE0942C7B81E}" dt="2026-07-23T19:12:23.375" v="4034"/>
        <pc:sldMkLst>
          <pc:docMk/>
          <pc:sldMk cId="636613638" sldId="454"/>
        </pc:sldMkLst>
        <pc:spChg chg="mod">
          <ac:chgData name="Chad Williams" userId="618f96a3-8672-4e43-ae03-eeed93bb7387" providerId="ADAL" clId="{DFF2BB08-185E-495B-B2A0-BE0942C7B81E}" dt="2026-07-23T19:12:23.375" v="4034"/>
          <ac:spMkLst>
            <pc:docMk/>
            <pc:sldMk cId="636613638" sldId="454"/>
            <ac:spMk id="3" creationId="{A454B2B8-C569-D3BB-29DD-A7327FF654C4}"/>
          </ac:spMkLst>
        </pc:spChg>
      </pc:sldChg>
      <pc:sldChg chg="addSp modSp add del mod modAnim">
        <pc:chgData name="Chad Williams" userId="618f96a3-8672-4e43-ae03-eeed93bb7387" providerId="ADAL" clId="{DFF2BB08-185E-495B-B2A0-BE0942C7B81E}" dt="2026-08-20T20:49:11.593" v="4258" actId="47"/>
        <pc:sldMkLst>
          <pc:docMk/>
          <pc:sldMk cId="3452734524" sldId="455"/>
        </pc:sldMkLst>
      </pc:sldChg>
      <pc:sldChg chg="addSp delSp modSp add mod modAnim">
        <pc:chgData name="Chad Williams" userId="618f96a3-8672-4e43-ae03-eeed93bb7387" providerId="ADAL" clId="{DFF2BB08-185E-495B-B2A0-BE0942C7B81E}" dt="2026-07-21T19:12:50.295" v="2501" actId="1076"/>
        <pc:sldMkLst>
          <pc:docMk/>
          <pc:sldMk cId="3103613174" sldId="456"/>
        </pc:sldMkLst>
        <pc:spChg chg="mod">
          <ac:chgData name="Chad Williams" userId="618f96a3-8672-4e43-ae03-eeed93bb7387" providerId="ADAL" clId="{DFF2BB08-185E-495B-B2A0-BE0942C7B81E}" dt="2026-07-21T19:07:38.355" v="2321" actId="20577"/>
          <ac:spMkLst>
            <pc:docMk/>
            <pc:sldMk cId="3103613174" sldId="456"/>
            <ac:spMk id="3" creationId="{FFE145AE-90F5-E781-B891-3E14ED1BC143}"/>
          </ac:spMkLst>
        </pc:spChg>
        <pc:spChg chg="add mod">
          <ac:chgData name="Chad Williams" userId="618f96a3-8672-4e43-ae03-eeed93bb7387" providerId="ADAL" clId="{DFF2BB08-185E-495B-B2A0-BE0942C7B81E}" dt="2026-07-21T19:12:38.567" v="2500" actId="1036"/>
          <ac:spMkLst>
            <pc:docMk/>
            <pc:sldMk cId="3103613174" sldId="456"/>
            <ac:spMk id="5" creationId="{9D61E91E-F278-E58A-8C71-222C99691B84}"/>
          </ac:spMkLst>
        </pc:spChg>
        <pc:spChg chg="add mod">
          <ac:chgData name="Chad Williams" userId="618f96a3-8672-4e43-ae03-eeed93bb7387" providerId="ADAL" clId="{DFF2BB08-185E-495B-B2A0-BE0942C7B81E}" dt="2026-07-21T19:12:50.295" v="2501" actId="1076"/>
          <ac:spMkLst>
            <pc:docMk/>
            <pc:sldMk cId="3103613174" sldId="456"/>
            <ac:spMk id="6" creationId="{CF29BBAA-12EB-E0C8-D554-D1E8A63F281F}"/>
          </ac:spMkLst>
        </pc:spChg>
        <pc:spChg chg="add mod">
          <ac:chgData name="Chad Williams" userId="618f96a3-8672-4e43-ae03-eeed93bb7387" providerId="ADAL" clId="{DFF2BB08-185E-495B-B2A0-BE0942C7B81E}" dt="2026-07-21T19:12:08.069" v="2484"/>
          <ac:spMkLst>
            <pc:docMk/>
            <pc:sldMk cId="3103613174" sldId="456"/>
            <ac:spMk id="7" creationId="{4ADA3148-D8BD-CF14-704A-6F3F6DE5A18A}"/>
          </ac:spMkLst>
        </pc:spChg>
        <pc:spChg chg="add mod">
          <ac:chgData name="Chad Williams" userId="618f96a3-8672-4e43-ae03-eeed93bb7387" providerId="ADAL" clId="{DFF2BB08-185E-495B-B2A0-BE0942C7B81E}" dt="2026-07-21T19:12:08.069" v="2484"/>
          <ac:spMkLst>
            <pc:docMk/>
            <pc:sldMk cId="3103613174" sldId="456"/>
            <ac:spMk id="8" creationId="{4D6EFBCA-49A7-96F7-7418-9D51ABEF5C4B}"/>
          </ac:spMkLst>
        </pc:spChg>
        <pc:spChg chg="add mod">
          <ac:chgData name="Chad Williams" userId="618f96a3-8672-4e43-ae03-eeed93bb7387" providerId="ADAL" clId="{DFF2BB08-185E-495B-B2A0-BE0942C7B81E}" dt="2026-07-21T19:12:08.069" v="2484"/>
          <ac:spMkLst>
            <pc:docMk/>
            <pc:sldMk cId="3103613174" sldId="456"/>
            <ac:spMk id="9" creationId="{543CFBDD-449E-D29E-165F-9F43F6E0EFE6}"/>
          </ac:spMkLst>
        </pc:spChg>
        <pc:spChg chg="add mod">
          <ac:chgData name="Chad Williams" userId="618f96a3-8672-4e43-ae03-eeed93bb7387" providerId="ADAL" clId="{DFF2BB08-185E-495B-B2A0-BE0942C7B81E}" dt="2026-07-21T19:12:08.069" v="2484"/>
          <ac:spMkLst>
            <pc:docMk/>
            <pc:sldMk cId="3103613174" sldId="456"/>
            <ac:spMk id="10" creationId="{DB9DF20F-F26B-863B-9868-844848E6B892}"/>
          </ac:spMkLst>
        </pc:spChg>
        <pc:picChg chg="add mod">
          <ac:chgData name="Chad Williams" userId="618f96a3-8672-4e43-ae03-eeed93bb7387" providerId="ADAL" clId="{DFF2BB08-185E-495B-B2A0-BE0942C7B81E}" dt="2026-07-21T19:12:08.069" v="2484"/>
          <ac:picMkLst>
            <pc:docMk/>
            <pc:sldMk cId="3103613174" sldId="456"/>
            <ac:picMk id="4" creationId="{CDB8382C-ECEA-CEB6-CFE7-918B8BDEB84E}"/>
          </ac:picMkLst>
        </pc:picChg>
        <pc:picChg chg="add mod">
          <ac:chgData name="Chad Williams" userId="618f96a3-8672-4e43-ae03-eeed93bb7387" providerId="ADAL" clId="{DFF2BB08-185E-495B-B2A0-BE0942C7B81E}" dt="2026-07-21T19:12:24.460" v="2488" actId="18131"/>
          <ac:picMkLst>
            <pc:docMk/>
            <pc:sldMk cId="3103613174" sldId="456"/>
            <ac:picMk id="12" creationId="{83D67830-9631-4EC0-8095-616BBB79AAEB}"/>
          </ac:picMkLst>
        </pc:picChg>
      </pc:sldChg>
      <pc:sldChg chg="addSp delSp modSp add mod modAnim">
        <pc:chgData name="Chad Williams" userId="618f96a3-8672-4e43-ae03-eeed93bb7387" providerId="ADAL" clId="{DFF2BB08-185E-495B-B2A0-BE0942C7B81E}" dt="2026-08-20T20:36:07.150" v="4251" actId="20577"/>
        <pc:sldMkLst>
          <pc:docMk/>
          <pc:sldMk cId="2251785767" sldId="457"/>
        </pc:sldMkLst>
        <pc:spChg chg="mod">
          <ac:chgData name="Chad Williams" userId="618f96a3-8672-4e43-ae03-eeed93bb7387" providerId="ADAL" clId="{DFF2BB08-185E-495B-B2A0-BE0942C7B81E}" dt="2026-08-20T20:36:07.150" v="4251" actId="20577"/>
          <ac:spMkLst>
            <pc:docMk/>
            <pc:sldMk cId="2251785767" sldId="457"/>
            <ac:spMk id="3" creationId="{C6A5EC09-2CE6-F4F2-D4EF-0CCFA9AD1277}"/>
          </ac:spMkLst>
        </pc:spChg>
        <pc:spChg chg="add mod">
          <ac:chgData name="Chad Williams" userId="618f96a3-8672-4e43-ae03-eeed93bb7387" providerId="ADAL" clId="{DFF2BB08-185E-495B-B2A0-BE0942C7B81E}" dt="2026-07-21T19:23:27.502" v="2644" actId="1076"/>
          <ac:spMkLst>
            <pc:docMk/>
            <pc:sldMk cId="2251785767" sldId="457"/>
            <ac:spMk id="11" creationId="{00DD0FD1-AF2F-7244-2504-9B2BBA1C302F}"/>
          </ac:spMkLst>
        </pc:spChg>
        <pc:spChg chg="add mod">
          <ac:chgData name="Chad Williams" userId="618f96a3-8672-4e43-ae03-eeed93bb7387" providerId="ADAL" clId="{DFF2BB08-185E-495B-B2A0-BE0942C7B81E}" dt="2026-08-20T20:35:32.221" v="4226" actId="1036"/>
          <ac:spMkLst>
            <pc:docMk/>
            <pc:sldMk cId="2251785767" sldId="457"/>
            <ac:spMk id="14" creationId="{90C4AC4B-616B-5C89-66C2-97EA4FF5D082}"/>
          </ac:spMkLst>
        </pc:spChg>
        <pc:spChg chg="add mod">
          <ac:chgData name="Chad Williams" userId="618f96a3-8672-4e43-ae03-eeed93bb7387" providerId="ADAL" clId="{DFF2BB08-185E-495B-B2A0-BE0942C7B81E}" dt="2026-08-20T20:35:23.323" v="4219" actId="1038"/>
          <ac:spMkLst>
            <pc:docMk/>
            <pc:sldMk cId="2251785767" sldId="457"/>
            <ac:spMk id="21" creationId="{C4E40F64-6DE8-E7C8-615A-5407A6397C21}"/>
          </ac:spMkLst>
        </pc:spChg>
        <pc:grpChg chg="add del mod">
          <ac:chgData name="Chad Williams" userId="618f96a3-8672-4e43-ae03-eeed93bb7387" providerId="ADAL" clId="{DFF2BB08-185E-495B-B2A0-BE0942C7B81E}" dt="2026-08-20T20:34:49.777" v="4188" actId="478"/>
          <ac:grpSpMkLst>
            <pc:docMk/>
            <pc:sldMk cId="2251785767" sldId="457"/>
            <ac:grpSpMk id="15" creationId="{132156AC-430C-1BE8-F70A-97226EE35910}"/>
          </ac:grpSpMkLst>
        </pc:grpChg>
        <pc:grpChg chg="add mod ord">
          <ac:chgData name="Chad Williams" userId="618f96a3-8672-4e43-ae03-eeed93bb7387" providerId="ADAL" clId="{DFF2BB08-185E-495B-B2A0-BE0942C7B81E}" dt="2026-08-20T20:35:12.660" v="4195" actId="1076"/>
          <ac:grpSpMkLst>
            <pc:docMk/>
            <pc:sldMk cId="2251785767" sldId="457"/>
            <ac:grpSpMk id="16" creationId="{6DE77BE2-6B87-EC10-8D11-765F6C8D023B}"/>
          </ac:grpSpMkLst>
        </pc:grpChg>
        <pc:picChg chg="add mod modCrop">
          <ac:chgData name="Chad Williams" userId="618f96a3-8672-4e43-ae03-eeed93bb7387" providerId="ADAL" clId="{DFF2BB08-185E-495B-B2A0-BE0942C7B81E}" dt="2026-08-20T20:34:56.763" v="4191" actId="164"/>
          <ac:picMkLst>
            <pc:docMk/>
            <pc:sldMk cId="2251785767" sldId="457"/>
            <ac:picMk id="6" creationId="{B0FC8CD7-D596-CD00-F040-9B741E6091A0}"/>
          </ac:picMkLst>
        </pc:picChg>
        <pc:picChg chg="del mod topLvl">
          <ac:chgData name="Chad Williams" userId="618f96a3-8672-4e43-ae03-eeed93bb7387" providerId="ADAL" clId="{DFF2BB08-185E-495B-B2A0-BE0942C7B81E}" dt="2026-08-20T20:35:07.928" v="4194" actId="478"/>
          <ac:picMkLst>
            <pc:docMk/>
            <pc:sldMk cId="2251785767" sldId="457"/>
            <ac:picMk id="7" creationId="{A9CF9666-0A0D-1019-142A-8EE8FAB47926}"/>
          </ac:picMkLst>
        </pc:picChg>
        <pc:picChg chg="add mod topLvl modCrop">
          <ac:chgData name="Chad Williams" userId="618f96a3-8672-4e43-ae03-eeed93bb7387" providerId="ADAL" clId="{DFF2BB08-185E-495B-B2A0-BE0942C7B81E}" dt="2026-08-20T20:34:56.763" v="4191" actId="164"/>
          <ac:picMkLst>
            <pc:docMk/>
            <pc:sldMk cId="2251785767" sldId="457"/>
            <ac:picMk id="9" creationId="{F5F12893-F904-C617-D804-E1A14D519DB2}"/>
          </ac:picMkLst>
        </pc:picChg>
        <pc:picChg chg="add del mod topLvl modCrop">
          <ac:chgData name="Chad Williams" userId="618f96a3-8672-4e43-ae03-eeed93bb7387" providerId="ADAL" clId="{DFF2BB08-185E-495B-B2A0-BE0942C7B81E}" dt="2026-08-20T20:34:49.777" v="4188" actId="478"/>
          <ac:picMkLst>
            <pc:docMk/>
            <pc:sldMk cId="2251785767" sldId="457"/>
            <ac:picMk id="10" creationId="{69D830B1-2DEB-42AA-F0D7-115D608CD5B6}"/>
          </ac:picMkLst>
        </pc:picChg>
        <pc:picChg chg="add ord">
          <ac:chgData name="Chad Williams" userId="618f96a3-8672-4e43-ae03-eeed93bb7387" providerId="ADAL" clId="{DFF2BB08-185E-495B-B2A0-BE0942C7B81E}" dt="2026-07-21T19:28:55.435" v="2740" actId="167"/>
          <ac:picMkLst>
            <pc:docMk/>
            <pc:sldMk cId="2251785767" sldId="457"/>
            <ac:picMk id="23" creationId="{AE277025-E549-5CC3-01CA-1C2D50857D8D}"/>
          </ac:picMkLst>
        </pc:picChg>
        <pc:cxnChg chg="add mod">
          <ac:chgData name="Chad Williams" userId="618f96a3-8672-4e43-ae03-eeed93bb7387" providerId="ADAL" clId="{DFF2BB08-185E-495B-B2A0-BE0942C7B81E}" dt="2026-08-20T20:35:29.740" v="4220" actId="14100"/>
          <ac:cxnSpMkLst>
            <pc:docMk/>
            <pc:sldMk cId="2251785767" sldId="457"/>
            <ac:cxnSpMk id="12" creationId="{D9A3AD7E-3081-7BA6-3006-118871EDAD48}"/>
          </ac:cxnSpMkLst>
        </pc:cxnChg>
        <pc:cxnChg chg="add mod">
          <ac:chgData name="Chad Williams" userId="618f96a3-8672-4e43-ae03-eeed93bb7387" providerId="ADAL" clId="{DFF2BB08-185E-495B-B2A0-BE0942C7B81E}" dt="2026-08-20T20:35:36.760" v="4227" actId="14100"/>
          <ac:cxnSpMkLst>
            <pc:docMk/>
            <pc:sldMk cId="2251785767" sldId="457"/>
            <ac:cxnSpMk id="13" creationId="{F5614C85-0833-02BA-8605-74B43306427D}"/>
          </ac:cxnSpMkLst>
        </pc:cxnChg>
      </pc:sldChg>
      <pc:sldChg chg="modSp add">
        <pc:chgData name="Chad Williams" userId="618f96a3-8672-4e43-ae03-eeed93bb7387" providerId="ADAL" clId="{DFF2BB08-185E-495B-B2A0-BE0942C7B81E}" dt="2026-07-23T19:12:23.375" v="4034"/>
        <pc:sldMkLst>
          <pc:docMk/>
          <pc:sldMk cId="2555863280" sldId="458"/>
        </pc:sldMkLst>
        <pc:spChg chg="mod">
          <ac:chgData name="Chad Williams" userId="618f96a3-8672-4e43-ae03-eeed93bb7387" providerId="ADAL" clId="{DFF2BB08-185E-495B-B2A0-BE0942C7B81E}" dt="2026-07-23T19:12:23.375" v="4034"/>
          <ac:spMkLst>
            <pc:docMk/>
            <pc:sldMk cId="2555863280" sldId="458"/>
            <ac:spMk id="7" creationId="{B4CDFF18-C7D1-0507-8AA5-AB569E70F27D}"/>
          </ac:spMkLst>
        </pc:spChg>
      </pc:sldChg>
      <pc:sldChg chg="addSp delSp modSp add mod">
        <pc:chgData name="Chad Williams" userId="618f96a3-8672-4e43-ae03-eeed93bb7387" providerId="ADAL" clId="{DFF2BB08-185E-495B-B2A0-BE0942C7B81E}" dt="2026-08-17T19:36:08.588" v="4174" actId="167"/>
        <pc:sldMkLst>
          <pc:docMk/>
          <pc:sldMk cId="1927493404" sldId="465"/>
        </pc:sldMkLst>
        <pc:picChg chg="add mod ord">
          <ac:chgData name="Chad Williams" userId="618f96a3-8672-4e43-ae03-eeed93bb7387" providerId="ADAL" clId="{DFF2BB08-185E-495B-B2A0-BE0942C7B81E}" dt="2026-08-17T19:36:08.588" v="4174" actId="167"/>
          <ac:picMkLst>
            <pc:docMk/>
            <pc:sldMk cId="1927493404" sldId="465"/>
            <ac:picMk id="5" creationId="{81CD6204-308B-65DE-A472-2CCB44E5D331}"/>
          </ac:picMkLst>
        </pc:picChg>
      </pc:sldChg>
      <pc:sldChg chg="delSp add del mod">
        <pc:chgData name="Chad Williams" userId="618f96a3-8672-4e43-ae03-eeed93bb7387" providerId="ADAL" clId="{DFF2BB08-185E-495B-B2A0-BE0942C7B81E}" dt="2026-08-20T20:49:11.593" v="4258" actId="47"/>
        <pc:sldMkLst>
          <pc:docMk/>
          <pc:sldMk cId="2036482173" sldId="466"/>
        </pc:sldMkLst>
        <pc:grpChg chg="del">
          <ac:chgData name="Chad Williams" userId="618f96a3-8672-4e43-ae03-eeed93bb7387" providerId="ADAL" clId="{DFF2BB08-185E-495B-B2A0-BE0942C7B81E}" dt="2026-08-20T20:36:48.237" v="4253" actId="478"/>
          <ac:grpSpMkLst>
            <pc:docMk/>
            <pc:sldMk cId="2036482173" sldId="466"/>
            <ac:grpSpMk id="4" creationId="{843ABB6B-2A89-5002-3397-F641AE188D95}"/>
          </ac:grpSpMkLst>
        </pc:grpChg>
      </pc:sldChg>
      <pc:sldChg chg="add">
        <pc:chgData name="Chad Williams" userId="618f96a3-8672-4e43-ae03-eeed93bb7387" providerId="ADAL" clId="{DFF2BB08-185E-495B-B2A0-BE0942C7B81E}" dt="2026-08-20T20:49:03.669" v="4257"/>
        <pc:sldMkLst>
          <pc:docMk/>
          <pc:sldMk cId="2139788974" sldId="467"/>
        </pc:sldMkLst>
      </pc:sldChg>
      <pc:sldChg chg="add">
        <pc:chgData name="Chad Williams" userId="618f96a3-8672-4e43-ae03-eeed93bb7387" providerId="ADAL" clId="{DFF2BB08-185E-495B-B2A0-BE0942C7B81E}" dt="2026-08-20T20:49:03.669" v="4257"/>
        <pc:sldMkLst>
          <pc:docMk/>
          <pc:sldMk cId="895116319" sldId="468"/>
        </pc:sldMkLst>
      </pc:sldChg>
      <pc:sldChg chg="add">
        <pc:chgData name="Chad Williams" userId="618f96a3-8672-4e43-ae03-eeed93bb7387" providerId="ADAL" clId="{DFF2BB08-185E-495B-B2A0-BE0942C7B81E}" dt="2026-08-20T20:49:03.669" v="4257"/>
        <pc:sldMkLst>
          <pc:docMk/>
          <pc:sldMk cId="3975050339" sldId="469"/>
        </pc:sldMkLst>
      </pc:sldChg>
      <pc:sldChg chg="add">
        <pc:chgData name="Chad Williams" userId="618f96a3-8672-4e43-ae03-eeed93bb7387" providerId="ADAL" clId="{DFF2BB08-185E-495B-B2A0-BE0942C7B81E}" dt="2026-08-20T20:49:03.669" v="4257"/>
        <pc:sldMkLst>
          <pc:docMk/>
          <pc:sldMk cId="185178453" sldId="470"/>
        </pc:sldMkLst>
      </pc:sldChg>
      <pc:sldChg chg="add">
        <pc:chgData name="Chad Williams" userId="618f96a3-8672-4e43-ae03-eeed93bb7387" providerId="ADAL" clId="{DFF2BB08-185E-495B-B2A0-BE0942C7B81E}" dt="2026-08-20T20:49:03.669" v="4257"/>
        <pc:sldMkLst>
          <pc:docMk/>
          <pc:sldMk cId="156490161" sldId="525"/>
        </pc:sldMkLst>
      </pc:sldChg>
      <pc:sldChg chg="add">
        <pc:chgData name="Chad Williams" userId="618f96a3-8672-4e43-ae03-eeed93bb7387" providerId="ADAL" clId="{DFF2BB08-185E-495B-B2A0-BE0942C7B81E}" dt="2026-08-20T20:49:03.669" v="4257"/>
        <pc:sldMkLst>
          <pc:docMk/>
          <pc:sldMk cId="871598263" sldId="526"/>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E21A4-30BB-D84D-9624-576C95B5C41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00FE4AB-24E8-0A40-9AE8-6E1C7B49F0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2E4CDE5-A01B-E842-B0E2-BDF38B195E04}"/>
              </a:ext>
            </a:extLst>
          </p:cNvPr>
          <p:cNvSpPr>
            <a:spLocks noGrp="1"/>
          </p:cNvSpPr>
          <p:nvPr>
            <p:ph type="dt" sz="half" idx="10"/>
          </p:nvPr>
        </p:nvSpPr>
        <p:spPr/>
        <p:txBody>
          <a:bodyPr/>
          <a:lstStyle/>
          <a:p>
            <a:fld id="{F547FFA1-8504-9D40-8F95-D251061DDF83}" type="datetimeFigureOut">
              <a:rPr lang="en-US" smtClean="0"/>
              <a:t>8/20/2026</a:t>
            </a:fld>
            <a:endParaRPr lang="en-US"/>
          </a:p>
        </p:txBody>
      </p:sp>
      <p:sp>
        <p:nvSpPr>
          <p:cNvPr id="5" name="Footer Placeholder 4">
            <a:extLst>
              <a:ext uri="{FF2B5EF4-FFF2-40B4-BE49-F238E27FC236}">
                <a16:creationId xmlns:a16="http://schemas.microsoft.com/office/drawing/2014/main" id="{7C3C2365-623D-FB4B-8AB7-769A68AB2B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A86696-57B2-9C47-BB70-900F8E3C9B72}"/>
              </a:ext>
            </a:extLst>
          </p:cNvPr>
          <p:cNvSpPr>
            <a:spLocks noGrp="1"/>
          </p:cNvSpPr>
          <p:nvPr>
            <p:ph type="sldNum" sz="quarter" idx="12"/>
          </p:nvPr>
        </p:nvSpPr>
        <p:spPr/>
        <p:txBody>
          <a:bodyPr/>
          <a:lstStyle/>
          <a:p>
            <a:fld id="{E220B7CA-72CC-5445-92CB-F91254D4681A}" type="slidenum">
              <a:rPr lang="en-US" smtClean="0"/>
              <a:t>‹#›</a:t>
            </a:fld>
            <a:endParaRPr lang="en-US"/>
          </a:p>
        </p:txBody>
      </p:sp>
    </p:spTree>
    <p:extLst>
      <p:ext uri="{BB962C8B-B14F-4D97-AF65-F5344CB8AC3E}">
        <p14:creationId xmlns:p14="http://schemas.microsoft.com/office/powerpoint/2010/main" val="14714769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08F0F-A6E6-A94B-96BE-0492F447525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D8CA93-6A64-FA47-8AA0-F0BD828DAFB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975090-A415-EF4B-9339-F3F7C65EED34}"/>
              </a:ext>
            </a:extLst>
          </p:cNvPr>
          <p:cNvSpPr>
            <a:spLocks noGrp="1"/>
          </p:cNvSpPr>
          <p:nvPr>
            <p:ph type="dt" sz="half" idx="10"/>
          </p:nvPr>
        </p:nvSpPr>
        <p:spPr/>
        <p:txBody>
          <a:bodyPr/>
          <a:lstStyle/>
          <a:p>
            <a:fld id="{F547FFA1-8504-9D40-8F95-D251061DDF83}" type="datetimeFigureOut">
              <a:rPr lang="en-US" smtClean="0"/>
              <a:t>8/20/2026</a:t>
            </a:fld>
            <a:endParaRPr lang="en-US"/>
          </a:p>
        </p:txBody>
      </p:sp>
      <p:sp>
        <p:nvSpPr>
          <p:cNvPr id="5" name="Footer Placeholder 4">
            <a:extLst>
              <a:ext uri="{FF2B5EF4-FFF2-40B4-BE49-F238E27FC236}">
                <a16:creationId xmlns:a16="http://schemas.microsoft.com/office/drawing/2014/main" id="{DE5D7A8E-E996-5F4A-8C12-0A3A7BFB0B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EEEA12-3476-E948-AC83-98FA98529E74}"/>
              </a:ext>
            </a:extLst>
          </p:cNvPr>
          <p:cNvSpPr>
            <a:spLocks noGrp="1"/>
          </p:cNvSpPr>
          <p:nvPr>
            <p:ph type="sldNum" sz="quarter" idx="12"/>
          </p:nvPr>
        </p:nvSpPr>
        <p:spPr/>
        <p:txBody>
          <a:bodyPr/>
          <a:lstStyle/>
          <a:p>
            <a:fld id="{E220B7CA-72CC-5445-92CB-F91254D4681A}" type="slidenum">
              <a:rPr lang="en-US" smtClean="0"/>
              <a:t>‹#›</a:t>
            </a:fld>
            <a:endParaRPr lang="en-US"/>
          </a:p>
        </p:txBody>
      </p:sp>
    </p:spTree>
    <p:extLst>
      <p:ext uri="{BB962C8B-B14F-4D97-AF65-F5344CB8AC3E}">
        <p14:creationId xmlns:p14="http://schemas.microsoft.com/office/powerpoint/2010/main" val="41090266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E7B3D-75B4-7B4E-8B4F-F8B040CE4E3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93656B2-DE23-8C44-83CB-2573FD0EE57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5D8D425-BCA5-484D-ACB7-006717C39C85}"/>
              </a:ext>
            </a:extLst>
          </p:cNvPr>
          <p:cNvSpPr>
            <a:spLocks noGrp="1"/>
          </p:cNvSpPr>
          <p:nvPr>
            <p:ph type="dt" sz="half" idx="10"/>
          </p:nvPr>
        </p:nvSpPr>
        <p:spPr/>
        <p:txBody>
          <a:bodyPr/>
          <a:lstStyle/>
          <a:p>
            <a:fld id="{F547FFA1-8504-9D40-8F95-D251061DDF83}" type="datetimeFigureOut">
              <a:rPr lang="en-US" smtClean="0"/>
              <a:t>8/20/2026</a:t>
            </a:fld>
            <a:endParaRPr lang="en-US"/>
          </a:p>
        </p:txBody>
      </p:sp>
      <p:sp>
        <p:nvSpPr>
          <p:cNvPr id="5" name="Footer Placeholder 4">
            <a:extLst>
              <a:ext uri="{FF2B5EF4-FFF2-40B4-BE49-F238E27FC236}">
                <a16:creationId xmlns:a16="http://schemas.microsoft.com/office/drawing/2014/main" id="{6123CB64-01C5-4146-B318-CD0945EB01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333571-4F78-904D-A746-C030452EDA12}"/>
              </a:ext>
            </a:extLst>
          </p:cNvPr>
          <p:cNvSpPr>
            <a:spLocks noGrp="1"/>
          </p:cNvSpPr>
          <p:nvPr>
            <p:ph type="sldNum" sz="quarter" idx="12"/>
          </p:nvPr>
        </p:nvSpPr>
        <p:spPr/>
        <p:txBody>
          <a:bodyPr/>
          <a:lstStyle/>
          <a:p>
            <a:fld id="{E220B7CA-72CC-5445-92CB-F91254D4681A}" type="slidenum">
              <a:rPr lang="en-US" smtClean="0"/>
              <a:t>‹#›</a:t>
            </a:fld>
            <a:endParaRPr lang="en-US"/>
          </a:p>
        </p:txBody>
      </p:sp>
    </p:spTree>
    <p:extLst>
      <p:ext uri="{BB962C8B-B14F-4D97-AF65-F5344CB8AC3E}">
        <p14:creationId xmlns:p14="http://schemas.microsoft.com/office/powerpoint/2010/main" val="28623181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4D2EC-8B5D-1741-9D0C-27C06458353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B8A908-D215-A345-81F8-5E006C32ECD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68EAC4B-7C60-6743-A785-BBC389F4271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9FA296D-2F66-2B4B-A5FA-1B260BC1382F}"/>
              </a:ext>
            </a:extLst>
          </p:cNvPr>
          <p:cNvSpPr>
            <a:spLocks noGrp="1"/>
          </p:cNvSpPr>
          <p:nvPr>
            <p:ph type="dt" sz="half" idx="10"/>
          </p:nvPr>
        </p:nvSpPr>
        <p:spPr/>
        <p:txBody>
          <a:bodyPr/>
          <a:lstStyle/>
          <a:p>
            <a:fld id="{F547FFA1-8504-9D40-8F95-D251061DDF83}" type="datetimeFigureOut">
              <a:rPr lang="en-US" smtClean="0"/>
              <a:t>8/20/2026</a:t>
            </a:fld>
            <a:endParaRPr lang="en-US"/>
          </a:p>
        </p:txBody>
      </p:sp>
      <p:sp>
        <p:nvSpPr>
          <p:cNvPr id="6" name="Footer Placeholder 5">
            <a:extLst>
              <a:ext uri="{FF2B5EF4-FFF2-40B4-BE49-F238E27FC236}">
                <a16:creationId xmlns:a16="http://schemas.microsoft.com/office/drawing/2014/main" id="{3A359DD6-D2F4-C548-AC54-672581F036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2126ECA-6E13-9F4E-A23C-A324357D0F43}"/>
              </a:ext>
            </a:extLst>
          </p:cNvPr>
          <p:cNvSpPr>
            <a:spLocks noGrp="1"/>
          </p:cNvSpPr>
          <p:nvPr>
            <p:ph type="sldNum" sz="quarter" idx="12"/>
          </p:nvPr>
        </p:nvSpPr>
        <p:spPr/>
        <p:txBody>
          <a:bodyPr/>
          <a:lstStyle/>
          <a:p>
            <a:fld id="{E220B7CA-72CC-5445-92CB-F91254D4681A}" type="slidenum">
              <a:rPr lang="en-US" smtClean="0"/>
              <a:t>‹#›</a:t>
            </a:fld>
            <a:endParaRPr lang="en-US"/>
          </a:p>
        </p:txBody>
      </p:sp>
    </p:spTree>
    <p:extLst>
      <p:ext uri="{BB962C8B-B14F-4D97-AF65-F5344CB8AC3E}">
        <p14:creationId xmlns:p14="http://schemas.microsoft.com/office/powerpoint/2010/main" val="23326832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17E14-F596-6248-93B7-F6362777B31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1C5ED79-E6F6-4941-B880-69FF6928638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191E395-D625-CF41-B08E-FD16F2CD34B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45044DE-B069-E14D-B0EE-ABE6D87BD5F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EBF37FE-5651-CA46-9F70-E285C9EC0E6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5D02925-6C09-D44B-8CB7-68E3195FFD0E}"/>
              </a:ext>
            </a:extLst>
          </p:cNvPr>
          <p:cNvSpPr>
            <a:spLocks noGrp="1"/>
          </p:cNvSpPr>
          <p:nvPr>
            <p:ph type="dt" sz="half" idx="10"/>
          </p:nvPr>
        </p:nvSpPr>
        <p:spPr/>
        <p:txBody>
          <a:bodyPr/>
          <a:lstStyle/>
          <a:p>
            <a:fld id="{F547FFA1-8504-9D40-8F95-D251061DDF83}" type="datetimeFigureOut">
              <a:rPr lang="en-US" smtClean="0"/>
              <a:t>8/20/2026</a:t>
            </a:fld>
            <a:endParaRPr lang="en-US"/>
          </a:p>
        </p:txBody>
      </p:sp>
      <p:sp>
        <p:nvSpPr>
          <p:cNvPr id="8" name="Footer Placeholder 7">
            <a:extLst>
              <a:ext uri="{FF2B5EF4-FFF2-40B4-BE49-F238E27FC236}">
                <a16:creationId xmlns:a16="http://schemas.microsoft.com/office/drawing/2014/main" id="{B0905934-4876-6B4E-99AF-C4A2EA90099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D15ED9F-8ABA-024C-B060-2A587F208473}"/>
              </a:ext>
            </a:extLst>
          </p:cNvPr>
          <p:cNvSpPr>
            <a:spLocks noGrp="1"/>
          </p:cNvSpPr>
          <p:nvPr>
            <p:ph type="sldNum" sz="quarter" idx="12"/>
          </p:nvPr>
        </p:nvSpPr>
        <p:spPr/>
        <p:txBody>
          <a:bodyPr/>
          <a:lstStyle/>
          <a:p>
            <a:fld id="{E220B7CA-72CC-5445-92CB-F91254D4681A}" type="slidenum">
              <a:rPr lang="en-US" smtClean="0"/>
              <a:t>‹#›</a:t>
            </a:fld>
            <a:endParaRPr lang="en-US"/>
          </a:p>
        </p:txBody>
      </p:sp>
    </p:spTree>
    <p:extLst>
      <p:ext uri="{BB962C8B-B14F-4D97-AF65-F5344CB8AC3E}">
        <p14:creationId xmlns:p14="http://schemas.microsoft.com/office/powerpoint/2010/main" val="28737823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7D54F-C542-4B4C-9230-82AC8E99EC0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0743EC9-D0DD-6C47-90FA-733366D98256}"/>
              </a:ext>
            </a:extLst>
          </p:cNvPr>
          <p:cNvSpPr>
            <a:spLocks noGrp="1"/>
          </p:cNvSpPr>
          <p:nvPr>
            <p:ph type="dt" sz="half" idx="10"/>
          </p:nvPr>
        </p:nvSpPr>
        <p:spPr/>
        <p:txBody>
          <a:bodyPr/>
          <a:lstStyle/>
          <a:p>
            <a:fld id="{F547FFA1-8504-9D40-8F95-D251061DDF83}" type="datetimeFigureOut">
              <a:rPr lang="en-US" smtClean="0"/>
              <a:t>8/20/2026</a:t>
            </a:fld>
            <a:endParaRPr lang="en-US"/>
          </a:p>
        </p:txBody>
      </p:sp>
      <p:sp>
        <p:nvSpPr>
          <p:cNvPr id="4" name="Footer Placeholder 3">
            <a:extLst>
              <a:ext uri="{FF2B5EF4-FFF2-40B4-BE49-F238E27FC236}">
                <a16:creationId xmlns:a16="http://schemas.microsoft.com/office/drawing/2014/main" id="{E4A5DFD8-0630-294E-B0AC-2D7D57DBCE7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4673D01-F969-AD45-97AF-49ED902766B8}"/>
              </a:ext>
            </a:extLst>
          </p:cNvPr>
          <p:cNvSpPr>
            <a:spLocks noGrp="1"/>
          </p:cNvSpPr>
          <p:nvPr>
            <p:ph type="sldNum" sz="quarter" idx="12"/>
          </p:nvPr>
        </p:nvSpPr>
        <p:spPr/>
        <p:txBody>
          <a:bodyPr/>
          <a:lstStyle/>
          <a:p>
            <a:fld id="{E220B7CA-72CC-5445-92CB-F91254D4681A}" type="slidenum">
              <a:rPr lang="en-US" smtClean="0"/>
              <a:t>‹#›</a:t>
            </a:fld>
            <a:endParaRPr lang="en-US"/>
          </a:p>
        </p:txBody>
      </p:sp>
    </p:spTree>
    <p:extLst>
      <p:ext uri="{BB962C8B-B14F-4D97-AF65-F5344CB8AC3E}">
        <p14:creationId xmlns:p14="http://schemas.microsoft.com/office/powerpoint/2010/main" val="785291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6831964-5D28-AE4C-9C3B-3152F345D7F9}"/>
              </a:ext>
            </a:extLst>
          </p:cNvPr>
          <p:cNvSpPr>
            <a:spLocks noGrp="1"/>
          </p:cNvSpPr>
          <p:nvPr>
            <p:ph type="dt" sz="half" idx="10"/>
          </p:nvPr>
        </p:nvSpPr>
        <p:spPr/>
        <p:txBody>
          <a:bodyPr/>
          <a:lstStyle/>
          <a:p>
            <a:fld id="{F547FFA1-8504-9D40-8F95-D251061DDF83}" type="datetimeFigureOut">
              <a:rPr lang="en-US" smtClean="0"/>
              <a:t>8/20/2026</a:t>
            </a:fld>
            <a:endParaRPr lang="en-US"/>
          </a:p>
        </p:txBody>
      </p:sp>
      <p:sp>
        <p:nvSpPr>
          <p:cNvPr id="3" name="Footer Placeholder 2">
            <a:extLst>
              <a:ext uri="{FF2B5EF4-FFF2-40B4-BE49-F238E27FC236}">
                <a16:creationId xmlns:a16="http://schemas.microsoft.com/office/drawing/2014/main" id="{FF6B4487-1CC2-964A-BF71-205F4EEEEA0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FE79ED6-15A7-6040-9F41-86174E6D7838}"/>
              </a:ext>
            </a:extLst>
          </p:cNvPr>
          <p:cNvSpPr>
            <a:spLocks noGrp="1"/>
          </p:cNvSpPr>
          <p:nvPr>
            <p:ph type="sldNum" sz="quarter" idx="12"/>
          </p:nvPr>
        </p:nvSpPr>
        <p:spPr/>
        <p:txBody>
          <a:bodyPr/>
          <a:lstStyle/>
          <a:p>
            <a:fld id="{E220B7CA-72CC-5445-92CB-F91254D4681A}" type="slidenum">
              <a:rPr lang="en-US" smtClean="0"/>
              <a:t>‹#›</a:t>
            </a:fld>
            <a:endParaRPr lang="en-US"/>
          </a:p>
        </p:txBody>
      </p:sp>
    </p:spTree>
    <p:extLst>
      <p:ext uri="{BB962C8B-B14F-4D97-AF65-F5344CB8AC3E}">
        <p14:creationId xmlns:p14="http://schemas.microsoft.com/office/powerpoint/2010/main" val="24053297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36C5E-6826-2740-AC80-4B7BE19D92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5C35D83-D763-0648-B06B-9688C54720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AA6F309-7EC6-5F42-9E28-A33EFB521B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C03A1E-DFCA-7E4A-B997-FEBBDD294E23}"/>
              </a:ext>
            </a:extLst>
          </p:cNvPr>
          <p:cNvSpPr>
            <a:spLocks noGrp="1"/>
          </p:cNvSpPr>
          <p:nvPr>
            <p:ph type="dt" sz="half" idx="10"/>
          </p:nvPr>
        </p:nvSpPr>
        <p:spPr/>
        <p:txBody>
          <a:bodyPr/>
          <a:lstStyle/>
          <a:p>
            <a:fld id="{F547FFA1-8504-9D40-8F95-D251061DDF83}" type="datetimeFigureOut">
              <a:rPr lang="en-US" smtClean="0"/>
              <a:t>8/20/2026</a:t>
            </a:fld>
            <a:endParaRPr lang="en-US"/>
          </a:p>
        </p:txBody>
      </p:sp>
      <p:sp>
        <p:nvSpPr>
          <p:cNvPr id="6" name="Footer Placeholder 5">
            <a:extLst>
              <a:ext uri="{FF2B5EF4-FFF2-40B4-BE49-F238E27FC236}">
                <a16:creationId xmlns:a16="http://schemas.microsoft.com/office/drawing/2014/main" id="{7DEE05AB-3B43-024A-9A3A-17D892802C6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3F1E47-BBE7-7448-81B3-341EDEAE4D2C}"/>
              </a:ext>
            </a:extLst>
          </p:cNvPr>
          <p:cNvSpPr>
            <a:spLocks noGrp="1"/>
          </p:cNvSpPr>
          <p:nvPr>
            <p:ph type="sldNum" sz="quarter" idx="12"/>
          </p:nvPr>
        </p:nvSpPr>
        <p:spPr/>
        <p:txBody>
          <a:bodyPr/>
          <a:lstStyle/>
          <a:p>
            <a:fld id="{E220B7CA-72CC-5445-92CB-F91254D4681A}" type="slidenum">
              <a:rPr lang="en-US" smtClean="0"/>
              <a:t>‹#›</a:t>
            </a:fld>
            <a:endParaRPr lang="en-US"/>
          </a:p>
        </p:txBody>
      </p:sp>
    </p:spTree>
    <p:extLst>
      <p:ext uri="{BB962C8B-B14F-4D97-AF65-F5344CB8AC3E}">
        <p14:creationId xmlns:p14="http://schemas.microsoft.com/office/powerpoint/2010/main" val="18571726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A9A45-40A0-FC4F-9778-E31B8D8649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0B9B9D4-5756-0547-8446-A9F6B117AD3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2B90680-BE4F-9D4A-B1F9-F289A3DDF1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34FA9D-66FF-0D4A-B240-17AB265ED099}"/>
              </a:ext>
            </a:extLst>
          </p:cNvPr>
          <p:cNvSpPr>
            <a:spLocks noGrp="1"/>
          </p:cNvSpPr>
          <p:nvPr>
            <p:ph type="dt" sz="half" idx="10"/>
          </p:nvPr>
        </p:nvSpPr>
        <p:spPr/>
        <p:txBody>
          <a:bodyPr/>
          <a:lstStyle/>
          <a:p>
            <a:fld id="{F547FFA1-8504-9D40-8F95-D251061DDF83}" type="datetimeFigureOut">
              <a:rPr lang="en-US" smtClean="0"/>
              <a:t>8/20/2026</a:t>
            </a:fld>
            <a:endParaRPr lang="en-US"/>
          </a:p>
        </p:txBody>
      </p:sp>
      <p:sp>
        <p:nvSpPr>
          <p:cNvPr id="6" name="Footer Placeholder 5">
            <a:extLst>
              <a:ext uri="{FF2B5EF4-FFF2-40B4-BE49-F238E27FC236}">
                <a16:creationId xmlns:a16="http://schemas.microsoft.com/office/drawing/2014/main" id="{C2BE99E9-E5E9-0641-AEA5-A56F2B3566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7CD24B-7EB3-1D45-B99B-666C55326C8C}"/>
              </a:ext>
            </a:extLst>
          </p:cNvPr>
          <p:cNvSpPr>
            <a:spLocks noGrp="1"/>
          </p:cNvSpPr>
          <p:nvPr>
            <p:ph type="sldNum" sz="quarter" idx="12"/>
          </p:nvPr>
        </p:nvSpPr>
        <p:spPr/>
        <p:txBody>
          <a:bodyPr/>
          <a:lstStyle/>
          <a:p>
            <a:fld id="{E220B7CA-72CC-5445-92CB-F91254D4681A}" type="slidenum">
              <a:rPr lang="en-US" smtClean="0"/>
              <a:t>‹#›</a:t>
            </a:fld>
            <a:endParaRPr lang="en-US"/>
          </a:p>
        </p:txBody>
      </p:sp>
    </p:spTree>
    <p:extLst>
      <p:ext uri="{BB962C8B-B14F-4D97-AF65-F5344CB8AC3E}">
        <p14:creationId xmlns:p14="http://schemas.microsoft.com/office/powerpoint/2010/main" val="16439746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CAD5E-F454-CE4E-B2BB-2590546225F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0C6208D-7421-1C4B-AF22-0D43AF5F14F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68772F-5DDB-2740-B9D6-C2ACBB1E7A47}"/>
              </a:ext>
            </a:extLst>
          </p:cNvPr>
          <p:cNvSpPr>
            <a:spLocks noGrp="1"/>
          </p:cNvSpPr>
          <p:nvPr>
            <p:ph type="dt" sz="half" idx="10"/>
          </p:nvPr>
        </p:nvSpPr>
        <p:spPr/>
        <p:txBody>
          <a:bodyPr/>
          <a:lstStyle/>
          <a:p>
            <a:fld id="{F547FFA1-8504-9D40-8F95-D251061DDF83}" type="datetimeFigureOut">
              <a:rPr lang="en-US" smtClean="0"/>
              <a:t>8/20/2026</a:t>
            </a:fld>
            <a:endParaRPr lang="en-US"/>
          </a:p>
        </p:txBody>
      </p:sp>
      <p:sp>
        <p:nvSpPr>
          <p:cNvPr id="5" name="Footer Placeholder 4">
            <a:extLst>
              <a:ext uri="{FF2B5EF4-FFF2-40B4-BE49-F238E27FC236}">
                <a16:creationId xmlns:a16="http://schemas.microsoft.com/office/drawing/2014/main" id="{73CA0DBC-6A45-BC4C-BD62-53679CA9B6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8DDD2C-0664-AA48-8C8D-44B52B432527}"/>
              </a:ext>
            </a:extLst>
          </p:cNvPr>
          <p:cNvSpPr>
            <a:spLocks noGrp="1"/>
          </p:cNvSpPr>
          <p:nvPr>
            <p:ph type="sldNum" sz="quarter" idx="12"/>
          </p:nvPr>
        </p:nvSpPr>
        <p:spPr/>
        <p:txBody>
          <a:bodyPr/>
          <a:lstStyle/>
          <a:p>
            <a:fld id="{E220B7CA-72CC-5445-92CB-F91254D4681A}" type="slidenum">
              <a:rPr lang="en-US" smtClean="0"/>
              <a:t>‹#›</a:t>
            </a:fld>
            <a:endParaRPr lang="en-US"/>
          </a:p>
        </p:txBody>
      </p:sp>
    </p:spTree>
    <p:extLst>
      <p:ext uri="{BB962C8B-B14F-4D97-AF65-F5344CB8AC3E}">
        <p14:creationId xmlns:p14="http://schemas.microsoft.com/office/powerpoint/2010/main" val="8502563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6CF8AF-2718-694C-80DE-BF593ED8A62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502CD1E-D5A2-8642-84A5-84546FD600F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19DE82-4BB6-124B-9474-DBA89CCC86A6}"/>
              </a:ext>
            </a:extLst>
          </p:cNvPr>
          <p:cNvSpPr>
            <a:spLocks noGrp="1"/>
          </p:cNvSpPr>
          <p:nvPr>
            <p:ph type="dt" sz="half" idx="10"/>
          </p:nvPr>
        </p:nvSpPr>
        <p:spPr/>
        <p:txBody>
          <a:bodyPr/>
          <a:lstStyle/>
          <a:p>
            <a:fld id="{F547FFA1-8504-9D40-8F95-D251061DDF83}" type="datetimeFigureOut">
              <a:rPr lang="en-US" smtClean="0"/>
              <a:t>8/20/2026</a:t>
            </a:fld>
            <a:endParaRPr lang="en-US"/>
          </a:p>
        </p:txBody>
      </p:sp>
      <p:sp>
        <p:nvSpPr>
          <p:cNvPr id="5" name="Footer Placeholder 4">
            <a:extLst>
              <a:ext uri="{FF2B5EF4-FFF2-40B4-BE49-F238E27FC236}">
                <a16:creationId xmlns:a16="http://schemas.microsoft.com/office/drawing/2014/main" id="{BA90D1BA-A50D-3948-B714-A7F110B5C3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3F97B0-5E74-3A4E-B9CF-57685E47061D}"/>
              </a:ext>
            </a:extLst>
          </p:cNvPr>
          <p:cNvSpPr>
            <a:spLocks noGrp="1"/>
          </p:cNvSpPr>
          <p:nvPr>
            <p:ph type="sldNum" sz="quarter" idx="12"/>
          </p:nvPr>
        </p:nvSpPr>
        <p:spPr/>
        <p:txBody>
          <a:bodyPr/>
          <a:lstStyle/>
          <a:p>
            <a:fld id="{E220B7CA-72CC-5445-92CB-F91254D4681A}" type="slidenum">
              <a:rPr lang="en-US" smtClean="0"/>
              <a:t>‹#›</a:t>
            </a:fld>
            <a:endParaRPr lang="en-US"/>
          </a:p>
        </p:txBody>
      </p:sp>
    </p:spTree>
    <p:extLst>
      <p:ext uri="{BB962C8B-B14F-4D97-AF65-F5344CB8AC3E}">
        <p14:creationId xmlns:p14="http://schemas.microsoft.com/office/powerpoint/2010/main" val="24069586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A4427A5-9E14-F04B-9B89-722A7BBAA75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B6F0F1E-CA82-0140-89CC-1E3CF671DC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5806D8-58D4-8D45-8FD3-8E0E9D1A70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547FFA1-8504-9D40-8F95-D251061DDF83}" type="datetimeFigureOut">
              <a:rPr lang="en-US" smtClean="0"/>
              <a:t>8/20/2026</a:t>
            </a:fld>
            <a:endParaRPr lang="en-US"/>
          </a:p>
        </p:txBody>
      </p:sp>
      <p:sp>
        <p:nvSpPr>
          <p:cNvPr id="5" name="Footer Placeholder 4">
            <a:extLst>
              <a:ext uri="{FF2B5EF4-FFF2-40B4-BE49-F238E27FC236}">
                <a16:creationId xmlns:a16="http://schemas.microsoft.com/office/drawing/2014/main" id="{2016FF50-7F75-8F40-9957-D482C192432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D9F175A-4155-824B-AD63-69108CABB78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20B7CA-72CC-5445-92CB-F91254D4681A}" type="slidenum">
              <a:rPr lang="en-US" smtClean="0"/>
              <a:t>‹#›</a:t>
            </a:fld>
            <a:endParaRPr lang="en-US"/>
          </a:p>
        </p:txBody>
      </p:sp>
    </p:spTree>
    <p:extLst>
      <p:ext uri="{BB962C8B-B14F-4D97-AF65-F5344CB8AC3E}">
        <p14:creationId xmlns:p14="http://schemas.microsoft.com/office/powerpoint/2010/main" val="13321955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4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youtu.be/cn4S3QqEBRg?si=coYdP0Vqh2QeXzyG" TargetMode="Externa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hyperlink" Target="https://youtu.be/vemZtEM63GY?si=2QU5Nlgmr8kJHEu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04505-984A-784F-B784-AEBB8FD005B0}"/>
              </a:ext>
            </a:extLst>
          </p:cNvPr>
          <p:cNvSpPr>
            <a:spLocks noGrp="1"/>
          </p:cNvSpPr>
          <p:nvPr>
            <p:ph type="ctrTitle"/>
          </p:nvPr>
        </p:nvSpPr>
        <p:spPr>
          <a:xfrm>
            <a:off x="5872805" y="1122363"/>
            <a:ext cx="6197089" cy="2387600"/>
          </a:xfrm>
        </p:spPr>
        <p:txBody>
          <a:bodyPr>
            <a:noAutofit/>
          </a:bodyPr>
          <a:lstStyle/>
          <a:p>
            <a:r>
              <a:rPr lang="en-US" sz="4800" b="1" dirty="0">
                <a:latin typeface="Calibri" panose="020F0502020204030204" pitchFamily="34" charset="0"/>
                <a:cs typeface="Calibri" panose="020F0502020204030204" pitchFamily="34" charset="0"/>
              </a:rPr>
              <a:t>Hypothesis</a:t>
            </a:r>
            <a:br>
              <a:rPr lang="en-US" sz="4800" b="1" dirty="0">
                <a:latin typeface="Calibri" panose="020F0502020204030204" pitchFamily="34" charset="0"/>
                <a:cs typeface="Calibri" panose="020F0502020204030204" pitchFamily="34" charset="0"/>
              </a:rPr>
            </a:br>
            <a:r>
              <a:rPr lang="en-US" sz="4800" b="1" dirty="0">
                <a:latin typeface="Calibri" panose="020F0502020204030204" pitchFamily="34" charset="0"/>
                <a:cs typeface="Calibri" panose="020F0502020204030204" pitchFamily="34" charset="0"/>
              </a:rPr>
              <a:t>Testing</a:t>
            </a:r>
          </a:p>
        </p:txBody>
      </p:sp>
      <p:sp>
        <p:nvSpPr>
          <p:cNvPr id="3" name="Subtitle 2">
            <a:extLst>
              <a:ext uri="{FF2B5EF4-FFF2-40B4-BE49-F238E27FC236}">
                <a16:creationId xmlns:a16="http://schemas.microsoft.com/office/drawing/2014/main" id="{3C4BDEC7-4CE5-0C42-AD2E-FA8453064E39}"/>
              </a:ext>
            </a:extLst>
          </p:cNvPr>
          <p:cNvSpPr>
            <a:spLocks noGrp="1"/>
          </p:cNvSpPr>
          <p:nvPr>
            <p:ph type="subTitle" idx="1"/>
          </p:nvPr>
        </p:nvSpPr>
        <p:spPr>
          <a:xfrm>
            <a:off x="5872805" y="3602038"/>
            <a:ext cx="6197089" cy="1655762"/>
          </a:xfrm>
        </p:spPr>
        <p:txBody>
          <a:bodyPr>
            <a:normAutofit/>
          </a:bodyPr>
          <a:lstStyle/>
          <a:p>
            <a:r>
              <a:rPr lang="en-US" sz="3600" dirty="0"/>
              <a:t>Chad Williams</a:t>
            </a:r>
          </a:p>
          <a:p>
            <a:r>
              <a:rPr lang="en-US" sz="2800" dirty="0"/>
              <a:t>University of Victoria</a:t>
            </a:r>
            <a:endParaRPr lang="en-US" dirty="0"/>
          </a:p>
        </p:txBody>
      </p:sp>
      <p:grpSp>
        <p:nvGrpSpPr>
          <p:cNvPr id="46" name="Group 45">
            <a:extLst>
              <a:ext uri="{FF2B5EF4-FFF2-40B4-BE49-F238E27FC236}">
                <a16:creationId xmlns:a16="http://schemas.microsoft.com/office/drawing/2014/main" id="{893A07B0-5ED5-F74E-A1D2-DB896138B20F}"/>
              </a:ext>
            </a:extLst>
          </p:cNvPr>
          <p:cNvGrpSpPr/>
          <p:nvPr/>
        </p:nvGrpSpPr>
        <p:grpSpPr>
          <a:xfrm>
            <a:off x="1462829" y="602117"/>
            <a:ext cx="5458932" cy="5307690"/>
            <a:chOff x="1462829" y="602117"/>
            <a:chExt cx="5458932" cy="5307690"/>
          </a:xfrm>
        </p:grpSpPr>
        <p:grpSp>
          <p:nvGrpSpPr>
            <p:cNvPr id="20" name="Group 19">
              <a:extLst>
                <a:ext uri="{FF2B5EF4-FFF2-40B4-BE49-F238E27FC236}">
                  <a16:creationId xmlns:a16="http://schemas.microsoft.com/office/drawing/2014/main" id="{C1367C81-ADE9-1F41-8FEA-4AF5AD77BDCE}"/>
                </a:ext>
              </a:extLst>
            </p:cNvPr>
            <p:cNvGrpSpPr/>
            <p:nvPr/>
          </p:nvGrpSpPr>
          <p:grpSpPr>
            <a:xfrm>
              <a:off x="1462829" y="602117"/>
              <a:ext cx="5458932" cy="5307690"/>
              <a:chOff x="1779790" y="1493134"/>
              <a:chExt cx="4490974" cy="4366550"/>
            </a:xfrm>
          </p:grpSpPr>
          <p:cxnSp>
            <p:nvCxnSpPr>
              <p:cNvPr id="5" name="Straight Arrow Connector 4">
                <a:extLst>
                  <a:ext uri="{FF2B5EF4-FFF2-40B4-BE49-F238E27FC236}">
                    <a16:creationId xmlns:a16="http://schemas.microsoft.com/office/drawing/2014/main" id="{57A84D5C-C387-1D47-9772-854B66FD3385}"/>
                  </a:ext>
                </a:extLst>
              </p:cNvPr>
              <p:cNvCxnSpPr>
                <a:cxnSpLocks/>
              </p:cNvCxnSpPr>
              <p:nvPr/>
            </p:nvCxnSpPr>
            <p:spPr>
              <a:xfrm flipV="1">
                <a:off x="1805652" y="1493134"/>
                <a:ext cx="0" cy="4366550"/>
              </a:xfrm>
              <a:prstGeom prst="straightConnector1">
                <a:avLst/>
              </a:prstGeom>
              <a:ln w="127000">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a:extLst>
                  <a:ext uri="{FF2B5EF4-FFF2-40B4-BE49-F238E27FC236}">
                    <a16:creationId xmlns:a16="http://schemas.microsoft.com/office/drawing/2014/main" id="{1AE5A16A-F773-0646-9683-42DD8F3889F2}"/>
                  </a:ext>
                </a:extLst>
              </p:cNvPr>
              <p:cNvCxnSpPr>
                <a:cxnSpLocks/>
              </p:cNvCxnSpPr>
              <p:nvPr/>
            </p:nvCxnSpPr>
            <p:spPr>
              <a:xfrm>
                <a:off x="1779790" y="5816277"/>
                <a:ext cx="4490974" cy="0"/>
              </a:xfrm>
              <a:prstGeom prst="straightConnector1">
                <a:avLst/>
              </a:prstGeom>
              <a:ln w="127000">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sp>
            <p:nvSpPr>
              <p:cNvPr id="17" name="Freeform 16">
                <a:extLst>
                  <a:ext uri="{FF2B5EF4-FFF2-40B4-BE49-F238E27FC236}">
                    <a16:creationId xmlns:a16="http://schemas.microsoft.com/office/drawing/2014/main" id="{46E9A222-DCDE-EB4E-839F-B23FEDA593F5}"/>
                  </a:ext>
                </a:extLst>
              </p:cNvPr>
              <p:cNvSpPr/>
              <p:nvPr/>
            </p:nvSpPr>
            <p:spPr>
              <a:xfrm>
                <a:off x="1939274" y="3449119"/>
                <a:ext cx="1893537" cy="2087919"/>
              </a:xfrm>
              <a:custGeom>
                <a:avLst/>
                <a:gdLst>
                  <a:gd name="connsiteX0" fmla="*/ 0 w 1893537"/>
                  <a:gd name="connsiteY0" fmla="*/ 2879376 h 2887468"/>
                  <a:gd name="connsiteX1" fmla="*/ 412694 w 1893537"/>
                  <a:gd name="connsiteY1" fmla="*/ 2361486 h 2887468"/>
                  <a:gd name="connsiteX2" fmla="*/ 841572 w 1893537"/>
                  <a:gd name="connsiteY2" fmla="*/ 233281 h 2887468"/>
                  <a:gd name="connsiteX3" fmla="*/ 1068149 w 1893537"/>
                  <a:gd name="connsiteY3" fmla="*/ 289925 h 2887468"/>
                  <a:gd name="connsiteX4" fmla="*/ 1472751 w 1893537"/>
                  <a:gd name="connsiteY4" fmla="*/ 2321026 h 2887468"/>
                  <a:gd name="connsiteX5" fmla="*/ 1893537 w 1893537"/>
                  <a:gd name="connsiteY5" fmla="*/ 2887468 h 2887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3537" h="2887468">
                    <a:moveTo>
                      <a:pt x="0" y="2879376"/>
                    </a:moveTo>
                    <a:cubicBezTo>
                      <a:pt x="136216" y="2840939"/>
                      <a:pt x="272432" y="2802502"/>
                      <a:pt x="412694" y="2361486"/>
                    </a:cubicBezTo>
                    <a:cubicBezTo>
                      <a:pt x="552956" y="1920470"/>
                      <a:pt x="732330" y="578541"/>
                      <a:pt x="841572" y="233281"/>
                    </a:cubicBezTo>
                    <a:cubicBezTo>
                      <a:pt x="950814" y="-111979"/>
                      <a:pt x="962953" y="-58032"/>
                      <a:pt x="1068149" y="289925"/>
                    </a:cubicBezTo>
                    <a:cubicBezTo>
                      <a:pt x="1173345" y="637882"/>
                      <a:pt x="1335186" y="1888102"/>
                      <a:pt x="1472751" y="2321026"/>
                    </a:cubicBezTo>
                    <a:cubicBezTo>
                      <a:pt x="1610316" y="2753950"/>
                      <a:pt x="1689888" y="2863192"/>
                      <a:pt x="1893537" y="2887468"/>
                    </a:cubicBezTo>
                  </a:path>
                </a:pathLst>
              </a:custGeom>
              <a:solidFill>
                <a:schemeClr val="accent1">
                  <a:lumMod val="40000"/>
                  <a:lumOff val="60000"/>
                  <a:alpha val="84678"/>
                </a:schemeClr>
              </a:solidFill>
              <a:ln>
                <a:solidFill>
                  <a:schemeClr val="accent1">
                    <a:lumMod val="50000"/>
                    <a:alpha val="85134"/>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17">
                <a:extLst>
                  <a:ext uri="{FF2B5EF4-FFF2-40B4-BE49-F238E27FC236}">
                    <a16:creationId xmlns:a16="http://schemas.microsoft.com/office/drawing/2014/main" id="{419066EF-2FB6-1F47-B4D8-42A849FE2AD4}"/>
                  </a:ext>
                </a:extLst>
              </p:cNvPr>
              <p:cNvSpPr/>
              <p:nvPr/>
            </p:nvSpPr>
            <p:spPr>
              <a:xfrm>
                <a:off x="2842958" y="2826560"/>
                <a:ext cx="1893537" cy="2710478"/>
              </a:xfrm>
              <a:custGeom>
                <a:avLst/>
                <a:gdLst>
                  <a:gd name="connsiteX0" fmla="*/ 0 w 1893537"/>
                  <a:gd name="connsiteY0" fmla="*/ 2879376 h 2887468"/>
                  <a:gd name="connsiteX1" fmla="*/ 412694 w 1893537"/>
                  <a:gd name="connsiteY1" fmla="*/ 2361486 h 2887468"/>
                  <a:gd name="connsiteX2" fmla="*/ 841572 w 1893537"/>
                  <a:gd name="connsiteY2" fmla="*/ 233281 h 2887468"/>
                  <a:gd name="connsiteX3" fmla="*/ 1068149 w 1893537"/>
                  <a:gd name="connsiteY3" fmla="*/ 289925 h 2887468"/>
                  <a:gd name="connsiteX4" fmla="*/ 1472751 w 1893537"/>
                  <a:gd name="connsiteY4" fmla="*/ 2321026 h 2887468"/>
                  <a:gd name="connsiteX5" fmla="*/ 1893537 w 1893537"/>
                  <a:gd name="connsiteY5" fmla="*/ 2887468 h 2887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3537" h="2887468">
                    <a:moveTo>
                      <a:pt x="0" y="2879376"/>
                    </a:moveTo>
                    <a:cubicBezTo>
                      <a:pt x="136216" y="2840939"/>
                      <a:pt x="272432" y="2802502"/>
                      <a:pt x="412694" y="2361486"/>
                    </a:cubicBezTo>
                    <a:cubicBezTo>
                      <a:pt x="552956" y="1920470"/>
                      <a:pt x="732330" y="578541"/>
                      <a:pt x="841572" y="233281"/>
                    </a:cubicBezTo>
                    <a:cubicBezTo>
                      <a:pt x="950814" y="-111979"/>
                      <a:pt x="962953" y="-58032"/>
                      <a:pt x="1068149" y="289925"/>
                    </a:cubicBezTo>
                    <a:cubicBezTo>
                      <a:pt x="1173345" y="637882"/>
                      <a:pt x="1335186" y="1888102"/>
                      <a:pt x="1472751" y="2321026"/>
                    </a:cubicBezTo>
                    <a:cubicBezTo>
                      <a:pt x="1610316" y="2753950"/>
                      <a:pt x="1689888" y="2863192"/>
                      <a:pt x="1893537" y="2887468"/>
                    </a:cubicBezTo>
                  </a:path>
                </a:pathLst>
              </a:custGeom>
              <a:solidFill>
                <a:schemeClr val="accent2">
                  <a:lumMod val="40000"/>
                  <a:lumOff val="60000"/>
                  <a:alpha val="85220"/>
                </a:schemeClr>
              </a:solidFill>
              <a:ln>
                <a:solidFill>
                  <a:schemeClr val="accent2">
                    <a:lumMod val="50000"/>
                    <a:alpha val="85199"/>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18">
                <a:extLst>
                  <a:ext uri="{FF2B5EF4-FFF2-40B4-BE49-F238E27FC236}">
                    <a16:creationId xmlns:a16="http://schemas.microsoft.com/office/drawing/2014/main" id="{50448620-62B4-4F4D-946A-BF7ACA620963}"/>
                  </a:ext>
                </a:extLst>
              </p:cNvPr>
              <p:cNvSpPr/>
              <p:nvPr/>
            </p:nvSpPr>
            <p:spPr>
              <a:xfrm>
                <a:off x="3722204" y="2311601"/>
                <a:ext cx="2101382" cy="3225437"/>
              </a:xfrm>
              <a:custGeom>
                <a:avLst/>
                <a:gdLst>
                  <a:gd name="connsiteX0" fmla="*/ 0 w 1893537"/>
                  <a:gd name="connsiteY0" fmla="*/ 2879376 h 2887468"/>
                  <a:gd name="connsiteX1" fmla="*/ 412694 w 1893537"/>
                  <a:gd name="connsiteY1" fmla="*/ 2361486 h 2887468"/>
                  <a:gd name="connsiteX2" fmla="*/ 841572 w 1893537"/>
                  <a:gd name="connsiteY2" fmla="*/ 233281 h 2887468"/>
                  <a:gd name="connsiteX3" fmla="*/ 1068149 w 1893537"/>
                  <a:gd name="connsiteY3" fmla="*/ 289925 h 2887468"/>
                  <a:gd name="connsiteX4" fmla="*/ 1472751 w 1893537"/>
                  <a:gd name="connsiteY4" fmla="*/ 2321026 h 2887468"/>
                  <a:gd name="connsiteX5" fmla="*/ 1893537 w 1893537"/>
                  <a:gd name="connsiteY5" fmla="*/ 2887468 h 2887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3537" h="2887468">
                    <a:moveTo>
                      <a:pt x="0" y="2879376"/>
                    </a:moveTo>
                    <a:cubicBezTo>
                      <a:pt x="136216" y="2840939"/>
                      <a:pt x="272432" y="2802502"/>
                      <a:pt x="412694" y="2361486"/>
                    </a:cubicBezTo>
                    <a:cubicBezTo>
                      <a:pt x="552956" y="1920470"/>
                      <a:pt x="732330" y="578541"/>
                      <a:pt x="841572" y="233281"/>
                    </a:cubicBezTo>
                    <a:cubicBezTo>
                      <a:pt x="950814" y="-111979"/>
                      <a:pt x="962953" y="-58032"/>
                      <a:pt x="1068149" y="289925"/>
                    </a:cubicBezTo>
                    <a:cubicBezTo>
                      <a:pt x="1173345" y="637882"/>
                      <a:pt x="1335186" y="1888102"/>
                      <a:pt x="1472751" y="2321026"/>
                    </a:cubicBezTo>
                    <a:cubicBezTo>
                      <a:pt x="1610316" y="2753950"/>
                      <a:pt x="1689888" y="2863192"/>
                      <a:pt x="1893537" y="2887468"/>
                    </a:cubicBezTo>
                  </a:path>
                </a:pathLst>
              </a:custGeom>
              <a:solidFill>
                <a:schemeClr val="accent6">
                  <a:lumMod val="40000"/>
                  <a:lumOff val="60000"/>
                  <a:alpha val="85188"/>
                </a:schemeClr>
              </a:solidFill>
              <a:ln>
                <a:solidFill>
                  <a:schemeClr val="accent6">
                    <a:lumMod val="50000"/>
                    <a:alpha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8" name="Freeform 27">
              <a:extLst>
                <a:ext uri="{FF2B5EF4-FFF2-40B4-BE49-F238E27FC236}">
                  <a16:creationId xmlns:a16="http://schemas.microsoft.com/office/drawing/2014/main" id="{1D410515-89AE-9540-8E50-AA444F8EC47A}"/>
                </a:ext>
              </a:extLst>
            </p:cNvPr>
            <p:cNvSpPr/>
            <p:nvPr/>
          </p:nvSpPr>
          <p:spPr>
            <a:xfrm>
              <a:off x="1812853" y="2979683"/>
              <a:ext cx="3708069" cy="2264351"/>
            </a:xfrm>
            <a:custGeom>
              <a:avLst/>
              <a:gdLst>
                <a:gd name="connsiteX0" fmla="*/ 0 w 3229897"/>
                <a:gd name="connsiteY0" fmla="*/ 2138516 h 2138516"/>
                <a:gd name="connsiteX1" fmla="*/ 678426 w 3229897"/>
                <a:gd name="connsiteY1" fmla="*/ 1991032 h 2138516"/>
                <a:gd name="connsiteX2" fmla="*/ 1253613 w 3229897"/>
                <a:gd name="connsiteY2" fmla="*/ 1401097 h 2138516"/>
                <a:gd name="connsiteX3" fmla="*/ 1784555 w 3229897"/>
                <a:gd name="connsiteY3" fmla="*/ 1238864 h 2138516"/>
                <a:gd name="connsiteX4" fmla="*/ 2433484 w 3229897"/>
                <a:gd name="connsiteY4" fmla="*/ 693174 h 2138516"/>
                <a:gd name="connsiteX5" fmla="*/ 3229897 w 3229897"/>
                <a:gd name="connsiteY5" fmla="*/ 0 h 2138516"/>
                <a:gd name="connsiteX0" fmla="*/ 0 w 3708069"/>
                <a:gd name="connsiteY0" fmla="*/ 2264351 h 2264351"/>
                <a:gd name="connsiteX1" fmla="*/ 1156598 w 3708069"/>
                <a:gd name="connsiteY1" fmla="*/ 1991032 h 2264351"/>
                <a:gd name="connsiteX2" fmla="*/ 1731785 w 3708069"/>
                <a:gd name="connsiteY2" fmla="*/ 1401097 h 2264351"/>
                <a:gd name="connsiteX3" fmla="*/ 2262727 w 3708069"/>
                <a:gd name="connsiteY3" fmla="*/ 1238864 h 2264351"/>
                <a:gd name="connsiteX4" fmla="*/ 2911656 w 3708069"/>
                <a:gd name="connsiteY4" fmla="*/ 693174 h 2264351"/>
                <a:gd name="connsiteX5" fmla="*/ 3708069 w 3708069"/>
                <a:gd name="connsiteY5" fmla="*/ 0 h 2264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8069" h="2264351">
                  <a:moveTo>
                    <a:pt x="0" y="2264351"/>
                  </a:moveTo>
                  <a:lnTo>
                    <a:pt x="1156598" y="1991032"/>
                  </a:lnTo>
                  <a:lnTo>
                    <a:pt x="1731785" y="1401097"/>
                  </a:lnTo>
                  <a:lnTo>
                    <a:pt x="2262727" y="1238864"/>
                  </a:lnTo>
                  <a:lnTo>
                    <a:pt x="2911656" y="693174"/>
                  </a:lnTo>
                  <a:lnTo>
                    <a:pt x="3708069" y="0"/>
                  </a:lnTo>
                </a:path>
              </a:pathLst>
            </a:custGeom>
            <a:noFill/>
            <a:ln w="127000">
              <a:solidFill>
                <a:schemeClr val="bg1">
                  <a:alpha val="84175"/>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Arrow Connector 29">
              <a:extLst>
                <a:ext uri="{FF2B5EF4-FFF2-40B4-BE49-F238E27FC236}">
                  <a16:creationId xmlns:a16="http://schemas.microsoft.com/office/drawing/2014/main" id="{B09B93DB-C642-8A4B-85C0-D6AE3FB6D384}"/>
                </a:ext>
              </a:extLst>
            </p:cNvPr>
            <p:cNvCxnSpPr>
              <a:cxnSpLocks/>
            </p:cNvCxnSpPr>
            <p:nvPr/>
          </p:nvCxnSpPr>
          <p:spPr>
            <a:xfrm flipV="1">
              <a:off x="5630015" y="2762124"/>
              <a:ext cx="122104" cy="126034"/>
            </a:xfrm>
            <a:prstGeom prst="straightConnector1">
              <a:avLst/>
            </a:pr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37" name="Freeform 36">
              <a:extLst>
                <a:ext uri="{FF2B5EF4-FFF2-40B4-BE49-F238E27FC236}">
                  <a16:creationId xmlns:a16="http://schemas.microsoft.com/office/drawing/2014/main" id="{9158FB07-577C-1C48-BE6C-59B0CA0BB524}"/>
                </a:ext>
              </a:extLst>
            </p:cNvPr>
            <p:cNvSpPr/>
            <p:nvPr/>
          </p:nvSpPr>
          <p:spPr>
            <a:xfrm>
              <a:off x="1817303" y="2889806"/>
              <a:ext cx="3812712" cy="2352582"/>
            </a:xfrm>
            <a:custGeom>
              <a:avLst/>
              <a:gdLst>
                <a:gd name="connsiteX0" fmla="*/ 0 w 3229897"/>
                <a:gd name="connsiteY0" fmla="*/ 2138516 h 2138516"/>
                <a:gd name="connsiteX1" fmla="*/ 678426 w 3229897"/>
                <a:gd name="connsiteY1" fmla="*/ 1991032 h 2138516"/>
                <a:gd name="connsiteX2" fmla="*/ 1253613 w 3229897"/>
                <a:gd name="connsiteY2" fmla="*/ 1401097 h 2138516"/>
                <a:gd name="connsiteX3" fmla="*/ 1784555 w 3229897"/>
                <a:gd name="connsiteY3" fmla="*/ 1238864 h 2138516"/>
                <a:gd name="connsiteX4" fmla="*/ 2433484 w 3229897"/>
                <a:gd name="connsiteY4" fmla="*/ 693174 h 2138516"/>
                <a:gd name="connsiteX5" fmla="*/ 3229897 w 3229897"/>
                <a:gd name="connsiteY5" fmla="*/ 0 h 2138516"/>
                <a:gd name="connsiteX0" fmla="*/ 0 w 3326150"/>
                <a:gd name="connsiteY0" fmla="*/ 2226747 h 2226747"/>
                <a:gd name="connsiteX1" fmla="*/ 678426 w 3326150"/>
                <a:gd name="connsiteY1" fmla="*/ 2079263 h 2226747"/>
                <a:gd name="connsiteX2" fmla="*/ 1253613 w 3326150"/>
                <a:gd name="connsiteY2" fmla="*/ 1489328 h 2226747"/>
                <a:gd name="connsiteX3" fmla="*/ 1784555 w 3326150"/>
                <a:gd name="connsiteY3" fmla="*/ 1327095 h 2226747"/>
                <a:gd name="connsiteX4" fmla="*/ 2433484 w 3326150"/>
                <a:gd name="connsiteY4" fmla="*/ 781405 h 2226747"/>
                <a:gd name="connsiteX5" fmla="*/ 3326150 w 3326150"/>
                <a:gd name="connsiteY5" fmla="*/ 0 h 2226747"/>
                <a:gd name="connsiteX0" fmla="*/ 0 w 3812712"/>
                <a:gd name="connsiteY0" fmla="*/ 2352582 h 2352582"/>
                <a:gd name="connsiteX1" fmla="*/ 1164988 w 3812712"/>
                <a:gd name="connsiteY1" fmla="*/ 2079263 h 2352582"/>
                <a:gd name="connsiteX2" fmla="*/ 1740175 w 3812712"/>
                <a:gd name="connsiteY2" fmla="*/ 1489328 h 2352582"/>
                <a:gd name="connsiteX3" fmla="*/ 2271117 w 3812712"/>
                <a:gd name="connsiteY3" fmla="*/ 1327095 h 2352582"/>
                <a:gd name="connsiteX4" fmla="*/ 2920046 w 3812712"/>
                <a:gd name="connsiteY4" fmla="*/ 781405 h 2352582"/>
                <a:gd name="connsiteX5" fmla="*/ 3812712 w 3812712"/>
                <a:gd name="connsiteY5" fmla="*/ 0 h 2352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2712" h="2352582">
                  <a:moveTo>
                    <a:pt x="0" y="2352582"/>
                  </a:moveTo>
                  <a:lnTo>
                    <a:pt x="1164988" y="2079263"/>
                  </a:lnTo>
                  <a:lnTo>
                    <a:pt x="1740175" y="1489328"/>
                  </a:lnTo>
                  <a:lnTo>
                    <a:pt x="2271117" y="1327095"/>
                  </a:lnTo>
                  <a:lnTo>
                    <a:pt x="2920046" y="781405"/>
                  </a:lnTo>
                  <a:lnTo>
                    <a:pt x="3812712" y="0"/>
                  </a:lnTo>
                </a:path>
              </a:pathLst>
            </a:cu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23095749-45C8-8A4A-979E-7C4B025D4FDF}"/>
                </a:ext>
              </a:extLst>
            </p:cNvPr>
            <p:cNvSpPr/>
            <p:nvPr/>
          </p:nvSpPr>
          <p:spPr>
            <a:xfrm>
              <a:off x="1737815" y="5180385"/>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E1A4B310-E851-814F-9BAA-0DD6B54C5EB3}"/>
                </a:ext>
              </a:extLst>
            </p:cNvPr>
            <p:cNvSpPr/>
            <p:nvPr/>
          </p:nvSpPr>
          <p:spPr>
            <a:xfrm>
              <a:off x="2889176" y="4884308"/>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1DBCC1C8-A7F4-9D45-B58E-21EF51AE8B3F}"/>
                </a:ext>
              </a:extLst>
            </p:cNvPr>
            <p:cNvSpPr/>
            <p:nvPr/>
          </p:nvSpPr>
          <p:spPr>
            <a:xfrm>
              <a:off x="3464941" y="4316251"/>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AE602794-B522-FC44-BC63-545173E3DBFC}"/>
                </a:ext>
              </a:extLst>
            </p:cNvPr>
            <p:cNvSpPr/>
            <p:nvPr/>
          </p:nvSpPr>
          <p:spPr>
            <a:xfrm>
              <a:off x="4014062" y="4120703"/>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076F9C99-A770-9E43-955D-38F4554386A4}"/>
                </a:ext>
              </a:extLst>
            </p:cNvPr>
            <p:cNvSpPr/>
            <p:nvPr/>
          </p:nvSpPr>
          <p:spPr>
            <a:xfrm>
              <a:off x="4660823" y="3598409"/>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15704A3B-D9E0-7D4E-B43D-C5BABAB8D583}"/>
                </a:ext>
              </a:extLst>
            </p:cNvPr>
            <p:cNvSpPr/>
            <p:nvPr/>
          </p:nvSpPr>
          <p:spPr>
            <a:xfrm>
              <a:off x="5260932" y="3074751"/>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6395291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29E6F93-1BE2-A24C-A958-7E838335E275}"/>
              </a:ext>
            </a:extLst>
          </p:cNvPr>
          <p:cNvGrpSpPr/>
          <p:nvPr/>
        </p:nvGrpSpPr>
        <p:grpSpPr>
          <a:xfrm>
            <a:off x="294429" y="602116"/>
            <a:ext cx="5458932" cy="5307690"/>
            <a:chOff x="1462829" y="602117"/>
            <a:chExt cx="5458932" cy="5307690"/>
          </a:xfrm>
        </p:grpSpPr>
        <p:grpSp>
          <p:nvGrpSpPr>
            <p:cNvPr id="5" name="Group 4">
              <a:extLst>
                <a:ext uri="{FF2B5EF4-FFF2-40B4-BE49-F238E27FC236}">
                  <a16:creationId xmlns:a16="http://schemas.microsoft.com/office/drawing/2014/main" id="{A8AAD576-3FD9-034D-97C2-DB233589DD70}"/>
                </a:ext>
              </a:extLst>
            </p:cNvPr>
            <p:cNvGrpSpPr/>
            <p:nvPr/>
          </p:nvGrpSpPr>
          <p:grpSpPr>
            <a:xfrm>
              <a:off x="1462829" y="602117"/>
              <a:ext cx="5458932" cy="5307690"/>
              <a:chOff x="1779790" y="1493134"/>
              <a:chExt cx="4490974" cy="4366550"/>
            </a:xfrm>
          </p:grpSpPr>
          <p:cxnSp>
            <p:nvCxnSpPr>
              <p:cNvPr id="15" name="Straight Arrow Connector 14">
                <a:extLst>
                  <a:ext uri="{FF2B5EF4-FFF2-40B4-BE49-F238E27FC236}">
                    <a16:creationId xmlns:a16="http://schemas.microsoft.com/office/drawing/2014/main" id="{3F7C5F54-F4ED-494E-983A-AD64CA969B6F}"/>
                  </a:ext>
                </a:extLst>
              </p:cNvPr>
              <p:cNvCxnSpPr>
                <a:cxnSpLocks/>
              </p:cNvCxnSpPr>
              <p:nvPr/>
            </p:nvCxnSpPr>
            <p:spPr>
              <a:xfrm flipV="1">
                <a:off x="1805652" y="1493134"/>
                <a:ext cx="0" cy="4366550"/>
              </a:xfrm>
              <a:prstGeom prst="straightConnector1">
                <a:avLst/>
              </a:prstGeom>
              <a:ln w="127000">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DA9EC6B0-CB23-D64F-986C-DBA67CB5181D}"/>
                  </a:ext>
                </a:extLst>
              </p:cNvPr>
              <p:cNvCxnSpPr>
                <a:cxnSpLocks/>
              </p:cNvCxnSpPr>
              <p:nvPr/>
            </p:nvCxnSpPr>
            <p:spPr>
              <a:xfrm>
                <a:off x="1779790" y="5816277"/>
                <a:ext cx="4490974" cy="0"/>
              </a:xfrm>
              <a:prstGeom prst="straightConnector1">
                <a:avLst/>
              </a:prstGeom>
              <a:ln w="127000">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sp>
            <p:nvSpPr>
              <p:cNvPr id="17" name="Freeform 16">
                <a:extLst>
                  <a:ext uri="{FF2B5EF4-FFF2-40B4-BE49-F238E27FC236}">
                    <a16:creationId xmlns:a16="http://schemas.microsoft.com/office/drawing/2014/main" id="{056D5E8B-B79A-CE4A-9B3E-284711C7414D}"/>
                  </a:ext>
                </a:extLst>
              </p:cNvPr>
              <p:cNvSpPr/>
              <p:nvPr/>
            </p:nvSpPr>
            <p:spPr>
              <a:xfrm>
                <a:off x="1939274" y="3449119"/>
                <a:ext cx="1893537" cy="2087919"/>
              </a:xfrm>
              <a:custGeom>
                <a:avLst/>
                <a:gdLst>
                  <a:gd name="connsiteX0" fmla="*/ 0 w 1893537"/>
                  <a:gd name="connsiteY0" fmla="*/ 2879376 h 2887468"/>
                  <a:gd name="connsiteX1" fmla="*/ 412694 w 1893537"/>
                  <a:gd name="connsiteY1" fmla="*/ 2361486 h 2887468"/>
                  <a:gd name="connsiteX2" fmla="*/ 841572 w 1893537"/>
                  <a:gd name="connsiteY2" fmla="*/ 233281 h 2887468"/>
                  <a:gd name="connsiteX3" fmla="*/ 1068149 w 1893537"/>
                  <a:gd name="connsiteY3" fmla="*/ 289925 h 2887468"/>
                  <a:gd name="connsiteX4" fmla="*/ 1472751 w 1893537"/>
                  <a:gd name="connsiteY4" fmla="*/ 2321026 h 2887468"/>
                  <a:gd name="connsiteX5" fmla="*/ 1893537 w 1893537"/>
                  <a:gd name="connsiteY5" fmla="*/ 2887468 h 2887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3537" h="2887468">
                    <a:moveTo>
                      <a:pt x="0" y="2879376"/>
                    </a:moveTo>
                    <a:cubicBezTo>
                      <a:pt x="136216" y="2840939"/>
                      <a:pt x="272432" y="2802502"/>
                      <a:pt x="412694" y="2361486"/>
                    </a:cubicBezTo>
                    <a:cubicBezTo>
                      <a:pt x="552956" y="1920470"/>
                      <a:pt x="732330" y="578541"/>
                      <a:pt x="841572" y="233281"/>
                    </a:cubicBezTo>
                    <a:cubicBezTo>
                      <a:pt x="950814" y="-111979"/>
                      <a:pt x="962953" y="-58032"/>
                      <a:pt x="1068149" y="289925"/>
                    </a:cubicBezTo>
                    <a:cubicBezTo>
                      <a:pt x="1173345" y="637882"/>
                      <a:pt x="1335186" y="1888102"/>
                      <a:pt x="1472751" y="2321026"/>
                    </a:cubicBezTo>
                    <a:cubicBezTo>
                      <a:pt x="1610316" y="2753950"/>
                      <a:pt x="1689888" y="2863192"/>
                      <a:pt x="1893537" y="2887468"/>
                    </a:cubicBezTo>
                  </a:path>
                </a:pathLst>
              </a:custGeom>
              <a:solidFill>
                <a:schemeClr val="accent1">
                  <a:lumMod val="40000"/>
                  <a:lumOff val="60000"/>
                  <a:alpha val="84678"/>
                </a:schemeClr>
              </a:solidFill>
              <a:ln>
                <a:solidFill>
                  <a:schemeClr val="accent1">
                    <a:lumMod val="50000"/>
                    <a:alpha val="85134"/>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17">
                <a:extLst>
                  <a:ext uri="{FF2B5EF4-FFF2-40B4-BE49-F238E27FC236}">
                    <a16:creationId xmlns:a16="http://schemas.microsoft.com/office/drawing/2014/main" id="{22BF8C57-2D60-534C-B131-447BD8F8385A}"/>
                  </a:ext>
                </a:extLst>
              </p:cNvPr>
              <p:cNvSpPr/>
              <p:nvPr/>
            </p:nvSpPr>
            <p:spPr>
              <a:xfrm>
                <a:off x="2842958" y="2826560"/>
                <a:ext cx="1893537" cy="2710478"/>
              </a:xfrm>
              <a:custGeom>
                <a:avLst/>
                <a:gdLst>
                  <a:gd name="connsiteX0" fmla="*/ 0 w 1893537"/>
                  <a:gd name="connsiteY0" fmla="*/ 2879376 h 2887468"/>
                  <a:gd name="connsiteX1" fmla="*/ 412694 w 1893537"/>
                  <a:gd name="connsiteY1" fmla="*/ 2361486 h 2887468"/>
                  <a:gd name="connsiteX2" fmla="*/ 841572 w 1893537"/>
                  <a:gd name="connsiteY2" fmla="*/ 233281 h 2887468"/>
                  <a:gd name="connsiteX3" fmla="*/ 1068149 w 1893537"/>
                  <a:gd name="connsiteY3" fmla="*/ 289925 h 2887468"/>
                  <a:gd name="connsiteX4" fmla="*/ 1472751 w 1893537"/>
                  <a:gd name="connsiteY4" fmla="*/ 2321026 h 2887468"/>
                  <a:gd name="connsiteX5" fmla="*/ 1893537 w 1893537"/>
                  <a:gd name="connsiteY5" fmla="*/ 2887468 h 2887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3537" h="2887468">
                    <a:moveTo>
                      <a:pt x="0" y="2879376"/>
                    </a:moveTo>
                    <a:cubicBezTo>
                      <a:pt x="136216" y="2840939"/>
                      <a:pt x="272432" y="2802502"/>
                      <a:pt x="412694" y="2361486"/>
                    </a:cubicBezTo>
                    <a:cubicBezTo>
                      <a:pt x="552956" y="1920470"/>
                      <a:pt x="732330" y="578541"/>
                      <a:pt x="841572" y="233281"/>
                    </a:cubicBezTo>
                    <a:cubicBezTo>
                      <a:pt x="950814" y="-111979"/>
                      <a:pt x="962953" y="-58032"/>
                      <a:pt x="1068149" y="289925"/>
                    </a:cubicBezTo>
                    <a:cubicBezTo>
                      <a:pt x="1173345" y="637882"/>
                      <a:pt x="1335186" y="1888102"/>
                      <a:pt x="1472751" y="2321026"/>
                    </a:cubicBezTo>
                    <a:cubicBezTo>
                      <a:pt x="1610316" y="2753950"/>
                      <a:pt x="1689888" y="2863192"/>
                      <a:pt x="1893537" y="2887468"/>
                    </a:cubicBezTo>
                  </a:path>
                </a:pathLst>
              </a:custGeom>
              <a:solidFill>
                <a:schemeClr val="accent2">
                  <a:lumMod val="40000"/>
                  <a:lumOff val="60000"/>
                  <a:alpha val="85220"/>
                </a:schemeClr>
              </a:solidFill>
              <a:ln>
                <a:solidFill>
                  <a:schemeClr val="accent2">
                    <a:lumMod val="50000"/>
                    <a:alpha val="85199"/>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18">
                <a:extLst>
                  <a:ext uri="{FF2B5EF4-FFF2-40B4-BE49-F238E27FC236}">
                    <a16:creationId xmlns:a16="http://schemas.microsoft.com/office/drawing/2014/main" id="{6FDFA582-4592-114B-A82E-7632E7D351C5}"/>
                  </a:ext>
                </a:extLst>
              </p:cNvPr>
              <p:cNvSpPr/>
              <p:nvPr/>
            </p:nvSpPr>
            <p:spPr>
              <a:xfrm>
                <a:off x="3722204" y="2311601"/>
                <a:ext cx="2101382" cy="3225437"/>
              </a:xfrm>
              <a:custGeom>
                <a:avLst/>
                <a:gdLst>
                  <a:gd name="connsiteX0" fmla="*/ 0 w 1893537"/>
                  <a:gd name="connsiteY0" fmla="*/ 2879376 h 2887468"/>
                  <a:gd name="connsiteX1" fmla="*/ 412694 w 1893537"/>
                  <a:gd name="connsiteY1" fmla="*/ 2361486 h 2887468"/>
                  <a:gd name="connsiteX2" fmla="*/ 841572 w 1893537"/>
                  <a:gd name="connsiteY2" fmla="*/ 233281 h 2887468"/>
                  <a:gd name="connsiteX3" fmla="*/ 1068149 w 1893537"/>
                  <a:gd name="connsiteY3" fmla="*/ 289925 h 2887468"/>
                  <a:gd name="connsiteX4" fmla="*/ 1472751 w 1893537"/>
                  <a:gd name="connsiteY4" fmla="*/ 2321026 h 2887468"/>
                  <a:gd name="connsiteX5" fmla="*/ 1893537 w 1893537"/>
                  <a:gd name="connsiteY5" fmla="*/ 2887468 h 2887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3537" h="2887468">
                    <a:moveTo>
                      <a:pt x="0" y="2879376"/>
                    </a:moveTo>
                    <a:cubicBezTo>
                      <a:pt x="136216" y="2840939"/>
                      <a:pt x="272432" y="2802502"/>
                      <a:pt x="412694" y="2361486"/>
                    </a:cubicBezTo>
                    <a:cubicBezTo>
                      <a:pt x="552956" y="1920470"/>
                      <a:pt x="732330" y="578541"/>
                      <a:pt x="841572" y="233281"/>
                    </a:cubicBezTo>
                    <a:cubicBezTo>
                      <a:pt x="950814" y="-111979"/>
                      <a:pt x="962953" y="-58032"/>
                      <a:pt x="1068149" y="289925"/>
                    </a:cubicBezTo>
                    <a:cubicBezTo>
                      <a:pt x="1173345" y="637882"/>
                      <a:pt x="1335186" y="1888102"/>
                      <a:pt x="1472751" y="2321026"/>
                    </a:cubicBezTo>
                    <a:cubicBezTo>
                      <a:pt x="1610316" y="2753950"/>
                      <a:pt x="1689888" y="2863192"/>
                      <a:pt x="1893537" y="2887468"/>
                    </a:cubicBezTo>
                  </a:path>
                </a:pathLst>
              </a:custGeom>
              <a:solidFill>
                <a:schemeClr val="accent6">
                  <a:lumMod val="40000"/>
                  <a:lumOff val="60000"/>
                  <a:alpha val="85188"/>
                </a:schemeClr>
              </a:solidFill>
              <a:ln>
                <a:solidFill>
                  <a:schemeClr val="accent6">
                    <a:lumMod val="50000"/>
                    <a:alpha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Freeform 5">
              <a:extLst>
                <a:ext uri="{FF2B5EF4-FFF2-40B4-BE49-F238E27FC236}">
                  <a16:creationId xmlns:a16="http://schemas.microsoft.com/office/drawing/2014/main" id="{3B94D678-6CFD-DB44-AB89-228139B919EC}"/>
                </a:ext>
              </a:extLst>
            </p:cNvPr>
            <p:cNvSpPr/>
            <p:nvPr/>
          </p:nvSpPr>
          <p:spPr>
            <a:xfrm>
              <a:off x="1812853" y="2979683"/>
              <a:ext cx="3708069" cy="2264351"/>
            </a:xfrm>
            <a:custGeom>
              <a:avLst/>
              <a:gdLst>
                <a:gd name="connsiteX0" fmla="*/ 0 w 3229897"/>
                <a:gd name="connsiteY0" fmla="*/ 2138516 h 2138516"/>
                <a:gd name="connsiteX1" fmla="*/ 678426 w 3229897"/>
                <a:gd name="connsiteY1" fmla="*/ 1991032 h 2138516"/>
                <a:gd name="connsiteX2" fmla="*/ 1253613 w 3229897"/>
                <a:gd name="connsiteY2" fmla="*/ 1401097 h 2138516"/>
                <a:gd name="connsiteX3" fmla="*/ 1784555 w 3229897"/>
                <a:gd name="connsiteY3" fmla="*/ 1238864 h 2138516"/>
                <a:gd name="connsiteX4" fmla="*/ 2433484 w 3229897"/>
                <a:gd name="connsiteY4" fmla="*/ 693174 h 2138516"/>
                <a:gd name="connsiteX5" fmla="*/ 3229897 w 3229897"/>
                <a:gd name="connsiteY5" fmla="*/ 0 h 2138516"/>
                <a:gd name="connsiteX0" fmla="*/ 0 w 3708069"/>
                <a:gd name="connsiteY0" fmla="*/ 2264351 h 2264351"/>
                <a:gd name="connsiteX1" fmla="*/ 1156598 w 3708069"/>
                <a:gd name="connsiteY1" fmla="*/ 1991032 h 2264351"/>
                <a:gd name="connsiteX2" fmla="*/ 1731785 w 3708069"/>
                <a:gd name="connsiteY2" fmla="*/ 1401097 h 2264351"/>
                <a:gd name="connsiteX3" fmla="*/ 2262727 w 3708069"/>
                <a:gd name="connsiteY3" fmla="*/ 1238864 h 2264351"/>
                <a:gd name="connsiteX4" fmla="*/ 2911656 w 3708069"/>
                <a:gd name="connsiteY4" fmla="*/ 693174 h 2264351"/>
                <a:gd name="connsiteX5" fmla="*/ 3708069 w 3708069"/>
                <a:gd name="connsiteY5" fmla="*/ 0 h 2264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8069" h="2264351">
                  <a:moveTo>
                    <a:pt x="0" y="2264351"/>
                  </a:moveTo>
                  <a:lnTo>
                    <a:pt x="1156598" y="1991032"/>
                  </a:lnTo>
                  <a:lnTo>
                    <a:pt x="1731785" y="1401097"/>
                  </a:lnTo>
                  <a:lnTo>
                    <a:pt x="2262727" y="1238864"/>
                  </a:lnTo>
                  <a:lnTo>
                    <a:pt x="2911656" y="693174"/>
                  </a:lnTo>
                  <a:lnTo>
                    <a:pt x="3708069" y="0"/>
                  </a:lnTo>
                </a:path>
              </a:pathLst>
            </a:custGeom>
            <a:noFill/>
            <a:ln w="127000">
              <a:solidFill>
                <a:schemeClr val="bg1">
                  <a:alpha val="84175"/>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82CC9CC0-B87F-4541-AA63-DC8E7082AF0C}"/>
                </a:ext>
              </a:extLst>
            </p:cNvPr>
            <p:cNvCxnSpPr>
              <a:cxnSpLocks/>
            </p:cNvCxnSpPr>
            <p:nvPr/>
          </p:nvCxnSpPr>
          <p:spPr>
            <a:xfrm flipV="1">
              <a:off x="5630015" y="2762124"/>
              <a:ext cx="122104" cy="126034"/>
            </a:xfrm>
            <a:prstGeom prst="straightConnector1">
              <a:avLst/>
            </a:pr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8" name="Freeform 7">
              <a:extLst>
                <a:ext uri="{FF2B5EF4-FFF2-40B4-BE49-F238E27FC236}">
                  <a16:creationId xmlns:a16="http://schemas.microsoft.com/office/drawing/2014/main" id="{EEFDC0CF-7CB9-1240-8601-062318CD71F3}"/>
                </a:ext>
              </a:extLst>
            </p:cNvPr>
            <p:cNvSpPr/>
            <p:nvPr/>
          </p:nvSpPr>
          <p:spPr>
            <a:xfrm>
              <a:off x="1817303" y="2889806"/>
              <a:ext cx="3812712" cy="2352582"/>
            </a:xfrm>
            <a:custGeom>
              <a:avLst/>
              <a:gdLst>
                <a:gd name="connsiteX0" fmla="*/ 0 w 3229897"/>
                <a:gd name="connsiteY0" fmla="*/ 2138516 h 2138516"/>
                <a:gd name="connsiteX1" fmla="*/ 678426 w 3229897"/>
                <a:gd name="connsiteY1" fmla="*/ 1991032 h 2138516"/>
                <a:gd name="connsiteX2" fmla="*/ 1253613 w 3229897"/>
                <a:gd name="connsiteY2" fmla="*/ 1401097 h 2138516"/>
                <a:gd name="connsiteX3" fmla="*/ 1784555 w 3229897"/>
                <a:gd name="connsiteY3" fmla="*/ 1238864 h 2138516"/>
                <a:gd name="connsiteX4" fmla="*/ 2433484 w 3229897"/>
                <a:gd name="connsiteY4" fmla="*/ 693174 h 2138516"/>
                <a:gd name="connsiteX5" fmla="*/ 3229897 w 3229897"/>
                <a:gd name="connsiteY5" fmla="*/ 0 h 2138516"/>
                <a:gd name="connsiteX0" fmla="*/ 0 w 3326150"/>
                <a:gd name="connsiteY0" fmla="*/ 2226747 h 2226747"/>
                <a:gd name="connsiteX1" fmla="*/ 678426 w 3326150"/>
                <a:gd name="connsiteY1" fmla="*/ 2079263 h 2226747"/>
                <a:gd name="connsiteX2" fmla="*/ 1253613 w 3326150"/>
                <a:gd name="connsiteY2" fmla="*/ 1489328 h 2226747"/>
                <a:gd name="connsiteX3" fmla="*/ 1784555 w 3326150"/>
                <a:gd name="connsiteY3" fmla="*/ 1327095 h 2226747"/>
                <a:gd name="connsiteX4" fmla="*/ 2433484 w 3326150"/>
                <a:gd name="connsiteY4" fmla="*/ 781405 h 2226747"/>
                <a:gd name="connsiteX5" fmla="*/ 3326150 w 3326150"/>
                <a:gd name="connsiteY5" fmla="*/ 0 h 2226747"/>
                <a:gd name="connsiteX0" fmla="*/ 0 w 3812712"/>
                <a:gd name="connsiteY0" fmla="*/ 2352582 h 2352582"/>
                <a:gd name="connsiteX1" fmla="*/ 1164988 w 3812712"/>
                <a:gd name="connsiteY1" fmla="*/ 2079263 h 2352582"/>
                <a:gd name="connsiteX2" fmla="*/ 1740175 w 3812712"/>
                <a:gd name="connsiteY2" fmla="*/ 1489328 h 2352582"/>
                <a:gd name="connsiteX3" fmla="*/ 2271117 w 3812712"/>
                <a:gd name="connsiteY3" fmla="*/ 1327095 h 2352582"/>
                <a:gd name="connsiteX4" fmla="*/ 2920046 w 3812712"/>
                <a:gd name="connsiteY4" fmla="*/ 781405 h 2352582"/>
                <a:gd name="connsiteX5" fmla="*/ 3812712 w 3812712"/>
                <a:gd name="connsiteY5" fmla="*/ 0 h 2352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2712" h="2352582">
                  <a:moveTo>
                    <a:pt x="0" y="2352582"/>
                  </a:moveTo>
                  <a:lnTo>
                    <a:pt x="1164988" y="2079263"/>
                  </a:lnTo>
                  <a:lnTo>
                    <a:pt x="1740175" y="1489328"/>
                  </a:lnTo>
                  <a:lnTo>
                    <a:pt x="2271117" y="1327095"/>
                  </a:lnTo>
                  <a:lnTo>
                    <a:pt x="2920046" y="781405"/>
                  </a:lnTo>
                  <a:lnTo>
                    <a:pt x="3812712" y="0"/>
                  </a:lnTo>
                </a:path>
              </a:pathLst>
            </a:cu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A6908BF5-DC34-654A-B5A7-2058EDE59DBD}"/>
                </a:ext>
              </a:extLst>
            </p:cNvPr>
            <p:cNvSpPr/>
            <p:nvPr/>
          </p:nvSpPr>
          <p:spPr>
            <a:xfrm>
              <a:off x="1737815" y="5180385"/>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F0F48FE7-F539-4342-94A2-F6015FD2D873}"/>
                </a:ext>
              </a:extLst>
            </p:cNvPr>
            <p:cNvSpPr/>
            <p:nvPr/>
          </p:nvSpPr>
          <p:spPr>
            <a:xfrm>
              <a:off x="2889176" y="4884308"/>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14746F38-866B-0F47-B0A0-B99614E7FEC9}"/>
                </a:ext>
              </a:extLst>
            </p:cNvPr>
            <p:cNvSpPr/>
            <p:nvPr/>
          </p:nvSpPr>
          <p:spPr>
            <a:xfrm>
              <a:off x="3464941" y="4316251"/>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A40E1110-447B-984F-AC7A-290231E67CA7}"/>
                </a:ext>
              </a:extLst>
            </p:cNvPr>
            <p:cNvSpPr/>
            <p:nvPr/>
          </p:nvSpPr>
          <p:spPr>
            <a:xfrm>
              <a:off x="4014062" y="4120703"/>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1AA2D0A7-EAF8-A146-A4DF-F4163AC7CA4F}"/>
                </a:ext>
              </a:extLst>
            </p:cNvPr>
            <p:cNvSpPr/>
            <p:nvPr/>
          </p:nvSpPr>
          <p:spPr>
            <a:xfrm>
              <a:off x="4660823" y="3598409"/>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2AD647C8-7583-2544-9496-EC74345F4596}"/>
                </a:ext>
              </a:extLst>
            </p:cNvPr>
            <p:cNvSpPr/>
            <p:nvPr/>
          </p:nvSpPr>
          <p:spPr>
            <a:xfrm>
              <a:off x="5260932" y="3074751"/>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Title 1">
            <a:extLst>
              <a:ext uri="{FF2B5EF4-FFF2-40B4-BE49-F238E27FC236}">
                <a16:creationId xmlns:a16="http://schemas.microsoft.com/office/drawing/2014/main" id="{7E4F8C96-B1F8-F340-9530-E0398316CFA5}"/>
              </a:ext>
            </a:extLst>
          </p:cNvPr>
          <p:cNvSpPr txBox="1">
            <a:spLocks/>
          </p:cNvSpPr>
          <p:nvPr/>
        </p:nvSpPr>
        <p:spPr>
          <a:xfrm>
            <a:off x="5809077" y="269830"/>
            <a:ext cx="6468542" cy="658817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u="sng" dirty="0">
                <a:latin typeface="Calibri" panose="020F0502020204030204" pitchFamily="34" charset="0"/>
                <a:cs typeface="Calibri" panose="020F0502020204030204" pitchFamily="34" charset="0"/>
              </a:rPr>
              <a:t>Lecture Outline</a:t>
            </a:r>
          </a:p>
          <a:p>
            <a:endParaRPr lang="en-US" dirty="0">
              <a:latin typeface="Calibri" panose="020F0502020204030204" pitchFamily="34" charset="0"/>
              <a:cs typeface="Calibri" panose="020F0502020204030204" pitchFamily="34" charset="0"/>
            </a:endParaRPr>
          </a:p>
          <a:p>
            <a:r>
              <a:rPr lang="en-US" sz="3200" dirty="0">
                <a:latin typeface="Calibri" panose="020F0502020204030204" pitchFamily="34" charset="0"/>
                <a:cs typeface="Calibri" panose="020F0502020204030204" pitchFamily="34" charset="0"/>
              </a:rPr>
              <a:t>Steps for Hypothesis Testing</a:t>
            </a:r>
          </a:p>
          <a:p>
            <a:pPr marL="800100" indent="-508000">
              <a:buFont typeface="+mj-lt"/>
              <a:buAutoNum type="arabicPeriod"/>
            </a:pPr>
            <a:r>
              <a:rPr lang="en-US" sz="2800" dirty="0"/>
              <a:t>Define Hypotheses</a:t>
            </a:r>
          </a:p>
          <a:p>
            <a:pPr marL="800100" indent="-508000">
              <a:buFont typeface="+mj-lt"/>
              <a:buAutoNum type="arabicPeriod"/>
            </a:pPr>
            <a:r>
              <a:rPr lang="en-US" sz="2800" dirty="0"/>
              <a:t>Select Sampling Distribution</a:t>
            </a:r>
          </a:p>
          <a:p>
            <a:pPr marL="800100" indent="-508000">
              <a:buFont typeface="+mj-lt"/>
              <a:buAutoNum type="arabicPeriod"/>
            </a:pPr>
            <a:r>
              <a:rPr lang="en-US" sz="2800" dirty="0"/>
              <a:t>Set </a:t>
            </a:r>
            <a:r>
              <a:rPr lang="en-US" sz="2800" i="1" dirty="0"/>
              <a:t>a priori</a:t>
            </a:r>
            <a:r>
              <a:rPr lang="en-US" sz="2800" dirty="0"/>
              <a:t> criteria</a:t>
            </a:r>
          </a:p>
          <a:p>
            <a:pPr marL="800100" indent="-508000">
              <a:buFont typeface="+mj-lt"/>
              <a:buAutoNum type="arabicPeriod"/>
            </a:pPr>
            <a:r>
              <a:rPr lang="en-US" sz="2800" dirty="0"/>
              <a:t>Compute statistics</a:t>
            </a:r>
          </a:p>
          <a:p>
            <a:pPr marL="800100" indent="-508000">
              <a:buFont typeface="+mj-lt"/>
              <a:buAutoNum type="arabicPeriod"/>
            </a:pPr>
            <a:r>
              <a:rPr lang="en-US" sz="2800" dirty="0"/>
              <a:t>Make statistical decision</a:t>
            </a:r>
          </a:p>
          <a:p>
            <a:pPr marL="800100" indent="-508000">
              <a:buFont typeface="+mj-lt"/>
              <a:buAutoNum type="arabicPeriod"/>
            </a:pPr>
            <a:r>
              <a:rPr lang="en-US" sz="2800" dirty="0"/>
              <a:t>Interpret your outcome</a:t>
            </a:r>
            <a:endParaRPr lang="en-US" sz="2000" dirty="0"/>
          </a:p>
          <a:p>
            <a:endParaRPr lang="en-US"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23649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29E6F93-1BE2-A24C-A958-7E838335E275}"/>
              </a:ext>
            </a:extLst>
          </p:cNvPr>
          <p:cNvGrpSpPr/>
          <p:nvPr/>
        </p:nvGrpSpPr>
        <p:grpSpPr>
          <a:xfrm>
            <a:off x="294429" y="602116"/>
            <a:ext cx="5458932" cy="5307690"/>
            <a:chOff x="1462829" y="602117"/>
            <a:chExt cx="5458932" cy="5307690"/>
          </a:xfrm>
        </p:grpSpPr>
        <p:grpSp>
          <p:nvGrpSpPr>
            <p:cNvPr id="5" name="Group 4">
              <a:extLst>
                <a:ext uri="{FF2B5EF4-FFF2-40B4-BE49-F238E27FC236}">
                  <a16:creationId xmlns:a16="http://schemas.microsoft.com/office/drawing/2014/main" id="{A8AAD576-3FD9-034D-97C2-DB233589DD70}"/>
                </a:ext>
              </a:extLst>
            </p:cNvPr>
            <p:cNvGrpSpPr/>
            <p:nvPr/>
          </p:nvGrpSpPr>
          <p:grpSpPr>
            <a:xfrm>
              <a:off x="1462829" y="602117"/>
              <a:ext cx="5458932" cy="5307690"/>
              <a:chOff x="1779790" y="1493134"/>
              <a:chExt cx="4490974" cy="4366550"/>
            </a:xfrm>
          </p:grpSpPr>
          <p:cxnSp>
            <p:nvCxnSpPr>
              <p:cNvPr id="15" name="Straight Arrow Connector 14">
                <a:extLst>
                  <a:ext uri="{FF2B5EF4-FFF2-40B4-BE49-F238E27FC236}">
                    <a16:creationId xmlns:a16="http://schemas.microsoft.com/office/drawing/2014/main" id="{3F7C5F54-F4ED-494E-983A-AD64CA969B6F}"/>
                  </a:ext>
                </a:extLst>
              </p:cNvPr>
              <p:cNvCxnSpPr>
                <a:cxnSpLocks/>
              </p:cNvCxnSpPr>
              <p:nvPr/>
            </p:nvCxnSpPr>
            <p:spPr>
              <a:xfrm flipV="1">
                <a:off x="1805652" y="1493134"/>
                <a:ext cx="0" cy="4366550"/>
              </a:xfrm>
              <a:prstGeom prst="straightConnector1">
                <a:avLst/>
              </a:prstGeom>
              <a:ln w="127000">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DA9EC6B0-CB23-D64F-986C-DBA67CB5181D}"/>
                  </a:ext>
                </a:extLst>
              </p:cNvPr>
              <p:cNvCxnSpPr>
                <a:cxnSpLocks/>
              </p:cNvCxnSpPr>
              <p:nvPr/>
            </p:nvCxnSpPr>
            <p:spPr>
              <a:xfrm>
                <a:off x="1779790" y="5816277"/>
                <a:ext cx="4490974" cy="0"/>
              </a:xfrm>
              <a:prstGeom prst="straightConnector1">
                <a:avLst/>
              </a:prstGeom>
              <a:ln w="127000">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sp>
            <p:nvSpPr>
              <p:cNvPr id="17" name="Freeform 16">
                <a:extLst>
                  <a:ext uri="{FF2B5EF4-FFF2-40B4-BE49-F238E27FC236}">
                    <a16:creationId xmlns:a16="http://schemas.microsoft.com/office/drawing/2014/main" id="{056D5E8B-B79A-CE4A-9B3E-284711C7414D}"/>
                  </a:ext>
                </a:extLst>
              </p:cNvPr>
              <p:cNvSpPr/>
              <p:nvPr/>
            </p:nvSpPr>
            <p:spPr>
              <a:xfrm>
                <a:off x="1939274" y="3449119"/>
                <a:ext cx="1893537" cy="2087919"/>
              </a:xfrm>
              <a:custGeom>
                <a:avLst/>
                <a:gdLst>
                  <a:gd name="connsiteX0" fmla="*/ 0 w 1893537"/>
                  <a:gd name="connsiteY0" fmla="*/ 2879376 h 2887468"/>
                  <a:gd name="connsiteX1" fmla="*/ 412694 w 1893537"/>
                  <a:gd name="connsiteY1" fmla="*/ 2361486 h 2887468"/>
                  <a:gd name="connsiteX2" fmla="*/ 841572 w 1893537"/>
                  <a:gd name="connsiteY2" fmla="*/ 233281 h 2887468"/>
                  <a:gd name="connsiteX3" fmla="*/ 1068149 w 1893537"/>
                  <a:gd name="connsiteY3" fmla="*/ 289925 h 2887468"/>
                  <a:gd name="connsiteX4" fmla="*/ 1472751 w 1893537"/>
                  <a:gd name="connsiteY4" fmla="*/ 2321026 h 2887468"/>
                  <a:gd name="connsiteX5" fmla="*/ 1893537 w 1893537"/>
                  <a:gd name="connsiteY5" fmla="*/ 2887468 h 2887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3537" h="2887468">
                    <a:moveTo>
                      <a:pt x="0" y="2879376"/>
                    </a:moveTo>
                    <a:cubicBezTo>
                      <a:pt x="136216" y="2840939"/>
                      <a:pt x="272432" y="2802502"/>
                      <a:pt x="412694" y="2361486"/>
                    </a:cubicBezTo>
                    <a:cubicBezTo>
                      <a:pt x="552956" y="1920470"/>
                      <a:pt x="732330" y="578541"/>
                      <a:pt x="841572" y="233281"/>
                    </a:cubicBezTo>
                    <a:cubicBezTo>
                      <a:pt x="950814" y="-111979"/>
                      <a:pt x="962953" y="-58032"/>
                      <a:pt x="1068149" y="289925"/>
                    </a:cubicBezTo>
                    <a:cubicBezTo>
                      <a:pt x="1173345" y="637882"/>
                      <a:pt x="1335186" y="1888102"/>
                      <a:pt x="1472751" y="2321026"/>
                    </a:cubicBezTo>
                    <a:cubicBezTo>
                      <a:pt x="1610316" y="2753950"/>
                      <a:pt x="1689888" y="2863192"/>
                      <a:pt x="1893537" y="2887468"/>
                    </a:cubicBezTo>
                  </a:path>
                </a:pathLst>
              </a:custGeom>
              <a:solidFill>
                <a:schemeClr val="accent1">
                  <a:lumMod val="40000"/>
                  <a:lumOff val="60000"/>
                  <a:alpha val="84678"/>
                </a:schemeClr>
              </a:solidFill>
              <a:ln>
                <a:solidFill>
                  <a:schemeClr val="accent1">
                    <a:lumMod val="50000"/>
                    <a:alpha val="85134"/>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17">
                <a:extLst>
                  <a:ext uri="{FF2B5EF4-FFF2-40B4-BE49-F238E27FC236}">
                    <a16:creationId xmlns:a16="http://schemas.microsoft.com/office/drawing/2014/main" id="{22BF8C57-2D60-534C-B131-447BD8F8385A}"/>
                  </a:ext>
                </a:extLst>
              </p:cNvPr>
              <p:cNvSpPr/>
              <p:nvPr/>
            </p:nvSpPr>
            <p:spPr>
              <a:xfrm>
                <a:off x="2842958" y="2826560"/>
                <a:ext cx="1893537" cy="2710478"/>
              </a:xfrm>
              <a:custGeom>
                <a:avLst/>
                <a:gdLst>
                  <a:gd name="connsiteX0" fmla="*/ 0 w 1893537"/>
                  <a:gd name="connsiteY0" fmla="*/ 2879376 h 2887468"/>
                  <a:gd name="connsiteX1" fmla="*/ 412694 w 1893537"/>
                  <a:gd name="connsiteY1" fmla="*/ 2361486 h 2887468"/>
                  <a:gd name="connsiteX2" fmla="*/ 841572 w 1893537"/>
                  <a:gd name="connsiteY2" fmla="*/ 233281 h 2887468"/>
                  <a:gd name="connsiteX3" fmla="*/ 1068149 w 1893537"/>
                  <a:gd name="connsiteY3" fmla="*/ 289925 h 2887468"/>
                  <a:gd name="connsiteX4" fmla="*/ 1472751 w 1893537"/>
                  <a:gd name="connsiteY4" fmla="*/ 2321026 h 2887468"/>
                  <a:gd name="connsiteX5" fmla="*/ 1893537 w 1893537"/>
                  <a:gd name="connsiteY5" fmla="*/ 2887468 h 2887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3537" h="2887468">
                    <a:moveTo>
                      <a:pt x="0" y="2879376"/>
                    </a:moveTo>
                    <a:cubicBezTo>
                      <a:pt x="136216" y="2840939"/>
                      <a:pt x="272432" y="2802502"/>
                      <a:pt x="412694" y="2361486"/>
                    </a:cubicBezTo>
                    <a:cubicBezTo>
                      <a:pt x="552956" y="1920470"/>
                      <a:pt x="732330" y="578541"/>
                      <a:pt x="841572" y="233281"/>
                    </a:cubicBezTo>
                    <a:cubicBezTo>
                      <a:pt x="950814" y="-111979"/>
                      <a:pt x="962953" y="-58032"/>
                      <a:pt x="1068149" y="289925"/>
                    </a:cubicBezTo>
                    <a:cubicBezTo>
                      <a:pt x="1173345" y="637882"/>
                      <a:pt x="1335186" y="1888102"/>
                      <a:pt x="1472751" y="2321026"/>
                    </a:cubicBezTo>
                    <a:cubicBezTo>
                      <a:pt x="1610316" y="2753950"/>
                      <a:pt x="1689888" y="2863192"/>
                      <a:pt x="1893537" y="2887468"/>
                    </a:cubicBezTo>
                  </a:path>
                </a:pathLst>
              </a:custGeom>
              <a:solidFill>
                <a:schemeClr val="accent2">
                  <a:lumMod val="40000"/>
                  <a:lumOff val="60000"/>
                  <a:alpha val="85220"/>
                </a:schemeClr>
              </a:solidFill>
              <a:ln>
                <a:solidFill>
                  <a:schemeClr val="accent2">
                    <a:lumMod val="50000"/>
                    <a:alpha val="85199"/>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18">
                <a:extLst>
                  <a:ext uri="{FF2B5EF4-FFF2-40B4-BE49-F238E27FC236}">
                    <a16:creationId xmlns:a16="http://schemas.microsoft.com/office/drawing/2014/main" id="{6FDFA582-4592-114B-A82E-7632E7D351C5}"/>
                  </a:ext>
                </a:extLst>
              </p:cNvPr>
              <p:cNvSpPr/>
              <p:nvPr/>
            </p:nvSpPr>
            <p:spPr>
              <a:xfrm>
                <a:off x="3722204" y="2311601"/>
                <a:ext cx="2101382" cy="3225437"/>
              </a:xfrm>
              <a:custGeom>
                <a:avLst/>
                <a:gdLst>
                  <a:gd name="connsiteX0" fmla="*/ 0 w 1893537"/>
                  <a:gd name="connsiteY0" fmla="*/ 2879376 h 2887468"/>
                  <a:gd name="connsiteX1" fmla="*/ 412694 w 1893537"/>
                  <a:gd name="connsiteY1" fmla="*/ 2361486 h 2887468"/>
                  <a:gd name="connsiteX2" fmla="*/ 841572 w 1893537"/>
                  <a:gd name="connsiteY2" fmla="*/ 233281 h 2887468"/>
                  <a:gd name="connsiteX3" fmla="*/ 1068149 w 1893537"/>
                  <a:gd name="connsiteY3" fmla="*/ 289925 h 2887468"/>
                  <a:gd name="connsiteX4" fmla="*/ 1472751 w 1893537"/>
                  <a:gd name="connsiteY4" fmla="*/ 2321026 h 2887468"/>
                  <a:gd name="connsiteX5" fmla="*/ 1893537 w 1893537"/>
                  <a:gd name="connsiteY5" fmla="*/ 2887468 h 2887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3537" h="2887468">
                    <a:moveTo>
                      <a:pt x="0" y="2879376"/>
                    </a:moveTo>
                    <a:cubicBezTo>
                      <a:pt x="136216" y="2840939"/>
                      <a:pt x="272432" y="2802502"/>
                      <a:pt x="412694" y="2361486"/>
                    </a:cubicBezTo>
                    <a:cubicBezTo>
                      <a:pt x="552956" y="1920470"/>
                      <a:pt x="732330" y="578541"/>
                      <a:pt x="841572" y="233281"/>
                    </a:cubicBezTo>
                    <a:cubicBezTo>
                      <a:pt x="950814" y="-111979"/>
                      <a:pt x="962953" y="-58032"/>
                      <a:pt x="1068149" y="289925"/>
                    </a:cubicBezTo>
                    <a:cubicBezTo>
                      <a:pt x="1173345" y="637882"/>
                      <a:pt x="1335186" y="1888102"/>
                      <a:pt x="1472751" y="2321026"/>
                    </a:cubicBezTo>
                    <a:cubicBezTo>
                      <a:pt x="1610316" y="2753950"/>
                      <a:pt x="1689888" y="2863192"/>
                      <a:pt x="1893537" y="2887468"/>
                    </a:cubicBezTo>
                  </a:path>
                </a:pathLst>
              </a:custGeom>
              <a:solidFill>
                <a:schemeClr val="accent6">
                  <a:lumMod val="40000"/>
                  <a:lumOff val="60000"/>
                  <a:alpha val="85188"/>
                </a:schemeClr>
              </a:solidFill>
              <a:ln>
                <a:solidFill>
                  <a:schemeClr val="accent6">
                    <a:lumMod val="50000"/>
                    <a:alpha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Freeform 5">
              <a:extLst>
                <a:ext uri="{FF2B5EF4-FFF2-40B4-BE49-F238E27FC236}">
                  <a16:creationId xmlns:a16="http://schemas.microsoft.com/office/drawing/2014/main" id="{3B94D678-6CFD-DB44-AB89-228139B919EC}"/>
                </a:ext>
              </a:extLst>
            </p:cNvPr>
            <p:cNvSpPr/>
            <p:nvPr/>
          </p:nvSpPr>
          <p:spPr>
            <a:xfrm>
              <a:off x="1812853" y="2979683"/>
              <a:ext cx="3708069" cy="2264351"/>
            </a:xfrm>
            <a:custGeom>
              <a:avLst/>
              <a:gdLst>
                <a:gd name="connsiteX0" fmla="*/ 0 w 3229897"/>
                <a:gd name="connsiteY0" fmla="*/ 2138516 h 2138516"/>
                <a:gd name="connsiteX1" fmla="*/ 678426 w 3229897"/>
                <a:gd name="connsiteY1" fmla="*/ 1991032 h 2138516"/>
                <a:gd name="connsiteX2" fmla="*/ 1253613 w 3229897"/>
                <a:gd name="connsiteY2" fmla="*/ 1401097 h 2138516"/>
                <a:gd name="connsiteX3" fmla="*/ 1784555 w 3229897"/>
                <a:gd name="connsiteY3" fmla="*/ 1238864 h 2138516"/>
                <a:gd name="connsiteX4" fmla="*/ 2433484 w 3229897"/>
                <a:gd name="connsiteY4" fmla="*/ 693174 h 2138516"/>
                <a:gd name="connsiteX5" fmla="*/ 3229897 w 3229897"/>
                <a:gd name="connsiteY5" fmla="*/ 0 h 2138516"/>
                <a:gd name="connsiteX0" fmla="*/ 0 w 3708069"/>
                <a:gd name="connsiteY0" fmla="*/ 2264351 h 2264351"/>
                <a:gd name="connsiteX1" fmla="*/ 1156598 w 3708069"/>
                <a:gd name="connsiteY1" fmla="*/ 1991032 h 2264351"/>
                <a:gd name="connsiteX2" fmla="*/ 1731785 w 3708069"/>
                <a:gd name="connsiteY2" fmla="*/ 1401097 h 2264351"/>
                <a:gd name="connsiteX3" fmla="*/ 2262727 w 3708069"/>
                <a:gd name="connsiteY3" fmla="*/ 1238864 h 2264351"/>
                <a:gd name="connsiteX4" fmla="*/ 2911656 w 3708069"/>
                <a:gd name="connsiteY4" fmla="*/ 693174 h 2264351"/>
                <a:gd name="connsiteX5" fmla="*/ 3708069 w 3708069"/>
                <a:gd name="connsiteY5" fmla="*/ 0 h 2264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8069" h="2264351">
                  <a:moveTo>
                    <a:pt x="0" y="2264351"/>
                  </a:moveTo>
                  <a:lnTo>
                    <a:pt x="1156598" y="1991032"/>
                  </a:lnTo>
                  <a:lnTo>
                    <a:pt x="1731785" y="1401097"/>
                  </a:lnTo>
                  <a:lnTo>
                    <a:pt x="2262727" y="1238864"/>
                  </a:lnTo>
                  <a:lnTo>
                    <a:pt x="2911656" y="693174"/>
                  </a:lnTo>
                  <a:lnTo>
                    <a:pt x="3708069" y="0"/>
                  </a:lnTo>
                </a:path>
              </a:pathLst>
            </a:custGeom>
            <a:noFill/>
            <a:ln w="127000">
              <a:solidFill>
                <a:schemeClr val="bg1">
                  <a:alpha val="84175"/>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82CC9CC0-B87F-4541-AA63-DC8E7082AF0C}"/>
                </a:ext>
              </a:extLst>
            </p:cNvPr>
            <p:cNvCxnSpPr>
              <a:cxnSpLocks/>
            </p:cNvCxnSpPr>
            <p:nvPr/>
          </p:nvCxnSpPr>
          <p:spPr>
            <a:xfrm flipV="1">
              <a:off x="5630015" y="2762124"/>
              <a:ext cx="122104" cy="126034"/>
            </a:xfrm>
            <a:prstGeom prst="straightConnector1">
              <a:avLst/>
            </a:pr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8" name="Freeform 7">
              <a:extLst>
                <a:ext uri="{FF2B5EF4-FFF2-40B4-BE49-F238E27FC236}">
                  <a16:creationId xmlns:a16="http://schemas.microsoft.com/office/drawing/2014/main" id="{EEFDC0CF-7CB9-1240-8601-062318CD71F3}"/>
                </a:ext>
              </a:extLst>
            </p:cNvPr>
            <p:cNvSpPr/>
            <p:nvPr/>
          </p:nvSpPr>
          <p:spPr>
            <a:xfrm>
              <a:off x="1817303" y="2889806"/>
              <a:ext cx="3812712" cy="2352582"/>
            </a:xfrm>
            <a:custGeom>
              <a:avLst/>
              <a:gdLst>
                <a:gd name="connsiteX0" fmla="*/ 0 w 3229897"/>
                <a:gd name="connsiteY0" fmla="*/ 2138516 h 2138516"/>
                <a:gd name="connsiteX1" fmla="*/ 678426 w 3229897"/>
                <a:gd name="connsiteY1" fmla="*/ 1991032 h 2138516"/>
                <a:gd name="connsiteX2" fmla="*/ 1253613 w 3229897"/>
                <a:gd name="connsiteY2" fmla="*/ 1401097 h 2138516"/>
                <a:gd name="connsiteX3" fmla="*/ 1784555 w 3229897"/>
                <a:gd name="connsiteY3" fmla="*/ 1238864 h 2138516"/>
                <a:gd name="connsiteX4" fmla="*/ 2433484 w 3229897"/>
                <a:gd name="connsiteY4" fmla="*/ 693174 h 2138516"/>
                <a:gd name="connsiteX5" fmla="*/ 3229897 w 3229897"/>
                <a:gd name="connsiteY5" fmla="*/ 0 h 2138516"/>
                <a:gd name="connsiteX0" fmla="*/ 0 w 3326150"/>
                <a:gd name="connsiteY0" fmla="*/ 2226747 h 2226747"/>
                <a:gd name="connsiteX1" fmla="*/ 678426 w 3326150"/>
                <a:gd name="connsiteY1" fmla="*/ 2079263 h 2226747"/>
                <a:gd name="connsiteX2" fmla="*/ 1253613 w 3326150"/>
                <a:gd name="connsiteY2" fmla="*/ 1489328 h 2226747"/>
                <a:gd name="connsiteX3" fmla="*/ 1784555 w 3326150"/>
                <a:gd name="connsiteY3" fmla="*/ 1327095 h 2226747"/>
                <a:gd name="connsiteX4" fmla="*/ 2433484 w 3326150"/>
                <a:gd name="connsiteY4" fmla="*/ 781405 h 2226747"/>
                <a:gd name="connsiteX5" fmla="*/ 3326150 w 3326150"/>
                <a:gd name="connsiteY5" fmla="*/ 0 h 2226747"/>
                <a:gd name="connsiteX0" fmla="*/ 0 w 3812712"/>
                <a:gd name="connsiteY0" fmla="*/ 2352582 h 2352582"/>
                <a:gd name="connsiteX1" fmla="*/ 1164988 w 3812712"/>
                <a:gd name="connsiteY1" fmla="*/ 2079263 h 2352582"/>
                <a:gd name="connsiteX2" fmla="*/ 1740175 w 3812712"/>
                <a:gd name="connsiteY2" fmla="*/ 1489328 h 2352582"/>
                <a:gd name="connsiteX3" fmla="*/ 2271117 w 3812712"/>
                <a:gd name="connsiteY3" fmla="*/ 1327095 h 2352582"/>
                <a:gd name="connsiteX4" fmla="*/ 2920046 w 3812712"/>
                <a:gd name="connsiteY4" fmla="*/ 781405 h 2352582"/>
                <a:gd name="connsiteX5" fmla="*/ 3812712 w 3812712"/>
                <a:gd name="connsiteY5" fmla="*/ 0 h 2352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2712" h="2352582">
                  <a:moveTo>
                    <a:pt x="0" y="2352582"/>
                  </a:moveTo>
                  <a:lnTo>
                    <a:pt x="1164988" y="2079263"/>
                  </a:lnTo>
                  <a:lnTo>
                    <a:pt x="1740175" y="1489328"/>
                  </a:lnTo>
                  <a:lnTo>
                    <a:pt x="2271117" y="1327095"/>
                  </a:lnTo>
                  <a:lnTo>
                    <a:pt x="2920046" y="781405"/>
                  </a:lnTo>
                  <a:lnTo>
                    <a:pt x="3812712" y="0"/>
                  </a:lnTo>
                </a:path>
              </a:pathLst>
            </a:cu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A6908BF5-DC34-654A-B5A7-2058EDE59DBD}"/>
                </a:ext>
              </a:extLst>
            </p:cNvPr>
            <p:cNvSpPr/>
            <p:nvPr/>
          </p:nvSpPr>
          <p:spPr>
            <a:xfrm>
              <a:off x="1737815" y="5180385"/>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F0F48FE7-F539-4342-94A2-F6015FD2D873}"/>
                </a:ext>
              </a:extLst>
            </p:cNvPr>
            <p:cNvSpPr/>
            <p:nvPr/>
          </p:nvSpPr>
          <p:spPr>
            <a:xfrm>
              <a:off x="2889176" y="4884308"/>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14746F38-866B-0F47-B0A0-B99614E7FEC9}"/>
                </a:ext>
              </a:extLst>
            </p:cNvPr>
            <p:cNvSpPr/>
            <p:nvPr/>
          </p:nvSpPr>
          <p:spPr>
            <a:xfrm>
              <a:off x="3464941" y="4316251"/>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A40E1110-447B-984F-AC7A-290231E67CA7}"/>
                </a:ext>
              </a:extLst>
            </p:cNvPr>
            <p:cNvSpPr/>
            <p:nvPr/>
          </p:nvSpPr>
          <p:spPr>
            <a:xfrm>
              <a:off x="4014062" y="4120703"/>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1AA2D0A7-EAF8-A146-A4DF-F4163AC7CA4F}"/>
                </a:ext>
              </a:extLst>
            </p:cNvPr>
            <p:cNvSpPr/>
            <p:nvPr/>
          </p:nvSpPr>
          <p:spPr>
            <a:xfrm>
              <a:off x="4660823" y="3598409"/>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2AD647C8-7583-2544-9496-EC74345F4596}"/>
                </a:ext>
              </a:extLst>
            </p:cNvPr>
            <p:cNvSpPr/>
            <p:nvPr/>
          </p:nvSpPr>
          <p:spPr>
            <a:xfrm>
              <a:off x="5260932" y="3074751"/>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Title 1">
            <a:extLst>
              <a:ext uri="{FF2B5EF4-FFF2-40B4-BE49-F238E27FC236}">
                <a16:creationId xmlns:a16="http://schemas.microsoft.com/office/drawing/2014/main" id="{7E4F8C96-B1F8-F340-9530-E0398316CFA5}"/>
              </a:ext>
            </a:extLst>
          </p:cNvPr>
          <p:cNvSpPr txBox="1">
            <a:spLocks/>
          </p:cNvSpPr>
          <p:nvPr/>
        </p:nvSpPr>
        <p:spPr>
          <a:xfrm>
            <a:off x="5809077" y="269830"/>
            <a:ext cx="6468542" cy="658817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u="sng" dirty="0">
                <a:latin typeface="Calibri" panose="020F0502020204030204" pitchFamily="34" charset="0"/>
                <a:cs typeface="Calibri" panose="020F0502020204030204" pitchFamily="34" charset="0"/>
              </a:rPr>
              <a:t>Lecture Outline</a:t>
            </a:r>
          </a:p>
          <a:p>
            <a:endParaRPr lang="en-US" sz="3200" dirty="0">
              <a:latin typeface="Calibri" panose="020F0502020204030204" pitchFamily="34" charset="0"/>
              <a:cs typeface="Calibri" panose="020F0502020204030204" pitchFamily="34" charset="0"/>
            </a:endParaRPr>
          </a:p>
          <a:p>
            <a:r>
              <a:rPr lang="en-US" sz="3200" dirty="0">
                <a:solidFill>
                  <a:srgbClr val="FF0000"/>
                </a:solidFill>
                <a:latin typeface="Calibri" panose="020F0502020204030204" pitchFamily="34" charset="0"/>
                <a:cs typeface="Calibri" panose="020F0502020204030204" pitchFamily="34" charset="0"/>
              </a:rPr>
              <a:t>Steps for Hypothesis Testing</a:t>
            </a:r>
          </a:p>
          <a:p>
            <a:pPr marL="800100" indent="-508000">
              <a:buFont typeface="+mj-lt"/>
              <a:buAutoNum type="arabicPeriod"/>
            </a:pPr>
            <a:r>
              <a:rPr lang="en-US" sz="2800" dirty="0"/>
              <a:t>Define Hypotheses</a:t>
            </a:r>
          </a:p>
          <a:p>
            <a:pPr marL="800100" indent="-508000">
              <a:buFont typeface="+mj-lt"/>
              <a:buAutoNum type="arabicPeriod"/>
            </a:pPr>
            <a:r>
              <a:rPr lang="en-US" sz="2800" dirty="0"/>
              <a:t>Select Sampling Distribution</a:t>
            </a:r>
          </a:p>
          <a:p>
            <a:pPr marL="800100" indent="-508000">
              <a:buFont typeface="+mj-lt"/>
              <a:buAutoNum type="arabicPeriod"/>
            </a:pPr>
            <a:r>
              <a:rPr lang="en-US" sz="2800" dirty="0"/>
              <a:t>Set </a:t>
            </a:r>
            <a:r>
              <a:rPr lang="en-US" sz="2800" i="1" dirty="0"/>
              <a:t>a priori</a:t>
            </a:r>
            <a:r>
              <a:rPr lang="en-US" sz="2800" dirty="0"/>
              <a:t> criteria</a:t>
            </a:r>
          </a:p>
          <a:p>
            <a:pPr marL="800100" indent="-508000">
              <a:buFont typeface="+mj-lt"/>
              <a:buAutoNum type="arabicPeriod"/>
            </a:pPr>
            <a:r>
              <a:rPr lang="en-US" sz="2800" dirty="0"/>
              <a:t>Compute statistics</a:t>
            </a:r>
          </a:p>
          <a:p>
            <a:pPr marL="800100" indent="-508000">
              <a:buFont typeface="+mj-lt"/>
              <a:buAutoNum type="arabicPeriod"/>
            </a:pPr>
            <a:r>
              <a:rPr lang="en-US" sz="2800" dirty="0"/>
              <a:t>Make statistical decision</a:t>
            </a:r>
          </a:p>
          <a:p>
            <a:pPr marL="800100" indent="-508000">
              <a:buFont typeface="+mj-lt"/>
              <a:buAutoNum type="arabicPeriod"/>
            </a:pPr>
            <a:r>
              <a:rPr lang="en-US" sz="2800" dirty="0"/>
              <a:t>Interpret your outcome</a:t>
            </a:r>
            <a:endParaRPr lang="en-US" sz="2000" dirty="0"/>
          </a:p>
          <a:p>
            <a:endParaRPr lang="en-US"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170846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AE6BB-58A8-1546-92D6-2C0306990118}"/>
              </a:ext>
            </a:extLst>
          </p:cNvPr>
          <p:cNvSpPr>
            <a:spLocks noGrp="1"/>
          </p:cNvSpPr>
          <p:nvPr>
            <p:ph type="title"/>
          </p:nvPr>
        </p:nvSpPr>
        <p:spPr/>
        <p:txBody>
          <a:bodyPr/>
          <a:lstStyle/>
          <a:p>
            <a:r>
              <a:rPr lang="en-US"/>
              <a:t>Science!</a:t>
            </a:r>
            <a:endParaRPr lang="en-US" dirty="0"/>
          </a:p>
        </p:txBody>
      </p:sp>
      <p:sp>
        <p:nvSpPr>
          <p:cNvPr id="3" name="Content Placeholder 2">
            <a:extLst>
              <a:ext uri="{FF2B5EF4-FFF2-40B4-BE49-F238E27FC236}">
                <a16:creationId xmlns:a16="http://schemas.microsoft.com/office/drawing/2014/main" id="{378FCDFA-0D6E-DB41-948F-9A6ED1D0F9DB}"/>
              </a:ext>
            </a:extLst>
          </p:cNvPr>
          <p:cNvSpPr>
            <a:spLocks noGrp="1"/>
          </p:cNvSpPr>
          <p:nvPr>
            <p:ph idx="1"/>
          </p:nvPr>
        </p:nvSpPr>
        <p:spPr>
          <a:xfrm>
            <a:off x="838200" y="1825625"/>
            <a:ext cx="6400799" cy="5150908"/>
          </a:xfrm>
        </p:spPr>
        <p:txBody>
          <a:bodyPr/>
          <a:lstStyle/>
          <a:p>
            <a:r>
              <a:rPr lang="en-US" dirty="0"/>
              <a:t>Have a theory</a:t>
            </a:r>
          </a:p>
          <a:p>
            <a:r>
              <a:rPr lang="en-US" dirty="0"/>
              <a:t>Develop a research question to test the theory</a:t>
            </a:r>
          </a:p>
          <a:p>
            <a:r>
              <a:rPr lang="en-US" dirty="0"/>
              <a:t>State specific hypothesis based on research question</a:t>
            </a:r>
          </a:p>
          <a:p>
            <a:r>
              <a:rPr lang="en-US" dirty="0"/>
              <a:t>Run the experiment</a:t>
            </a:r>
          </a:p>
          <a:p>
            <a:r>
              <a:rPr lang="en-US" dirty="0"/>
              <a:t>Collect and analyze data</a:t>
            </a:r>
          </a:p>
          <a:p>
            <a:r>
              <a:rPr lang="en-US" dirty="0"/>
              <a:t>Revise theory based on observed data</a:t>
            </a:r>
          </a:p>
          <a:p>
            <a:r>
              <a:rPr lang="en-US" dirty="0"/>
              <a:t>Repeat</a:t>
            </a:r>
          </a:p>
        </p:txBody>
      </p:sp>
      <p:pic>
        <p:nvPicPr>
          <p:cNvPr id="5" name="Picture 4">
            <a:extLst>
              <a:ext uri="{FF2B5EF4-FFF2-40B4-BE49-F238E27FC236}">
                <a16:creationId xmlns:a16="http://schemas.microsoft.com/office/drawing/2014/main" id="{5DE87DC2-DFED-E045-93EA-8449BFE29B22}"/>
              </a:ext>
            </a:extLst>
          </p:cNvPr>
          <p:cNvPicPr>
            <a:picLocks noChangeAspect="1"/>
          </p:cNvPicPr>
          <p:nvPr/>
        </p:nvPicPr>
        <p:blipFill>
          <a:blip r:embed="rId2"/>
          <a:stretch>
            <a:fillRect/>
          </a:stretch>
        </p:blipFill>
        <p:spPr>
          <a:xfrm>
            <a:off x="7239000" y="1825625"/>
            <a:ext cx="4953000" cy="3987800"/>
          </a:xfrm>
          <a:prstGeom prst="rect">
            <a:avLst/>
          </a:prstGeom>
        </p:spPr>
      </p:pic>
    </p:spTree>
    <p:extLst>
      <p:ext uri="{BB962C8B-B14F-4D97-AF65-F5344CB8AC3E}">
        <p14:creationId xmlns:p14="http://schemas.microsoft.com/office/powerpoint/2010/main" val="225705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E085E-D17A-BA4C-ABF1-138ACC718DB7}"/>
              </a:ext>
            </a:extLst>
          </p:cNvPr>
          <p:cNvSpPr>
            <a:spLocks noGrp="1"/>
          </p:cNvSpPr>
          <p:nvPr>
            <p:ph type="title"/>
          </p:nvPr>
        </p:nvSpPr>
        <p:spPr/>
        <p:txBody>
          <a:bodyPr/>
          <a:lstStyle/>
          <a:p>
            <a:r>
              <a:rPr lang="en-US" dirty="0"/>
              <a:t>Steps of Hypothesis Testing</a:t>
            </a:r>
          </a:p>
        </p:txBody>
      </p:sp>
      <p:sp>
        <p:nvSpPr>
          <p:cNvPr id="3" name="Content Placeholder 2">
            <a:extLst>
              <a:ext uri="{FF2B5EF4-FFF2-40B4-BE49-F238E27FC236}">
                <a16:creationId xmlns:a16="http://schemas.microsoft.com/office/drawing/2014/main" id="{8D4A4BA0-3F62-FF41-8FB8-0BDD124D4510}"/>
              </a:ext>
            </a:extLst>
          </p:cNvPr>
          <p:cNvSpPr>
            <a:spLocks noGrp="1"/>
          </p:cNvSpPr>
          <p:nvPr>
            <p:ph idx="1"/>
          </p:nvPr>
        </p:nvSpPr>
        <p:spPr>
          <a:xfrm>
            <a:off x="838199" y="1825625"/>
            <a:ext cx="7168175" cy="4351338"/>
          </a:xfrm>
        </p:spPr>
        <p:txBody>
          <a:bodyPr>
            <a:normAutofit fontScale="85000" lnSpcReduction="20000"/>
          </a:bodyPr>
          <a:lstStyle/>
          <a:p>
            <a:pPr marL="0" indent="0">
              <a:buNone/>
            </a:pPr>
            <a:r>
              <a:rPr lang="en-US" b="1" dirty="0"/>
              <a:t>Hypothesis Testing</a:t>
            </a:r>
            <a:r>
              <a:rPr lang="en-US" dirty="0"/>
              <a:t>: Protocol to follow for research</a:t>
            </a:r>
          </a:p>
          <a:p>
            <a:r>
              <a:rPr lang="en-US" altLang="en-US" dirty="0">
                <a:cs typeface="Arial" panose="020B0604020202020204" pitchFamily="34" charset="0"/>
              </a:rPr>
              <a:t>Goal of hypothesis testing is to rule out chance (sampling error) as a plausible explanation for the results from a research study</a:t>
            </a:r>
          </a:p>
          <a:p>
            <a:pPr marL="0" indent="0">
              <a:buNone/>
            </a:pPr>
            <a:endParaRPr lang="en-US" dirty="0"/>
          </a:p>
          <a:p>
            <a:pPr marL="0" indent="0">
              <a:buNone/>
            </a:pPr>
            <a:r>
              <a:rPr lang="en-US" b="1" dirty="0"/>
              <a:t>Steps of Hypothesis Testing</a:t>
            </a:r>
          </a:p>
          <a:p>
            <a:pPr marL="514350" indent="-514350">
              <a:buFont typeface="+mj-lt"/>
              <a:buAutoNum type="arabicPeriod"/>
            </a:pPr>
            <a:r>
              <a:rPr lang="en-US" dirty="0"/>
              <a:t>Define Hypotheses</a:t>
            </a:r>
          </a:p>
          <a:p>
            <a:pPr marL="514350" indent="-514350">
              <a:buFont typeface="+mj-lt"/>
              <a:buAutoNum type="arabicPeriod"/>
            </a:pPr>
            <a:r>
              <a:rPr lang="en-US" dirty="0"/>
              <a:t>Select Sampling Distribution</a:t>
            </a:r>
          </a:p>
          <a:p>
            <a:pPr marL="514350" indent="-514350">
              <a:buFont typeface="+mj-lt"/>
              <a:buAutoNum type="arabicPeriod"/>
            </a:pPr>
            <a:r>
              <a:rPr lang="en-US" dirty="0"/>
              <a:t>Set </a:t>
            </a:r>
            <a:r>
              <a:rPr lang="en-US" i="1" dirty="0"/>
              <a:t>a priori</a:t>
            </a:r>
            <a:r>
              <a:rPr lang="en-US" dirty="0"/>
              <a:t> criteria</a:t>
            </a:r>
          </a:p>
          <a:p>
            <a:pPr marL="514350" indent="-514350">
              <a:buFont typeface="+mj-lt"/>
              <a:buAutoNum type="arabicPeriod"/>
            </a:pPr>
            <a:r>
              <a:rPr lang="en-US" dirty="0"/>
              <a:t>Compute statistics</a:t>
            </a:r>
          </a:p>
          <a:p>
            <a:pPr marL="514350" indent="-514350">
              <a:buFont typeface="+mj-lt"/>
              <a:buAutoNum type="arabicPeriod"/>
            </a:pPr>
            <a:r>
              <a:rPr lang="en-US" dirty="0"/>
              <a:t>Make statistical decision</a:t>
            </a:r>
          </a:p>
          <a:p>
            <a:pPr marL="514350" indent="-514350">
              <a:buFont typeface="+mj-lt"/>
              <a:buAutoNum type="arabicPeriod"/>
            </a:pPr>
            <a:r>
              <a:rPr lang="en-US" dirty="0"/>
              <a:t>Interpret your outcome</a:t>
            </a:r>
          </a:p>
          <a:p>
            <a:pPr marL="514350" indent="-514350">
              <a:buFont typeface="+mj-lt"/>
              <a:buAutoNum type="arabicPeriod"/>
            </a:pPr>
            <a:endParaRPr lang="en-US" dirty="0"/>
          </a:p>
        </p:txBody>
      </p:sp>
      <p:pic>
        <p:nvPicPr>
          <p:cNvPr id="8" name="Picture 7" descr="A graph of a test&#10;&#10;AI-generated content may be incorrect.">
            <a:extLst>
              <a:ext uri="{FF2B5EF4-FFF2-40B4-BE49-F238E27FC236}">
                <a16:creationId xmlns:a16="http://schemas.microsoft.com/office/drawing/2014/main" id="{59287630-B7E1-7552-FEFF-A343D01F51DD}"/>
              </a:ext>
            </a:extLst>
          </p:cNvPr>
          <p:cNvPicPr>
            <a:picLocks noChangeAspect="1"/>
          </p:cNvPicPr>
          <p:nvPr/>
        </p:nvPicPr>
        <p:blipFill>
          <a:blip r:embed="rId2"/>
          <a:stretch>
            <a:fillRect/>
          </a:stretch>
        </p:blipFill>
        <p:spPr>
          <a:xfrm>
            <a:off x="8006375" y="2012306"/>
            <a:ext cx="3566167" cy="4480569"/>
          </a:xfrm>
          <a:prstGeom prst="rect">
            <a:avLst/>
          </a:prstGeom>
        </p:spPr>
      </p:pic>
    </p:spTree>
    <p:extLst>
      <p:ext uri="{BB962C8B-B14F-4D97-AF65-F5344CB8AC3E}">
        <p14:creationId xmlns:p14="http://schemas.microsoft.com/office/powerpoint/2010/main" val="2648756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EA0FF-7C2A-45E1-A915-BE09F35BAF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6C52A7-036D-7136-3C17-4B84664EE2DA}"/>
              </a:ext>
            </a:extLst>
          </p:cNvPr>
          <p:cNvSpPr>
            <a:spLocks noGrp="1"/>
          </p:cNvSpPr>
          <p:nvPr>
            <p:ph type="title"/>
          </p:nvPr>
        </p:nvSpPr>
        <p:spPr/>
        <p:txBody>
          <a:bodyPr/>
          <a:lstStyle/>
          <a:p>
            <a:r>
              <a:rPr lang="en-US" dirty="0"/>
              <a:t>Steps of Hypothesis Testing</a:t>
            </a:r>
          </a:p>
        </p:txBody>
      </p:sp>
      <p:sp>
        <p:nvSpPr>
          <p:cNvPr id="3" name="Content Placeholder 2">
            <a:extLst>
              <a:ext uri="{FF2B5EF4-FFF2-40B4-BE49-F238E27FC236}">
                <a16:creationId xmlns:a16="http://schemas.microsoft.com/office/drawing/2014/main" id="{E5B9CB58-A2B4-C4A6-8F98-6F65203DFC3D}"/>
              </a:ext>
            </a:extLst>
          </p:cNvPr>
          <p:cNvSpPr>
            <a:spLocks noGrp="1"/>
          </p:cNvSpPr>
          <p:nvPr>
            <p:ph idx="1"/>
          </p:nvPr>
        </p:nvSpPr>
        <p:spPr>
          <a:xfrm>
            <a:off x="838200" y="1825625"/>
            <a:ext cx="6273290" cy="4867570"/>
          </a:xfrm>
        </p:spPr>
        <p:txBody>
          <a:bodyPr>
            <a:normAutofit fontScale="92500" lnSpcReduction="20000"/>
          </a:bodyPr>
          <a:lstStyle/>
          <a:p>
            <a:pPr marL="0" indent="0">
              <a:buNone/>
            </a:pPr>
            <a:r>
              <a:rPr lang="en-US" dirty="0"/>
              <a:t>Jo is taking statistics and came across a Statistics Problem Generator (SPG) to practice their computations. We want to know whether this generator gave Jo an advantage or disadvantage in comparison to past classes that did not have the SPG.</a:t>
            </a:r>
          </a:p>
          <a:p>
            <a:pPr marL="0" indent="0">
              <a:buNone/>
            </a:pPr>
            <a:endParaRPr lang="en-US" dirty="0"/>
          </a:p>
          <a:p>
            <a:pPr marL="0" indent="0">
              <a:buNone/>
            </a:pPr>
            <a:r>
              <a:rPr lang="en-US" b="1" dirty="0"/>
              <a:t>Independent Variable</a:t>
            </a:r>
          </a:p>
          <a:p>
            <a:r>
              <a:rPr lang="en-US" dirty="0"/>
              <a:t>Past classes without SPG (population)</a:t>
            </a:r>
          </a:p>
          <a:p>
            <a:r>
              <a:rPr lang="en-US" dirty="0"/>
              <a:t>Jo with SPG (sample)</a:t>
            </a:r>
          </a:p>
          <a:p>
            <a:pPr marL="0" indent="0">
              <a:buNone/>
            </a:pPr>
            <a:endParaRPr lang="en-US" dirty="0"/>
          </a:p>
          <a:p>
            <a:pPr marL="0" indent="0">
              <a:buNone/>
            </a:pPr>
            <a:r>
              <a:rPr lang="en-US" b="1" dirty="0"/>
              <a:t>Dependent Variable</a:t>
            </a:r>
          </a:p>
          <a:p>
            <a:r>
              <a:rPr lang="en-US" dirty="0"/>
              <a:t>Exam score</a:t>
            </a:r>
          </a:p>
        </p:txBody>
      </p:sp>
      <p:pic>
        <p:nvPicPr>
          <p:cNvPr id="7" name="Picture 6">
            <a:extLst>
              <a:ext uri="{FF2B5EF4-FFF2-40B4-BE49-F238E27FC236}">
                <a16:creationId xmlns:a16="http://schemas.microsoft.com/office/drawing/2014/main" id="{214B9357-0976-EF25-9D6A-925F41DD4772}"/>
              </a:ext>
            </a:extLst>
          </p:cNvPr>
          <p:cNvPicPr>
            <a:picLocks noChangeAspect="1"/>
          </p:cNvPicPr>
          <p:nvPr/>
        </p:nvPicPr>
        <p:blipFill>
          <a:blip r:embed="rId2"/>
          <a:stretch>
            <a:fillRect/>
          </a:stretch>
        </p:blipFill>
        <p:spPr>
          <a:xfrm>
            <a:off x="8006375" y="2012306"/>
            <a:ext cx="3566167" cy="4480569"/>
          </a:xfrm>
          <a:prstGeom prst="rect">
            <a:avLst/>
          </a:prstGeom>
        </p:spPr>
      </p:pic>
    </p:spTree>
    <p:extLst>
      <p:ext uri="{BB962C8B-B14F-4D97-AF65-F5344CB8AC3E}">
        <p14:creationId xmlns:p14="http://schemas.microsoft.com/office/powerpoint/2010/main" val="2857781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2F9A06-09B0-37BC-5DC8-9A0E40645E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C70E6B-34E2-AB34-5D0B-5E44354B4606}"/>
              </a:ext>
            </a:extLst>
          </p:cNvPr>
          <p:cNvSpPr>
            <a:spLocks noGrp="1"/>
          </p:cNvSpPr>
          <p:nvPr>
            <p:ph type="title"/>
          </p:nvPr>
        </p:nvSpPr>
        <p:spPr/>
        <p:txBody>
          <a:bodyPr/>
          <a:lstStyle/>
          <a:p>
            <a:r>
              <a:rPr lang="en-US" dirty="0"/>
              <a:t>Steps of Hypothesis Testing</a:t>
            </a:r>
          </a:p>
        </p:txBody>
      </p:sp>
      <p:sp>
        <p:nvSpPr>
          <p:cNvPr id="3" name="Content Placeholder 2">
            <a:extLst>
              <a:ext uri="{FF2B5EF4-FFF2-40B4-BE49-F238E27FC236}">
                <a16:creationId xmlns:a16="http://schemas.microsoft.com/office/drawing/2014/main" id="{A454B2B8-C569-D3BB-29DD-A7327FF654C4}"/>
              </a:ext>
            </a:extLst>
          </p:cNvPr>
          <p:cNvSpPr>
            <a:spLocks noGrp="1"/>
          </p:cNvSpPr>
          <p:nvPr>
            <p:ph idx="1"/>
          </p:nvPr>
        </p:nvSpPr>
        <p:spPr>
          <a:xfrm>
            <a:off x="838200" y="1825625"/>
            <a:ext cx="6273290" cy="4867570"/>
          </a:xfrm>
        </p:spPr>
        <p:txBody>
          <a:bodyPr>
            <a:normAutofit/>
          </a:bodyPr>
          <a:lstStyle/>
          <a:p>
            <a:pPr marL="0" indent="0">
              <a:buNone/>
            </a:pPr>
            <a:r>
              <a:rPr lang="en-US" dirty="0"/>
              <a:t>For example:</a:t>
            </a:r>
          </a:p>
          <a:p>
            <a:r>
              <a:rPr lang="en-US" b="1" dirty="0"/>
              <a:t>Past Classes Without SPG </a:t>
            </a:r>
          </a:p>
          <a:p>
            <a:pPr lvl="1"/>
            <a:r>
              <a:rPr lang="en-US" dirty="0"/>
              <a:t>Population</a:t>
            </a:r>
            <a:r>
              <a:rPr lang="en-US" i="1" dirty="0"/>
              <a:t> </a:t>
            </a:r>
            <a:r>
              <a:rPr lang="en-US" dirty="0"/>
              <a:t>Parameters</a:t>
            </a:r>
            <a:r>
              <a:rPr lang="en-US" i="1" dirty="0"/>
              <a:t>: </a:t>
            </a:r>
            <a:r>
              <a:rPr lang="el-GR" i="1" dirty="0"/>
              <a:t>μ</a:t>
            </a:r>
            <a:r>
              <a:rPr lang="en-CA" i="1" dirty="0"/>
              <a:t> = </a:t>
            </a:r>
            <a:r>
              <a:rPr lang="en-CA" dirty="0"/>
              <a:t>75.00, </a:t>
            </a:r>
            <a:r>
              <a:rPr lang="en-US" i="1" dirty="0"/>
              <a:t>σ = </a:t>
            </a:r>
            <a:r>
              <a:rPr lang="en-US" dirty="0"/>
              <a:t>6.50</a:t>
            </a:r>
          </a:p>
          <a:p>
            <a:pPr lvl="1"/>
            <a:endParaRPr lang="en-US" b="1" dirty="0"/>
          </a:p>
          <a:p>
            <a:r>
              <a:rPr lang="en-US" b="1" dirty="0"/>
              <a:t>Jo With SPG</a:t>
            </a:r>
          </a:p>
          <a:p>
            <a:pPr lvl="1"/>
            <a:r>
              <a:rPr lang="en-US" dirty="0"/>
              <a:t>Sample Statistics:</a:t>
            </a:r>
            <a:r>
              <a:rPr lang="en-US" b="1" i="1" dirty="0"/>
              <a:t> </a:t>
            </a:r>
            <a:r>
              <a:rPr lang="en-US" i="1" dirty="0"/>
              <a:t>x = </a:t>
            </a:r>
            <a:r>
              <a:rPr lang="en-US" dirty="0"/>
              <a:t>90.00</a:t>
            </a:r>
          </a:p>
          <a:p>
            <a:pPr lvl="1"/>
            <a:endParaRPr lang="en-US" dirty="0"/>
          </a:p>
          <a:p>
            <a:r>
              <a:rPr lang="en-US" dirty="0"/>
              <a:t>Assume </a:t>
            </a:r>
            <a:r>
              <a:rPr lang="en-CA" b="1" i="1" dirty="0"/>
              <a:t>p(</a:t>
            </a:r>
            <a:r>
              <a:rPr lang="el-GR" b="1" i="1" dirty="0"/>
              <a:t>α</a:t>
            </a:r>
            <a:r>
              <a:rPr lang="en-CA" b="1" i="1" dirty="0"/>
              <a:t>) </a:t>
            </a:r>
            <a:r>
              <a:rPr lang="en-CA" b="1" dirty="0"/>
              <a:t>= .05 </a:t>
            </a:r>
            <a:r>
              <a:rPr lang="en-CA" dirty="0"/>
              <a:t>and a </a:t>
            </a:r>
            <a:r>
              <a:rPr lang="en-CA" b="1" i="1" dirty="0"/>
              <a:t>two-tailed test</a:t>
            </a:r>
          </a:p>
          <a:p>
            <a:pPr lvl="1"/>
            <a:r>
              <a:rPr lang="en-US" i="1" dirty="0"/>
              <a:t>We will cover what this means in these slides</a:t>
            </a:r>
          </a:p>
          <a:p>
            <a:endParaRPr lang="en-US" dirty="0"/>
          </a:p>
        </p:txBody>
      </p:sp>
      <p:pic>
        <p:nvPicPr>
          <p:cNvPr id="7" name="Picture 6">
            <a:extLst>
              <a:ext uri="{FF2B5EF4-FFF2-40B4-BE49-F238E27FC236}">
                <a16:creationId xmlns:a16="http://schemas.microsoft.com/office/drawing/2014/main" id="{EAA67047-7A3B-9897-EA46-C902FE817590}"/>
              </a:ext>
            </a:extLst>
          </p:cNvPr>
          <p:cNvPicPr>
            <a:picLocks noChangeAspect="1"/>
          </p:cNvPicPr>
          <p:nvPr/>
        </p:nvPicPr>
        <p:blipFill>
          <a:blip r:embed="rId2"/>
          <a:stretch>
            <a:fillRect/>
          </a:stretch>
        </p:blipFill>
        <p:spPr>
          <a:xfrm>
            <a:off x="8006375" y="2012306"/>
            <a:ext cx="3566167" cy="4480569"/>
          </a:xfrm>
          <a:prstGeom prst="rect">
            <a:avLst/>
          </a:prstGeom>
        </p:spPr>
      </p:pic>
    </p:spTree>
    <p:extLst>
      <p:ext uri="{BB962C8B-B14F-4D97-AF65-F5344CB8AC3E}">
        <p14:creationId xmlns:p14="http://schemas.microsoft.com/office/powerpoint/2010/main" val="636613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A115E2-4FE8-2E4C-A37A-70FF38E79C49}"/>
              </a:ext>
            </a:extLst>
          </p:cNvPr>
          <p:cNvSpPr>
            <a:spLocks noGrp="1"/>
          </p:cNvSpPr>
          <p:nvPr>
            <p:ph idx="1"/>
          </p:nvPr>
        </p:nvSpPr>
        <p:spPr>
          <a:xfrm>
            <a:off x="838200" y="586596"/>
            <a:ext cx="5257800" cy="6271404"/>
          </a:xfrm>
        </p:spPr>
        <p:txBody>
          <a:bodyPr>
            <a:normAutofit/>
          </a:bodyPr>
          <a:lstStyle/>
          <a:p>
            <a:pPr marL="0" indent="0">
              <a:buNone/>
            </a:pPr>
            <a:r>
              <a:rPr lang="en-US" b="1" dirty="0"/>
              <a:t>Step 1:</a:t>
            </a:r>
          </a:p>
          <a:p>
            <a:r>
              <a:rPr lang="en-US" b="1" i="1" dirty="0"/>
              <a:t>H</a:t>
            </a:r>
            <a:r>
              <a:rPr lang="en-US" b="1" i="1" baseline="-25000" dirty="0"/>
              <a:t>0</a:t>
            </a:r>
            <a:r>
              <a:rPr lang="en-US" b="1" dirty="0"/>
              <a:t>: </a:t>
            </a:r>
            <a:r>
              <a:rPr lang="el-GR" i="1" dirty="0"/>
              <a:t>μ</a:t>
            </a:r>
            <a:r>
              <a:rPr lang="en-CA" dirty="0"/>
              <a:t> =</a:t>
            </a:r>
            <a:r>
              <a:rPr lang="el-GR" dirty="0"/>
              <a:t> </a:t>
            </a:r>
            <a:r>
              <a:rPr lang="en-US" dirty="0"/>
              <a:t>75.00</a:t>
            </a:r>
            <a:r>
              <a:rPr lang="en-CA" dirty="0"/>
              <a:t>    </a:t>
            </a:r>
          </a:p>
          <a:p>
            <a:r>
              <a:rPr lang="en-US" b="1" i="1" dirty="0"/>
              <a:t>H</a:t>
            </a:r>
            <a:r>
              <a:rPr lang="en-US" b="1" i="1" baseline="-25000" dirty="0"/>
              <a:t>1</a:t>
            </a:r>
            <a:r>
              <a:rPr lang="en-US" b="1" dirty="0"/>
              <a:t>: </a:t>
            </a:r>
            <a:r>
              <a:rPr lang="el-GR" i="1" dirty="0"/>
              <a:t>μ</a:t>
            </a:r>
            <a:r>
              <a:rPr lang="en-CA" dirty="0"/>
              <a:t> ≠ </a:t>
            </a:r>
            <a:r>
              <a:rPr lang="en-US" dirty="0"/>
              <a:t>75.00</a:t>
            </a:r>
            <a:r>
              <a:rPr lang="en-CA" dirty="0"/>
              <a:t>    </a:t>
            </a:r>
          </a:p>
          <a:p>
            <a:pPr lvl="1"/>
            <a:r>
              <a:rPr lang="en-CA" dirty="0"/>
              <a:t>Thus, two-tailed</a:t>
            </a:r>
          </a:p>
          <a:p>
            <a:pPr marL="0" indent="0">
              <a:buNone/>
            </a:pPr>
            <a:endParaRPr lang="en-CA" b="1" dirty="0"/>
          </a:p>
          <a:p>
            <a:pPr marL="0" indent="0">
              <a:buNone/>
            </a:pPr>
            <a:r>
              <a:rPr lang="en-CA" b="1" dirty="0"/>
              <a:t>Step 2: </a:t>
            </a:r>
            <a:endParaRPr lang="en-US" b="1" dirty="0"/>
          </a:p>
          <a:p>
            <a:pPr>
              <a:lnSpc>
                <a:spcPct val="100000"/>
              </a:lnSpc>
              <a:spcBef>
                <a:spcPts val="0"/>
              </a:spcBef>
            </a:pPr>
            <a:r>
              <a:rPr lang="en-US" sz="1200" b="1"/>
              <a:t>Type of Research Design</a:t>
            </a:r>
            <a:r>
              <a:rPr lang="en-US" sz="1200"/>
              <a:t>: Single-Participant Design</a:t>
            </a:r>
          </a:p>
          <a:p>
            <a:pPr>
              <a:lnSpc>
                <a:spcPct val="100000"/>
              </a:lnSpc>
              <a:spcBef>
                <a:spcPts val="0"/>
              </a:spcBef>
            </a:pPr>
            <a:r>
              <a:rPr lang="en-US" sz="1200" b="1"/>
              <a:t>Model </a:t>
            </a:r>
            <a:r>
              <a:rPr lang="en-US" sz="1200" b="1" dirty="0"/>
              <a:t>of Hypothesis Testing</a:t>
            </a:r>
            <a:r>
              <a:rPr lang="en-US" sz="1200" dirty="0"/>
              <a:t>: Random Sampling</a:t>
            </a:r>
          </a:p>
          <a:p>
            <a:pPr>
              <a:lnSpc>
                <a:spcPct val="100000"/>
              </a:lnSpc>
              <a:spcBef>
                <a:spcPts val="0"/>
              </a:spcBef>
            </a:pPr>
            <a:r>
              <a:rPr lang="en-US" sz="1200" b="1" dirty="0"/>
              <a:t>Nature of Data (Scales of measurement)</a:t>
            </a:r>
            <a:r>
              <a:rPr lang="en-US" sz="1200" dirty="0"/>
              <a:t>: Score data</a:t>
            </a:r>
          </a:p>
          <a:p>
            <a:pPr>
              <a:lnSpc>
                <a:spcPct val="100000"/>
              </a:lnSpc>
              <a:spcBef>
                <a:spcPts val="0"/>
              </a:spcBef>
            </a:pPr>
            <a:r>
              <a:rPr lang="en-US" sz="1200" b="1" dirty="0"/>
              <a:t>Statistic Being Analyzed</a:t>
            </a:r>
            <a:r>
              <a:rPr lang="en-US" sz="1200" dirty="0"/>
              <a:t>: X</a:t>
            </a:r>
          </a:p>
          <a:p>
            <a:pPr>
              <a:lnSpc>
                <a:spcPct val="100000"/>
              </a:lnSpc>
              <a:spcBef>
                <a:spcPts val="0"/>
              </a:spcBef>
            </a:pPr>
            <a:r>
              <a:rPr lang="en-US" sz="1200" b="1" dirty="0"/>
              <a:t>Information about the Population</a:t>
            </a:r>
            <a:r>
              <a:rPr lang="en-US" sz="1200" dirty="0"/>
              <a:t>: </a:t>
            </a:r>
            <a:r>
              <a:rPr lang="el-GR" sz="1200" dirty="0"/>
              <a:t>μ</a:t>
            </a:r>
            <a:r>
              <a:rPr lang="en-US" sz="1200" dirty="0"/>
              <a:t> = 75.00, σ = 6.50, </a:t>
            </a:r>
            <a:r>
              <a:rPr lang="en-US" sz="1200" i="1" dirty="0"/>
              <a:t>N</a:t>
            </a:r>
            <a:r>
              <a:rPr lang="en-US" sz="1200" dirty="0"/>
              <a:t> = 500</a:t>
            </a:r>
          </a:p>
          <a:p>
            <a:pPr>
              <a:lnSpc>
                <a:spcPct val="100000"/>
              </a:lnSpc>
              <a:spcBef>
                <a:spcPts val="0"/>
              </a:spcBef>
            </a:pPr>
            <a:r>
              <a:rPr lang="en-US" sz="1200" b="1" dirty="0"/>
              <a:t>Sample Size</a:t>
            </a:r>
            <a:r>
              <a:rPr lang="en-US" sz="1200" dirty="0"/>
              <a:t>: </a:t>
            </a:r>
            <a:r>
              <a:rPr lang="en-US" sz="1200" i="1" dirty="0"/>
              <a:t>n</a:t>
            </a:r>
            <a:r>
              <a:rPr lang="en-US" sz="1200" dirty="0"/>
              <a:t> = 1</a:t>
            </a:r>
          </a:p>
          <a:p>
            <a:pPr>
              <a:lnSpc>
                <a:spcPct val="100000"/>
              </a:lnSpc>
              <a:spcBef>
                <a:spcPts val="0"/>
              </a:spcBef>
            </a:pPr>
            <a:r>
              <a:rPr lang="en-US" sz="1200" b="1" dirty="0"/>
              <a:t>Shape</a:t>
            </a:r>
            <a:r>
              <a:rPr lang="en-US" sz="1200" dirty="0"/>
              <a:t>: Normally distributed</a:t>
            </a:r>
            <a:endParaRPr lang="en-US" sz="1050" dirty="0"/>
          </a:p>
          <a:p>
            <a:pPr marL="0" indent="0">
              <a:lnSpc>
                <a:spcPct val="100000"/>
              </a:lnSpc>
              <a:buNone/>
            </a:pPr>
            <a:endParaRPr lang="en-US" b="1" dirty="0"/>
          </a:p>
          <a:p>
            <a:pPr marL="0" indent="0">
              <a:lnSpc>
                <a:spcPct val="100000"/>
              </a:lnSpc>
              <a:buNone/>
            </a:pPr>
            <a:r>
              <a:rPr lang="en-US" b="1" dirty="0"/>
              <a:t>Step 3:</a:t>
            </a:r>
          </a:p>
          <a:p>
            <a:r>
              <a:rPr lang="en-CA" i="1" dirty="0"/>
              <a:t>p(</a:t>
            </a:r>
            <a:r>
              <a:rPr lang="el-GR" i="1" dirty="0"/>
              <a:t>α</a:t>
            </a:r>
            <a:r>
              <a:rPr lang="en-CA" i="1" dirty="0"/>
              <a:t>) </a:t>
            </a:r>
            <a:r>
              <a:rPr lang="en-CA" dirty="0"/>
              <a:t>= .05, </a:t>
            </a:r>
            <a:r>
              <a:rPr lang="en-CA" i="1" dirty="0"/>
              <a:t>z(crit)</a:t>
            </a:r>
            <a:r>
              <a:rPr lang="en-CA" dirty="0"/>
              <a:t> = ±</a:t>
            </a:r>
            <a:r>
              <a:rPr lang="en-US" dirty="0"/>
              <a:t>1.96</a:t>
            </a:r>
          </a:p>
          <a:p>
            <a:pPr marL="0" indent="0">
              <a:buNone/>
            </a:pPr>
            <a:endParaRPr lang="en-CA" dirty="0"/>
          </a:p>
          <a:p>
            <a:endParaRPr lang="en-US" dirty="0"/>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574432C5-7DF4-5F4D-A83A-EE45D530B8EC}"/>
                  </a:ext>
                </a:extLst>
              </p:cNvPr>
              <p:cNvSpPr txBox="1">
                <a:spLocks/>
              </p:cNvSpPr>
              <p:nvPr/>
            </p:nvSpPr>
            <p:spPr>
              <a:xfrm>
                <a:off x="6096000" y="633816"/>
                <a:ext cx="5257800" cy="627140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Step 4:</a:t>
                </a:r>
              </a:p>
              <a:p>
                <a:r>
                  <a:rPr lang="en-US" i="1" dirty="0"/>
                  <a:t>z</a:t>
                </a:r>
                <a:r>
                  <a:rPr lang="en-US" dirty="0"/>
                  <a:t>(</a:t>
                </a:r>
                <a:r>
                  <a:rPr lang="en-US" dirty="0" err="1"/>
                  <a:t>obs</a:t>
                </a:r>
                <a:r>
                  <a:rPr lang="en-US" dirty="0"/>
                  <a:t>) =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90.0000</m:t>
                        </m:r>
                        <m:r>
                          <a:rPr lang="en-CA" i="1">
                            <a:latin typeface="Cambria Math" panose="02040503050406030204" pitchFamily="18" charset="0"/>
                          </a:rPr>
                          <m:t> −</m:t>
                        </m:r>
                        <m:r>
                          <a:rPr lang="en-US" i="1">
                            <a:latin typeface="Cambria Math" panose="02040503050406030204" pitchFamily="18" charset="0"/>
                          </a:rPr>
                          <m:t>75.0000</m:t>
                        </m:r>
                      </m:num>
                      <m:den>
                        <m:r>
                          <a:rPr lang="en-US" i="1">
                            <a:latin typeface="Cambria Math" panose="02040503050406030204" pitchFamily="18" charset="0"/>
                          </a:rPr>
                          <m:t>6.5000</m:t>
                        </m:r>
                      </m:den>
                    </m:f>
                  </m:oMath>
                </a14:m>
                <a:r>
                  <a:rPr lang="en-US" dirty="0"/>
                  <a:t>  = 2.3077</a:t>
                </a:r>
              </a:p>
              <a:p>
                <a:r>
                  <a:rPr lang="en-US" i="1" dirty="0"/>
                  <a:t>p</a:t>
                </a:r>
                <a:r>
                  <a:rPr lang="en-US" dirty="0"/>
                  <a:t>(</a:t>
                </a:r>
                <a:r>
                  <a:rPr lang="en-US" i="1" dirty="0" err="1"/>
                  <a:t>obs</a:t>
                </a:r>
                <a:r>
                  <a:rPr lang="en-US" dirty="0"/>
                  <a:t>) = .0104 x 2 = .0208</a:t>
                </a:r>
                <a:endParaRPr lang="en-US" i="1" dirty="0"/>
              </a:p>
              <a:p>
                <a:pPr marL="0" indent="0">
                  <a:buFont typeface="Arial" panose="020B0604020202020204" pitchFamily="34" charset="0"/>
                  <a:buNone/>
                </a:pPr>
                <a:endParaRPr lang="en-CA" b="1" dirty="0"/>
              </a:p>
              <a:p>
                <a:pPr marL="0" indent="0">
                  <a:buFont typeface="Arial" panose="020B0604020202020204" pitchFamily="34" charset="0"/>
                  <a:buNone/>
                </a:pPr>
                <a:r>
                  <a:rPr lang="en-CA" b="1" dirty="0"/>
                  <a:t>Step 5: </a:t>
                </a:r>
                <a:endParaRPr lang="en-US" b="1" dirty="0"/>
              </a:p>
              <a:p>
                <a:r>
                  <a:rPr lang="en-US" sz="2000" i="1" dirty="0"/>
                  <a:t>p</a:t>
                </a:r>
                <a:r>
                  <a:rPr lang="en-US" sz="2000" dirty="0"/>
                  <a:t>(</a:t>
                </a:r>
                <a:r>
                  <a:rPr lang="en-US" sz="2000" dirty="0" err="1"/>
                  <a:t>obs</a:t>
                </a:r>
                <a:r>
                  <a:rPr lang="en-US" sz="2000" dirty="0"/>
                  <a:t>) = . 0208 </a:t>
                </a:r>
                <a:r>
                  <a:rPr lang="en-US" sz="2000" b="1" dirty="0"/>
                  <a:t>&lt;</a:t>
                </a:r>
                <a:r>
                  <a:rPr lang="en-US" sz="2000" dirty="0"/>
                  <a:t> </a:t>
                </a:r>
                <a:r>
                  <a:rPr lang="en-US" sz="2000" i="1" dirty="0"/>
                  <a:t>p</a:t>
                </a:r>
                <a:r>
                  <a:rPr lang="en-US" sz="2000" dirty="0"/>
                  <a:t>(</a:t>
                </a:r>
                <a:r>
                  <a:rPr lang="el-GR" sz="2000" dirty="0"/>
                  <a:t>α</a:t>
                </a:r>
                <a:r>
                  <a:rPr lang="en-US" sz="2000" dirty="0"/>
                  <a:t>) </a:t>
                </a:r>
                <a:r>
                  <a:rPr lang="en-US" sz="2000" b="1" dirty="0"/>
                  <a:t>= </a:t>
                </a:r>
                <a:r>
                  <a:rPr lang="en-US" sz="2000" dirty="0"/>
                  <a:t>.05</a:t>
                </a:r>
              </a:p>
              <a:p>
                <a:pPr lvl="1"/>
                <a:r>
                  <a:rPr lang="en-US" sz="1800" i="1" dirty="0"/>
                  <a:t>Reject the null hypothesis</a:t>
                </a:r>
              </a:p>
              <a:p>
                <a:r>
                  <a:rPr lang="en-US" sz="2000" i="1" dirty="0"/>
                  <a:t>z(</a:t>
                </a:r>
                <a:r>
                  <a:rPr lang="en-US" sz="2000" i="1" dirty="0" err="1"/>
                  <a:t>obs</a:t>
                </a:r>
                <a:r>
                  <a:rPr lang="en-US" sz="2000" i="1" dirty="0"/>
                  <a:t>) </a:t>
                </a:r>
                <a:r>
                  <a:rPr lang="en-US" sz="2000" b="1" dirty="0"/>
                  <a:t>= </a:t>
                </a:r>
                <a:r>
                  <a:rPr lang="en-US" sz="2000" dirty="0"/>
                  <a:t>2.3077 </a:t>
                </a:r>
                <a:r>
                  <a:rPr lang="en-US" sz="2000" b="1" dirty="0"/>
                  <a:t>&gt;</a:t>
                </a:r>
                <a:r>
                  <a:rPr lang="en-US" sz="2000" dirty="0"/>
                  <a:t> </a:t>
                </a:r>
                <a:r>
                  <a:rPr lang="en-US" sz="2000" i="1" dirty="0"/>
                  <a:t>z(crit) </a:t>
                </a:r>
                <a:r>
                  <a:rPr lang="en-US" sz="2000" dirty="0"/>
                  <a:t>=</a:t>
                </a:r>
                <a:r>
                  <a:rPr lang="en-US" sz="2000" i="1" dirty="0"/>
                  <a:t> </a:t>
                </a:r>
                <a:r>
                  <a:rPr lang="en-CA" sz="2000" dirty="0"/>
                  <a:t>±</a:t>
                </a:r>
                <a:r>
                  <a:rPr lang="en-US" sz="2000" dirty="0"/>
                  <a:t>1.96</a:t>
                </a:r>
              </a:p>
              <a:p>
                <a:pPr lvl="1"/>
                <a:r>
                  <a:rPr lang="en-US" sz="1800" i="1" dirty="0"/>
                  <a:t>Reject the null hypothesis</a:t>
                </a:r>
              </a:p>
              <a:p>
                <a:pPr lvl="1"/>
                <a:endParaRPr lang="en-US" dirty="0"/>
              </a:p>
              <a:p>
                <a:pPr marL="0" indent="0">
                  <a:lnSpc>
                    <a:spcPct val="100000"/>
                  </a:lnSpc>
                  <a:buFont typeface="Arial" panose="020B0604020202020204" pitchFamily="34" charset="0"/>
                  <a:buNone/>
                </a:pPr>
                <a:r>
                  <a:rPr lang="en-US" b="1" dirty="0"/>
                  <a:t>Step 6:</a:t>
                </a:r>
              </a:p>
              <a:p>
                <a:r>
                  <a:rPr lang="en-US" sz="2000" dirty="0"/>
                  <a:t>Jo’s final exam score of </a:t>
                </a:r>
                <a:r>
                  <a:rPr lang="en-US" sz="2000" b="1" i="1" dirty="0"/>
                  <a:t>x</a:t>
                </a:r>
                <a:r>
                  <a:rPr lang="en-US" sz="2000" b="1" dirty="0"/>
                  <a:t> = 90.00% </a:t>
                </a:r>
                <a:r>
                  <a:rPr lang="en-US" sz="2000" dirty="0"/>
                  <a:t>was </a:t>
                </a:r>
                <a:r>
                  <a:rPr lang="en-US" sz="2000" i="1" dirty="0"/>
                  <a:t>statistically greater </a:t>
                </a:r>
                <a:r>
                  <a:rPr lang="en-US" sz="2000" dirty="0"/>
                  <a:t>than the average of past classes (</a:t>
                </a:r>
                <a:r>
                  <a:rPr lang="el-GR" sz="2000" b="1" i="1" dirty="0"/>
                  <a:t>μ</a:t>
                </a:r>
                <a:r>
                  <a:rPr lang="en-CA" sz="2000" b="1" i="1" dirty="0"/>
                  <a:t> </a:t>
                </a:r>
                <a:r>
                  <a:rPr lang="en-CA" sz="2000" b="1" dirty="0"/>
                  <a:t>= 72.00</a:t>
                </a:r>
                <a:r>
                  <a:rPr lang="en-CA" sz="2000" dirty="0"/>
                  <a:t>, </a:t>
                </a:r>
                <a:r>
                  <a:rPr lang="en-US" sz="2000" b="1" i="1" dirty="0"/>
                  <a:t>σ</a:t>
                </a:r>
                <a:r>
                  <a:rPr lang="en-US" sz="2000" b="1" dirty="0"/>
                  <a:t> = 6.50</a:t>
                </a:r>
                <a:r>
                  <a:rPr lang="en-US" sz="2000" dirty="0"/>
                  <a:t>), </a:t>
                </a:r>
                <a:r>
                  <a:rPr lang="en-US" sz="2000" b="1" i="1" dirty="0"/>
                  <a:t>z</a:t>
                </a:r>
                <a:r>
                  <a:rPr lang="en-US" sz="2000" dirty="0"/>
                  <a:t> </a:t>
                </a:r>
                <a:r>
                  <a:rPr lang="en-US" sz="2000" b="1" dirty="0"/>
                  <a:t>= 2.31</a:t>
                </a:r>
                <a:r>
                  <a:rPr lang="en-US" sz="2000" dirty="0"/>
                  <a:t>, </a:t>
                </a:r>
                <a:r>
                  <a:rPr lang="en-US" sz="2000" b="1" i="1" dirty="0"/>
                  <a:t>p</a:t>
                </a:r>
                <a:r>
                  <a:rPr lang="en-US" sz="2000" dirty="0"/>
                  <a:t> </a:t>
                </a:r>
                <a:r>
                  <a:rPr lang="en-US" sz="2000" b="1" dirty="0"/>
                  <a:t>= .021</a:t>
                </a:r>
                <a:r>
                  <a:rPr lang="en-US" sz="2000" dirty="0"/>
                  <a:t>. The statistics problem generator did improve Jo’s exam score.</a:t>
                </a:r>
              </a:p>
              <a:p>
                <a:pPr marL="0" indent="0">
                  <a:buFont typeface="Arial" panose="020B0604020202020204" pitchFamily="34" charset="0"/>
                  <a:buNone/>
                </a:pPr>
                <a:endParaRPr lang="en-CA" dirty="0"/>
              </a:p>
              <a:p>
                <a:endParaRPr lang="en-US" dirty="0"/>
              </a:p>
            </p:txBody>
          </p:sp>
        </mc:Choice>
        <mc:Fallback xmlns="">
          <p:sp>
            <p:nvSpPr>
              <p:cNvPr id="4" name="Content Placeholder 2">
                <a:extLst>
                  <a:ext uri="{FF2B5EF4-FFF2-40B4-BE49-F238E27FC236}">
                    <a16:creationId xmlns:a16="http://schemas.microsoft.com/office/drawing/2014/main" id="{574432C5-7DF4-5F4D-A83A-EE45D530B8EC}"/>
                  </a:ext>
                </a:extLst>
              </p:cNvPr>
              <p:cNvSpPr txBox="1">
                <a:spLocks noRot="1" noChangeAspect="1" noMove="1" noResize="1" noEditPoints="1" noAdjustHandles="1" noChangeArrowheads="1" noChangeShapeType="1" noTextEdit="1"/>
              </p:cNvSpPr>
              <p:nvPr/>
            </p:nvSpPr>
            <p:spPr>
              <a:xfrm>
                <a:off x="6096000" y="633816"/>
                <a:ext cx="5257800" cy="6271404"/>
              </a:xfrm>
              <a:prstGeom prst="rect">
                <a:avLst/>
              </a:prstGeom>
              <a:blipFill>
                <a:blip r:embed="rId2"/>
                <a:stretch>
                  <a:fillRect l="-2317" t="-2235" r="-927"/>
                </a:stretch>
              </a:blipFill>
            </p:spPr>
            <p:txBody>
              <a:bodyPr/>
              <a:lstStyle/>
              <a:p>
                <a:r>
                  <a:rPr lang="en-US">
                    <a:noFill/>
                  </a:rPr>
                  <a:t> </a:t>
                </a:r>
              </a:p>
            </p:txBody>
          </p:sp>
        </mc:Fallback>
      </mc:AlternateContent>
    </p:spTree>
    <p:extLst>
      <p:ext uri="{BB962C8B-B14F-4D97-AF65-F5344CB8AC3E}">
        <p14:creationId xmlns:p14="http://schemas.microsoft.com/office/powerpoint/2010/main" val="2432802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A11C3-3C61-7962-6753-FAE005865063}"/>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14E7BCAE-B9DA-A590-3735-DB1B89C34DB9}"/>
              </a:ext>
            </a:extLst>
          </p:cNvPr>
          <p:cNvGrpSpPr/>
          <p:nvPr/>
        </p:nvGrpSpPr>
        <p:grpSpPr>
          <a:xfrm>
            <a:off x="294429" y="602116"/>
            <a:ext cx="5458932" cy="5307690"/>
            <a:chOff x="1462829" y="602117"/>
            <a:chExt cx="5458932" cy="5307690"/>
          </a:xfrm>
        </p:grpSpPr>
        <p:grpSp>
          <p:nvGrpSpPr>
            <p:cNvPr id="5" name="Group 4">
              <a:extLst>
                <a:ext uri="{FF2B5EF4-FFF2-40B4-BE49-F238E27FC236}">
                  <a16:creationId xmlns:a16="http://schemas.microsoft.com/office/drawing/2014/main" id="{4E29DF23-88BE-B010-B730-91DD731BFE1A}"/>
                </a:ext>
              </a:extLst>
            </p:cNvPr>
            <p:cNvGrpSpPr/>
            <p:nvPr/>
          </p:nvGrpSpPr>
          <p:grpSpPr>
            <a:xfrm>
              <a:off x="1462829" y="602117"/>
              <a:ext cx="5458932" cy="5307690"/>
              <a:chOff x="1779790" y="1493134"/>
              <a:chExt cx="4490974" cy="4366550"/>
            </a:xfrm>
          </p:grpSpPr>
          <p:cxnSp>
            <p:nvCxnSpPr>
              <p:cNvPr id="15" name="Straight Arrow Connector 14">
                <a:extLst>
                  <a:ext uri="{FF2B5EF4-FFF2-40B4-BE49-F238E27FC236}">
                    <a16:creationId xmlns:a16="http://schemas.microsoft.com/office/drawing/2014/main" id="{BD353362-BD8E-4174-CFF0-DA23ADB156C9}"/>
                  </a:ext>
                </a:extLst>
              </p:cNvPr>
              <p:cNvCxnSpPr>
                <a:cxnSpLocks/>
              </p:cNvCxnSpPr>
              <p:nvPr/>
            </p:nvCxnSpPr>
            <p:spPr>
              <a:xfrm flipV="1">
                <a:off x="1805652" y="1493134"/>
                <a:ext cx="0" cy="4366550"/>
              </a:xfrm>
              <a:prstGeom prst="straightConnector1">
                <a:avLst/>
              </a:prstGeom>
              <a:ln w="127000">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0D3D91C8-BDCB-083C-6DA6-EFE8043C0E21}"/>
                  </a:ext>
                </a:extLst>
              </p:cNvPr>
              <p:cNvCxnSpPr>
                <a:cxnSpLocks/>
              </p:cNvCxnSpPr>
              <p:nvPr/>
            </p:nvCxnSpPr>
            <p:spPr>
              <a:xfrm>
                <a:off x="1779790" y="5816277"/>
                <a:ext cx="4490974" cy="0"/>
              </a:xfrm>
              <a:prstGeom prst="straightConnector1">
                <a:avLst/>
              </a:prstGeom>
              <a:ln w="127000">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sp>
            <p:nvSpPr>
              <p:cNvPr id="17" name="Freeform 16">
                <a:extLst>
                  <a:ext uri="{FF2B5EF4-FFF2-40B4-BE49-F238E27FC236}">
                    <a16:creationId xmlns:a16="http://schemas.microsoft.com/office/drawing/2014/main" id="{FD6C37E5-78F3-A408-5D28-BFAB07D9DDB6}"/>
                  </a:ext>
                </a:extLst>
              </p:cNvPr>
              <p:cNvSpPr/>
              <p:nvPr/>
            </p:nvSpPr>
            <p:spPr>
              <a:xfrm>
                <a:off x="1939274" y="3449119"/>
                <a:ext cx="1893537" cy="2087919"/>
              </a:xfrm>
              <a:custGeom>
                <a:avLst/>
                <a:gdLst>
                  <a:gd name="connsiteX0" fmla="*/ 0 w 1893537"/>
                  <a:gd name="connsiteY0" fmla="*/ 2879376 h 2887468"/>
                  <a:gd name="connsiteX1" fmla="*/ 412694 w 1893537"/>
                  <a:gd name="connsiteY1" fmla="*/ 2361486 h 2887468"/>
                  <a:gd name="connsiteX2" fmla="*/ 841572 w 1893537"/>
                  <a:gd name="connsiteY2" fmla="*/ 233281 h 2887468"/>
                  <a:gd name="connsiteX3" fmla="*/ 1068149 w 1893537"/>
                  <a:gd name="connsiteY3" fmla="*/ 289925 h 2887468"/>
                  <a:gd name="connsiteX4" fmla="*/ 1472751 w 1893537"/>
                  <a:gd name="connsiteY4" fmla="*/ 2321026 h 2887468"/>
                  <a:gd name="connsiteX5" fmla="*/ 1893537 w 1893537"/>
                  <a:gd name="connsiteY5" fmla="*/ 2887468 h 2887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3537" h="2887468">
                    <a:moveTo>
                      <a:pt x="0" y="2879376"/>
                    </a:moveTo>
                    <a:cubicBezTo>
                      <a:pt x="136216" y="2840939"/>
                      <a:pt x="272432" y="2802502"/>
                      <a:pt x="412694" y="2361486"/>
                    </a:cubicBezTo>
                    <a:cubicBezTo>
                      <a:pt x="552956" y="1920470"/>
                      <a:pt x="732330" y="578541"/>
                      <a:pt x="841572" y="233281"/>
                    </a:cubicBezTo>
                    <a:cubicBezTo>
                      <a:pt x="950814" y="-111979"/>
                      <a:pt x="962953" y="-58032"/>
                      <a:pt x="1068149" y="289925"/>
                    </a:cubicBezTo>
                    <a:cubicBezTo>
                      <a:pt x="1173345" y="637882"/>
                      <a:pt x="1335186" y="1888102"/>
                      <a:pt x="1472751" y="2321026"/>
                    </a:cubicBezTo>
                    <a:cubicBezTo>
                      <a:pt x="1610316" y="2753950"/>
                      <a:pt x="1689888" y="2863192"/>
                      <a:pt x="1893537" y="2887468"/>
                    </a:cubicBezTo>
                  </a:path>
                </a:pathLst>
              </a:custGeom>
              <a:solidFill>
                <a:schemeClr val="accent1">
                  <a:lumMod val="40000"/>
                  <a:lumOff val="60000"/>
                  <a:alpha val="84678"/>
                </a:schemeClr>
              </a:solidFill>
              <a:ln>
                <a:solidFill>
                  <a:schemeClr val="accent1">
                    <a:lumMod val="50000"/>
                    <a:alpha val="85134"/>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17">
                <a:extLst>
                  <a:ext uri="{FF2B5EF4-FFF2-40B4-BE49-F238E27FC236}">
                    <a16:creationId xmlns:a16="http://schemas.microsoft.com/office/drawing/2014/main" id="{F447F4D7-CB7E-C554-D102-BA63B775981C}"/>
                  </a:ext>
                </a:extLst>
              </p:cNvPr>
              <p:cNvSpPr/>
              <p:nvPr/>
            </p:nvSpPr>
            <p:spPr>
              <a:xfrm>
                <a:off x="2842958" y="2826560"/>
                <a:ext cx="1893537" cy="2710478"/>
              </a:xfrm>
              <a:custGeom>
                <a:avLst/>
                <a:gdLst>
                  <a:gd name="connsiteX0" fmla="*/ 0 w 1893537"/>
                  <a:gd name="connsiteY0" fmla="*/ 2879376 h 2887468"/>
                  <a:gd name="connsiteX1" fmla="*/ 412694 w 1893537"/>
                  <a:gd name="connsiteY1" fmla="*/ 2361486 h 2887468"/>
                  <a:gd name="connsiteX2" fmla="*/ 841572 w 1893537"/>
                  <a:gd name="connsiteY2" fmla="*/ 233281 h 2887468"/>
                  <a:gd name="connsiteX3" fmla="*/ 1068149 w 1893537"/>
                  <a:gd name="connsiteY3" fmla="*/ 289925 h 2887468"/>
                  <a:gd name="connsiteX4" fmla="*/ 1472751 w 1893537"/>
                  <a:gd name="connsiteY4" fmla="*/ 2321026 h 2887468"/>
                  <a:gd name="connsiteX5" fmla="*/ 1893537 w 1893537"/>
                  <a:gd name="connsiteY5" fmla="*/ 2887468 h 2887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3537" h="2887468">
                    <a:moveTo>
                      <a:pt x="0" y="2879376"/>
                    </a:moveTo>
                    <a:cubicBezTo>
                      <a:pt x="136216" y="2840939"/>
                      <a:pt x="272432" y="2802502"/>
                      <a:pt x="412694" y="2361486"/>
                    </a:cubicBezTo>
                    <a:cubicBezTo>
                      <a:pt x="552956" y="1920470"/>
                      <a:pt x="732330" y="578541"/>
                      <a:pt x="841572" y="233281"/>
                    </a:cubicBezTo>
                    <a:cubicBezTo>
                      <a:pt x="950814" y="-111979"/>
                      <a:pt x="962953" y="-58032"/>
                      <a:pt x="1068149" y="289925"/>
                    </a:cubicBezTo>
                    <a:cubicBezTo>
                      <a:pt x="1173345" y="637882"/>
                      <a:pt x="1335186" y="1888102"/>
                      <a:pt x="1472751" y="2321026"/>
                    </a:cubicBezTo>
                    <a:cubicBezTo>
                      <a:pt x="1610316" y="2753950"/>
                      <a:pt x="1689888" y="2863192"/>
                      <a:pt x="1893537" y="2887468"/>
                    </a:cubicBezTo>
                  </a:path>
                </a:pathLst>
              </a:custGeom>
              <a:solidFill>
                <a:schemeClr val="accent2">
                  <a:lumMod val="40000"/>
                  <a:lumOff val="60000"/>
                  <a:alpha val="85220"/>
                </a:schemeClr>
              </a:solidFill>
              <a:ln>
                <a:solidFill>
                  <a:schemeClr val="accent2">
                    <a:lumMod val="50000"/>
                    <a:alpha val="85199"/>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18">
                <a:extLst>
                  <a:ext uri="{FF2B5EF4-FFF2-40B4-BE49-F238E27FC236}">
                    <a16:creationId xmlns:a16="http://schemas.microsoft.com/office/drawing/2014/main" id="{83478FEA-E18E-A08F-D6D5-EE37761E8F94}"/>
                  </a:ext>
                </a:extLst>
              </p:cNvPr>
              <p:cNvSpPr/>
              <p:nvPr/>
            </p:nvSpPr>
            <p:spPr>
              <a:xfrm>
                <a:off x="3722204" y="2311601"/>
                <a:ext cx="2101382" cy="3225437"/>
              </a:xfrm>
              <a:custGeom>
                <a:avLst/>
                <a:gdLst>
                  <a:gd name="connsiteX0" fmla="*/ 0 w 1893537"/>
                  <a:gd name="connsiteY0" fmla="*/ 2879376 h 2887468"/>
                  <a:gd name="connsiteX1" fmla="*/ 412694 w 1893537"/>
                  <a:gd name="connsiteY1" fmla="*/ 2361486 h 2887468"/>
                  <a:gd name="connsiteX2" fmla="*/ 841572 w 1893537"/>
                  <a:gd name="connsiteY2" fmla="*/ 233281 h 2887468"/>
                  <a:gd name="connsiteX3" fmla="*/ 1068149 w 1893537"/>
                  <a:gd name="connsiteY3" fmla="*/ 289925 h 2887468"/>
                  <a:gd name="connsiteX4" fmla="*/ 1472751 w 1893537"/>
                  <a:gd name="connsiteY4" fmla="*/ 2321026 h 2887468"/>
                  <a:gd name="connsiteX5" fmla="*/ 1893537 w 1893537"/>
                  <a:gd name="connsiteY5" fmla="*/ 2887468 h 2887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3537" h="2887468">
                    <a:moveTo>
                      <a:pt x="0" y="2879376"/>
                    </a:moveTo>
                    <a:cubicBezTo>
                      <a:pt x="136216" y="2840939"/>
                      <a:pt x="272432" y="2802502"/>
                      <a:pt x="412694" y="2361486"/>
                    </a:cubicBezTo>
                    <a:cubicBezTo>
                      <a:pt x="552956" y="1920470"/>
                      <a:pt x="732330" y="578541"/>
                      <a:pt x="841572" y="233281"/>
                    </a:cubicBezTo>
                    <a:cubicBezTo>
                      <a:pt x="950814" y="-111979"/>
                      <a:pt x="962953" y="-58032"/>
                      <a:pt x="1068149" y="289925"/>
                    </a:cubicBezTo>
                    <a:cubicBezTo>
                      <a:pt x="1173345" y="637882"/>
                      <a:pt x="1335186" y="1888102"/>
                      <a:pt x="1472751" y="2321026"/>
                    </a:cubicBezTo>
                    <a:cubicBezTo>
                      <a:pt x="1610316" y="2753950"/>
                      <a:pt x="1689888" y="2863192"/>
                      <a:pt x="1893537" y="2887468"/>
                    </a:cubicBezTo>
                  </a:path>
                </a:pathLst>
              </a:custGeom>
              <a:solidFill>
                <a:schemeClr val="accent6">
                  <a:lumMod val="40000"/>
                  <a:lumOff val="60000"/>
                  <a:alpha val="85188"/>
                </a:schemeClr>
              </a:solidFill>
              <a:ln>
                <a:solidFill>
                  <a:schemeClr val="accent6">
                    <a:lumMod val="50000"/>
                    <a:alpha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Freeform 5">
              <a:extLst>
                <a:ext uri="{FF2B5EF4-FFF2-40B4-BE49-F238E27FC236}">
                  <a16:creationId xmlns:a16="http://schemas.microsoft.com/office/drawing/2014/main" id="{341950EA-9B85-C11E-26C4-D2E5C8734028}"/>
                </a:ext>
              </a:extLst>
            </p:cNvPr>
            <p:cNvSpPr/>
            <p:nvPr/>
          </p:nvSpPr>
          <p:spPr>
            <a:xfrm>
              <a:off x="1812853" y="2979683"/>
              <a:ext cx="3708069" cy="2264351"/>
            </a:xfrm>
            <a:custGeom>
              <a:avLst/>
              <a:gdLst>
                <a:gd name="connsiteX0" fmla="*/ 0 w 3229897"/>
                <a:gd name="connsiteY0" fmla="*/ 2138516 h 2138516"/>
                <a:gd name="connsiteX1" fmla="*/ 678426 w 3229897"/>
                <a:gd name="connsiteY1" fmla="*/ 1991032 h 2138516"/>
                <a:gd name="connsiteX2" fmla="*/ 1253613 w 3229897"/>
                <a:gd name="connsiteY2" fmla="*/ 1401097 h 2138516"/>
                <a:gd name="connsiteX3" fmla="*/ 1784555 w 3229897"/>
                <a:gd name="connsiteY3" fmla="*/ 1238864 h 2138516"/>
                <a:gd name="connsiteX4" fmla="*/ 2433484 w 3229897"/>
                <a:gd name="connsiteY4" fmla="*/ 693174 h 2138516"/>
                <a:gd name="connsiteX5" fmla="*/ 3229897 w 3229897"/>
                <a:gd name="connsiteY5" fmla="*/ 0 h 2138516"/>
                <a:gd name="connsiteX0" fmla="*/ 0 w 3708069"/>
                <a:gd name="connsiteY0" fmla="*/ 2264351 h 2264351"/>
                <a:gd name="connsiteX1" fmla="*/ 1156598 w 3708069"/>
                <a:gd name="connsiteY1" fmla="*/ 1991032 h 2264351"/>
                <a:gd name="connsiteX2" fmla="*/ 1731785 w 3708069"/>
                <a:gd name="connsiteY2" fmla="*/ 1401097 h 2264351"/>
                <a:gd name="connsiteX3" fmla="*/ 2262727 w 3708069"/>
                <a:gd name="connsiteY3" fmla="*/ 1238864 h 2264351"/>
                <a:gd name="connsiteX4" fmla="*/ 2911656 w 3708069"/>
                <a:gd name="connsiteY4" fmla="*/ 693174 h 2264351"/>
                <a:gd name="connsiteX5" fmla="*/ 3708069 w 3708069"/>
                <a:gd name="connsiteY5" fmla="*/ 0 h 2264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8069" h="2264351">
                  <a:moveTo>
                    <a:pt x="0" y="2264351"/>
                  </a:moveTo>
                  <a:lnTo>
                    <a:pt x="1156598" y="1991032"/>
                  </a:lnTo>
                  <a:lnTo>
                    <a:pt x="1731785" y="1401097"/>
                  </a:lnTo>
                  <a:lnTo>
                    <a:pt x="2262727" y="1238864"/>
                  </a:lnTo>
                  <a:lnTo>
                    <a:pt x="2911656" y="693174"/>
                  </a:lnTo>
                  <a:lnTo>
                    <a:pt x="3708069" y="0"/>
                  </a:lnTo>
                </a:path>
              </a:pathLst>
            </a:custGeom>
            <a:noFill/>
            <a:ln w="127000">
              <a:solidFill>
                <a:schemeClr val="bg1">
                  <a:alpha val="84175"/>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C485C714-A58F-0614-58D6-42C3E88B941B}"/>
                </a:ext>
              </a:extLst>
            </p:cNvPr>
            <p:cNvCxnSpPr>
              <a:cxnSpLocks/>
            </p:cNvCxnSpPr>
            <p:nvPr/>
          </p:nvCxnSpPr>
          <p:spPr>
            <a:xfrm flipV="1">
              <a:off x="5630015" y="2762124"/>
              <a:ext cx="122104" cy="126034"/>
            </a:xfrm>
            <a:prstGeom prst="straightConnector1">
              <a:avLst/>
            </a:pr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8" name="Freeform 7">
              <a:extLst>
                <a:ext uri="{FF2B5EF4-FFF2-40B4-BE49-F238E27FC236}">
                  <a16:creationId xmlns:a16="http://schemas.microsoft.com/office/drawing/2014/main" id="{EEC0EE4A-44EF-676B-D852-82976AC73E25}"/>
                </a:ext>
              </a:extLst>
            </p:cNvPr>
            <p:cNvSpPr/>
            <p:nvPr/>
          </p:nvSpPr>
          <p:spPr>
            <a:xfrm>
              <a:off x="1817303" y="2889806"/>
              <a:ext cx="3812712" cy="2352582"/>
            </a:xfrm>
            <a:custGeom>
              <a:avLst/>
              <a:gdLst>
                <a:gd name="connsiteX0" fmla="*/ 0 w 3229897"/>
                <a:gd name="connsiteY0" fmla="*/ 2138516 h 2138516"/>
                <a:gd name="connsiteX1" fmla="*/ 678426 w 3229897"/>
                <a:gd name="connsiteY1" fmla="*/ 1991032 h 2138516"/>
                <a:gd name="connsiteX2" fmla="*/ 1253613 w 3229897"/>
                <a:gd name="connsiteY2" fmla="*/ 1401097 h 2138516"/>
                <a:gd name="connsiteX3" fmla="*/ 1784555 w 3229897"/>
                <a:gd name="connsiteY3" fmla="*/ 1238864 h 2138516"/>
                <a:gd name="connsiteX4" fmla="*/ 2433484 w 3229897"/>
                <a:gd name="connsiteY4" fmla="*/ 693174 h 2138516"/>
                <a:gd name="connsiteX5" fmla="*/ 3229897 w 3229897"/>
                <a:gd name="connsiteY5" fmla="*/ 0 h 2138516"/>
                <a:gd name="connsiteX0" fmla="*/ 0 w 3326150"/>
                <a:gd name="connsiteY0" fmla="*/ 2226747 h 2226747"/>
                <a:gd name="connsiteX1" fmla="*/ 678426 w 3326150"/>
                <a:gd name="connsiteY1" fmla="*/ 2079263 h 2226747"/>
                <a:gd name="connsiteX2" fmla="*/ 1253613 w 3326150"/>
                <a:gd name="connsiteY2" fmla="*/ 1489328 h 2226747"/>
                <a:gd name="connsiteX3" fmla="*/ 1784555 w 3326150"/>
                <a:gd name="connsiteY3" fmla="*/ 1327095 h 2226747"/>
                <a:gd name="connsiteX4" fmla="*/ 2433484 w 3326150"/>
                <a:gd name="connsiteY4" fmla="*/ 781405 h 2226747"/>
                <a:gd name="connsiteX5" fmla="*/ 3326150 w 3326150"/>
                <a:gd name="connsiteY5" fmla="*/ 0 h 2226747"/>
                <a:gd name="connsiteX0" fmla="*/ 0 w 3812712"/>
                <a:gd name="connsiteY0" fmla="*/ 2352582 h 2352582"/>
                <a:gd name="connsiteX1" fmla="*/ 1164988 w 3812712"/>
                <a:gd name="connsiteY1" fmla="*/ 2079263 h 2352582"/>
                <a:gd name="connsiteX2" fmla="*/ 1740175 w 3812712"/>
                <a:gd name="connsiteY2" fmla="*/ 1489328 h 2352582"/>
                <a:gd name="connsiteX3" fmla="*/ 2271117 w 3812712"/>
                <a:gd name="connsiteY3" fmla="*/ 1327095 h 2352582"/>
                <a:gd name="connsiteX4" fmla="*/ 2920046 w 3812712"/>
                <a:gd name="connsiteY4" fmla="*/ 781405 h 2352582"/>
                <a:gd name="connsiteX5" fmla="*/ 3812712 w 3812712"/>
                <a:gd name="connsiteY5" fmla="*/ 0 h 2352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2712" h="2352582">
                  <a:moveTo>
                    <a:pt x="0" y="2352582"/>
                  </a:moveTo>
                  <a:lnTo>
                    <a:pt x="1164988" y="2079263"/>
                  </a:lnTo>
                  <a:lnTo>
                    <a:pt x="1740175" y="1489328"/>
                  </a:lnTo>
                  <a:lnTo>
                    <a:pt x="2271117" y="1327095"/>
                  </a:lnTo>
                  <a:lnTo>
                    <a:pt x="2920046" y="781405"/>
                  </a:lnTo>
                  <a:lnTo>
                    <a:pt x="3812712" y="0"/>
                  </a:lnTo>
                </a:path>
              </a:pathLst>
            </a:cu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34D70C1B-23AC-9F56-E3D0-8F22BC340393}"/>
                </a:ext>
              </a:extLst>
            </p:cNvPr>
            <p:cNvSpPr/>
            <p:nvPr/>
          </p:nvSpPr>
          <p:spPr>
            <a:xfrm>
              <a:off x="1737815" y="5180385"/>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3C565008-534D-973E-1492-0AA724B263FC}"/>
                </a:ext>
              </a:extLst>
            </p:cNvPr>
            <p:cNvSpPr/>
            <p:nvPr/>
          </p:nvSpPr>
          <p:spPr>
            <a:xfrm>
              <a:off x="2889176" y="4884308"/>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96F6927B-0C8F-C60C-3505-4361598600B5}"/>
                </a:ext>
              </a:extLst>
            </p:cNvPr>
            <p:cNvSpPr/>
            <p:nvPr/>
          </p:nvSpPr>
          <p:spPr>
            <a:xfrm>
              <a:off x="3464941" y="4316251"/>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7D5A1633-A1A7-7E67-BB74-D0CEB9F7BA0E}"/>
                </a:ext>
              </a:extLst>
            </p:cNvPr>
            <p:cNvSpPr/>
            <p:nvPr/>
          </p:nvSpPr>
          <p:spPr>
            <a:xfrm>
              <a:off x="4014062" y="4120703"/>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6BEE7F10-1D0A-47C7-EE0F-929CE1D76A38}"/>
                </a:ext>
              </a:extLst>
            </p:cNvPr>
            <p:cNvSpPr/>
            <p:nvPr/>
          </p:nvSpPr>
          <p:spPr>
            <a:xfrm>
              <a:off x="4660823" y="3598409"/>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C009CD7B-F957-2D23-646E-A5559A58B49D}"/>
                </a:ext>
              </a:extLst>
            </p:cNvPr>
            <p:cNvSpPr/>
            <p:nvPr/>
          </p:nvSpPr>
          <p:spPr>
            <a:xfrm>
              <a:off x="5260932" y="3074751"/>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Title 1">
            <a:extLst>
              <a:ext uri="{FF2B5EF4-FFF2-40B4-BE49-F238E27FC236}">
                <a16:creationId xmlns:a16="http://schemas.microsoft.com/office/drawing/2014/main" id="{88AB1A6A-7580-7029-B5A5-A18A823ECE8F}"/>
              </a:ext>
            </a:extLst>
          </p:cNvPr>
          <p:cNvSpPr txBox="1">
            <a:spLocks/>
          </p:cNvSpPr>
          <p:nvPr/>
        </p:nvSpPr>
        <p:spPr>
          <a:xfrm>
            <a:off x="5809077" y="269830"/>
            <a:ext cx="6468542" cy="658817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u="sng" dirty="0">
                <a:latin typeface="Calibri" panose="020F0502020204030204" pitchFamily="34" charset="0"/>
                <a:cs typeface="Calibri" panose="020F0502020204030204" pitchFamily="34" charset="0"/>
              </a:rPr>
              <a:t>Lecture Outline</a:t>
            </a:r>
          </a:p>
          <a:p>
            <a:endParaRPr lang="en-US" sz="3200" dirty="0">
              <a:latin typeface="Calibri" panose="020F0502020204030204" pitchFamily="34" charset="0"/>
              <a:cs typeface="Calibri" panose="020F0502020204030204" pitchFamily="34" charset="0"/>
            </a:endParaRPr>
          </a:p>
          <a:p>
            <a:r>
              <a:rPr lang="en-US" sz="3200" dirty="0">
                <a:latin typeface="Calibri" panose="020F0502020204030204" pitchFamily="34" charset="0"/>
                <a:cs typeface="Calibri" panose="020F0502020204030204" pitchFamily="34" charset="0"/>
              </a:rPr>
              <a:t>Steps for Hypothesis Testing</a:t>
            </a:r>
          </a:p>
          <a:p>
            <a:pPr marL="800100" indent="-508000">
              <a:buFont typeface="+mj-lt"/>
              <a:buAutoNum type="arabicPeriod"/>
            </a:pPr>
            <a:r>
              <a:rPr lang="en-US" sz="2800" dirty="0">
                <a:solidFill>
                  <a:srgbClr val="FF0000"/>
                </a:solidFill>
              </a:rPr>
              <a:t>Define Hypotheses</a:t>
            </a:r>
          </a:p>
          <a:p>
            <a:pPr marL="800100" indent="-508000">
              <a:buFont typeface="+mj-lt"/>
              <a:buAutoNum type="arabicPeriod"/>
            </a:pPr>
            <a:r>
              <a:rPr lang="en-US" sz="2800" dirty="0"/>
              <a:t>Select Sampling Distribution</a:t>
            </a:r>
          </a:p>
          <a:p>
            <a:pPr marL="800100" indent="-508000">
              <a:buFont typeface="+mj-lt"/>
              <a:buAutoNum type="arabicPeriod"/>
            </a:pPr>
            <a:r>
              <a:rPr lang="en-US" sz="2800" dirty="0"/>
              <a:t>Set </a:t>
            </a:r>
            <a:r>
              <a:rPr lang="en-US" sz="2800" i="1" dirty="0"/>
              <a:t>a priori</a:t>
            </a:r>
            <a:r>
              <a:rPr lang="en-US" sz="2800" dirty="0"/>
              <a:t> criteria</a:t>
            </a:r>
          </a:p>
          <a:p>
            <a:pPr marL="800100" indent="-508000">
              <a:buFont typeface="+mj-lt"/>
              <a:buAutoNum type="arabicPeriod"/>
            </a:pPr>
            <a:r>
              <a:rPr lang="en-US" sz="2800" dirty="0"/>
              <a:t>Compute statistics</a:t>
            </a:r>
          </a:p>
          <a:p>
            <a:pPr marL="800100" indent="-508000">
              <a:buFont typeface="+mj-lt"/>
              <a:buAutoNum type="arabicPeriod"/>
            </a:pPr>
            <a:r>
              <a:rPr lang="en-US" sz="2800" dirty="0"/>
              <a:t>Make statistical decision</a:t>
            </a:r>
          </a:p>
          <a:p>
            <a:pPr marL="800100" indent="-508000">
              <a:buFont typeface="+mj-lt"/>
              <a:buAutoNum type="arabicPeriod"/>
            </a:pPr>
            <a:r>
              <a:rPr lang="en-US" sz="2800" dirty="0"/>
              <a:t>Interpret your outcome</a:t>
            </a:r>
            <a:endParaRPr lang="en-US" sz="2000" dirty="0"/>
          </a:p>
          <a:p>
            <a:endParaRPr lang="en-US"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091108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11E6A-74A0-5649-99AF-0014D7084DCA}"/>
              </a:ext>
            </a:extLst>
          </p:cNvPr>
          <p:cNvSpPr>
            <a:spLocks noGrp="1"/>
          </p:cNvSpPr>
          <p:nvPr>
            <p:ph type="title"/>
          </p:nvPr>
        </p:nvSpPr>
        <p:spPr/>
        <p:txBody>
          <a:bodyPr/>
          <a:lstStyle/>
          <a:p>
            <a:r>
              <a:rPr lang="en-US" dirty="0"/>
              <a:t>Step 1: Define Hypotheses</a:t>
            </a:r>
          </a:p>
        </p:txBody>
      </p:sp>
      <p:sp>
        <p:nvSpPr>
          <p:cNvPr id="3" name="Content Placeholder 2">
            <a:extLst>
              <a:ext uri="{FF2B5EF4-FFF2-40B4-BE49-F238E27FC236}">
                <a16:creationId xmlns:a16="http://schemas.microsoft.com/office/drawing/2014/main" id="{09D325FF-BBF8-EB4E-8152-C8DD6BC3948E}"/>
              </a:ext>
            </a:extLst>
          </p:cNvPr>
          <p:cNvSpPr>
            <a:spLocks noGrp="1"/>
          </p:cNvSpPr>
          <p:nvPr>
            <p:ph idx="1"/>
          </p:nvPr>
        </p:nvSpPr>
        <p:spPr>
          <a:xfrm>
            <a:off x="838199" y="1825625"/>
            <a:ext cx="6148889" cy="4351338"/>
          </a:xfrm>
        </p:spPr>
        <p:txBody>
          <a:bodyPr/>
          <a:lstStyle/>
          <a:p>
            <a:pPr marL="0" indent="0">
              <a:buNone/>
            </a:pPr>
            <a:r>
              <a:rPr lang="en-US" b="1" dirty="0"/>
              <a:t>Theory</a:t>
            </a:r>
            <a:r>
              <a:rPr lang="en-US" dirty="0"/>
              <a:t>: Conceptual description of a phenomenon</a:t>
            </a:r>
          </a:p>
          <a:p>
            <a:r>
              <a:rPr lang="en-US" dirty="0"/>
              <a:t>Derived from past research or observations of the world</a:t>
            </a:r>
          </a:p>
          <a:p>
            <a:r>
              <a:rPr lang="en-US" dirty="0"/>
              <a:t>Tested with specific </a:t>
            </a:r>
            <a:r>
              <a:rPr lang="en-US" b="1" dirty="0"/>
              <a:t>research question</a:t>
            </a:r>
          </a:p>
          <a:p>
            <a:r>
              <a:rPr lang="en-US" dirty="0"/>
              <a:t>Determine </a:t>
            </a:r>
            <a:r>
              <a:rPr lang="en-US" i="1" dirty="0"/>
              <a:t>two</a:t>
            </a:r>
            <a:r>
              <a:rPr lang="en-US" dirty="0"/>
              <a:t> specific </a:t>
            </a:r>
            <a:r>
              <a:rPr lang="en-US" b="1" dirty="0"/>
              <a:t>hypotheses</a:t>
            </a:r>
          </a:p>
          <a:p>
            <a:pPr lvl="1"/>
            <a:r>
              <a:rPr lang="en-US" dirty="0"/>
              <a:t>Null &amp; Alternative</a:t>
            </a:r>
          </a:p>
        </p:txBody>
      </p:sp>
      <p:pic>
        <p:nvPicPr>
          <p:cNvPr id="4" name="Picture 3">
            <a:extLst>
              <a:ext uri="{FF2B5EF4-FFF2-40B4-BE49-F238E27FC236}">
                <a16:creationId xmlns:a16="http://schemas.microsoft.com/office/drawing/2014/main" id="{FC796CCA-7DC2-578E-493A-2B53C72CB1C2}"/>
              </a:ext>
            </a:extLst>
          </p:cNvPr>
          <p:cNvPicPr>
            <a:picLocks noChangeAspect="1"/>
          </p:cNvPicPr>
          <p:nvPr/>
        </p:nvPicPr>
        <p:blipFill>
          <a:blip r:embed="rId2"/>
          <a:stretch>
            <a:fillRect/>
          </a:stretch>
        </p:blipFill>
        <p:spPr>
          <a:xfrm>
            <a:off x="8006375" y="2012306"/>
            <a:ext cx="3566167" cy="4480569"/>
          </a:xfrm>
          <a:prstGeom prst="rect">
            <a:avLst/>
          </a:prstGeom>
        </p:spPr>
      </p:pic>
    </p:spTree>
    <p:extLst>
      <p:ext uri="{BB962C8B-B14F-4D97-AF65-F5344CB8AC3E}">
        <p14:creationId xmlns:p14="http://schemas.microsoft.com/office/powerpoint/2010/main" val="2593064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11E6A-74A0-5649-99AF-0014D7084DCA}"/>
              </a:ext>
            </a:extLst>
          </p:cNvPr>
          <p:cNvSpPr>
            <a:spLocks noGrp="1"/>
          </p:cNvSpPr>
          <p:nvPr>
            <p:ph type="title"/>
          </p:nvPr>
        </p:nvSpPr>
        <p:spPr/>
        <p:txBody>
          <a:bodyPr/>
          <a:lstStyle/>
          <a:p>
            <a:r>
              <a:rPr lang="en-US" dirty="0"/>
              <a:t>Step 1: Define Hypotheses</a:t>
            </a:r>
          </a:p>
        </p:txBody>
      </p:sp>
      <p:sp>
        <p:nvSpPr>
          <p:cNvPr id="3" name="Content Placeholder 2">
            <a:extLst>
              <a:ext uri="{FF2B5EF4-FFF2-40B4-BE49-F238E27FC236}">
                <a16:creationId xmlns:a16="http://schemas.microsoft.com/office/drawing/2014/main" id="{09D325FF-BBF8-EB4E-8152-C8DD6BC3948E}"/>
              </a:ext>
            </a:extLst>
          </p:cNvPr>
          <p:cNvSpPr>
            <a:spLocks noGrp="1"/>
          </p:cNvSpPr>
          <p:nvPr>
            <p:ph idx="1"/>
          </p:nvPr>
        </p:nvSpPr>
        <p:spPr>
          <a:xfrm>
            <a:off x="838199" y="1825624"/>
            <a:ext cx="6148889" cy="5032375"/>
          </a:xfrm>
        </p:spPr>
        <p:txBody>
          <a:bodyPr>
            <a:normAutofit fontScale="85000" lnSpcReduction="10000"/>
          </a:bodyPr>
          <a:lstStyle/>
          <a:p>
            <a:pPr marL="0" indent="0">
              <a:buNone/>
            </a:pPr>
            <a:r>
              <a:rPr lang="en-US" b="1" dirty="0"/>
              <a:t>Alternative Hypothesis (</a:t>
            </a:r>
            <a:r>
              <a:rPr lang="en-US" b="1" i="1" dirty="0"/>
              <a:t>H</a:t>
            </a:r>
            <a:r>
              <a:rPr lang="en-US" b="1" i="1" baseline="-25000" dirty="0"/>
              <a:t>1</a:t>
            </a:r>
            <a:r>
              <a:rPr lang="en-US" b="1" dirty="0"/>
              <a:t>)</a:t>
            </a:r>
            <a:r>
              <a:rPr lang="en-US" dirty="0"/>
              <a:t>: Derived from theory, reflecting the concept being studied</a:t>
            </a:r>
          </a:p>
          <a:p>
            <a:r>
              <a:rPr lang="en-US" dirty="0"/>
              <a:t>Considered the opposite of </a:t>
            </a:r>
            <a:r>
              <a:rPr lang="en-US" i="1" dirty="0"/>
              <a:t>H</a:t>
            </a:r>
            <a:r>
              <a:rPr lang="en-US" i="1" baseline="-25000" dirty="0"/>
              <a:t>0</a:t>
            </a:r>
          </a:p>
          <a:p>
            <a:r>
              <a:rPr lang="en-US" dirty="0"/>
              <a:t>E.g., Difference of exam scores between Jo with SPG and past classes without SPG</a:t>
            </a:r>
          </a:p>
          <a:p>
            <a:pPr lvl="1"/>
            <a:r>
              <a:rPr lang="en-US" dirty="0"/>
              <a:t>Difference </a:t>
            </a:r>
            <a:r>
              <a:rPr lang="en-CA" dirty="0"/>
              <a:t>≠ 0</a:t>
            </a:r>
          </a:p>
          <a:p>
            <a:endParaRPr lang="en-US" dirty="0"/>
          </a:p>
          <a:p>
            <a:pPr marL="0" indent="0">
              <a:buNone/>
            </a:pPr>
            <a:r>
              <a:rPr lang="en-US" b="1" dirty="0"/>
              <a:t>Null Hypothesis (</a:t>
            </a:r>
            <a:r>
              <a:rPr lang="en-US" b="1" i="1" dirty="0"/>
              <a:t>H</a:t>
            </a:r>
            <a:r>
              <a:rPr lang="en-US" b="1" i="1" baseline="-25000" dirty="0"/>
              <a:t>0</a:t>
            </a:r>
            <a:r>
              <a:rPr lang="en-US" b="1" dirty="0"/>
              <a:t>): </a:t>
            </a:r>
            <a:r>
              <a:rPr lang="en-US" dirty="0"/>
              <a:t>Suggests no relationship between DV and IV</a:t>
            </a:r>
          </a:p>
          <a:p>
            <a:r>
              <a:rPr lang="en-US" b="1" dirty="0"/>
              <a:t>NHST</a:t>
            </a:r>
            <a:r>
              <a:rPr lang="en-US" dirty="0"/>
              <a:t>: Goal is </a:t>
            </a:r>
            <a:r>
              <a:rPr lang="en-US"/>
              <a:t>to disconfirm </a:t>
            </a:r>
            <a:r>
              <a:rPr lang="en-US" dirty="0"/>
              <a:t>the null hypothesis </a:t>
            </a:r>
          </a:p>
          <a:p>
            <a:r>
              <a:rPr lang="en-US" dirty="0"/>
              <a:t>E.g., No difference of exam scores between Jo with SPG and past classes without SPG</a:t>
            </a:r>
          </a:p>
          <a:p>
            <a:pPr lvl="1"/>
            <a:r>
              <a:rPr lang="en-US" dirty="0"/>
              <a:t>Difference = 0</a:t>
            </a:r>
          </a:p>
        </p:txBody>
      </p:sp>
      <p:pic>
        <p:nvPicPr>
          <p:cNvPr id="4" name="Picture 3">
            <a:extLst>
              <a:ext uri="{FF2B5EF4-FFF2-40B4-BE49-F238E27FC236}">
                <a16:creationId xmlns:a16="http://schemas.microsoft.com/office/drawing/2014/main" id="{23814C55-3BD5-12FA-2DE3-50533B5DDF37}"/>
              </a:ext>
            </a:extLst>
          </p:cNvPr>
          <p:cNvPicPr>
            <a:picLocks noChangeAspect="1"/>
          </p:cNvPicPr>
          <p:nvPr/>
        </p:nvPicPr>
        <p:blipFill>
          <a:blip r:embed="rId2"/>
          <a:stretch>
            <a:fillRect/>
          </a:stretch>
        </p:blipFill>
        <p:spPr>
          <a:xfrm>
            <a:off x="8006375" y="2012306"/>
            <a:ext cx="3566167" cy="4480569"/>
          </a:xfrm>
          <a:prstGeom prst="rect">
            <a:avLst/>
          </a:prstGeom>
        </p:spPr>
      </p:pic>
    </p:spTree>
    <p:extLst>
      <p:ext uri="{BB962C8B-B14F-4D97-AF65-F5344CB8AC3E}">
        <p14:creationId xmlns:p14="http://schemas.microsoft.com/office/powerpoint/2010/main" val="3047210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11E6A-74A0-5649-99AF-0014D7084DCA}"/>
              </a:ext>
            </a:extLst>
          </p:cNvPr>
          <p:cNvSpPr>
            <a:spLocks noGrp="1"/>
          </p:cNvSpPr>
          <p:nvPr>
            <p:ph type="title"/>
          </p:nvPr>
        </p:nvSpPr>
        <p:spPr/>
        <p:txBody>
          <a:bodyPr/>
          <a:lstStyle/>
          <a:p>
            <a:r>
              <a:rPr lang="en-US" dirty="0"/>
              <a:t>Step 1: Define Hypotheses</a:t>
            </a:r>
          </a:p>
        </p:txBody>
      </p:sp>
      <p:sp>
        <p:nvSpPr>
          <p:cNvPr id="3" name="Content Placeholder 2">
            <a:extLst>
              <a:ext uri="{FF2B5EF4-FFF2-40B4-BE49-F238E27FC236}">
                <a16:creationId xmlns:a16="http://schemas.microsoft.com/office/drawing/2014/main" id="{09D325FF-BBF8-EB4E-8152-C8DD6BC3948E}"/>
              </a:ext>
            </a:extLst>
          </p:cNvPr>
          <p:cNvSpPr>
            <a:spLocks noGrp="1"/>
          </p:cNvSpPr>
          <p:nvPr>
            <p:ph idx="1"/>
          </p:nvPr>
        </p:nvSpPr>
        <p:spPr>
          <a:xfrm>
            <a:off x="838199" y="1825624"/>
            <a:ext cx="7517525" cy="5032375"/>
          </a:xfrm>
        </p:spPr>
        <p:txBody>
          <a:bodyPr>
            <a:normAutofit/>
          </a:bodyPr>
          <a:lstStyle/>
          <a:p>
            <a:pPr marL="0" indent="0">
              <a:buNone/>
            </a:pPr>
            <a:r>
              <a:rPr lang="en-US" b="1" dirty="0"/>
              <a:t>Example: </a:t>
            </a:r>
            <a:r>
              <a:rPr lang="el-GR" i="1" dirty="0"/>
              <a:t>μ</a:t>
            </a:r>
            <a:r>
              <a:rPr lang="en-US" dirty="0"/>
              <a:t> = 75.00, </a:t>
            </a:r>
            <a:r>
              <a:rPr lang="en-US" i="1" dirty="0"/>
              <a:t>σ = </a:t>
            </a:r>
            <a:r>
              <a:rPr lang="en-US" dirty="0"/>
              <a:t>6.50, </a:t>
            </a:r>
            <a:r>
              <a:rPr lang="en-US" i="1" dirty="0"/>
              <a:t>x</a:t>
            </a:r>
            <a:r>
              <a:rPr lang="en-US" dirty="0"/>
              <a:t> = 90.00</a:t>
            </a:r>
          </a:p>
          <a:p>
            <a:pPr marL="0" indent="0">
              <a:buNone/>
            </a:pPr>
            <a:endParaRPr lang="en-US" b="1" dirty="0"/>
          </a:p>
          <a:p>
            <a:pPr marL="0" indent="0">
              <a:buNone/>
            </a:pPr>
            <a:r>
              <a:rPr lang="en-US" b="1" dirty="0"/>
              <a:t>Non-Directional (in words) – Two tailed</a:t>
            </a:r>
          </a:p>
          <a:p>
            <a:r>
              <a:rPr lang="en-US" b="1" i="1" dirty="0"/>
              <a:t>H</a:t>
            </a:r>
            <a:r>
              <a:rPr lang="en-US" b="1" i="1" baseline="-25000" dirty="0"/>
              <a:t>0</a:t>
            </a:r>
            <a:r>
              <a:rPr lang="en-US" b="1" dirty="0"/>
              <a:t>: </a:t>
            </a:r>
            <a:r>
              <a:rPr lang="en-CA" dirty="0"/>
              <a:t>There is </a:t>
            </a:r>
            <a:r>
              <a:rPr lang="en-CA" i="1" dirty="0"/>
              <a:t>no difference </a:t>
            </a:r>
            <a:r>
              <a:rPr lang="en-CA" dirty="0"/>
              <a:t>in exam scores</a:t>
            </a:r>
            <a:r>
              <a:rPr lang="en-CA" i="1" dirty="0"/>
              <a:t> </a:t>
            </a:r>
            <a:r>
              <a:rPr lang="en-CA" dirty="0"/>
              <a:t>between Jo that used the SPG and past classes that did not use the SPG</a:t>
            </a:r>
          </a:p>
          <a:p>
            <a:endParaRPr lang="en-CA" dirty="0"/>
          </a:p>
          <a:p>
            <a:r>
              <a:rPr lang="en-US" b="1" i="1" dirty="0"/>
              <a:t>H</a:t>
            </a:r>
            <a:r>
              <a:rPr lang="en-US" b="1" i="1" baseline="-25000" dirty="0"/>
              <a:t>1</a:t>
            </a:r>
            <a:r>
              <a:rPr lang="en-US" b="1" dirty="0"/>
              <a:t>: </a:t>
            </a:r>
            <a:r>
              <a:rPr lang="en-CA" dirty="0"/>
              <a:t>There </a:t>
            </a:r>
            <a:r>
              <a:rPr lang="en-CA" i="1" dirty="0"/>
              <a:t>is a difference </a:t>
            </a:r>
            <a:r>
              <a:rPr lang="en-CA" dirty="0"/>
              <a:t>in exam scores</a:t>
            </a:r>
            <a:r>
              <a:rPr lang="en-CA" i="1" dirty="0"/>
              <a:t> </a:t>
            </a:r>
            <a:r>
              <a:rPr lang="en-CA" dirty="0"/>
              <a:t>between Jo that used the SPG and past classes that did not use the SPG</a:t>
            </a:r>
          </a:p>
          <a:p>
            <a:endParaRPr lang="en-CA" dirty="0"/>
          </a:p>
        </p:txBody>
      </p:sp>
      <p:grpSp>
        <p:nvGrpSpPr>
          <p:cNvPr id="11" name="Group 10">
            <a:extLst>
              <a:ext uri="{FF2B5EF4-FFF2-40B4-BE49-F238E27FC236}">
                <a16:creationId xmlns:a16="http://schemas.microsoft.com/office/drawing/2014/main" id="{D42E8A8E-F79A-A444-85DD-1164B62F8467}"/>
              </a:ext>
            </a:extLst>
          </p:cNvPr>
          <p:cNvGrpSpPr/>
          <p:nvPr/>
        </p:nvGrpSpPr>
        <p:grpSpPr>
          <a:xfrm>
            <a:off x="9367837" y="679168"/>
            <a:ext cx="1985963" cy="5945469"/>
            <a:chOff x="7997825" y="-1409700"/>
            <a:chExt cx="3046413" cy="9120187"/>
          </a:xfrm>
        </p:grpSpPr>
        <p:pic>
          <p:nvPicPr>
            <p:cNvPr id="5" name="Picture 4" descr="Diagram&#10;&#10;Description automatically generated">
              <a:extLst>
                <a:ext uri="{FF2B5EF4-FFF2-40B4-BE49-F238E27FC236}">
                  <a16:creationId xmlns:a16="http://schemas.microsoft.com/office/drawing/2014/main" id="{D14E3A8A-343B-9D40-8653-6A7D572567EA}"/>
                </a:ext>
              </a:extLst>
            </p:cNvPr>
            <p:cNvPicPr>
              <a:picLocks noChangeAspect="1"/>
            </p:cNvPicPr>
            <p:nvPr/>
          </p:nvPicPr>
          <p:blipFill rotWithShape="1">
            <a:blip r:embed="rId2"/>
            <a:srcRect t="9268" r="66776" b="15474"/>
            <a:stretch/>
          </p:blipFill>
          <p:spPr>
            <a:xfrm>
              <a:off x="7997825" y="2043112"/>
              <a:ext cx="3046413" cy="2771775"/>
            </a:xfrm>
            <a:prstGeom prst="rect">
              <a:avLst/>
            </a:prstGeom>
          </p:spPr>
        </p:pic>
        <p:pic>
          <p:nvPicPr>
            <p:cNvPr id="9" name="Picture 8" descr="Diagram&#10;&#10;Description automatically generated">
              <a:extLst>
                <a:ext uri="{FF2B5EF4-FFF2-40B4-BE49-F238E27FC236}">
                  <a16:creationId xmlns:a16="http://schemas.microsoft.com/office/drawing/2014/main" id="{4D736EDE-7150-F347-9D09-F00649CDB123}"/>
                </a:ext>
              </a:extLst>
            </p:cNvPr>
            <p:cNvPicPr>
              <a:picLocks noChangeAspect="1"/>
            </p:cNvPicPr>
            <p:nvPr/>
          </p:nvPicPr>
          <p:blipFill rotWithShape="1">
            <a:blip r:embed="rId2"/>
            <a:srcRect l="33180" t="10043" r="33596" b="14699"/>
            <a:stretch/>
          </p:blipFill>
          <p:spPr>
            <a:xfrm>
              <a:off x="7997825" y="4938712"/>
              <a:ext cx="3046413" cy="2771775"/>
            </a:xfrm>
            <a:prstGeom prst="rect">
              <a:avLst/>
            </a:prstGeom>
          </p:spPr>
        </p:pic>
        <p:pic>
          <p:nvPicPr>
            <p:cNvPr id="10" name="Picture 9" descr="Diagram&#10;&#10;Description automatically generated">
              <a:extLst>
                <a:ext uri="{FF2B5EF4-FFF2-40B4-BE49-F238E27FC236}">
                  <a16:creationId xmlns:a16="http://schemas.microsoft.com/office/drawing/2014/main" id="{4A05B46E-94DE-444E-8A23-65A8B67F4FBC}"/>
                </a:ext>
              </a:extLst>
            </p:cNvPr>
            <p:cNvPicPr>
              <a:picLocks noChangeAspect="1"/>
            </p:cNvPicPr>
            <p:nvPr/>
          </p:nvPicPr>
          <p:blipFill rotWithShape="1">
            <a:blip r:embed="rId2"/>
            <a:srcRect l="68438" t="7026" r="-1662" b="-776"/>
            <a:stretch/>
          </p:blipFill>
          <p:spPr>
            <a:xfrm>
              <a:off x="7997825" y="-1409700"/>
              <a:ext cx="3046413" cy="3452812"/>
            </a:xfrm>
            <a:prstGeom prst="rect">
              <a:avLst/>
            </a:prstGeom>
          </p:spPr>
        </p:pic>
      </p:grpSp>
    </p:spTree>
    <p:extLst>
      <p:ext uri="{BB962C8B-B14F-4D97-AF65-F5344CB8AC3E}">
        <p14:creationId xmlns:p14="http://schemas.microsoft.com/office/powerpoint/2010/main" val="3992955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2D936-C841-404D-3C6A-951B141FBD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8EC89B-E358-5020-BBAE-36E04430EDFE}"/>
              </a:ext>
            </a:extLst>
          </p:cNvPr>
          <p:cNvSpPr>
            <a:spLocks noGrp="1"/>
          </p:cNvSpPr>
          <p:nvPr>
            <p:ph type="title"/>
          </p:nvPr>
        </p:nvSpPr>
        <p:spPr/>
        <p:txBody>
          <a:bodyPr/>
          <a:lstStyle/>
          <a:p>
            <a:r>
              <a:rPr lang="en-US" dirty="0"/>
              <a:t>Step 1: Define Hypotheses</a:t>
            </a:r>
          </a:p>
        </p:txBody>
      </p:sp>
      <p:sp>
        <p:nvSpPr>
          <p:cNvPr id="3" name="Content Placeholder 2">
            <a:extLst>
              <a:ext uri="{FF2B5EF4-FFF2-40B4-BE49-F238E27FC236}">
                <a16:creationId xmlns:a16="http://schemas.microsoft.com/office/drawing/2014/main" id="{54D43C6B-B40E-CBE6-4AED-0342F627FFBB}"/>
              </a:ext>
            </a:extLst>
          </p:cNvPr>
          <p:cNvSpPr>
            <a:spLocks noGrp="1"/>
          </p:cNvSpPr>
          <p:nvPr>
            <p:ph idx="1"/>
          </p:nvPr>
        </p:nvSpPr>
        <p:spPr>
          <a:xfrm>
            <a:off x="838199" y="1825624"/>
            <a:ext cx="7517525" cy="5032375"/>
          </a:xfrm>
        </p:spPr>
        <p:txBody>
          <a:bodyPr>
            <a:normAutofit/>
          </a:bodyPr>
          <a:lstStyle/>
          <a:p>
            <a:pPr marL="0" indent="0">
              <a:buNone/>
            </a:pPr>
            <a:r>
              <a:rPr lang="en-US" b="1" dirty="0"/>
              <a:t>Example: </a:t>
            </a:r>
            <a:r>
              <a:rPr lang="el-GR" i="1" dirty="0"/>
              <a:t>μ</a:t>
            </a:r>
            <a:r>
              <a:rPr lang="en-US" dirty="0"/>
              <a:t> = 75.00, </a:t>
            </a:r>
            <a:r>
              <a:rPr lang="en-US" i="1" dirty="0"/>
              <a:t>σ = </a:t>
            </a:r>
            <a:r>
              <a:rPr lang="en-US" dirty="0"/>
              <a:t>6.50, </a:t>
            </a:r>
            <a:r>
              <a:rPr lang="en-US" i="1" dirty="0"/>
              <a:t>x</a:t>
            </a:r>
            <a:r>
              <a:rPr lang="en-US" dirty="0"/>
              <a:t> = 90.00</a:t>
            </a:r>
          </a:p>
          <a:p>
            <a:pPr marL="0" indent="0">
              <a:buNone/>
            </a:pPr>
            <a:endParaRPr lang="en-US" dirty="0"/>
          </a:p>
          <a:p>
            <a:pPr marL="0" indent="0">
              <a:buNone/>
            </a:pPr>
            <a:r>
              <a:rPr lang="en-US" b="1" dirty="0"/>
              <a:t>Directional (in words) – One tailed</a:t>
            </a:r>
          </a:p>
          <a:p>
            <a:r>
              <a:rPr lang="en-US" b="1" i="1" dirty="0"/>
              <a:t>H</a:t>
            </a:r>
            <a:r>
              <a:rPr lang="en-US" b="1" i="1" baseline="-25000" dirty="0"/>
              <a:t>0</a:t>
            </a:r>
            <a:r>
              <a:rPr lang="en-US" b="1" dirty="0"/>
              <a:t>: </a:t>
            </a:r>
            <a:r>
              <a:rPr lang="en-CA" dirty="0"/>
              <a:t>Jo using the SPG will result in lower or equal exam scores than past classes that did not use the SPG</a:t>
            </a:r>
          </a:p>
          <a:p>
            <a:endParaRPr lang="en-CA" dirty="0"/>
          </a:p>
          <a:p>
            <a:r>
              <a:rPr lang="en-US" b="1" i="1" dirty="0"/>
              <a:t>H</a:t>
            </a:r>
            <a:r>
              <a:rPr lang="en-US" b="1" i="1" baseline="-25000" dirty="0"/>
              <a:t>1</a:t>
            </a:r>
            <a:r>
              <a:rPr lang="en-US" b="1" dirty="0"/>
              <a:t>: </a:t>
            </a:r>
            <a:r>
              <a:rPr lang="en-CA" dirty="0"/>
              <a:t>Jo using the SPG will result in higher exam scores than past classes that did not use the SPG</a:t>
            </a:r>
            <a:endParaRPr lang="en-US" dirty="0"/>
          </a:p>
          <a:p>
            <a:pPr marL="0" indent="0">
              <a:buNone/>
            </a:pPr>
            <a:endParaRPr lang="en-US" dirty="0"/>
          </a:p>
        </p:txBody>
      </p:sp>
      <p:grpSp>
        <p:nvGrpSpPr>
          <p:cNvPr id="11" name="Group 10">
            <a:extLst>
              <a:ext uri="{FF2B5EF4-FFF2-40B4-BE49-F238E27FC236}">
                <a16:creationId xmlns:a16="http://schemas.microsoft.com/office/drawing/2014/main" id="{DF1D011F-198F-EECA-52BF-9E20BA8E2F5F}"/>
              </a:ext>
            </a:extLst>
          </p:cNvPr>
          <p:cNvGrpSpPr/>
          <p:nvPr/>
        </p:nvGrpSpPr>
        <p:grpSpPr>
          <a:xfrm>
            <a:off x="9367837" y="679168"/>
            <a:ext cx="1985963" cy="5945469"/>
            <a:chOff x="7997825" y="-1409700"/>
            <a:chExt cx="3046413" cy="9120187"/>
          </a:xfrm>
        </p:grpSpPr>
        <p:pic>
          <p:nvPicPr>
            <p:cNvPr id="5" name="Picture 4" descr="Diagram&#10;&#10;Description automatically generated">
              <a:extLst>
                <a:ext uri="{FF2B5EF4-FFF2-40B4-BE49-F238E27FC236}">
                  <a16:creationId xmlns:a16="http://schemas.microsoft.com/office/drawing/2014/main" id="{849DAD3C-2F0D-964C-6880-FE4C00006AC8}"/>
                </a:ext>
              </a:extLst>
            </p:cNvPr>
            <p:cNvPicPr>
              <a:picLocks noChangeAspect="1"/>
            </p:cNvPicPr>
            <p:nvPr/>
          </p:nvPicPr>
          <p:blipFill rotWithShape="1">
            <a:blip r:embed="rId2"/>
            <a:srcRect t="9268" r="66776" b="15474"/>
            <a:stretch/>
          </p:blipFill>
          <p:spPr>
            <a:xfrm>
              <a:off x="7997825" y="2043112"/>
              <a:ext cx="3046413" cy="2771775"/>
            </a:xfrm>
            <a:prstGeom prst="rect">
              <a:avLst/>
            </a:prstGeom>
          </p:spPr>
        </p:pic>
        <p:pic>
          <p:nvPicPr>
            <p:cNvPr id="9" name="Picture 8" descr="Diagram&#10;&#10;Description automatically generated">
              <a:extLst>
                <a:ext uri="{FF2B5EF4-FFF2-40B4-BE49-F238E27FC236}">
                  <a16:creationId xmlns:a16="http://schemas.microsoft.com/office/drawing/2014/main" id="{A1F29BFE-DABC-E3B7-BCA0-D13882E4E0B4}"/>
                </a:ext>
              </a:extLst>
            </p:cNvPr>
            <p:cNvPicPr>
              <a:picLocks noChangeAspect="1"/>
            </p:cNvPicPr>
            <p:nvPr/>
          </p:nvPicPr>
          <p:blipFill rotWithShape="1">
            <a:blip r:embed="rId2"/>
            <a:srcRect l="33180" t="10043" r="33596" b="14699"/>
            <a:stretch/>
          </p:blipFill>
          <p:spPr>
            <a:xfrm>
              <a:off x="7997825" y="4938712"/>
              <a:ext cx="3046413" cy="2771775"/>
            </a:xfrm>
            <a:prstGeom prst="rect">
              <a:avLst/>
            </a:prstGeom>
          </p:spPr>
        </p:pic>
        <p:pic>
          <p:nvPicPr>
            <p:cNvPr id="10" name="Picture 9" descr="Diagram&#10;&#10;Description automatically generated">
              <a:extLst>
                <a:ext uri="{FF2B5EF4-FFF2-40B4-BE49-F238E27FC236}">
                  <a16:creationId xmlns:a16="http://schemas.microsoft.com/office/drawing/2014/main" id="{D295979C-28C2-9AB4-B2AB-8FBD9C690440}"/>
                </a:ext>
              </a:extLst>
            </p:cNvPr>
            <p:cNvPicPr>
              <a:picLocks noChangeAspect="1"/>
            </p:cNvPicPr>
            <p:nvPr/>
          </p:nvPicPr>
          <p:blipFill rotWithShape="1">
            <a:blip r:embed="rId2"/>
            <a:srcRect l="68438" t="7026" r="-1662" b="-776"/>
            <a:stretch/>
          </p:blipFill>
          <p:spPr>
            <a:xfrm>
              <a:off x="7997825" y="-1409700"/>
              <a:ext cx="3046413" cy="3452812"/>
            </a:xfrm>
            <a:prstGeom prst="rect">
              <a:avLst/>
            </a:prstGeom>
          </p:spPr>
        </p:pic>
      </p:grpSp>
    </p:spTree>
    <p:extLst>
      <p:ext uri="{BB962C8B-B14F-4D97-AF65-F5344CB8AC3E}">
        <p14:creationId xmlns:p14="http://schemas.microsoft.com/office/powerpoint/2010/main" val="292850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11E6A-74A0-5649-99AF-0014D7084DCA}"/>
              </a:ext>
            </a:extLst>
          </p:cNvPr>
          <p:cNvSpPr>
            <a:spLocks noGrp="1"/>
          </p:cNvSpPr>
          <p:nvPr>
            <p:ph type="title"/>
          </p:nvPr>
        </p:nvSpPr>
        <p:spPr/>
        <p:txBody>
          <a:bodyPr/>
          <a:lstStyle/>
          <a:p>
            <a:r>
              <a:rPr lang="en-US" dirty="0"/>
              <a:t>Step 1: Define Hypotheses</a:t>
            </a:r>
          </a:p>
        </p:txBody>
      </p:sp>
      <p:sp>
        <p:nvSpPr>
          <p:cNvPr id="3" name="Content Placeholder 2">
            <a:extLst>
              <a:ext uri="{FF2B5EF4-FFF2-40B4-BE49-F238E27FC236}">
                <a16:creationId xmlns:a16="http://schemas.microsoft.com/office/drawing/2014/main" id="{09D325FF-BBF8-EB4E-8152-C8DD6BC3948E}"/>
              </a:ext>
            </a:extLst>
          </p:cNvPr>
          <p:cNvSpPr>
            <a:spLocks noGrp="1"/>
          </p:cNvSpPr>
          <p:nvPr>
            <p:ph idx="1"/>
          </p:nvPr>
        </p:nvSpPr>
        <p:spPr>
          <a:xfrm>
            <a:off x="838199" y="1825624"/>
            <a:ext cx="7517525" cy="5032375"/>
          </a:xfrm>
        </p:spPr>
        <p:txBody>
          <a:bodyPr>
            <a:normAutofit/>
          </a:bodyPr>
          <a:lstStyle/>
          <a:p>
            <a:pPr marL="0" indent="0">
              <a:buNone/>
            </a:pPr>
            <a:r>
              <a:rPr lang="en-US" b="1" dirty="0"/>
              <a:t>Example: </a:t>
            </a:r>
            <a:r>
              <a:rPr lang="el-GR" i="1" dirty="0"/>
              <a:t>μ</a:t>
            </a:r>
            <a:r>
              <a:rPr lang="en-US" dirty="0"/>
              <a:t> = 75.00, </a:t>
            </a:r>
            <a:r>
              <a:rPr lang="en-US" i="1" dirty="0"/>
              <a:t>σ = </a:t>
            </a:r>
            <a:r>
              <a:rPr lang="en-US" dirty="0"/>
              <a:t>6.50, </a:t>
            </a:r>
            <a:r>
              <a:rPr lang="en-US" i="1" dirty="0"/>
              <a:t>x</a:t>
            </a:r>
            <a:r>
              <a:rPr lang="en-US" dirty="0"/>
              <a:t> = 90.00</a:t>
            </a:r>
          </a:p>
          <a:p>
            <a:pPr marL="0" indent="0">
              <a:buNone/>
            </a:pPr>
            <a:endParaRPr lang="en-US" b="1" dirty="0"/>
          </a:p>
          <a:p>
            <a:pPr marL="0" indent="0">
              <a:buNone/>
            </a:pPr>
            <a:r>
              <a:rPr lang="en-US" b="1" dirty="0"/>
              <a:t>Non-Directional – Two tailed</a:t>
            </a:r>
          </a:p>
          <a:p>
            <a:r>
              <a:rPr lang="en-US" b="1" i="1" dirty="0"/>
              <a:t>H</a:t>
            </a:r>
            <a:r>
              <a:rPr lang="en-US" b="1" i="1" baseline="-25000" dirty="0"/>
              <a:t>0</a:t>
            </a:r>
            <a:r>
              <a:rPr lang="en-US" b="1" dirty="0"/>
              <a:t>: </a:t>
            </a:r>
            <a:r>
              <a:rPr lang="el-GR" i="1" dirty="0"/>
              <a:t>μ</a:t>
            </a:r>
            <a:r>
              <a:rPr lang="en-CA" dirty="0"/>
              <a:t> =</a:t>
            </a:r>
            <a:r>
              <a:rPr lang="el-GR" i="1" dirty="0"/>
              <a:t> </a:t>
            </a:r>
            <a:r>
              <a:rPr lang="en-US" dirty="0"/>
              <a:t>75.00</a:t>
            </a:r>
            <a:endParaRPr lang="en-CA" dirty="0"/>
          </a:p>
          <a:p>
            <a:r>
              <a:rPr lang="en-US" b="1" i="1" dirty="0"/>
              <a:t>H</a:t>
            </a:r>
            <a:r>
              <a:rPr lang="en-US" b="1" i="1" baseline="-25000" dirty="0"/>
              <a:t>1</a:t>
            </a:r>
            <a:r>
              <a:rPr lang="en-US" b="1" dirty="0"/>
              <a:t>: </a:t>
            </a:r>
            <a:r>
              <a:rPr lang="el-GR" i="1" dirty="0"/>
              <a:t>μ</a:t>
            </a:r>
            <a:r>
              <a:rPr lang="en-CA" dirty="0"/>
              <a:t> ≠ </a:t>
            </a:r>
            <a:r>
              <a:rPr lang="en-US" dirty="0"/>
              <a:t>75.00</a:t>
            </a:r>
            <a:endParaRPr lang="en-US" i="1" dirty="0"/>
          </a:p>
          <a:p>
            <a:pPr marL="0" indent="0">
              <a:buNone/>
            </a:pPr>
            <a:endParaRPr lang="en-US" dirty="0"/>
          </a:p>
          <a:p>
            <a:pPr marL="0" indent="0">
              <a:buNone/>
            </a:pPr>
            <a:r>
              <a:rPr lang="en-US" b="1" dirty="0"/>
              <a:t>Directional – One tailed</a:t>
            </a:r>
          </a:p>
          <a:p>
            <a:r>
              <a:rPr lang="en-US" b="1" i="1" dirty="0"/>
              <a:t>H</a:t>
            </a:r>
            <a:r>
              <a:rPr lang="en-US" b="1" i="1" baseline="-25000" dirty="0"/>
              <a:t>0</a:t>
            </a:r>
            <a:r>
              <a:rPr lang="en-US" b="1" dirty="0"/>
              <a:t>: </a:t>
            </a:r>
            <a:r>
              <a:rPr lang="el-GR" i="1" dirty="0"/>
              <a:t>μ</a:t>
            </a:r>
            <a:r>
              <a:rPr lang="en-CA" dirty="0"/>
              <a:t> ≤ </a:t>
            </a:r>
            <a:r>
              <a:rPr lang="en-US" dirty="0"/>
              <a:t>75.00</a:t>
            </a:r>
            <a:r>
              <a:rPr lang="en-CA" i="1" dirty="0"/>
              <a:t>  </a:t>
            </a:r>
            <a:r>
              <a:rPr lang="en-CA" dirty="0"/>
              <a:t>      	</a:t>
            </a:r>
            <a:r>
              <a:rPr lang="en-US" b="1" i="1" dirty="0"/>
              <a:t> H</a:t>
            </a:r>
            <a:r>
              <a:rPr lang="en-US" b="1" i="1" baseline="-25000" dirty="0"/>
              <a:t>0</a:t>
            </a:r>
            <a:r>
              <a:rPr lang="en-US" b="1" dirty="0"/>
              <a:t>: </a:t>
            </a:r>
            <a:r>
              <a:rPr lang="el-GR" i="1" dirty="0"/>
              <a:t>μ</a:t>
            </a:r>
            <a:r>
              <a:rPr lang="en-CA" dirty="0"/>
              <a:t> ≥ </a:t>
            </a:r>
            <a:r>
              <a:rPr lang="en-US" dirty="0"/>
              <a:t>75.00</a:t>
            </a:r>
            <a:r>
              <a:rPr lang="en-CA" dirty="0"/>
              <a:t>    </a:t>
            </a:r>
          </a:p>
          <a:p>
            <a:r>
              <a:rPr lang="en-US" b="1" i="1" dirty="0"/>
              <a:t>H</a:t>
            </a:r>
            <a:r>
              <a:rPr lang="en-US" b="1" i="1" baseline="-25000" dirty="0"/>
              <a:t>1</a:t>
            </a:r>
            <a:r>
              <a:rPr lang="en-US" b="1" dirty="0"/>
              <a:t>: </a:t>
            </a:r>
            <a:r>
              <a:rPr lang="el-GR" i="1" dirty="0"/>
              <a:t>μ</a:t>
            </a:r>
            <a:r>
              <a:rPr lang="en-CA" dirty="0"/>
              <a:t> &gt; </a:t>
            </a:r>
            <a:r>
              <a:rPr lang="en-US" dirty="0"/>
              <a:t>75.00</a:t>
            </a:r>
            <a:r>
              <a:rPr lang="en-CA" i="1" dirty="0"/>
              <a:t>   </a:t>
            </a:r>
            <a:r>
              <a:rPr lang="en-CA" dirty="0"/>
              <a:t> 		 </a:t>
            </a:r>
            <a:r>
              <a:rPr lang="en-US" b="1" i="1" dirty="0"/>
              <a:t>H</a:t>
            </a:r>
            <a:r>
              <a:rPr lang="en-US" b="1" i="1" baseline="-25000" dirty="0"/>
              <a:t>1</a:t>
            </a:r>
            <a:r>
              <a:rPr lang="en-US" b="1" dirty="0"/>
              <a:t>: </a:t>
            </a:r>
            <a:r>
              <a:rPr lang="el-GR" i="1" dirty="0"/>
              <a:t>μ</a:t>
            </a:r>
            <a:r>
              <a:rPr lang="en-CA" dirty="0"/>
              <a:t> &lt; </a:t>
            </a:r>
            <a:r>
              <a:rPr lang="en-US" dirty="0"/>
              <a:t>75.00</a:t>
            </a:r>
            <a:endParaRPr lang="en-US" i="1" dirty="0"/>
          </a:p>
          <a:p>
            <a:pPr marL="0" indent="0">
              <a:buNone/>
            </a:pPr>
            <a:endParaRPr lang="en-US" dirty="0"/>
          </a:p>
        </p:txBody>
      </p:sp>
      <p:grpSp>
        <p:nvGrpSpPr>
          <p:cNvPr id="11" name="Group 10">
            <a:extLst>
              <a:ext uri="{FF2B5EF4-FFF2-40B4-BE49-F238E27FC236}">
                <a16:creationId xmlns:a16="http://schemas.microsoft.com/office/drawing/2014/main" id="{D42E8A8E-F79A-A444-85DD-1164B62F8467}"/>
              </a:ext>
            </a:extLst>
          </p:cNvPr>
          <p:cNvGrpSpPr/>
          <p:nvPr/>
        </p:nvGrpSpPr>
        <p:grpSpPr>
          <a:xfrm>
            <a:off x="9367837" y="679168"/>
            <a:ext cx="1985963" cy="5945469"/>
            <a:chOff x="7997825" y="-1409700"/>
            <a:chExt cx="3046413" cy="9120187"/>
          </a:xfrm>
        </p:grpSpPr>
        <p:pic>
          <p:nvPicPr>
            <p:cNvPr id="5" name="Picture 4" descr="Diagram&#10;&#10;Description automatically generated">
              <a:extLst>
                <a:ext uri="{FF2B5EF4-FFF2-40B4-BE49-F238E27FC236}">
                  <a16:creationId xmlns:a16="http://schemas.microsoft.com/office/drawing/2014/main" id="{D14E3A8A-343B-9D40-8653-6A7D572567EA}"/>
                </a:ext>
              </a:extLst>
            </p:cNvPr>
            <p:cNvPicPr>
              <a:picLocks noChangeAspect="1"/>
            </p:cNvPicPr>
            <p:nvPr/>
          </p:nvPicPr>
          <p:blipFill rotWithShape="1">
            <a:blip r:embed="rId2"/>
            <a:srcRect t="9268" r="66776" b="15474"/>
            <a:stretch/>
          </p:blipFill>
          <p:spPr>
            <a:xfrm>
              <a:off x="7997825" y="2043112"/>
              <a:ext cx="3046413" cy="2771775"/>
            </a:xfrm>
            <a:prstGeom prst="rect">
              <a:avLst/>
            </a:prstGeom>
          </p:spPr>
        </p:pic>
        <p:pic>
          <p:nvPicPr>
            <p:cNvPr id="9" name="Picture 8" descr="Diagram&#10;&#10;Description automatically generated">
              <a:extLst>
                <a:ext uri="{FF2B5EF4-FFF2-40B4-BE49-F238E27FC236}">
                  <a16:creationId xmlns:a16="http://schemas.microsoft.com/office/drawing/2014/main" id="{4D736EDE-7150-F347-9D09-F00649CDB123}"/>
                </a:ext>
              </a:extLst>
            </p:cNvPr>
            <p:cNvPicPr>
              <a:picLocks noChangeAspect="1"/>
            </p:cNvPicPr>
            <p:nvPr/>
          </p:nvPicPr>
          <p:blipFill rotWithShape="1">
            <a:blip r:embed="rId2"/>
            <a:srcRect l="33180" t="10043" r="33596" b="14699"/>
            <a:stretch/>
          </p:blipFill>
          <p:spPr>
            <a:xfrm>
              <a:off x="7997825" y="4938712"/>
              <a:ext cx="3046413" cy="2771775"/>
            </a:xfrm>
            <a:prstGeom prst="rect">
              <a:avLst/>
            </a:prstGeom>
          </p:spPr>
        </p:pic>
        <p:pic>
          <p:nvPicPr>
            <p:cNvPr id="10" name="Picture 9" descr="Diagram&#10;&#10;Description automatically generated">
              <a:extLst>
                <a:ext uri="{FF2B5EF4-FFF2-40B4-BE49-F238E27FC236}">
                  <a16:creationId xmlns:a16="http://schemas.microsoft.com/office/drawing/2014/main" id="{4A05B46E-94DE-444E-8A23-65A8B67F4FBC}"/>
                </a:ext>
              </a:extLst>
            </p:cNvPr>
            <p:cNvPicPr>
              <a:picLocks noChangeAspect="1"/>
            </p:cNvPicPr>
            <p:nvPr/>
          </p:nvPicPr>
          <p:blipFill rotWithShape="1">
            <a:blip r:embed="rId2"/>
            <a:srcRect l="68438" t="7026" r="-1662" b="-776"/>
            <a:stretch/>
          </p:blipFill>
          <p:spPr>
            <a:xfrm>
              <a:off x="7997825" y="-1409700"/>
              <a:ext cx="3046413" cy="3452812"/>
            </a:xfrm>
            <a:prstGeom prst="rect">
              <a:avLst/>
            </a:prstGeom>
          </p:spPr>
        </p:pic>
      </p:grpSp>
      <p:cxnSp>
        <p:nvCxnSpPr>
          <p:cNvPr id="13" name="Straight Connector 12">
            <a:extLst>
              <a:ext uri="{FF2B5EF4-FFF2-40B4-BE49-F238E27FC236}">
                <a16:creationId xmlns:a16="http://schemas.microsoft.com/office/drawing/2014/main" id="{751608E6-5AC1-134D-B46E-27A8FEE192A7}"/>
              </a:ext>
            </a:extLst>
          </p:cNvPr>
          <p:cNvCxnSpPr/>
          <p:nvPr/>
        </p:nvCxnSpPr>
        <p:spPr>
          <a:xfrm>
            <a:off x="4477407" y="5265683"/>
            <a:ext cx="0" cy="1227192"/>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0107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A115E2-4FE8-2E4C-A37A-70FF38E79C49}"/>
              </a:ext>
            </a:extLst>
          </p:cNvPr>
          <p:cNvSpPr>
            <a:spLocks noGrp="1"/>
          </p:cNvSpPr>
          <p:nvPr>
            <p:ph idx="1"/>
          </p:nvPr>
        </p:nvSpPr>
        <p:spPr>
          <a:xfrm>
            <a:off x="838200" y="586596"/>
            <a:ext cx="5257800" cy="6271404"/>
          </a:xfrm>
        </p:spPr>
        <p:txBody>
          <a:bodyPr>
            <a:normAutofit/>
          </a:bodyPr>
          <a:lstStyle/>
          <a:p>
            <a:pPr marL="0" indent="0">
              <a:buNone/>
            </a:pPr>
            <a:r>
              <a:rPr lang="en-US" b="1" dirty="0"/>
              <a:t>Step 1:</a:t>
            </a:r>
          </a:p>
          <a:p>
            <a:r>
              <a:rPr lang="en-US" b="1" i="1" dirty="0"/>
              <a:t>H</a:t>
            </a:r>
            <a:r>
              <a:rPr lang="en-US" b="1" i="1" baseline="-25000" dirty="0"/>
              <a:t>0</a:t>
            </a:r>
            <a:r>
              <a:rPr lang="en-US" b="1" dirty="0"/>
              <a:t>: </a:t>
            </a:r>
            <a:r>
              <a:rPr lang="el-GR" i="1" dirty="0"/>
              <a:t>μ</a:t>
            </a:r>
            <a:r>
              <a:rPr lang="en-CA" dirty="0"/>
              <a:t> =</a:t>
            </a:r>
            <a:r>
              <a:rPr lang="el-GR" dirty="0"/>
              <a:t> </a:t>
            </a:r>
            <a:r>
              <a:rPr lang="en-US" dirty="0"/>
              <a:t>75.00</a:t>
            </a:r>
            <a:r>
              <a:rPr lang="en-CA" dirty="0"/>
              <a:t>    </a:t>
            </a:r>
          </a:p>
          <a:p>
            <a:r>
              <a:rPr lang="en-US" b="1" i="1" dirty="0"/>
              <a:t>H</a:t>
            </a:r>
            <a:r>
              <a:rPr lang="en-US" b="1" i="1" baseline="-25000" dirty="0"/>
              <a:t>1</a:t>
            </a:r>
            <a:r>
              <a:rPr lang="en-US" b="1" dirty="0"/>
              <a:t>: </a:t>
            </a:r>
            <a:r>
              <a:rPr lang="el-GR" i="1" dirty="0"/>
              <a:t>μ</a:t>
            </a:r>
            <a:r>
              <a:rPr lang="en-CA" dirty="0"/>
              <a:t> ≠ </a:t>
            </a:r>
            <a:r>
              <a:rPr lang="en-US" dirty="0"/>
              <a:t>75.00</a:t>
            </a:r>
            <a:r>
              <a:rPr lang="en-CA" dirty="0"/>
              <a:t>    </a:t>
            </a:r>
          </a:p>
          <a:p>
            <a:pPr lvl="1"/>
            <a:r>
              <a:rPr lang="en-CA" dirty="0"/>
              <a:t>Thus, two-tailed</a:t>
            </a:r>
          </a:p>
          <a:p>
            <a:endParaRPr lang="en-US" dirty="0"/>
          </a:p>
        </p:txBody>
      </p:sp>
    </p:spTree>
    <p:extLst>
      <p:ext uri="{BB962C8B-B14F-4D97-AF65-F5344CB8AC3E}">
        <p14:creationId xmlns:p14="http://schemas.microsoft.com/office/powerpoint/2010/main" val="20993717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E6299-A41F-10AD-68C0-5D607FAE06B1}"/>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BD32EC58-D7A6-3941-B4C1-78748DB698EE}"/>
              </a:ext>
            </a:extLst>
          </p:cNvPr>
          <p:cNvGrpSpPr/>
          <p:nvPr/>
        </p:nvGrpSpPr>
        <p:grpSpPr>
          <a:xfrm>
            <a:off x="294429" y="602116"/>
            <a:ext cx="5458932" cy="5307690"/>
            <a:chOff x="1462829" y="602117"/>
            <a:chExt cx="5458932" cy="5307690"/>
          </a:xfrm>
        </p:grpSpPr>
        <p:grpSp>
          <p:nvGrpSpPr>
            <p:cNvPr id="5" name="Group 4">
              <a:extLst>
                <a:ext uri="{FF2B5EF4-FFF2-40B4-BE49-F238E27FC236}">
                  <a16:creationId xmlns:a16="http://schemas.microsoft.com/office/drawing/2014/main" id="{E4BCFABE-45C5-0FD2-2F57-86882AE367AA}"/>
                </a:ext>
              </a:extLst>
            </p:cNvPr>
            <p:cNvGrpSpPr/>
            <p:nvPr/>
          </p:nvGrpSpPr>
          <p:grpSpPr>
            <a:xfrm>
              <a:off x="1462829" y="602117"/>
              <a:ext cx="5458932" cy="5307690"/>
              <a:chOff x="1779790" y="1493134"/>
              <a:chExt cx="4490974" cy="4366550"/>
            </a:xfrm>
          </p:grpSpPr>
          <p:cxnSp>
            <p:nvCxnSpPr>
              <p:cNvPr id="15" name="Straight Arrow Connector 14">
                <a:extLst>
                  <a:ext uri="{FF2B5EF4-FFF2-40B4-BE49-F238E27FC236}">
                    <a16:creationId xmlns:a16="http://schemas.microsoft.com/office/drawing/2014/main" id="{7D2F7141-949A-6436-7374-FC148585B9B0}"/>
                  </a:ext>
                </a:extLst>
              </p:cNvPr>
              <p:cNvCxnSpPr>
                <a:cxnSpLocks/>
              </p:cNvCxnSpPr>
              <p:nvPr/>
            </p:nvCxnSpPr>
            <p:spPr>
              <a:xfrm flipV="1">
                <a:off x="1805652" y="1493134"/>
                <a:ext cx="0" cy="4366550"/>
              </a:xfrm>
              <a:prstGeom prst="straightConnector1">
                <a:avLst/>
              </a:prstGeom>
              <a:ln w="127000">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E30B3A6A-D3E5-8C47-6EF7-580EF92A5F1A}"/>
                  </a:ext>
                </a:extLst>
              </p:cNvPr>
              <p:cNvCxnSpPr>
                <a:cxnSpLocks/>
              </p:cNvCxnSpPr>
              <p:nvPr/>
            </p:nvCxnSpPr>
            <p:spPr>
              <a:xfrm>
                <a:off x="1779790" y="5816277"/>
                <a:ext cx="4490974" cy="0"/>
              </a:xfrm>
              <a:prstGeom prst="straightConnector1">
                <a:avLst/>
              </a:prstGeom>
              <a:ln w="127000">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sp>
            <p:nvSpPr>
              <p:cNvPr id="17" name="Freeform 16">
                <a:extLst>
                  <a:ext uri="{FF2B5EF4-FFF2-40B4-BE49-F238E27FC236}">
                    <a16:creationId xmlns:a16="http://schemas.microsoft.com/office/drawing/2014/main" id="{5804C764-2272-B785-4462-4388E9A81669}"/>
                  </a:ext>
                </a:extLst>
              </p:cNvPr>
              <p:cNvSpPr/>
              <p:nvPr/>
            </p:nvSpPr>
            <p:spPr>
              <a:xfrm>
                <a:off x="1939274" y="3449119"/>
                <a:ext cx="1893537" cy="2087919"/>
              </a:xfrm>
              <a:custGeom>
                <a:avLst/>
                <a:gdLst>
                  <a:gd name="connsiteX0" fmla="*/ 0 w 1893537"/>
                  <a:gd name="connsiteY0" fmla="*/ 2879376 h 2887468"/>
                  <a:gd name="connsiteX1" fmla="*/ 412694 w 1893537"/>
                  <a:gd name="connsiteY1" fmla="*/ 2361486 h 2887468"/>
                  <a:gd name="connsiteX2" fmla="*/ 841572 w 1893537"/>
                  <a:gd name="connsiteY2" fmla="*/ 233281 h 2887468"/>
                  <a:gd name="connsiteX3" fmla="*/ 1068149 w 1893537"/>
                  <a:gd name="connsiteY3" fmla="*/ 289925 h 2887468"/>
                  <a:gd name="connsiteX4" fmla="*/ 1472751 w 1893537"/>
                  <a:gd name="connsiteY4" fmla="*/ 2321026 h 2887468"/>
                  <a:gd name="connsiteX5" fmla="*/ 1893537 w 1893537"/>
                  <a:gd name="connsiteY5" fmla="*/ 2887468 h 2887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3537" h="2887468">
                    <a:moveTo>
                      <a:pt x="0" y="2879376"/>
                    </a:moveTo>
                    <a:cubicBezTo>
                      <a:pt x="136216" y="2840939"/>
                      <a:pt x="272432" y="2802502"/>
                      <a:pt x="412694" y="2361486"/>
                    </a:cubicBezTo>
                    <a:cubicBezTo>
                      <a:pt x="552956" y="1920470"/>
                      <a:pt x="732330" y="578541"/>
                      <a:pt x="841572" y="233281"/>
                    </a:cubicBezTo>
                    <a:cubicBezTo>
                      <a:pt x="950814" y="-111979"/>
                      <a:pt x="962953" y="-58032"/>
                      <a:pt x="1068149" y="289925"/>
                    </a:cubicBezTo>
                    <a:cubicBezTo>
                      <a:pt x="1173345" y="637882"/>
                      <a:pt x="1335186" y="1888102"/>
                      <a:pt x="1472751" y="2321026"/>
                    </a:cubicBezTo>
                    <a:cubicBezTo>
                      <a:pt x="1610316" y="2753950"/>
                      <a:pt x="1689888" y="2863192"/>
                      <a:pt x="1893537" y="2887468"/>
                    </a:cubicBezTo>
                  </a:path>
                </a:pathLst>
              </a:custGeom>
              <a:solidFill>
                <a:schemeClr val="accent1">
                  <a:lumMod val="40000"/>
                  <a:lumOff val="60000"/>
                  <a:alpha val="84678"/>
                </a:schemeClr>
              </a:solidFill>
              <a:ln>
                <a:solidFill>
                  <a:schemeClr val="accent1">
                    <a:lumMod val="50000"/>
                    <a:alpha val="85134"/>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17">
                <a:extLst>
                  <a:ext uri="{FF2B5EF4-FFF2-40B4-BE49-F238E27FC236}">
                    <a16:creationId xmlns:a16="http://schemas.microsoft.com/office/drawing/2014/main" id="{87A466B6-7E4B-26C6-9A49-C4B14578607C}"/>
                  </a:ext>
                </a:extLst>
              </p:cNvPr>
              <p:cNvSpPr/>
              <p:nvPr/>
            </p:nvSpPr>
            <p:spPr>
              <a:xfrm>
                <a:off x="2842958" y="2826560"/>
                <a:ext cx="1893537" cy="2710478"/>
              </a:xfrm>
              <a:custGeom>
                <a:avLst/>
                <a:gdLst>
                  <a:gd name="connsiteX0" fmla="*/ 0 w 1893537"/>
                  <a:gd name="connsiteY0" fmla="*/ 2879376 h 2887468"/>
                  <a:gd name="connsiteX1" fmla="*/ 412694 w 1893537"/>
                  <a:gd name="connsiteY1" fmla="*/ 2361486 h 2887468"/>
                  <a:gd name="connsiteX2" fmla="*/ 841572 w 1893537"/>
                  <a:gd name="connsiteY2" fmla="*/ 233281 h 2887468"/>
                  <a:gd name="connsiteX3" fmla="*/ 1068149 w 1893537"/>
                  <a:gd name="connsiteY3" fmla="*/ 289925 h 2887468"/>
                  <a:gd name="connsiteX4" fmla="*/ 1472751 w 1893537"/>
                  <a:gd name="connsiteY4" fmla="*/ 2321026 h 2887468"/>
                  <a:gd name="connsiteX5" fmla="*/ 1893537 w 1893537"/>
                  <a:gd name="connsiteY5" fmla="*/ 2887468 h 2887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3537" h="2887468">
                    <a:moveTo>
                      <a:pt x="0" y="2879376"/>
                    </a:moveTo>
                    <a:cubicBezTo>
                      <a:pt x="136216" y="2840939"/>
                      <a:pt x="272432" y="2802502"/>
                      <a:pt x="412694" y="2361486"/>
                    </a:cubicBezTo>
                    <a:cubicBezTo>
                      <a:pt x="552956" y="1920470"/>
                      <a:pt x="732330" y="578541"/>
                      <a:pt x="841572" y="233281"/>
                    </a:cubicBezTo>
                    <a:cubicBezTo>
                      <a:pt x="950814" y="-111979"/>
                      <a:pt x="962953" y="-58032"/>
                      <a:pt x="1068149" y="289925"/>
                    </a:cubicBezTo>
                    <a:cubicBezTo>
                      <a:pt x="1173345" y="637882"/>
                      <a:pt x="1335186" y="1888102"/>
                      <a:pt x="1472751" y="2321026"/>
                    </a:cubicBezTo>
                    <a:cubicBezTo>
                      <a:pt x="1610316" y="2753950"/>
                      <a:pt x="1689888" y="2863192"/>
                      <a:pt x="1893537" y="2887468"/>
                    </a:cubicBezTo>
                  </a:path>
                </a:pathLst>
              </a:custGeom>
              <a:solidFill>
                <a:schemeClr val="accent2">
                  <a:lumMod val="40000"/>
                  <a:lumOff val="60000"/>
                  <a:alpha val="85220"/>
                </a:schemeClr>
              </a:solidFill>
              <a:ln>
                <a:solidFill>
                  <a:schemeClr val="accent2">
                    <a:lumMod val="50000"/>
                    <a:alpha val="85199"/>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18">
                <a:extLst>
                  <a:ext uri="{FF2B5EF4-FFF2-40B4-BE49-F238E27FC236}">
                    <a16:creationId xmlns:a16="http://schemas.microsoft.com/office/drawing/2014/main" id="{B81689E1-F06E-3CCD-A6B0-2CD1838B72E5}"/>
                  </a:ext>
                </a:extLst>
              </p:cNvPr>
              <p:cNvSpPr/>
              <p:nvPr/>
            </p:nvSpPr>
            <p:spPr>
              <a:xfrm>
                <a:off x="3722204" y="2311601"/>
                <a:ext cx="2101382" cy="3225437"/>
              </a:xfrm>
              <a:custGeom>
                <a:avLst/>
                <a:gdLst>
                  <a:gd name="connsiteX0" fmla="*/ 0 w 1893537"/>
                  <a:gd name="connsiteY0" fmla="*/ 2879376 h 2887468"/>
                  <a:gd name="connsiteX1" fmla="*/ 412694 w 1893537"/>
                  <a:gd name="connsiteY1" fmla="*/ 2361486 h 2887468"/>
                  <a:gd name="connsiteX2" fmla="*/ 841572 w 1893537"/>
                  <a:gd name="connsiteY2" fmla="*/ 233281 h 2887468"/>
                  <a:gd name="connsiteX3" fmla="*/ 1068149 w 1893537"/>
                  <a:gd name="connsiteY3" fmla="*/ 289925 h 2887468"/>
                  <a:gd name="connsiteX4" fmla="*/ 1472751 w 1893537"/>
                  <a:gd name="connsiteY4" fmla="*/ 2321026 h 2887468"/>
                  <a:gd name="connsiteX5" fmla="*/ 1893537 w 1893537"/>
                  <a:gd name="connsiteY5" fmla="*/ 2887468 h 2887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3537" h="2887468">
                    <a:moveTo>
                      <a:pt x="0" y="2879376"/>
                    </a:moveTo>
                    <a:cubicBezTo>
                      <a:pt x="136216" y="2840939"/>
                      <a:pt x="272432" y="2802502"/>
                      <a:pt x="412694" y="2361486"/>
                    </a:cubicBezTo>
                    <a:cubicBezTo>
                      <a:pt x="552956" y="1920470"/>
                      <a:pt x="732330" y="578541"/>
                      <a:pt x="841572" y="233281"/>
                    </a:cubicBezTo>
                    <a:cubicBezTo>
                      <a:pt x="950814" y="-111979"/>
                      <a:pt x="962953" y="-58032"/>
                      <a:pt x="1068149" y="289925"/>
                    </a:cubicBezTo>
                    <a:cubicBezTo>
                      <a:pt x="1173345" y="637882"/>
                      <a:pt x="1335186" y="1888102"/>
                      <a:pt x="1472751" y="2321026"/>
                    </a:cubicBezTo>
                    <a:cubicBezTo>
                      <a:pt x="1610316" y="2753950"/>
                      <a:pt x="1689888" y="2863192"/>
                      <a:pt x="1893537" y="2887468"/>
                    </a:cubicBezTo>
                  </a:path>
                </a:pathLst>
              </a:custGeom>
              <a:solidFill>
                <a:schemeClr val="accent6">
                  <a:lumMod val="40000"/>
                  <a:lumOff val="60000"/>
                  <a:alpha val="85188"/>
                </a:schemeClr>
              </a:solidFill>
              <a:ln>
                <a:solidFill>
                  <a:schemeClr val="accent6">
                    <a:lumMod val="50000"/>
                    <a:alpha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Freeform 5">
              <a:extLst>
                <a:ext uri="{FF2B5EF4-FFF2-40B4-BE49-F238E27FC236}">
                  <a16:creationId xmlns:a16="http://schemas.microsoft.com/office/drawing/2014/main" id="{0B84F21D-25A5-5914-5697-B78543F8A34C}"/>
                </a:ext>
              </a:extLst>
            </p:cNvPr>
            <p:cNvSpPr/>
            <p:nvPr/>
          </p:nvSpPr>
          <p:spPr>
            <a:xfrm>
              <a:off x="1812853" y="2979683"/>
              <a:ext cx="3708069" cy="2264351"/>
            </a:xfrm>
            <a:custGeom>
              <a:avLst/>
              <a:gdLst>
                <a:gd name="connsiteX0" fmla="*/ 0 w 3229897"/>
                <a:gd name="connsiteY0" fmla="*/ 2138516 h 2138516"/>
                <a:gd name="connsiteX1" fmla="*/ 678426 w 3229897"/>
                <a:gd name="connsiteY1" fmla="*/ 1991032 h 2138516"/>
                <a:gd name="connsiteX2" fmla="*/ 1253613 w 3229897"/>
                <a:gd name="connsiteY2" fmla="*/ 1401097 h 2138516"/>
                <a:gd name="connsiteX3" fmla="*/ 1784555 w 3229897"/>
                <a:gd name="connsiteY3" fmla="*/ 1238864 h 2138516"/>
                <a:gd name="connsiteX4" fmla="*/ 2433484 w 3229897"/>
                <a:gd name="connsiteY4" fmla="*/ 693174 h 2138516"/>
                <a:gd name="connsiteX5" fmla="*/ 3229897 w 3229897"/>
                <a:gd name="connsiteY5" fmla="*/ 0 h 2138516"/>
                <a:gd name="connsiteX0" fmla="*/ 0 w 3708069"/>
                <a:gd name="connsiteY0" fmla="*/ 2264351 h 2264351"/>
                <a:gd name="connsiteX1" fmla="*/ 1156598 w 3708069"/>
                <a:gd name="connsiteY1" fmla="*/ 1991032 h 2264351"/>
                <a:gd name="connsiteX2" fmla="*/ 1731785 w 3708069"/>
                <a:gd name="connsiteY2" fmla="*/ 1401097 h 2264351"/>
                <a:gd name="connsiteX3" fmla="*/ 2262727 w 3708069"/>
                <a:gd name="connsiteY3" fmla="*/ 1238864 h 2264351"/>
                <a:gd name="connsiteX4" fmla="*/ 2911656 w 3708069"/>
                <a:gd name="connsiteY4" fmla="*/ 693174 h 2264351"/>
                <a:gd name="connsiteX5" fmla="*/ 3708069 w 3708069"/>
                <a:gd name="connsiteY5" fmla="*/ 0 h 2264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8069" h="2264351">
                  <a:moveTo>
                    <a:pt x="0" y="2264351"/>
                  </a:moveTo>
                  <a:lnTo>
                    <a:pt x="1156598" y="1991032"/>
                  </a:lnTo>
                  <a:lnTo>
                    <a:pt x="1731785" y="1401097"/>
                  </a:lnTo>
                  <a:lnTo>
                    <a:pt x="2262727" y="1238864"/>
                  </a:lnTo>
                  <a:lnTo>
                    <a:pt x="2911656" y="693174"/>
                  </a:lnTo>
                  <a:lnTo>
                    <a:pt x="3708069" y="0"/>
                  </a:lnTo>
                </a:path>
              </a:pathLst>
            </a:custGeom>
            <a:noFill/>
            <a:ln w="127000">
              <a:solidFill>
                <a:schemeClr val="bg1">
                  <a:alpha val="84175"/>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014F9696-C707-8648-0FEC-7FCDCCB47B37}"/>
                </a:ext>
              </a:extLst>
            </p:cNvPr>
            <p:cNvCxnSpPr>
              <a:cxnSpLocks/>
            </p:cNvCxnSpPr>
            <p:nvPr/>
          </p:nvCxnSpPr>
          <p:spPr>
            <a:xfrm flipV="1">
              <a:off x="5630015" y="2762124"/>
              <a:ext cx="122104" cy="126034"/>
            </a:xfrm>
            <a:prstGeom prst="straightConnector1">
              <a:avLst/>
            </a:pr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8" name="Freeform 7">
              <a:extLst>
                <a:ext uri="{FF2B5EF4-FFF2-40B4-BE49-F238E27FC236}">
                  <a16:creationId xmlns:a16="http://schemas.microsoft.com/office/drawing/2014/main" id="{3182C344-7435-D347-608B-4FA5F9F380B4}"/>
                </a:ext>
              </a:extLst>
            </p:cNvPr>
            <p:cNvSpPr/>
            <p:nvPr/>
          </p:nvSpPr>
          <p:spPr>
            <a:xfrm>
              <a:off x="1817303" y="2889806"/>
              <a:ext cx="3812712" cy="2352582"/>
            </a:xfrm>
            <a:custGeom>
              <a:avLst/>
              <a:gdLst>
                <a:gd name="connsiteX0" fmla="*/ 0 w 3229897"/>
                <a:gd name="connsiteY0" fmla="*/ 2138516 h 2138516"/>
                <a:gd name="connsiteX1" fmla="*/ 678426 w 3229897"/>
                <a:gd name="connsiteY1" fmla="*/ 1991032 h 2138516"/>
                <a:gd name="connsiteX2" fmla="*/ 1253613 w 3229897"/>
                <a:gd name="connsiteY2" fmla="*/ 1401097 h 2138516"/>
                <a:gd name="connsiteX3" fmla="*/ 1784555 w 3229897"/>
                <a:gd name="connsiteY3" fmla="*/ 1238864 h 2138516"/>
                <a:gd name="connsiteX4" fmla="*/ 2433484 w 3229897"/>
                <a:gd name="connsiteY4" fmla="*/ 693174 h 2138516"/>
                <a:gd name="connsiteX5" fmla="*/ 3229897 w 3229897"/>
                <a:gd name="connsiteY5" fmla="*/ 0 h 2138516"/>
                <a:gd name="connsiteX0" fmla="*/ 0 w 3326150"/>
                <a:gd name="connsiteY0" fmla="*/ 2226747 h 2226747"/>
                <a:gd name="connsiteX1" fmla="*/ 678426 w 3326150"/>
                <a:gd name="connsiteY1" fmla="*/ 2079263 h 2226747"/>
                <a:gd name="connsiteX2" fmla="*/ 1253613 w 3326150"/>
                <a:gd name="connsiteY2" fmla="*/ 1489328 h 2226747"/>
                <a:gd name="connsiteX3" fmla="*/ 1784555 w 3326150"/>
                <a:gd name="connsiteY3" fmla="*/ 1327095 h 2226747"/>
                <a:gd name="connsiteX4" fmla="*/ 2433484 w 3326150"/>
                <a:gd name="connsiteY4" fmla="*/ 781405 h 2226747"/>
                <a:gd name="connsiteX5" fmla="*/ 3326150 w 3326150"/>
                <a:gd name="connsiteY5" fmla="*/ 0 h 2226747"/>
                <a:gd name="connsiteX0" fmla="*/ 0 w 3812712"/>
                <a:gd name="connsiteY0" fmla="*/ 2352582 h 2352582"/>
                <a:gd name="connsiteX1" fmla="*/ 1164988 w 3812712"/>
                <a:gd name="connsiteY1" fmla="*/ 2079263 h 2352582"/>
                <a:gd name="connsiteX2" fmla="*/ 1740175 w 3812712"/>
                <a:gd name="connsiteY2" fmla="*/ 1489328 h 2352582"/>
                <a:gd name="connsiteX3" fmla="*/ 2271117 w 3812712"/>
                <a:gd name="connsiteY3" fmla="*/ 1327095 h 2352582"/>
                <a:gd name="connsiteX4" fmla="*/ 2920046 w 3812712"/>
                <a:gd name="connsiteY4" fmla="*/ 781405 h 2352582"/>
                <a:gd name="connsiteX5" fmla="*/ 3812712 w 3812712"/>
                <a:gd name="connsiteY5" fmla="*/ 0 h 2352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2712" h="2352582">
                  <a:moveTo>
                    <a:pt x="0" y="2352582"/>
                  </a:moveTo>
                  <a:lnTo>
                    <a:pt x="1164988" y="2079263"/>
                  </a:lnTo>
                  <a:lnTo>
                    <a:pt x="1740175" y="1489328"/>
                  </a:lnTo>
                  <a:lnTo>
                    <a:pt x="2271117" y="1327095"/>
                  </a:lnTo>
                  <a:lnTo>
                    <a:pt x="2920046" y="781405"/>
                  </a:lnTo>
                  <a:lnTo>
                    <a:pt x="3812712" y="0"/>
                  </a:lnTo>
                </a:path>
              </a:pathLst>
            </a:cu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9A471EFB-B08F-1ED6-4C00-3DC05D116897}"/>
                </a:ext>
              </a:extLst>
            </p:cNvPr>
            <p:cNvSpPr/>
            <p:nvPr/>
          </p:nvSpPr>
          <p:spPr>
            <a:xfrm>
              <a:off x="1737815" y="5180385"/>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934A58B-2AD7-5762-A46E-AEF8482F0CEA}"/>
                </a:ext>
              </a:extLst>
            </p:cNvPr>
            <p:cNvSpPr/>
            <p:nvPr/>
          </p:nvSpPr>
          <p:spPr>
            <a:xfrm>
              <a:off x="2889176" y="4884308"/>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C0769BC6-7614-577C-2735-B813E7B0025B}"/>
                </a:ext>
              </a:extLst>
            </p:cNvPr>
            <p:cNvSpPr/>
            <p:nvPr/>
          </p:nvSpPr>
          <p:spPr>
            <a:xfrm>
              <a:off x="3464941" y="4316251"/>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1840B58A-40FF-6A17-DD91-405800BF91E6}"/>
                </a:ext>
              </a:extLst>
            </p:cNvPr>
            <p:cNvSpPr/>
            <p:nvPr/>
          </p:nvSpPr>
          <p:spPr>
            <a:xfrm>
              <a:off x="4014062" y="4120703"/>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9C7F744B-114E-3331-235E-496A7A6368EF}"/>
                </a:ext>
              </a:extLst>
            </p:cNvPr>
            <p:cNvSpPr/>
            <p:nvPr/>
          </p:nvSpPr>
          <p:spPr>
            <a:xfrm>
              <a:off x="4660823" y="3598409"/>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597205F5-F842-0032-FF1F-78C2F8733E7B}"/>
                </a:ext>
              </a:extLst>
            </p:cNvPr>
            <p:cNvSpPr/>
            <p:nvPr/>
          </p:nvSpPr>
          <p:spPr>
            <a:xfrm>
              <a:off x="5260932" y="3074751"/>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Title 1">
            <a:extLst>
              <a:ext uri="{FF2B5EF4-FFF2-40B4-BE49-F238E27FC236}">
                <a16:creationId xmlns:a16="http://schemas.microsoft.com/office/drawing/2014/main" id="{83B28DF1-5F89-FD1F-5515-E579A6AD07E9}"/>
              </a:ext>
            </a:extLst>
          </p:cNvPr>
          <p:cNvSpPr txBox="1">
            <a:spLocks/>
          </p:cNvSpPr>
          <p:nvPr/>
        </p:nvSpPr>
        <p:spPr>
          <a:xfrm>
            <a:off x="5809077" y="269830"/>
            <a:ext cx="6468542" cy="658817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u="sng" dirty="0">
                <a:latin typeface="Calibri" panose="020F0502020204030204" pitchFamily="34" charset="0"/>
                <a:cs typeface="Calibri" panose="020F0502020204030204" pitchFamily="34" charset="0"/>
              </a:rPr>
              <a:t>Lecture Outline</a:t>
            </a:r>
          </a:p>
          <a:p>
            <a:endParaRPr lang="en-US" sz="3200" dirty="0">
              <a:latin typeface="Calibri" panose="020F0502020204030204" pitchFamily="34" charset="0"/>
              <a:cs typeface="Calibri" panose="020F0502020204030204" pitchFamily="34" charset="0"/>
            </a:endParaRPr>
          </a:p>
          <a:p>
            <a:r>
              <a:rPr lang="en-US" sz="3200" dirty="0">
                <a:latin typeface="Calibri" panose="020F0502020204030204" pitchFamily="34" charset="0"/>
                <a:cs typeface="Calibri" panose="020F0502020204030204" pitchFamily="34" charset="0"/>
              </a:rPr>
              <a:t>Steps for Hypothesis Testing</a:t>
            </a:r>
          </a:p>
          <a:p>
            <a:pPr marL="800100" indent="-508000">
              <a:buFont typeface="+mj-lt"/>
              <a:buAutoNum type="arabicPeriod"/>
            </a:pPr>
            <a:r>
              <a:rPr lang="en-US" sz="2800" dirty="0"/>
              <a:t>Define Hypotheses</a:t>
            </a:r>
          </a:p>
          <a:p>
            <a:pPr marL="800100" indent="-508000">
              <a:buFont typeface="+mj-lt"/>
              <a:buAutoNum type="arabicPeriod"/>
            </a:pPr>
            <a:r>
              <a:rPr lang="en-US" sz="2800" dirty="0">
                <a:solidFill>
                  <a:srgbClr val="FF0000"/>
                </a:solidFill>
              </a:rPr>
              <a:t>Select Sampling Distribution</a:t>
            </a:r>
          </a:p>
          <a:p>
            <a:pPr marL="800100" indent="-508000">
              <a:buFont typeface="+mj-lt"/>
              <a:buAutoNum type="arabicPeriod"/>
            </a:pPr>
            <a:r>
              <a:rPr lang="en-US" sz="2800" dirty="0"/>
              <a:t>Set </a:t>
            </a:r>
            <a:r>
              <a:rPr lang="en-US" sz="2800" i="1" dirty="0"/>
              <a:t>a priori</a:t>
            </a:r>
            <a:r>
              <a:rPr lang="en-US" sz="2800" dirty="0"/>
              <a:t> criteria</a:t>
            </a:r>
          </a:p>
          <a:p>
            <a:pPr marL="800100" indent="-508000">
              <a:buFont typeface="+mj-lt"/>
              <a:buAutoNum type="arabicPeriod"/>
            </a:pPr>
            <a:r>
              <a:rPr lang="en-US" sz="2800" dirty="0"/>
              <a:t>Compute statistics</a:t>
            </a:r>
          </a:p>
          <a:p>
            <a:pPr marL="800100" indent="-508000">
              <a:buFont typeface="+mj-lt"/>
              <a:buAutoNum type="arabicPeriod"/>
            </a:pPr>
            <a:r>
              <a:rPr lang="en-US" sz="2800" dirty="0"/>
              <a:t>Make statistical decision</a:t>
            </a:r>
          </a:p>
          <a:p>
            <a:pPr marL="800100" indent="-508000">
              <a:buFont typeface="+mj-lt"/>
              <a:buAutoNum type="arabicPeriod"/>
            </a:pPr>
            <a:r>
              <a:rPr lang="en-US" sz="2800" dirty="0"/>
              <a:t>Interpret your outcome</a:t>
            </a:r>
            <a:endParaRPr lang="en-US" sz="2000" dirty="0"/>
          </a:p>
          <a:p>
            <a:endParaRPr lang="en-US"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085460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AE6BB-58A8-1546-92D6-2C0306990118}"/>
              </a:ext>
            </a:extLst>
          </p:cNvPr>
          <p:cNvSpPr>
            <a:spLocks noGrp="1"/>
          </p:cNvSpPr>
          <p:nvPr>
            <p:ph type="title"/>
          </p:nvPr>
        </p:nvSpPr>
        <p:spPr/>
        <p:txBody>
          <a:bodyPr/>
          <a:lstStyle/>
          <a:p>
            <a:r>
              <a:rPr lang="en-US" dirty="0"/>
              <a:t>Step 2: Select the Sampling Distribution</a:t>
            </a:r>
          </a:p>
        </p:txBody>
      </p:sp>
      <p:sp>
        <p:nvSpPr>
          <p:cNvPr id="3" name="Content Placeholder 2">
            <a:extLst>
              <a:ext uri="{FF2B5EF4-FFF2-40B4-BE49-F238E27FC236}">
                <a16:creationId xmlns:a16="http://schemas.microsoft.com/office/drawing/2014/main" id="{378FCDFA-0D6E-DB41-948F-9A6ED1D0F9DB}"/>
              </a:ext>
            </a:extLst>
          </p:cNvPr>
          <p:cNvSpPr>
            <a:spLocks noGrp="1"/>
          </p:cNvSpPr>
          <p:nvPr>
            <p:ph idx="1"/>
          </p:nvPr>
        </p:nvSpPr>
        <p:spPr>
          <a:xfrm>
            <a:off x="838201" y="1825624"/>
            <a:ext cx="5763882" cy="5032375"/>
          </a:xfrm>
        </p:spPr>
        <p:txBody>
          <a:bodyPr>
            <a:normAutofit fontScale="92500" lnSpcReduction="10000"/>
          </a:bodyPr>
          <a:lstStyle/>
          <a:p>
            <a:pPr marL="0" indent="0">
              <a:buNone/>
            </a:pPr>
            <a:r>
              <a:rPr lang="en-US" dirty="0"/>
              <a:t>We do not always know population parameters (mean, variability), but we can try and </a:t>
            </a:r>
            <a:r>
              <a:rPr lang="en-US" i="1" dirty="0"/>
              <a:t>estimate</a:t>
            </a:r>
            <a:r>
              <a:rPr lang="en-US" dirty="0"/>
              <a:t> them</a:t>
            </a:r>
          </a:p>
          <a:p>
            <a:pPr marL="0" indent="0">
              <a:buNone/>
            </a:pPr>
            <a:endParaRPr lang="en-US" dirty="0"/>
          </a:p>
          <a:p>
            <a:pPr marL="0" indent="0">
              <a:buNone/>
            </a:pPr>
            <a:r>
              <a:rPr lang="en-US" dirty="0"/>
              <a:t>We can do this by building a </a:t>
            </a:r>
            <a:r>
              <a:rPr lang="en-US" b="1" dirty="0"/>
              <a:t>sampling distribution of the mean</a:t>
            </a:r>
          </a:p>
          <a:p>
            <a:pPr lvl="1"/>
            <a:r>
              <a:rPr lang="en-CA" dirty="0"/>
              <a:t>It is an </a:t>
            </a:r>
            <a:r>
              <a:rPr lang="en-CA" i="1" dirty="0"/>
              <a:t>estimate</a:t>
            </a:r>
            <a:r>
              <a:rPr lang="en-CA" dirty="0"/>
              <a:t> of the population parameters based on the current sample</a:t>
            </a:r>
          </a:p>
          <a:p>
            <a:pPr lvl="1"/>
            <a:r>
              <a:rPr lang="en-US" dirty="0"/>
              <a:t>Signifies all possible outcomes if the null hypothesis is true</a:t>
            </a:r>
          </a:p>
          <a:p>
            <a:pPr lvl="1"/>
            <a:r>
              <a:rPr lang="en-US" i="1" dirty="0"/>
              <a:t>We will cover this in more detail later in the course (Unit 4.1.)</a:t>
            </a:r>
          </a:p>
          <a:p>
            <a:pPr lvl="1"/>
            <a:r>
              <a:rPr lang="en-US" i="1" dirty="0"/>
              <a:t>For now, we will just describe its characteristics</a:t>
            </a:r>
          </a:p>
          <a:p>
            <a:pPr lvl="1"/>
            <a:endParaRPr lang="en-US" dirty="0"/>
          </a:p>
        </p:txBody>
      </p:sp>
      <p:pic>
        <p:nvPicPr>
          <p:cNvPr id="4" name="Picture 3">
            <a:extLst>
              <a:ext uri="{FF2B5EF4-FFF2-40B4-BE49-F238E27FC236}">
                <a16:creationId xmlns:a16="http://schemas.microsoft.com/office/drawing/2014/main" id="{212F0D6D-4A1E-3F82-F71E-43FF05F74504}"/>
              </a:ext>
            </a:extLst>
          </p:cNvPr>
          <p:cNvPicPr>
            <a:picLocks noChangeAspect="1"/>
          </p:cNvPicPr>
          <p:nvPr/>
        </p:nvPicPr>
        <p:blipFill>
          <a:blip r:embed="rId2"/>
          <a:stretch>
            <a:fillRect/>
          </a:stretch>
        </p:blipFill>
        <p:spPr>
          <a:xfrm>
            <a:off x="8006375" y="2012306"/>
            <a:ext cx="3566167" cy="4480569"/>
          </a:xfrm>
          <a:prstGeom prst="rect">
            <a:avLst/>
          </a:prstGeom>
        </p:spPr>
      </p:pic>
    </p:spTree>
    <p:extLst>
      <p:ext uri="{BB962C8B-B14F-4D97-AF65-F5344CB8AC3E}">
        <p14:creationId xmlns:p14="http://schemas.microsoft.com/office/powerpoint/2010/main" val="613205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6DC76-43DB-F8EE-897A-CC75DC1DB1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4E0F75-2CCB-D961-B6D1-FD16CA30ABEA}"/>
              </a:ext>
            </a:extLst>
          </p:cNvPr>
          <p:cNvSpPr>
            <a:spLocks noGrp="1"/>
          </p:cNvSpPr>
          <p:nvPr>
            <p:ph type="title"/>
          </p:nvPr>
        </p:nvSpPr>
        <p:spPr/>
        <p:txBody>
          <a:bodyPr/>
          <a:lstStyle/>
          <a:p>
            <a:r>
              <a:rPr lang="en-US" dirty="0"/>
              <a:t>Step 2: Select the Sampling Distribution</a:t>
            </a:r>
          </a:p>
        </p:txBody>
      </p:sp>
      <p:sp>
        <p:nvSpPr>
          <p:cNvPr id="3" name="Content Placeholder 2">
            <a:extLst>
              <a:ext uri="{FF2B5EF4-FFF2-40B4-BE49-F238E27FC236}">
                <a16:creationId xmlns:a16="http://schemas.microsoft.com/office/drawing/2014/main" id="{9B77A2EA-92F6-C7FE-7F7A-F00546CC423F}"/>
              </a:ext>
            </a:extLst>
          </p:cNvPr>
          <p:cNvSpPr>
            <a:spLocks noGrp="1"/>
          </p:cNvSpPr>
          <p:nvPr>
            <p:ph idx="1"/>
          </p:nvPr>
        </p:nvSpPr>
        <p:spPr>
          <a:xfrm>
            <a:off x="838201" y="1825624"/>
            <a:ext cx="5763882" cy="5032375"/>
          </a:xfrm>
        </p:spPr>
        <p:txBody>
          <a:bodyPr>
            <a:normAutofit fontScale="85000" lnSpcReduction="20000"/>
          </a:bodyPr>
          <a:lstStyle/>
          <a:p>
            <a:pPr marL="0" indent="0">
              <a:buNone/>
            </a:pPr>
            <a:r>
              <a:rPr lang="en-US" b="1" dirty="0"/>
              <a:t>Characteristics of Hypothesis Testing</a:t>
            </a:r>
          </a:p>
          <a:p>
            <a:r>
              <a:rPr lang="en-US" dirty="0"/>
              <a:t>Type of Research Design</a:t>
            </a:r>
          </a:p>
          <a:p>
            <a:pPr lvl="1"/>
            <a:r>
              <a:rPr lang="en-US" dirty="0"/>
              <a:t>E.g., Single-Participant Design</a:t>
            </a:r>
          </a:p>
          <a:p>
            <a:r>
              <a:rPr lang="en-US" dirty="0"/>
              <a:t>Model of Hypothesis Testing</a:t>
            </a:r>
          </a:p>
          <a:p>
            <a:pPr lvl="1"/>
            <a:r>
              <a:rPr lang="en-US" dirty="0"/>
              <a:t>E.g., Random Sampling</a:t>
            </a:r>
          </a:p>
          <a:p>
            <a:r>
              <a:rPr lang="en-US" dirty="0"/>
              <a:t>Nature of Data (Scales of measurement)</a:t>
            </a:r>
          </a:p>
          <a:p>
            <a:pPr lvl="1"/>
            <a:r>
              <a:rPr lang="en-US" dirty="0"/>
              <a:t>E.g., Score data (interval or ratio)</a:t>
            </a:r>
          </a:p>
          <a:p>
            <a:r>
              <a:rPr lang="en-US" dirty="0"/>
              <a:t>Statistic Being Analyzed</a:t>
            </a:r>
          </a:p>
          <a:p>
            <a:pPr lvl="1"/>
            <a:r>
              <a:rPr lang="en-US" dirty="0"/>
              <a:t>E.g., X</a:t>
            </a:r>
          </a:p>
          <a:p>
            <a:r>
              <a:rPr lang="en-US" dirty="0"/>
              <a:t>Information about the Population</a:t>
            </a:r>
          </a:p>
          <a:p>
            <a:pPr lvl="1"/>
            <a:r>
              <a:rPr lang="en-US" dirty="0"/>
              <a:t>E.g., </a:t>
            </a:r>
            <a:r>
              <a:rPr lang="el-GR" i="1" dirty="0"/>
              <a:t>μ</a:t>
            </a:r>
            <a:r>
              <a:rPr lang="en-US" dirty="0"/>
              <a:t> and </a:t>
            </a:r>
            <a:r>
              <a:rPr lang="en-US" i="1" dirty="0"/>
              <a:t>σ </a:t>
            </a:r>
            <a:r>
              <a:rPr lang="en-US" dirty="0"/>
              <a:t>are known</a:t>
            </a:r>
          </a:p>
          <a:p>
            <a:r>
              <a:rPr lang="en-US" dirty="0"/>
              <a:t>Sample Size</a:t>
            </a:r>
          </a:p>
          <a:p>
            <a:pPr lvl="1"/>
            <a:r>
              <a:rPr lang="en-US" dirty="0"/>
              <a:t>E.g., </a:t>
            </a:r>
            <a:r>
              <a:rPr lang="en-US" i="1" dirty="0"/>
              <a:t>n</a:t>
            </a:r>
            <a:r>
              <a:rPr lang="en-US" dirty="0"/>
              <a:t> = 1</a:t>
            </a:r>
          </a:p>
          <a:p>
            <a:r>
              <a:rPr lang="en-US" dirty="0"/>
              <a:t>Shape</a:t>
            </a:r>
          </a:p>
          <a:p>
            <a:pPr lvl="1"/>
            <a:r>
              <a:rPr lang="en-US" dirty="0"/>
              <a:t>Normally distributed</a:t>
            </a:r>
          </a:p>
          <a:p>
            <a:endParaRPr lang="en-US" dirty="0"/>
          </a:p>
        </p:txBody>
      </p:sp>
      <p:pic>
        <p:nvPicPr>
          <p:cNvPr id="4" name="Picture 3">
            <a:extLst>
              <a:ext uri="{FF2B5EF4-FFF2-40B4-BE49-F238E27FC236}">
                <a16:creationId xmlns:a16="http://schemas.microsoft.com/office/drawing/2014/main" id="{E3F52308-FCF4-2981-3753-27F0423F4281}"/>
              </a:ext>
            </a:extLst>
          </p:cNvPr>
          <p:cNvPicPr>
            <a:picLocks noChangeAspect="1"/>
          </p:cNvPicPr>
          <p:nvPr/>
        </p:nvPicPr>
        <p:blipFill>
          <a:blip r:embed="rId2"/>
          <a:stretch>
            <a:fillRect/>
          </a:stretch>
        </p:blipFill>
        <p:spPr>
          <a:xfrm>
            <a:off x="8006375" y="2012306"/>
            <a:ext cx="3566167" cy="4480569"/>
          </a:xfrm>
          <a:prstGeom prst="rect">
            <a:avLst/>
          </a:prstGeom>
        </p:spPr>
      </p:pic>
    </p:spTree>
    <p:extLst>
      <p:ext uri="{BB962C8B-B14F-4D97-AF65-F5344CB8AC3E}">
        <p14:creationId xmlns:p14="http://schemas.microsoft.com/office/powerpoint/2010/main" val="2362889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AE6BB-58A8-1546-92D6-2C0306990118}"/>
              </a:ext>
            </a:extLst>
          </p:cNvPr>
          <p:cNvSpPr>
            <a:spLocks noGrp="1"/>
          </p:cNvSpPr>
          <p:nvPr>
            <p:ph type="title"/>
          </p:nvPr>
        </p:nvSpPr>
        <p:spPr/>
        <p:txBody>
          <a:bodyPr/>
          <a:lstStyle/>
          <a:p>
            <a:r>
              <a:rPr lang="en-US" dirty="0"/>
              <a:t>Step 2: Select the Sampling Distribution</a:t>
            </a:r>
          </a:p>
        </p:txBody>
      </p:sp>
      <p:graphicFrame>
        <p:nvGraphicFramePr>
          <p:cNvPr id="9" name="Table 6">
            <a:extLst>
              <a:ext uri="{FF2B5EF4-FFF2-40B4-BE49-F238E27FC236}">
                <a16:creationId xmlns:a16="http://schemas.microsoft.com/office/drawing/2014/main" id="{0D6EC0FC-CC18-974B-AD31-52C27E382E2F}"/>
              </a:ext>
            </a:extLst>
          </p:cNvPr>
          <p:cNvGraphicFramePr>
            <a:graphicFrameLocks noGrp="1"/>
          </p:cNvGraphicFramePr>
          <p:nvPr>
            <p:extLst>
              <p:ext uri="{D42A27DB-BD31-4B8C-83A1-F6EECF244321}">
                <p14:modId xmlns:p14="http://schemas.microsoft.com/office/powerpoint/2010/main" val="1503038511"/>
              </p:ext>
            </p:extLst>
          </p:nvPr>
        </p:nvGraphicFramePr>
        <p:xfrm>
          <a:off x="806175" y="2073381"/>
          <a:ext cx="6305316" cy="4127670"/>
        </p:xfrm>
        <a:graphic>
          <a:graphicData uri="http://schemas.openxmlformats.org/drawingml/2006/table">
            <a:tbl>
              <a:tblPr firstRow="1" bandRow="1">
                <a:tableStyleId>{5C22544A-7EE6-4342-B048-85BDC9FD1C3A}</a:tableStyleId>
              </a:tblPr>
              <a:tblGrid>
                <a:gridCol w="3152658">
                  <a:extLst>
                    <a:ext uri="{9D8B030D-6E8A-4147-A177-3AD203B41FA5}">
                      <a16:colId xmlns:a16="http://schemas.microsoft.com/office/drawing/2014/main" val="4004983389"/>
                    </a:ext>
                  </a:extLst>
                </a:gridCol>
                <a:gridCol w="3152658">
                  <a:extLst>
                    <a:ext uri="{9D8B030D-6E8A-4147-A177-3AD203B41FA5}">
                      <a16:colId xmlns:a16="http://schemas.microsoft.com/office/drawing/2014/main" val="3608128689"/>
                    </a:ext>
                  </a:extLst>
                </a:gridCol>
              </a:tblGrid>
              <a:tr h="520734">
                <a:tc>
                  <a:txBody>
                    <a:bodyPr/>
                    <a:lstStyle/>
                    <a:p>
                      <a:r>
                        <a:rPr lang="en-US" sz="2000" b="1" kern="1200" dirty="0">
                          <a:solidFill>
                            <a:schemeClr val="tx1"/>
                          </a:solidFill>
                          <a:latin typeface="+mn-lt"/>
                          <a:ea typeface="+mn-ea"/>
                          <a:cs typeface="+mn-cs"/>
                        </a:rPr>
                        <a:t>Type of Research Design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a:solidFill>
                            <a:schemeClr val="tx1"/>
                          </a:solidFill>
                        </a:rPr>
                        <a:t>Single Participant Design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94681456"/>
                  </a:ext>
                </a:extLst>
              </a:tr>
              <a:tr h="520734">
                <a:tc>
                  <a:txBody>
                    <a:bodyPr/>
                    <a:lstStyle/>
                    <a:p>
                      <a:r>
                        <a:rPr lang="en-US" sz="2000" b="1" dirty="0">
                          <a:solidFill>
                            <a:schemeClr val="tx1"/>
                          </a:solidFill>
                        </a:rPr>
                        <a:t>Model of Hypothesis Testing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solidFill>
                            <a:schemeClr val="tx1"/>
                          </a:solidFill>
                        </a:rPr>
                        <a:t>Random Sampling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5834762"/>
                  </a:ext>
                </a:extLst>
              </a:tr>
              <a:tr h="520734">
                <a:tc>
                  <a:txBody>
                    <a:bodyPr/>
                    <a:lstStyle/>
                    <a:p>
                      <a:r>
                        <a:rPr lang="en-US" sz="2000" b="1" dirty="0">
                          <a:solidFill>
                            <a:schemeClr val="tx1"/>
                          </a:solidFill>
                        </a:rPr>
                        <a:t>Nature of Data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solidFill>
                            <a:schemeClr val="tx1"/>
                          </a:solidFill>
                        </a:rPr>
                        <a:t>Score data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63837357"/>
                  </a:ext>
                </a:extLst>
              </a:tr>
              <a:tr h="520734">
                <a:tc>
                  <a:txBody>
                    <a:bodyPr/>
                    <a:lstStyle/>
                    <a:p>
                      <a:r>
                        <a:rPr lang="en-US" sz="2000" b="1" dirty="0">
                          <a:solidFill>
                            <a:schemeClr val="tx1"/>
                          </a:solidFill>
                        </a:rPr>
                        <a:t>Statistic Being Analyzed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solidFill>
                            <a:schemeClr val="tx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7493759"/>
                  </a:ext>
                </a:extLst>
              </a:tr>
              <a:tr h="520734">
                <a:tc>
                  <a:txBody>
                    <a:bodyPr/>
                    <a:lstStyle/>
                    <a:p>
                      <a:r>
                        <a:rPr lang="en-US" sz="2000" b="1" dirty="0">
                          <a:solidFill>
                            <a:schemeClr val="tx1"/>
                          </a:solidFill>
                        </a:rPr>
                        <a:t>Information of Population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l-GR" sz="2000" i="1" dirty="0"/>
                        <a:t>μ</a:t>
                      </a:r>
                      <a:r>
                        <a:rPr lang="en-US" sz="2000" dirty="0"/>
                        <a:t> = 75.00, </a:t>
                      </a:r>
                      <a:r>
                        <a:rPr lang="en-US" sz="2000" i="1" dirty="0"/>
                        <a:t>σ</a:t>
                      </a:r>
                      <a:r>
                        <a:rPr lang="en-US" sz="2000" dirty="0"/>
                        <a:t> = 6.50, </a:t>
                      </a:r>
                      <a:r>
                        <a:rPr lang="en-US" sz="2000" i="1" dirty="0"/>
                        <a:t>N</a:t>
                      </a:r>
                      <a:r>
                        <a:rPr lang="en-US" sz="2000" dirty="0"/>
                        <a:t> = 500</a:t>
                      </a:r>
                      <a:endParaRPr lang="en-US" sz="2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61844694"/>
                  </a:ext>
                </a:extLst>
              </a:tr>
              <a:tr h="520734">
                <a:tc>
                  <a:txBody>
                    <a:bodyPr/>
                    <a:lstStyle/>
                    <a:p>
                      <a:r>
                        <a:rPr lang="en-US" sz="2000" b="1" dirty="0">
                          <a:solidFill>
                            <a:schemeClr val="tx1"/>
                          </a:solidFill>
                        </a:rPr>
                        <a:t>Sample Size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i="1" dirty="0">
                          <a:solidFill>
                            <a:schemeClr val="tx1"/>
                          </a:solidFill>
                        </a:rPr>
                        <a:t>n</a:t>
                      </a:r>
                      <a:r>
                        <a:rPr lang="en-US" sz="2000" dirty="0">
                          <a:solidFill>
                            <a:schemeClr val="tx1"/>
                          </a:solidFill>
                        </a:rPr>
                        <a:t> =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93408113"/>
                  </a:ext>
                </a:extLst>
              </a:tr>
              <a:tr h="520734">
                <a:tc>
                  <a:txBody>
                    <a:bodyPr/>
                    <a:lstStyle/>
                    <a:p>
                      <a:r>
                        <a:rPr lang="en-US" sz="2000" b="1" dirty="0">
                          <a:solidFill>
                            <a:schemeClr val="tx1"/>
                          </a:solidFill>
                        </a:rPr>
                        <a:t>Shape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solidFill>
                            <a:schemeClr val="tx1"/>
                          </a:solidFill>
                        </a:rPr>
                        <a:t>Normally Distributed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2751104"/>
                  </a:ext>
                </a:extLst>
              </a:tr>
            </a:tbl>
          </a:graphicData>
        </a:graphic>
      </p:graphicFrame>
      <p:pic>
        <p:nvPicPr>
          <p:cNvPr id="3" name="Picture 2">
            <a:extLst>
              <a:ext uri="{FF2B5EF4-FFF2-40B4-BE49-F238E27FC236}">
                <a16:creationId xmlns:a16="http://schemas.microsoft.com/office/drawing/2014/main" id="{39255D02-709C-8284-4430-384E83ADB7A9}"/>
              </a:ext>
            </a:extLst>
          </p:cNvPr>
          <p:cNvPicPr>
            <a:picLocks noChangeAspect="1"/>
          </p:cNvPicPr>
          <p:nvPr/>
        </p:nvPicPr>
        <p:blipFill>
          <a:blip r:embed="rId2"/>
          <a:stretch>
            <a:fillRect/>
          </a:stretch>
        </p:blipFill>
        <p:spPr>
          <a:xfrm>
            <a:off x="8006375" y="2012306"/>
            <a:ext cx="3566167" cy="4480569"/>
          </a:xfrm>
          <a:prstGeom prst="rect">
            <a:avLst/>
          </a:prstGeom>
        </p:spPr>
      </p:pic>
    </p:spTree>
    <p:extLst>
      <p:ext uri="{BB962C8B-B14F-4D97-AF65-F5344CB8AC3E}">
        <p14:creationId xmlns:p14="http://schemas.microsoft.com/office/powerpoint/2010/main" val="21943404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A115E2-4FE8-2E4C-A37A-70FF38E79C49}"/>
              </a:ext>
            </a:extLst>
          </p:cNvPr>
          <p:cNvSpPr>
            <a:spLocks noGrp="1"/>
          </p:cNvSpPr>
          <p:nvPr>
            <p:ph idx="1"/>
          </p:nvPr>
        </p:nvSpPr>
        <p:spPr>
          <a:xfrm>
            <a:off x="838200" y="586596"/>
            <a:ext cx="5257800" cy="6271404"/>
          </a:xfrm>
        </p:spPr>
        <p:txBody>
          <a:bodyPr>
            <a:normAutofit/>
          </a:bodyPr>
          <a:lstStyle/>
          <a:p>
            <a:pPr marL="0" indent="0">
              <a:buNone/>
            </a:pPr>
            <a:r>
              <a:rPr lang="en-US" b="1" dirty="0"/>
              <a:t>Step 1:</a:t>
            </a:r>
          </a:p>
          <a:p>
            <a:r>
              <a:rPr lang="en-US" b="1" i="1" dirty="0"/>
              <a:t>H</a:t>
            </a:r>
            <a:r>
              <a:rPr lang="en-US" b="1" i="1" baseline="-25000" dirty="0"/>
              <a:t>0</a:t>
            </a:r>
            <a:r>
              <a:rPr lang="en-US" b="1" dirty="0"/>
              <a:t>: </a:t>
            </a:r>
            <a:r>
              <a:rPr lang="el-GR" i="1" dirty="0"/>
              <a:t>μ</a:t>
            </a:r>
            <a:r>
              <a:rPr lang="en-CA" dirty="0"/>
              <a:t> =</a:t>
            </a:r>
            <a:r>
              <a:rPr lang="el-GR" dirty="0"/>
              <a:t> </a:t>
            </a:r>
            <a:r>
              <a:rPr lang="en-US" dirty="0"/>
              <a:t>75.00</a:t>
            </a:r>
            <a:r>
              <a:rPr lang="en-CA" dirty="0"/>
              <a:t>    </a:t>
            </a:r>
          </a:p>
          <a:p>
            <a:r>
              <a:rPr lang="en-US" b="1" i="1" dirty="0"/>
              <a:t>H</a:t>
            </a:r>
            <a:r>
              <a:rPr lang="en-US" b="1" i="1" baseline="-25000" dirty="0"/>
              <a:t>1</a:t>
            </a:r>
            <a:r>
              <a:rPr lang="en-US" b="1" dirty="0"/>
              <a:t>: </a:t>
            </a:r>
            <a:r>
              <a:rPr lang="el-GR" i="1" dirty="0"/>
              <a:t>μ</a:t>
            </a:r>
            <a:r>
              <a:rPr lang="en-CA" dirty="0"/>
              <a:t> ≠ </a:t>
            </a:r>
            <a:r>
              <a:rPr lang="en-US" dirty="0"/>
              <a:t>75.00</a:t>
            </a:r>
            <a:r>
              <a:rPr lang="en-CA" dirty="0"/>
              <a:t>    </a:t>
            </a:r>
          </a:p>
          <a:p>
            <a:pPr lvl="1"/>
            <a:r>
              <a:rPr lang="en-CA" dirty="0"/>
              <a:t>Thus, two-tailed</a:t>
            </a:r>
          </a:p>
          <a:p>
            <a:pPr marL="0" indent="0">
              <a:buNone/>
            </a:pPr>
            <a:endParaRPr lang="en-CA" b="1" dirty="0"/>
          </a:p>
          <a:p>
            <a:pPr marL="0" indent="0">
              <a:buNone/>
            </a:pPr>
            <a:r>
              <a:rPr lang="en-CA" b="1" dirty="0"/>
              <a:t>Step 2: </a:t>
            </a:r>
            <a:endParaRPr lang="en-US" b="1" dirty="0"/>
          </a:p>
          <a:p>
            <a:pPr>
              <a:lnSpc>
                <a:spcPct val="100000"/>
              </a:lnSpc>
              <a:spcBef>
                <a:spcPts val="0"/>
              </a:spcBef>
            </a:pPr>
            <a:r>
              <a:rPr lang="en-US" sz="1200" b="1" dirty="0"/>
              <a:t>Type of Research Design</a:t>
            </a:r>
            <a:r>
              <a:rPr lang="en-US" sz="1200" dirty="0"/>
              <a:t>: Single-Participant Design</a:t>
            </a:r>
          </a:p>
          <a:p>
            <a:pPr>
              <a:lnSpc>
                <a:spcPct val="100000"/>
              </a:lnSpc>
              <a:spcBef>
                <a:spcPts val="0"/>
              </a:spcBef>
            </a:pPr>
            <a:r>
              <a:rPr lang="en-US" sz="1200" b="1" dirty="0"/>
              <a:t>Model of Hypothesis Testing</a:t>
            </a:r>
            <a:r>
              <a:rPr lang="en-US" sz="1200" dirty="0"/>
              <a:t>: Random Sampling</a:t>
            </a:r>
          </a:p>
          <a:p>
            <a:pPr>
              <a:lnSpc>
                <a:spcPct val="100000"/>
              </a:lnSpc>
              <a:spcBef>
                <a:spcPts val="0"/>
              </a:spcBef>
            </a:pPr>
            <a:r>
              <a:rPr lang="en-US" sz="1200" b="1" dirty="0"/>
              <a:t>Nature of Data (Scales of measurement)</a:t>
            </a:r>
            <a:r>
              <a:rPr lang="en-US" sz="1200" dirty="0"/>
              <a:t>: Score data</a:t>
            </a:r>
          </a:p>
          <a:p>
            <a:pPr>
              <a:lnSpc>
                <a:spcPct val="100000"/>
              </a:lnSpc>
              <a:spcBef>
                <a:spcPts val="0"/>
              </a:spcBef>
            </a:pPr>
            <a:r>
              <a:rPr lang="en-US" sz="1200" b="1" dirty="0"/>
              <a:t>Statistic Being Analyzed</a:t>
            </a:r>
            <a:r>
              <a:rPr lang="en-US" sz="1200" dirty="0"/>
              <a:t>: X</a:t>
            </a:r>
          </a:p>
          <a:p>
            <a:pPr>
              <a:lnSpc>
                <a:spcPct val="100000"/>
              </a:lnSpc>
              <a:spcBef>
                <a:spcPts val="0"/>
              </a:spcBef>
            </a:pPr>
            <a:r>
              <a:rPr lang="en-US" sz="1200" b="1" dirty="0"/>
              <a:t>Information about the Population</a:t>
            </a:r>
            <a:r>
              <a:rPr lang="en-US" sz="1200" dirty="0"/>
              <a:t>: </a:t>
            </a:r>
            <a:r>
              <a:rPr lang="el-GR" sz="1200" i="1" dirty="0"/>
              <a:t>μ</a:t>
            </a:r>
            <a:r>
              <a:rPr lang="en-US" sz="1200" dirty="0"/>
              <a:t> = 75.00, </a:t>
            </a:r>
            <a:r>
              <a:rPr lang="en-US" sz="1200" i="1" dirty="0"/>
              <a:t>σ</a:t>
            </a:r>
            <a:r>
              <a:rPr lang="en-US" sz="1200" dirty="0"/>
              <a:t> = 6.50, </a:t>
            </a:r>
            <a:r>
              <a:rPr lang="en-US" sz="1200" i="1" dirty="0"/>
              <a:t>N</a:t>
            </a:r>
            <a:r>
              <a:rPr lang="en-US" sz="1200" dirty="0"/>
              <a:t> = 500</a:t>
            </a:r>
          </a:p>
          <a:p>
            <a:pPr>
              <a:lnSpc>
                <a:spcPct val="100000"/>
              </a:lnSpc>
              <a:spcBef>
                <a:spcPts val="0"/>
              </a:spcBef>
            </a:pPr>
            <a:r>
              <a:rPr lang="en-US" sz="1200" b="1" dirty="0"/>
              <a:t>Sample Size</a:t>
            </a:r>
            <a:r>
              <a:rPr lang="en-US" sz="1200" dirty="0"/>
              <a:t>: </a:t>
            </a:r>
            <a:r>
              <a:rPr lang="en-US" sz="1200" i="1" dirty="0"/>
              <a:t>n</a:t>
            </a:r>
            <a:r>
              <a:rPr lang="en-US" sz="1200" dirty="0"/>
              <a:t> = 1</a:t>
            </a:r>
          </a:p>
          <a:p>
            <a:pPr>
              <a:lnSpc>
                <a:spcPct val="100000"/>
              </a:lnSpc>
              <a:spcBef>
                <a:spcPts val="0"/>
              </a:spcBef>
            </a:pPr>
            <a:r>
              <a:rPr lang="en-US" sz="1200" b="1" dirty="0"/>
              <a:t>Shape</a:t>
            </a:r>
            <a:r>
              <a:rPr lang="en-US" sz="1200" dirty="0"/>
              <a:t>: Normally distributed</a:t>
            </a:r>
            <a:endParaRPr lang="en-CA" dirty="0"/>
          </a:p>
          <a:p>
            <a:endParaRPr lang="en-US" dirty="0"/>
          </a:p>
        </p:txBody>
      </p:sp>
    </p:spTree>
    <p:extLst>
      <p:ext uri="{BB962C8B-B14F-4D97-AF65-F5344CB8AC3E}">
        <p14:creationId xmlns:p14="http://schemas.microsoft.com/office/powerpoint/2010/main" val="11661214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15729-5BEE-9E9D-0F64-F29038E8B3FF}"/>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64423CCA-74D1-DD29-9A54-005F11C80EE6}"/>
              </a:ext>
            </a:extLst>
          </p:cNvPr>
          <p:cNvGrpSpPr/>
          <p:nvPr/>
        </p:nvGrpSpPr>
        <p:grpSpPr>
          <a:xfrm>
            <a:off x="294429" y="602116"/>
            <a:ext cx="5458932" cy="5307690"/>
            <a:chOff x="1462829" y="602117"/>
            <a:chExt cx="5458932" cy="5307690"/>
          </a:xfrm>
        </p:grpSpPr>
        <p:grpSp>
          <p:nvGrpSpPr>
            <p:cNvPr id="5" name="Group 4">
              <a:extLst>
                <a:ext uri="{FF2B5EF4-FFF2-40B4-BE49-F238E27FC236}">
                  <a16:creationId xmlns:a16="http://schemas.microsoft.com/office/drawing/2014/main" id="{0065EEFE-5CF3-8693-B8E4-33A29D41B941}"/>
                </a:ext>
              </a:extLst>
            </p:cNvPr>
            <p:cNvGrpSpPr/>
            <p:nvPr/>
          </p:nvGrpSpPr>
          <p:grpSpPr>
            <a:xfrm>
              <a:off x="1462829" y="602117"/>
              <a:ext cx="5458932" cy="5307690"/>
              <a:chOff x="1779790" y="1493134"/>
              <a:chExt cx="4490974" cy="4366550"/>
            </a:xfrm>
          </p:grpSpPr>
          <p:cxnSp>
            <p:nvCxnSpPr>
              <p:cNvPr id="15" name="Straight Arrow Connector 14">
                <a:extLst>
                  <a:ext uri="{FF2B5EF4-FFF2-40B4-BE49-F238E27FC236}">
                    <a16:creationId xmlns:a16="http://schemas.microsoft.com/office/drawing/2014/main" id="{AC5F90EA-E6F9-87BF-3E65-7908EB14AD8E}"/>
                  </a:ext>
                </a:extLst>
              </p:cNvPr>
              <p:cNvCxnSpPr>
                <a:cxnSpLocks/>
              </p:cNvCxnSpPr>
              <p:nvPr/>
            </p:nvCxnSpPr>
            <p:spPr>
              <a:xfrm flipV="1">
                <a:off x="1805652" y="1493134"/>
                <a:ext cx="0" cy="4366550"/>
              </a:xfrm>
              <a:prstGeom prst="straightConnector1">
                <a:avLst/>
              </a:prstGeom>
              <a:ln w="127000">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5CC5193E-C136-1A2D-B73B-B42BC3FAAF3F}"/>
                  </a:ext>
                </a:extLst>
              </p:cNvPr>
              <p:cNvCxnSpPr>
                <a:cxnSpLocks/>
              </p:cNvCxnSpPr>
              <p:nvPr/>
            </p:nvCxnSpPr>
            <p:spPr>
              <a:xfrm>
                <a:off x="1779790" y="5816277"/>
                <a:ext cx="4490974" cy="0"/>
              </a:xfrm>
              <a:prstGeom prst="straightConnector1">
                <a:avLst/>
              </a:prstGeom>
              <a:ln w="127000">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sp>
            <p:nvSpPr>
              <p:cNvPr id="17" name="Freeform 16">
                <a:extLst>
                  <a:ext uri="{FF2B5EF4-FFF2-40B4-BE49-F238E27FC236}">
                    <a16:creationId xmlns:a16="http://schemas.microsoft.com/office/drawing/2014/main" id="{5A50D9A0-B3E3-BCE5-8E75-BAC0BA5062A1}"/>
                  </a:ext>
                </a:extLst>
              </p:cNvPr>
              <p:cNvSpPr/>
              <p:nvPr/>
            </p:nvSpPr>
            <p:spPr>
              <a:xfrm>
                <a:off x="1939274" y="3449119"/>
                <a:ext cx="1893537" cy="2087919"/>
              </a:xfrm>
              <a:custGeom>
                <a:avLst/>
                <a:gdLst>
                  <a:gd name="connsiteX0" fmla="*/ 0 w 1893537"/>
                  <a:gd name="connsiteY0" fmla="*/ 2879376 h 2887468"/>
                  <a:gd name="connsiteX1" fmla="*/ 412694 w 1893537"/>
                  <a:gd name="connsiteY1" fmla="*/ 2361486 h 2887468"/>
                  <a:gd name="connsiteX2" fmla="*/ 841572 w 1893537"/>
                  <a:gd name="connsiteY2" fmla="*/ 233281 h 2887468"/>
                  <a:gd name="connsiteX3" fmla="*/ 1068149 w 1893537"/>
                  <a:gd name="connsiteY3" fmla="*/ 289925 h 2887468"/>
                  <a:gd name="connsiteX4" fmla="*/ 1472751 w 1893537"/>
                  <a:gd name="connsiteY4" fmla="*/ 2321026 h 2887468"/>
                  <a:gd name="connsiteX5" fmla="*/ 1893537 w 1893537"/>
                  <a:gd name="connsiteY5" fmla="*/ 2887468 h 2887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3537" h="2887468">
                    <a:moveTo>
                      <a:pt x="0" y="2879376"/>
                    </a:moveTo>
                    <a:cubicBezTo>
                      <a:pt x="136216" y="2840939"/>
                      <a:pt x="272432" y="2802502"/>
                      <a:pt x="412694" y="2361486"/>
                    </a:cubicBezTo>
                    <a:cubicBezTo>
                      <a:pt x="552956" y="1920470"/>
                      <a:pt x="732330" y="578541"/>
                      <a:pt x="841572" y="233281"/>
                    </a:cubicBezTo>
                    <a:cubicBezTo>
                      <a:pt x="950814" y="-111979"/>
                      <a:pt x="962953" y="-58032"/>
                      <a:pt x="1068149" y="289925"/>
                    </a:cubicBezTo>
                    <a:cubicBezTo>
                      <a:pt x="1173345" y="637882"/>
                      <a:pt x="1335186" y="1888102"/>
                      <a:pt x="1472751" y="2321026"/>
                    </a:cubicBezTo>
                    <a:cubicBezTo>
                      <a:pt x="1610316" y="2753950"/>
                      <a:pt x="1689888" y="2863192"/>
                      <a:pt x="1893537" y="2887468"/>
                    </a:cubicBezTo>
                  </a:path>
                </a:pathLst>
              </a:custGeom>
              <a:solidFill>
                <a:schemeClr val="accent1">
                  <a:lumMod val="40000"/>
                  <a:lumOff val="60000"/>
                  <a:alpha val="84678"/>
                </a:schemeClr>
              </a:solidFill>
              <a:ln>
                <a:solidFill>
                  <a:schemeClr val="accent1">
                    <a:lumMod val="50000"/>
                    <a:alpha val="85134"/>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17">
                <a:extLst>
                  <a:ext uri="{FF2B5EF4-FFF2-40B4-BE49-F238E27FC236}">
                    <a16:creationId xmlns:a16="http://schemas.microsoft.com/office/drawing/2014/main" id="{3E0847F6-4103-09C3-43C9-941F99744196}"/>
                  </a:ext>
                </a:extLst>
              </p:cNvPr>
              <p:cNvSpPr/>
              <p:nvPr/>
            </p:nvSpPr>
            <p:spPr>
              <a:xfrm>
                <a:off x="2842958" y="2826560"/>
                <a:ext cx="1893537" cy="2710478"/>
              </a:xfrm>
              <a:custGeom>
                <a:avLst/>
                <a:gdLst>
                  <a:gd name="connsiteX0" fmla="*/ 0 w 1893537"/>
                  <a:gd name="connsiteY0" fmla="*/ 2879376 h 2887468"/>
                  <a:gd name="connsiteX1" fmla="*/ 412694 w 1893537"/>
                  <a:gd name="connsiteY1" fmla="*/ 2361486 h 2887468"/>
                  <a:gd name="connsiteX2" fmla="*/ 841572 w 1893537"/>
                  <a:gd name="connsiteY2" fmla="*/ 233281 h 2887468"/>
                  <a:gd name="connsiteX3" fmla="*/ 1068149 w 1893537"/>
                  <a:gd name="connsiteY3" fmla="*/ 289925 h 2887468"/>
                  <a:gd name="connsiteX4" fmla="*/ 1472751 w 1893537"/>
                  <a:gd name="connsiteY4" fmla="*/ 2321026 h 2887468"/>
                  <a:gd name="connsiteX5" fmla="*/ 1893537 w 1893537"/>
                  <a:gd name="connsiteY5" fmla="*/ 2887468 h 2887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3537" h="2887468">
                    <a:moveTo>
                      <a:pt x="0" y="2879376"/>
                    </a:moveTo>
                    <a:cubicBezTo>
                      <a:pt x="136216" y="2840939"/>
                      <a:pt x="272432" y="2802502"/>
                      <a:pt x="412694" y="2361486"/>
                    </a:cubicBezTo>
                    <a:cubicBezTo>
                      <a:pt x="552956" y="1920470"/>
                      <a:pt x="732330" y="578541"/>
                      <a:pt x="841572" y="233281"/>
                    </a:cubicBezTo>
                    <a:cubicBezTo>
                      <a:pt x="950814" y="-111979"/>
                      <a:pt x="962953" y="-58032"/>
                      <a:pt x="1068149" y="289925"/>
                    </a:cubicBezTo>
                    <a:cubicBezTo>
                      <a:pt x="1173345" y="637882"/>
                      <a:pt x="1335186" y="1888102"/>
                      <a:pt x="1472751" y="2321026"/>
                    </a:cubicBezTo>
                    <a:cubicBezTo>
                      <a:pt x="1610316" y="2753950"/>
                      <a:pt x="1689888" y="2863192"/>
                      <a:pt x="1893537" y="2887468"/>
                    </a:cubicBezTo>
                  </a:path>
                </a:pathLst>
              </a:custGeom>
              <a:solidFill>
                <a:schemeClr val="accent2">
                  <a:lumMod val="40000"/>
                  <a:lumOff val="60000"/>
                  <a:alpha val="85220"/>
                </a:schemeClr>
              </a:solidFill>
              <a:ln>
                <a:solidFill>
                  <a:schemeClr val="accent2">
                    <a:lumMod val="50000"/>
                    <a:alpha val="85199"/>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18">
                <a:extLst>
                  <a:ext uri="{FF2B5EF4-FFF2-40B4-BE49-F238E27FC236}">
                    <a16:creationId xmlns:a16="http://schemas.microsoft.com/office/drawing/2014/main" id="{076CC4DB-9798-B32D-4353-14A81219A47D}"/>
                  </a:ext>
                </a:extLst>
              </p:cNvPr>
              <p:cNvSpPr/>
              <p:nvPr/>
            </p:nvSpPr>
            <p:spPr>
              <a:xfrm>
                <a:off x="3722204" y="2311601"/>
                <a:ext cx="2101382" cy="3225437"/>
              </a:xfrm>
              <a:custGeom>
                <a:avLst/>
                <a:gdLst>
                  <a:gd name="connsiteX0" fmla="*/ 0 w 1893537"/>
                  <a:gd name="connsiteY0" fmla="*/ 2879376 h 2887468"/>
                  <a:gd name="connsiteX1" fmla="*/ 412694 w 1893537"/>
                  <a:gd name="connsiteY1" fmla="*/ 2361486 h 2887468"/>
                  <a:gd name="connsiteX2" fmla="*/ 841572 w 1893537"/>
                  <a:gd name="connsiteY2" fmla="*/ 233281 h 2887468"/>
                  <a:gd name="connsiteX3" fmla="*/ 1068149 w 1893537"/>
                  <a:gd name="connsiteY3" fmla="*/ 289925 h 2887468"/>
                  <a:gd name="connsiteX4" fmla="*/ 1472751 w 1893537"/>
                  <a:gd name="connsiteY4" fmla="*/ 2321026 h 2887468"/>
                  <a:gd name="connsiteX5" fmla="*/ 1893537 w 1893537"/>
                  <a:gd name="connsiteY5" fmla="*/ 2887468 h 2887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3537" h="2887468">
                    <a:moveTo>
                      <a:pt x="0" y="2879376"/>
                    </a:moveTo>
                    <a:cubicBezTo>
                      <a:pt x="136216" y="2840939"/>
                      <a:pt x="272432" y="2802502"/>
                      <a:pt x="412694" y="2361486"/>
                    </a:cubicBezTo>
                    <a:cubicBezTo>
                      <a:pt x="552956" y="1920470"/>
                      <a:pt x="732330" y="578541"/>
                      <a:pt x="841572" y="233281"/>
                    </a:cubicBezTo>
                    <a:cubicBezTo>
                      <a:pt x="950814" y="-111979"/>
                      <a:pt x="962953" y="-58032"/>
                      <a:pt x="1068149" y="289925"/>
                    </a:cubicBezTo>
                    <a:cubicBezTo>
                      <a:pt x="1173345" y="637882"/>
                      <a:pt x="1335186" y="1888102"/>
                      <a:pt x="1472751" y="2321026"/>
                    </a:cubicBezTo>
                    <a:cubicBezTo>
                      <a:pt x="1610316" y="2753950"/>
                      <a:pt x="1689888" y="2863192"/>
                      <a:pt x="1893537" y="2887468"/>
                    </a:cubicBezTo>
                  </a:path>
                </a:pathLst>
              </a:custGeom>
              <a:solidFill>
                <a:schemeClr val="accent6">
                  <a:lumMod val="40000"/>
                  <a:lumOff val="60000"/>
                  <a:alpha val="85188"/>
                </a:schemeClr>
              </a:solidFill>
              <a:ln>
                <a:solidFill>
                  <a:schemeClr val="accent6">
                    <a:lumMod val="50000"/>
                    <a:alpha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Freeform 5">
              <a:extLst>
                <a:ext uri="{FF2B5EF4-FFF2-40B4-BE49-F238E27FC236}">
                  <a16:creationId xmlns:a16="http://schemas.microsoft.com/office/drawing/2014/main" id="{A242CF5C-68FF-B3FD-2822-F420524F6D7F}"/>
                </a:ext>
              </a:extLst>
            </p:cNvPr>
            <p:cNvSpPr/>
            <p:nvPr/>
          </p:nvSpPr>
          <p:spPr>
            <a:xfrm>
              <a:off x="1812853" y="2979683"/>
              <a:ext cx="3708069" cy="2264351"/>
            </a:xfrm>
            <a:custGeom>
              <a:avLst/>
              <a:gdLst>
                <a:gd name="connsiteX0" fmla="*/ 0 w 3229897"/>
                <a:gd name="connsiteY0" fmla="*/ 2138516 h 2138516"/>
                <a:gd name="connsiteX1" fmla="*/ 678426 w 3229897"/>
                <a:gd name="connsiteY1" fmla="*/ 1991032 h 2138516"/>
                <a:gd name="connsiteX2" fmla="*/ 1253613 w 3229897"/>
                <a:gd name="connsiteY2" fmla="*/ 1401097 h 2138516"/>
                <a:gd name="connsiteX3" fmla="*/ 1784555 w 3229897"/>
                <a:gd name="connsiteY3" fmla="*/ 1238864 h 2138516"/>
                <a:gd name="connsiteX4" fmla="*/ 2433484 w 3229897"/>
                <a:gd name="connsiteY4" fmla="*/ 693174 h 2138516"/>
                <a:gd name="connsiteX5" fmla="*/ 3229897 w 3229897"/>
                <a:gd name="connsiteY5" fmla="*/ 0 h 2138516"/>
                <a:gd name="connsiteX0" fmla="*/ 0 w 3708069"/>
                <a:gd name="connsiteY0" fmla="*/ 2264351 h 2264351"/>
                <a:gd name="connsiteX1" fmla="*/ 1156598 w 3708069"/>
                <a:gd name="connsiteY1" fmla="*/ 1991032 h 2264351"/>
                <a:gd name="connsiteX2" fmla="*/ 1731785 w 3708069"/>
                <a:gd name="connsiteY2" fmla="*/ 1401097 h 2264351"/>
                <a:gd name="connsiteX3" fmla="*/ 2262727 w 3708069"/>
                <a:gd name="connsiteY3" fmla="*/ 1238864 h 2264351"/>
                <a:gd name="connsiteX4" fmla="*/ 2911656 w 3708069"/>
                <a:gd name="connsiteY4" fmla="*/ 693174 h 2264351"/>
                <a:gd name="connsiteX5" fmla="*/ 3708069 w 3708069"/>
                <a:gd name="connsiteY5" fmla="*/ 0 h 2264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8069" h="2264351">
                  <a:moveTo>
                    <a:pt x="0" y="2264351"/>
                  </a:moveTo>
                  <a:lnTo>
                    <a:pt x="1156598" y="1991032"/>
                  </a:lnTo>
                  <a:lnTo>
                    <a:pt x="1731785" y="1401097"/>
                  </a:lnTo>
                  <a:lnTo>
                    <a:pt x="2262727" y="1238864"/>
                  </a:lnTo>
                  <a:lnTo>
                    <a:pt x="2911656" y="693174"/>
                  </a:lnTo>
                  <a:lnTo>
                    <a:pt x="3708069" y="0"/>
                  </a:lnTo>
                </a:path>
              </a:pathLst>
            </a:custGeom>
            <a:noFill/>
            <a:ln w="127000">
              <a:solidFill>
                <a:schemeClr val="bg1">
                  <a:alpha val="84175"/>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257E78F8-A305-33C9-40F1-AC07CB0008CB}"/>
                </a:ext>
              </a:extLst>
            </p:cNvPr>
            <p:cNvCxnSpPr>
              <a:cxnSpLocks/>
            </p:cNvCxnSpPr>
            <p:nvPr/>
          </p:nvCxnSpPr>
          <p:spPr>
            <a:xfrm flipV="1">
              <a:off x="5630015" y="2762124"/>
              <a:ext cx="122104" cy="126034"/>
            </a:xfrm>
            <a:prstGeom prst="straightConnector1">
              <a:avLst/>
            </a:pr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8" name="Freeform 7">
              <a:extLst>
                <a:ext uri="{FF2B5EF4-FFF2-40B4-BE49-F238E27FC236}">
                  <a16:creationId xmlns:a16="http://schemas.microsoft.com/office/drawing/2014/main" id="{DE883E7B-A80F-FB2E-64C9-43AB952E962B}"/>
                </a:ext>
              </a:extLst>
            </p:cNvPr>
            <p:cNvSpPr/>
            <p:nvPr/>
          </p:nvSpPr>
          <p:spPr>
            <a:xfrm>
              <a:off x="1817303" y="2889806"/>
              <a:ext cx="3812712" cy="2352582"/>
            </a:xfrm>
            <a:custGeom>
              <a:avLst/>
              <a:gdLst>
                <a:gd name="connsiteX0" fmla="*/ 0 w 3229897"/>
                <a:gd name="connsiteY0" fmla="*/ 2138516 h 2138516"/>
                <a:gd name="connsiteX1" fmla="*/ 678426 w 3229897"/>
                <a:gd name="connsiteY1" fmla="*/ 1991032 h 2138516"/>
                <a:gd name="connsiteX2" fmla="*/ 1253613 w 3229897"/>
                <a:gd name="connsiteY2" fmla="*/ 1401097 h 2138516"/>
                <a:gd name="connsiteX3" fmla="*/ 1784555 w 3229897"/>
                <a:gd name="connsiteY3" fmla="*/ 1238864 h 2138516"/>
                <a:gd name="connsiteX4" fmla="*/ 2433484 w 3229897"/>
                <a:gd name="connsiteY4" fmla="*/ 693174 h 2138516"/>
                <a:gd name="connsiteX5" fmla="*/ 3229897 w 3229897"/>
                <a:gd name="connsiteY5" fmla="*/ 0 h 2138516"/>
                <a:gd name="connsiteX0" fmla="*/ 0 w 3326150"/>
                <a:gd name="connsiteY0" fmla="*/ 2226747 h 2226747"/>
                <a:gd name="connsiteX1" fmla="*/ 678426 w 3326150"/>
                <a:gd name="connsiteY1" fmla="*/ 2079263 h 2226747"/>
                <a:gd name="connsiteX2" fmla="*/ 1253613 w 3326150"/>
                <a:gd name="connsiteY2" fmla="*/ 1489328 h 2226747"/>
                <a:gd name="connsiteX3" fmla="*/ 1784555 w 3326150"/>
                <a:gd name="connsiteY3" fmla="*/ 1327095 h 2226747"/>
                <a:gd name="connsiteX4" fmla="*/ 2433484 w 3326150"/>
                <a:gd name="connsiteY4" fmla="*/ 781405 h 2226747"/>
                <a:gd name="connsiteX5" fmla="*/ 3326150 w 3326150"/>
                <a:gd name="connsiteY5" fmla="*/ 0 h 2226747"/>
                <a:gd name="connsiteX0" fmla="*/ 0 w 3812712"/>
                <a:gd name="connsiteY0" fmla="*/ 2352582 h 2352582"/>
                <a:gd name="connsiteX1" fmla="*/ 1164988 w 3812712"/>
                <a:gd name="connsiteY1" fmla="*/ 2079263 h 2352582"/>
                <a:gd name="connsiteX2" fmla="*/ 1740175 w 3812712"/>
                <a:gd name="connsiteY2" fmla="*/ 1489328 h 2352582"/>
                <a:gd name="connsiteX3" fmla="*/ 2271117 w 3812712"/>
                <a:gd name="connsiteY3" fmla="*/ 1327095 h 2352582"/>
                <a:gd name="connsiteX4" fmla="*/ 2920046 w 3812712"/>
                <a:gd name="connsiteY4" fmla="*/ 781405 h 2352582"/>
                <a:gd name="connsiteX5" fmla="*/ 3812712 w 3812712"/>
                <a:gd name="connsiteY5" fmla="*/ 0 h 2352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2712" h="2352582">
                  <a:moveTo>
                    <a:pt x="0" y="2352582"/>
                  </a:moveTo>
                  <a:lnTo>
                    <a:pt x="1164988" y="2079263"/>
                  </a:lnTo>
                  <a:lnTo>
                    <a:pt x="1740175" y="1489328"/>
                  </a:lnTo>
                  <a:lnTo>
                    <a:pt x="2271117" y="1327095"/>
                  </a:lnTo>
                  <a:lnTo>
                    <a:pt x="2920046" y="781405"/>
                  </a:lnTo>
                  <a:lnTo>
                    <a:pt x="3812712" y="0"/>
                  </a:lnTo>
                </a:path>
              </a:pathLst>
            </a:cu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9995F8E3-C481-98F4-7C2B-2B63A69D147E}"/>
                </a:ext>
              </a:extLst>
            </p:cNvPr>
            <p:cNvSpPr/>
            <p:nvPr/>
          </p:nvSpPr>
          <p:spPr>
            <a:xfrm>
              <a:off x="1737815" y="5180385"/>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E95B38D8-10D9-D936-9D62-D5EF688C36A8}"/>
                </a:ext>
              </a:extLst>
            </p:cNvPr>
            <p:cNvSpPr/>
            <p:nvPr/>
          </p:nvSpPr>
          <p:spPr>
            <a:xfrm>
              <a:off x="2889176" y="4884308"/>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DFE99EC4-D123-ED46-D191-2C6ACF46D180}"/>
                </a:ext>
              </a:extLst>
            </p:cNvPr>
            <p:cNvSpPr/>
            <p:nvPr/>
          </p:nvSpPr>
          <p:spPr>
            <a:xfrm>
              <a:off x="3464941" y="4316251"/>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8E66BCC6-50FE-3EA8-7591-021521D6877C}"/>
                </a:ext>
              </a:extLst>
            </p:cNvPr>
            <p:cNvSpPr/>
            <p:nvPr/>
          </p:nvSpPr>
          <p:spPr>
            <a:xfrm>
              <a:off x="4014062" y="4120703"/>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139A8C8B-8EEA-C335-3D8F-F3C3CA9A230E}"/>
                </a:ext>
              </a:extLst>
            </p:cNvPr>
            <p:cNvSpPr/>
            <p:nvPr/>
          </p:nvSpPr>
          <p:spPr>
            <a:xfrm>
              <a:off x="4660823" y="3598409"/>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249DBA91-8889-7875-63E9-A7EAF3510AD9}"/>
                </a:ext>
              </a:extLst>
            </p:cNvPr>
            <p:cNvSpPr/>
            <p:nvPr/>
          </p:nvSpPr>
          <p:spPr>
            <a:xfrm>
              <a:off x="5260932" y="3074751"/>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Title 1">
            <a:extLst>
              <a:ext uri="{FF2B5EF4-FFF2-40B4-BE49-F238E27FC236}">
                <a16:creationId xmlns:a16="http://schemas.microsoft.com/office/drawing/2014/main" id="{E8C9C169-BA78-C6A3-BB53-65935CDA001C}"/>
              </a:ext>
            </a:extLst>
          </p:cNvPr>
          <p:cNvSpPr txBox="1">
            <a:spLocks/>
          </p:cNvSpPr>
          <p:nvPr/>
        </p:nvSpPr>
        <p:spPr>
          <a:xfrm>
            <a:off x="5809077" y="269830"/>
            <a:ext cx="6468542" cy="658817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u="sng" dirty="0">
                <a:latin typeface="Calibri" panose="020F0502020204030204" pitchFamily="34" charset="0"/>
                <a:cs typeface="Calibri" panose="020F0502020204030204" pitchFamily="34" charset="0"/>
              </a:rPr>
              <a:t>Lecture Outline</a:t>
            </a:r>
          </a:p>
          <a:p>
            <a:endParaRPr lang="en-US" sz="3200" dirty="0">
              <a:latin typeface="Calibri" panose="020F0502020204030204" pitchFamily="34" charset="0"/>
              <a:cs typeface="Calibri" panose="020F0502020204030204" pitchFamily="34" charset="0"/>
            </a:endParaRPr>
          </a:p>
          <a:p>
            <a:r>
              <a:rPr lang="en-US" sz="3200" dirty="0">
                <a:latin typeface="Calibri" panose="020F0502020204030204" pitchFamily="34" charset="0"/>
                <a:cs typeface="Calibri" panose="020F0502020204030204" pitchFamily="34" charset="0"/>
              </a:rPr>
              <a:t>Steps for Hypothesis Testing</a:t>
            </a:r>
          </a:p>
          <a:p>
            <a:pPr marL="800100" indent="-508000">
              <a:buFont typeface="+mj-lt"/>
              <a:buAutoNum type="arabicPeriod"/>
            </a:pPr>
            <a:r>
              <a:rPr lang="en-US" sz="2800" dirty="0"/>
              <a:t>Define Hypotheses</a:t>
            </a:r>
          </a:p>
          <a:p>
            <a:pPr marL="800100" indent="-508000">
              <a:buFont typeface="+mj-lt"/>
              <a:buAutoNum type="arabicPeriod"/>
            </a:pPr>
            <a:r>
              <a:rPr lang="en-US" sz="2800" dirty="0"/>
              <a:t>Select Sampling Distribution</a:t>
            </a:r>
          </a:p>
          <a:p>
            <a:pPr marL="800100" indent="-508000">
              <a:buFont typeface="+mj-lt"/>
              <a:buAutoNum type="arabicPeriod"/>
            </a:pPr>
            <a:r>
              <a:rPr lang="en-US" sz="2800" dirty="0">
                <a:solidFill>
                  <a:srgbClr val="FF0000"/>
                </a:solidFill>
              </a:rPr>
              <a:t>Set </a:t>
            </a:r>
            <a:r>
              <a:rPr lang="en-US" sz="2800" i="1" dirty="0">
                <a:solidFill>
                  <a:srgbClr val="FF0000"/>
                </a:solidFill>
              </a:rPr>
              <a:t>a priori</a:t>
            </a:r>
            <a:r>
              <a:rPr lang="en-US" sz="2800" dirty="0">
                <a:solidFill>
                  <a:srgbClr val="FF0000"/>
                </a:solidFill>
              </a:rPr>
              <a:t> criteria</a:t>
            </a:r>
          </a:p>
          <a:p>
            <a:pPr marL="800100" indent="-508000">
              <a:buFont typeface="+mj-lt"/>
              <a:buAutoNum type="arabicPeriod"/>
            </a:pPr>
            <a:r>
              <a:rPr lang="en-US" sz="2800" dirty="0"/>
              <a:t>Compute statistics</a:t>
            </a:r>
          </a:p>
          <a:p>
            <a:pPr marL="800100" indent="-508000">
              <a:buFont typeface="+mj-lt"/>
              <a:buAutoNum type="arabicPeriod"/>
            </a:pPr>
            <a:r>
              <a:rPr lang="en-US" sz="2800" dirty="0"/>
              <a:t>Make statistical decision</a:t>
            </a:r>
          </a:p>
          <a:p>
            <a:pPr marL="800100" indent="-508000">
              <a:buFont typeface="+mj-lt"/>
              <a:buAutoNum type="arabicPeriod"/>
            </a:pPr>
            <a:r>
              <a:rPr lang="en-US" sz="2800" dirty="0"/>
              <a:t>Interpret your outcome</a:t>
            </a:r>
            <a:endParaRPr lang="en-US" sz="2000" dirty="0"/>
          </a:p>
          <a:p>
            <a:endParaRPr lang="en-US"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154157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AE6BB-58A8-1546-92D6-2C0306990118}"/>
              </a:ext>
            </a:extLst>
          </p:cNvPr>
          <p:cNvSpPr>
            <a:spLocks noGrp="1"/>
          </p:cNvSpPr>
          <p:nvPr>
            <p:ph type="title"/>
          </p:nvPr>
        </p:nvSpPr>
        <p:spPr/>
        <p:txBody>
          <a:bodyPr/>
          <a:lstStyle/>
          <a:p>
            <a:r>
              <a:rPr lang="en-US" dirty="0"/>
              <a:t>Step 3: Determine </a:t>
            </a:r>
            <a:r>
              <a:rPr lang="en-US" i="1" dirty="0"/>
              <a:t>a priori</a:t>
            </a:r>
            <a:r>
              <a:rPr lang="en-US" dirty="0"/>
              <a:t> Criteria</a:t>
            </a:r>
          </a:p>
        </p:txBody>
      </p:sp>
      <p:sp>
        <p:nvSpPr>
          <p:cNvPr id="3" name="Content Placeholder 2">
            <a:extLst>
              <a:ext uri="{FF2B5EF4-FFF2-40B4-BE49-F238E27FC236}">
                <a16:creationId xmlns:a16="http://schemas.microsoft.com/office/drawing/2014/main" id="{378FCDFA-0D6E-DB41-948F-9A6ED1D0F9DB}"/>
              </a:ext>
            </a:extLst>
          </p:cNvPr>
          <p:cNvSpPr>
            <a:spLocks noGrp="1"/>
          </p:cNvSpPr>
          <p:nvPr>
            <p:ph idx="1"/>
          </p:nvPr>
        </p:nvSpPr>
        <p:spPr>
          <a:xfrm>
            <a:off x="838201" y="1825624"/>
            <a:ext cx="5763882" cy="5032375"/>
          </a:xfrm>
        </p:spPr>
        <p:txBody>
          <a:bodyPr>
            <a:normAutofit/>
          </a:bodyPr>
          <a:lstStyle/>
          <a:p>
            <a:pPr marL="0" indent="0">
              <a:buNone/>
            </a:pPr>
            <a:r>
              <a:rPr lang="en-US" i="1" dirty="0"/>
              <a:t>a priori</a:t>
            </a:r>
            <a:r>
              <a:rPr lang="en-US" dirty="0"/>
              <a:t> criterion</a:t>
            </a:r>
          </a:p>
          <a:p>
            <a:r>
              <a:rPr lang="en-US" dirty="0"/>
              <a:t>Defined proportion under the null hypothesis distribution that observed data is by chance</a:t>
            </a:r>
          </a:p>
          <a:p>
            <a:r>
              <a:rPr lang="en-US" dirty="0"/>
              <a:t>Set by the researcher before the study begins</a:t>
            </a:r>
          </a:p>
          <a:p>
            <a:r>
              <a:rPr lang="en-US" dirty="0"/>
              <a:t>Probability you are willing to find something by accident</a:t>
            </a:r>
          </a:p>
          <a:p>
            <a:r>
              <a:rPr lang="en-US" dirty="0"/>
              <a:t>Convention in most science is</a:t>
            </a:r>
            <a:r>
              <a:rPr lang="en-US" i="1" dirty="0"/>
              <a:t> p </a:t>
            </a:r>
            <a:r>
              <a:rPr lang="en-US" dirty="0"/>
              <a:t>= .05</a:t>
            </a:r>
          </a:p>
        </p:txBody>
      </p:sp>
      <p:pic>
        <p:nvPicPr>
          <p:cNvPr id="9" name="Picture 8" descr="A picture containing graphical user interface&#10;&#10;Description automatically generated">
            <a:extLst>
              <a:ext uri="{FF2B5EF4-FFF2-40B4-BE49-F238E27FC236}">
                <a16:creationId xmlns:a16="http://schemas.microsoft.com/office/drawing/2014/main" id="{89E11A10-C0BF-9A45-A2C1-00656085CDD5}"/>
              </a:ext>
            </a:extLst>
          </p:cNvPr>
          <p:cNvPicPr>
            <a:picLocks noChangeAspect="1"/>
          </p:cNvPicPr>
          <p:nvPr/>
        </p:nvPicPr>
        <p:blipFill rotWithShape="1">
          <a:blip r:embed="rId2"/>
          <a:srcRect r="56493"/>
          <a:stretch/>
        </p:blipFill>
        <p:spPr>
          <a:xfrm>
            <a:off x="6602083" y="1345769"/>
            <a:ext cx="5400675" cy="2797605"/>
          </a:xfrm>
          <a:prstGeom prst="rect">
            <a:avLst/>
          </a:prstGeom>
        </p:spPr>
      </p:pic>
      <p:pic>
        <p:nvPicPr>
          <p:cNvPr id="13" name="Picture 12" descr="A picture containing graphical user interface&#10;&#10;Description automatically generated">
            <a:extLst>
              <a:ext uri="{FF2B5EF4-FFF2-40B4-BE49-F238E27FC236}">
                <a16:creationId xmlns:a16="http://schemas.microsoft.com/office/drawing/2014/main" id="{0A35648E-0AA0-0344-9D29-897772B6271F}"/>
              </a:ext>
            </a:extLst>
          </p:cNvPr>
          <p:cNvPicPr>
            <a:picLocks noChangeAspect="1"/>
          </p:cNvPicPr>
          <p:nvPr/>
        </p:nvPicPr>
        <p:blipFill rotWithShape="1">
          <a:blip r:embed="rId2"/>
          <a:srcRect l="56493" t="-1119" b="1119"/>
          <a:stretch/>
        </p:blipFill>
        <p:spPr>
          <a:xfrm>
            <a:off x="6602082" y="4056061"/>
            <a:ext cx="5400675" cy="2797605"/>
          </a:xfrm>
          <a:prstGeom prst="rect">
            <a:avLst/>
          </a:prstGeom>
        </p:spPr>
      </p:pic>
    </p:spTree>
    <p:extLst>
      <p:ext uri="{BB962C8B-B14F-4D97-AF65-F5344CB8AC3E}">
        <p14:creationId xmlns:p14="http://schemas.microsoft.com/office/powerpoint/2010/main" val="1579025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AE6BB-58A8-1546-92D6-2C0306990118}"/>
              </a:ext>
            </a:extLst>
          </p:cNvPr>
          <p:cNvSpPr>
            <a:spLocks noGrp="1"/>
          </p:cNvSpPr>
          <p:nvPr>
            <p:ph type="title"/>
          </p:nvPr>
        </p:nvSpPr>
        <p:spPr/>
        <p:txBody>
          <a:bodyPr/>
          <a:lstStyle/>
          <a:p>
            <a:r>
              <a:rPr lang="en-US" dirty="0"/>
              <a:t>Step 3: Determine </a:t>
            </a:r>
            <a:r>
              <a:rPr lang="en-US" i="1" dirty="0"/>
              <a:t>a priori</a:t>
            </a:r>
            <a:r>
              <a:rPr lang="en-US" dirty="0"/>
              <a:t> Criteria</a:t>
            </a:r>
          </a:p>
        </p:txBody>
      </p:sp>
      <p:sp>
        <p:nvSpPr>
          <p:cNvPr id="3" name="Content Placeholder 2">
            <a:extLst>
              <a:ext uri="{FF2B5EF4-FFF2-40B4-BE49-F238E27FC236}">
                <a16:creationId xmlns:a16="http://schemas.microsoft.com/office/drawing/2014/main" id="{378FCDFA-0D6E-DB41-948F-9A6ED1D0F9DB}"/>
              </a:ext>
            </a:extLst>
          </p:cNvPr>
          <p:cNvSpPr>
            <a:spLocks noGrp="1"/>
          </p:cNvSpPr>
          <p:nvPr>
            <p:ph idx="1"/>
          </p:nvPr>
        </p:nvSpPr>
        <p:spPr>
          <a:xfrm>
            <a:off x="838201" y="1825624"/>
            <a:ext cx="5763882" cy="5032375"/>
          </a:xfrm>
        </p:spPr>
        <p:txBody>
          <a:bodyPr>
            <a:normAutofit/>
          </a:bodyPr>
          <a:lstStyle/>
          <a:p>
            <a:pPr marL="0" indent="0">
              <a:buNone/>
            </a:pPr>
            <a:r>
              <a:rPr lang="en-US" b="1" dirty="0"/>
              <a:t>Directionality</a:t>
            </a:r>
          </a:p>
          <a:p>
            <a:r>
              <a:rPr lang="en-US" b="1" dirty="0"/>
              <a:t>One-Tailed (Directional)</a:t>
            </a:r>
            <a:r>
              <a:rPr lang="en-US" dirty="0"/>
              <a:t>: Area at one tail of the distribution</a:t>
            </a:r>
          </a:p>
          <a:p>
            <a:pPr lvl="1"/>
            <a:r>
              <a:rPr lang="en-US" dirty="0"/>
              <a:t>Makes it easier to find a significant result if you are looking in the right direction</a:t>
            </a:r>
          </a:p>
          <a:p>
            <a:pPr lvl="1"/>
            <a:r>
              <a:rPr lang="en-US" dirty="0"/>
              <a:t>Need </a:t>
            </a:r>
            <a:r>
              <a:rPr lang="en-US" b="1" dirty="0"/>
              <a:t>lots</a:t>
            </a:r>
            <a:r>
              <a:rPr lang="en-US" dirty="0"/>
              <a:t> of empirical support</a:t>
            </a:r>
          </a:p>
          <a:p>
            <a:pPr lvl="1"/>
            <a:r>
              <a:rPr lang="en-US" dirty="0"/>
              <a:t>E.g., we hypothesize that the SPG will </a:t>
            </a:r>
            <a:r>
              <a:rPr lang="en-US" b="1" i="1" dirty="0"/>
              <a:t>increase</a:t>
            </a:r>
            <a:r>
              <a:rPr lang="en-US" dirty="0"/>
              <a:t> Jo’s exam scores</a:t>
            </a:r>
          </a:p>
        </p:txBody>
      </p:sp>
      <p:pic>
        <p:nvPicPr>
          <p:cNvPr id="6" name="Picture 5" descr="A picture containing graphical user interface&#10;&#10;Description automatically generated">
            <a:extLst>
              <a:ext uri="{FF2B5EF4-FFF2-40B4-BE49-F238E27FC236}">
                <a16:creationId xmlns:a16="http://schemas.microsoft.com/office/drawing/2014/main" id="{1BB40822-FD42-EB4B-ADB0-FBA3B4A9C72B}"/>
              </a:ext>
            </a:extLst>
          </p:cNvPr>
          <p:cNvPicPr>
            <a:picLocks noChangeAspect="1"/>
          </p:cNvPicPr>
          <p:nvPr/>
        </p:nvPicPr>
        <p:blipFill rotWithShape="1">
          <a:blip r:embed="rId2"/>
          <a:srcRect r="56493"/>
          <a:stretch/>
        </p:blipFill>
        <p:spPr>
          <a:xfrm>
            <a:off x="6602083" y="1345769"/>
            <a:ext cx="5400675" cy="2797605"/>
          </a:xfrm>
          <a:prstGeom prst="rect">
            <a:avLst/>
          </a:prstGeom>
        </p:spPr>
      </p:pic>
      <p:pic>
        <p:nvPicPr>
          <p:cNvPr id="7" name="Picture 6" descr="A picture containing graphical user interface&#10;&#10;Description automatically generated">
            <a:extLst>
              <a:ext uri="{FF2B5EF4-FFF2-40B4-BE49-F238E27FC236}">
                <a16:creationId xmlns:a16="http://schemas.microsoft.com/office/drawing/2014/main" id="{B7E28816-8BE8-E547-ADF6-F2EDA8B3AE98}"/>
              </a:ext>
            </a:extLst>
          </p:cNvPr>
          <p:cNvPicPr>
            <a:picLocks noChangeAspect="1"/>
          </p:cNvPicPr>
          <p:nvPr/>
        </p:nvPicPr>
        <p:blipFill rotWithShape="1">
          <a:blip r:embed="rId2"/>
          <a:srcRect l="56493" t="-1119" b="1119"/>
          <a:stretch/>
        </p:blipFill>
        <p:spPr>
          <a:xfrm>
            <a:off x="6602082" y="4056061"/>
            <a:ext cx="5400675" cy="2797605"/>
          </a:xfrm>
          <a:prstGeom prst="rect">
            <a:avLst/>
          </a:prstGeom>
        </p:spPr>
      </p:pic>
    </p:spTree>
    <p:extLst>
      <p:ext uri="{BB962C8B-B14F-4D97-AF65-F5344CB8AC3E}">
        <p14:creationId xmlns:p14="http://schemas.microsoft.com/office/powerpoint/2010/main" val="3601773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249EE-8660-6DAB-D30C-A963C46655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06B645-54E6-95CC-E7DC-C309C04EE967}"/>
              </a:ext>
            </a:extLst>
          </p:cNvPr>
          <p:cNvSpPr>
            <a:spLocks noGrp="1"/>
          </p:cNvSpPr>
          <p:nvPr>
            <p:ph type="title"/>
          </p:nvPr>
        </p:nvSpPr>
        <p:spPr/>
        <p:txBody>
          <a:bodyPr/>
          <a:lstStyle/>
          <a:p>
            <a:r>
              <a:rPr lang="en-US" dirty="0"/>
              <a:t>Step 3: Determine </a:t>
            </a:r>
            <a:r>
              <a:rPr lang="en-US" i="1" dirty="0"/>
              <a:t>a priori</a:t>
            </a:r>
            <a:r>
              <a:rPr lang="en-US" dirty="0"/>
              <a:t> Criteria</a:t>
            </a:r>
          </a:p>
        </p:txBody>
      </p:sp>
      <p:sp>
        <p:nvSpPr>
          <p:cNvPr id="3" name="Content Placeholder 2">
            <a:extLst>
              <a:ext uri="{FF2B5EF4-FFF2-40B4-BE49-F238E27FC236}">
                <a16:creationId xmlns:a16="http://schemas.microsoft.com/office/drawing/2014/main" id="{54F142A5-8403-C5DD-636A-B75056493041}"/>
              </a:ext>
            </a:extLst>
          </p:cNvPr>
          <p:cNvSpPr>
            <a:spLocks noGrp="1"/>
          </p:cNvSpPr>
          <p:nvPr>
            <p:ph idx="1"/>
          </p:nvPr>
        </p:nvSpPr>
        <p:spPr>
          <a:xfrm>
            <a:off x="838201" y="1825624"/>
            <a:ext cx="5763882" cy="5032375"/>
          </a:xfrm>
        </p:spPr>
        <p:txBody>
          <a:bodyPr>
            <a:normAutofit/>
          </a:bodyPr>
          <a:lstStyle/>
          <a:p>
            <a:pPr marL="0" indent="0">
              <a:buNone/>
            </a:pPr>
            <a:r>
              <a:rPr lang="en-US" b="1" dirty="0"/>
              <a:t>Directionality</a:t>
            </a:r>
          </a:p>
          <a:p>
            <a:r>
              <a:rPr lang="en-US" b="1" dirty="0"/>
              <a:t>Two-Tailed (Non-Directional)</a:t>
            </a:r>
            <a:r>
              <a:rPr lang="en-US" dirty="0"/>
              <a:t>: Area split between each tail of the distribution</a:t>
            </a:r>
          </a:p>
          <a:p>
            <a:pPr lvl="1"/>
            <a:r>
              <a:rPr lang="en-US" dirty="0"/>
              <a:t>Makes it harder to find significant result but allows you to look at each side of the distribution</a:t>
            </a:r>
          </a:p>
          <a:p>
            <a:pPr lvl="1"/>
            <a:r>
              <a:rPr lang="en-US" dirty="0"/>
              <a:t>The default</a:t>
            </a:r>
          </a:p>
          <a:p>
            <a:pPr lvl="1"/>
            <a:r>
              <a:rPr lang="en-US" dirty="0"/>
              <a:t>E.g., we hypothesize that the SPG will </a:t>
            </a:r>
            <a:r>
              <a:rPr lang="en-US" b="1" i="1" dirty="0"/>
              <a:t>change</a:t>
            </a:r>
            <a:r>
              <a:rPr lang="en-US" dirty="0"/>
              <a:t> Jo’s exam scores</a:t>
            </a:r>
          </a:p>
          <a:p>
            <a:pPr lvl="2"/>
            <a:r>
              <a:rPr lang="en-US" dirty="0"/>
              <a:t>May increase or decrease</a:t>
            </a:r>
          </a:p>
          <a:p>
            <a:pPr lvl="1"/>
            <a:endParaRPr lang="en-US" dirty="0"/>
          </a:p>
        </p:txBody>
      </p:sp>
      <p:pic>
        <p:nvPicPr>
          <p:cNvPr id="6" name="Picture 5" descr="A picture containing graphical user interface&#10;&#10;Description automatically generated">
            <a:extLst>
              <a:ext uri="{FF2B5EF4-FFF2-40B4-BE49-F238E27FC236}">
                <a16:creationId xmlns:a16="http://schemas.microsoft.com/office/drawing/2014/main" id="{F4A591F5-5C1E-9C8A-9C44-5CC1B27E6C5E}"/>
              </a:ext>
            </a:extLst>
          </p:cNvPr>
          <p:cNvPicPr>
            <a:picLocks noChangeAspect="1"/>
          </p:cNvPicPr>
          <p:nvPr/>
        </p:nvPicPr>
        <p:blipFill rotWithShape="1">
          <a:blip r:embed="rId2"/>
          <a:srcRect r="56493"/>
          <a:stretch/>
        </p:blipFill>
        <p:spPr>
          <a:xfrm>
            <a:off x="6602083" y="1345769"/>
            <a:ext cx="5400675" cy="2797605"/>
          </a:xfrm>
          <a:prstGeom prst="rect">
            <a:avLst/>
          </a:prstGeom>
        </p:spPr>
      </p:pic>
      <p:pic>
        <p:nvPicPr>
          <p:cNvPr id="7" name="Picture 6" descr="A picture containing graphical user interface&#10;&#10;Description automatically generated">
            <a:extLst>
              <a:ext uri="{FF2B5EF4-FFF2-40B4-BE49-F238E27FC236}">
                <a16:creationId xmlns:a16="http://schemas.microsoft.com/office/drawing/2014/main" id="{DC3D38CF-DAD2-50A8-23CE-1070C8FAF09F}"/>
              </a:ext>
            </a:extLst>
          </p:cNvPr>
          <p:cNvPicPr>
            <a:picLocks noChangeAspect="1"/>
          </p:cNvPicPr>
          <p:nvPr/>
        </p:nvPicPr>
        <p:blipFill rotWithShape="1">
          <a:blip r:embed="rId2"/>
          <a:srcRect l="56493" t="-1119" b="1119"/>
          <a:stretch/>
        </p:blipFill>
        <p:spPr>
          <a:xfrm>
            <a:off x="6602082" y="4056061"/>
            <a:ext cx="5400675" cy="2797605"/>
          </a:xfrm>
          <a:prstGeom prst="rect">
            <a:avLst/>
          </a:prstGeom>
        </p:spPr>
      </p:pic>
    </p:spTree>
    <p:extLst>
      <p:ext uri="{BB962C8B-B14F-4D97-AF65-F5344CB8AC3E}">
        <p14:creationId xmlns:p14="http://schemas.microsoft.com/office/powerpoint/2010/main" val="900682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33905-87AF-726C-E27E-2D4FF6F2B9F6}"/>
            </a:ext>
          </a:extLst>
        </p:cNvPr>
        <p:cNvGrpSpPr/>
        <p:nvPr/>
      </p:nvGrpSpPr>
      <p:grpSpPr>
        <a:xfrm>
          <a:off x="0" y="0"/>
          <a:ext cx="0" cy="0"/>
          <a:chOff x="0" y="0"/>
          <a:chExt cx="0" cy="0"/>
        </a:xfrm>
      </p:grpSpPr>
      <p:pic>
        <p:nvPicPr>
          <p:cNvPr id="13" name="Picture 12" descr="A picture containing graphical user interface&#10;&#10;Description automatically generated">
            <a:extLst>
              <a:ext uri="{FF2B5EF4-FFF2-40B4-BE49-F238E27FC236}">
                <a16:creationId xmlns:a16="http://schemas.microsoft.com/office/drawing/2014/main" id="{2D871335-A73B-BFA4-7541-49DDF05F0439}"/>
              </a:ext>
            </a:extLst>
          </p:cNvPr>
          <p:cNvPicPr>
            <a:picLocks noChangeAspect="1"/>
          </p:cNvPicPr>
          <p:nvPr/>
        </p:nvPicPr>
        <p:blipFill rotWithShape="1">
          <a:blip r:embed="rId2"/>
          <a:srcRect l="56493" t="-1119" b="1119"/>
          <a:stretch/>
        </p:blipFill>
        <p:spPr>
          <a:xfrm>
            <a:off x="6602082" y="4056061"/>
            <a:ext cx="5400675" cy="2797605"/>
          </a:xfrm>
          <a:prstGeom prst="rect">
            <a:avLst/>
          </a:prstGeom>
        </p:spPr>
      </p:pic>
      <p:sp>
        <p:nvSpPr>
          <p:cNvPr id="2" name="Title 1">
            <a:extLst>
              <a:ext uri="{FF2B5EF4-FFF2-40B4-BE49-F238E27FC236}">
                <a16:creationId xmlns:a16="http://schemas.microsoft.com/office/drawing/2014/main" id="{50F1CAE5-FBDC-9B8E-5275-CD4687BA1CE9}"/>
              </a:ext>
            </a:extLst>
          </p:cNvPr>
          <p:cNvSpPr>
            <a:spLocks noGrp="1"/>
          </p:cNvSpPr>
          <p:nvPr>
            <p:ph type="title"/>
          </p:nvPr>
        </p:nvSpPr>
        <p:spPr/>
        <p:txBody>
          <a:bodyPr/>
          <a:lstStyle/>
          <a:p>
            <a:r>
              <a:rPr lang="en-US" dirty="0"/>
              <a:t>Step 3: Determine </a:t>
            </a:r>
            <a:r>
              <a:rPr lang="en-US" i="1" dirty="0"/>
              <a:t>a priori</a:t>
            </a:r>
            <a:r>
              <a:rPr lang="en-US" dirty="0"/>
              <a:t> Criteria</a:t>
            </a:r>
          </a:p>
        </p:txBody>
      </p:sp>
      <p:sp>
        <p:nvSpPr>
          <p:cNvPr id="3" name="Content Placeholder 2">
            <a:extLst>
              <a:ext uri="{FF2B5EF4-FFF2-40B4-BE49-F238E27FC236}">
                <a16:creationId xmlns:a16="http://schemas.microsoft.com/office/drawing/2014/main" id="{434359CB-8BDE-13C8-6A79-ACB8620DF35B}"/>
              </a:ext>
            </a:extLst>
          </p:cNvPr>
          <p:cNvSpPr>
            <a:spLocks noGrp="1"/>
          </p:cNvSpPr>
          <p:nvPr>
            <p:ph idx="1"/>
          </p:nvPr>
        </p:nvSpPr>
        <p:spPr>
          <a:xfrm>
            <a:off x="838201" y="1825624"/>
            <a:ext cx="5763882" cy="5032375"/>
          </a:xfrm>
        </p:spPr>
        <p:txBody>
          <a:bodyPr>
            <a:normAutofit/>
          </a:bodyPr>
          <a:lstStyle/>
          <a:p>
            <a:pPr marL="0" indent="0">
              <a:buNone/>
            </a:pPr>
            <a:r>
              <a:rPr lang="en-CA" b="1" i="1" dirty="0"/>
              <a:t>p(</a:t>
            </a:r>
            <a:r>
              <a:rPr lang="el-GR" b="1" i="1" dirty="0"/>
              <a:t>α</a:t>
            </a:r>
            <a:r>
              <a:rPr lang="en-CA" b="1" i="1" dirty="0"/>
              <a:t>)</a:t>
            </a:r>
            <a:r>
              <a:rPr lang="en-CA" b="1" dirty="0"/>
              <a:t>: </a:t>
            </a:r>
            <a:r>
              <a:rPr lang="en-CA" dirty="0"/>
              <a:t>Probability (p-value) cut-off to determine whether something is the same or different</a:t>
            </a:r>
          </a:p>
          <a:p>
            <a:r>
              <a:rPr lang="en-CA" i="1" dirty="0"/>
              <a:t>p(</a:t>
            </a:r>
            <a:r>
              <a:rPr lang="el-GR" i="1" dirty="0"/>
              <a:t>α</a:t>
            </a:r>
            <a:r>
              <a:rPr lang="en-CA" i="1" dirty="0"/>
              <a:t>) </a:t>
            </a:r>
            <a:r>
              <a:rPr lang="en-CA" dirty="0"/>
              <a:t>= .05</a:t>
            </a:r>
          </a:p>
        </p:txBody>
      </p:sp>
      <p:grpSp>
        <p:nvGrpSpPr>
          <p:cNvPr id="11" name="Group 10">
            <a:extLst>
              <a:ext uri="{FF2B5EF4-FFF2-40B4-BE49-F238E27FC236}">
                <a16:creationId xmlns:a16="http://schemas.microsoft.com/office/drawing/2014/main" id="{3C94E753-D840-8FF2-014C-136D7CBD59B7}"/>
              </a:ext>
            </a:extLst>
          </p:cNvPr>
          <p:cNvGrpSpPr/>
          <p:nvPr/>
        </p:nvGrpSpPr>
        <p:grpSpPr>
          <a:xfrm>
            <a:off x="152729" y="4384035"/>
            <a:ext cx="6756401" cy="1458624"/>
            <a:chOff x="152729" y="4384035"/>
            <a:chExt cx="6756401" cy="1458624"/>
          </a:xfrm>
        </p:grpSpPr>
        <p:pic>
          <p:nvPicPr>
            <p:cNvPr id="6" name="Picture 5" descr="Table&#10;&#10;Description automatically generated">
              <a:extLst>
                <a:ext uri="{FF2B5EF4-FFF2-40B4-BE49-F238E27FC236}">
                  <a16:creationId xmlns:a16="http://schemas.microsoft.com/office/drawing/2014/main" id="{90A3CD22-600C-8FA5-3752-DBAA18ACD83F}"/>
                </a:ext>
              </a:extLst>
            </p:cNvPr>
            <p:cNvPicPr>
              <a:picLocks noChangeAspect="1"/>
            </p:cNvPicPr>
            <p:nvPr/>
          </p:nvPicPr>
          <p:blipFill rotWithShape="1">
            <a:blip r:embed="rId3"/>
            <a:srcRect b="93982"/>
            <a:stretch/>
          </p:blipFill>
          <p:spPr>
            <a:xfrm>
              <a:off x="152730" y="4384035"/>
              <a:ext cx="6756400" cy="251444"/>
            </a:xfrm>
            <a:prstGeom prst="rect">
              <a:avLst/>
            </a:prstGeom>
          </p:spPr>
        </p:pic>
        <p:pic>
          <p:nvPicPr>
            <p:cNvPr id="10" name="Picture 9" descr="Table&#10;&#10;Description automatically generated">
              <a:extLst>
                <a:ext uri="{FF2B5EF4-FFF2-40B4-BE49-F238E27FC236}">
                  <a16:creationId xmlns:a16="http://schemas.microsoft.com/office/drawing/2014/main" id="{7731565C-70F7-FB62-536D-54C927CC80E9}"/>
                </a:ext>
              </a:extLst>
            </p:cNvPr>
            <p:cNvPicPr>
              <a:picLocks noChangeAspect="1"/>
            </p:cNvPicPr>
            <p:nvPr/>
          </p:nvPicPr>
          <p:blipFill>
            <a:blip r:embed="rId4"/>
            <a:stretch>
              <a:fillRect/>
            </a:stretch>
          </p:blipFill>
          <p:spPr>
            <a:xfrm>
              <a:off x="152729" y="4635478"/>
              <a:ext cx="6736849" cy="1207181"/>
            </a:xfrm>
            <a:prstGeom prst="rect">
              <a:avLst/>
            </a:prstGeom>
          </p:spPr>
        </p:pic>
      </p:grpSp>
      <p:pic>
        <p:nvPicPr>
          <p:cNvPr id="12" name="Picture 11" descr="A picture containing graphical user interface&#10;&#10;Description automatically generated">
            <a:extLst>
              <a:ext uri="{FF2B5EF4-FFF2-40B4-BE49-F238E27FC236}">
                <a16:creationId xmlns:a16="http://schemas.microsoft.com/office/drawing/2014/main" id="{43E880FD-5382-5516-AB42-F716F6708778}"/>
              </a:ext>
            </a:extLst>
          </p:cNvPr>
          <p:cNvPicPr>
            <a:picLocks noChangeAspect="1"/>
          </p:cNvPicPr>
          <p:nvPr/>
        </p:nvPicPr>
        <p:blipFill rotWithShape="1">
          <a:blip r:embed="rId2"/>
          <a:srcRect r="56493"/>
          <a:stretch/>
        </p:blipFill>
        <p:spPr>
          <a:xfrm>
            <a:off x="6602083" y="1345769"/>
            <a:ext cx="5400675" cy="2797605"/>
          </a:xfrm>
          <a:prstGeom prst="rect">
            <a:avLst/>
          </a:prstGeom>
        </p:spPr>
      </p:pic>
      <p:sp>
        <p:nvSpPr>
          <p:cNvPr id="5" name="Rectangle: Rounded Corners 4">
            <a:extLst>
              <a:ext uri="{FF2B5EF4-FFF2-40B4-BE49-F238E27FC236}">
                <a16:creationId xmlns:a16="http://schemas.microsoft.com/office/drawing/2014/main" id="{4D9EB8E8-5019-DEC2-684F-4200E0488156}"/>
              </a:ext>
            </a:extLst>
          </p:cNvPr>
          <p:cNvSpPr/>
          <p:nvPr/>
        </p:nvSpPr>
        <p:spPr>
          <a:xfrm>
            <a:off x="4428565" y="4805449"/>
            <a:ext cx="502023" cy="219075"/>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A240D3C2-D6A3-9148-AF9E-F345B7205673}"/>
              </a:ext>
            </a:extLst>
          </p:cNvPr>
          <p:cNvCxnSpPr>
            <a:cxnSpLocks/>
            <a:endCxn id="5" idx="3"/>
          </p:cNvCxnSpPr>
          <p:nvPr/>
        </p:nvCxnSpPr>
        <p:spPr>
          <a:xfrm flipH="1" flipV="1">
            <a:off x="4930588" y="4914987"/>
            <a:ext cx="2985249" cy="1288589"/>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97889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AE6BB-58A8-1546-92D6-2C0306990118}"/>
              </a:ext>
            </a:extLst>
          </p:cNvPr>
          <p:cNvSpPr>
            <a:spLocks noGrp="1"/>
          </p:cNvSpPr>
          <p:nvPr>
            <p:ph type="title"/>
          </p:nvPr>
        </p:nvSpPr>
        <p:spPr/>
        <p:txBody>
          <a:bodyPr/>
          <a:lstStyle/>
          <a:p>
            <a:r>
              <a:rPr lang="en-US" dirty="0"/>
              <a:t>Step 3: Determine </a:t>
            </a:r>
            <a:r>
              <a:rPr lang="en-US" i="1" dirty="0"/>
              <a:t>a priori</a:t>
            </a:r>
            <a:r>
              <a:rPr lang="en-US" dirty="0"/>
              <a:t> Criteria</a:t>
            </a:r>
          </a:p>
        </p:txBody>
      </p:sp>
      <p:sp>
        <p:nvSpPr>
          <p:cNvPr id="3" name="Content Placeholder 2">
            <a:extLst>
              <a:ext uri="{FF2B5EF4-FFF2-40B4-BE49-F238E27FC236}">
                <a16:creationId xmlns:a16="http://schemas.microsoft.com/office/drawing/2014/main" id="{378FCDFA-0D6E-DB41-948F-9A6ED1D0F9DB}"/>
              </a:ext>
            </a:extLst>
          </p:cNvPr>
          <p:cNvSpPr>
            <a:spLocks noGrp="1"/>
          </p:cNvSpPr>
          <p:nvPr>
            <p:ph idx="1"/>
          </p:nvPr>
        </p:nvSpPr>
        <p:spPr>
          <a:xfrm>
            <a:off x="838201" y="1825624"/>
            <a:ext cx="5763882" cy="5032375"/>
          </a:xfrm>
        </p:spPr>
        <p:txBody>
          <a:bodyPr>
            <a:normAutofit/>
          </a:bodyPr>
          <a:lstStyle/>
          <a:p>
            <a:pPr marL="0" indent="0">
              <a:buNone/>
            </a:pPr>
            <a:r>
              <a:rPr lang="en-US" b="1" i="1" dirty="0"/>
              <a:t>Z</a:t>
            </a:r>
            <a:r>
              <a:rPr lang="en-US" b="1" dirty="0"/>
              <a:t>(crit)</a:t>
            </a:r>
            <a:r>
              <a:rPr lang="en-US" dirty="0"/>
              <a:t>: The z-score cut-off to determine whether something is the same or different</a:t>
            </a:r>
          </a:p>
          <a:p>
            <a:r>
              <a:rPr lang="en-US" dirty="0"/>
              <a:t>Two-Tailed </a:t>
            </a:r>
            <a:r>
              <a:rPr lang="en-US" i="1" dirty="0"/>
              <a:t>z</a:t>
            </a:r>
            <a:r>
              <a:rPr lang="en-US" dirty="0"/>
              <a:t>(crit): </a:t>
            </a:r>
            <a:r>
              <a:rPr lang="en-CA" dirty="0"/>
              <a:t>±</a:t>
            </a:r>
            <a:r>
              <a:rPr lang="en-US" dirty="0"/>
              <a:t>1.96</a:t>
            </a:r>
          </a:p>
        </p:txBody>
      </p:sp>
      <p:pic>
        <p:nvPicPr>
          <p:cNvPr id="6" name="Picture 5" descr="A picture containing graphical user interface&#10;&#10;Description automatically generated">
            <a:extLst>
              <a:ext uri="{FF2B5EF4-FFF2-40B4-BE49-F238E27FC236}">
                <a16:creationId xmlns:a16="http://schemas.microsoft.com/office/drawing/2014/main" id="{EACE2333-4648-334A-98EA-60ACB5D2369B}"/>
              </a:ext>
            </a:extLst>
          </p:cNvPr>
          <p:cNvPicPr>
            <a:picLocks noChangeAspect="1"/>
          </p:cNvPicPr>
          <p:nvPr/>
        </p:nvPicPr>
        <p:blipFill rotWithShape="1">
          <a:blip r:embed="rId2"/>
          <a:srcRect r="56493"/>
          <a:stretch/>
        </p:blipFill>
        <p:spPr>
          <a:xfrm>
            <a:off x="6602083" y="1345769"/>
            <a:ext cx="5400675" cy="2797605"/>
          </a:xfrm>
          <a:prstGeom prst="rect">
            <a:avLst/>
          </a:prstGeom>
        </p:spPr>
      </p:pic>
      <p:pic>
        <p:nvPicPr>
          <p:cNvPr id="7" name="Picture 6" descr="A picture containing graphical user interface&#10;&#10;Description automatically generated">
            <a:extLst>
              <a:ext uri="{FF2B5EF4-FFF2-40B4-BE49-F238E27FC236}">
                <a16:creationId xmlns:a16="http://schemas.microsoft.com/office/drawing/2014/main" id="{976544C0-526D-8248-AC97-A85835EFB160}"/>
              </a:ext>
            </a:extLst>
          </p:cNvPr>
          <p:cNvPicPr>
            <a:picLocks noChangeAspect="1"/>
          </p:cNvPicPr>
          <p:nvPr/>
        </p:nvPicPr>
        <p:blipFill rotWithShape="1">
          <a:blip r:embed="rId2"/>
          <a:srcRect l="56493" t="-1119" b="1119"/>
          <a:stretch/>
        </p:blipFill>
        <p:spPr>
          <a:xfrm>
            <a:off x="6602082" y="4056061"/>
            <a:ext cx="5400675" cy="2797605"/>
          </a:xfrm>
          <a:prstGeom prst="rect">
            <a:avLst/>
          </a:prstGeom>
        </p:spPr>
      </p:pic>
      <p:grpSp>
        <p:nvGrpSpPr>
          <p:cNvPr id="4" name="Group 3">
            <a:extLst>
              <a:ext uri="{FF2B5EF4-FFF2-40B4-BE49-F238E27FC236}">
                <a16:creationId xmlns:a16="http://schemas.microsoft.com/office/drawing/2014/main" id="{15EC52D0-B9D1-9ACC-2216-8A07A778195D}"/>
              </a:ext>
            </a:extLst>
          </p:cNvPr>
          <p:cNvGrpSpPr/>
          <p:nvPr/>
        </p:nvGrpSpPr>
        <p:grpSpPr>
          <a:xfrm>
            <a:off x="133177" y="4384035"/>
            <a:ext cx="6756401" cy="1458624"/>
            <a:chOff x="152729" y="4384035"/>
            <a:chExt cx="6756401" cy="1458624"/>
          </a:xfrm>
        </p:grpSpPr>
        <p:pic>
          <p:nvPicPr>
            <p:cNvPr id="5" name="Picture 4" descr="Table&#10;&#10;Description automatically generated">
              <a:extLst>
                <a:ext uri="{FF2B5EF4-FFF2-40B4-BE49-F238E27FC236}">
                  <a16:creationId xmlns:a16="http://schemas.microsoft.com/office/drawing/2014/main" id="{110C73F9-B3DB-F9C5-0ABB-CBAE97454AEF}"/>
                </a:ext>
              </a:extLst>
            </p:cNvPr>
            <p:cNvPicPr>
              <a:picLocks noChangeAspect="1"/>
            </p:cNvPicPr>
            <p:nvPr/>
          </p:nvPicPr>
          <p:blipFill rotWithShape="1">
            <a:blip r:embed="rId3"/>
            <a:srcRect b="93982"/>
            <a:stretch/>
          </p:blipFill>
          <p:spPr>
            <a:xfrm>
              <a:off x="152730" y="4384035"/>
              <a:ext cx="6756400" cy="251444"/>
            </a:xfrm>
            <a:prstGeom prst="rect">
              <a:avLst/>
            </a:prstGeom>
          </p:spPr>
        </p:pic>
        <p:pic>
          <p:nvPicPr>
            <p:cNvPr id="8" name="Picture 7" descr="Table&#10;&#10;Description automatically generated">
              <a:extLst>
                <a:ext uri="{FF2B5EF4-FFF2-40B4-BE49-F238E27FC236}">
                  <a16:creationId xmlns:a16="http://schemas.microsoft.com/office/drawing/2014/main" id="{714B77D7-2721-1F6D-80DD-D34991BCE7E8}"/>
                </a:ext>
              </a:extLst>
            </p:cNvPr>
            <p:cNvPicPr>
              <a:picLocks noChangeAspect="1"/>
            </p:cNvPicPr>
            <p:nvPr/>
          </p:nvPicPr>
          <p:blipFill>
            <a:blip r:embed="rId4"/>
            <a:stretch>
              <a:fillRect/>
            </a:stretch>
          </p:blipFill>
          <p:spPr>
            <a:xfrm>
              <a:off x="152729" y="4635478"/>
              <a:ext cx="6736849" cy="1207181"/>
            </a:xfrm>
            <a:prstGeom prst="rect">
              <a:avLst/>
            </a:prstGeom>
          </p:spPr>
        </p:pic>
      </p:grpSp>
      <p:sp>
        <p:nvSpPr>
          <p:cNvPr id="10" name="Rectangle: Rounded Corners 9">
            <a:extLst>
              <a:ext uri="{FF2B5EF4-FFF2-40B4-BE49-F238E27FC236}">
                <a16:creationId xmlns:a16="http://schemas.microsoft.com/office/drawing/2014/main" id="{4053F23A-430F-0556-ECF5-5970C41B7226}"/>
              </a:ext>
            </a:extLst>
          </p:cNvPr>
          <p:cNvSpPr/>
          <p:nvPr/>
        </p:nvSpPr>
        <p:spPr>
          <a:xfrm>
            <a:off x="4428565" y="4812370"/>
            <a:ext cx="502023" cy="219075"/>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E332BA3A-AE55-9192-17D8-BDFC6D8BC086}"/>
              </a:ext>
            </a:extLst>
          </p:cNvPr>
          <p:cNvCxnSpPr>
            <a:cxnSpLocks/>
          </p:cNvCxnSpPr>
          <p:nvPr/>
        </p:nvCxnSpPr>
        <p:spPr>
          <a:xfrm flipH="1">
            <a:off x="516352" y="4921907"/>
            <a:ext cx="3892661" cy="3209"/>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FB54FA3B-DBDB-59FF-117C-901F21EB02EE}"/>
              </a:ext>
            </a:extLst>
          </p:cNvPr>
          <p:cNvCxnSpPr>
            <a:cxnSpLocks/>
          </p:cNvCxnSpPr>
          <p:nvPr/>
        </p:nvCxnSpPr>
        <p:spPr>
          <a:xfrm flipH="1" flipV="1">
            <a:off x="4715672" y="4566406"/>
            <a:ext cx="1" cy="245964"/>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5116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A picture containing graphical user interface&#10;&#10;Description automatically generated">
            <a:extLst>
              <a:ext uri="{FF2B5EF4-FFF2-40B4-BE49-F238E27FC236}">
                <a16:creationId xmlns:a16="http://schemas.microsoft.com/office/drawing/2014/main" id="{1EDE05AC-28B6-CE49-BE13-A7B9DBBEE1E7}"/>
              </a:ext>
            </a:extLst>
          </p:cNvPr>
          <p:cNvPicPr>
            <a:picLocks noChangeAspect="1"/>
          </p:cNvPicPr>
          <p:nvPr/>
        </p:nvPicPr>
        <p:blipFill rotWithShape="1">
          <a:blip r:embed="rId2"/>
          <a:srcRect l="56493" t="-1119" b="1119"/>
          <a:stretch/>
        </p:blipFill>
        <p:spPr>
          <a:xfrm>
            <a:off x="6602082" y="4056061"/>
            <a:ext cx="5400675" cy="2797605"/>
          </a:xfrm>
          <a:prstGeom prst="rect">
            <a:avLst/>
          </a:prstGeom>
        </p:spPr>
      </p:pic>
      <p:sp>
        <p:nvSpPr>
          <p:cNvPr id="2" name="Title 1">
            <a:extLst>
              <a:ext uri="{FF2B5EF4-FFF2-40B4-BE49-F238E27FC236}">
                <a16:creationId xmlns:a16="http://schemas.microsoft.com/office/drawing/2014/main" id="{DC3AE6BB-58A8-1546-92D6-2C0306990118}"/>
              </a:ext>
            </a:extLst>
          </p:cNvPr>
          <p:cNvSpPr>
            <a:spLocks noGrp="1"/>
          </p:cNvSpPr>
          <p:nvPr>
            <p:ph type="title"/>
          </p:nvPr>
        </p:nvSpPr>
        <p:spPr/>
        <p:txBody>
          <a:bodyPr/>
          <a:lstStyle/>
          <a:p>
            <a:r>
              <a:rPr lang="en-US" dirty="0"/>
              <a:t>Step 3: Determine </a:t>
            </a:r>
            <a:r>
              <a:rPr lang="en-US" i="1" dirty="0"/>
              <a:t>a priori</a:t>
            </a:r>
            <a:r>
              <a:rPr lang="en-US" dirty="0"/>
              <a:t> Criteria</a:t>
            </a:r>
          </a:p>
        </p:txBody>
      </p:sp>
      <p:sp>
        <p:nvSpPr>
          <p:cNvPr id="3" name="Content Placeholder 2">
            <a:extLst>
              <a:ext uri="{FF2B5EF4-FFF2-40B4-BE49-F238E27FC236}">
                <a16:creationId xmlns:a16="http://schemas.microsoft.com/office/drawing/2014/main" id="{378FCDFA-0D6E-DB41-948F-9A6ED1D0F9DB}"/>
              </a:ext>
            </a:extLst>
          </p:cNvPr>
          <p:cNvSpPr>
            <a:spLocks noGrp="1"/>
          </p:cNvSpPr>
          <p:nvPr>
            <p:ph idx="1"/>
          </p:nvPr>
        </p:nvSpPr>
        <p:spPr>
          <a:xfrm>
            <a:off x="838201" y="1825624"/>
            <a:ext cx="5763882" cy="5032375"/>
          </a:xfrm>
        </p:spPr>
        <p:txBody>
          <a:bodyPr>
            <a:normAutofit/>
          </a:bodyPr>
          <a:lstStyle/>
          <a:p>
            <a:pPr marL="0" indent="0">
              <a:buNone/>
            </a:pPr>
            <a:r>
              <a:rPr lang="en-CA" b="1" i="1" dirty="0"/>
              <a:t>p(</a:t>
            </a:r>
            <a:r>
              <a:rPr lang="el-GR" b="1" i="1" dirty="0"/>
              <a:t>α</a:t>
            </a:r>
            <a:r>
              <a:rPr lang="en-CA" b="1" i="1" dirty="0"/>
              <a:t>)</a:t>
            </a:r>
            <a:r>
              <a:rPr lang="en-CA" b="1" dirty="0"/>
              <a:t>: </a:t>
            </a:r>
            <a:r>
              <a:rPr lang="en-CA" dirty="0"/>
              <a:t>Probability (p-value) cut-off to determine whether something is the same or different</a:t>
            </a:r>
          </a:p>
          <a:p>
            <a:r>
              <a:rPr lang="en-CA" i="1" dirty="0"/>
              <a:t>p(</a:t>
            </a:r>
            <a:r>
              <a:rPr lang="el-GR" i="1" dirty="0"/>
              <a:t>α</a:t>
            </a:r>
            <a:r>
              <a:rPr lang="en-CA" i="1" dirty="0"/>
              <a:t>) </a:t>
            </a:r>
            <a:r>
              <a:rPr lang="en-CA" dirty="0"/>
              <a:t>= .05</a:t>
            </a:r>
          </a:p>
        </p:txBody>
      </p:sp>
      <p:grpSp>
        <p:nvGrpSpPr>
          <p:cNvPr id="11" name="Group 10">
            <a:extLst>
              <a:ext uri="{FF2B5EF4-FFF2-40B4-BE49-F238E27FC236}">
                <a16:creationId xmlns:a16="http://schemas.microsoft.com/office/drawing/2014/main" id="{CB889279-FA33-5645-BC41-F5144BCC2AB4}"/>
              </a:ext>
            </a:extLst>
          </p:cNvPr>
          <p:cNvGrpSpPr/>
          <p:nvPr/>
        </p:nvGrpSpPr>
        <p:grpSpPr>
          <a:xfrm>
            <a:off x="152729" y="4384035"/>
            <a:ext cx="6756401" cy="1458624"/>
            <a:chOff x="152729" y="4384035"/>
            <a:chExt cx="6756401" cy="1458624"/>
          </a:xfrm>
        </p:grpSpPr>
        <p:pic>
          <p:nvPicPr>
            <p:cNvPr id="6" name="Picture 5" descr="Table&#10;&#10;Description automatically generated">
              <a:extLst>
                <a:ext uri="{FF2B5EF4-FFF2-40B4-BE49-F238E27FC236}">
                  <a16:creationId xmlns:a16="http://schemas.microsoft.com/office/drawing/2014/main" id="{A40D0F25-DB1A-D248-90D6-3F0E85AF0CF5}"/>
                </a:ext>
              </a:extLst>
            </p:cNvPr>
            <p:cNvPicPr>
              <a:picLocks noChangeAspect="1"/>
            </p:cNvPicPr>
            <p:nvPr/>
          </p:nvPicPr>
          <p:blipFill rotWithShape="1">
            <a:blip r:embed="rId3"/>
            <a:srcRect b="93982"/>
            <a:stretch/>
          </p:blipFill>
          <p:spPr>
            <a:xfrm>
              <a:off x="152730" y="4384035"/>
              <a:ext cx="6756400" cy="251444"/>
            </a:xfrm>
            <a:prstGeom prst="rect">
              <a:avLst/>
            </a:prstGeom>
          </p:spPr>
        </p:pic>
        <p:pic>
          <p:nvPicPr>
            <p:cNvPr id="10" name="Picture 9" descr="Table&#10;&#10;Description automatically generated">
              <a:extLst>
                <a:ext uri="{FF2B5EF4-FFF2-40B4-BE49-F238E27FC236}">
                  <a16:creationId xmlns:a16="http://schemas.microsoft.com/office/drawing/2014/main" id="{34E7891D-1F39-E846-9F86-F16FCBEF94E4}"/>
                </a:ext>
              </a:extLst>
            </p:cNvPr>
            <p:cNvPicPr>
              <a:picLocks noChangeAspect="1"/>
            </p:cNvPicPr>
            <p:nvPr/>
          </p:nvPicPr>
          <p:blipFill>
            <a:blip r:embed="rId4"/>
            <a:stretch>
              <a:fillRect/>
            </a:stretch>
          </p:blipFill>
          <p:spPr>
            <a:xfrm>
              <a:off x="152729" y="4635478"/>
              <a:ext cx="6736849" cy="1207181"/>
            </a:xfrm>
            <a:prstGeom prst="rect">
              <a:avLst/>
            </a:prstGeom>
          </p:spPr>
        </p:pic>
      </p:grpSp>
      <p:pic>
        <p:nvPicPr>
          <p:cNvPr id="12" name="Picture 11" descr="A picture containing graphical user interface&#10;&#10;Description automatically generated">
            <a:extLst>
              <a:ext uri="{FF2B5EF4-FFF2-40B4-BE49-F238E27FC236}">
                <a16:creationId xmlns:a16="http://schemas.microsoft.com/office/drawing/2014/main" id="{C7F1A8F2-609E-6545-AB60-0EE19F2FE7FF}"/>
              </a:ext>
            </a:extLst>
          </p:cNvPr>
          <p:cNvPicPr>
            <a:picLocks noChangeAspect="1"/>
          </p:cNvPicPr>
          <p:nvPr/>
        </p:nvPicPr>
        <p:blipFill rotWithShape="1">
          <a:blip r:embed="rId2"/>
          <a:srcRect r="56493"/>
          <a:stretch/>
        </p:blipFill>
        <p:spPr>
          <a:xfrm>
            <a:off x="6602083" y="1345769"/>
            <a:ext cx="5400675" cy="2797605"/>
          </a:xfrm>
          <a:prstGeom prst="rect">
            <a:avLst/>
          </a:prstGeom>
        </p:spPr>
      </p:pic>
      <p:sp>
        <p:nvSpPr>
          <p:cNvPr id="4" name="Rectangle: Rounded Corners 3">
            <a:extLst>
              <a:ext uri="{FF2B5EF4-FFF2-40B4-BE49-F238E27FC236}">
                <a16:creationId xmlns:a16="http://schemas.microsoft.com/office/drawing/2014/main" id="{C994C1AE-2E28-4C1F-EEBC-B41AC0594404}"/>
              </a:ext>
            </a:extLst>
          </p:cNvPr>
          <p:cNvSpPr/>
          <p:nvPr/>
        </p:nvSpPr>
        <p:spPr>
          <a:xfrm>
            <a:off x="3236259" y="5391150"/>
            <a:ext cx="1039906" cy="219075"/>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68D648DE-908E-1276-1F45-CCE8A22A5DBD}"/>
              </a:ext>
            </a:extLst>
          </p:cNvPr>
          <p:cNvCxnSpPr/>
          <p:nvPr/>
        </p:nvCxnSpPr>
        <p:spPr>
          <a:xfrm flipH="1">
            <a:off x="4276165" y="3429000"/>
            <a:ext cx="6024282" cy="207168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5050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61FEB-D4E0-09E0-22AD-7851428115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89F32A-42A0-B731-E466-55E6F55059A3}"/>
              </a:ext>
            </a:extLst>
          </p:cNvPr>
          <p:cNvSpPr>
            <a:spLocks noGrp="1"/>
          </p:cNvSpPr>
          <p:nvPr>
            <p:ph type="title"/>
          </p:nvPr>
        </p:nvSpPr>
        <p:spPr/>
        <p:txBody>
          <a:bodyPr/>
          <a:lstStyle/>
          <a:p>
            <a:r>
              <a:rPr lang="en-US" dirty="0"/>
              <a:t>Step 3: Determine </a:t>
            </a:r>
            <a:r>
              <a:rPr lang="en-US" i="1" dirty="0"/>
              <a:t>a priori</a:t>
            </a:r>
            <a:r>
              <a:rPr lang="en-US" dirty="0"/>
              <a:t> Criteria</a:t>
            </a:r>
          </a:p>
        </p:txBody>
      </p:sp>
      <p:sp>
        <p:nvSpPr>
          <p:cNvPr id="3" name="Content Placeholder 2">
            <a:extLst>
              <a:ext uri="{FF2B5EF4-FFF2-40B4-BE49-F238E27FC236}">
                <a16:creationId xmlns:a16="http://schemas.microsoft.com/office/drawing/2014/main" id="{C37A78FB-CEAE-B1EC-C8DD-B6E6BAE8B21D}"/>
              </a:ext>
            </a:extLst>
          </p:cNvPr>
          <p:cNvSpPr>
            <a:spLocks noGrp="1"/>
          </p:cNvSpPr>
          <p:nvPr>
            <p:ph idx="1"/>
          </p:nvPr>
        </p:nvSpPr>
        <p:spPr>
          <a:xfrm>
            <a:off x="838201" y="1825624"/>
            <a:ext cx="5763882" cy="5032375"/>
          </a:xfrm>
        </p:spPr>
        <p:txBody>
          <a:bodyPr>
            <a:normAutofit/>
          </a:bodyPr>
          <a:lstStyle/>
          <a:p>
            <a:pPr marL="0" indent="0">
              <a:buNone/>
            </a:pPr>
            <a:r>
              <a:rPr lang="en-US" b="1" i="1" dirty="0"/>
              <a:t>Z</a:t>
            </a:r>
            <a:r>
              <a:rPr lang="en-US" b="1" dirty="0"/>
              <a:t>(crit)</a:t>
            </a:r>
            <a:r>
              <a:rPr lang="en-US" dirty="0"/>
              <a:t>: The z-score cut-off to determine whether something is the same or different</a:t>
            </a:r>
          </a:p>
          <a:p>
            <a:r>
              <a:rPr lang="en-US" dirty="0"/>
              <a:t>One-Tailed </a:t>
            </a:r>
            <a:r>
              <a:rPr lang="en-US" i="1" dirty="0"/>
              <a:t>z</a:t>
            </a:r>
            <a:r>
              <a:rPr lang="en-US" dirty="0"/>
              <a:t>(crit): +1.645 OR – 1.645</a:t>
            </a:r>
          </a:p>
        </p:txBody>
      </p:sp>
      <p:pic>
        <p:nvPicPr>
          <p:cNvPr id="6" name="Picture 5" descr="A picture containing graphical user interface&#10;&#10;Description automatically generated">
            <a:extLst>
              <a:ext uri="{FF2B5EF4-FFF2-40B4-BE49-F238E27FC236}">
                <a16:creationId xmlns:a16="http://schemas.microsoft.com/office/drawing/2014/main" id="{F547C05B-8532-EE06-DE36-F951BAB5A4C9}"/>
              </a:ext>
            </a:extLst>
          </p:cNvPr>
          <p:cNvPicPr>
            <a:picLocks noChangeAspect="1"/>
          </p:cNvPicPr>
          <p:nvPr/>
        </p:nvPicPr>
        <p:blipFill rotWithShape="1">
          <a:blip r:embed="rId2"/>
          <a:srcRect r="56493"/>
          <a:stretch/>
        </p:blipFill>
        <p:spPr>
          <a:xfrm>
            <a:off x="6602083" y="1345769"/>
            <a:ext cx="5400675" cy="2797605"/>
          </a:xfrm>
          <a:prstGeom prst="rect">
            <a:avLst/>
          </a:prstGeom>
        </p:spPr>
      </p:pic>
      <p:pic>
        <p:nvPicPr>
          <p:cNvPr id="7" name="Picture 6" descr="A picture containing graphical user interface&#10;&#10;Description automatically generated">
            <a:extLst>
              <a:ext uri="{FF2B5EF4-FFF2-40B4-BE49-F238E27FC236}">
                <a16:creationId xmlns:a16="http://schemas.microsoft.com/office/drawing/2014/main" id="{7E2A41E7-0BAD-407D-3602-50F6F55C2B50}"/>
              </a:ext>
            </a:extLst>
          </p:cNvPr>
          <p:cNvPicPr>
            <a:picLocks noChangeAspect="1"/>
          </p:cNvPicPr>
          <p:nvPr/>
        </p:nvPicPr>
        <p:blipFill rotWithShape="1">
          <a:blip r:embed="rId2"/>
          <a:srcRect l="56493" t="-1119" b="1119"/>
          <a:stretch/>
        </p:blipFill>
        <p:spPr>
          <a:xfrm>
            <a:off x="6602082" y="4056061"/>
            <a:ext cx="5400675" cy="2797605"/>
          </a:xfrm>
          <a:prstGeom prst="rect">
            <a:avLst/>
          </a:prstGeom>
        </p:spPr>
      </p:pic>
      <p:grpSp>
        <p:nvGrpSpPr>
          <p:cNvPr id="4" name="Group 3">
            <a:extLst>
              <a:ext uri="{FF2B5EF4-FFF2-40B4-BE49-F238E27FC236}">
                <a16:creationId xmlns:a16="http://schemas.microsoft.com/office/drawing/2014/main" id="{34B5BEE8-6D40-7547-C8C4-D06C80CED04B}"/>
              </a:ext>
            </a:extLst>
          </p:cNvPr>
          <p:cNvGrpSpPr/>
          <p:nvPr/>
        </p:nvGrpSpPr>
        <p:grpSpPr>
          <a:xfrm>
            <a:off x="133177" y="4384035"/>
            <a:ext cx="6756401" cy="1458624"/>
            <a:chOff x="152729" y="4384035"/>
            <a:chExt cx="6756401" cy="1458624"/>
          </a:xfrm>
        </p:grpSpPr>
        <p:pic>
          <p:nvPicPr>
            <p:cNvPr id="5" name="Picture 4" descr="Table&#10;&#10;Description automatically generated">
              <a:extLst>
                <a:ext uri="{FF2B5EF4-FFF2-40B4-BE49-F238E27FC236}">
                  <a16:creationId xmlns:a16="http://schemas.microsoft.com/office/drawing/2014/main" id="{A6D1AD1C-BBDF-C66D-F6F6-683CCFC3586B}"/>
                </a:ext>
              </a:extLst>
            </p:cNvPr>
            <p:cNvPicPr>
              <a:picLocks noChangeAspect="1"/>
            </p:cNvPicPr>
            <p:nvPr/>
          </p:nvPicPr>
          <p:blipFill rotWithShape="1">
            <a:blip r:embed="rId3"/>
            <a:srcRect b="93982"/>
            <a:stretch/>
          </p:blipFill>
          <p:spPr>
            <a:xfrm>
              <a:off x="152730" y="4384035"/>
              <a:ext cx="6756400" cy="251444"/>
            </a:xfrm>
            <a:prstGeom prst="rect">
              <a:avLst/>
            </a:prstGeom>
          </p:spPr>
        </p:pic>
        <p:pic>
          <p:nvPicPr>
            <p:cNvPr id="8" name="Picture 7" descr="Table&#10;&#10;Description automatically generated">
              <a:extLst>
                <a:ext uri="{FF2B5EF4-FFF2-40B4-BE49-F238E27FC236}">
                  <a16:creationId xmlns:a16="http://schemas.microsoft.com/office/drawing/2014/main" id="{D93A7D35-4318-6EC6-CBC8-1B5320AFF38D}"/>
                </a:ext>
              </a:extLst>
            </p:cNvPr>
            <p:cNvPicPr>
              <a:picLocks noChangeAspect="1"/>
            </p:cNvPicPr>
            <p:nvPr/>
          </p:nvPicPr>
          <p:blipFill>
            <a:blip r:embed="rId4"/>
            <a:stretch>
              <a:fillRect/>
            </a:stretch>
          </p:blipFill>
          <p:spPr>
            <a:xfrm>
              <a:off x="152729" y="4635478"/>
              <a:ext cx="6736849" cy="1207181"/>
            </a:xfrm>
            <a:prstGeom prst="rect">
              <a:avLst/>
            </a:prstGeom>
          </p:spPr>
        </p:pic>
      </p:grpSp>
      <p:sp>
        <p:nvSpPr>
          <p:cNvPr id="10" name="Rectangle: Rounded Corners 9">
            <a:extLst>
              <a:ext uri="{FF2B5EF4-FFF2-40B4-BE49-F238E27FC236}">
                <a16:creationId xmlns:a16="http://schemas.microsoft.com/office/drawing/2014/main" id="{5592E212-B17C-B885-960C-24BEF923AA79}"/>
              </a:ext>
            </a:extLst>
          </p:cNvPr>
          <p:cNvSpPr/>
          <p:nvPr/>
        </p:nvSpPr>
        <p:spPr>
          <a:xfrm>
            <a:off x="3056021" y="5415961"/>
            <a:ext cx="1305426" cy="172708"/>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6DE3DE6F-05C8-8E49-F79B-233BC4AB4DEE}"/>
              </a:ext>
            </a:extLst>
          </p:cNvPr>
          <p:cNvCxnSpPr>
            <a:cxnSpLocks/>
          </p:cNvCxnSpPr>
          <p:nvPr/>
        </p:nvCxnSpPr>
        <p:spPr>
          <a:xfrm flipH="1">
            <a:off x="516352" y="5529502"/>
            <a:ext cx="2539669" cy="3209"/>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43E55B82-F5A3-FD17-BD2B-A8F362B5FE7F}"/>
              </a:ext>
            </a:extLst>
          </p:cNvPr>
          <p:cNvCxnSpPr>
            <a:cxnSpLocks/>
            <a:endCxn id="14" idx="2"/>
          </p:cNvCxnSpPr>
          <p:nvPr/>
        </p:nvCxnSpPr>
        <p:spPr>
          <a:xfrm flipH="1" flipV="1">
            <a:off x="3708734" y="4601502"/>
            <a:ext cx="11409" cy="814459"/>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Rounded Corners 13">
            <a:extLst>
              <a:ext uri="{FF2B5EF4-FFF2-40B4-BE49-F238E27FC236}">
                <a16:creationId xmlns:a16="http://schemas.microsoft.com/office/drawing/2014/main" id="{20E66ED5-242B-0DF5-3CA9-78595991B569}"/>
              </a:ext>
            </a:extLst>
          </p:cNvPr>
          <p:cNvSpPr/>
          <p:nvPr/>
        </p:nvSpPr>
        <p:spPr>
          <a:xfrm>
            <a:off x="3056021" y="4428794"/>
            <a:ext cx="1305426" cy="172708"/>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5178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28FC5-28D2-7EA6-D32F-77AEE1F60B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4707C1-E557-90FF-FE36-C4CE66C03AF9}"/>
              </a:ext>
            </a:extLst>
          </p:cNvPr>
          <p:cNvSpPr>
            <a:spLocks noGrp="1"/>
          </p:cNvSpPr>
          <p:nvPr>
            <p:ph type="title"/>
          </p:nvPr>
        </p:nvSpPr>
        <p:spPr/>
        <p:txBody>
          <a:bodyPr/>
          <a:lstStyle/>
          <a:p>
            <a:r>
              <a:rPr lang="en-US" dirty="0"/>
              <a:t>Step 3: Determine </a:t>
            </a:r>
            <a:r>
              <a:rPr lang="en-US" i="1" dirty="0"/>
              <a:t>a priori</a:t>
            </a:r>
            <a:r>
              <a:rPr lang="en-US" dirty="0"/>
              <a:t> Criteria</a:t>
            </a:r>
          </a:p>
        </p:txBody>
      </p:sp>
      <p:sp>
        <p:nvSpPr>
          <p:cNvPr id="3" name="Content Placeholder 2">
            <a:extLst>
              <a:ext uri="{FF2B5EF4-FFF2-40B4-BE49-F238E27FC236}">
                <a16:creationId xmlns:a16="http://schemas.microsoft.com/office/drawing/2014/main" id="{1CC35B6A-23A6-9B82-2440-4C0175A76A24}"/>
              </a:ext>
            </a:extLst>
          </p:cNvPr>
          <p:cNvSpPr>
            <a:spLocks noGrp="1"/>
          </p:cNvSpPr>
          <p:nvPr>
            <p:ph idx="1"/>
          </p:nvPr>
        </p:nvSpPr>
        <p:spPr>
          <a:xfrm>
            <a:off x="838201" y="1825624"/>
            <a:ext cx="5763882" cy="5032375"/>
          </a:xfrm>
        </p:spPr>
        <p:txBody>
          <a:bodyPr>
            <a:normAutofit/>
          </a:bodyPr>
          <a:lstStyle/>
          <a:p>
            <a:pPr marL="0" indent="0">
              <a:buNone/>
            </a:pPr>
            <a:r>
              <a:rPr lang="en-US" b="1" i="1" dirty="0"/>
              <a:t>Z</a:t>
            </a:r>
            <a:r>
              <a:rPr lang="en-US" b="1" dirty="0"/>
              <a:t>(crit)</a:t>
            </a:r>
            <a:r>
              <a:rPr lang="en-US" dirty="0"/>
              <a:t>: The z-score cut-off to determine whether something is the same or different</a:t>
            </a:r>
          </a:p>
          <a:p>
            <a:r>
              <a:rPr lang="en-US" dirty="0"/>
              <a:t>Two-Tailed </a:t>
            </a:r>
            <a:r>
              <a:rPr lang="en-US" i="1" dirty="0"/>
              <a:t>z</a:t>
            </a:r>
            <a:r>
              <a:rPr lang="en-US" dirty="0"/>
              <a:t>(crit): </a:t>
            </a:r>
            <a:r>
              <a:rPr lang="en-CA" dirty="0"/>
              <a:t>±</a:t>
            </a:r>
            <a:r>
              <a:rPr lang="en-US" dirty="0"/>
              <a:t>1.96</a:t>
            </a:r>
          </a:p>
          <a:p>
            <a:pPr lvl="1"/>
            <a:r>
              <a:rPr lang="en-US" i="1" dirty="0"/>
              <a:t>p</a:t>
            </a:r>
            <a:r>
              <a:rPr lang="en-US" dirty="0"/>
              <a:t>(α) = .05/2 = .0250</a:t>
            </a:r>
          </a:p>
          <a:p>
            <a:pPr lvl="2"/>
            <a:r>
              <a:rPr lang="en-US" dirty="0"/>
              <a:t>1 - .0250 = .9750</a:t>
            </a:r>
          </a:p>
        </p:txBody>
      </p:sp>
      <p:pic>
        <p:nvPicPr>
          <p:cNvPr id="6" name="Picture 5" descr="A picture containing graphical user interface&#10;&#10;Description automatically generated">
            <a:extLst>
              <a:ext uri="{FF2B5EF4-FFF2-40B4-BE49-F238E27FC236}">
                <a16:creationId xmlns:a16="http://schemas.microsoft.com/office/drawing/2014/main" id="{54C617DB-CB3A-AF69-DD8B-6A4869516E97}"/>
              </a:ext>
            </a:extLst>
          </p:cNvPr>
          <p:cNvPicPr>
            <a:picLocks noChangeAspect="1"/>
          </p:cNvPicPr>
          <p:nvPr/>
        </p:nvPicPr>
        <p:blipFill rotWithShape="1">
          <a:blip r:embed="rId2"/>
          <a:srcRect r="56493"/>
          <a:stretch/>
        </p:blipFill>
        <p:spPr>
          <a:xfrm>
            <a:off x="6602083" y="1345769"/>
            <a:ext cx="5400675" cy="2797605"/>
          </a:xfrm>
          <a:prstGeom prst="rect">
            <a:avLst/>
          </a:prstGeom>
        </p:spPr>
      </p:pic>
      <p:pic>
        <p:nvPicPr>
          <p:cNvPr id="7" name="Picture 6" descr="A picture containing graphical user interface&#10;&#10;Description automatically generated">
            <a:extLst>
              <a:ext uri="{FF2B5EF4-FFF2-40B4-BE49-F238E27FC236}">
                <a16:creationId xmlns:a16="http://schemas.microsoft.com/office/drawing/2014/main" id="{D4BF2884-B6E7-6F85-5AEF-219F0EC425FE}"/>
              </a:ext>
            </a:extLst>
          </p:cNvPr>
          <p:cNvPicPr>
            <a:picLocks noChangeAspect="1"/>
          </p:cNvPicPr>
          <p:nvPr/>
        </p:nvPicPr>
        <p:blipFill rotWithShape="1">
          <a:blip r:embed="rId2"/>
          <a:srcRect l="56493" t="-1119" b="1119"/>
          <a:stretch/>
        </p:blipFill>
        <p:spPr>
          <a:xfrm>
            <a:off x="6602082" y="4056061"/>
            <a:ext cx="5400675" cy="2797605"/>
          </a:xfrm>
          <a:prstGeom prst="rect">
            <a:avLst/>
          </a:prstGeom>
        </p:spPr>
      </p:pic>
      <p:grpSp>
        <p:nvGrpSpPr>
          <p:cNvPr id="9" name="Group 8">
            <a:extLst>
              <a:ext uri="{FF2B5EF4-FFF2-40B4-BE49-F238E27FC236}">
                <a16:creationId xmlns:a16="http://schemas.microsoft.com/office/drawing/2014/main" id="{5D8C43C6-3426-3097-14FF-3C3E51AE0B60}"/>
              </a:ext>
            </a:extLst>
          </p:cNvPr>
          <p:cNvGrpSpPr/>
          <p:nvPr/>
        </p:nvGrpSpPr>
        <p:grpSpPr>
          <a:xfrm>
            <a:off x="189242" y="3970593"/>
            <a:ext cx="6412840" cy="2538154"/>
            <a:chOff x="4939792" y="4188228"/>
            <a:chExt cx="6412840" cy="2538154"/>
          </a:xfrm>
        </p:grpSpPr>
        <p:pic>
          <p:nvPicPr>
            <p:cNvPr id="12" name="Picture 11">
              <a:extLst>
                <a:ext uri="{FF2B5EF4-FFF2-40B4-BE49-F238E27FC236}">
                  <a16:creationId xmlns:a16="http://schemas.microsoft.com/office/drawing/2014/main" id="{3AB9F50F-0A55-D226-9A73-506D1D1495A3}"/>
                </a:ext>
              </a:extLst>
            </p:cNvPr>
            <p:cNvPicPr>
              <a:picLocks noChangeAspect="1"/>
            </p:cNvPicPr>
            <p:nvPr/>
          </p:nvPicPr>
          <p:blipFill>
            <a:blip r:embed="rId3"/>
            <a:srcRect t="39660" r="19082" b="42529"/>
            <a:stretch>
              <a:fillRect/>
            </a:stretch>
          </p:blipFill>
          <p:spPr>
            <a:xfrm>
              <a:off x="4939792" y="5387080"/>
              <a:ext cx="6412839" cy="1339302"/>
            </a:xfrm>
            <a:prstGeom prst="rect">
              <a:avLst/>
            </a:prstGeom>
          </p:spPr>
        </p:pic>
        <p:pic>
          <p:nvPicPr>
            <p:cNvPr id="15" name="Picture 14">
              <a:extLst>
                <a:ext uri="{FF2B5EF4-FFF2-40B4-BE49-F238E27FC236}">
                  <a16:creationId xmlns:a16="http://schemas.microsoft.com/office/drawing/2014/main" id="{1D879F84-68F9-BF47-5AC1-8D4A8982166F}"/>
                </a:ext>
              </a:extLst>
            </p:cNvPr>
            <p:cNvPicPr>
              <a:picLocks noChangeAspect="1"/>
            </p:cNvPicPr>
            <p:nvPr/>
          </p:nvPicPr>
          <p:blipFill>
            <a:blip r:embed="rId3"/>
            <a:srcRect t="-12374" r="19082" b="96246"/>
            <a:stretch>
              <a:fillRect/>
            </a:stretch>
          </p:blipFill>
          <p:spPr>
            <a:xfrm>
              <a:off x="4939796" y="4188228"/>
              <a:ext cx="6412836" cy="1212706"/>
            </a:xfrm>
            <a:prstGeom prst="rect">
              <a:avLst/>
            </a:prstGeom>
          </p:spPr>
        </p:pic>
      </p:grpSp>
      <p:sp>
        <p:nvSpPr>
          <p:cNvPr id="16" name="Rectangle: Rounded Corners 15">
            <a:extLst>
              <a:ext uri="{FF2B5EF4-FFF2-40B4-BE49-F238E27FC236}">
                <a16:creationId xmlns:a16="http://schemas.microsoft.com/office/drawing/2014/main" id="{65884AA8-43C7-6BA5-309E-8211ED5AE35A}"/>
              </a:ext>
            </a:extLst>
          </p:cNvPr>
          <p:cNvSpPr/>
          <p:nvPr/>
        </p:nvSpPr>
        <p:spPr>
          <a:xfrm>
            <a:off x="5179595" y="6142132"/>
            <a:ext cx="757742" cy="172708"/>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914B5FD7-F11B-9847-F476-3D113C702E52}"/>
              </a:ext>
            </a:extLst>
          </p:cNvPr>
          <p:cNvCxnSpPr>
            <a:cxnSpLocks/>
          </p:cNvCxnSpPr>
          <p:nvPr/>
        </p:nvCxnSpPr>
        <p:spPr>
          <a:xfrm flipH="1">
            <a:off x="962526" y="6260895"/>
            <a:ext cx="4217068"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32D11F6F-15EA-5FA3-B73D-EDDA7111F3C4}"/>
              </a:ext>
            </a:extLst>
          </p:cNvPr>
          <p:cNvCxnSpPr>
            <a:cxnSpLocks/>
          </p:cNvCxnSpPr>
          <p:nvPr/>
        </p:nvCxnSpPr>
        <p:spPr>
          <a:xfrm flipH="1" flipV="1">
            <a:off x="5609727" y="5318235"/>
            <a:ext cx="11409" cy="814459"/>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Rectangle: Rounded Corners 18">
            <a:extLst>
              <a:ext uri="{FF2B5EF4-FFF2-40B4-BE49-F238E27FC236}">
                <a16:creationId xmlns:a16="http://schemas.microsoft.com/office/drawing/2014/main" id="{94C68403-856E-4437-7D42-88B9C4877932}"/>
              </a:ext>
            </a:extLst>
          </p:cNvPr>
          <p:cNvSpPr/>
          <p:nvPr/>
        </p:nvSpPr>
        <p:spPr>
          <a:xfrm>
            <a:off x="5179595" y="4975537"/>
            <a:ext cx="757742" cy="184469"/>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6490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9"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62DB2-C2C4-DF15-5BC5-221D6F4C59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F787E9-DD34-5768-6343-2A401FBA3934}"/>
              </a:ext>
            </a:extLst>
          </p:cNvPr>
          <p:cNvSpPr>
            <a:spLocks noGrp="1"/>
          </p:cNvSpPr>
          <p:nvPr>
            <p:ph type="title"/>
          </p:nvPr>
        </p:nvSpPr>
        <p:spPr/>
        <p:txBody>
          <a:bodyPr/>
          <a:lstStyle/>
          <a:p>
            <a:r>
              <a:rPr lang="en-US" dirty="0"/>
              <a:t>Step 3: Determine </a:t>
            </a:r>
            <a:r>
              <a:rPr lang="en-US" i="1" dirty="0"/>
              <a:t>a priori</a:t>
            </a:r>
            <a:r>
              <a:rPr lang="en-US" dirty="0"/>
              <a:t> Criteria</a:t>
            </a:r>
          </a:p>
        </p:txBody>
      </p:sp>
      <p:sp>
        <p:nvSpPr>
          <p:cNvPr id="3" name="Content Placeholder 2">
            <a:extLst>
              <a:ext uri="{FF2B5EF4-FFF2-40B4-BE49-F238E27FC236}">
                <a16:creationId xmlns:a16="http://schemas.microsoft.com/office/drawing/2014/main" id="{90E3CF98-634B-9BF7-931B-8C27C6635990}"/>
              </a:ext>
            </a:extLst>
          </p:cNvPr>
          <p:cNvSpPr>
            <a:spLocks noGrp="1"/>
          </p:cNvSpPr>
          <p:nvPr>
            <p:ph idx="1"/>
          </p:nvPr>
        </p:nvSpPr>
        <p:spPr>
          <a:xfrm>
            <a:off x="838201" y="1825624"/>
            <a:ext cx="5763882" cy="5032375"/>
          </a:xfrm>
        </p:spPr>
        <p:txBody>
          <a:bodyPr>
            <a:normAutofit/>
          </a:bodyPr>
          <a:lstStyle/>
          <a:p>
            <a:pPr marL="0" indent="0">
              <a:buNone/>
            </a:pPr>
            <a:r>
              <a:rPr lang="en-US" b="1" i="1" dirty="0"/>
              <a:t>Z</a:t>
            </a:r>
            <a:r>
              <a:rPr lang="en-US" b="1" dirty="0"/>
              <a:t>(crit)</a:t>
            </a:r>
            <a:r>
              <a:rPr lang="en-US" dirty="0"/>
              <a:t>: The z-score cut-off to determine whether something is the same or different</a:t>
            </a:r>
          </a:p>
          <a:p>
            <a:r>
              <a:rPr lang="en-US" dirty="0"/>
              <a:t>One-Tailed </a:t>
            </a:r>
            <a:r>
              <a:rPr lang="en-US" i="1" dirty="0"/>
              <a:t>z</a:t>
            </a:r>
            <a:r>
              <a:rPr lang="en-US" dirty="0"/>
              <a:t>(crit): +1.645 OR – 1.645</a:t>
            </a:r>
          </a:p>
          <a:p>
            <a:pPr lvl="1"/>
            <a:r>
              <a:rPr lang="en-US" i="1" dirty="0"/>
              <a:t>p</a:t>
            </a:r>
            <a:r>
              <a:rPr lang="en-US" dirty="0"/>
              <a:t>(α) = .05</a:t>
            </a:r>
          </a:p>
          <a:p>
            <a:pPr lvl="2"/>
            <a:r>
              <a:rPr lang="en-US" dirty="0"/>
              <a:t>1 - .0500 = .9500</a:t>
            </a:r>
          </a:p>
        </p:txBody>
      </p:sp>
      <p:pic>
        <p:nvPicPr>
          <p:cNvPr id="6" name="Picture 5" descr="A picture containing graphical user interface&#10;&#10;Description automatically generated">
            <a:extLst>
              <a:ext uri="{FF2B5EF4-FFF2-40B4-BE49-F238E27FC236}">
                <a16:creationId xmlns:a16="http://schemas.microsoft.com/office/drawing/2014/main" id="{4DF58820-C811-01FB-AA6A-F67A3856B322}"/>
              </a:ext>
            </a:extLst>
          </p:cNvPr>
          <p:cNvPicPr>
            <a:picLocks noChangeAspect="1"/>
          </p:cNvPicPr>
          <p:nvPr/>
        </p:nvPicPr>
        <p:blipFill rotWithShape="1">
          <a:blip r:embed="rId2"/>
          <a:srcRect r="56493"/>
          <a:stretch/>
        </p:blipFill>
        <p:spPr>
          <a:xfrm>
            <a:off x="6602083" y="1345769"/>
            <a:ext cx="5400675" cy="2797605"/>
          </a:xfrm>
          <a:prstGeom prst="rect">
            <a:avLst/>
          </a:prstGeom>
        </p:spPr>
      </p:pic>
      <p:pic>
        <p:nvPicPr>
          <p:cNvPr id="7" name="Picture 6" descr="A picture containing graphical user interface&#10;&#10;Description automatically generated">
            <a:extLst>
              <a:ext uri="{FF2B5EF4-FFF2-40B4-BE49-F238E27FC236}">
                <a16:creationId xmlns:a16="http://schemas.microsoft.com/office/drawing/2014/main" id="{BD4BA446-580D-D376-56D1-5A218170B1CD}"/>
              </a:ext>
            </a:extLst>
          </p:cNvPr>
          <p:cNvPicPr>
            <a:picLocks noChangeAspect="1"/>
          </p:cNvPicPr>
          <p:nvPr/>
        </p:nvPicPr>
        <p:blipFill rotWithShape="1">
          <a:blip r:embed="rId2"/>
          <a:srcRect l="56493" t="-1119" b="1119"/>
          <a:stretch/>
        </p:blipFill>
        <p:spPr>
          <a:xfrm>
            <a:off x="6602082" y="4056061"/>
            <a:ext cx="5400675" cy="2797605"/>
          </a:xfrm>
          <a:prstGeom prst="rect">
            <a:avLst/>
          </a:prstGeom>
        </p:spPr>
      </p:pic>
      <p:grpSp>
        <p:nvGrpSpPr>
          <p:cNvPr id="9" name="Group 8">
            <a:extLst>
              <a:ext uri="{FF2B5EF4-FFF2-40B4-BE49-F238E27FC236}">
                <a16:creationId xmlns:a16="http://schemas.microsoft.com/office/drawing/2014/main" id="{D739D36B-A56F-47D9-E910-B4954D561509}"/>
              </a:ext>
            </a:extLst>
          </p:cNvPr>
          <p:cNvGrpSpPr/>
          <p:nvPr/>
        </p:nvGrpSpPr>
        <p:grpSpPr>
          <a:xfrm>
            <a:off x="189242" y="3970593"/>
            <a:ext cx="6412840" cy="2538154"/>
            <a:chOff x="4939792" y="4188228"/>
            <a:chExt cx="6412840" cy="2538154"/>
          </a:xfrm>
        </p:grpSpPr>
        <p:pic>
          <p:nvPicPr>
            <p:cNvPr id="12" name="Picture 11">
              <a:extLst>
                <a:ext uri="{FF2B5EF4-FFF2-40B4-BE49-F238E27FC236}">
                  <a16:creationId xmlns:a16="http://schemas.microsoft.com/office/drawing/2014/main" id="{C2B38C08-211A-EAC0-4021-55AFE6F3DD31}"/>
                </a:ext>
              </a:extLst>
            </p:cNvPr>
            <p:cNvPicPr>
              <a:picLocks noChangeAspect="1"/>
            </p:cNvPicPr>
            <p:nvPr/>
          </p:nvPicPr>
          <p:blipFill>
            <a:blip r:embed="rId3"/>
            <a:srcRect t="39660" r="19082" b="42529"/>
            <a:stretch>
              <a:fillRect/>
            </a:stretch>
          </p:blipFill>
          <p:spPr>
            <a:xfrm>
              <a:off x="4939792" y="5387080"/>
              <a:ext cx="6412839" cy="1339302"/>
            </a:xfrm>
            <a:prstGeom prst="rect">
              <a:avLst/>
            </a:prstGeom>
          </p:spPr>
        </p:pic>
        <p:pic>
          <p:nvPicPr>
            <p:cNvPr id="15" name="Picture 14">
              <a:extLst>
                <a:ext uri="{FF2B5EF4-FFF2-40B4-BE49-F238E27FC236}">
                  <a16:creationId xmlns:a16="http://schemas.microsoft.com/office/drawing/2014/main" id="{A61E5AD6-6087-3C28-2799-C8B06A357A6E}"/>
                </a:ext>
              </a:extLst>
            </p:cNvPr>
            <p:cNvPicPr>
              <a:picLocks noChangeAspect="1"/>
            </p:cNvPicPr>
            <p:nvPr/>
          </p:nvPicPr>
          <p:blipFill>
            <a:blip r:embed="rId3"/>
            <a:srcRect t="-12374" r="19082" b="96246"/>
            <a:stretch>
              <a:fillRect/>
            </a:stretch>
          </p:blipFill>
          <p:spPr>
            <a:xfrm>
              <a:off x="4939796" y="4188228"/>
              <a:ext cx="6412836" cy="1212706"/>
            </a:xfrm>
            <a:prstGeom prst="rect">
              <a:avLst/>
            </a:prstGeom>
          </p:spPr>
        </p:pic>
      </p:grpSp>
      <p:sp>
        <p:nvSpPr>
          <p:cNvPr id="16" name="Rectangle: Rounded Corners 15">
            <a:extLst>
              <a:ext uri="{FF2B5EF4-FFF2-40B4-BE49-F238E27FC236}">
                <a16:creationId xmlns:a16="http://schemas.microsoft.com/office/drawing/2014/main" id="{B0D543AA-AE07-A6A8-4CE8-C8FFE035C9C4}"/>
              </a:ext>
            </a:extLst>
          </p:cNvPr>
          <p:cNvSpPr/>
          <p:nvPr/>
        </p:nvSpPr>
        <p:spPr>
          <a:xfrm>
            <a:off x="3862382" y="5579238"/>
            <a:ext cx="1348665" cy="146227"/>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E73A74DB-7A79-F013-3E22-073F352BD472}"/>
              </a:ext>
            </a:extLst>
          </p:cNvPr>
          <p:cNvCxnSpPr>
            <a:cxnSpLocks/>
          </p:cNvCxnSpPr>
          <p:nvPr/>
        </p:nvCxnSpPr>
        <p:spPr>
          <a:xfrm flipH="1">
            <a:off x="969914" y="5669781"/>
            <a:ext cx="2868403"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ABE5E7D-95D2-9532-970F-26483FEF694C}"/>
              </a:ext>
            </a:extLst>
          </p:cNvPr>
          <p:cNvCxnSpPr>
            <a:cxnSpLocks/>
          </p:cNvCxnSpPr>
          <p:nvPr/>
        </p:nvCxnSpPr>
        <p:spPr>
          <a:xfrm flipH="1" flipV="1">
            <a:off x="4491666" y="5150458"/>
            <a:ext cx="11409" cy="347974"/>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Rectangle: Rounded Corners 18">
            <a:extLst>
              <a:ext uri="{FF2B5EF4-FFF2-40B4-BE49-F238E27FC236}">
                <a16:creationId xmlns:a16="http://schemas.microsoft.com/office/drawing/2014/main" id="{ED1BA2F8-2D5E-D93C-8A28-0D764BBF92B4}"/>
              </a:ext>
            </a:extLst>
          </p:cNvPr>
          <p:cNvSpPr/>
          <p:nvPr/>
        </p:nvSpPr>
        <p:spPr>
          <a:xfrm>
            <a:off x="241758" y="5557688"/>
            <a:ext cx="757742" cy="184469"/>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C4889F27-9EC8-95C2-95C5-413F380B209D}"/>
              </a:ext>
            </a:extLst>
          </p:cNvPr>
          <p:cNvSpPr/>
          <p:nvPr/>
        </p:nvSpPr>
        <p:spPr>
          <a:xfrm>
            <a:off x="3838317" y="4950200"/>
            <a:ext cx="1348665" cy="225262"/>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71598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9" grpId="0" animBg="1"/>
      <p:bldP spid="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AE6BB-58A8-1546-92D6-2C0306990118}"/>
              </a:ext>
            </a:extLst>
          </p:cNvPr>
          <p:cNvSpPr>
            <a:spLocks noGrp="1"/>
          </p:cNvSpPr>
          <p:nvPr>
            <p:ph type="title"/>
          </p:nvPr>
        </p:nvSpPr>
        <p:spPr/>
        <p:txBody>
          <a:bodyPr/>
          <a:lstStyle/>
          <a:p>
            <a:r>
              <a:rPr lang="en-US" dirty="0"/>
              <a:t>Step 3: Determine </a:t>
            </a:r>
            <a:r>
              <a:rPr lang="en-US" i="1" dirty="0"/>
              <a:t>a priori</a:t>
            </a:r>
            <a:r>
              <a:rPr lang="en-US" dirty="0"/>
              <a:t> Criteria</a:t>
            </a:r>
          </a:p>
        </p:txBody>
      </p:sp>
      <p:sp>
        <p:nvSpPr>
          <p:cNvPr id="3" name="Content Placeholder 2">
            <a:extLst>
              <a:ext uri="{FF2B5EF4-FFF2-40B4-BE49-F238E27FC236}">
                <a16:creationId xmlns:a16="http://schemas.microsoft.com/office/drawing/2014/main" id="{378FCDFA-0D6E-DB41-948F-9A6ED1D0F9DB}"/>
              </a:ext>
            </a:extLst>
          </p:cNvPr>
          <p:cNvSpPr>
            <a:spLocks noGrp="1"/>
          </p:cNvSpPr>
          <p:nvPr>
            <p:ph idx="1"/>
          </p:nvPr>
        </p:nvSpPr>
        <p:spPr>
          <a:xfrm>
            <a:off x="838200" y="1825624"/>
            <a:ext cx="7048499" cy="5032375"/>
          </a:xfrm>
        </p:spPr>
        <p:txBody>
          <a:bodyPr>
            <a:normAutofit/>
          </a:bodyPr>
          <a:lstStyle/>
          <a:p>
            <a:pPr marL="0" indent="0">
              <a:buNone/>
            </a:pPr>
            <a:r>
              <a:rPr lang="en-CA" b="1" dirty="0"/>
              <a:t>Types of Errors:</a:t>
            </a:r>
          </a:p>
          <a:p>
            <a:r>
              <a:rPr lang="en-CA" b="1" dirty="0"/>
              <a:t>Type 1 Error: </a:t>
            </a:r>
            <a:r>
              <a:rPr lang="en-CA" dirty="0"/>
              <a:t>You reject the null when you should not have</a:t>
            </a:r>
          </a:p>
          <a:p>
            <a:pPr lvl="1"/>
            <a:r>
              <a:rPr lang="en-US" dirty="0"/>
              <a:t>Found something by accident</a:t>
            </a:r>
          </a:p>
          <a:p>
            <a:pPr lvl="1"/>
            <a:r>
              <a:rPr lang="en-US" i="1" dirty="0"/>
              <a:t>p</a:t>
            </a:r>
            <a:r>
              <a:rPr lang="en-US" dirty="0"/>
              <a:t>(</a:t>
            </a:r>
            <a:r>
              <a:rPr lang="en-US" dirty="0" err="1"/>
              <a:t>obs</a:t>
            </a:r>
            <a:r>
              <a:rPr lang="en-US" dirty="0"/>
              <a:t>) &lt; .05 but should have been &gt; .05</a:t>
            </a:r>
          </a:p>
          <a:p>
            <a:pPr marL="457200" lvl="1" indent="0">
              <a:buNone/>
            </a:pPr>
            <a:endParaRPr lang="en-US" i="1" dirty="0"/>
          </a:p>
          <a:p>
            <a:pPr lvl="1"/>
            <a:endParaRPr lang="en-US" i="1" dirty="0"/>
          </a:p>
          <a:p>
            <a:pPr lvl="1"/>
            <a:endParaRPr lang="en-US" i="1" dirty="0"/>
          </a:p>
          <a:p>
            <a:pPr marL="457200" lvl="1" indent="0">
              <a:buNone/>
            </a:pPr>
            <a:r>
              <a:rPr lang="en-US" i="1" dirty="0"/>
              <a:t> </a:t>
            </a:r>
          </a:p>
          <a:p>
            <a:pPr lvl="1"/>
            <a:endParaRPr lang="en-US" dirty="0"/>
          </a:p>
          <a:p>
            <a:pPr lvl="1"/>
            <a:endParaRPr lang="en-US" dirty="0"/>
          </a:p>
          <a:p>
            <a:pPr lvl="1"/>
            <a:endParaRPr lang="en-US" dirty="0"/>
          </a:p>
        </p:txBody>
      </p:sp>
      <p:pic>
        <p:nvPicPr>
          <p:cNvPr id="24578" name="Picture 2" descr="Applied Statistics Lesson and Humour of the Day – Type I Error (False  Positive) and Type 2 Error (False Negative) | The Chemical Statistician">
            <a:extLst>
              <a:ext uri="{FF2B5EF4-FFF2-40B4-BE49-F238E27FC236}">
                <a16:creationId xmlns:a16="http://schemas.microsoft.com/office/drawing/2014/main" id="{8BFA156B-D149-1F4A-9673-DA7685CF7A33}"/>
              </a:ext>
            </a:extLst>
          </p:cNvPr>
          <p:cNvPicPr>
            <a:picLocks noChangeAspect="1" noChangeArrowheads="1"/>
          </p:cNvPicPr>
          <p:nvPr/>
        </p:nvPicPr>
        <p:blipFill rotWithShape="1">
          <a:blip r:embed="rId2">
            <a:clrChange>
              <a:clrFrom>
                <a:srgbClr val="E2FFE3"/>
              </a:clrFrom>
              <a:clrTo>
                <a:srgbClr val="E2FFE3">
                  <a:alpha val="0"/>
                </a:srgbClr>
              </a:clrTo>
            </a:clrChange>
            <a:extLst>
              <a:ext uri="{28A0092B-C50C-407E-A947-70E740481C1C}">
                <a14:useLocalDpi xmlns:a14="http://schemas.microsoft.com/office/drawing/2010/main" val="0"/>
              </a:ext>
            </a:extLst>
          </a:blip>
          <a:srcRect r="49709"/>
          <a:stretch>
            <a:fillRect/>
          </a:stretch>
        </p:blipFill>
        <p:spPr bwMode="auto">
          <a:xfrm>
            <a:off x="8815709" y="732677"/>
            <a:ext cx="3376291" cy="503237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picture containing graphical user interface&#10;&#10;Description automatically generated">
            <a:extLst>
              <a:ext uri="{FF2B5EF4-FFF2-40B4-BE49-F238E27FC236}">
                <a16:creationId xmlns:a16="http://schemas.microsoft.com/office/drawing/2014/main" id="{28DBDA3F-8FCC-E542-4E39-933571713E96}"/>
              </a:ext>
            </a:extLst>
          </p:cNvPr>
          <p:cNvPicPr>
            <a:picLocks noChangeAspect="1"/>
          </p:cNvPicPr>
          <p:nvPr/>
        </p:nvPicPr>
        <p:blipFill rotWithShape="1">
          <a:blip r:embed="rId3"/>
          <a:srcRect l="56493" t="17798" b="1119"/>
          <a:stretch>
            <a:fillRect/>
          </a:stretch>
        </p:blipFill>
        <p:spPr>
          <a:xfrm>
            <a:off x="2627651" y="4224473"/>
            <a:ext cx="6125323" cy="2572770"/>
          </a:xfrm>
          <a:prstGeom prst="rect">
            <a:avLst/>
          </a:prstGeom>
        </p:spPr>
      </p:pic>
      <p:sp>
        <p:nvSpPr>
          <p:cNvPr id="6" name="Arrow: Right 5">
            <a:extLst>
              <a:ext uri="{FF2B5EF4-FFF2-40B4-BE49-F238E27FC236}">
                <a16:creationId xmlns:a16="http://schemas.microsoft.com/office/drawing/2014/main" id="{73525329-4A96-86E7-93B8-2C67807A9B70}"/>
              </a:ext>
            </a:extLst>
          </p:cNvPr>
          <p:cNvSpPr/>
          <p:nvPr/>
        </p:nvSpPr>
        <p:spPr>
          <a:xfrm rot="5400000">
            <a:off x="6656621" y="5429646"/>
            <a:ext cx="1293093" cy="162426"/>
          </a:xfrm>
          <a:prstGeom prst="rightArrow">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rrow: Right 7">
            <a:extLst>
              <a:ext uri="{FF2B5EF4-FFF2-40B4-BE49-F238E27FC236}">
                <a16:creationId xmlns:a16="http://schemas.microsoft.com/office/drawing/2014/main" id="{F9B8AFF8-2420-38CA-C7BD-C274BB948287}"/>
              </a:ext>
            </a:extLst>
          </p:cNvPr>
          <p:cNvSpPr/>
          <p:nvPr/>
        </p:nvSpPr>
        <p:spPr>
          <a:xfrm rot="5400000">
            <a:off x="5082866" y="5445549"/>
            <a:ext cx="1293093" cy="162426"/>
          </a:xfrm>
          <a:prstGeom prst="rightArrow">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Arrow: Right 9">
            <a:extLst>
              <a:ext uri="{FF2B5EF4-FFF2-40B4-BE49-F238E27FC236}">
                <a16:creationId xmlns:a16="http://schemas.microsoft.com/office/drawing/2014/main" id="{D9E6BD14-B081-16D1-D7B3-F488EB0A280F}"/>
              </a:ext>
            </a:extLst>
          </p:cNvPr>
          <p:cNvSpPr/>
          <p:nvPr/>
        </p:nvSpPr>
        <p:spPr>
          <a:xfrm>
            <a:off x="93406" y="5429645"/>
            <a:ext cx="682059" cy="162426"/>
          </a:xfrm>
          <a:prstGeom prst="rightArrow">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397FE0B1-2DF6-A0D4-97C4-1ACEE9B36096}"/>
              </a:ext>
            </a:extLst>
          </p:cNvPr>
          <p:cNvSpPr txBox="1"/>
          <p:nvPr/>
        </p:nvSpPr>
        <p:spPr>
          <a:xfrm>
            <a:off x="838200" y="5326192"/>
            <a:ext cx="1733103" cy="369332"/>
          </a:xfrm>
          <a:prstGeom prst="rect">
            <a:avLst/>
          </a:prstGeom>
          <a:noFill/>
        </p:spPr>
        <p:txBody>
          <a:bodyPr wrap="none" rtlCol="0">
            <a:spAutoFit/>
          </a:bodyPr>
          <a:lstStyle/>
          <a:p>
            <a:r>
              <a:rPr lang="en-US" b="1" dirty="0">
                <a:solidFill>
                  <a:srgbClr val="FF0000"/>
                </a:solidFill>
              </a:rPr>
              <a:t>What you found</a:t>
            </a:r>
          </a:p>
        </p:txBody>
      </p:sp>
      <p:sp>
        <p:nvSpPr>
          <p:cNvPr id="13" name="Arrow: Right 12">
            <a:extLst>
              <a:ext uri="{FF2B5EF4-FFF2-40B4-BE49-F238E27FC236}">
                <a16:creationId xmlns:a16="http://schemas.microsoft.com/office/drawing/2014/main" id="{0C72B476-4567-AC8E-FB07-220E735657DA}"/>
              </a:ext>
            </a:extLst>
          </p:cNvPr>
          <p:cNvSpPr/>
          <p:nvPr/>
        </p:nvSpPr>
        <p:spPr>
          <a:xfrm>
            <a:off x="93406" y="6010882"/>
            <a:ext cx="682059" cy="162426"/>
          </a:xfrm>
          <a:prstGeom prst="rightArrow">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4CC6EA6B-FD10-7A7A-503E-45E48125538F}"/>
              </a:ext>
            </a:extLst>
          </p:cNvPr>
          <p:cNvSpPr txBox="1"/>
          <p:nvPr/>
        </p:nvSpPr>
        <p:spPr>
          <a:xfrm>
            <a:off x="838200" y="5907429"/>
            <a:ext cx="1810304" cy="646331"/>
          </a:xfrm>
          <a:prstGeom prst="rect">
            <a:avLst/>
          </a:prstGeom>
          <a:noFill/>
        </p:spPr>
        <p:txBody>
          <a:bodyPr wrap="none" rtlCol="0">
            <a:spAutoFit/>
          </a:bodyPr>
          <a:lstStyle/>
          <a:p>
            <a:r>
              <a:rPr lang="en-US" b="1" dirty="0">
                <a:solidFill>
                  <a:schemeClr val="accent6"/>
                </a:solidFill>
              </a:rPr>
              <a:t>What you should</a:t>
            </a:r>
          </a:p>
          <a:p>
            <a:r>
              <a:rPr lang="en-US" b="1" dirty="0">
                <a:solidFill>
                  <a:schemeClr val="accent6"/>
                </a:solidFill>
              </a:rPr>
              <a:t>have found</a:t>
            </a:r>
          </a:p>
        </p:txBody>
      </p:sp>
    </p:spTree>
    <p:extLst>
      <p:ext uri="{BB962C8B-B14F-4D97-AF65-F5344CB8AC3E}">
        <p14:creationId xmlns:p14="http://schemas.microsoft.com/office/powerpoint/2010/main" val="2081572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1" grpId="0"/>
      <p:bldP spid="13" grpId="0" animBg="1"/>
      <p:bldP spid="1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C7003-3262-CD51-8B5B-5A15830890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8297FC-160D-F61F-5F5C-7580FFD64432}"/>
              </a:ext>
            </a:extLst>
          </p:cNvPr>
          <p:cNvSpPr>
            <a:spLocks noGrp="1"/>
          </p:cNvSpPr>
          <p:nvPr>
            <p:ph type="title"/>
          </p:nvPr>
        </p:nvSpPr>
        <p:spPr/>
        <p:txBody>
          <a:bodyPr/>
          <a:lstStyle/>
          <a:p>
            <a:r>
              <a:rPr lang="en-US" dirty="0"/>
              <a:t>Step 3: Determine </a:t>
            </a:r>
            <a:r>
              <a:rPr lang="en-US" i="1" dirty="0"/>
              <a:t>a priori</a:t>
            </a:r>
            <a:r>
              <a:rPr lang="en-US" dirty="0"/>
              <a:t> Criteria</a:t>
            </a:r>
          </a:p>
        </p:txBody>
      </p:sp>
      <p:sp>
        <p:nvSpPr>
          <p:cNvPr id="3" name="Content Placeholder 2">
            <a:extLst>
              <a:ext uri="{FF2B5EF4-FFF2-40B4-BE49-F238E27FC236}">
                <a16:creationId xmlns:a16="http://schemas.microsoft.com/office/drawing/2014/main" id="{FFE145AE-90F5-E781-B891-3E14ED1BC143}"/>
              </a:ext>
            </a:extLst>
          </p:cNvPr>
          <p:cNvSpPr>
            <a:spLocks noGrp="1"/>
          </p:cNvSpPr>
          <p:nvPr>
            <p:ph idx="1"/>
          </p:nvPr>
        </p:nvSpPr>
        <p:spPr>
          <a:xfrm>
            <a:off x="838200" y="1825624"/>
            <a:ext cx="7048499" cy="5032375"/>
          </a:xfrm>
        </p:spPr>
        <p:txBody>
          <a:bodyPr>
            <a:normAutofit/>
          </a:bodyPr>
          <a:lstStyle/>
          <a:p>
            <a:pPr marL="0" indent="0">
              <a:buNone/>
            </a:pPr>
            <a:r>
              <a:rPr lang="en-CA" b="1" dirty="0"/>
              <a:t>Types of Errors:</a:t>
            </a:r>
            <a:endParaRPr lang="en-US" i="1" dirty="0"/>
          </a:p>
          <a:p>
            <a:r>
              <a:rPr lang="en-CA" b="1" dirty="0"/>
              <a:t>Type 2 Error: </a:t>
            </a:r>
            <a:r>
              <a:rPr lang="en-CA" dirty="0"/>
              <a:t>You retained the null when you should not have</a:t>
            </a:r>
          </a:p>
          <a:p>
            <a:pPr lvl="1"/>
            <a:r>
              <a:rPr lang="en-US" dirty="0"/>
              <a:t>You missed something by accident</a:t>
            </a:r>
          </a:p>
          <a:p>
            <a:pPr lvl="1"/>
            <a:r>
              <a:rPr lang="en-US" i="1" dirty="0"/>
              <a:t>p</a:t>
            </a:r>
            <a:r>
              <a:rPr lang="en-US" dirty="0"/>
              <a:t>(</a:t>
            </a:r>
            <a:r>
              <a:rPr lang="en-US" dirty="0" err="1"/>
              <a:t>obs</a:t>
            </a:r>
            <a:r>
              <a:rPr lang="en-US" dirty="0"/>
              <a:t>) &gt; .05 but should have been &lt; .05</a:t>
            </a:r>
          </a:p>
          <a:p>
            <a:pPr lvl="1"/>
            <a:endParaRPr lang="en-US" i="1" dirty="0"/>
          </a:p>
          <a:p>
            <a:pPr lvl="1"/>
            <a:endParaRPr lang="en-US" i="1" dirty="0"/>
          </a:p>
          <a:p>
            <a:pPr lvl="1"/>
            <a:endParaRPr lang="en-US" i="1" dirty="0"/>
          </a:p>
          <a:p>
            <a:pPr marL="457200" lvl="1" indent="0">
              <a:buNone/>
            </a:pPr>
            <a:r>
              <a:rPr lang="en-US" i="1" dirty="0"/>
              <a:t> </a:t>
            </a:r>
          </a:p>
          <a:p>
            <a:pPr lvl="1"/>
            <a:endParaRPr lang="en-US" dirty="0"/>
          </a:p>
          <a:p>
            <a:pPr lvl="1"/>
            <a:endParaRPr lang="en-US" dirty="0"/>
          </a:p>
          <a:p>
            <a:pPr lvl="1"/>
            <a:endParaRPr lang="en-US" dirty="0"/>
          </a:p>
        </p:txBody>
      </p:sp>
      <p:pic>
        <p:nvPicPr>
          <p:cNvPr id="4" name="Picture 3" descr="A picture containing graphical user interface&#10;&#10;Description automatically generated">
            <a:extLst>
              <a:ext uri="{FF2B5EF4-FFF2-40B4-BE49-F238E27FC236}">
                <a16:creationId xmlns:a16="http://schemas.microsoft.com/office/drawing/2014/main" id="{CDB8382C-ECEA-CEB6-CFE7-918B8BDEB84E}"/>
              </a:ext>
            </a:extLst>
          </p:cNvPr>
          <p:cNvPicPr>
            <a:picLocks noChangeAspect="1"/>
          </p:cNvPicPr>
          <p:nvPr/>
        </p:nvPicPr>
        <p:blipFill rotWithShape="1">
          <a:blip r:embed="rId2"/>
          <a:srcRect l="56493" t="17798" b="1119"/>
          <a:stretch>
            <a:fillRect/>
          </a:stretch>
        </p:blipFill>
        <p:spPr>
          <a:xfrm>
            <a:off x="2627651" y="4224473"/>
            <a:ext cx="6125323" cy="2572770"/>
          </a:xfrm>
          <a:prstGeom prst="rect">
            <a:avLst/>
          </a:prstGeom>
        </p:spPr>
      </p:pic>
      <p:sp>
        <p:nvSpPr>
          <p:cNvPr id="5" name="Arrow: Right 4">
            <a:extLst>
              <a:ext uri="{FF2B5EF4-FFF2-40B4-BE49-F238E27FC236}">
                <a16:creationId xmlns:a16="http://schemas.microsoft.com/office/drawing/2014/main" id="{9D61E91E-F278-E58A-8C71-222C99691B84}"/>
              </a:ext>
            </a:extLst>
          </p:cNvPr>
          <p:cNvSpPr/>
          <p:nvPr/>
        </p:nvSpPr>
        <p:spPr>
          <a:xfrm rot="5400000">
            <a:off x="5100914" y="5415866"/>
            <a:ext cx="1293093" cy="162426"/>
          </a:xfrm>
          <a:prstGeom prst="rightArrow">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rrow: Right 5">
            <a:extLst>
              <a:ext uri="{FF2B5EF4-FFF2-40B4-BE49-F238E27FC236}">
                <a16:creationId xmlns:a16="http://schemas.microsoft.com/office/drawing/2014/main" id="{CF29BBAA-12EB-E0C8-D554-D1E8A63F281F}"/>
              </a:ext>
            </a:extLst>
          </p:cNvPr>
          <p:cNvSpPr/>
          <p:nvPr/>
        </p:nvSpPr>
        <p:spPr>
          <a:xfrm rot="5400000">
            <a:off x="6675771" y="5415866"/>
            <a:ext cx="1293093" cy="162426"/>
          </a:xfrm>
          <a:prstGeom prst="rightArrow">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Arrow: Right 6">
            <a:extLst>
              <a:ext uri="{FF2B5EF4-FFF2-40B4-BE49-F238E27FC236}">
                <a16:creationId xmlns:a16="http://schemas.microsoft.com/office/drawing/2014/main" id="{4ADA3148-D8BD-CF14-704A-6F3F6DE5A18A}"/>
              </a:ext>
            </a:extLst>
          </p:cNvPr>
          <p:cNvSpPr/>
          <p:nvPr/>
        </p:nvSpPr>
        <p:spPr>
          <a:xfrm>
            <a:off x="93406" y="5429645"/>
            <a:ext cx="682059" cy="162426"/>
          </a:xfrm>
          <a:prstGeom prst="rightArrow">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D6EFBCA-49A7-96F7-7418-9D51ABEF5C4B}"/>
              </a:ext>
            </a:extLst>
          </p:cNvPr>
          <p:cNvSpPr txBox="1"/>
          <p:nvPr/>
        </p:nvSpPr>
        <p:spPr>
          <a:xfrm>
            <a:off x="838200" y="5326192"/>
            <a:ext cx="1733103" cy="369332"/>
          </a:xfrm>
          <a:prstGeom prst="rect">
            <a:avLst/>
          </a:prstGeom>
          <a:noFill/>
        </p:spPr>
        <p:txBody>
          <a:bodyPr wrap="none" rtlCol="0">
            <a:spAutoFit/>
          </a:bodyPr>
          <a:lstStyle/>
          <a:p>
            <a:r>
              <a:rPr lang="en-US" b="1" dirty="0">
                <a:solidFill>
                  <a:srgbClr val="FF0000"/>
                </a:solidFill>
              </a:rPr>
              <a:t>What you found</a:t>
            </a:r>
          </a:p>
        </p:txBody>
      </p:sp>
      <p:sp>
        <p:nvSpPr>
          <p:cNvPr id="9" name="Arrow: Right 8">
            <a:extLst>
              <a:ext uri="{FF2B5EF4-FFF2-40B4-BE49-F238E27FC236}">
                <a16:creationId xmlns:a16="http://schemas.microsoft.com/office/drawing/2014/main" id="{543CFBDD-449E-D29E-165F-9F43F6E0EFE6}"/>
              </a:ext>
            </a:extLst>
          </p:cNvPr>
          <p:cNvSpPr/>
          <p:nvPr/>
        </p:nvSpPr>
        <p:spPr>
          <a:xfrm>
            <a:off x="93406" y="6010882"/>
            <a:ext cx="682059" cy="162426"/>
          </a:xfrm>
          <a:prstGeom prst="rightArrow">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DB9DF20F-F26B-863B-9868-844848E6B892}"/>
              </a:ext>
            </a:extLst>
          </p:cNvPr>
          <p:cNvSpPr txBox="1"/>
          <p:nvPr/>
        </p:nvSpPr>
        <p:spPr>
          <a:xfrm>
            <a:off x="838200" y="5907429"/>
            <a:ext cx="1810304" cy="646331"/>
          </a:xfrm>
          <a:prstGeom prst="rect">
            <a:avLst/>
          </a:prstGeom>
          <a:noFill/>
        </p:spPr>
        <p:txBody>
          <a:bodyPr wrap="none" rtlCol="0">
            <a:spAutoFit/>
          </a:bodyPr>
          <a:lstStyle/>
          <a:p>
            <a:r>
              <a:rPr lang="en-US" b="1" dirty="0">
                <a:solidFill>
                  <a:schemeClr val="accent6"/>
                </a:solidFill>
              </a:rPr>
              <a:t>What you should</a:t>
            </a:r>
          </a:p>
          <a:p>
            <a:r>
              <a:rPr lang="en-US" b="1" dirty="0">
                <a:solidFill>
                  <a:schemeClr val="accent6"/>
                </a:solidFill>
              </a:rPr>
              <a:t>have found</a:t>
            </a:r>
          </a:p>
        </p:txBody>
      </p:sp>
      <p:pic>
        <p:nvPicPr>
          <p:cNvPr id="12" name="Picture 2" descr="Applied Statistics Lesson and Humour of the Day – Type I Error (False  Positive) and Type 2 Error (False Negative) | The Chemical Statistician">
            <a:extLst>
              <a:ext uri="{FF2B5EF4-FFF2-40B4-BE49-F238E27FC236}">
                <a16:creationId xmlns:a16="http://schemas.microsoft.com/office/drawing/2014/main" id="{83D67830-9631-4EC0-8095-616BBB79AAEB}"/>
              </a:ext>
            </a:extLst>
          </p:cNvPr>
          <p:cNvPicPr>
            <a:picLocks noChangeAspect="1" noChangeArrowheads="1"/>
          </p:cNvPicPr>
          <p:nvPr/>
        </p:nvPicPr>
        <p:blipFill rotWithShape="1">
          <a:blip r:embed="rId3">
            <a:clrChange>
              <a:clrFrom>
                <a:srgbClr val="E2FFE3"/>
              </a:clrFrom>
              <a:clrTo>
                <a:srgbClr val="E2FFE3">
                  <a:alpha val="0"/>
                </a:srgbClr>
              </a:clrTo>
            </a:clrChange>
            <a:extLst>
              <a:ext uri="{28A0092B-C50C-407E-A947-70E740481C1C}">
                <a14:useLocalDpi xmlns:a14="http://schemas.microsoft.com/office/drawing/2010/main" val="0"/>
              </a:ext>
            </a:extLst>
          </a:blip>
          <a:srcRect l="50095" r="-386"/>
          <a:stretch>
            <a:fillRect/>
          </a:stretch>
        </p:blipFill>
        <p:spPr bwMode="auto">
          <a:xfrm>
            <a:off x="8815709" y="732677"/>
            <a:ext cx="3376291" cy="5032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3613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p:bldP spid="9" grpId="0" animBg="1"/>
      <p:bldP spid="1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9CBF6-3427-93CF-5E5D-22EDBAA70D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6DF1A4-3CB9-4B75-3DA8-79284E806517}"/>
              </a:ext>
            </a:extLst>
          </p:cNvPr>
          <p:cNvSpPr>
            <a:spLocks noGrp="1"/>
          </p:cNvSpPr>
          <p:nvPr>
            <p:ph type="title"/>
          </p:nvPr>
        </p:nvSpPr>
        <p:spPr/>
        <p:txBody>
          <a:bodyPr/>
          <a:lstStyle/>
          <a:p>
            <a:r>
              <a:rPr lang="en-US" dirty="0"/>
              <a:t>Step 3: Determine </a:t>
            </a:r>
            <a:r>
              <a:rPr lang="en-US" i="1" dirty="0"/>
              <a:t>a priori</a:t>
            </a:r>
            <a:r>
              <a:rPr lang="en-US" dirty="0"/>
              <a:t> Criteria</a:t>
            </a:r>
          </a:p>
        </p:txBody>
      </p:sp>
      <p:sp>
        <p:nvSpPr>
          <p:cNvPr id="3" name="Content Placeholder 2">
            <a:extLst>
              <a:ext uri="{FF2B5EF4-FFF2-40B4-BE49-F238E27FC236}">
                <a16:creationId xmlns:a16="http://schemas.microsoft.com/office/drawing/2014/main" id="{0659FBD1-9360-E45A-9400-505A9E3284CB}"/>
              </a:ext>
            </a:extLst>
          </p:cNvPr>
          <p:cNvSpPr>
            <a:spLocks noGrp="1"/>
          </p:cNvSpPr>
          <p:nvPr>
            <p:ph idx="1"/>
          </p:nvPr>
        </p:nvSpPr>
        <p:spPr>
          <a:xfrm>
            <a:off x="838200" y="1825624"/>
            <a:ext cx="7048499" cy="5032375"/>
          </a:xfrm>
        </p:spPr>
        <p:txBody>
          <a:bodyPr>
            <a:normAutofit/>
          </a:bodyPr>
          <a:lstStyle/>
          <a:p>
            <a:pPr marL="0" indent="0">
              <a:buNone/>
            </a:pPr>
            <a:r>
              <a:rPr lang="en-CA" b="1" dirty="0"/>
              <a:t>Types of Errors:</a:t>
            </a:r>
          </a:p>
          <a:p>
            <a:r>
              <a:rPr lang="en-CA" b="1" dirty="0"/>
              <a:t>Type 3 Error: </a:t>
            </a:r>
            <a:r>
              <a:rPr lang="en-CA" dirty="0"/>
              <a:t>You missed something because you were looking in the wrong direction</a:t>
            </a:r>
          </a:p>
          <a:p>
            <a:pPr lvl="1"/>
            <a:r>
              <a:rPr lang="en-US" i="1" dirty="0"/>
              <a:t>p</a:t>
            </a:r>
            <a:r>
              <a:rPr lang="en-US" dirty="0"/>
              <a:t>(</a:t>
            </a:r>
            <a:r>
              <a:rPr lang="en-US" dirty="0" err="1"/>
              <a:t>obs</a:t>
            </a:r>
            <a:r>
              <a:rPr lang="en-US" dirty="0"/>
              <a:t>) &gt; .05 but should have been &lt; .05</a:t>
            </a:r>
          </a:p>
          <a:p>
            <a:endParaRPr lang="en-CA" dirty="0"/>
          </a:p>
          <a:p>
            <a:pPr lvl="1"/>
            <a:endParaRPr lang="en-US" dirty="0"/>
          </a:p>
          <a:p>
            <a:pPr lvl="1"/>
            <a:endParaRPr lang="en-US" dirty="0"/>
          </a:p>
        </p:txBody>
      </p:sp>
      <p:grpSp>
        <p:nvGrpSpPr>
          <p:cNvPr id="13" name="Group 12">
            <a:extLst>
              <a:ext uri="{FF2B5EF4-FFF2-40B4-BE49-F238E27FC236}">
                <a16:creationId xmlns:a16="http://schemas.microsoft.com/office/drawing/2014/main" id="{240F95A5-09A3-C4E2-C2E0-1677C8AA547A}"/>
              </a:ext>
            </a:extLst>
          </p:cNvPr>
          <p:cNvGrpSpPr/>
          <p:nvPr/>
        </p:nvGrpSpPr>
        <p:grpSpPr>
          <a:xfrm>
            <a:off x="7954392" y="2636667"/>
            <a:ext cx="3675231" cy="3856207"/>
            <a:chOff x="7407676" y="1981764"/>
            <a:chExt cx="4559299" cy="4783808"/>
          </a:xfrm>
        </p:grpSpPr>
        <p:grpSp>
          <p:nvGrpSpPr>
            <p:cNvPr id="8" name="Group 7">
              <a:extLst>
                <a:ext uri="{FF2B5EF4-FFF2-40B4-BE49-F238E27FC236}">
                  <a16:creationId xmlns:a16="http://schemas.microsoft.com/office/drawing/2014/main" id="{28C0D0C6-3B58-F119-68BC-0988A65AD5AA}"/>
                </a:ext>
              </a:extLst>
            </p:cNvPr>
            <p:cNvGrpSpPr/>
            <p:nvPr/>
          </p:nvGrpSpPr>
          <p:grpSpPr>
            <a:xfrm>
              <a:off x="7407676" y="1981764"/>
              <a:ext cx="4559299" cy="4783808"/>
              <a:chOff x="838201" y="1795333"/>
              <a:chExt cx="4559299" cy="4783808"/>
            </a:xfrm>
          </p:grpSpPr>
          <p:sp>
            <p:nvSpPr>
              <p:cNvPr id="9" name="Rectangle 8">
                <a:extLst>
                  <a:ext uri="{FF2B5EF4-FFF2-40B4-BE49-F238E27FC236}">
                    <a16:creationId xmlns:a16="http://schemas.microsoft.com/office/drawing/2014/main" id="{CFCEA89D-D9AF-6B94-0673-2C9B7AD3EA83}"/>
                  </a:ext>
                </a:extLst>
              </p:cNvPr>
              <p:cNvSpPr/>
              <p:nvPr/>
            </p:nvSpPr>
            <p:spPr>
              <a:xfrm>
                <a:off x="4044950" y="1924050"/>
                <a:ext cx="1352550" cy="4088562"/>
              </a:xfrm>
              <a:prstGeom prst="rect">
                <a:avLst/>
              </a:prstGeom>
              <a:solidFill>
                <a:srgbClr val="E7E2DE"/>
              </a:solidFill>
              <a:ln>
                <a:solidFill>
                  <a:srgbClr val="E7E2D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2" descr="Applied Statistics Lesson and Humour of the Day – Type I Error (False  Positive) and Type 2 Error (False Negative) | The Chemical Statistician">
                <a:extLst>
                  <a:ext uri="{FF2B5EF4-FFF2-40B4-BE49-F238E27FC236}">
                    <a16:creationId xmlns:a16="http://schemas.microsoft.com/office/drawing/2014/main" id="{708CCCEA-3515-954E-E515-24F299986C55}"/>
                  </a:ext>
                </a:extLst>
              </p:cNvPr>
              <p:cNvPicPr>
                <a:picLocks noChangeAspect="1" noChangeArrowheads="1"/>
              </p:cNvPicPr>
              <p:nvPr/>
            </p:nvPicPr>
            <p:blipFill rotWithShape="1">
              <a:blip r:embed="rId2">
                <a:clrChange>
                  <a:clrFrom>
                    <a:srgbClr val="E2FFE3"/>
                  </a:clrFrom>
                  <a:clrTo>
                    <a:srgbClr val="E2FFE3">
                      <a:alpha val="0"/>
                    </a:srgbClr>
                  </a:clrTo>
                </a:clrChange>
                <a:extLst>
                  <a:ext uri="{28A0092B-C50C-407E-A947-70E740481C1C}">
                    <a14:useLocalDpi xmlns:a14="http://schemas.microsoft.com/office/drawing/2010/main" val="0"/>
                  </a:ext>
                </a:extLst>
              </a:blip>
              <a:srcRect t="15283" r="56505"/>
              <a:stretch>
                <a:fillRect/>
              </a:stretch>
            </p:blipFill>
            <p:spPr bwMode="auto">
              <a:xfrm>
                <a:off x="838201" y="1795333"/>
                <a:ext cx="3276600" cy="4783808"/>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Applied Statistics Lesson and Humour of the Day – Type I Error (False  Positive) and Type 2 Error (False Negative) | The Chemical Statistician">
                <a:extLst>
                  <a:ext uri="{FF2B5EF4-FFF2-40B4-BE49-F238E27FC236}">
                    <a16:creationId xmlns:a16="http://schemas.microsoft.com/office/drawing/2014/main" id="{158FA736-297C-9877-F53F-B06A983528C6}"/>
                  </a:ext>
                </a:extLst>
              </p:cNvPr>
              <p:cNvPicPr>
                <a:picLocks noChangeAspect="1" noChangeArrowheads="1"/>
              </p:cNvPicPr>
              <p:nvPr/>
            </p:nvPicPr>
            <p:blipFill rotWithShape="1">
              <a:blip r:embed="rId2">
                <a:clrChange>
                  <a:clrFrom>
                    <a:srgbClr val="E2FFE3"/>
                  </a:clrFrom>
                  <a:clrTo>
                    <a:srgbClr val="E2FFE3">
                      <a:alpha val="0"/>
                    </a:srgbClr>
                  </a:clrTo>
                </a:clrChange>
                <a:extLst>
                  <a:ext uri="{28A0092B-C50C-407E-A947-70E740481C1C}">
                    <a14:useLocalDpi xmlns:a14="http://schemas.microsoft.com/office/drawing/2010/main" val="0"/>
                  </a:ext>
                </a:extLst>
              </a:blip>
              <a:srcRect l="75899" t="29147" r="5436" b="7302"/>
              <a:stretch>
                <a:fillRect/>
              </a:stretch>
            </p:blipFill>
            <p:spPr bwMode="auto">
              <a:xfrm>
                <a:off x="3837876" y="2424023"/>
                <a:ext cx="1406105" cy="3588589"/>
              </a:xfrm>
              <a:custGeom>
                <a:avLst/>
                <a:gdLst>
                  <a:gd name="connsiteX0" fmla="*/ 560717 w 1406105"/>
                  <a:gd name="connsiteY0" fmla="*/ 0 h 3588589"/>
                  <a:gd name="connsiteX1" fmla="*/ 1043796 w 1406105"/>
                  <a:gd name="connsiteY1" fmla="*/ 8627 h 3588589"/>
                  <a:gd name="connsiteX2" fmla="*/ 1216324 w 1406105"/>
                  <a:gd name="connsiteY2" fmla="*/ 138023 h 3588589"/>
                  <a:gd name="connsiteX3" fmla="*/ 1380226 w 1406105"/>
                  <a:gd name="connsiteY3" fmla="*/ 405442 h 3588589"/>
                  <a:gd name="connsiteX4" fmla="*/ 1406105 w 1406105"/>
                  <a:gd name="connsiteY4" fmla="*/ 560717 h 3588589"/>
                  <a:gd name="connsiteX5" fmla="*/ 1380226 w 1406105"/>
                  <a:gd name="connsiteY5" fmla="*/ 3571336 h 3588589"/>
                  <a:gd name="connsiteX6" fmla="*/ 198407 w 1406105"/>
                  <a:gd name="connsiteY6" fmla="*/ 3588589 h 3588589"/>
                  <a:gd name="connsiteX7" fmla="*/ 51758 w 1406105"/>
                  <a:gd name="connsiteY7" fmla="*/ 3321170 h 3588589"/>
                  <a:gd name="connsiteX8" fmla="*/ 8626 w 1406105"/>
                  <a:gd name="connsiteY8" fmla="*/ 3053751 h 3588589"/>
                  <a:gd name="connsiteX9" fmla="*/ 0 w 1406105"/>
                  <a:gd name="connsiteY9" fmla="*/ 2725948 h 3588589"/>
                  <a:gd name="connsiteX10" fmla="*/ 8626 w 1406105"/>
                  <a:gd name="connsiteY10" fmla="*/ 2639683 h 3588589"/>
                  <a:gd name="connsiteX11" fmla="*/ 138022 w 1406105"/>
                  <a:gd name="connsiteY11" fmla="*/ 2415397 h 3588589"/>
                  <a:gd name="connsiteX12" fmla="*/ 612475 w 1406105"/>
                  <a:gd name="connsiteY12" fmla="*/ 1708031 h 3588589"/>
                  <a:gd name="connsiteX13" fmla="*/ 698739 w 1406105"/>
                  <a:gd name="connsiteY13" fmla="*/ 1475117 h 3588589"/>
                  <a:gd name="connsiteX14" fmla="*/ 707366 w 1406105"/>
                  <a:gd name="connsiteY14" fmla="*/ 1242204 h 3588589"/>
                  <a:gd name="connsiteX15" fmla="*/ 552090 w 1406105"/>
                  <a:gd name="connsiteY15" fmla="*/ 1130061 h 3588589"/>
                  <a:gd name="connsiteX16" fmla="*/ 457200 w 1406105"/>
                  <a:gd name="connsiteY16" fmla="*/ 1035170 h 3588589"/>
                  <a:gd name="connsiteX17" fmla="*/ 448573 w 1406105"/>
                  <a:gd name="connsiteY17" fmla="*/ 974785 h 3588589"/>
                  <a:gd name="connsiteX18" fmla="*/ 345056 w 1406105"/>
                  <a:gd name="connsiteY18" fmla="*/ 871268 h 3588589"/>
                  <a:gd name="connsiteX19" fmla="*/ 345056 w 1406105"/>
                  <a:gd name="connsiteY19" fmla="*/ 802257 h 3588589"/>
                  <a:gd name="connsiteX20" fmla="*/ 345056 w 1406105"/>
                  <a:gd name="connsiteY20" fmla="*/ 612476 h 3588589"/>
                  <a:gd name="connsiteX21" fmla="*/ 301924 w 1406105"/>
                  <a:gd name="connsiteY21" fmla="*/ 388189 h 3588589"/>
                  <a:gd name="connsiteX22" fmla="*/ 241539 w 1406105"/>
                  <a:gd name="connsiteY22" fmla="*/ 215661 h 3588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406105" h="3588589">
                    <a:moveTo>
                      <a:pt x="560717" y="0"/>
                    </a:moveTo>
                    <a:lnTo>
                      <a:pt x="1043796" y="8627"/>
                    </a:lnTo>
                    <a:lnTo>
                      <a:pt x="1216324" y="138023"/>
                    </a:lnTo>
                    <a:lnTo>
                      <a:pt x="1380226" y="405442"/>
                    </a:lnTo>
                    <a:lnTo>
                      <a:pt x="1406105" y="560717"/>
                    </a:lnTo>
                    <a:lnTo>
                      <a:pt x="1380226" y="3571336"/>
                    </a:lnTo>
                    <a:lnTo>
                      <a:pt x="198407" y="3588589"/>
                    </a:lnTo>
                    <a:lnTo>
                      <a:pt x="51758" y="3321170"/>
                    </a:lnTo>
                    <a:lnTo>
                      <a:pt x="8626" y="3053751"/>
                    </a:lnTo>
                    <a:lnTo>
                      <a:pt x="0" y="2725948"/>
                    </a:lnTo>
                    <a:lnTo>
                      <a:pt x="8626" y="2639683"/>
                    </a:lnTo>
                    <a:lnTo>
                      <a:pt x="138022" y="2415397"/>
                    </a:lnTo>
                    <a:lnTo>
                      <a:pt x="612475" y="1708031"/>
                    </a:lnTo>
                    <a:lnTo>
                      <a:pt x="698739" y="1475117"/>
                    </a:lnTo>
                    <a:lnTo>
                      <a:pt x="707366" y="1242204"/>
                    </a:lnTo>
                    <a:lnTo>
                      <a:pt x="552090" y="1130061"/>
                    </a:lnTo>
                    <a:lnTo>
                      <a:pt x="457200" y="1035170"/>
                    </a:lnTo>
                    <a:lnTo>
                      <a:pt x="448573" y="974785"/>
                    </a:lnTo>
                    <a:lnTo>
                      <a:pt x="345056" y="871268"/>
                    </a:lnTo>
                    <a:lnTo>
                      <a:pt x="345056" y="802257"/>
                    </a:lnTo>
                    <a:lnTo>
                      <a:pt x="345056" y="612476"/>
                    </a:lnTo>
                    <a:lnTo>
                      <a:pt x="301924" y="388189"/>
                    </a:lnTo>
                    <a:lnTo>
                      <a:pt x="241539" y="215661"/>
                    </a:lnTo>
                    <a:close/>
                  </a:path>
                </a:pathLst>
              </a:custGeom>
              <a:noFill/>
              <a:effectLst>
                <a:softEdge rad="31750"/>
              </a:effectLst>
              <a:extLst>
                <a:ext uri="{909E8E84-426E-40DD-AFC4-6F175D3DCCD1}">
                  <a14:hiddenFill xmlns:a14="http://schemas.microsoft.com/office/drawing/2010/main">
                    <a:solidFill>
                      <a:srgbClr val="FFFFFF"/>
                    </a:solidFill>
                  </a14:hiddenFill>
                </a:ext>
              </a:extLst>
            </p:spPr>
          </p:pic>
        </p:grpSp>
        <p:pic>
          <p:nvPicPr>
            <p:cNvPr id="12" name="Picture 2" descr="Applied Statistics Lesson and Humour of the Day – Type I Error (False  Positive) and Type 2 Error (False Negative) | The Chemical Statistician">
              <a:extLst>
                <a:ext uri="{FF2B5EF4-FFF2-40B4-BE49-F238E27FC236}">
                  <a16:creationId xmlns:a16="http://schemas.microsoft.com/office/drawing/2014/main" id="{B803C55E-717F-F79A-7F2E-64D4B2C14011}"/>
                </a:ext>
              </a:extLst>
            </p:cNvPr>
            <p:cNvPicPr>
              <a:picLocks noChangeAspect="1" noChangeArrowheads="1"/>
            </p:cNvPicPr>
            <p:nvPr/>
          </p:nvPicPr>
          <p:blipFill rotWithShape="1">
            <a:blip r:embed="rId2">
              <a:clrChange>
                <a:clrFrom>
                  <a:srgbClr val="E2FFE3"/>
                </a:clrFrom>
                <a:clrTo>
                  <a:srgbClr val="E2FFE3">
                    <a:alpha val="0"/>
                  </a:srgbClr>
                </a:clrTo>
              </a:clrChange>
              <a:extLst>
                <a:ext uri="{28A0092B-C50C-407E-A947-70E740481C1C}">
                  <a14:useLocalDpi xmlns:a14="http://schemas.microsoft.com/office/drawing/2010/main" val="0"/>
                </a:ext>
              </a:extLst>
            </a:blip>
            <a:srcRect l="75765" t="18862" r="2905" b="71705"/>
            <a:stretch>
              <a:fillRect/>
            </a:stretch>
          </p:blipFill>
          <p:spPr bwMode="auto">
            <a:xfrm>
              <a:off x="8566951" y="4369655"/>
              <a:ext cx="1606858" cy="532660"/>
            </a:xfrm>
            <a:prstGeom prst="rect">
              <a:avLst/>
            </a:prstGeom>
            <a:noFill/>
            <a:extLst>
              <a:ext uri="{909E8E84-426E-40DD-AFC4-6F175D3DCCD1}">
                <a14:hiddenFill xmlns:a14="http://schemas.microsoft.com/office/drawing/2010/main">
                  <a:solidFill>
                    <a:srgbClr val="FFFFFF"/>
                  </a:solidFill>
                </a14:hiddenFill>
              </a:ext>
            </a:extLst>
          </p:spPr>
        </p:pic>
      </p:grpSp>
      <p:sp>
        <p:nvSpPr>
          <p:cNvPr id="14" name="TextBox 13">
            <a:extLst>
              <a:ext uri="{FF2B5EF4-FFF2-40B4-BE49-F238E27FC236}">
                <a16:creationId xmlns:a16="http://schemas.microsoft.com/office/drawing/2014/main" id="{BCB87C67-CA4C-DA3B-F2F7-5C5634C3A5B0}"/>
              </a:ext>
            </a:extLst>
          </p:cNvPr>
          <p:cNvSpPr txBox="1"/>
          <p:nvPr/>
        </p:nvSpPr>
        <p:spPr>
          <a:xfrm>
            <a:off x="8402129" y="2346385"/>
            <a:ext cx="3227494" cy="369332"/>
          </a:xfrm>
          <a:prstGeom prst="rect">
            <a:avLst/>
          </a:prstGeom>
          <a:noFill/>
        </p:spPr>
        <p:txBody>
          <a:bodyPr wrap="square" rtlCol="0">
            <a:spAutoFit/>
          </a:bodyPr>
          <a:lstStyle/>
          <a:p>
            <a:pPr algn="ctr"/>
            <a:r>
              <a:rPr lang="en-US" b="1" dirty="0"/>
              <a:t>Type 3 Error</a:t>
            </a:r>
          </a:p>
        </p:txBody>
      </p:sp>
      <p:pic>
        <p:nvPicPr>
          <p:cNvPr id="5" name="Picture 4" descr="A picture containing graphical user interface&#10;&#10;Description automatically generated">
            <a:extLst>
              <a:ext uri="{FF2B5EF4-FFF2-40B4-BE49-F238E27FC236}">
                <a16:creationId xmlns:a16="http://schemas.microsoft.com/office/drawing/2014/main" id="{366258DD-2382-D775-B15F-AA080D1CBA18}"/>
              </a:ext>
            </a:extLst>
          </p:cNvPr>
          <p:cNvPicPr>
            <a:picLocks noChangeAspect="1"/>
          </p:cNvPicPr>
          <p:nvPr/>
        </p:nvPicPr>
        <p:blipFill rotWithShape="1">
          <a:blip r:embed="rId3"/>
          <a:srcRect t="17911" r="56493"/>
          <a:stretch>
            <a:fillRect/>
          </a:stretch>
        </p:blipFill>
        <p:spPr>
          <a:xfrm>
            <a:off x="1757132" y="4253163"/>
            <a:ext cx="6009003" cy="2555205"/>
          </a:xfrm>
          <a:prstGeom prst="rect">
            <a:avLst/>
          </a:prstGeom>
        </p:spPr>
      </p:pic>
      <p:sp>
        <p:nvSpPr>
          <p:cNvPr id="15" name="Arrow: Right 14">
            <a:extLst>
              <a:ext uri="{FF2B5EF4-FFF2-40B4-BE49-F238E27FC236}">
                <a16:creationId xmlns:a16="http://schemas.microsoft.com/office/drawing/2014/main" id="{2A173A97-8553-5F91-9161-CDEB0E485ABE}"/>
              </a:ext>
            </a:extLst>
          </p:cNvPr>
          <p:cNvSpPr/>
          <p:nvPr/>
        </p:nvSpPr>
        <p:spPr>
          <a:xfrm rot="5400000">
            <a:off x="5530667" y="5348432"/>
            <a:ext cx="1293093" cy="162426"/>
          </a:xfrm>
          <a:prstGeom prst="rightArrow">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Right 16">
            <a:extLst>
              <a:ext uri="{FF2B5EF4-FFF2-40B4-BE49-F238E27FC236}">
                <a16:creationId xmlns:a16="http://schemas.microsoft.com/office/drawing/2014/main" id="{90BAC90E-6FA7-1E72-A6F5-3FB120DF4482}"/>
              </a:ext>
            </a:extLst>
          </p:cNvPr>
          <p:cNvSpPr/>
          <p:nvPr/>
        </p:nvSpPr>
        <p:spPr>
          <a:xfrm>
            <a:off x="88448" y="5222511"/>
            <a:ext cx="682059" cy="162426"/>
          </a:xfrm>
          <a:prstGeom prst="rightArrow">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B9CB707C-E8F9-CB3F-F462-D4F6F001DBB3}"/>
              </a:ext>
            </a:extLst>
          </p:cNvPr>
          <p:cNvSpPr txBox="1"/>
          <p:nvPr/>
        </p:nvSpPr>
        <p:spPr>
          <a:xfrm>
            <a:off x="833242" y="5119058"/>
            <a:ext cx="1933414" cy="369332"/>
          </a:xfrm>
          <a:prstGeom prst="rect">
            <a:avLst/>
          </a:prstGeom>
          <a:noFill/>
        </p:spPr>
        <p:txBody>
          <a:bodyPr wrap="none" rtlCol="0">
            <a:spAutoFit/>
          </a:bodyPr>
          <a:lstStyle/>
          <a:p>
            <a:r>
              <a:rPr lang="en-US" b="1" dirty="0">
                <a:solidFill>
                  <a:srgbClr val="FF0000"/>
                </a:solidFill>
              </a:rPr>
              <a:t>Where you looked</a:t>
            </a:r>
          </a:p>
        </p:txBody>
      </p:sp>
      <p:sp>
        <p:nvSpPr>
          <p:cNvPr id="21" name="Arrow: Right 20">
            <a:extLst>
              <a:ext uri="{FF2B5EF4-FFF2-40B4-BE49-F238E27FC236}">
                <a16:creationId xmlns:a16="http://schemas.microsoft.com/office/drawing/2014/main" id="{BA1B0295-F7C5-8F1B-0029-9D50856035C3}"/>
              </a:ext>
            </a:extLst>
          </p:cNvPr>
          <p:cNvSpPr/>
          <p:nvPr/>
        </p:nvSpPr>
        <p:spPr>
          <a:xfrm rot="5400000">
            <a:off x="2716495" y="5363870"/>
            <a:ext cx="1293093" cy="162426"/>
          </a:xfrm>
          <a:prstGeom prst="rightArrow">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Arrow: Right 21">
            <a:extLst>
              <a:ext uri="{FF2B5EF4-FFF2-40B4-BE49-F238E27FC236}">
                <a16:creationId xmlns:a16="http://schemas.microsoft.com/office/drawing/2014/main" id="{D34DCC46-F2DC-99BD-6E7D-3A4C21EA96B4}"/>
              </a:ext>
            </a:extLst>
          </p:cNvPr>
          <p:cNvSpPr/>
          <p:nvPr/>
        </p:nvSpPr>
        <p:spPr>
          <a:xfrm>
            <a:off x="88448" y="5803748"/>
            <a:ext cx="682059" cy="162426"/>
          </a:xfrm>
          <a:prstGeom prst="rightArrow">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05CD794D-2DC2-0EF0-A677-40BAD9EA50B4}"/>
              </a:ext>
            </a:extLst>
          </p:cNvPr>
          <p:cNvSpPr txBox="1"/>
          <p:nvPr/>
        </p:nvSpPr>
        <p:spPr>
          <a:xfrm>
            <a:off x="833242" y="5700295"/>
            <a:ext cx="1981376" cy="646331"/>
          </a:xfrm>
          <a:prstGeom prst="rect">
            <a:avLst/>
          </a:prstGeom>
          <a:noFill/>
        </p:spPr>
        <p:txBody>
          <a:bodyPr wrap="none" rtlCol="0">
            <a:spAutoFit/>
          </a:bodyPr>
          <a:lstStyle/>
          <a:p>
            <a:r>
              <a:rPr lang="en-US" b="1" dirty="0">
                <a:solidFill>
                  <a:schemeClr val="accent6"/>
                </a:solidFill>
              </a:rPr>
              <a:t>Where you should </a:t>
            </a:r>
          </a:p>
          <a:p>
            <a:r>
              <a:rPr lang="en-US" b="1" dirty="0">
                <a:solidFill>
                  <a:schemeClr val="accent6"/>
                </a:solidFill>
              </a:rPr>
              <a:t>have looked</a:t>
            </a:r>
          </a:p>
        </p:txBody>
      </p:sp>
      <p:sp>
        <p:nvSpPr>
          <p:cNvPr id="24" name="Multiplication Sign 23">
            <a:extLst>
              <a:ext uri="{FF2B5EF4-FFF2-40B4-BE49-F238E27FC236}">
                <a16:creationId xmlns:a16="http://schemas.microsoft.com/office/drawing/2014/main" id="{9CEDC91E-ECAE-BE23-F26F-89E97A3FFCAD}"/>
              </a:ext>
            </a:extLst>
          </p:cNvPr>
          <p:cNvSpPr/>
          <p:nvPr/>
        </p:nvSpPr>
        <p:spPr>
          <a:xfrm>
            <a:off x="3045013" y="6083663"/>
            <a:ext cx="262963" cy="262963"/>
          </a:xfrm>
          <a:prstGeom prst="mathMultiply">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5" name="Arrow: Bent 24">
            <a:extLst>
              <a:ext uri="{FF2B5EF4-FFF2-40B4-BE49-F238E27FC236}">
                <a16:creationId xmlns:a16="http://schemas.microsoft.com/office/drawing/2014/main" id="{13AC66CD-B66A-EFCA-DE43-178C69B3C4B5}"/>
              </a:ext>
            </a:extLst>
          </p:cNvPr>
          <p:cNvSpPr/>
          <p:nvPr/>
        </p:nvSpPr>
        <p:spPr>
          <a:xfrm rot="16200000">
            <a:off x="3073981" y="6365095"/>
            <a:ext cx="352433" cy="315494"/>
          </a:xfrm>
          <a:prstGeom prst="bentArrow">
            <a:avLst>
              <a:gd name="adj1" fmla="val 17537"/>
              <a:gd name="adj2" fmla="val 25000"/>
              <a:gd name="adj3" fmla="val 25000"/>
              <a:gd name="adj4" fmla="val 43750"/>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sp>
        <p:nvSpPr>
          <p:cNvPr id="26" name="TextBox 25">
            <a:extLst>
              <a:ext uri="{FF2B5EF4-FFF2-40B4-BE49-F238E27FC236}">
                <a16:creationId xmlns:a16="http://schemas.microsoft.com/office/drawing/2014/main" id="{E0AA7E7C-9A0D-18F6-1EB1-02967C5D2466}"/>
              </a:ext>
            </a:extLst>
          </p:cNvPr>
          <p:cNvSpPr txBox="1"/>
          <p:nvPr/>
        </p:nvSpPr>
        <p:spPr>
          <a:xfrm>
            <a:off x="3360170" y="6481697"/>
            <a:ext cx="1889748" cy="369332"/>
          </a:xfrm>
          <a:prstGeom prst="rect">
            <a:avLst/>
          </a:prstGeom>
          <a:noFill/>
        </p:spPr>
        <p:txBody>
          <a:bodyPr wrap="none" rtlCol="0">
            <a:spAutoFit/>
          </a:bodyPr>
          <a:lstStyle/>
          <a:p>
            <a:r>
              <a:rPr lang="en-US" b="1" dirty="0"/>
              <a:t>Where our data is</a:t>
            </a:r>
          </a:p>
        </p:txBody>
      </p:sp>
    </p:spTree>
    <p:extLst>
      <p:ext uri="{BB962C8B-B14F-4D97-AF65-F5344CB8AC3E}">
        <p14:creationId xmlns:p14="http://schemas.microsoft.com/office/powerpoint/2010/main" val="1920799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18" grpId="0"/>
      <p:bldP spid="21" grpId="0" animBg="1"/>
      <p:bldP spid="22" grpId="0" animBg="1"/>
      <p:bldP spid="23" grpId="0"/>
      <p:bldP spid="24" grpId="0" animBg="1"/>
      <p:bldP spid="25" grpId="0" animBg="1"/>
      <p:bldP spid="2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2A752-8E40-BCBC-B074-1865A9319986}"/>
              </a:ext>
            </a:extLst>
          </p:cNvPr>
          <p:cNvSpPr>
            <a:spLocks noGrp="1"/>
          </p:cNvSpPr>
          <p:nvPr>
            <p:ph type="title"/>
          </p:nvPr>
        </p:nvSpPr>
        <p:spPr/>
        <p:txBody>
          <a:bodyPr/>
          <a:lstStyle/>
          <a:p>
            <a:r>
              <a:rPr lang="en-US" dirty="0"/>
              <a:t>Step 3: Determine </a:t>
            </a:r>
            <a:r>
              <a:rPr lang="en-US" i="1" dirty="0"/>
              <a:t>a priori</a:t>
            </a:r>
            <a:r>
              <a:rPr lang="en-US" dirty="0"/>
              <a:t> Criteria</a:t>
            </a:r>
          </a:p>
        </p:txBody>
      </p:sp>
      <p:graphicFrame>
        <p:nvGraphicFramePr>
          <p:cNvPr id="4" name="Table 4">
            <a:extLst>
              <a:ext uri="{FF2B5EF4-FFF2-40B4-BE49-F238E27FC236}">
                <a16:creationId xmlns:a16="http://schemas.microsoft.com/office/drawing/2014/main" id="{68A384C8-4C90-D2C1-40C2-6FE565C4CA92}"/>
              </a:ext>
            </a:extLst>
          </p:cNvPr>
          <p:cNvGraphicFramePr>
            <a:graphicFrameLocks noGrp="1"/>
          </p:cNvGraphicFramePr>
          <p:nvPr>
            <p:ph idx="1"/>
            <p:extLst>
              <p:ext uri="{D42A27DB-BD31-4B8C-83A1-F6EECF244321}">
                <p14:modId xmlns:p14="http://schemas.microsoft.com/office/powerpoint/2010/main" val="1306203062"/>
              </p:ext>
            </p:extLst>
          </p:nvPr>
        </p:nvGraphicFramePr>
        <p:xfrm>
          <a:off x="619918" y="2514161"/>
          <a:ext cx="10733883" cy="4097802"/>
        </p:xfrm>
        <a:graphic>
          <a:graphicData uri="http://schemas.openxmlformats.org/drawingml/2006/table">
            <a:tbl>
              <a:tblPr firstRow="1" bandRow="1">
                <a:tableStyleId>{5C22544A-7EE6-4342-B048-85BDC9FD1C3A}</a:tableStyleId>
              </a:tblPr>
              <a:tblGrid>
                <a:gridCol w="3577961">
                  <a:extLst>
                    <a:ext uri="{9D8B030D-6E8A-4147-A177-3AD203B41FA5}">
                      <a16:colId xmlns:a16="http://schemas.microsoft.com/office/drawing/2014/main" val="3430294761"/>
                    </a:ext>
                  </a:extLst>
                </a:gridCol>
                <a:gridCol w="3577961">
                  <a:extLst>
                    <a:ext uri="{9D8B030D-6E8A-4147-A177-3AD203B41FA5}">
                      <a16:colId xmlns:a16="http://schemas.microsoft.com/office/drawing/2014/main" val="2049626021"/>
                    </a:ext>
                  </a:extLst>
                </a:gridCol>
                <a:gridCol w="3577961">
                  <a:extLst>
                    <a:ext uri="{9D8B030D-6E8A-4147-A177-3AD203B41FA5}">
                      <a16:colId xmlns:a16="http://schemas.microsoft.com/office/drawing/2014/main" val="1865680301"/>
                    </a:ext>
                  </a:extLst>
                </a:gridCol>
              </a:tblGrid>
              <a:tr h="1365934">
                <a:tc>
                  <a:txBody>
                    <a:bodyPr/>
                    <a:lstStyle/>
                    <a:p>
                      <a:endParaRPr lang="en-CA" sz="2700" dirty="0">
                        <a:solidFill>
                          <a:schemeClr val="tx1"/>
                        </a:solidFill>
                        <a:latin typeface="+mj-lt"/>
                        <a:cs typeface="Arial" panose="020B0604020202020204" pitchFamily="34" charset="0"/>
                      </a:endParaRPr>
                    </a:p>
                  </a:txBody>
                  <a:tcPr marL="124176" marR="124176" marT="62088" marB="62088">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bg1">
                        <a:lumMod val="85000"/>
                      </a:schemeClr>
                    </a:solidFill>
                  </a:tcPr>
                </a:tc>
                <a:tc>
                  <a:txBody>
                    <a:bodyPr/>
                    <a:lstStyle/>
                    <a:p>
                      <a:pPr algn="ctr"/>
                      <a:r>
                        <a:rPr lang="en-CA" sz="2700" dirty="0">
                          <a:solidFill>
                            <a:schemeClr val="tx1"/>
                          </a:solidFill>
                          <a:latin typeface="+mj-lt"/>
                          <a:cs typeface="Arial" panose="020B0604020202020204" pitchFamily="34" charset="0"/>
                        </a:rPr>
                        <a:t>No Effect Exists</a:t>
                      </a:r>
                    </a:p>
                    <a:p>
                      <a:pPr algn="ctr"/>
                      <a:r>
                        <a:rPr lang="en-US" sz="2700" i="1" dirty="0">
                          <a:solidFill>
                            <a:schemeClr val="tx1"/>
                          </a:solidFill>
                          <a:latin typeface="+mj-lt"/>
                          <a:cs typeface="Arial" panose="020B0604020202020204" pitchFamily="34" charset="0"/>
                        </a:rPr>
                        <a:t>H</a:t>
                      </a:r>
                      <a:r>
                        <a:rPr lang="en-US" sz="2700" baseline="-25000" dirty="0">
                          <a:solidFill>
                            <a:schemeClr val="tx1"/>
                          </a:solidFill>
                          <a:latin typeface="+mj-lt"/>
                          <a:cs typeface="Arial" panose="020B0604020202020204" pitchFamily="34" charset="0"/>
                        </a:rPr>
                        <a:t>0</a:t>
                      </a:r>
                      <a:r>
                        <a:rPr lang="en-CA" sz="2700" dirty="0">
                          <a:solidFill>
                            <a:schemeClr val="tx1"/>
                          </a:solidFill>
                          <a:latin typeface="+mj-lt"/>
                          <a:cs typeface="Arial" panose="020B0604020202020204" pitchFamily="34" charset="0"/>
                        </a:rPr>
                        <a:t> True </a:t>
                      </a:r>
                    </a:p>
                    <a:p>
                      <a:pPr marL="0" marR="0" lvl="0" indent="0" algn="ctr" defTabSz="685800" rtl="0" eaLnBrk="1" fontAlgn="auto" latinLnBrk="0" hangingPunct="1">
                        <a:lnSpc>
                          <a:spcPct val="100000"/>
                        </a:lnSpc>
                        <a:spcBef>
                          <a:spcPts val="0"/>
                        </a:spcBef>
                        <a:spcAft>
                          <a:spcPts val="0"/>
                        </a:spcAft>
                        <a:buClrTx/>
                        <a:buSzTx/>
                        <a:buFontTx/>
                        <a:buNone/>
                        <a:tabLst/>
                        <a:defRPr/>
                      </a:pPr>
                      <a:r>
                        <a:rPr lang="en-US" sz="2700" b="1" i="1" kern="1200" dirty="0">
                          <a:solidFill>
                            <a:schemeClr val="tx1"/>
                          </a:solidFill>
                          <a:latin typeface="+mj-lt"/>
                          <a:ea typeface="+mn-ea"/>
                          <a:cs typeface="Arial" panose="020B0604020202020204" pitchFamily="34" charset="0"/>
                        </a:rPr>
                        <a:t>H</a:t>
                      </a:r>
                      <a:r>
                        <a:rPr lang="en-US" sz="2700" b="1" kern="1200" baseline="-25000" dirty="0">
                          <a:solidFill>
                            <a:schemeClr val="tx1"/>
                          </a:solidFill>
                          <a:latin typeface="+mj-lt"/>
                          <a:ea typeface="+mn-ea"/>
                          <a:cs typeface="Arial" panose="020B0604020202020204" pitchFamily="34" charset="0"/>
                        </a:rPr>
                        <a:t>1</a:t>
                      </a:r>
                      <a:r>
                        <a:rPr lang="en-CA" sz="2700" b="1" kern="1200" dirty="0">
                          <a:solidFill>
                            <a:schemeClr val="tx1"/>
                          </a:solidFill>
                          <a:latin typeface="+mj-lt"/>
                          <a:ea typeface="+mn-ea"/>
                          <a:cs typeface="Arial" panose="020B0604020202020204" pitchFamily="34" charset="0"/>
                        </a:rPr>
                        <a:t> False </a:t>
                      </a:r>
                    </a:p>
                  </a:txBody>
                  <a:tcPr marL="124176" marR="124176" marT="62088" marB="62088"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bg1">
                        <a:lumMod val="85000"/>
                      </a:schemeClr>
                    </a:solidFill>
                  </a:tcPr>
                </a:tc>
                <a:tc>
                  <a:txBody>
                    <a:bodyPr/>
                    <a:lstStyle/>
                    <a:p>
                      <a:pPr algn="ctr"/>
                      <a:r>
                        <a:rPr lang="en-CA" sz="2700" dirty="0">
                          <a:solidFill>
                            <a:schemeClr val="tx1"/>
                          </a:solidFill>
                          <a:latin typeface="+mj-lt"/>
                          <a:cs typeface="Arial" panose="020B0604020202020204" pitchFamily="34" charset="0"/>
                        </a:rPr>
                        <a:t>Real Effect Exists</a:t>
                      </a:r>
                    </a:p>
                    <a:p>
                      <a:pPr algn="ctr"/>
                      <a:r>
                        <a:rPr lang="en-US" sz="2700" i="1" dirty="0">
                          <a:solidFill>
                            <a:schemeClr val="tx1"/>
                          </a:solidFill>
                          <a:latin typeface="+mj-lt"/>
                          <a:cs typeface="Arial" panose="020B0604020202020204" pitchFamily="34" charset="0"/>
                        </a:rPr>
                        <a:t>H</a:t>
                      </a:r>
                      <a:r>
                        <a:rPr lang="en-US" sz="2700" baseline="-25000" dirty="0">
                          <a:solidFill>
                            <a:schemeClr val="tx1"/>
                          </a:solidFill>
                          <a:latin typeface="+mj-lt"/>
                          <a:cs typeface="Arial" panose="020B0604020202020204" pitchFamily="34" charset="0"/>
                        </a:rPr>
                        <a:t>0</a:t>
                      </a:r>
                      <a:r>
                        <a:rPr lang="en-CA" sz="2700" dirty="0">
                          <a:solidFill>
                            <a:schemeClr val="tx1"/>
                          </a:solidFill>
                          <a:latin typeface="+mj-lt"/>
                          <a:cs typeface="Arial" panose="020B0604020202020204" pitchFamily="34" charset="0"/>
                        </a:rPr>
                        <a:t> False</a:t>
                      </a:r>
                    </a:p>
                    <a:p>
                      <a:pPr marL="0" marR="0" lvl="0" indent="0" algn="ctr" defTabSz="685800" rtl="0" eaLnBrk="1" fontAlgn="auto" latinLnBrk="0" hangingPunct="1">
                        <a:lnSpc>
                          <a:spcPct val="100000"/>
                        </a:lnSpc>
                        <a:spcBef>
                          <a:spcPts val="0"/>
                        </a:spcBef>
                        <a:spcAft>
                          <a:spcPts val="0"/>
                        </a:spcAft>
                        <a:buClrTx/>
                        <a:buSzTx/>
                        <a:buFontTx/>
                        <a:buNone/>
                        <a:tabLst/>
                        <a:defRPr/>
                      </a:pPr>
                      <a:r>
                        <a:rPr lang="en-US" sz="2700" b="1" i="1" kern="1200" dirty="0">
                          <a:solidFill>
                            <a:schemeClr val="tx1"/>
                          </a:solidFill>
                          <a:latin typeface="+mj-lt"/>
                          <a:ea typeface="+mn-ea"/>
                          <a:cs typeface="Arial" panose="020B0604020202020204" pitchFamily="34" charset="0"/>
                        </a:rPr>
                        <a:t>H</a:t>
                      </a:r>
                      <a:r>
                        <a:rPr lang="en-US" sz="2700" b="1" kern="1200" baseline="-25000" dirty="0">
                          <a:solidFill>
                            <a:schemeClr val="tx1"/>
                          </a:solidFill>
                          <a:latin typeface="+mj-lt"/>
                          <a:ea typeface="+mn-ea"/>
                          <a:cs typeface="Arial" panose="020B0604020202020204" pitchFamily="34" charset="0"/>
                        </a:rPr>
                        <a:t>1</a:t>
                      </a:r>
                      <a:r>
                        <a:rPr lang="en-CA" sz="2700" b="1" kern="1200" dirty="0">
                          <a:solidFill>
                            <a:schemeClr val="tx1"/>
                          </a:solidFill>
                          <a:latin typeface="+mj-lt"/>
                          <a:ea typeface="+mn-ea"/>
                          <a:cs typeface="Arial" panose="020B0604020202020204" pitchFamily="34" charset="0"/>
                        </a:rPr>
                        <a:t> True </a:t>
                      </a:r>
                    </a:p>
                  </a:txBody>
                  <a:tcPr marL="124176" marR="124176" marT="62088" marB="62088"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100501658"/>
                  </a:ext>
                </a:extLst>
              </a:tr>
              <a:tr h="1365934">
                <a:tc>
                  <a:txBody>
                    <a:bodyPr/>
                    <a:lstStyle/>
                    <a:p>
                      <a:r>
                        <a:rPr lang="en-CA" sz="2700" b="1" dirty="0">
                          <a:solidFill>
                            <a:schemeClr val="tx1"/>
                          </a:solidFill>
                          <a:latin typeface="+mj-lt"/>
                          <a:cs typeface="Arial" panose="020B0604020202020204" pitchFamily="34" charset="0"/>
                        </a:rPr>
                        <a:t>Reject </a:t>
                      </a:r>
                      <a:r>
                        <a:rPr lang="en-US" sz="2700" b="1" i="1" dirty="0">
                          <a:solidFill>
                            <a:schemeClr val="tx1"/>
                          </a:solidFill>
                          <a:latin typeface="+mj-lt"/>
                          <a:cs typeface="Arial" panose="020B0604020202020204" pitchFamily="34" charset="0"/>
                        </a:rPr>
                        <a:t>H</a:t>
                      </a:r>
                      <a:r>
                        <a:rPr lang="en-US" sz="2700" b="1" baseline="-25000" dirty="0">
                          <a:solidFill>
                            <a:schemeClr val="tx1"/>
                          </a:solidFill>
                          <a:latin typeface="+mj-lt"/>
                          <a:cs typeface="Arial" panose="020B0604020202020204" pitchFamily="34" charset="0"/>
                        </a:rPr>
                        <a:t>0</a:t>
                      </a:r>
                      <a:endParaRPr lang="en-CA" sz="2700" b="1" dirty="0">
                        <a:solidFill>
                          <a:schemeClr val="tx1"/>
                        </a:solidFill>
                        <a:latin typeface="+mj-lt"/>
                        <a:cs typeface="Arial" panose="020B0604020202020204" pitchFamily="34" charset="0"/>
                      </a:endParaRPr>
                    </a:p>
                  </a:txBody>
                  <a:tcPr marL="124176" marR="124176" marT="62088" marB="62088"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bg1">
                        <a:lumMod val="85000"/>
                      </a:schemeClr>
                    </a:solidFill>
                  </a:tcPr>
                </a:tc>
                <a:tc>
                  <a:txBody>
                    <a:bodyPr/>
                    <a:lstStyle/>
                    <a:p>
                      <a:pPr algn="ctr"/>
                      <a:r>
                        <a:rPr lang="en-CA" sz="2700" dirty="0">
                          <a:solidFill>
                            <a:schemeClr val="tx1"/>
                          </a:solidFill>
                          <a:latin typeface="+mj-lt"/>
                          <a:cs typeface="Arial" panose="020B0604020202020204" pitchFamily="34" charset="0"/>
                        </a:rPr>
                        <a:t>Type I Error</a:t>
                      </a:r>
                    </a:p>
                  </a:txBody>
                  <a:tcPr marL="124176" marR="124176" marT="62088" marB="62088"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r>
                        <a:rPr lang="en-CA" sz="2700" dirty="0">
                          <a:solidFill>
                            <a:schemeClr val="tx1"/>
                          </a:solidFill>
                          <a:latin typeface="+mj-lt"/>
                          <a:cs typeface="Arial" panose="020B0604020202020204" pitchFamily="34" charset="0"/>
                        </a:rPr>
                        <a:t>Correct Rejection</a:t>
                      </a:r>
                    </a:p>
                  </a:txBody>
                  <a:tcPr marL="124176" marR="124176" marT="62088" marB="62088"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3185289321"/>
                  </a:ext>
                </a:extLst>
              </a:tr>
              <a:tr h="1365934">
                <a:tc>
                  <a:txBody>
                    <a:bodyPr/>
                    <a:lstStyle/>
                    <a:p>
                      <a:r>
                        <a:rPr lang="en-CA" sz="2700" b="1" dirty="0">
                          <a:solidFill>
                            <a:schemeClr val="tx1"/>
                          </a:solidFill>
                          <a:latin typeface="+mj-lt"/>
                          <a:cs typeface="Arial" panose="020B0604020202020204" pitchFamily="34" charset="0"/>
                        </a:rPr>
                        <a:t>Fail To Reject </a:t>
                      </a:r>
                      <a:r>
                        <a:rPr lang="en-US" sz="2700" b="1" i="1" dirty="0">
                          <a:solidFill>
                            <a:schemeClr val="tx1"/>
                          </a:solidFill>
                          <a:latin typeface="+mj-lt"/>
                          <a:cs typeface="Arial" panose="020B0604020202020204" pitchFamily="34" charset="0"/>
                        </a:rPr>
                        <a:t>H</a:t>
                      </a:r>
                      <a:r>
                        <a:rPr lang="en-US" sz="2700" b="1" baseline="-25000" dirty="0">
                          <a:solidFill>
                            <a:schemeClr val="tx1"/>
                          </a:solidFill>
                          <a:latin typeface="+mj-lt"/>
                          <a:cs typeface="Arial" panose="020B0604020202020204" pitchFamily="34" charset="0"/>
                        </a:rPr>
                        <a:t>0</a:t>
                      </a:r>
                      <a:endParaRPr lang="en-CA" sz="2700" b="1" dirty="0">
                        <a:solidFill>
                          <a:schemeClr val="tx1"/>
                        </a:solidFill>
                        <a:latin typeface="+mj-lt"/>
                        <a:cs typeface="Arial" panose="020B0604020202020204" pitchFamily="34" charset="0"/>
                      </a:endParaRPr>
                    </a:p>
                  </a:txBody>
                  <a:tcPr marL="124176" marR="124176" marT="62088" marB="62088"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bg1">
                        <a:lumMod val="85000"/>
                      </a:schemeClr>
                    </a:solidFill>
                  </a:tcPr>
                </a:tc>
                <a:tc>
                  <a:txBody>
                    <a:bodyPr/>
                    <a:lstStyle/>
                    <a:p>
                      <a:pPr algn="ctr"/>
                      <a:r>
                        <a:rPr lang="en-CA" sz="2700" dirty="0">
                          <a:solidFill>
                            <a:schemeClr val="tx1"/>
                          </a:solidFill>
                          <a:latin typeface="+mj-lt"/>
                          <a:cs typeface="Arial" panose="020B0604020202020204" pitchFamily="34" charset="0"/>
                        </a:rPr>
                        <a:t>Correct Failure to Reject</a:t>
                      </a:r>
                    </a:p>
                  </a:txBody>
                  <a:tcPr marL="124176" marR="124176" marT="62088" marB="62088"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r>
                        <a:rPr lang="en-CA" sz="2700" dirty="0">
                          <a:solidFill>
                            <a:schemeClr val="tx1"/>
                          </a:solidFill>
                          <a:latin typeface="+mj-lt"/>
                          <a:cs typeface="Arial" panose="020B0604020202020204" pitchFamily="34" charset="0"/>
                        </a:rPr>
                        <a:t>Type II Error</a:t>
                      </a:r>
                    </a:p>
                  </a:txBody>
                  <a:tcPr marL="124176" marR="124176" marT="62088" marB="62088"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2401832806"/>
                  </a:ext>
                </a:extLst>
              </a:tr>
            </a:tbl>
          </a:graphicData>
        </a:graphic>
      </p:graphicFrame>
      <p:sp>
        <p:nvSpPr>
          <p:cNvPr id="5" name="Rectangle 4">
            <a:extLst>
              <a:ext uri="{FF2B5EF4-FFF2-40B4-BE49-F238E27FC236}">
                <a16:creationId xmlns:a16="http://schemas.microsoft.com/office/drawing/2014/main" id="{A312DBF1-7CB5-82C8-7745-8F5DAEE54C15}"/>
              </a:ext>
            </a:extLst>
          </p:cNvPr>
          <p:cNvSpPr/>
          <p:nvPr/>
        </p:nvSpPr>
        <p:spPr>
          <a:xfrm rot="16200000">
            <a:off x="-1805562" y="4783167"/>
            <a:ext cx="4273431" cy="369332"/>
          </a:xfrm>
          <a:prstGeom prst="rect">
            <a:avLst/>
          </a:prstGeom>
        </p:spPr>
        <p:txBody>
          <a:bodyPr wrap="square">
            <a:spAutoFit/>
          </a:bodyPr>
          <a:lstStyle/>
          <a:p>
            <a:pPr algn="ctr"/>
            <a:r>
              <a:rPr lang="en-CA" b="1" dirty="0">
                <a:latin typeface="+mj-lt"/>
                <a:cs typeface="Arial" panose="020B0604020202020204" pitchFamily="34" charset="0"/>
              </a:rPr>
              <a:t>What our study finds</a:t>
            </a:r>
            <a:endParaRPr lang="en-US" b="1" dirty="0">
              <a:latin typeface="+mj-lt"/>
              <a:cs typeface="Arial" panose="020B0604020202020204" pitchFamily="34" charset="0"/>
            </a:endParaRPr>
          </a:p>
        </p:txBody>
      </p:sp>
      <p:sp>
        <p:nvSpPr>
          <p:cNvPr id="6" name="Rectangle 5">
            <a:extLst>
              <a:ext uri="{FF2B5EF4-FFF2-40B4-BE49-F238E27FC236}">
                <a16:creationId xmlns:a16="http://schemas.microsoft.com/office/drawing/2014/main" id="{BE827C3F-F356-D1A7-6ABD-D920C677168A}"/>
              </a:ext>
            </a:extLst>
          </p:cNvPr>
          <p:cNvSpPr/>
          <p:nvPr/>
        </p:nvSpPr>
        <p:spPr>
          <a:xfrm>
            <a:off x="3133493" y="1742391"/>
            <a:ext cx="7610523" cy="646331"/>
          </a:xfrm>
          <a:prstGeom prst="rect">
            <a:avLst/>
          </a:prstGeom>
        </p:spPr>
        <p:txBody>
          <a:bodyPr wrap="square">
            <a:spAutoFit/>
          </a:bodyPr>
          <a:lstStyle/>
          <a:p>
            <a:pPr algn="ctr"/>
            <a:r>
              <a:rPr lang="en-CA" b="1" dirty="0">
                <a:latin typeface="+mj-lt"/>
                <a:cs typeface="Arial" panose="020B0604020202020204" pitchFamily="34" charset="0"/>
              </a:rPr>
              <a:t>Actual state of the null hypothesis</a:t>
            </a:r>
          </a:p>
          <a:p>
            <a:pPr algn="ctr"/>
            <a:r>
              <a:rPr lang="en-CA" b="1" dirty="0">
                <a:latin typeface="+mj-lt"/>
                <a:cs typeface="Arial" panose="020B0604020202020204" pitchFamily="34" charset="0"/>
              </a:rPr>
              <a:t>(i.e., what is happening in the population in the real world)</a:t>
            </a:r>
            <a:endParaRPr lang="en-US" b="1" dirty="0">
              <a:latin typeface="+mj-lt"/>
              <a:cs typeface="Arial" panose="020B0604020202020204" pitchFamily="34" charset="0"/>
            </a:endParaRPr>
          </a:p>
        </p:txBody>
      </p:sp>
      <p:sp>
        <p:nvSpPr>
          <p:cNvPr id="7" name="Rectangle 6">
            <a:extLst>
              <a:ext uri="{FF2B5EF4-FFF2-40B4-BE49-F238E27FC236}">
                <a16:creationId xmlns:a16="http://schemas.microsoft.com/office/drawing/2014/main" id="{6A66D5BD-2AC6-390C-12FE-34AC23C728E7}"/>
              </a:ext>
            </a:extLst>
          </p:cNvPr>
          <p:cNvSpPr/>
          <p:nvPr/>
        </p:nvSpPr>
        <p:spPr>
          <a:xfrm>
            <a:off x="7971972" y="3959334"/>
            <a:ext cx="3073399" cy="120745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31A56E2-B7A6-DCC4-94D8-554303E48812}"/>
              </a:ext>
            </a:extLst>
          </p:cNvPr>
          <p:cNvSpPr/>
          <p:nvPr/>
        </p:nvSpPr>
        <p:spPr>
          <a:xfrm>
            <a:off x="4276272" y="5319189"/>
            <a:ext cx="3458028" cy="120745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059ACD5-8520-5E32-C32E-53046BBCDB5B}"/>
              </a:ext>
            </a:extLst>
          </p:cNvPr>
          <p:cNvSpPr/>
          <p:nvPr/>
        </p:nvSpPr>
        <p:spPr>
          <a:xfrm>
            <a:off x="4580220" y="3986295"/>
            <a:ext cx="2664096" cy="120745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73B1AB1-A03E-C9A1-7DF6-C529F24CB4E7}"/>
              </a:ext>
            </a:extLst>
          </p:cNvPr>
          <p:cNvSpPr/>
          <p:nvPr/>
        </p:nvSpPr>
        <p:spPr>
          <a:xfrm>
            <a:off x="8212002" y="5266813"/>
            <a:ext cx="2664096" cy="120745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26072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P spid="11"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D3AA5-24F4-CD63-447A-A2C4177652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E10A74-A0CD-8C9F-B6E1-36DEAAFCC11A}"/>
              </a:ext>
            </a:extLst>
          </p:cNvPr>
          <p:cNvSpPr>
            <a:spLocks noGrp="1"/>
          </p:cNvSpPr>
          <p:nvPr>
            <p:ph type="title"/>
          </p:nvPr>
        </p:nvSpPr>
        <p:spPr/>
        <p:txBody>
          <a:bodyPr/>
          <a:lstStyle/>
          <a:p>
            <a:r>
              <a:rPr lang="en-US" dirty="0"/>
              <a:t>Step 3: Determine </a:t>
            </a:r>
            <a:r>
              <a:rPr lang="en-US" i="1" dirty="0"/>
              <a:t>a priori</a:t>
            </a:r>
            <a:r>
              <a:rPr lang="en-US" dirty="0"/>
              <a:t> Criteria</a:t>
            </a:r>
          </a:p>
        </p:txBody>
      </p:sp>
      <p:graphicFrame>
        <p:nvGraphicFramePr>
          <p:cNvPr id="4" name="Table 4">
            <a:extLst>
              <a:ext uri="{FF2B5EF4-FFF2-40B4-BE49-F238E27FC236}">
                <a16:creationId xmlns:a16="http://schemas.microsoft.com/office/drawing/2014/main" id="{77655EAC-CE2F-C569-C925-AC8B7804B3A7}"/>
              </a:ext>
            </a:extLst>
          </p:cNvPr>
          <p:cNvGraphicFramePr>
            <a:graphicFrameLocks noGrp="1"/>
          </p:cNvGraphicFramePr>
          <p:nvPr>
            <p:ph idx="1"/>
            <p:extLst>
              <p:ext uri="{D42A27DB-BD31-4B8C-83A1-F6EECF244321}">
                <p14:modId xmlns:p14="http://schemas.microsoft.com/office/powerpoint/2010/main" val="2081783101"/>
              </p:ext>
            </p:extLst>
          </p:nvPr>
        </p:nvGraphicFramePr>
        <p:xfrm>
          <a:off x="619918" y="2514161"/>
          <a:ext cx="10733883" cy="4097802"/>
        </p:xfrm>
        <a:graphic>
          <a:graphicData uri="http://schemas.openxmlformats.org/drawingml/2006/table">
            <a:tbl>
              <a:tblPr firstRow="1" bandRow="1">
                <a:tableStyleId>{5C22544A-7EE6-4342-B048-85BDC9FD1C3A}</a:tableStyleId>
              </a:tblPr>
              <a:tblGrid>
                <a:gridCol w="3577961">
                  <a:extLst>
                    <a:ext uri="{9D8B030D-6E8A-4147-A177-3AD203B41FA5}">
                      <a16:colId xmlns:a16="http://schemas.microsoft.com/office/drawing/2014/main" val="3430294761"/>
                    </a:ext>
                  </a:extLst>
                </a:gridCol>
                <a:gridCol w="3577961">
                  <a:extLst>
                    <a:ext uri="{9D8B030D-6E8A-4147-A177-3AD203B41FA5}">
                      <a16:colId xmlns:a16="http://schemas.microsoft.com/office/drawing/2014/main" val="2049626021"/>
                    </a:ext>
                  </a:extLst>
                </a:gridCol>
                <a:gridCol w="3577961">
                  <a:extLst>
                    <a:ext uri="{9D8B030D-6E8A-4147-A177-3AD203B41FA5}">
                      <a16:colId xmlns:a16="http://schemas.microsoft.com/office/drawing/2014/main" val="1865680301"/>
                    </a:ext>
                  </a:extLst>
                </a:gridCol>
              </a:tblGrid>
              <a:tr h="1365934">
                <a:tc>
                  <a:txBody>
                    <a:bodyPr/>
                    <a:lstStyle/>
                    <a:p>
                      <a:endParaRPr lang="en-CA" sz="2700" dirty="0">
                        <a:solidFill>
                          <a:schemeClr val="tx1"/>
                        </a:solidFill>
                        <a:latin typeface="+mj-lt"/>
                        <a:cs typeface="Arial" panose="020B0604020202020204" pitchFamily="34" charset="0"/>
                      </a:endParaRPr>
                    </a:p>
                  </a:txBody>
                  <a:tcPr marL="124176" marR="124176" marT="62088" marB="62088">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bg1">
                        <a:lumMod val="85000"/>
                      </a:schemeClr>
                    </a:solidFill>
                  </a:tcPr>
                </a:tc>
                <a:tc>
                  <a:txBody>
                    <a:bodyPr/>
                    <a:lstStyle/>
                    <a:p>
                      <a:pPr algn="ctr"/>
                      <a:r>
                        <a:rPr lang="en-CA" sz="2700" dirty="0">
                          <a:solidFill>
                            <a:schemeClr val="tx1"/>
                          </a:solidFill>
                          <a:latin typeface="+mj-lt"/>
                          <a:cs typeface="Arial" panose="020B0604020202020204" pitchFamily="34" charset="0"/>
                        </a:rPr>
                        <a:t>No Effect Exists</a:t>
                      </a:r>
                    </a:p>
                    <a:p>
                      <a:pPr algn="ctr"/>
                      <a:r>
                        <a:rPr lang="en-US" sz="2700" i="1" dirty="0">
                          <a:solidFill>
                            <a:schemeClr val="tx1"/>
                          </a:solidFill>
                          <a:latin typeface="+mj-lt"/>
                          <a:cs typeface="Arial" panose="020B0604020202020204" pitchFamily="34" charset="0"/>
                        </a:rPr>
                        <a:t>H</a:t>
                      </a:r>
                      <a:r>
                        <a:rPr lang="en-US" sz="2700" baseline="-25000" dirty="0">
                          <a:solidFill>
                            <a:schemeClr val="tx1"/>
                          </a:solidFill>
                          <a:latin typeface="+mj-lt"/>
                          <a:cs typeface="Arial" panose="020B0604020202020204" pitchFamily="34" charset="0"/>
                        </a:rPr>
                        <a:t>0</a:t>
                      </a:r>
                      <a:r>
                        <a:rPr lang="en-CA" sz="2700" dirty="0">
                          <a:solidFill>
                            <a:schemeClr val="tx1"/>
                          </a:solidFill>
                          <a:latin typeface="+mj-lt"/>
                          <a:cs typeface="Arial" panose="020B0604020202020204" pitchFamily="34" charset="0"/>
                        </a:rPr>
                        <a:t> True </a:t>
                      </a:r>
                    </a:p>
                    <a:p>
                      <a:pPr marL="0" marR="0" lvl="0" indent="0" algn="ctr" defTabSz="685800" rtl="0" eaLnBrk="1" fontAlgn="auto" latinLnBrk="0" hangingPunct="1">
                        <a:lnSpc>
                          <a:spcPct val="100000"/>
                        </a:lnSpc>
                        <a:spcBef>
                          <a:spcPts val="0"/>
                        </a:spcBef>
                        <a:spcAft>
                          <a:spcPts val="0"/>
                        </a:spcAft>
                        <a:buClrTx/>
                        <a:buSzTx/>
                        <a:buFontTx/>
                        <a:buNone/>
                        <a:tabLst/>
                        <a:defRPr/>
                      </a:pPr>
                      <a:r>
                        <a:rPr lang="en-US" sz="2700" b="1" i="1" kern="1200" dirty="0">
                          <a:solidFill>
                            <a:schemeClr val="tx1"/>
                          </a:solidFill>
                          <a:latin typeface="+mj-lt"/>
                          <a:ea typeface="+mn-ea"/>
                          <a:cs typeface="Arial" panose="020B0604020202020204" pitchFamily="34" charset="0"/>
                        </a:rPr>
                        <a:t>H</a:t>
                      </a:r>
                      <a:r>
                        <a:rPr lang="en-US" sz="2700" b="1" kern="1200" baseline="-25000" dirty="0">
                          <a:solidFill>
                            <a:schemeClr val="tx1"/>
                          </a:solidFill>
                          <a:latin typeface="+mj-lt"/>
                          <a:ea typeface="+mn-ea"/>
                          <a:cs typeface="Arial" panose="020B0604020202020204" pitchFamily="34" charset="0"/>
                        </a:rPr>
                        <a:t>1</a:t>
                      </a:r>
                      <a:r>
                        <a:rPr lang="en-CA" sz="2700" b="1" kern="1200" dirty="0">
                          <a:solidFill>
                            <a:schemeClr val="tx1"/>
                          </a:solidFill>
                          <a:latin typeface="+mj-lt"/>
                          <a:ea typeface="+mn-ea"/>
                          <a:cs typeface="Arial" panose="020B0604020202020204" pitchFamily="34" charset="0"/>
                        </a:rPr>
                        <a:t> False </a:t>
                      </a:r>
                    </a:p>
                  </a:txBody>
                  <a:tcPr marL="124176" marR="124176" marT="62088" marB="62088"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bg1">
                        <a:lumMod val="85000"/>
                      </a:schemeClr>
                    </a:solidFill>
                  </a:tcPr>
                </a:tc>
                <a:tc>
                  <a:txBody>
                    <a:bodyPr/>
                    <a:lstStyle/>
                    <a:p>
                      <a:pPr algn="ctr"/>
                      <a:r>
                        <a:rPr lang="en-CA" sz="2700" dirty="0">
                          <a:solidFill>
                            <a:schemeClr val="tx1"/>
                          </a:solidFill>
                          <a:latin typeface="+mj-lt"/>
                          <a:cs typeface="Arial" panose="020B0604020202020204" pitchFamily="34" charset="0"/>
                        </a:rPr>
                        <a:t>Real Effect Exists</a:t>
                      </a:r>
                    </a:p>
                    <a:p>
                      <a:pPr algn="ctr"/>
                      <a:r>
                        <a:rPr lang="en-US" sz="2700" i="1" dirty="0">
                          <a:solidFill>
                            <a:schemeClr val="tx1"/>
                          </a:solidFill>
                          <a:latin typeface="+mj-lt"/>
                          <a:cs typeface="Arial" panose="020B0604020202020204" pitchFamily="34" charset="0"/>
                        </a:rPr>
                        <a:t>H</a:t>
                      </a:r>
                      <a:r>
                        <a:rPr lang="en-US" sz="2700" baseline="-25000" dirty="0">
                          <a:solidFill>
                            <a:schemeClr val="tx1"/>
                          </a:solidFill>
                          <a:latin typeface="+mj-lt"/>
                          <a:cs typeface="Arial" panose="020B0604020202020204" pitchFamily="34" charset="0"/>
                        </a:rPr>
                        <a:t>0</a:t>
                      </a:r>
                      <a:r>
                        <a:rPr lang="en-CA" sz="2700" dirty="0">
                          <a:solidFill>
                            <a:schemeClr val="tx1"/>
                          </a:solidFill>
                          <a:latin typeface="+mj-lt"/>
                          <a:cs typeface="Arial" panose="020B0604020202020204" pitchFamily="34" charset="0"/>
                        </a:rPr>
                        <a:t> False</a:t>
                      </a:r>
                    </a:p>
                    <a:p>
                      <a:pPr marL="0" marR="0" lvl="0" indent="0" algn="ctr" defTabSz="685800" rtl="0" eaLnBrk="1" fontAlgn="auto" latinLnBrk="0" hangingPunct="1">
                        <a:lnSpc>
                          <a:spcPct val="100000"/>
                        </a:lnSpc>
                        <a:spcBef>
                          <a:spcPts val="0"/>
                        </a:spcBef>
                        <a:spcAft>
                          <a:spcPts val="0"/>
                        </a:spcAft>
                        <a:buClrTx/>
                        <a:buSzTx/>
                        <a:buFontTx/>
                        <a:buNone/>
                        <a:tabLst/>
                        <a:defRPr/>
                      </a:pPr>
                      <a:r>
                        <a:rPr lang="en-US" sz="2700" b="1" i="1" kern="1200" dirty="0">
                          <a:solidFill>
                            <a:schemeClr val="tx1"/>
                          </a:solidFill>
                          <a:latin typeface="+mj-lt"/>
                          <a:ea typeface="+mn-ea"/>
                          <a:cs typeface="Arial" panose="020B0604020202020204" pitchFamily="34" charset="0"/>
                        </a:rPr>
                        <a:t>H</a:t>
                      </a:r>
                      <a:r>
                        <a:rPr lang="en-US" sz="2700" b="1" kern="1200" baseline="-25000" dirty="0">
                          <a:solidFill>
                            <a:schemeClr val="tx1"/>
                          </a:solidFill>
                          <a:latin typeface="+mj-lt"/>
                          <a:ea typeface="+mn-ea"/>
                          <a:cs typeface="Arial" panose="020B0604020202020204" pitchFamily="34" charset="0"/>
                        </a:rPr>
                        <a:t>1</a:t>
                      </a:r>
                      <a:r>
                        <a:rPr lang="en-CA" sz="2700" b="1" kern="1200" dirty="0">
                          <a:solidFill>
                            <a:schemeClr val="tx1"/>
                          </a:solidFill>
                          <a:latin typeface="+mj-lt"/>
                          <a:ea typeface="+mn-ea"/>
                          <a:cs typeface="Arial" panose="020B0604020202020204" pitchFamily="34" charset="0"/>
                        </a:rPr>
                        <a:t> True </a:t>
                      </a:r>
                    </a:p>
                  </a:txBody>
                  <a:tcPr marL="124176" marR="124176" marT="62088" marB="62088"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100501658"/>
                  </a:ext>
                </a:extLst>
              </a:tr>
              <a:tr h="1365934">
                <a:tc>
                  <a:txBody>
                    <a:bodyPr/>
                    <a:lstStyle/>
                    <a:p>
                      <a:r>
                        <a:rPr lang="en-CA" sz="2700" b="1" dirty="0">
                          <a:solidFill>
                            <a:schemeClr val="tx1"/>
                          </a:solidFill>
                          <a:latin typeface="+mj-lt"/>
                          <a:cs typeface="Arial" panose="020B0604020202020204" pitchFamily="34" charset="0"/>
                        </a:rPr>
                        <a:t>Reject </a:t>
                      </a:r>
                      <a:r>
                        <a:rPr lang="en-US" sz="2700" b="1" i="1" dirty="0">
                          <a:solidFill>
                            <a:schemeClr val="tx1"/>
                          </a:solidFill>
                          <a:latin typeface="+mj-lt"/>
                          <a:cs typeface="Arial" panose="020B0604020202020204" pitchFamily="34" charset="0"/>
                        </a:rPr>
                        <a:t>H</a:t>
                      </a:r>
                      <a:r>
                        <a:rPr lang="en-US" sz="2700" b="1" baseline="-25000" dirty="0">
                          <a:solidFill>
                            <a:schemeClr val="tx1"/>
                          </a:solidFill>
                          <a:latin typeface="+mj-lt"/>
                          <a:cs typeface="Arial" panose="020B0604020202020204" pitchFamily="34" charset="0"/>
                        </a:rPr>
                        <a:t>0</a:t>
                      </a:r>
                      <a:endParaRPr lang="en-CA" sz="2700" b="1" dirty="0">
                        <a:solidFill>
                          <a:schemeClr val="tx1"/>
                        </a:solidFill>
                        <a:latin typeface="+mj-lt"/>
                        <a:cs typeface="Arial" panose="020B0604020202020204" pitchFamily="34" charset="0"/>
                      </a:endParaRPr>
                    </a:p>
                  </a:txBody>
                  <a:tcPr marL="124176" marR="124176" marT="62088" marB="62088"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bg1">
                        <a:lumMod val="85000"/>
                      </a:schemeClr>
                    </a:solidFill>
                  </a:tcPr>
                </a:tc>
                <a:tc>
                  <a:txBody>
                    <a:bodyPr/>
                    <a:lstStyle/>
                    <a:p>
                      <a:pPr algn="ctr"/>
                      <a:r>
                        <a:rPr lang="en-CA" sz="2700" dirty="0">
                          <a:solidFill>
                            <a:schemeClr val="tx1"/>
                          </a:solidFill>
                          <a:latin typeface="+mj-lt"/>
                          <a:cs typeface="Arial" panose="020B0604020202020204" pitchFamily="34" charset="0"/>
                        </a:rPr>
                        <a:t>Type I Error</a:t>
                      </a:r>
                    </a:p>
                  </a:txBody>
                  <a:tcPr marL="124176" marR="124176" marT="62088" marB="62088"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r>
                        <a:rPr lang="en-CA" sz="2700" dirty="0">
                          <a:solidFill>
                            <a:schemeClr val="tx1"/>
                          </a:solidFill>
                          <a:latin typeface="+mj-lt"/>
                          <a:cs typeface="Arial" panose="020B0604020202020204" pitchFamily="34" charset="0"/>
                        </a:rPr>
                        <a:t>Correct Rejection</a:t>
                      </a:r>
                    </a:p>
                  </a:txBody>
                  <a:tcPr marL="124176" marR="124176" marT="62088" marB="62088"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3185289321"/>
                  </a:ext>
                </a:extLst>
              </a:tr>
              <a:tr h="1365934">
                <a:tc>
                  <a:txBody>
                    <a:bodyPr/>
                    <a:lstStyle/>
                    <a:p>
                      <a:r>
                        <a:rPr lang="en-CA" sz="2700" b="1" dirty="0">
                          <a:solidFill>
                            <a:schemeClr val="tx1"/>
                          </a:solidFill>
                          <a:latin typeface="+mj-lt"/>
                          <a:cs typeface="Arial" panose="020B0604020202020204" pitchFamily="34" charset="0"/>
                        </a:rPr>
                        <a:t>Fail To Reject </a:t>
                      </a:r>
                      <a:r>
                        <a:rPr lang="en-US" sz="2700" b="1" i="1" dirty="0">
                          <a:solidFill>
                            <a:schemeClr val="tx1"/>
                          </a:solidFill>
                          <a:latin typeface="+mj-lt"/>
                          <a:cs typeface="Arial" panose="020B0604020202020204" pitchFamily="34" charset="0"/>
                        </a:rPr>
                        <a:t>H</a:t>
                      </a:r>
                      <a:r>
                        <a:rPr lang="en-US" sz="2700" b="1" baseline="-25000" dirty="0">
                          <a:solidFill>
                            <a:schemeClr val="tx1"/>
                          </a:solidFill>
                          <a:latin typeface="+mj-lt"/>
                          <a:cs typeface="Arial" panose="020B0604020202020204" pitchFamily="34" charset="0"/>
                        </a:rPr>
                        <a:t>0</a:t>
                      </a:r>
                      <a:endParaRPr lang="en-CA" sz="2700" b="1" dirty="0">
                        <a:solidFill>
                          <a:schemeClr val="tx1"/>
                        </a:solidFill>
                        <a:latin typeface="+mj-lt"/>
                        <a:cs typeface="Arial" panose="020B0604020202020204" pitchFamily="34" charset="0"/>
                      </a:endParaRPr>
                    </a:p>
                  </a:txBody>
                  <a:tcPr marL="124176" marR="124176" marT="62088" marB="62088"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bg1">
                        <a:lumMod val="85000"/>
                      </a:schemeClr>
                    </a:solidFill>
                  </a:tcPr>
                </a:tc>
                <a:tc>
                  <a:txBody>
                    <a:bodyPr/>
                    <a:lstStyle/>
                    <a:p>
                      <a:pPr algn="ctr"/>
                      <a:r>
                        <a:rPr lang="en-CA" sz="2700" dirty="0">
                          <a:solidFill>
                            <a:schemeClr val="tx1"/>
                          </a:solidFill>
                          <a:latin typeface="+mj-lt"/>
                          <a:cs typeface="Arial" panose="020B0604020202020204" pitchFamily="34" charset="0"/>
                        </a:rPr>
                        <a:t>Correct Failure to Reject</a:t>
                      </a:r>
                    </a:p>
                  </a:txBody>
                  <a:tcPr marL="124176" marR="124176" marT="62088" marB="62088"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r>
                        <a:rPr lang="en-CA" sz="2700" dirty="0">
                          <a:solidFill>
                            <a:schemeClr val="tx1"/>
                          </a:solidFill>
                          <a:latin typeface="+mj-lt"/>
                          <a:cs typeface="Arial" panose="020B0604020202020204" pitchFamily="34" charset="0"/>
                        </a:rPr>
                        <a:t>Type II Error</a:t>
                      </a:r>
                    </a:p>
                  </a:txBody>
                  <a:tcPr marL="124176" marR="124176" marT="62088" marB="62088"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2401832806"/>
                  </a:ext>
                </a:extLst>
              </a:tr>
            </a:tbl>
          </a:graphicData>
        </a:graphic>
      </p:graphicFrame>
      <p:sp>
        <p:nvSpPr>
          <p:cNvPr id="5" name="Rectangle 4">
            <a:extLst>
              <a:ext uri="{FF2B5EF4-FFF2-40B4-BE49-F238E27FC236}">
                <a16:creationId xmlns:a16="http://schemas.microsoft.com/office/drawing/2014/main" id="{FBAE1037-2CA6-8DF7-7DB9-C89F24DEE57D}"/>
              </a:ext>
            </a:extLst>
          </p:cNvPr>
          <p:cNvSpPr/>
          <p:nvPr/>
        </p:nvSpPr>
        <p:spPr>
          <a:xfrm rot="16200000">
            <a:off x="-1805562" y="4783167"/>
            <a:ext cx="4273431" cy="369332"/>
          </a:xfrm>
          <a:prstGeom prst="rect">
            <a:avLst/>
          </a:prstGeom>
        </p:spPr>
        <p:txBody>
          <a:bodyPr wrap="square">
            <a:spAutoFit/>
          </a:bodyPr>
          <a:lstStyle/>
          <a:p>
            <a:pPr algn="ctr"/>
            <a:r>
              <a:rPr lang="en-CA" b="1" dirty="0">
                <a:latin typeface="+mj-lt"/>
                <a:cs typeface="Arial" panose="020B0604020202020204" pitchFamily="34" charset="0"/>
              </a:rPr>
              <a:t>What our study finds</a:t>
            </a:r>
            <a:endParaRPr lang="en-US" b="1" dirty="0">
              <a:latin typeface="+mj-lt"/>
              <a:cs typeface="Arial" panose="020B0604020202020204" pitchFamily="34" charset="0"/>
            </a:endParaRPr>
          </a:p>
        </p:txBody>
      </p:sp>
      <p:sp>
        <p:nvSpPr>
          <p:cNvPr id="6" name="Rectangle 5">
            <a:extLst>
              <a:ext uri="{FF2B5EF4-FFF2-40B4-BE49-F238E27FC236}">
                <a16:creationId xmlns:a16="http://schemas.microsoft.com/office/drawing/2014/main" id="{DFA6658D-900F-6111-143E-69DB7310F60D}"/>
              </a:ext>
            </a:extLst>
          </p:cNvPr>
          <p:cNvSpPr/>
          <p:nvPr/>
        </p:nvSpPr>
        <p:spPr>
          <a:xfrm>
            <a:off x="3133493" y="1742391"/>
            <a:ext cx="7610523" cy="646331"/>
          </a:xfrm>
          <a:prstGeom prst="rect">
            <a:avLst/>
          </a:prstGeom>
        </p:spPr>
        <p:txBody>
          <a:bodyPr wrap="square">
            <a:spAutoFit/>
          </a:bodyPr>
          <a:lstStyle/>
          <a:p>
            <a:pPr algn="ctr"/>
            <a:r>
              <a:rPr lang="en-CA" b="1" dirty="0">
                <a:latin typeface="+mj-lt"/>
                <a:cs typeface="Arial" panose="020B0604020202020204" pitchFamily="34" charset="0"/>
              </a:rPr>
              <a:t>Actual state of the null hypothesis</a:t>
            </a:r>
          </a:p>
          <a:p>
            <a:pPr algn="ctr"/>
            <a:r>
              <a:rPr lang="en-CA" b="1" dirty="0">
                <a:latin typeface="+mj-lt"/>
                <a:cs typeface="Arial" panose="020B0604020202020204" pitchFamily="34" charset="0"/>
              </a:rPr>
              <a:t>(i.e., what is happening in the population in the real world)</a:t>
            </a:r>
            <a:endParaRPr lang="en-US" b="1" dirty="0">
              <a:latin typeface="+mj-lt"/>
              <a:cs typeface="Arial" panose="020B0604020202020204" pitchFamily="34" charset="0"/>
            </a:endParaRPr>
          </a:p>
        </p:txBody>
      </p:sp>
    </p:spTree>
    <p:extLst>
      <p:ext uri="{BB962C8B-B14F-4D97-AF65-F5344CB8AC3E}">
        <p14:creationId xmlns:p14="http://schemas.microsoft.com/office/powerpoint/2010/main" val="19826363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07FEB-E724-087C-4F7B-87209BDAC8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D7EAEB-B45B-7136-991E-931635FBD4F3}"/>
              </a:ext>
            </a:extLst>
          </p:cNvPr>
          <p:cNvSpPr>
            <a:spLocks noGrp="1"/>
          </p:cNvSpPr>
          <p:nvPr>
            <p:ph type="title"/>
          </p:nvPr>
        </p:nvSpPr>
        <p:spPr/>
        <p:txBody>
          <a:bodyPr/>
          <a:lstStyle/>
          <a:p>
            <a:r>
              <a:rPr lang="en-US" dirty="0"/>
              <a:t>Step 3: Determine </a:t>
            </a:r>
            <a:r>
              <a:rPr lang="en-US" i="1" dirty="0"/>
              <a:t>a priori</a:t>
            </a:r>
            <a:r>
              <a:rPr lang="en-US" dirty="0"/>
              <a:t> Criteria</a:t>
            </a:r>
          </a:p>
        </p:txBody>
      </p:sp>
      <p:graphicFrame>
        <p:nvGraphicFramePr>
          <p:cNvPr id="4" name="Table 4">
            <a:extLst>
              <a:ext uri="{FF2B5EF4-FFF2-40B4-BE49-F238E27FC236}">
                <a16:creationId xmlns:a16="http://schemas.microsoft.com/office/drawing/2014/main" id="{4F884906-7BCB-14D3-748D-5A034FB61180}"/>
              </a:ext>
            </a:extLst>
          </p:cNvPr>
          <p:cNvGraphicFramePr>
            <a:graphicFrameLocks noGrp="1"/>
          </p:cNvGraphicFramePr>
          <p:nvPr>
            <p:ph idx="1"/>
            <p:extLst>
              <p:ext uri="{D42A27DB-BD31-4B8C-83A1-F6EECF244321}">
                <p14:modId xmlns:p14="http://schemas.microsoft.com/office/powerpoint/2010/main" val="1422569701"/>
              </p:ext>
            </p:extLst>
          </p:nvPr>
        </p:nvGraphicFramePr>
        <p:xfrm>
          <a:off x="619918" y="2514161"/>
          <a:ext cx="10733883" cy="4097802"/>
        </p:xfrm>
        <a:graphic>
          <a:graphicData uri="http://schemas.openxmlformats.org/drawingml/2006/table">
            <a:tbl>
              <a:tblPr firstRow="1" bandRow="1">
                <a:tableStyleId>{5C22544A-7EE6-4342-B048-85BDC9FD1C3A}</a:tableStyleId>
              </a:tblPr>
              <a:tblGrid>
                <a:gridCol w="3577961">
                  <a:extLst>
                    <a:ext uri="{9D8B030D-6E8A-4147-A177-3AD203B41FA5}">
                      <a16:colId xmlns:a16="http://schemas.microsoft.com/office/drawing/2014/main" val="3430294761"/>
                    </a:ext>
                  </a:extLst>
                </a:gridCol>
                <a:gridCol w="3577961">
                  <a:extLst>
                    <a:ext uri="{9D8B030D-6E8A-4147-A177-3AD203B41FA5}">
                      <a16:colId xmlns:a16="http://schemas.microsoft.com/office/drawing/2014/main" val="2049626021"/>
                    </a:ext>
                  </a:extLst>
                </a:gridCol>
                <a:gridCol w="3577961">
                  <a:extLst>
                    <a:ext uri="{9D8B030D-6E8A-4147-A177-3AD203B41FA5}">
                      <a16:colId xmlns:a16="http://schemas.microsoft.com/office/drawing/2014/main" val="1865680301"/>
                    </a:ext>
                  </a:extLst>
                </a:gridCol>
              </a:tblGrid>
              <a:tr h="1365934">
                <a:tc>
                  <a:txBody>
                    <a:bodyPr/>
                    <a:lstStyle/>
                    <a:p>
                      <a:endParaRPr lang="en-CA" sz="2700" dirty="0">
                        <a:solidFill>
                          <a:schemeClr val="tx1"/>
                        </a:solidFill>
                        <a:latin typeface="+mj-lt"/>
                        <a:cs typeface="Arial" panose="020B0604020202020204" pitchFamily="34" charset="0"/>
                      </a:endParaRPr>
                    </a:p>
                  </a:txBody>
                  <a:tcPr marL="124176" marR="124176" marT="62088" marB="62088">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bg1">
                        <a:lumMod val="85000"/>
                      </a:schemeClr>
                    </a:solidFill>
                  </a:tcPr>
                </a:tc>
                <a:tc>
                  <a:txBody>
                    <a:bodyPr/>
                    <a:lstStyle/>
                    <a:p>
                      <a:pPr algn="ctr"/>
                      <a:r>
                        <a:rPr lang="en-US" sz="2700" dirty="0">
                          <a:solidFill>
                            <a:schemeClr val="tx1"/>
                          </a:solidFill>
                          <a:latin typeface="+mj-lt"/>
                          <a:cs typeface="Arial" panose="020B0604020202020204" pitchFamily="34" charset="0"/>
                        </a:rPr>
                        <a:t>Innocent</a:t>
                      </a:r>
                      <a:endParaRPr lang="en-CA" sz="2700" b="1" kern="1200" dirty="0">
                        <a:solidFill>
                          <a:schemeClr val="tx1"/>
                        </a:solidFill>
                        <a:latin typeface="+mj-lt"/>
                        <a:ea typeface="+mn-ea"/>
                        <a:cs typeface="Arial" panose="020B0604020202020204" pitchFamily="34" charset="0"/>
                      </a:endParaRPr>
                    </a:p>
                  </a:txBody>
                  <a:tcPr marL="124176" marR="124176" marT="62088" marB="62088"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bg1">
                        <a:lumMod val="85000"/>
                      </a:schemeClr>
                    </a:solidFill>
                  </a:tcPr>
                </a:tc>
                <a:tc>
                  <a:txBody>
                    <a:bodyPr/>
                    <a:lstStyle/>
                    <a:p>
                      <a:pPr algn="ctr"/>
                      <a:r>
                        <a:rPr lang="en-US" sz="2700" dirty="0">
                          <a:solidFill>
                            <a:schemeClr val="tx1"/>
                          </a:solidFill>
                          <a:latin typeface="+mj-lt"/>
                          <a:cs typeface="Arial" panose="020B0604020202020204" pitchFamily="34" charset="0"/>
                        </a:rPr>
                        <a:t>Guilty</a:t>
                      </a:r>
                      <a:endParaRPr lang="en-CA" sz="2700" b="1" kern="1200" dirty="0">
                        <a:solidFill>
                          <a:schemeClr val="tx1"/>
                        </a:solidFill>
                        <a:latin typeface="+mj-lt"/>
                        <a:ea typeface="+mn-ea"/>
                        <a:cs typeface="Arial" panose="020B0604020202020204" pitchFamily="34" charset="0"/>
                      </a:endParaRPr>
                    </a:p>
                  </a:txBody>
                  <a:tcPr marL="124176" marR="124176" marT="62088" marB="62088"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100501658"/>
                  </a:ext>
                </a:extLst>
              </a:tr>
              <a:tr h="1365934">
                <a:tc>
                  <a:txBody>
                    <a:bodyPr/>
                    <a:lstStyle/>
                    <a:p>
                      <a:r>
                        <a:rPr lang="en-US" sz="2700" b="1" dirty="0">
                          <a:solidFill>
                            <a:schemeClr val="tx1"/>
                          </a:solidFill>
                          <a:latin typeface="+mj-lt"/>
                          <a:cs typeface="Arial" panose="020B0604020202020204" pitchFamily="34" charset="0"/>
                        </a:rPr>
                        <a:t>Guilty</a:t>
                      </a:r>
                      <a:endParaRPr lang="en-CA" sz="2700" b="1" dirty="0">
                        <a:solidFill>
                          <a:schemeClr val="tx1"/>
                        </a:solidFill>
                        <a:latin typeface="+mj-lt"/>
                        <a:cs typeface="Arial" panose="020B0604020202020204" pitchFamily="34" charset="0"/>
                      </a:endParaRPr>
                    </a:p>
                  </a:txBody>
                  <a:tcPr marL="124176" marR="124176" marT="62088" marB="62088"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bg1">
                        <a:lumMod val="85000"/>
                      </a:schemeClr>
                    </a:solidFill>
                  </a:tcPr>
                </a:tc>
                <a:tc>
                  <a:txBody>
                    <a:bodyPr/>
                    <a:lstStyle/>
                    <a:p>
                      <a:pPr algn="ctr"/>
                      <a:r>
                        <a:rPr lang="en-CA" sz="2700" dirty="0">
                          <a:solidFill>
                            <a:schemeClr val="tx1"/>
                          </a:solidFill>
                          <a:latin typeface="+mj-lt"/>
                          <a:cs typeface="Arial" panose="020B0604020202020204" pitchFamily="34" charset="0"/>
                        </a:rPr>
                        <a:t>Innocent goes to jail</a:t>
                      </a:r>
                    </a:p>
                  </a:txBody>
                  <a:tcPr marL="124176" marR="124176" marT="62088" marB="62088"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r>
                        <a:rPr lang="en-CA" sz="2700" dirty="0">
                          <a:solidFill>
                            <a:schemeClr val="tx1"/>
                          </a:solidFill>
                          <a:latin typeface="+mj-lt"/>
                          <a:cs typeface="Arial" panose="020B0604020202020204" pitchFamily="34" charset="0"/>
                        </a:rPr>
                        <a:t>Criminal goes to jail</a:t>
                      </a:r>
                    </a:p>
                  </a:txBody>
                  <a:tcPr marL="124176" marR="124176" marT="62088" marB="62088"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3185289321"/>
                  </a:ext>
                </a:extLst>
              </a:tr>
              <a:tr h="1365934">
                <a:tc>
                  <a:txBody>
                    <a:bodyPr/>
                    <a:lstStyle/>
                    <a:p>
                      <a:r>
                        <a:rPr lang="en-US" sz="2700" b="1" dirty="0">
                          <a:solidFill>
                            <a:schemeClr val="tx1"/>
                          </a:solidFill>
                          <a:latin typeface="+mj-lt"/>
                          <a:cs typeface="Arial" panose="020B0604020202020204" pitchFamily="34" charset="0"/>
                        </a:rPr>
                        <a:t>Not Guilty</a:t>
                      </a:r>
                      <a:endParaRPr lang="en-CA" sz="2700" b="1" dirty="0">
                        <a:solidFill>
                          <a:schemeClr val="tx1"/>
                        </a:solidFill>
                        <a:latin typeface="+mj-lt"/>
                        <a:cs typeface="Arial" panose="020B0604020202020204" pitchFamily="34" charset="0"/>
                      </a:endParaRPr>
                    </a:p>
                  </a:txBody>
                  <a:tcPr marL="124176" marR="124176" marT="62088" marB="62088"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bg1">
                        <a:lumMod val="85000"/>
                      </a:schemeClr>
                    </a:solidFill>
                  </a:tcPr>
                </a:tc>
                <a:tc>
                  <a:txBody>
                    <a:bodyPr/>
                    <a:lstStyle/>
                    <a:p>
                      <a:pPr algn="ctr"/>
                      <a:r>
                        <a:rPr lang="en-CA" sz="2400" dirty="0">
                          <a:solidFill>
                            <a:schemeClr val="tx1"/>
                          </a:solidFill>
                          <a:latin typeface="+mj-lt"/>
                          <a:cs typeface="Arial" panose="020B0604020202020204" pitchFamily="34" charset="0"/>
                        </a:rPr>
                        <a:t>Innocent stays out of jail</a:t>
                      </a:r>
                    </a:p>
                  </a:txBody>
                  <a:tcPr marL="124176" marR="124176" marT="62088" marB="62088"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r>
                        <a:rPr lang="en-CA" sz="2400" dirty="0">
                          <a:solidFill>
                            <a:schemeClr val="tx1"/>
                          </a:solidFill>
                          <a:latin typeface="+mj-lt"/>
                          <a:cs typeface="Arial" panose="020B0604020202020204" pitchFamily="34" charset="0"/>
                        </a:rPr>
                        <a:t>Criminal stays out of jail</a:t>
                      </a:r>
                    </a:p>
                  </a:txBody>
                  <a:tcPr marL="124176" marR="124176" marT="62088" marB="62088"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2401832806"/>
                  </a:ext>
                </a:extLst>
              </a:tr>
            </a:tbl>
          </a:graphicData>
        </a:graphic>
      </p:graphicFrame>
      <p:sp>
        <p:nvSpPr>
          <p:cNvPr id="5" name="Rectangle 4">
            <a:extLst>
              <a:ext uri="{FF2B5EF4-FFF2-40B4-BE49-F238E27FC236}">
                <a16:creationId xmlns:a16="http://schemas.microsoft.com/office/drawing/2014/main" id="{50C79EE5-2109-73C1-6CAC-7428B7E17314}"/>
              </a:ext>
            </a:extLst>
          </p:cNvPr>
          <p:cNvSpPr/>
          <p:nvPr/>
        </p:nvSpPr>
        <p:spPr>
          <a:xfrm rot="16200000">
            <a:off x="-1805562" y="4783167"/>
            <a:ext cx="4273431" cy="369332"/>
          </a:xfrm>
          <a:prstGeom prst="rect">
            <a:avLst/>
          </a:prstGeom>
        </p:spPr>
        <p:txBody>
          <a:bodyPr wrap="square">
            <a:spAutoFit/>
          </a:bodyPr>
          <a:lstStyle/>
          <a:p>
            <a:pPr algn="ctr"/>
            <a:r>
              <a:rPr lang="en-CA" b="1" dirty="0">
                <a:latin typeface="+mj-lt"/>
                <a:cs typeface="Arial" panose="020B0604020202020204" pitchFamily="34" charset="0"/>
              </a:rPr>
              <a:t>Jury’s Decision</a:t>
            </a:r>
            <a:endParaRPr lang="en-US" b="1" dirty="0">
              <a:latin typeface="+mj-lt"/>
              <a:cs typeface="Arial" panose="020B0604020202020204" pitchFamily="34" charset="0"/>
            </a:endParaRPr>
          </a:p>
        </p:txBody>
      </p:sp>
      <p:sp>
        <p:nvSpPr>
          <p:cNvPr id="6" name="Rectangle 5">
            <a:extLst>
              <a:ext uri="{FF2B5EF4-FFF2-40B4-BE49-F238E27FC236}">
                <a16:creationId xmlns:a16="http://schemas.microsoft.com/office/drawing/2014/main" id="{B470B1AE-E2B9-EC2D-E4B3-98C9B06D790E}"/>
              </a:ext>
            </a:extLst>
          </p:cNvPr>
          <p:cNvSpPr/>
          <p:nvPr/>
        </p:nvSpPr>
        <p:spPr>
          <a:xfrm>
            <a:off x="3133493" y="1742391"/>
            <a:ext cx="7610523" cy="646331"/>
          </a:xfrm>
          <a:prstGeom prst="rect">
            <a:avLst/>
          </a:prstGeom>
        </p:spPr>
        <p:txBody>
          <a:bodyPr wrap="square">
            <a:spAutoFit/>
          </a:bodyPr>
          <a:lstStyle/>
          <a:p>
            <a:pPr algn="ctr"/>
            <a:endParaRPr lang="en-CA" b="1" dirty="0">
              <a:latin typeface="+mj-lt"/>
              <a:cs typeface="Arial" panose="020B0604020202020204" pitchFamily="34" charset="0"/>
            </a:endParaRPr>
          </a:p>
          <a:p>
            <a:pPr algn="ctr"/>
            <a:r>
              <a:rPr lang="en-CA" b="1" dirty="0">
                <a:latin typeface="+mj-lt"/>
                <a:cs typeface="Arial" panose="020B0604020202020204" pitchFamily="34" charset="0"/>
              </a:rPr>
              <a:t>True situation</a:t>
            </a:r>
          </a:p>
        </p:txBody>
      </p:sp>
      <p:sp>
        <p:nvSpPr>
          <p:cNvPr id="7" name="Rectangle 6">
            <a:extLst>
              <a:ext uri="{FF2B5EF4-FFF2-40B4-BE49-F238E27FC236}">
                <a16:creationId xmlns:a16="http://schemas.microsoft.com/office/drawing/2014/main" id="{25C3F14A-23B0-F28F-EBCD-0337B25A1A9B}"/>
              </a:ext>
            </a:extLst>
          </p:cNvPr>
          <p:cNvSpPr/>
          <p:nvPr/>
        </p:nvSpPr>
        <p:spPr>
          <a:xfrm>
            <a:off x="8025560" y="3982298"/>
            <a:ext cx="3073399" cy="120745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B4AB7B8-0847-DC3E-2B73-180E0BCF1033}"/>
              </a:ext>
            </a:extLst>
          </p:cNvPr>
          <p:cNvSpPr/>
          <p:nvPr/>
        </p:nvSpPr>
        <p:spPr>
          <a:xfrm>
            <a:off x="4250654" y="5342153"/>
            <a:ext cx="3458028" cy="120745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8BA35B6-96F1-09B0-152A-CC6E70A450BC}"/>
              </a:ext>
            </a:extLst>
          </p:cNvPr>
          <p:cNvSpPr/>
          <p:nvPr/>
        </p:nvSpPr>
        <p:spPr>
          <a:xfrm>
            <a:off x="4567532" y="3944628"/>
            <a:ext cx="2978602" cy="120745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2CA0D77-908F-A349-3134-306C8FE117D1}"/>
              </a:ext>
            </a:extLst>
          </p:cNvPr>
          <p:cNvSpPr/>
          <p:nvPr/>
        </p:nvSpPr>
        <p:spPr>
          <a:xfrm>
            <a:off x="8025559" y="5289777"/>
            <a:ext cx="3073399" cy="120745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7029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P spid="11"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B77DC-6BFA-0339-D01C-86A85B7C52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D18B0E-9658-2D6B-A7E2-1630CA675925}"/>
              </a:ext>
            </a:extLst>
          </p:cNvPr>
          <p:cNvSpPr>
            <a:spLocks noGrp="1"/>
          </p:cNvSpPr>
          <p:nvPr>
            <p:ph type="title"/>
          </p:nvPr>
        </p:nvSpPr>
        <p:spPr/>
        <p:txBody>
          <a:bodyPr/>
          <a:lstStyle/>
          <a:p>
            <a:r>
              <a:rPr lang="en-US"/>
              <a:t>Step 3: Determine </a:t>
            </a:r>
            <a:r>
              <a:rPr lang="en-US" i="1"/>
              <a:t>a priori</a:t>
            </a:r>
            <a:r>
              <a:rPr lang="en-US"/>
              <a:t> Criteria</a:t>
            </a:r>
            <a:endParaRPr lang="en-US" dirty="0"/>
          </a:p>
        </p:txBody>
      </p:sp>
      <p:graphicFrame>
        <p:nvGraphicFramePr>
          <p:cNvPr id="4" name="Table 4">
            <a:extLst>
              <a:ext uri="{FF2B5EF4-FFF2-40B4-BE49-F238E27FC236}">
                <a16:creationId xmlns:a16="http://schemas.microsoft.com/office/drawing/2014/main" id="{A5842B84-0BFA-36E6-E910-A441EA0C4C46}"/>
              </a:ext>
            </a:extLst>
          </p:cNvPr>
          <p:cNvGraphicFramePr>
            <a:graphicFrameLocks noGrp="1"/>
          </p:cNvGraphicFramePr>
          <p:nvPr>
            <p:ph idx="1"/>
            <p:extLst>
              <p:ext uri="{D42A27DB-BD31-4B8C-83A1-F6EECF244321}">
                <p14:modId xmlns:p14="http://schemas.microsoft.com/office/powerpoint/2010/main" val="2931806363"/>
              </p:ext>
            </p:extLst>
          </p:nvPr>
        </p:nvGraphicFramePr>
        <p:xfrm>
          <a:off x="619918" y="2514161"/>
          <a:ext cx="10733883" cy="4097802"/>
        </p:xfrm>
        <a:graphic>
          <a:graphicData uri="http://schemas.openxmlformats.org/drawingml/2006/table">
            <a:tbl>
              <a:tblPr firstRow="1" bandRow="1">
                <a:tableStyleId>{5C22544A-7EE6-4342-B048-85BDC9FD1C3A}</a:tableStyleId>
              </a:tblPr>
              <a:tblGrid>
                <a:gridCol w="3577961">
                  <a:extLst>
                    <a:ext uri="{9D8B030D-6E8A-4147-A177-3AD203B41FA5}">
                      <a16:colId xmlns:a16="http://schemas.microsoft.com/office/drawing/2014/main" val="3430294761"/>
                    </a:ext>
                  </a:extLst>
                </a:gridCol>
                <a:gridCol w="3577961">
                  <a:extLst>
                    <a:ext uri="{9D8B030D-6E8A-4147-A177-3AD203B41FA5}">
                      <a16:colId xmlns:a16="http://schemas.microsoft.com/office/drawing/2014/main" val="2049626021"/>
                    </a:ext>
                  </a:extLst>
                </a:gridCol>
                <a:gridCol w="3577961">
                  <a:extLst>
                    <a:ext uri="{9D8B030D-6E8A-4147-A177-3AD203B41FA5}">
                      <a16:colId xmlns:a16="http://schemas.microsoft.com/office/drawing/2014/main" val="1865680301"/>
                    </a:ext>
                  </a:extLst>
                </a:gridCol>
              </a:tblGrid>
              <a:tr h="1365934">
                <a:tc>
                  <a:txBody>
                    <a:bodyPr/>
                    <a:lstStyle/>
                    <a:p>
                      <a:endParaRPr lang="en-CA" sz="2700" dirty="0">
                        <a:solidFill>
                          <a:schemeClr val="tx1"/>
                        </a:solidFill>
                        <a:latin typeface="+mj-lt"/>
                        <a:cs typeface="Arial" panose="020B0604020202020204" pitchFamily="34" charset="0"/>
                      </a:endParaRPr>
                    </a:p>
                  </a:txBody>
                  <a:tcPr marL="124176" marR="124176" marT="62088" marB="62088">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bg1">
                        <a:lumMod val="85000"/>
                      </a:schemeClr>
                    </a:solidFill>
                  </a:tcPr>
                </a:tc>
                <a:tc>
                  <a:txBody>
                    <a:bodyPr/>
                    <a:lstStyle/>
                    <a:p>
                      <a:pPr algn="ctr"/>
                      <a:r>
                        <a:rPr lang="en-US" sz="2700" dirty="0">
                          <a:solidFill>
                            <a:schemeClr val="tx1"/>
                          </a:solidFill>
                          <a:latin typeface="+mj-lt"/>
                          <a:cs typeface="Arial" panose="020B0604020202020204" pitchFamily="34" charset="0"/>
                        </a:rPr>
                        <a:t>Innocent</a:t>
                      </a:r>
                      <a:endParaRPr lang="en-CA" sz="2700" b="1" kern="1200" dirty="0">
                        <a:solidFill>
                          <a:schemeClr val="tx1"/>
                        </a:solidFill>
                        <a:latin typeface="+mj-lt"/>
                        <a:ea typeface="+mn-ea"/>
                        <a:cs typeface="Arial" panose="020B0604020202020204" pitchFamily="34" charset="0"/>
                      </a:endParaRPr>
                    </a:p>
                  </a:txBody>
                  <a:tcPr marL="124176" marR="124176" marT="62088" marB="62088"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bg1">
                        <a:lumMod val="85000"/>
                      </a:schemeClr>
                    </a:solidFill>
                  </a:tcPr>
                </a:tc>
                <a:tc>
                  <a:txBody>
                    <a:bodyPr/>
                    <a:lstStyle/>
                    <a:p>
                      <a:pPr algn="ctr"/>
                      <a:r>
                        <a:rPr lang="en-US" sz="2700" dirty="0">
                          <a:solidFill>
                            <a:schemeClr val="tx1"/>
                          </a:solidFill>
                          <a:latin typeface="+mj-lt"/>
                          <a:cs typeface="Arial" panose="020B0604020202020204" pitchFamily="34" charset="0"/>
                        </a:rPr>
                        <a:t>Guilty</a:t>
                      </a:r>
                      <a:endParaRPr lang="en-CA" sz="2700" b="1" kern="1200" dirty="0">
                        <a:solidFill>
                          <a:schemeClr val="tx1"/>
                        </a:solidFill>
                        <a:latin typeface="+mj-lt"/>
                        <a:ea typeface="+mn-ea"/>
                        <a:cs typeface="Arial" panose="020B0604020202020204" pitchFamily="34" charset="0"/>
                      </a:endParaRPr>
                    </a:p>
                  </a:txBody>
                  <a:tcPr marL="124176" marR="124176" marT="62088" marB="62088"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100501658"/>
                  </a:ext>
                </a:extLst>
              </a:tr>
              <a:tr h="1365934">
                <a:tc>
                  <a:txBody>
                    <a:bodyPr/>
                    <a:lstStyle/>
                    <a:p>
                      <a:r>
                        <a:rPr lang="en-US" sz="2700" b="1" dirty="0">
                          <a:solidFill>
                            <a:schemeClr val="tx1"/>
                          </a:solidFill>
                          <a:latin typeface="+mj-lt"/>
                          <a:cs typeface="Arial" panose="020B0604020202020204" pitchFamily="34" charset="0"/>
                        </a:rPr>
                        <a:t>Guilty</a:t>
                      </a:r>
                      <a:endParaRPr lang="en-CA" sz="2700" b="1" dirty="0">
                        <a:solidFill>
                          <a:schemeClr val="tx1"/>
                        </a:solidFill>
                        <a:latin typeface="+mj-lt"/>
                        <a:cs typeface="Arial" panose="020B0604020202020204" pitchFamily="34" charset="0"/>
                      </a:endParaRPr>
                    </a:p>
                  </a:txBody>
                  <a:tcPr marL="124176" marR="124176" marT="62088" marB="62088"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bg1">
                        <a:lumMod val="85000"/>
                      </a:schemeClr>
                    </a:solidFill>
                  </a:tcPr>
                </a:tc>
                <a:tc>
                  <a:txBody>
                    <a:bodyPr/>
                    <a:lstStyle/>
                    <a:p>
                      <a:pPr algn="ctr"/>
                      <a:r>
                        <a:rPr lang="en-CA" sz="2700" dirty="0">
                          <a:solidFill>
                            <a:schemeClr val="tx1"/>
                          </a:solidFill>
                          <a:latin typeface="+mj-lt"/>
                          <a:cs typeface="Arial" panose="020B0604020202020204" pitchFamily="34" charset="0"/>
                        </a:rPr>
                        <a:t>Innocent goes to jail</a:t>
                      </a:r>
                    </a:p>
                  </a:txBody>
                  <a:tcPr marL="124176" marR="124176" marT="62088" marB="62088"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r>
                        <a:rPr lang="en-CA" sz="2700" dirty="0">
                          <a:solidFill>
                            <a:schemeClr val="tx1"/>
                          </a:solidFill>
                          <a:latin typeface="+mj-lt"/>
                          <a:cs typeface="Arial" panose="020B0604020202020204" pitchFamily="34" charset="0"/>
                        </a:rPr>
                        <a:t>Criminal goes to jail</a:t>
                      </a:r>
                    </a:p>
                  </a:txBody>
                  <a:tcPr marL="124176" marR="124176" marT="62088" marB="62088"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3185289321"/>
                  </a:ext>
                </a:extLst>
              </a:tr>
              <a:tr h="1365934">
                <a:tc>
                  <a:txBody>
                    <a:bodyPr/>
                    <a:lstStyle/>
                    <a:p>
                      <a:r>
                        <a:rPr lang="en-US" sz="2700" b="1" dirty="0">
                          <a:solidFill>
                            <a:schemeClr val="tx1"/>
                          </a:solidFill>
                          <a:latin typeface="+mj-lt"/>
                          <a:cs typeface="Arial" panose="020B0604020202020204" pitchFamily="34" charset="0"/>
                        </a:rPr>
                        <a:t>Not Guilty</a:t>
                      </a:r>
                      <a:endParaRPr lang="en-CA" sz="2700" b="1" dirty="0">
                        <a:solidFill>
                          <a:schemeClr val="tx1"/>
                        </a:solidFill>
                        <a:latin typeface="+mj-lt"/>
                        <a:cs typeface="Arial" panose="020B0604020202020204" pitchFamily="34" charset="0"/>
                      </a:endParaRPr>
                    </a:p>
                  </a:txBody>
                  <a:tcPr marL="124176" marR="124176" marT="62088" marB="62088"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bg1">
                        <a:lumMod val="85000"/>
                      </a:schemeClr>
                    </a:solidFill>
                  </a:tcPr>
                </a:tc>
                <a:tc>
                  <a:txBody>
                    <a:bodyPr/>
                    <a:lstStyle/>
                    <a:p>
                      <a:pPr algn="ctr"/>
                      <a:r>
                        <a:rPr lang="en-CA" sz="2400" dirty="0">
                          <a:solidFill>
                            <a:schemeClr val="tx1"/>
                          </a:solidFill>
                          <a:latin typeface="+mj-lt"/>
                          <a:cs typeface="Arial" panose="020B0604020202020204" pitchFamily="34" charset="0"/>
                        </a:rPr>
                        <a:t>Innocent stays out of jail</a:t>
                      </a:r>
                    </a:p>
                  </a:txBody>
                  <a:tcPr marL="124176" marR="124176" marT="62088" marB="62088"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tc>
                  <a:txBody>
                    <a:bodyPr/>
                    <a:lstStyle/>
                    <a:p>
                      <a:pPr algn="ctr"/>
                      <a:r>
                        <a:rPr lang="en-CA" sz="2400" dirty="0">
                          <a:solidFill>
                            <a:schemeClr val="tx1"/>
                          </a:solidFill>
                          <a:latin typeface="+mj-lt"/>
                          <a:cs typeface="Arial" panose="020B0604020202020204" pitchFamily="34" charset="0"/>
                        </a:rPr>
                        <a:t>Criminal stays out of jail</a:t>
                      </a:r>
                    </a:p>
                  </a:txBody>
                  <a:tcPr marL="124176" marR="124176" marT="62088" marB="62088"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noFill/>
                  </a:tcPr>
                </a:tc>
                <a:extLst>
                  <a:ext uri="{0D108BD9-81ED-4DB2-BD59-A6C34878D82A}">
                    <a16:rowId xmlns:a16="http://schemas.microsoft.com/office/drawing/2014/main" val="2401832806"/>
                  </a:ext>
                </a:extLst>
              </a:tr>
            </a:tbl>
          </a:graphicData>
        </a:graphic>
      </p:graphicFrame>
      <p:sp>
        <p:nvSpPr>
          <p:cNvPr id="5" name="Rectangle 4">
            <a:extLst>
              <a:ext uri="{FF2B5EF4-FFF2-40B4-BE49-F238E27FC236}">
                <a16:creationId xmlns:a16="http://schemas.microsoft.com/office/drawing/2014/main" id="{0EAEE197-EA58-9644-9A3D-498B3AB567A4}"/>
              </a:ext>
            </a:extLst>
          </p:cNvPr>
          <p:cNvSpPr/>
          <p:nvPr/>
        </p:nvSpPr>
        <p:spPr>
          <a:xfrm rot="16200000">
            <a:off x="-1805562" y="4783167"/>
            <a:ext cx="4273431" cy="369332"/>
          </a:xfrm>
          <a:prstGeom prst="rect">
            <a:avLst/>
          </a:prstGeom>
        </p:spPr>
        <p:txBody>
          <a:bodyPr wrap="square">
            <a:spAutoFit/>
          </a:bodyPr>
          <a:lstStyle/>
          <a:p>
            <a:pPr algn="ctr"/>
            <a:r>
              <a:rPr lang="en-CA" b="1" dirty="0">
                <a:latin typeface="+mj-lt"/>
                <a:cs typeface="Arial" panose="020B0604020202020204" pitchFamily="34" charset="0"/>
              </a:rPr>
              <a:t>Jury’s Decision</a:t>
            </a:r>
            <a:endParaRPr lang="en-US" b="1" dirty="0">
              <a:latin typeface="+mj-lt"/>
              <a:cs typeface="Arial" panose="020B0604020202020204" pitchFamily="34" charset="0"/>
            </a:endParaRPr>
          </a:p>
        </p:txBody>
      </p:sp>
      <p:sp>
        <p:nvSpPr>
          <p:cNvPr id="6" name="Rectangle 5">
            <a:extLst>
              <a:ext uri="{FF2B5EF4-FFF2-40B4-BE49-F238E27FC236}">
                <a16:creationId xmlns:a16="http://schemas.microsoft.com/office/drawing/2014/main" id="{3C13C194-ED87-ED83-9500-1FADA6DB4B8E}"/>
              </a:ext>
            </a:extLst>
          </p:cNvPr>
          <p:cNvSpPr/>
          <p:nvPr/>
        </p:nvSpPr>
        <p:spPr>
          <a:xfrm>
            <a:off x="3133493" y="1742391"/>
            <a:ext cx="7610523" cy="646331"/>
          </a:xfrm>
          <a:prstGeom prst="rect">
            <a:avLst/>
          </a:prstGeom>
        </p:spPr>
        <p:txBody>
          <a:bodyPr wrap="square">
            <a:spAutoFit/>
          </a:bodyPr>
          <a:lstStyle/>
          <a:p>
            <a:pPr algn="ctr"/>
            <a:endParaRPr lang="en-CA" b="1" dirty="0">
              <a:latin typeface="+mj-lt"/>
              <a:cs typeface="Arial" panose="020B0604020202020204" pitchFamily="34" charset="0"/>
            </a:endParaRPr>
          </a:p>
          <a:p>
            <a:pPr algn="ctr"/>
            <a:r>
              <a:rPr lang="en-CA" b="1" dirty="0">
                <a:latin typeface="+mj-lt"/>
                <a:cs typeface="Arial" panose="020B0604020202020204" pitchFamily="34" charset="0"/>
              </a:rPr>
              <a:t>True situation</a:t>
            </a:r>
          </a:p>
        </p:txBody>
      </p:sp>
    </p:spTree>
    <p:extLst>
      <p:ext uri="{BB962C8B-B14F-4D97-AF65-F5344CB8AC3E}">
        <p14:creationId xmlns:p14="http://schemas.microsoft.com/office/powerpoint/2010/main" val="42797277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A115E2-4FE8-2E4C-A37A-70FF38E79C49}"/>
              </a:ext>
            </a:extLst>
          </p:cNvPr>
          <p:cNvSpPr>
            <a:spLocks noGrp="1"/>
          </p:cNvSpPr>
          <p:nvPr>
            <p:ph idx="1"/>
          </p:nvPr>
        </p:nvSpPr>
        <p:spPr>
          <a:xfrm>
            <a:off x="838200" y="586596"/>
            <a:ext cx="5257800" cy="6271404"/>
          </a:xfrm>
        </p:spPr>
        <p:txBody>
          <a:bodyPr>
            <a:normAutofit/>
          </a:bodyPr>
          <a:lstStyle/>
          <a:p>
            <a:pPr marL="0" indent="0">
              <a:buNone/>
            </a:pPr>
            <a:r>
              <a:rPr lang="en-US" b="1" dirty="0"/>
              <a:t>Step 1:</a:t>
            </a:r>
          </a:p>
          <a:p>
            <a:r>
              <a:rPr lang="en-US" b="1" i="1" dirty="0"/>
              <a:t>H</a:t>
            </a:r>
            <a:r>
              <a:rPr lang="en-US" b="1" i="1" baseline="-25000" dirty="0"/>
              <a:t>0</a:t>
            </a:r>
            <a:r>
              <a:rPr lang="en-US" b="1" dirty="0"/>
              <a:t>: </a:t>
            </a:r>
            <a:r>
              <a:rPr lang="el-GR" i="1" dirty="0"/>
              <a:t>μ</a:t>
            </a:r>
            <a:r>
              <a:rPr lang="en-CA" dirty="0"/>
              <a:t> =</a:t>
            </a:r>
            <a:r>
              <a:rPr lang="el-GR" dirty="0"/>
              <a:t> </a:t>
            </a:r>
            <a:r>
              <a:rPr lang="en-US" dirty="0"/>
              <a:t>75.00</a:t>
            </a:r>
            <a:r>
              <a:rPr lang="en-CA" dirty="0"/>
              <a:t>    </a:t>
            </a:r>
          </a:p>
          <a:p>
            <a:r>
              <a:rPr lang="en-US" b="1" i="1" dirty="0"/>
              <a:t>H</a:t>
            </a:r>
            <a:r>
              <a:rPr lang="en-US" b="1" i="1" baseline="-25000" dirty="0"/>
              <a:t>1</a:t>
            </a:r>
            <a:r>
              <a:rPr lang="en-US" b="1" dirty="0"/>
              <a:t>: </a:t>
            </a:r>
            <a:r>
              <a:rPr lang="el-GR" i="1" dirty="0"/>
              <a:t>μ</a:t>
            </a:r>
            <a:r>
              <a:rPr lang="en-CA" dirty="0"/>
              <a:t> ≠ </a:t>
            </a:r>
            <a:r>
              <a:rPr lang="en-US" dirty="0"/>
              <a:t>75.00</a:t>
            </a:r>
            <a:r>
              <a:rPr lang="en-CA" dirty="0"/>
              <a:t>    </a:t>
            </a:r>
          </a:p>
          <a:p>
            <a:pPr lvl="1"/>
            <a:r>
              <a:rPr lang="en-CA" dirty="0"/>
              <a:t>Thus, two-tailed</a:t>
            </a:r>
          </a:p>
          <a:p>
            <a:pPr marL="0" indent="0">
              <a:buNone/>
            </a:pPr>
            <a:endParaRPr lang="en-CA" b="1" dirty="0"/>
          </a:p>
          <a:p>
            <a:pPr marL="0" indent="0">
              <a:buNone/>
            </a:pPr>
            <a:r>
              <a:rPr lang="en-CA" b="1" dirty="0"/>
              <a:t>Step 2: </a:t>
            </a:r>
            <a:endParaRPr lang="en-US" b="1" dirty="0"/>
          </a:p>
          <a:p>
            <a:pPr>
              <a:lnSpc>
                <a:spcPct val="100000"/>
              </a:lnSpc>
              <a:spcBef>
                <a:spcPts val="0"/>
              </a:spcBef>
            </a:pPr>
            <a:r>
              <a:rPr lang="en-US" sz="1200" b="1" dirty="0"/>
              <a:t>Type of Research Design</a:t>
            </a:r>
            <a:r>
              <a:rPr lang="en-US" sz="1200" dirty="0"/>
              <a:t>: Single-Participant Design</a:t>
            </a:r>
          </a:p>
          <a:p>
            <a:pPr>
              <a:lnSpc>
                <a:spcPct val="100000"/>
              </a:lnSpc>
              <a:spcBef>
                <a:spcPts val="0"/>
              </a:spcBef>
            </a:pPr>
            <a:r>
              <a:rPr lang="en-US" sz="1200" b="1" dirty="0"/>
              <a:t>Model of Hypothesis Testing</a:t>
            </a:r>
            <a:r>
              <a:rPr lang="en-US" sz="1200" dirty="0"/>
              <a:t>: Random Sampling</a:t>
            </a:r>
          </a:p>
          <a:p>
            <a:pPr>
              <a:lnSpc>
                <a:spcPct val="100000"/>
              </a:lnSpc>
              <a:spcBef>
                <a:spcPts val="0"/>
              </a:spcBef>
            </a:pPr>
            <a:r>
              <a:rPr lang="en-US" sz="1200" b="1" dirty="0"/>
              <a:t>Nature of Data (Scales of measurement)</a:t>
            </a:r>
            <a:r>
              <a:rPr lang="en-US" sz="1200" dirty="0"/>
              <a:t>: Score data</a:t>
            </a:r>
          </a:p>
          <a:p>
            <a:pPr>
              <a:lnSpc>
                <a:spcPct val="100000"/>
              </a:lnSpc>
              <a:spcBef>
                <a:spcPts val="0"/>
              </a:spcBef>
            </a:pPr>
            <a:r>
              <a:rPr lang="en-US" sz="1200" b="1" dirty="0"/>
              <a:t>Statistic Being Analyzed</a:t>
            </a:r>
            <a:r>
              <a:rPr lang="en-US" sz="1200" dirty="0"/>
              <a:t>: X</a:t>
            </a:r>
          </a:p>
          <a:p>
            <a:pPr>
              <a:lnSpc>
                <a:spcPct val="100000"/>
              </a:lnSpc>
              <a:spcBef>
                <a:spcPts val="0"/>
              </a:spcBef>
            </a:pPr>
            <a:r>
              <a:rPr lang="en-US" sz="1200" b="1" dirty="0"/>
              <a:t>Information about the Population</a:t>
            </a:r>
            <a:r>
              <a:rPr lang="en-US" sz="1200" dirty="0"/>
              <a:t>: </a:t>
            </a:r>
            <a:r>
              <a:rPr lang="el-GR" sz="1200" dirty="0"/>
              <a:t>μ</a:t>
            </a:r>
            <a:r>
              <a:rPr lang="en-US" sz="1200" dirty="0"/>
              <a:t> = 75.00, σ = 6.50, </a:t>
            </a:r>
            <a:r>
              <a:rPr lang="en-US" sz="1200" i="1" dirty="0"/>
              <a:t>N</a:t>
            </a:r>
            <a:r>
              <a:rPr lang="en-US" sz="1200" dirty="0"/>
              <a:t> = 500</a:t>
            </a:r>
          </a:p>
          <a:p>
            <a:pPr>
              <a:lnSpc>
                <a:spcPct val="100000"/>
              </a:lnSpc>
              <a:spcBef>
                <a:spcPts val="0"/>
              </a:spcBef>
            </a:pPr>
            <a:r>
              <a:rPr lang="en-US" sz="1200" b="1" dirty="0"/>
              <a:t>Sample Size</a:t>
            </a:r>
            <a:r>
              <a:rPr lang="en-US" sz="1200" dirty="0"/>
              <a:t>: </a:t>
            </a:r>
            <a:r>
              <a:rPr lang="en-US" sz="1200" i="1" dirty="0"/>
              <a:t>n</a:t>
            </a:r>
            <a:r>
              <a:rPr lang="en-US" sz="1200" dirty="0"/>
              <a:t> = 1</a:t>
            </a:r>
          </a:p>
          <a:p>
            <a:pPr>
              <a:lnSpc>
                <a:spcPct val="100000"/>
              </a:lnSpc>
              <a:spcBef>
                <a:spcPts val="0"/>
              </a:spcBef>
            </a:pPr>
            <a:r>
              <a:rPr lang="en-US" sz="1200" b="1" dirty="0"/>
              <a:t>Shape</a:t>
            </a:r>
            <a:r>
              <a:rPr lang="en-US" sz="1200" dirty="0"/>
              <a:t>: Normally distributed</a:t>
            </a:r>
            <a:endParaRPr lang="en-US" sz="1050" dirty="0"/>
          </a:p>
          <a:p>
            <a:pPr marL="0" indent="0">
              <a:lnSpc>
                <a:spcPct val="100000"/>
              </a:lnSpc>
              <a:buNone/>
            </a:pPr>
            <a:endParaRPr lang="en-US" b="1" dirty="0"/>
          </a:p>
          <a:p>
            <a:pPr marL="0" indent="0">
              <a:lnSpc>
                <a:spcPct val="100000"/>
              </a:lnSpc>
              <a:buNone/>
            </a:pPr>
            <a:r>
              <a:rPr lang="en-US" b="1" dirty="0"/>
              <a:t>Step 3:</a:t>
            </a:r>
          </a:p>
          <a:p>
            <a:r>
              <a:rPr lang="en-CA" i="1" dirty="0"/>
              <a:t>p(</a:t>
            </a:r>
            <a:r>
              <a:rPr lang="el-GR" i="1" dirty="0"/>
              <a:t>α</a:t>
            </a:r>
            <a:r>
              <a:rPr lang="en-CA" i="1" dirty="0"/>
              <a:t>) </a:t>
            </a:r>
            <a:r>
              <a:rPr lang="en-CA" dirty="0"/>
              <a:t>= .05, </a:t>
            </a:r>
            <a:r>
              <a:rPr lang="en-CA" i="1" dirty="0"/>
              <a:t>z(crit)</a:t>
            </a:r>
            <a:r>
              <a:rPr lang="en-CA" dirty="0"/>
              <a:t> = ±</a:t>
            </a:r>
            <a:r>
              <a:rPr lang="en-US" dirty="0"/>
              <a:t>1.96</a:t>
            </a:r>
          </a:p>
          <a:p>
            <a:pPr marL="0" indent="0">
              <a:buNone/>
            </a:pPr>
            <a:endParaRPr lang="en-CA" dirty="0"/>
          </a:p>
          <a:p>
            <a:endParaRPr lang="en-US" dirty="0"/>
          </a:p>
        </p:txBody>
      </p:sp>
    </p:spTree>
    <p:extLst>
      <p:ext uri="{BB962C8B-B14F-4D97-AF65-F5344CB8AC3E}">
        <p14:creationId xmlns:p14="http://schemas.microsoft.com/office/powerpoint/2010/main" val="28480261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0512D-42F0-03D0-A7CD-D773DD34856F}"/>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5F5D6757-CA06-2EAC-A748-6E69929719BB}"/>
              </a:ext>
            </a:extLst>
          </p:cNvPr>
          <p:cNvGrpSpPr/>
          <p:nvPr/>
        </p:nvGrpSpPr>
        <p:grpSpPr>
          <a:xfrm>
            <a:off x="294429" y="602116"/>
            <a:ext cx="5458932" cy="5307690"/>
            <a:chOff x="1462829" y="602117"/>
            <a:chExt cx="5458932" cy="5307690"/>
          </a:xfrm>
        </p:grpSpPr>
        <p:grpSp>
          <p:nvGrpSpPr>
            <p:cNvPr id="5" name="Group 4">
              <a:extLst>
                <a:ext uri="{FF2B5EF4-FFF2-40B4-BE49-F238E27FC236}">
                  <a16:creationId xmlns:a16="http://schemas.microsoft.com/office/drawing/2014/main" id="{6AE5B8EE-0F39-D8E8-8582-9E68F18645B8}"/>
                </a:ext>
              </a:extLst>
            </p:cNvPr>
            <p:cNvGrpSpPr/>
            <p:nvPr/>
          </p:nvGrpSpPr>
          <p:grpSpPr>
            <a:xfrm>
              <a:off x="1462829" y="602117"/>
              <a:ext cx="5458932" cy="5307690"/>
              <a:chOff x="1779790" y="1493134"/>
              <a:chExt cx="4490974" cy="4366550"/>
            </a:xfrm>
          </p:grpSpPr>
          <p:cxnSp>
            <p:nvCxnSpPr>
              <p:cNvPr id="15" name="Straight Arrow Connector 14">
                <a:extLst>
                  <a:ext uri="{FF2B5EF4-FFF2-40B4-BE49-F238E27FC236}">
                    <a16:creationId xmlns:a16="http://schemas.microsoft.com/office/drawing/2014/main" id="{26C149F3-CCBB-6040-79EC-B054F27E6CC0}"/>
                  </a:ext>
                </a:extLst>
              </p:cNvPr>
              <p:cNvCxnSpPr>
                <a:cxnSpLocks/>
              </p:cNvCxnSpPr>
              <p:nvPr/>
            </p:nvCxnSpPr>
            <p:spPr>
              <a:xfrm flipV="1">
                <a:off x="1805652" y="1493134"/>
                <a:ext cx="0" cy="4366550"/>
              </a:xfrm>
              <a:prstGeom prst="straightConnector1">
                <a:avLst/>
              </a:prstGeom>
              <a:ln w="127000">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CF6CF533-F4D4-BDE7-5B25-5D88F3C315CB}"/>
                  </a:ext>
                </a:extLst>
              </p:cNvPr>
              <p:cNvCxnSpPr>
                <a:cxnSpLocks/>
              </p:cNvCxnSpPr>
              <p:nvPr/>
            </p:nvCxnSpPr>
            <p:spPr>
              <a:xfrm>
                <a:off x="1779790" y="5816277"/>
                <a:ext cx="4490974" cy="0"/>
              </a:xfrm>
              <a:prstGeom prst="straightConnector1">
                <a:avLst/>
              </a:prstGeom>
              <a:ln w="127000">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sp>
            <p:nvSpPr>
              <p:cNvPr id="17" name="Freeform 16">
                <a:extLst>
                  <a:ext uri="{FF2B5EF4-FFF2-40B4-BE49-F238E27FC236}">
                    <a16:creationId xmlns:a16="http://schemas.microsoft.com/office/drawing/2014/main" id="{C6DAF2C1-E218-B807-B13E-52ADA7DB918A}"/>
                  </a:ext>
                </a:extLst>
              </p:cNvPr>
              <p:cNvSpPr/>
              <p:nvPr/>
            </p:nvSpPr>
            <p:spPr>
              <a:xfrm>
                <a:off x="1939274" y="3449119"/>
                <a:ext cx="1893537" cy="2087919"/>
              </a:xfrm>
              <a:custGeom>
                <a:avLst/>
                <a:gdLst>
                  <a:gd name="connsiteX0" fmla="*/ 0 w 1893537"/>
                  <a:gd name="connsiteY0" fmla="*/ 2879376 h 2887468"/>
                  <a:gd name="connsiteX1" fmla="*/ 412694 w 1893537"/>
                  <a:gd name="connsiteY1" fmla="*/ 2361486 h 2887468"/>
                  <a:gd name="connsiteX2" fmla="*/ 841572 w 1893537"/>
                  <a:gd name="connsiteY2" fmla="*/ 233281 h 2887468"/>
                  <a:gd name="connsiteX3" fmla="*/ 1068149 w 1893537"/>
                  <a:gd name="connsiteY3" fmla="*/ 289925 h 2887468"/>
                  <a:gd name="connsiteX4" fmla="*/ 1472751 w 1893537"/>
                  <a:gd name="connsiteY4" fmla="*/ 2321026 h 2887468"/>
                  <a:gd name="connsiteX5" fmla="*/ 1893537 w 1893537"/>
                  <a:gd name="connsiteY5" fmla="*/ 2887468 h 2887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3537" h="2887468">
                    <a:moveTo>
                      <a:pt x="0" y="2879376"/>
                    </a:moveTo>
                    <a:cubicBezTo>
                      <a:pt x="136216" y="2840939"/>
                      <a:pt x="272432" y="2802502"/>
                      <a:pt x="412694" y="2361486"/>
                    </a:cubicBezTo>
                    <a:cubicBezTo>
                      <a:pt x="552956" y="1920470"/>
                      <a:pt x="732330" y="578541"/>
                      <a:pt x="841572" y="233281"/>
                    </a:cubicBezTo>
                    <a:cubicBezTo>
                      <a:pt x="950814" y="-111979"/>
                      <a:pt x="962953" y="-58032"/>
                      <a:pt x="1068149" y="289925"/>
                    </a:cubicBezTo>
                    <a:cubicBezTo>
                      <a:pt x="1173345" y="637882"/>
                      <a:pt x="1335186" y="1888102"/>
                      <a:pt x="1472751" y="2321026"/>
                    </a:cubicBezTo>
                    <a:cubicBezTo>
                      <a:pt x="1610316" y="2753950"/>
                      <a:pt x="1689888" y="2863192"/>
                      <a:pt x="1893537" y="2887468"/>
                    </a:cubicBezTo>
                  </a:path>
                </a:pathLst>
              </a:custGeom>
              <a:solidFill>
                <a:schemeClr val="accent1">
                  <a:lumMod val="40000"/>
                  <a:lumOff val="60000"/>
                  <a:alpha val="84678"/>
                </a:schemeClr>
              </a:solidFill>
              <a:ln>
                <a:solidFill>
                  <a:schemeClr val="accent1">
                    <a:lumMod val="50000"/>
                    <a:alpha val="85134"/>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17">
                <a:extLst>
                  <a:ext uri="{FF2B5EF4-FFF2-40B4-BE49-F238E27FC236}">
                    <a16:creationId xmlns:a16="http://schemas.microsoft.com/office/drawing/2014/main" id="{BD71D081-27E4-65E2-17F0-58B2FC78E8BC}"/>
                  </a:ext>
                </a:extLst>
              </p:cNvPr>
              <p:cNvSpPr/>
              <p:nvPr/>
            </p:nvSpPr>
            <p:spPr>
              <a:xfrm>
                <a:off x="2842958" y="2826560"/>
                <a:ext cx="1893537" cy="2710478"/>
              </a:xfrm>
              <a:custGeom>
                <a:avLst/>
                <a:gdLst>
                  <a:gd name="connsiteX0" fmla="*/ 0 w 1893537"/>
                  <a:gd name="connsiteY0" fmla="*/ 2879376 h 2887468"/>
                  <a:gd name="connsiteX1" fmla="*/ 412694 w 1893537"/>
                  <a:gd name="connsiteY1" fmla="*/ 2361486 h 2887468"/>
                  <a:gd name="connsiteX2" fmla="*/ 841572 w 1893537"/>
                  <a:gd name="connsiteY2" fmla="*/ 233281 h 2887468"/>
                  <a:gd name="connsiteX3" fmla="*/ 1068149 w 1893537"/>
                  <a:gd name="connsiteY3" fmla="*/ 289925 h 2887468"/>
                  <a:gd name="connsiteX4" fmla="*/ 1472751 w 1893537"/>
                  <a:gd name="connsiteY4" fmla="*/ 2321026 h 2887468"/>
                  <a:gd name="connsiteX5" fmla="*/ 1893537 w 1893537"/>
                  <a:gd name="connsiteY5" fmla="*/ 2887468 h 2887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3537" h="2887468">
                    <a:moveTo>
                      <a:pt x="0" y="2879376"/>
                    </a:moveTo>
                    <a:cubicBezTo>
                      <a:pt x="136216" y="2840939"/>
                      <a:pt x="272432" y="2802502"/>
                      <a:pt x="412694" y="2361486"/>
                    </a:cubicBezTo>
                    <a:cubicBezTo>
                      <a:pt x="552956" y="1920470"/>
                      <a:pt x="732330" y="578541"/>
                      <a:pt x="841572" y="233281"/>
                    </a:cubicBezTo>
                    <a:cubicBezTo>
                      <a:pt x="950814" y="-111979"/>
                      <a:pt x="962953" y="-58032"/>
                      <a:pt x="1068149" y="289925"/>
                    </a:cubicBezTo>
                    <a:cubicBezTo>
                      <a:pt x="1173345" y="637882"/>
                      <a:pt x="1335186" y="1888102"/>
                      <a:pt x="1472751" y="2321026"/>
                    </a:cubicBezTo>
                    <a:cubicBezTo>
                      <a:pt x="1610316" y="2753950"/>
                      <a:pt x="1689888" y="2863192"/>
                      <a:pt x="1893537" y="2887468"/>
                    </a:cubicBezTo>
                  </a:path>
                </a:pathLst>
              </a:custGeom>
              <a:solidFill>
                <a:schemeClr val="accent2">
                  <a:lumMod val="40000"/>
                  <a:lumOff val="60000"/>
                  <a:alpha val="85220"/>
                </a:schemeClr>
              </a:solidFill>
              <a:ln>
                <a:solidFill>
                  <a:schemeClr val="accent2">
                    <a:lumMod val="50000"/>
                    <a:alpha val="85199"/>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18">
                <a:extLst>
                  <a:ext uri="{FF2B5EF4-FFF2-40B4-BE49-F238E27FC236}">
                    <a16:creationId xmlns:a16="http://schemas.microsoft.com/office/drawing/2014/main" id="{DF69EAC4-DDD5-7EB3-5DAF-75EC619ADFF1}"/>
                  </a:ext>
                </a:extLst>
              </p:cNvPr>
              <p:cNvSpPr/>
              <p:nvPr/>
            </p:nvSpPr>
            <p:spPr>
              <a:xfrm>
                <a:off x="3722204" y="2311601"/>
                <a:ext cx="2101382" cy="3225437"/>
              </a:xfrm>
              <a:custGeom>
                <a:avLst/>
                <a:gdLst>
                  <a:gd name="connsiteX0" fmla="*/ 0 w 1893537"/>
                  <a:gd name="connsiteY0" fmla="*/ 2879376 h 2887468"/>
                  <a:gd name="connsiteX1" fmla="*/ 412694 w 1893537"/>
                  <a:gd name="connsiteY1" fmla="*/ 2361486 h 2887468"/>
                  <a:gd name="connsiteX2" fmla="*/ 841572 w 1893537"/>
                  <a:gd name="connsiteY2" fmla="*/ 233281 h 2887468"/>
                  <a:gd name="connsiteX3" fmla="*/ 1068149 w 1893537"/>
                  <a:gd name="connsiteY3" fmla="*/ 289925 h 2887468"/>
                  <a:gd name="connsiteX4" fmla="*/ 1472751 w 1893537"/>
                  <a:gd name="connsiteY4" fmla="*/ 2321026 h 2887468"/>
                  <a:gd name="connsiteX5" fmla="*/ 1893537 w 1893537"/>
                  <a:gd name="connsiteY5" fmla="*/ 2887468 h 2887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3537" h="2887468">
                    <a:moveTo>
                      <a:pt x="0" y="2879376"/>
                    </a:moveTo>
                    <a:cubicBezTo>
                      <a:pt x="136216" y="2840939"/>
                      <a:pt x="272432" y="2802502"/>
                      <a:pt x="412694" y="2361486"/>
                    </a:cubicBezTo>
                    <a:cubicBezTo>
                      <a:pt x="552956" y="1920470"/>
                      <a:pt x="732330" y="578541"/>
                      <a:pt x="841572" y="233281"/>
                    </a:cubicBezTo>
                    <a:cubicBezTo>
                      <a:pt x="950814" y="-111979"/>
                      <a:pt x="962953" y="-58032"/>
                      <a:pt x="1068149" y="289925"/>
                    </a:cubicBezTo>
                    <a:cubicBezTo>
                      <a:pt x="1173345" y="637882"/>
                      <a:pt x="1335186" y="1888102"/>
                      <a:pt x="1472751" y="2321026"/>
                    </a:cubicBezTo>
                    <a:cubicBezTo>
                      <a:pt x="1610316" y="2753950"/>
                      <a:pt x="1689888" y="2863192"/>
                      <a:pt x="1893537" y="2887468"/>
                    </a:cubicBezTo>
                  </a:path>
                </a:pathLst>
              </a:custGeom>
              <a:solidFill>
                <a:schemeClr val="accent6">
                  <a:lumMod val="40000"/>
                  <a:lumOff val="60000"/>
                  <a:alpha val="85188"/>
                </a:schemeClr>
              </a:solidFill>
              <a:ln>
                <a:solidFill>
                  <a:schemeClr val="accent6">
                    <a:lumMod val="50000"/>
                    <a:alpha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Freeform 5">
              <a:extLst>
                <a:ext uri="{FF2B5EF4-FFF2-40B4-BE49-F238E27FC236}">
                  <a16:creationId xmlns:a16="http://schemas.microsoft.com/office/drawing/2014/main" id="{980B9A33-6E0F-5761-B830-23B09E0C93D8}"/>
                </a:ext>
              </a:extLst>
            </p:cNvPr>
            <p:cNvSpPr/>
            <p:nvPr/>
          </p:nvSpPr>
          <p:spPr>
            <a:xfrm>
              <a:off x="1812853" y="2979683"/>
              <a:ext cx="3708069" cy="2264351"/>
            </a:xfrm>
            <a:custGeom>
              <a:avLst/>
              <a:gdLst>
                <a:gd name="connsiteX0" fmla="*/ 0 w 3229897"/>
                <a:gd name="connsiteY0" fmla="*/ 2138516 h 2138516"/>
                <a:gd name="connsiteX1" fmla="*/ 678426 w 3229897"/>
                <a:gd name="connsiteY1" fmla="*/ 1991032 h 2138516"/>
                <a:gd name="connsiteX2" fmla="*/ 1253613 w 3229897"/>
                <a:gd name="connsiteY2" fmla="*/ 1401097 h 2138516"/>
                <a:gd name="connsiteX3" fmla="*/ 1784555 w 3229897"/>
                <a:gd name="connsiteY3" fmla="*/ 1238864 h 2138516"/>
                <a:gd name="connsiteX4" fmla="*/ 2433484 w 3229897"/>
                <a:gd name="connsiteY4" fmla="*/ 693174 h 2138516"/>
                <a:gd name="connsiteX5" fmla="*/ 3229897 w 3229897"/>
                <a:gd name="connsiteY5" fmla="*/ 0 h 2138516"/>
                <a:gd name="connsiteX0" fmla="*/ 0 w 3708069"/>
                <a:gd name="connsiteY0" fmla="*/ 2264351 h 2264351"/>
                <a:gd name="connsiteX1" fmla="*/ 1156598 w 3708069"/>
                <a:gd name="connsiteY1" fmla="*/ 1991032 h 2264351"/>
                <a:gd name="connsiteX2" fmla="*/ 1731785 w 3708069"/>
                <a:gd name="connsiteY2" fmla="*/ 1401097 h 2264351"/>
                <a:gd name="connsiteX3" fmla="*/ 2262727 w 3708069"/>
                <a:gd name="connsiteY3" fmla="*/ 1238864 h 2264351"/>
                <a:gd name="connsiteX4" fmla="*/ 2911656 w 3708069"/>
                <a:gd name="connsiteY4" fmla="*/ 693174 h 2264351"/>
                <a:gd name="connsiteX5" fmla="*/ 3708069 w 3708069"/>
                <a:gd name="connsiteY5" fmla="*/ 0 h 2264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8069" h="2264351">
                  <a:moveTo>
                    <a:pt x="0" y="2264351"/>
                  </a:moveTo>
                  <a:lnTo>
                    <a:pt x="1156598" y="1991032"/>
                  </a:lnTo>
                  <a:lnTo>
                    <a:pt x="1731785" y="1401097"/>
                  </a:lnTo>
                  <a:lnTo>
                    <a:pt x="2262727" y="1238864"/>
                  </a:lnTo>
                  <a:lnTo>
                    <a:pt x="2911656" y="693174"/>
                  </a:lnTo>
                  <a:lnTo>
                    <a:pt x="3708069" y="0"/>
                  </a:lnTo>
                </a:path>
              </a:pathLst>
            </a:custGeom>
            <a:noFill/>
            <a:ln w="127000">
              <a:solidFill>
                <a:schemeClr val="bg1">
                  <a:alpha val="84175"/>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63C1784B-4363-60E0-8C38-4B45A65A468F}"/>
                </a:ext>
              </a:extLst>
            </p:cNvPr>
            <p:cNvCxnSpPr>
              <a:cxnSpLocks/>
            </p:cNvCxnSpPr>
            <p:nvPr/>
          </p:nvCxnSpPr>
          <p:spPr>
            <a:xfrm flipV="1">
              <a:off x="5630015" y="2762124"/>
              <a:ext cx="122104" cy="126034"/>
            </a:xfrm>
            <a:prstGeom prst="straightConnector1">
              <a:avLst/>
            </a:pr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8" name="Freeform 7">
              <a:extLst>
                <a:ext uri="{FF2B5EF4-FFF2-40B4-BE49-F238E27FC236}">
                  <a16:creationId xmlns:a16="http://schemas.microsoft.com/office/drawing/2014/main" id="{7A8DBDFC-F748-8A50-9091-7932798A8394}"/>
                </a:ext>
              </a:extLst>
            </p:cNvPr>
            <p:cNvSpPr/>
            <p:nvPr/>
          </p:nvSpPr>
          <p:spPr>
            <a:xfrm>
              <a:off x="1817303" y="2889806"/>
              <a:ext cx="3812712" cy="2352582"/>
            </a:xfrm>
            <a:custGeom>
              <a:avLst/>
              <a:gdLst>
                <a:gd name="connsiteX0" fmla="*/ 0 w 3229897"/>
                <a:gd name="connsiteY0" fmla="*/ 2138516 h 2138516"/>
                <a:gd name="connsiteX1" fmla="*/ 678426 w 3229897"/>
                <a:gd name="connsiteY1" fmla="*/ 1991032 h 2138516"/>
                <a:gd name="connsiteX2" fmla="*/ 1253613 w 3229897"/>
                <a:gd name="connsiteY2" fmla="*/ 1401097 h 2138516"/>
                <a:gd name="connsiteX3" fmla="*/ 1784555 w 3229897"/>
                <a:gd name="connsiteY3" fmla="*/ 1238864 h 2138516"/>
                <a:gd name="connsiteX4" fmla="*/ 2433484 w 3229897"/>
                <a:gd name="connsiteY4" fmla="*/ 693174 h 2138516"/>
                <a:gd name="connsiteX5" fmla="*/ 3229897 w 3229897"/>
                <a:gd name="connsiteY5" fmla="*/ 0 h 2138516"/>
                <a:gd name="connsiteX0" fmla="*/ 0 w 3326150"/>
                <a:gd name="connsiteY0" fmla="*/ 2226747 h 2226747"/>
                <a:gd name="connsiteX1" fmla="*/ 678426 w 3326150"/>
                <a:gd name="connsiteY1" fmla="*/ 2079263 h 2226747"/>
                <a:gd name="connsiteX2" fmla="*/ 1253613 w 3326150"/>
                <a:gd name="connsiteY2" fmla="*/ 1489328 h 2226747"/>
                <a:gd name="connsiteX3" fmla="*/ 1784555 w 3326150"/>
                <a:gd name="connsiteY3" fmla="*/ 1327095 h 2226747"/>
                <a:gd name="connsiteX4" fmla="*/ 2433484 w 3326150"/>
                <a:gd name="connsiteY4" fmla="*/ 781405 h 2226747"/>
                <a:gd name="connsiteX5" fmla="*/ 3326150 w 3326150"/>
                <a:gd name="connsiteY5" fmla="*/ 0 h 2226747"/>
                <a:gd name="connsiteX0" fmla="*/ 0 w 3812712"/>
                <a:gd name="connsiteY0" fmla="*/ 2352582 h 2352582"/>
                <a:gd name="connsiteX1" fmla="*/ 1164988 w 3812712"/>
                <a:gd name="connsiteY1" fmla="*/ 2079263 h 2352582"/>
                <a:gd name="connsiteX2" fmla="*/ 1740175 w 3812712"/>
                <a:gd name="connsiteY2" fmla="*/ 1489328 h 2352582"/>
                <a:gd name="connsiteX3" fmla="*/ 2271117 w 3812712"/>
                <a:gd name="connsiteY3" fmla="*/ 1327095 h 2352582"/>
                <a:gd name="connsiteX4" fmla="*/ 2920046 w 3812712"/>
                <a:gd name="connsiteY4" fmla="*/ 781405 h 2352582"/>
                <a:gd name="connsiteX5" fmla="*/ 3812712 w 3812712"/>
                <a:gd name="connsiteY5" fmla="*/ 0 h 2352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2712" h="2352582">
                  <a:moveTo>
                    <a:pt x="0" y="2352582"/>
                  </a:moveTo>
                  <a:lnTo>
                    <a:pt x="1164988" y="2079263"/>
                  </a:lnTo>
                  <a:lnTo>
                    <a:pt x="1740175" y="1489328"/>
                  </a:lnTo>
                  <a:lnTo>
                    <a:pt x="2271117" y="1327095"/>
                  </a:lnTo>
                  <a:lnTo>
                    <a:pt x="2920046" y="781405"/>
                  </a:lnTo>
                  <a:lnTo>
                    <a:pt x="3812712" y="0"/>
                  </a:lnTo>
                </a:path>
              </a:pathLst>
            </a:cu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EC3DA626-874C-F3B7-90D0-3841F7750F2A}"/>
                </a:ext>
              </a:extLst>
            </p:cNvPr>
            <p:cNvSpPr/>
            <p:nvPr/>
          </p:nvSpPr>
          <p:spPr>
            <a:xfrm>
              <a:off x="1737815" y="5180385"/>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5FCCC059-2F3E-4F5D-28E9-BA0A08F9AD19}"/>
                </a:ext>
              </a:extLst>
            </p:cNvPr>
            <p:cNvSpPr/>
            <p:nvPr/>
          </p:nvSpPr>
          <p:spPr>
            <a:xfrm>
              <a:off x="2889176" y="4884308"/>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D6BCA17E-FBAE-D5DB-4256-3B55E664AC52}"/>
                </a:ext>
              </a:extLst>
            </p:cNvPr>
            <p:cNvSpPr/>
            <p:nvPr/>
          </p:nvSpPr>
          <p:spPr>
            <a:xfrm>
              <a:off x="3464941" y="4316251"/>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4918B209-2B08-5BD2-6703-27CE8852D3E3}"/>
                </a:ext>
              </a:extLst>
            </p:cNvPr>
            <p:cNvSpPr/>
            <p:nvPr/>
          </p:nvSpPr>
          <p:spPr>
            <a:xfrm>
              <a:off x="4014062" y="4120703"/>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BFF12CE7-E952-A86B-6C3C-D31D0CB72083}"/>
                </a:ext>
              </a:extLst>
            </p:cNvPr>
            <p:cNvSpPr/>
            <p:nvPr/>
          </p:nvSpPr>
          <p:spPr>
            <a:xfrm>
              <a:off x="4660823" y="3598409"/>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870D82ED-A21E-0137-5662-40AFFB25978C}"/>
                </a:ext>
              </a:extLst>
            </p:cNvPr>
            <p:cNvSpPr/>
            <p:nvPr/>
          </p:nvSpPr>
          <p:spPr>
            <a:xfrm>
              <a:off x="5260932" y="3074751"/>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Title 1">
            <a:extLst>
              <a:ext uri="{FF2B5EF4-FFF2-40B4-BE49-F238E27FC236}">
                <a16:creationId xmlns:a16="http://schemas.microsoft.com/office/drawing/2014/main" id="{CD566067-4D08-D498-7443-94EBE1D86AF0}"/>
              </a:ext>
            </a:extLst>
          </p:cNvPr>
          <p:cNvSpPr txBox="1">
            <a:spLocks/>
          </p:cNvSpPr>
          <p:nvPr/>
        </p:nvSpPr>
        <p:spPr>
          <a:xfrm>
            <a:off x="5809077" y="269830"/>
            <a:ext cx="6468542" cy="658817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u="sng" dirty="0">
                <a:latin typeface="Calibri" panose="020F0502020204030204" pitchFamily="34" charset="0"/>
                <a:cs typeface="Calibri" panose="020F0502020204030204" pitchFamily="34" charset="0"/>
              </a:rPr>
              <a:t>Lecture Outline</a:t>
            </a:r>
          </a:p>
          <a:p>
            <a:endParaRPr lang="en-US" sz="3200" dirty="0">
              <a:latin typeface="Calibri" panose="020F0502020204030204" pitchFamily="34" charset="0"/>
              <a:cs typeface="Calibri" panose="020F0502020204030204" pitchFamily="34" charset="0"/>
            </a:endParaRPr>
          </a:p>
          <a:p>
            <a:r>
              <a:rPr lang="en-US" sz="3200" dirty="0">
                <a:latin typeface="Calibri" panose="020F0502020204030204" pitchFamily="34" charset="0"/>
                <a:cs typeface="Calibri" panose="020F0502020204030204" pitchFamily="34" charset="0"/>
              </a:rPr>
              <a:t>Steps for Hypothesis Testing</a:t>
            </a:r>
          </a:p>
          <a:p>
            <a:pPr marL="800100" indent="-508000">
              <a:buFont typeface="+mj-lt"/>
              <a:buAutoNum type="arabicPeriod"/>
            </a:pPr>
            <a:r>
              <a:rPr lang="en-US" sz="2800" dirty="0"/>
              <a:t>Define Hypotheses</a:t>
            </a:r>
          </a:p>
          <a:p>
            <a:pPr marL="800100" indent="-508000">
              <a:buFont typeface="+mj-lt"/>
              <a:buAutoNum type="arabicPeriod"/>
            </a:pPr>
            <a:r>
              <a:rPr lang="en-US" sz="2800" dirty="0"/>
              <a:t>Select Sampling Distribution</a:t>
            </a:r>
          </a:p>
          <a:p>
            <a:pPr marL="800100" indent="-508000">
              <a:buFont typeface="+mj-lt"/>
              <a:buAutoNum type="arabicPeriod"/>
            </a:pPr>
            <a:r>
              <a:rPr lang="en-US" sz="2800" dirty="0"/>
              <a:t>Set </a:t>
            </a:r>
            <a:r>
              <a:rPr lang="en-US" sz="2800" i="1" dirty="0"/>
              <a:t>a priori</a:t>
            </a:r>
            <a:r>
              <a:rPr lang="en-US" sz="2800" dirty="0"/>
              <a:t> criteria</a:t>
            </a:r>
          </a:p>
          <a:p>
            <a:pPr marL="800100" indent="-508000">
              <a:buFont typeface="+mj-lt"/>
              <a:buAutoNum type="arabicPeriod"/>
            </a:pPr>
            <a:r>
              <a:rPr lang="en-US" sz="2800" dirty="0">
                <a:solidFill>
                  <a:srgbClr val="FF0000"/>
                </a:solidFill>
              </a:rPr>
              <a:t>Compute statistics</a:t>
            </a:r>
          </a:p>
          <a:p>
            <a:pPr marL="800100" indent="-508000">
              <a:buFont typeface="+mj-lt"/>
              <a:buAutoNum type="arabicPeriod"/>
            </a:pPr>
            <a:r>
              <a:rPr lang="en-US" sz="2800" dirty="0"/>
              <a:t>Make statistical decision</a:t>
            </a:r>
          </a:p>
          <a:p>
            <a:pPr marL="800100" indent="-508000">
              <a:buFont typeface="+mj-lt"/>
              <a:buAutoNum type="arabicPeriod"/>
            </a:pPr>
            <a:r>
              <a:rPr lang="en-US" sz="2800" dirty="0"/>
              <a:t>Interpret your outcome</a:t>
            </a:r>
            <a:endParaRPr lang="en-US" sz="2000" dirty="0"/>
          </a:p>
          <a:p>
            <a:endParaRPr lang="en-US"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316306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Chart&#10;&#10;Description automatically generated">
            <a:extLst>
              <a:ext uri="{FF2B5EF4-FFF2-40B4-BE49-F238E27FC236}">
                <a16:creationId xmlns:a16="http://schemas.microsoft.com/office/drawing/2014/main" id="{FF82571A-41DE-C033-6C7F-73F94DA277ED}"/>
              </a:ext>
            </a:extLst>
          </p:cNvPr>
          <p:cNvPicPr>
            <a:picLocks noChangeAspect="1"/>
          </p:cNvPicPr>
          <p:nvPr/>
        </p:nvPicPr>
        <p:blipFill rotWithShape="1">
          <a:blip r:embed="rId2"/>
          <a:srcRect r="15716" b="17017"/>
          <a:stretch>
            <a:fillRect/>
          </a:stretch>
        </p:blipFill>
        <p:spPr>
          <a:xfrm>
            <a:off x="7126874" y="2593442"/>
            <a:ext cx="5065126" cy="1965679"/>
          </a:xfrm>
          <a:prstGeom prst="rect">
            <a:avLst/>
          </a:prstGeom>
        </p:spPr>
      </p:pic>
      <p:sp>
        <p:nvSpPr>
          <p:cNvPr id="2" name="Title 1">
            <a:extLst>
              <a:ext uri="{FF2B5EF4-FFF2-40B4-BE49-F238E27FC236}">
                <a16:creationId xmlns:a16="http://schemas.microsoft.com/office/drawing/2014/main" id="{DC3AE6BB-58A8-1546-92D6-2C0306990118}"/>
              </a:ext>
            </a:extLst>
          </p:cNvPr>
          <p:cNvSpPr>
            <a:spLocks noGrp="1"/>
          </p:cNvSpPr>
          <p:nvPr>
            <p:ph type="title"/>
          </p:nvPr>
        </p:nvSpPr>
        <p:spPr/>
        <p:txBody>
          <a:bodyPr/>
          <a:lstStyle/>
          <a:p>
            <a:r>
              <a:rPr lang="en-US" dirty="0"/>
              <a:t>Step 4: Compute Statistics</a:t>
            </a:r>
          </a:p>
        </p:txBody>
      </p:sp>
      <p:sp>
        <p:nvSpPr>
          <p:cNvPr id="3" name="Content Placeholder 2">
            <a:extLst>
              <a:ext uri="{FF2B5EF4-FFF2-40B4-BE49-F238E27FC236}">
                <a16:creationId xmlns:a16="http://schemas.microsoft.com/office/drawing/2014/main" id="{378FCDFA-0D6E-DB41-948F-9A6ED1D0F9DB}"/>
              </a:ext>
            </a:extLst>
          </p:cNvPr>
          <p:cNvSpPr>
            <a:spLocks noGrp="1"/>
          </p:cNvSpPr>
          <p:nvPr>
            <p:ph idx="1"/>
          </p:nvPr>
        </p:nvSpPr>
        <p:spPr>
          <a:xfrm>
            <a:off x="838201" y="1825624"/>
            <a:ext cx="5763882" cy="5032375"/>
          </a:xfrm>
        </p:spPr>
        <p:txBody>
          <a:bodyPr>
            <a:normAutofit/>
          </a:bodyPr>
          <a:lstStyle/>
          <a:p>
            <a:pPr marL="0" indent="0">
              <a:buNone/>
            </a:pPr>
            <a:r>
              <a:rPr lang="en-CA" b="1" dirty="0"/>
              <a:t>The Test Statistic</a:t>
            </a:r>
          </a:p>
          <a:p>
            <a:r>
              <a:rPr lang="en-CA" dirty="0"/>
              <a:t>Standardized test ratio</a:t>
            </a:r>
          </a:p>
          <a:p>
            <a:r>
              <a:rPr lang="en-CA" dirty="0"/>
              <a:t>General form:</a:t>
            </a:r>
          </a:p>
          <a:p>
            <a:endParaRPr lang="en-CA" dirty="0"/>
          </a:p>
          <a:p>
            <a:endParaRPr lang="en-CA" dirty="0"/>
          </a:p>
          <a:p>
            <a:pPr lvl="1"/>
            <a:r>
              <a:rPr lang="en-CA" dirty="0"/>
              <a:t>Where the box is the statistic of interest (e.g., x, x̅)</a:t>
            </a:r>
            <a:endParaRPr lang="en-US" dirty="0"/>
          </a:p>
          <a:p>
            <a:pPr lvl="1"/>
            <a:endParaRPr lang="en-US" dirty="0"/>
          </a:p>
        </p:txBody>
      </p:sp>
      <p:pic>
        <p:nvPicPr>
          <p:cNvPr id="7" name="Picture 6" descr="A picture containing table&#10;&#10;Description automatically generated">
            <a:extLst>
              <a:ext uri="{FF2B5EF4-FFF2-40B4-BE49-F238E27FC236}">
                <a16:creationId xmlns:a16="http://schemas.microsoft.com/office/drawing/2014/main" id="{FEBA3A73-12D2-124D-B9A9-8134BD144324}"/>
              </a:ext>
            </a:extLst>
          </p:cNvPr>
          <p:cNvPicPr>
            <a:picLocks noChangeAspect="1"/>
          </p:cNvPicPr>
          <p:nvPr/>
        </p:nvPicPr>
        <p:blipFill>
          <a:blip r:embed="rId3"/>
          <a:stretch>
            <a:fillRect/>
          </a:stretch>
        </p:blipFill>
        <p:spPr>
          <a:xfrm>
            <a:off x="1182071" y="3319069"/>
            <a:ext cx="4532929" cy="987285"/>
          </a:xfrm>
          <a:prstGeom prst="rect">
            <a:avLst/>
          </a:prstGeom>
        </p:spPr>
      </p:pic>
    </p:spTree>
    <p:extLst>
      <p:ext uri="{BB962C8B-B14F-4D97-AF65-F5344CB8AC3E}">
        <p14:creationId xmlns:p14="http://schemas.microsoft.com/office/powerpoint/2010/main" val="2911956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AE6BB-58A8-1546-92D6-2C0306990118}"/>
              </a:ext>
            </a:extLst>
          </p:cNvPr>
          <p:cNvSpPr>
            <a:spLocks noGrp="1"/>
          </p:cNvSpPr>
          <p:nvPr>
            <p:ph type="title"/>
          </p:nvPr>
        </p:nvSpPr>
        <p:spPr/>
        <p:txBody>
          <a:bodyPr/>
          <a:lstStyle/>
          <a:p>
            <a:r>
              <a:rPr lang="en-US" dirty="0"/>
              <a:t>Step 4: Compute Statistics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78FCDFA-0D6E-DB41-948F-9A6ED1D0F9DB}"/>
                  </a:ext>
                </a:extLst>
              </p:cNvPr>
              <p:cNvSpPr>
                <a:spLocks noGrp="1"/>
              </p:cNvSpPr>
              <p:nvPr>
                <p:ph idx="1"/>
              </p:nvPr>
            </p:nvSpPr>
            <p:spPr>
              <a:xfrm>
                <a:off x="838201" y="1825624"/>
                <a:ext cx="5763882" cy="5032375"/>
              </a:xfrm>
            </p:spPr>
            <p:txBody>
              <a:bodyPr>
                <a:normAutofit fontScale="85000" lnSpcReduction="20000"/>
              </a:bodyPr>
              <a:lstStyle/>
              <a:p>
                <a:pPr marL="0" indent="0">
                  <a:buNone/>
                </a:pPr>
                <a14:m>
                  <m:oMathPara xmlns:m="http://schemas.openxmlformats.org/officeDocument/2006/math">
                    <m:oMathParaPr>
                      <m:jc m:val="left"/>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𝑥</m:t>
                          </m:r>
                        </m:sub>
                      </m:sSub>
                      <m:r>
                        <a:rPr lang="en-US" b="0" i="0" smtClean="0">
                          <a:latin typeface="Cambria Math" panose="02040503050406030204" pitchFamily="18" charset="0"/>
                        </a:rPr>
                        <m:t>=</m:t>
                      </m:r>
                      <m:f>
                        <m:fPr>
                          <m:ctrlPr>
                            <a:rPr lang="en-US" i="1" smtClean="0">
                              <a:latin typeface="Cambria Math" panose="02040503050406030204" pitchFamily="18" charset="0"/>
                            </a:rPr>
                          </m:ctrlPr>
                        </m:fPr>
                        <m:num>
                          <m:r>
                            <a:rPr lang="en-CA" b="0" i="1" smtClean="0">
                              <a:latin typeface="Cambria Math" panose="02040503050406030204" pitchFamily="18" charset="0"/>
                            </a:rPr>
                            <m:t>𝑋</m:t>
                          </m:r>
                          <m:r>
                            <a:rPr lang="en-CA" b="0" i="1" smtClean="0">
                              <a:latin typeface="Cambria Math" panose="02040503050406030204" pitchFamily="18" charset="0"/>
                            </a:rPr>
                            <m:t> −</m:t>
                          </m:r>
                          <m:r>
                            <m:rPr>
                              <m:nor/>
                            </m:rPr>
                            <a:rPr lang="el-GR" i="1" dirty="0" smtClean="0"/>
                            <m:t>μ</m:t>
                          </m:r>
                          <m:r>
                            <m:rPr>
                              <m:nor/>
                            </m:rPr>
                            <a:rPr lang="en-CA" b="0" i="0" baseline="-25000" dirty="0" smtClean="0"/>
                            <m:t>x</m:t>
                          </m:r>
                        </m:num>
                        <m:den>
                          <m:r>
                            <m:rPr>
                              <m:nor/>
                            </m:rPr>
                            <a:rPr lang="en-US" i="1" dirty="0" smtClean="0"/>
                            <m:t>σ</m:t>
                          </m:r>
                          <m:r>
                            <m:rPr>
                              <m:sty m:val="p"/>
                            </m:rPr>
                            <a:rPr lang="en-CA" b="0" i="0" baseline="-25000" dirty="0" smtClean="0">
                              <a:latin typeface="Cambria Math" panose="02040503050406030204" pitchFamily="18" charset="0"/>
                            </a:rPr>
                            <m:t>X</m:t>
                          </m:r>
                        </m:den>
                      </m:f>
                    </m:oMath>
                  </m:oMathPara>
                </a14:m>
                <a:endParaRPr lang="en-US" dirty="0"/>
              </a:p>
              <a:p>
                <a:pPr marL="0" indent="0">
                  <a:buNone/>
                </a:pPr>
                <a:endParaRPr lang="en-US" dirty="0"/>
              </a:p>
              <a:p>
                <a:r>
                  <a:rPr lang="en-US" b="1" dirty="0"/>
                  <a:t>Example</a:t>
                </a:r>
                <a:r>
                  <a:rPr lang="en-US" dirty="0"/>
                  <a:t>:</a:t>
                </a:r>
              </a:p>
              <a:p>
                <a:pPr lvl="1"/>
                <a:r>
                  <a:rPr lang="en-US" b="1" dirty="0"/>
                  <a:t>Population</a:t>
                </a:r>
                <a:r>
                  <a:rPr lang="en-US" dirty="0"/>
                  <a:t>: </a:t>
                </a:r>
                <a14:m>
                  <m:oMath xmlns:m="http://schemas.openxmlformats.org/officeDocument/2006/math">
                    <m:r>
                      <m:rPr>
                        <m:nor/>
                      </m:rPr>
                      <a:rPr lang="el-GR" i="1" dirty="0" smtClean="0"/>
                      <m:t>μ</m:t>
                    </m:r>
                  </m:oMath>
                </a14:m>
                <a:r>
                  <a:rPr lang="en-US" dirty="0"/>
                  <a:t> = 75.00, </a:t>
                </a:r>
                <a14:m>
                  <m:oMath xmlns:m="http://schemas.openxmlformats.org/officeDocument/2006/math">
                    <m:r>
                      <m:rPr>
                        <m:nor/>
                      </m:rPr>
                      <a:rPr lang="en-US" i="1" dirty="0" smtClean="0"/>
                      <m:t>σ</m:t>
                    </m:r>
                  </m:oMath>
                </a14:m>
                <a:r>
                  <a:rPr lang="en-US" dirty="0"/>
                  <a:t> = 6.50</a:t>
                </a:r>
              </a:p>
              <a:p>
                <a:pPr lvl="1"/>
                <a:r>
                  <a:rPr lang="en-US" b="1" dirty="0"/>
                  <a:t>Sample</a:t>
                </a:r>
                <a:r>
                  <a:rPr lang="en-US" dirty="0"/>
                  <a:t>: </a:t>
                </a:r>
                <a:r>
                  <a:rPr lang="en-US" i="1" dirty="0"/>
                  <a:t>x</a:t>
                </a:r>
                <a:r>
                  <a:rPr lang="en-US" dirty="0"/>
                  <a:t> = 90.00, </a:t>
                </a:r>
                <a:r>
                  <a:rPr lang="en-US" i="1" dirty="0"/>
                  <a:t>n</a:t>
                </a:r>
                <a:r>
                  <a:rPr lang="en-US" dirty="0"/>
                  <a:t> = 1</a:t>
                </a:r>
              </a:p>
              <a:p>
                <a:pPr lvl="1"/>
                <a:r>
                  <a:rPr lang="en-US" b="1" dirty="0"/>
                  <a:t>Sampling Distribution</a:t>
                </a:r>
                <a:r>
                  <a:rPr lang="en-US" dirty="0"/>
                  <a:t>: </a:t>
                </a:r>
              </a:p>
              <a:p>
                <a:pPr lvl="2"/>
                <a14:m>
                  <m:oMath xmlns:m="http://schemas.openxmlformats.org/officeDocument/2006/math">
                    <m:r>
                      <m:rPr>
                        <m:nor/>
                      </m:rPr>
                      <a:rPr lang="el-GR" i="1" dirty="0" smtClean="0"/>
                      <m:t>μ</m:t>
                    </m:r>
                    <m:r>
                      <m:rPr>
                        <m:nor/>
                      </m:rPr>
                      <a:rPr lang="en-CA" b="0" i="1" baseline="-25000" dirty="0" smtClean="0"/>
                      <m:t>X</m:t>
                    </m:r>
                  </m:oMath>
                </a14:m>
                <a:r>
                  <a:rPr lang="en-US" dirty="0"/>
                  <a:t> = 75.00, </a:t>
                </a:r>
                <a14:m>
                  <m:oMath xmlns:m="http://schemas.openxmlformats.org/officeDocument/2006/math">
                    <m:r>
                      <m:rPr>
                        <m:nor/>
                      </m:rPr>
                      <a:rPr lang="en-US" i="1" dirty="0" smtClean="0"/>
                      <m:t>σ</m:t>
                    </m:r>
                    <m:r>
                      <m:rPr>
                        <m:nor/>
                      </m:rPr>
                      <a:rPr lang="en-CA" b="0" i="1" baseline="-25000" dirty="0" smtClean="0"/>
                      <m:t>X</m:t>
                    </m:r>
                  </m:oMath>
                </a14:m>
                <a:r>
                  <a:rPr lang="en-US" i="1" dirty="0"/>
                  <a:t> </a:t>
                </a:r>
                <a:r>
                  <a:rPr lang="en-US" dirty="0"/>
                  <a:t>= 6.50</a:t>
                </a:r>
              </a:p>
              <a:p>
                <a:pPr lvl="2"/>
                <a:endParaRPr lang="en-US" dirty="0"/>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𝑧</m:t>
                        </m:r>
                      </m:e>
                      <m:sub>
                        <m:r>
                          <a:rPr lang="en-US" i="1">
                            <a:latin typeface="Cambria Math" panose="02040503050406030204" pitchFamily="18" charset="0"/>
                          </a:rPr>
                          <m:t>𝑥</m:t>
                        </m:r>
                      </m:sub>
                    </m:sSub>
                    <m:r>
                      <a:rPr lang="en-US">
                        <a:latin typeface="Cambria Math" panose="02040503050406030204" pitchFamily="18" charset="0"/>
                      </a:rPr>
                      <m:t>=</m:t>
                    </m:r>
                    <m:r>
                      <a:rPr lang="en-US" i="1">
                        <a:latin typeface="Cambria Math" panose="02040503050406030204" pitchFamily="18" charset="0"/>
                      </a:rPr>
                      <m:t> </m:t>
                    </m:r>
                    <m:f>
                      <m:fPr>
                        <m:ctrlPr>
                          <a:rPr lang="en-US" i="1" smtClean="0">
                            <a:latin typeface="Cambria Math" panose="02040503050406030204" pitchFamily="18" charset="0"/>
                          </a:rPr>
                        </m:ctrlPr>
                      </m:fPr>
                      <m:num>
                        <m:r>
                          <a:rPr lang="en-US" b="0" i="1" smtClean="0">
                            <a:latin typeface="Cambria Math" panose="02040503050406030204" pitchFamily="18" charset="0"/>
                          </a:rPr>
                          <m:t>90.0000</m:t>
                        </m:r>
                        <m:r>
                          <a:rPr lang="en-CA" b="0" i="1" smtClean="0">
                            <a:latin typeface="Cambria Math" panose="02040503050406030204" pitchFamily="18" charset="0"/>
                          </a:rPr>
                          <m:t> −</m:t>
                        </m:r>
                        <m:r>
                          <a:rPr lang="en-US" b="0" i="1" smtClean="0">
                            <a:latin typeface="Cambria Math" panose="02040503050406030204" pitchFamily="18" charset="0"/>
                          </a:rPr>
                          <m:t> 75</m:t>
                        </m:r>
                        <m:r>
                          <a:rPr lang="en-CA" b="0" i="1" smtClean="0">
                            <a:latin typeface="Cambria Math" panose="02040503050406030204" pitchFamily="18" charset="0"/>
                          </a:rPr>
                          <m:t>.000</m:t>
                        </m:r>
                      </m:num>
                      <m:den>
                        <m:r>
                          <a:rPr lang="en-US" b="0" i="1" smtClean="0">
                            <a:latin typeface="Cambria Math" panose="02040503050406030204" pitchFamily="18" charset="0"/>
                          </a:rPr>
                          <m:t>6</m:t>
                        </m:r>
                        <m:r>
                          <a:rPr lang="en-US" i="1">
                            <a:latin typeface="Cambria Math" panose="02040503050406030204" pitchFamily="18" charset="0"/>
                          </a:rPr>
                          <m:t>.</m:t>
                        </m:r>
                        <m:r>
                          <a:rPr lang="en-US" b="0" i="1" smtClean="0">
                            <a:latin typeface="Cambria Math" panose="02040503050406030204" pitchFamily="18" charset="0"/>
                          </a:rPr>
                          <m:t>5</m:t>
                        </m:r>
                        <m:r>
                          <a:rPr lang="en-US" i="1">
                            <a:latin typeface="Cambria Math" panose="02040503050406030204" pitchFamily="18" charset="0"/>
                          </a:rPr>
                          <m:t>000</m:t>
                        </m:r>
                      </m:den>
                    </m:f>
                    <m:r>
                      <a:rPr lang="en-US" b="0" i="1" dirty="0" smtClean="0">
                        <a:latin typeface="Cambria Math" panose="02040503050406030204" pitchFamily="18" charset="0"/>
                      </a:rPr>
                      <m:t>= 2.3077</m:t>
                    </m:r>
                    <m:r>
                      <a:rPr lang="en-US" b="0" i="1" baseline="-25000" dirty="0" smtClean="0">
                        <a:latin typeface="Cambria Math" panose="02040503050406030204" pitchFamily="18" charset="0"/>
                      </a:rPr>
                      <m:t> </m:t>
                    </m:r>
                  </m:oMath>
                </a14:m>
                <a:r>
                  <a:rPr lang="en-US" dirty="0"/>
                  <a:t> </a:t>
                </a:r>
              </a:p>
              <a:p>
                <a:endParaRPr lang="en-US" dirty="0"/>
              </a:p>
              <a:p>
                <a:r>
                  <a:rPr lang="en-US" i="1" dirty="0"/>
                  <a:t>z</a:t>
                </a:r>
                <a:r>
                  <a:rPr lang="en-US" dirty="0"/>
                  <a:t>(</a:t>
                </a:r>
                <a:r>
                  <a:rPr lang="en-US" i="1" dirty="0" err="1"/>
                  <a:t>obs</a:t>
                </a:r>
                <a:r>
                  <a:rPr lang="en-US" dirty="0"/>
                  <a:t>)</a:t>
                </a:r>
                <a:r>
                  <a:rPr lang="en-US" i="1" dirty="0"/>
                  <a:t> = </a:t>
                </a:r>
                <a:r>
                  <a:rPr lang="en-US" dirty="0"/>
                  <a:t>2.31</a:t>
                </a:r>
              </a:p>
              <a:p>
                <a:pPr marL="0" indent="0">
                  <a:buNone/>
                </a:pPr>
                <a:r>
                  <a:rPr lang="en-US" dirty="0"/>
                  <a:t> </a:t>
                </a:r>
              </a:p>
              <a:p>
                <a:pPr marL="0" indent="0">
                  <a:buNone/>
                </a:pPr>
                <a:r>
                  <a:rPr lang="en-US" dirty="0"/>
                  <a:t> </a:t>
                </a:r>
              </a:p>
              <a:p>
                <a:pPr marL="457200" lvl="1" indent="0">
                  <a:buNone/>
                </a:pPr>
                <a:endParaRPr lang="en-US" dirty="0"/>
              </a:p>
              <a:p>
                <a:pPr lvl="1"/>
                <a:endParaRPr lang="en-US" dirty="0"/>
              </a:p>
            </p:txBody>
          </p:sp>
        </mc:Choice>
        <mc:Fallback xmlns="">
          <p:sp>
            <p:nvSpPr>
              <p:cNvPr id="3" name="Content Placeholder 2">
                <a:extLst>
                  <a:ext uri="{FF2B5EF4-FFF2-40B4-BE49-F238E27FC236}">
                    <a16:creationId xmlns:a16="http://schemas.microsoft.com/office/drawing/2014/main" id="{378FCDFA-0D6E-DB41-948F-9A6ED1D0F9DB}"/>
                  </a:ext>
                </a:extLst>
              </p:cNvPr>
              <p:cNvSpPr>
                <a:spLocks noGrp="1" noRot="1" noChangeAspect="1" noMove="1" noResize="1" noEditPoints="1" noAdjustHandles="1" noChangeArrowheads="1" noChangeShapeType="1" noTextEdit="1"/>
              </p:cNvSpPr>
              <p:nvPr>
                <p:ph idx="1"/>
              </p:nvPr>
            </p:nvSpPr>
            <p:spPr>
              <a:xfrm>
                <a:off x="838201" y="1825624"/>
                <a:ext cx="5763882" cy="5032375"/>
              </a:xfrm>
              <a:blipFill>
                <a:blip r:embed="rId2"/>
                <a:stretch>
                  <a:fillRect l="-1481"/>
                </a:stretch>
              </a:blipFill>
            </p:spPr>
            <p:txBody>
              <a:bodyPr/>
              <a:lstStyle/>
              <a:p>
                <a:r>
                  <a:rPr lang="en-US">
                    <a:noFill/>
                  </a:rPr>
                  <a:t> </a:t>
                </a:r>
              </a:p>
            </p:txBody>
          </p:sp>
        </mc:Fallback>
      </mc:AlternateContent>
      <p:pic>
        <p:nvPicPr>
          <p:cNvPr id="5" name="Picture 4" descr="Chart&#10;&#10;Description automatically generated">
            <a:extLst>
              <a:ext uri="{FF2B5EF4-FFF2-40B4-BE49-F238E27FC236}">
                <a16:creationId xmlns:a16="http://schemas.microsoft.com/office/drawing/2014/main" id="{4B26E6D9-BDE8-C04E-95C7-DA80AEA0A5C7}"/>
              </a:ext>
            </a:extLst>
          </p:cNvPr>
          <p:cNvPicPr>
            <a:picLocks noChangeAspect="1"/>
          </p:cNvPicPr>
          <p:nvPr/>
        </p:nvPicPr>
        <p:blipFill rotWithShape="1">
          <a:blip r:embed="rId3"/>
          <a:srcRect r="15716" b="17017"/>
          <a:stretch>
            <a:fillRect/>
          </a:stretch>
        </p:blipFill>
        <p:spPr>
          <a:xfrm>
            <a:off x="7126874" y="2593442"/>
            <a:ext cx="5065126" cy="1965679"/>
          </a:xfrm>
          <a:prstGeom prst="rect">
            <a:avLst/>
          </a:prstGeom>
        </p:spPr>
      </p:pic>
    </p:spTree>
    <p:extLst>
      <p:ext uri="{BB962C8B-B14F-4D97-AF65-F5344CB8AC3E}">
        <p14:creationId xmlns:p14="http://schemas.microsoft.com/office/powerpoint/2010/main" val="2084211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97C0FC-143C-2BDF-C5F0-C49A7153AE13}"/>
            </a:ext>
          </a:extLst>
        </p:cNvPr>
        <p:cNvGrpSpPr/>
        <p:nvPr/>
      </p:nvGrpSpPr>
      <p:grpSpPr>
        <a:xfrm>
          <a:off x="0" y="0"/>
          <a:ext cx="0" cy="0"/>
          <a:chOff x="0" y="0"/>
          <a:chExt cx="0" cy="0"/>
        </a:xfrm>
      </p:grpSpPr>
      <p:grpSp>
        <p:nvGrpSpPr>
          <p:cNvPr id="16" name="Group 15">
            <a:extLst>
              <a:ext uri="{FF2B5EF4-FFF2-40B4-BE49-F238E27FC236}">
                <a16:creationId xmlns:a16="http://schemas.microsoft.com/office/drawing/2014/main" id="{6DE77BE2-6B87-EC10-8D11-765F6C8D023B}"/>
              </a:ext>
            </a:extLst>
          </p:cNvPr>
          <p:cNvGrpSpPr/>
          <p:nvPr/>
        </p:nvGrpSpPr>
        <p:grpSpPr>
          <a:xfrm>
            <a:off x="4745829" y="4192798"/>
            <a:ext cx="7925136" cy="2538154"/>
            <a:chOff x="4939792" y="4188228"/>
            <a:chExt cx="7925136" cy="2538154"/>
          </a:xfrm>
        </p:grpSpPr>
        <p:pic>
          <p:nvPicPr>
            <p:cNvPr id="6" name="Picture 5">
              <a:extLst>
                <a:ext uri="{FF2B5EF4-FFF2-40B4-BE49-F238E27FC236}">
                  <a16:creationId xmlns:a16="http://schemas.microsoft.com/office/drawing/2014/main" id="{B0FC8CD7-D596-CD00-F040-9B741E6091A0}"/>
                </a:ext>
              </a:extLst>
            </p:cNvPr>
            <p:cNvPicPr>
              <a:picLocks noChangeAspect="1"/>
            </p:cNvPicPr>
            <p:nvPr/>
          </p:nvPicPr>
          <p:blipFill>
            <a:blip r:embed="rId2"/>
            <a:srcRect t="54940" b="27249"/>
            <a:stretch>
              <a:fillRect/>
            </a:stretch>
          </p:blipFill>
          <p:spPr>
            <a:xfrm>
              <a:off x="4939792" y="5387080"/>
              <a:ext cx="7925133" cy="1339302"/>
            </a:xfrm>
            <a:prstGeom prst="rect">
              <a:avLst/>
            </a:prstGeom>
          </p:spPr>
        </p:pic>
        <p:pic>
          <p:nvPicPr>
            <p:cNvPr id="9" name="Picture 8">
              <a:extLst>
                <a:ext uri="{FF2B5EF4-FFF2-40B4-BE49-F238E27FC236}">
                  <a16:creationId xmlns:a16="http://schemas.microsoft.com/office/drawing/2014/main" id="{F5F12893-F904-C617-D804-E1A14D519DB2}"/>
                </a:ext>
              </a:extLst>
            </p:cNvPr>
            <p:cNvPicPr>
              <a:picLocks noChangeAspect="1"/>
            </p:cNvPicPr>
            <p:nvPr/>
          </p:nvPicPr>
          <p:blipFill>
            <a:blip r:embed="rId2"/>
            <a:srcRect t="-12374" b="96246"/>
            <a:stretch>
              <a:fillRect/>
            </a:stretch>
          </p:blipFill>
          <p:spPr>
            <a:xfrm>
              <a:off x="4939795" y="4188228"/>
              <a:ext cx="7925133" cy="1212706"/>
            </a:xfrm>
            <a:prstGeom prst="rect">
              <a:avLst/>
            </a:prstGeom>
          </p:spPr>
        </p:pic>
      </p:grpSp>
      <p:pic>
        <p:nvPicPr>
          <p:cNvPr id="23" name="Picture 22" descr="Chart&#10;&#10;Description automatically generated">
            <a:extLst>
              <a:ext uri="{FF2B5EF4-FFF2-40B4-BE49-F238E27FC236}">
                <a16:creationId xmlns:a16="http://schemas.microsoft.com/office/drawing/2014/main" id="{AE277025-E549-5CC3-01CA-1C2D50857D8D}"/>
              </a:ext>
            </a:extLst>
          </p:cNvPr>
          <p:cNvPicPr>
            <a:picLocks noChangeAspect="1"/>
          </p:cNvPicPr>
          <p:nvPr/>
        </p:nvPicPr>
        <p:blipFill rotWithShape="1">
          <a:blip r:embed="rId3"/>
          <a:srcRect r="15716" b="17017"/>
          <a:stretch>
            <a:fillRect/>
          </a:stretch>
        </p:blipFill>
        <p:spPr>
          <a:xfrm>
            <a:off x="7126874" y="2593442"/>
            <a:ext cx="5065126" cy="1965679"/>
          </a:xfrm>
          <a:prstGeom prst="rect">
            <a:avLst/>
          </a:prstGeom>
        </p:spPr>
      </p:pic>
      <p:sp>
        <p:nvSpPr>
          <p:cNvPr id="2" name="Title 1">
            <a:extLst>
              <a:ext uri="{FF2B5EF4-FFF2-40B4-BE49-F238E27FC236}">
                <a16:creationId xmlns:a16="http://schemas.microsoft.com/office/drawing/2014/main" id="{CD3C98C4-0F79-9245-F1A4-CDD81391BE4D}"/>
              </a:ext>
            </a:extLst>
          </p:cNvPr>
          <p:cNvSpPr>
            <a:spLocks noGrp="1"/>
          </p:cNvSpPr>
          <p:nvPr>
            <p:ph type="title"/>
          </p:nvPr>
        </p:nvSpPr>
        <p:spPr/>
        <p:txBody>
          <a:bodyPr/>
          <a:lstStyle/>
          <a:p>
            <a:r>
              <a:rPr lang="en-US" dirty="0"/>
              <a:t>Step 4: Compute Statistics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6A5EC09-2CE6-F4F2-D4EF-0CCFA9AD1277}"/>
                  </a:ext>
                </a:extLst>
              </p:cNvPr>
              <p:cNvSpPr>
                <a:spLocks noGrp="1"/>
              </p:cNvSpPr>
              <p:nvPr>
                <p:ph idx="1"/>
              </p:nvPr>
            </p:nvSpPr>
            <p:spPr>
              <a:xfrm>
                <a:off x="838201" y="1825624"/>
                <a:ext cx="5763882" cy="5205558"/>
              </a:xfrm>
            </p:spPr>
            <p:txBody>
              <a:bodyPr>
                <a:normAutofit fontScale="85000" lnSpcReduction="20000"/>
              </a:bodyPr>
              <a:lstStyle/>
              <a:p>
                <a:pPr marL="0" indent="0">
                  <a:buNone/>
                </a:pPr>
                <a14:m>
                  <m:oMathPara xmlns:m="http://schemas.openxmlformats.org/officeDocument/2006/math">
                    <m:oMathParaPr>
                      <m:jc m:val="left"/>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𝑥</m:t>
                          </m:r>
                        </m:sub>
                      </m:sSub>
                      <m:r>
                        <a:rPr lang="en-US" b="0" i="0" smtClean="0">
                          <a:latin typeface="Cambria Math" panose="02040503050406030204" pitchFamily="18" charset="0"/>
                        </a:rPr>
                        <m:t>=</m:t>
                      </m:r>
                      <m:f>
                        <m:fPr>
                          <m:ctrlPr>
                            <a:rPr lang="en-US" i="1" smtClean="0">
                              <a:latin typeface="Cambria Math" panose="02040503050406030204" pitchFamily="18" charset="0"/>
                            </a:rPr>
                          </m:ctrlPr>
                        </m:fPr>
                        <m:num>
                          <m:r>
                            <a:rPr lang="en-CA" b="0" i="1" smtClean="0">
                              <a:latin typeface="Cambria Math" panose="02040503050406030204" pitchFamily="18" charset="0"/>
                            </a:rPr>
                            <m:t>𝑋</m:t>
                          </m:r>
                          <m:r>
                            <a:rPr lang="en-CA" b="0" i="1" smtClean="0">
                              <a:latin typeface="Cambria Math" panose="02040503050406030204" pitchFamily="18" charset="0"/>
                            </a:rPr>
                            <m:t> −</m:t>
                          </m:r>
                          <m:r>
                            <m:rPr>
                              <m:nor/>
                            </m:rPr>
                            <a:rPr lang="el-GR" i="1" dirty="0" smtClean="0"/>
                            <m:t>μ</m:t>
                          </m:r>
                          <m:r>
                            <m:rPr>
                              <m:nor/>
                            </m:rPr>
                            <a:rPr lang="en-CA" b="0" i="0" baseline="-25000" dirty="0" smtClean="0"/>
                            <m:t>x</m:t>
                          </m:r>
                        </m:num>
                        <m:den>
                          <m:r>
                            <m:rPr>
                              <m:nor/>
                            </m:rPr>
                            <a:rPr lang="en-US" i="1" dirty="0" smtClean="0"/>
                            <m:t>σ</m:t>
                          </m:r>
                          <m:r>
                            <m:rPr>
                              <m:sty m:val="p"/>
                            </m:rPr>
                            <a:rPr lang="en-CA" b="0" i="0" baseline="-25000" dirty="0" smtClean="0">
                              <a:latin typeface="Cambria Math" panose="02040503050406030204" pitchFamily="18" charset="0"/>
                            </a:rPr>
                            <m:t>X</m:t>
                          </m:r>
                        </m:den>
                      </m:f>
                    </m:oMath>
                  </m:oMathPara>
                </a14:m>
                <a:endParaRPr lang="en-US" dirty="0"/>
              </a:p>
              <a:p>
                <a:pPr marL="0" indent="0">
                  <a:buNone/>
                </a:pPr>
                <a:endParaRPr lang="en-US" dirty="0"/>
              </a:p>
              <a:p>
                <a:r>
                  <a:rPr lang="en-US" b="1" dirty="0"/>
                  <a:t>Example</a:t>
                </a:r>
                <a:r>
                  <a:rPr lang="en-US" dirty="0"/>
                  <a:t>:</a:t>
                </a:r>
              </a:p>
              <a:p>
                <a:pPr lvl="1"/>
                <a:r>
                  <a:rPr lang="en-US" b="1" dirty="0"/>
                  <a:t>Population</a:t>
                </a:r>
                <a:r>
                  <a:rPr lang="en-US" dirty="0"/>
                  <a:t>: </a:t>
                </a:r>
                <a14:m>
                  <m:oMath xmlns:m="http://schemas.openxmlformats.org/officeDocument/2006/math">
                    <m:r>
                      <m:rPr>
                        <m:nor/>
                      </m:rPr>
                      <a:rPr lang="el-GR" i="1" dirty="0" smtClean="0"/>
                      <m:t>μ</m:t>
                    </m:r>
                  </m:oMath>
                </a14:m>
                <a:r>
                  <a:rPr lang="en-US" dirty="0"/>
                  <a:t> = 75.00, </a:t>
                </a:r>
                <a14:m>
                  <m:oMath xmlns:m="http://schemas.openxmlformats.org/officeDocument/2006/math">
                    <m:r>
                      <m:rPr>
                        <m:nor/>
                      </m:rPr>
                      <a:rPr lang="en-US" i="1" dirty="0" smtClean="0"/>
                      <m:t>σ</m:t>
                    </m:r>
                  </m:oMath>
                </a14:m>
                <a:r>
                  <a:rPr lang="en-US" dirty="0"/>
                  <a:t> = 6.50</a:t>
                </a:r>
              </a:p>
              <a:p>
                <a:pPr lvl="1"/>
                <a:r>
                  <a:rPr lang="en-US" b="1" dirty="0"/>
                  <a:t>Sample</a:t>
                </a:r>
                <a:r>
                  <a:rPr lang="en-US" dirty="0"/>
                  <a:t>: </a:t>
                </a:r>
                <a:r>
                  <a:rPr lang="en-US" i="1" dirty="0"/>
                  <a:t>x</a:t>
                </a:r>
                <a:r>
                  <a:rPr lang="en-US" dirty="0"/>
                  <a:t> = 90.00, </a:t>
                </a:r>
                <a:r>
                  <a:rPr lang="en-US" i="1" dirty="0"/>
                  <a:t>n</a:t>
                </a:r>
                <a:r>
                  <a:rPr lang="en-US" dirty="0"/>
                  <a:t> = 1</a:t>
                </a:r>
              </a:p>
              <a:p>
                <a:pPr lvl="1"/>
                <a:r>
                  <a:rPr lang="en-US" b="1" dirty="0"/>
                  <a:t>Sampling Distribution</a:t>
                </a:r>
                <a:r>
                  <a:rPr lang="en-US" dirty="0"/>
                  <a:t>: </a:t>
                </a:r>
              </a:p>
              <a:p>
                <a:pPr lvl="2"/>
                <a14:m>
                  <m:oMath xmlns:m="http://schemas.openxmlformats.org/officeDocument/2006/math">
                    <m:r>
                      <m:rPr>
                        <m:nor/>
                      </m:rPr>
                      <a:rPr lang="el-GR" i="1" dirty="0" smtClean="0"/>
                      <m:t>μ</m:t>
                    </m:r>
                    <m:r>
                      <m:rPr>
                        <m:nor/>
                      </m:rPr>
                      <a:rPr lang="en-CA" b="0" i="1" baseline="-25000" dirty="0" smtClean="0"/>
                      <m:t>X</m:t>
                    </m:r>
                  </m:oMath>
                </a14:m>
                <a:r>
                  <a:rPr lang="en-US" dirty="0"/>
                  <a:t> = 75.00, </a:t>
                </a:r>
                <a14:m>
                  <m:oMath xmlns:m="http://schemas.openxmlformats.org/officeDocument/2006/math">
                    <m:r>
                      <m:rPr>
                        <m:nor/>
                      </m:rPr>
                      <a:rPr lang="en-US" i="1" dirty="0" smtClean="0"/>
                      <m:t>σ</m:t>
                    </m:r>
                    <m:r>
                      <m:rPr>
                        <m:nor/>
                      </m:rPr>
                      <a:rPr lang="en-CA" b="0" i="1" baseline="-25000" dirty="0" smtClean="0"/>
                      <m:t>X</m:t>
                    </m:r>
                  </m:oMath>
                </a14:m>
                <a:r>
                  <a:rPr lang="en-US" i="1" dirty="0"/>
                  <a:t> </a:t>
                </a:r>
                <a:r>
                  <a:rPr lang="en-US" dirty="0"/>
                  <a:t>= 6.50</a:t>
                </a:r>
              </a:p>
              <a:p>
                <a:pPr lvl="2"/>
                <a:endParaRPr lang="en-US" dirty="0"/>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𝑧</m:t>
                        </m:r>
                      </m:e>
                      <m:sub>
                        <m:r>
                          <a:rPr lang="en-US" i="1">
                            <a:latin typeface="Cambria Math" panose="02040503050406030204" pitchFamily="18" charset="0"/>
                          </a:rPr>
                          <m:t>𝑥</m:t>
                        </m:r>
                      </m:sub>
                    </m:sSub>
                    <m:r>
                      <a:rPr lang="en-US">
                        <a:latin typeface="Cambria Math" panose="02040503050406030204" pitchFamily="18" charset="0"/>
                      </a:rPr>
                      <m:t>=</m:t>
                    </m:r>
                    <m:r>
                      <a:rPr lang="en-US" i="1">
                        <a:latin typeface="Cambria Math" panose="02040503050406030204" pitchFamily="18" charset="0"/>
                      </a:rPr>
                      <m:t> </m:t>
                    </m:r>
                    <m:f>
                      <m:fPr>
                        <m:ctrlPr>
                          <a:rPr lang="en-US" i="1" smtClean="0">
                            <a:latin typeface="Cambria Math" panose="02040503050406030204" pitchFamily="18" charset="0"/>
                          </a:rPr>
                        </m:ctrlPr>
                      </m:fPr>
                      <m:num>
                        <m:r>
                          <a:rPr lang="en-US" b="0" i="1" smtClean="0">
                            <a:latin typeface="Cambria Math" panose="02040503050406030204" pitchFamily="18" charset="0"/>
                          </a:rPr>
                          <m:t>90</m:t>
                        </m:r>
                        <m:r>
                          <a:rPr lang="en-US" b="0" i="1" smtClean="0">
                            <a:latin typeface="Cambria Math" panose="02040503050406030204" pitchFamily="18" charset="0"/>
                          </a:rPr>
                          <m:t>.</m:t>
                        </m:r>
                        <m:r>
                          <a:rPr lang="en-US" b="0" i="1" smtClean="0">
                            <a:latin typeface="Cambria Math" panose="02040503050406030204" pitchFamily="18" charset="0"/>
                          </a:rPr>
                          <m:t>0000</m:t>
                        </m:r>
                        <m:r>
                          <a:rPr lang="en-CA" b="0" i="1" smtClean="0">
                            <a:latin typeface="Cambria Math" panose="02040503050406030204" pitchFamily="18" charset="0"/>
                          </a:rPr>
                          <m:t> −</m:t>
                        </m:r>
                        <m:r>
                          <a:rPr lang="en-US" b="0" i="1" smtClean="0">
                            <a:latin typeface="Cambria Math" panose="02040503050406030204" pitchFamily="18" charset="0"/>
                          </a:rPr>
                          <m:t> </m:t>
                        </m:r>
                        <m:r>
                          <a:rPr lang="en-US" b="0" i="1" smtClean="0">
                            <a:latin typeface="Cambria Math" panose="02040503050406030204" pitchFamily="18" charset="0"/>
                          </a:rPr>
                          <m:t>75</m:t>
                        </m:r>
                        <m:r>
                          <a:rPr lang="en-CA" b="0" i="1" smtClean="0">
                            <a:latin typeface="Cambria Math" panose="02040503050406030204" pitchFamily="18" charset="0"/>
                          </a:rPr>
                          <m:t>.</m:t>
                        </m:r>
                        <m:r>
                          <a:rPr lang="en-CA" b="0" i="1" smtClean="0">
                            <a:latin typeface="Cambria Math" panose="02040503050406030204" pitchFamily="18" charset="0"/>
                          </a:rPr>
                          <m:t>000</m:t>
                        </m:r>
                      </m:num>
                      <m:den>
                        <m:r>
                          <a:rPr lang="en-US" b="0" i="1" smtClean="0">
                            <a:latin typeface="Cambria Math" panose="02040503050406030204" pitchFamily="18" charset="0"/>
                          </a:rPr>
                          <m:t>6</m:t>
                        </m:r>
                        <m:r>
                          <a:rPr lang="en-US" i="1">
                            <a:latin typeface="Cambria Math" panose="02040503050406030204" pitchFamily="18" charset="0"/>
                          </a:rPr>
                          <m:t>.</m:t>
                        </m:r>
                        <m:r>
                          <a:rPr lang="en-US" b="0" i="1" smtClean="0">
                            <a:latin typeface="Cambria Math" panose="02040503050406030204" pitchFamily="18" charset="0"/>
                          </a:rPr>
                          <m:t>5</m:t>
                        </m:r>
                        <m:r>
                          <a:rPr lang="en-US" i="1">
                            <a:latin typeface="Cambria Math" panose="02040503050406030204" pitchFamily="18" charset="0"/>
                          </a:rPr>
                          <m:t>000</m:t>
                        </m:r>
                      </m:den>
                    </m:f>
                  </m:oMath>
                </a14:m>
                <a:r>
                  <a:rPr lang="en-US" dirty="0"/>
                  <a:t> </a:t>
                </a:r>
                <a14:m>
                  <m:oMath xmlns:m="http://schemas.openxmlformats.org/officeDocument/2006/math">
                    <m:r>
                      <a:rPr lang="en-US" i="1" dirty="0">
                        <a:latin typeface="Cambria Math" panose="02040503050406030204" pitchFamily="18" charset="0"/>
                      </a:rPr>
                      <m:t>= </m:t>
                    </m:r>
                    <m:r>
                      <a:rPr lang="en-US" i="1" dirty="0">
                        <a:latin typeface="Cambria Math" panose="02040503050406030204" pitchFamily="18" charset="0"/>
                      </a:rPr>
                      <m:t>2</m:t>
                    </m:r>
                    <m:r>
                      <a:rPr lang="en-US" i="1" dirty="0">
                        <a:latin typeface="Cambria Math" panose="02040503050406030204" pitchFamily="18" charset="0"/>
                      </a:rPr>
                      <m:t>.</m:t>
                    </m:r>
                    <m:r>
                      <a:rPr lang="en-US" i="1" dirty="0">
                        <a:latin typeface="Cambria Math" panose="02040503050406030204" pitchFamily="18" charset="0"/>
                      </a:rPr>
                      <m:t>3077</m:t>
                    </m:r>
                  </m:oMath>
                </a14:m>
                <a:r>
                  <a:rPr lang="en-US" dirty="0"/>
                  <a:t> </a:t>
                </a:r>
              </a:p>
              <a:p>
                <a:endParaRPr lang="en-US" dirty="0"/>
              </a:p>
              <a:p>
                <a:r>
                  <a:rPr lang="en-US" i="1" dirty="0"/>
                  <a:t>z</a:t>
                </a:r>
                <a:r>
                  <a:rPr lang="en-US" dirty="0"/>
                  <a:t>(</a:t>
                </a:r>
                <a:r>
                  <a:rPr lang="en-US" i="1" dirty="0" err="1"/>
                  <a:t>obs</a:t>
                </a:r>
                <a:r>
                  <a:rPr lang="en-US" dirty="0"/>
                  <a:t>)</a:t>
                </a:r>
                <a:r>
                  <a:rPr lang="en-US" i="1" dirty="0"/>
                  <a:t> = </a:t>
                </a:r>
                <a:r>
                  <a:rPr lang="en-US" dirty="0"/>
                  <a:t>2.31</a:t>
                </a:r>
              </a:p>
              <a:p>
                <a:r>
                  <a:rPr lang="en-US" i="1" dirty="0"/>
                  <a:t>p</a:t>
                </a:r>
                <a:r>
                  <a:rPr lang="en-US" dirty="0"/>
                  <a:t>(</a:t>
                </a:r>
                <a:r>
                  <a:rPr lang="en-US" i="1" dirty="0" err="1"/>
                  <a:t>obs</a:t>
                </a:r>
                <a:r>
                  <a:rPr lang="en-US" dirty="0"/>
                  <a:t>) = </a:t>
                </a:r>
              </a:p>
              <a:p>
                <a:pPr lvl="1"/>
                <a:r>
                  <a:rPr lang="en-US" dirty="0"/>
                  <a:t>1 - .9896 = .0104</a:t>
                </a:r>
              </a:p>
              <a:p>
                <a:pPr marL="0" indent="0">
                  <a:buNone/>
                </a:pPr>
                <a:r>
                  <a:rPr lang="en-US" dirty="0"/>
                  <a:t> </a:t>
                </a:r>
              </a:p>
              <a:p>
                <a:endParaRPr lang="en-US" i="1" dirty="0"/>
              </a:p>
              <a:p>
                <a:pPr lvl="1"/>
                <a:endParaRPr lang="en-US" dirty="0"/>
              </a:p>
            </p:txBody>
          </p:sp>
        </mc:Choice>
        <mc:Fallback>
          <p:sp>
            <p:nvSpPr>
              <p:cNvPr id="3" name="Content Placeholder 2">
                <a:extLst>
                  <a:ext uri="{FF2B5EF4-FFF2-40B4-BE49-F238E27FC236}">
                    <a16:creationId xmlns:a16="http://schemas.microsoft.com/office/drawing/2014/main" id="{C6A5EC09-2CE6-F4F2-D4EF-0CCFA9AD1277}"/>
                  </a:ext>
                </a:extLst>
              </p:cNvPr>
              <p:cNvSpPr>
                <a:spLocks noGrp="1" noRot="1" noChangeAspect="1" noMove="1" noResize="1" noEditPoints="1" noAdjustHandles="1" noChangeArrowheads="1" noChangeShapeType="1" noTextEdit="1"/>
              </p:cNvSpPr>
              <p:nvPr>
                <p:ph idx="1"/>
              </p:nvPr>
            </p:nvSpPr>
            <p:spPr>
              <a:xfrm>
                <a:off x="838201" y="1825624"/>
                <a:ext cx="5763882" cy="5205558"/>
              </a:xfrm>
              <a:blipFill>
                <a:blip r:embed="rId4"/>
                <a:stretch>
                  <a:fillRect l="-1481"/>
                </a:stretch>
              </a:blipFill>
            </p:spPr>
            <p:txBody>
              <a:bodyPr/>
              <a:lstStyle/>
              <a:p>
                <a:r>
                  <a:rPr lang="en-US">
                    <a:noFill/>
                  </a:rPr>
                  <a:t> </a:t>
                </a:r>
              </a:p>
            </p:txBody>
          </p:sp>
        </mc:Fallback>
      </mc:AlternateContent>
      <p:cxnSp>
        <p:nvCxnSpPr>
          <p:cNvPr id="4" name="Straight Connector 3">
            <a:extLst>
              <a:ext uri="{FF2B5EF4-FFF2-40B4-BE49-F238E27FC236}">
                <a16:creationId xmlns:a16="http://schemas.microsoft.com/office/drawing/2014/main" id="{5D86E83F-89F5-C357-B09C-C3C8E0FCE39D}"/>
              </a:ext>
            </a:extLst>
          </p:cNvPr>
          <p:cNvCxnSpPr/>
          <p:nvPr/>
        </p:nvCxnSpPr>
        <p:spPr>
          <a:xfrm flipV="1">
            <a:off x="11056192" y="2599209"/>
            <a:ext cx="0" cy="165958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1" name="Rectangle: Rounded Corners 10">
            <a:extLst>
              <a:ext uri="{FF2B5EF4-FFF2-40B4-BE49-F238E27FC236}">
                <a16:creationId xmlns:a16="http://schemas.microsoft.com/office/drawing/2014/main" id="{00DD0FD1-AF2F-7244-2504-9B2BBA1C302F}"/>
              </a:ext>
            </a:extLst>
          </p:cNvPr>
          <p:cNvSpPr/>
          <p:nvPr/>
        </p:nvSpPr>
        <p:spPr>
          <a:xfrm>
            <a:off x="4939795" y="5974206"/>
            <a:ext cx="502023" cy="219075"/>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D9A3AD7E-3081-7BA6-3006-118871EDAD48}"/>
              </a:ext>
            </a:extLst>
          </p:cNvPr>
          <p:cNvCxnSpPr>
            <a:cxnSpLocks/>
          </p:cNvCxnSpPr>
          <p:nvPr/>
        </p:nvCxnSpPr>
        <p:spPr>
          <a:xfrm>
            <a:off x="5441818" y="6082139"/>
            <a:ext cx="840897" cy="2053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F5614C85-0833-02BA-8605-74B43306427D}"/>
              </a:ext>
            </a:extLst>
          </p:cNvPr>
          <p:cNvCxnSpPr>
            <a:cxnSpLocks/>
          </p:cNvCxnSpPr>
          <p:nvPr/>
        </p:nvCxnSpPr>
        <p:spPr>
          <a:xfrm>
            <a:off x="6597982" y="5472545"/>
            <a:ext cx="0" cy="515515"/>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Rounded Corners 13">
            <a:extLst>
              <a:ext uri="{FF2B5EF4-FFF2-40B4-BE49-F238E27FC236}">
                <a16:creationId xmlns:a16="http://schemas.microsoft.com/office/drawing/2014/main" id="{90C4AC4B-616B-5C89-66C2-97EA4FF5D082}"/>
              </a:ext>
            </a:extLst>
          </p:cNvPr>
          <p:cNvSpPr/>
          <p:nvPr/>
        </p:nvSpPr>
        <p:spPr>
          <a:xfrm>
            <a:off x="6346971" y="5184727"/>
            <a:ext cx="502023" cy="219075"/>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C4E40F64-6DE8-E7C8-615A-5407A6397C21}"/>
              </a:ext>
            </a:extLst>
          </p:cNvPr>
          <p:cNvSpPr/>
          <p:nvPr/>
        </p:nvSpPr>
        <p:spPr>
          <a:xfrm>
            <a:off x="6316084" y="5993139"/>
            <a:ext cx="502023" cy="219075"/>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51785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4" grpId="0" animBg="1"/>
      <p:bldP spid="21"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A624B-3E0F-C90D-5BB8-D61133992BAD}"/>
            </a:ext>
          </a:extLst>
        </p:cNvPr>
        <p:cNvGrpSpPr/>
        <p:nvPr/>
      </p:nvGrpSpPr>
      <p:grpSpPr>
        <a:xfrm>
          <a:off x="0" y="0"/>
          <a:ext cx="0" cy="0"/>
          <a:chOff x="0" y="0"/>
          <a:chExt cx="0" cy="0"/>
        </a:xfrm>
      </p:grpSpPr>
      <p:pic>
        <p:nvPicPr>
          <p:cNvPr id="7" name="Picture 6" descr="Chart&#10;&#10;Description automatically generated">
            <a:extLst>
              <a:ext uri="{FF2B5EF4-FFF2-40B4-BE49-F238E27FC236}">
                <a16:creationId xmlns:a16="http://schemas.microsoft.com/office/drawing/2014/main" id="{FFEA5731-0B52-A924-EFE1-52D86CDBB4DB}"/>
              </a:ext>
            </a:extLst>
          </p:cNvPr>
          <p:cNvPicPr>
            <a:picLocks noChangeAspect="1"/>
          </p:cNvPicPr>
          <p:nvPr/>
        </p:nvPicPr>
        <p:blipFill rotWithShape="1">
          <a:blip r:embed="rId2"/>
          <a:srcRect r="15716" b="17017"/>
          <a:stretch>
            <a:fillRect/>
          </a:stretch>
        </p:blipFill>
        <p:spPr>
          <a:xfrm>
            <a:off x="7126874" y="2593442"/>
            <a:ext cx="5065126" cy="1965679"/>
          </a:xfrm>
          <a:prstGeom prst="rect">
            <a:avLst/>
          </a:prstGeom>
        </p:spPr>
      </p:pic>
      <p:sp>
        <p:nvSpPr>
          <p:cNvPr id="2" name="Title 1">
            <a:extLst>
              <a:ext uri="{FF2B5EF4-FFF2-40B4-BE49-F238E27FC236}">
                <a16:creationId xmlns:a16="http://schemas.microsoft.com/office/drawing/2014/main" id="{BEB7C5AD-AB0B-0071-A3E6-282BD007B25A}"/>
              </a:ext>
            </a:extLst>
          </p:cNvPr>
          <p:cNvSpPr>
            <a:spLocks noGrp="1"/>
          </p:cNvSpPr>
          <p:nvPr>
            <p:ph type="title"/>
          </p:nvPr>
        </p:nvSpPr>
        <p:spPr/>
        <p:txBody>
          <a:bodyPr/>
          <a:lstStyle/>
          <a:p>
            <a:r>
              <a:rPr lang="en-US" dirty="0"/>
              <a:t>Step 4: Compute Statistics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D17367A-F981-31C5-2F44-37BC6DCF2C28}"/>
                  </a:ext>
                </a:extLst>
              </p:cNvPr>
              <p:cNvSpPr>
                <a:spLocks noGrp="1"/>
              </p:cNvSpPr>
              <p:nvPr>
                <p:ph idx="1"/>
              </p:nvPr>
            </p:nvSpPr>
            <p:spPr>
              <a:xfrm>
                <a:off x="838201" y="1825624"/>
                <a:ext cx="6496316" cy="5032375"/>
              </a:xfrm>
            </p:spPr>
            <p:txBody>
              <a:bodyPr>
                <a:normAutofit/>
              </a:bodyPr>
              <a:lstStyle/>
              <a:p>
                <a:pPr marL="0" indent="0">
                  <a:buNone/>
                </a:pPr>
                <a14:m>
                  <m:oMathPara xmlns:m="http://schemas.openxmlformats.org/officeDocument/2006/math">
                    <m:oMathParaPr>
                      <m:jc m:val="left"/>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𝑧</m:t>
                          </m:r>
                        </m:e>
                        <m:sub>
                          <m:r>
                            <a:rPr lang="en-US" i="1">
                              <a:latin typeface="Cambria Math" panose="02040503050406030204" pitchFamily="18" charset="0"/>
                            </a:rPr>
                            <m:t>𝑥</m:t>
                          </m:r>
                        </m:sub>
                      </m:sSub>
                      <m:r>
                        <a:rPr lang="en-US">
                          <a:latin typeface="Cambria Math" panose="02040503050406030204" pitchFamily="18" charset="0"/>
                        </a:rPr>
                        <m:t>=</m:t>
                      </m:r>
                      <m:f>
                        <m:fPr>
                          <m:ctrlPr>
                            <a:rPr lang="en-US" i="1">
                              <a:latin typeface="Cambria Math" panose="02040503050406030204" pitchFamily="18" charset="0"/>
                            </a:rPr>
                          </m:ctrlPr>
                        </m:fPr>
                        <m:num>
                          <m:r>
                            <a:rPr lang="en-CA" i="1">
                              <a:latin typeface="Cambria Math" panose="02040503050406030204" pitchFamily="18" charset="0"/>
                            </a:rPr>
                            <m:t>𝑋</m:t>
                          </m:r>
                          <m:r>
                            <a:rPr lang="en-CA" i="1">
                              <a:latin typeface="Cambria Math" panose="02040503050406030204" pitchFamily="18" charset="0"/>
                            </a:rPr>
                            <m:t> −</m:t>
                          </m:r>
                          <m:r>
                            <m:rPr>
                              <m:nor/>
                            </m:rPr>
                            <a:rPr lang="el-GR" i="1" dirty="0"/>
                            <m:t>μ</m:t>
                          </m:r>
                          <m:r>
                            <m:rPr>
                              <m:nor/>
                            </m:rPr>
                            <a:rPr lang="en-CA" i="0" baseline="-25000" dirty="0"/>
                            <m:t>x</m:t>
                          </m:r>
                        </m:num>
                        <m:den>
                          <m:r>
                            <m:rPr>
                              <m:nor/>
                            </m:rPr>
                            <a:rPr lang="en-US" i="1" dirty="0"/>
                            <m:t>σ</m:t>
                          </m:r>
                          <m:r>
                            <m:rPr>
                              <m:sty m:val="p"/>
                            </m:rPr>
                            <a:rPr lang="en-CA" baseline="-25000" dirty="0">
                              <a:latin typeface="Cambria Math" panose="02040503050406030204" pitchFamily="18" charset="0"/>
                            </a:rPr>
                            <m:t>X</m:t>
                          </m:r>
                        </m:den>
                      </m:f>
                    </m:oMath>
                  </m:oMathPara>
                </a14:m>
                <a:endParaRPr lang="en-US" dirty="0"/>
              </a:p>
              <a:p>
                <a:pPr marL="0" indent="0">
                  <a:buNone/>
                </a:pPr>
                <a:endParaRPr lang="en-US" dirty="0"/>
              </a:p>
              <a:p>
                <a:r>
                  <a:rPr lang="en-US" i="1" dirty="0"/>
                  <a:t>z</a:t>
                </a:r>
                <a:r>
                  <a:rPr lang="en-US" dirty="0"/>
                  <a:t>(</a:t>
                </a:r>
                <a:r>
                  <a:rPr lang="en-US" i="1" dirty="0" err="1"/>
                  <a:t>obs</a:t>
                </a:r>
                <a:r>
                  <a:rPr lang="en-US" dirty="0"/>
                  <a:t>)</a:t>
                </a:r>
                <a:r>
                  <a:rPr lang="en-US" i="1" dirty="0"/>
                  <a:t> = </a:t>
                </a:r>
                <a:r>
                  <a:rPr lang="en-US" dirty="0"/>
                  <a:t>2.31</a:t>
                </a:r>
                <a:endParaRPr lang="en-US" i="1" dirty="0"/>
              </a:p>
              <a:p>
                <a:r>
                  <a:rPr lang="en-US" i="1" dirty="0"/>
                  <a:t>p</a:t>
                </a:r>
                <a:r>
                  <a:rPr lang="en-US" dirty="0"/>
                  <a:t>(</a:t>
                </a:r>
                <a:r>
                  <a:rPr lang="en-US" i="1" dirty="0" err="1"/>
                  <a:t>obs</a:t>
                </a:r>
                <a:r>
                  <a:rPr lang="en-US" dirty="0"/>
                  <a:t>) = .0104</a:t>
                </a:r>
              </a:p>
              <a:p>
                <a:r>
                  <a:rPr lang="en-US" i="1" dirty="0"/>
                  <a:t>Note: </a:t>
                </a:r>
                <a:r>
                  <a:rPr lang="en-US" dirty="0"/>
                  <a:t>In hypothesis testing, we multiply our p value by the number of tails that we are testing for</a:t>
                </a:r>
              </a:p>
              <a:p>
                <a:pPr lvl="1"/>
                <a:r>
                  <a:rPr lang="en-US" i="1" dirty="0"/>
                  <a:t>p(</a:t>
                </a:r>
                <a:r>
                  <a:rPr lang="en-US" i="1" dirty="0" err="1"/>
                  <a:t>obs</a:t>
                </a:r>
                <a:r>
                  <a:rPr lang="en-US" i="1" dirty="0"/>
                  <a:t>) x number of tails</a:t>
                </a:r>
              </a:p>
              <a:p>
                <a:pPr lvl="1"/>
                <a:r>
                  <a:rPr lang="en-US" i="1" dirty="0"/>
                  <a:t>.0104 * 2 = .0208</a:t>
                </a:r>
              </a:p>
              <a:p>
                <a:pPr lvl="1"/>
                <a:endParaRPr lang="en-US" dirty="0"/>
              </a:p>
            </p:txBody>
          </p:sp>
        </mc:Choice>
        <mc:Fallback xmlns="">
          <p:sp>
            <p:nvSpPr>
              <p:cNvPr id="3" name="Content Placeholder 2">
                <a:extLst>
                  <a:ext uri="{FF2B5EF4-FFF2-40B4-BE49-F238E27FC236}">
                    <a16:creationId xmlns:a16="http://schemas.microsoft.com/office/drawing/2014/main" id="{0D17367A-F981-31C5-2F44-37BC6DCF2C28}"/>
                  </a:ext>
                </a:extLst>
              </p:cNvPr>
              <p:cNvSpPr>
                <a:spLocks noGrp="1" noRot="1" noChangeAspect="1" noMove="1" noResize="1" noEditPoints="1" noAdjustHandles="1" noChangeArrowheads="1" noChangeShapeType="1" noTextEdit="1"/>
              </p:cNvSpPr>
              <p:nvPr>
                <p:ph idx="1"/>
              </p:nvPr>
            </p:nvSpPr>
            <p:spPr>
              <a:xfrm>
                <a:off x="838201" y="1825624"/>
                <a:ext cx="6496316" cy="5032375"/>
              </a:xfrm>
              <a:blipFill>
                <a:blip r:embed="rId3"/>
                <a:stretch>
                  <a:fillRect l="-1690" r="-2817"/>
                </a:stretch>
              </a:blipFill>
            </p:spPr>
            <p:txBody>
              <a:bodyPr/>
              <a:lstStyle/>
              <a:p>
                <a:r>
                  <a:rPr lang="en-US">
                    <a:noFill/>
                  </a:rPr>
                  <a:t> </a:t>
                </a:r>
              </a:p>
            </p:txBody>
          </p:sp>
        </mc:Fallback>
      </mc:AlternateContent>
      <p:cxnSp>
        <p:nvCxnSpPr>
          <p:cNvPr id="4" name="Straight Connector 3">
            <a:extLst>
              <a:ext uri="{FF2B5EF4-FFF2-40B4-BE49-F238E27FC236}">
                <a16:creationId xmlns:a16="http://schemas.microsoft.com/office/drawing/2014/main" id="{7C281E75-BD19-D9AC-B1A6-02455A44C6DE}"/>
              </a:ext>
            </a:extLst>
          </p:cNvPr>
          <p:cNvCxnSpPr/>
          <p:nvPr/>
        </p:nvCxnSpPr>
        <p:spPr>
          <a:xfrm flipV="1">
            <a:off x="11056192" y="2599209"/>
            <a:ext cx="0" cy="165958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1212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F171D-824D-E161-F458-BEA23515872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DA1986-ACEC-B356-2687-90D97ACB810A}"/>
              </a:ext>
            </a:extLst>
          </p:cNvPr>
          <p:cNvSpPr>
            <a:spLocks noGrp="1"/>
          </p:cNvSpPr>
          <p:nvPr>
            <p:ph idx="1"/>
          </p:nvPr>
        </p:nvSpPr>
        <p:spPr>
          <a:xfrm>
            <a:off x="838200" y="586596"/>
            <a:ext cx="5257800" cy="6271404"/>
          </a:xfrm>
        </p:spPr>
        <p:txBody>
          <a:bodyPr>
            <a:normAutofit/>
          </a:bodyPr>
          <a:lstStyle/>
          <a:p>
            <a:pPr marL="0" indent="0">
              <a:buNone/>
            </a:pPr>
            <a:r>
              <a:rPr lang="en-US" b="1" dirty="0"/>
              <a:t>Step 1:</a:t>
            </a:r>
          </a:p>
          <a:p>
            <a:r>
              <a:rPr lang="en-US" b="1" i="1" dirty="0"/>
              <a:t>H</a:t>
            </a:r>
            <a:r>
              <a:rPr lang="en-US" b="1" i="1" baseline="-25000" dirty="0"/>
              <a:t>0</a:t>
            </a:r>
            <a:r>
              <a:rPr lang="en-US" b="1" dirty="0"/>
              <a:t>: </a:t>
            </a:r>
            <a:r>
              <a:rPr lang="el-GR" i="1" dirty="0"/>
              <a:t>μ</a:t>
            </a:r>
            <a:r>
              <a:rPr lang="en-CA" dirty="0"/>
              <a:t> =</a:t>
            </a:r>
            <a:r>
              <a:rPr lang="el-GR" dirty="0"/>
              <a:t> </a:t>
            </a:r>
            <a:r>
              <a:rPr lang="en-US" dirty="0"/>
              <a:t>75.00</a:t>
            </a:r>
            <a:r>
              <a:rPr lang="en-CA" dirty="0"/>
              <a:t>    </a:t>
            </a:r>
          </a:p>
          <a:p>
            <a:r>
              <a:rPr lang="en-US" b="1" i="1" dirty="0"/>
              <a:t>H</a:t>
            </a:r>
            <a:r>
              <a:rPr lang="en-US" b="1" i="1" baseline="-25000" dirty="0"/>
              <a:t>1</a:t>
            </a:r>
            <a:r>
              <a:rPr lang="en-US" b="1" dirty="0"/>
              <a:t>: </a:t>
            </a:r>
            <a:r>
              <a:rPr lang="el-GR" i="1" dirty="0"/>
              <a:t>μ</a:t>
            </a:r>
            <a:r>
              <a:rPr lang="en-CA" dirty="0"/>
              <a:t> ≠ </a:t>
            </a:r>
            <a:r>
              <a:rPr lang="en-US" dirty="0"/>
              <a:t>75.00</a:t>
            </a:r>
            <a:r>
              <a:rPr lang="en-CA" dirty="0"/>
              <a:t>    </a:t>
            </a:r>
          </a:p>
          <a:p>
            <a:pPr lvl="1"/>
            <a:r>
              <a:rPr lang="en-CA" dirty="0"/>
              <a:t>Thus, two-tailed</a:t>
            </a:r>
          </a:p>
          <a:p>
            <a:pPr marL="0" indent="0">
              <a:buNone/>
            </a:pPr>
            <a:endParaRPr lang="en-CA" b="1" dirty="0"/>
          </a:p>
          <a:p>
            <a:pPr marL="0" indent="0">
              <a:buNone/>
            </a:pPr>
            <a:r>
              <a:rPr lang="en-CA" b="1" dirty="0"/>
              <a:t>Step 2: </a:t>
            </a:r>
            <a:endParaRPr lang="en-US" b="1" dirty="0"/>
          </a:p>
          <a:p>
            <a:pPr>
              <a:lnSpc>
                <a:spcPct val="100000"/>
              </a:lnSpc>
              <a:spcBef>
                <a:spcPts val="0"/>
              </a:spcBef>
            </a:pPr>
            <a:r>
              <a:rPr lang="en-US" sz="1200" b="1" dirty="0"/>
              <a:t>Type of Research Design</a:t>
            </a:r>
            <a:r>
              <a:rPr lang="en-US" sz="1200" dirty="0"/>
              <a:t>: Single-Participant Design</a:t>
            </a:r>
          </a:p>
          <a:p>
            <a:pPr>
              <a:lnSpc>
                <a:spcPct val="100000"/>
              </a:lnSpc>
              <a:spcBef>
                <a:spcPts val="0"/>
              </a:spcBef>
            </a:pPr>
            <a:r>
              <a:rPr lang="en-US" sz="1200" b="1" dirty="0"/>
              <a:t>Model of Hypothesis Testing</a:t>
            </a:r>
            <a:r>
              <a:rPr lang="en-US" sz="1200" dirty="0"/>
              <a:t>: Random Sampling</a:t>
            </a:r>
          </a:p>
          <a:p>
            <a:pPr>
              <a:lnSpc>
                <a:spcPct val="100000"/>
              </a:lnSpc>
              <a:spcBef>
                <a:spcPts val="0"/>
              </a:spcBef>
            </a:pPr>
            <a:r>
              <a:rPr lang="en-US" sz="1200" b="1" dirty="0"/>
              <a:t>Nature of Data (Scales of measurement)</a:t>
            </a:r>
            <a:r>
              <a:rPr lang="en-US" sz="1200" dirty="0"/>
              <a:t>: Score data</a:t>
            </a:r>
          </a:p>
          <a:p>
            <a:pPr>
              <a:lnSpc>
                <a:spcPct val="100000"/>
              </a:lnSpc>
              <a:spcBef>
                <a:spcPts val="0"/>
              </a:spcBef>
            </a:pPr>
            <a:r>
              <a:rPr lang="en-US" sz="1200" b="1" dirty="0"/>
              <a:t>Statistic Being Analyzed</a:t>
            </a:r>
            <a:r>
              <a:rPr lang="en-US" sz="1200" dirty="0"/>
              <a:t>: X</a:t>
            </a:r>
          </a:p>
          <a:p>
            <a:pPr>
              <a:lnSpc>
                <a:spcPct val="100000"/>
              </a:lnSpc>
              <a:spcBef>
                <a:spcPts val="0"/>
              </a:spcBef>
            </a:pPr>
            <a:r>
              <a:rPr lang="en-US" sz="1200" b="1" dirty="0"/>
              <a:t>Information about the Population</a:t>
            </a:r>
            <a:r>
              <a:rPr lang="en-US" sz="1200" dirty="0"/>
              <a:t>: </a:t>
            </a:r>
            <a:r>
              <a:rPr lang="el-GR" sz="1200" dirty="0"/>
              <a:t>μ</a:t>
            </a:r>
            <a:r>
              <a:rPr lang="en-US" sz="1200" dirty="0"/>
              <a:t> = 75.00, σ = 6.50, </a:t>
            </a:r>
            <a:r>
              <a:rPr lang="en-US" sz="1200" i="1" dirty="0"/>
              <a:t>N</a:t>
            </a:r>
            <a:r>
              <a:rPr lang="en-US" sz="1200" dirty="0"/>
              <a:t> = 500</a:t>
            </a:r>
          </a:p>
          <a:p>
            <a:pPr>
              <a:lnSpc>
                <a:spcPct val="100000"/>
              </a:lnSpc>
              <a:spcBef>
                <a:spcPts val="0"/>
              </a:spcBef>
            </a:pPr>
            <a:r>
              <a:rPr lang="en-US" sz="1200" b="1" dirty="0"/>
              <a:t>Sample Size</a:t>
            </a:r>
            <a:r>
              <a:rPr lang="en-US" sz="1200" dirty="0"/>
              <a:t>: </a:t>
            </a:r>
            <a:r>
              <a:rPr lang="en-US" sz="1200" i="1" dirty="0"/>
              <a:t>n</a:t>
            </a:r>
            <a:r>
              <a:rPr lang="en-US" sz="1200" dirty="0"/>
              <a:t> = 1</a:t>
            </a:r>
          </a:p>
          <a:p>
            <a:pPr>
              <a:lnSpc>
                <a:spcPct val="100000"/>
              </a:lnSpc>
              <a:spcBef>
                <a:spcPts val="0"/>
              </a:spcBef>
            </a:pPr>
            <a:r>
              <a:rPr lang="en-US" sz="1200" b="1" dirty="0"/>
              <a:t>Shape</a:t>
            </a:r>
            <a:r>
              <a:rPr lang="en-US" sz="1200" dirty="0"/>
              <a:t>: Normally distributed</a:t>
            </a:r>
            <a:endParaRPr lang="en-US" sz="1050" dirty="0"/>
          </a:p>
          <a:p>
            <a:pPr marL="0" indent="0">
              <a:lnSpc>
                <a:spcPct val="100000"/>
              </a:lnSpc>
              <a:buNone/>
            </a:pPr>
            <a:endParaRPr lang="en-US" b="1" dirty="0"/>
          </a:p>
          <a:p>
            <a:pPr marL="0" indent="0">
              <a:lnSpc>
                <a:spcPct val="100000"/>
              </a:lnSpc>
              <a:buNone/>
            </a:pPr>
            <a:r>
              <a:rPr lang="en-US" b="1" dirty="0"/>
              <a:t>Step 3:</a:t>
            </a:r>
          </a:p>
          <a:p>
            <a:r>
              <a:rPr lang="en-CA" i="1" dirty="0"/>
              <a:t>p(</a:t>
            </a:r>
            <a:r>
              <a:rPr lang="el-GR" i="1" dirty="0"/>
              <a:t>α</a:t>
            </a:r>
            <a:r>
              <a:rPr lang="en-CA" i="1" dirty="0"/>
              <a:t>) </a:t>
            </a:r>
            <a:r>
              <a:rPr lang="en-CA" dirty="0"/>
              <a:t>= .05, </a:t>
            </a:r>
            <a:r>
              <a:rPr lang="en-CA" i="1" dirty="0"/>
              <a:t>z(crit)</a:t>
            </a:r>
            <a:r>
              <a:rPr lang="en-CA" dirty="0"/>
              <a:t> = ±</a:t>
            </a:r>
            <a:r>
              <a:rPr lang="en-US" dirty="0"/>
              <a:t>1.96</a:t>
            </a:r>
          </a:p>
          <a:p>
            <a:pPr marL="0" indent="0">
              <a:buNone/>
            </a:pPr>
            <a:endParaRPr lang="en-CA" dirty="0"/>
          </a:p>
          <a:p>
            <a:endParaRPr lang="en-US" dirty="0"/>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F278465F-EED8-DB2C-AD1A-D5407CE0C40E}"/>
                  </a:ext>
                </a:extLst>
              </p:cNvPr>
              <p:cNvSpPr txBox="1">
                <a:spLocks/>
              </p:cNvSpPr>
              <p:nvPr/>
            </p:nvSpPr>
            <p:spPr>
              <a:xfrm>
                <a:off x="6096000" y="633816"/>
                <a:ext cx="5257800" cy="627140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Step 4:</a:t>
                </a:r>
              </a:p>
              <a:p>
                <a:r>
                  <a:rPr lang="en-US" i="1" dirty="0"/>
                  <a:t>z</a:t>
                </a:r>
                <a:r>
                  <a:rPr lang="en-US" dirty="0"/>
                  <a:t>(</a:t>
                </a:r>
                <a:r>
                  <a:rPr lang="en-US" dirty="0" err="1"/>
                  <a:t>obs</a:t>
                </a:r>
                <a:r>
                  <a:rPr lang="en-US" dirty="0"/>
                  <a:t>) =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90.0000</m:t>
                        </m:r>
                        <m:r>
                          <a:rPr lang="en-CA" b="0" i="1" smtClean="0">
                            <a:latin typeface="Cambria Math" panose="02040503050406030204" pitchFamily="18" charset="0"/>
                          </a:rPr>
                          <m:t> −</m:t>
                        </m:r>
                        <m:r>
                          <a:rPr lang="en-US" b="0" i="1" smtClean="0">
                            <a:latin typeface="Cambria Math" panose="02040503050406030204" pitchFamily="18" charset="0"/>
                          </a:rPr>
                          <m:t> 75.0000</m:t>
                        </m:r>
                      </m:num>
                      <m:den>
                        <m:r>
                          <a:rPr lang="en-US" b="0" i="1" smtClean="0">
                            <a:latin typeface="Cambria Math" panose="02040503050406030204" pitchFamily="18" charset="0"/>
                          </a:rPr>
                          <m:t>6.5000</m:t>
                        </m:r>
                      </m:den>
                    </m:f>
                  </m:oMath>
                </a14:m>
                <a:r>
                  <a:rPr lang="en-US" dirty="0"/>
                  <a:t>  = 2.3077</a:t>
                </a:r>
              </a:p>
              <a:p>
                <a:r>
                  <a:rPr lang="en-US" i="1" dirty="0"/>
                  <a:t>p</a:t>
                </a:r>
                <a:r>
                  <a:rPr lang="en-US" dirty="0"/>
                  <a:t>(</a:t>
                </a:r>
                <a:r>
                  <a:rPr lang="en-US" i="1" dirty="0" err="1"/>
                  <a:t>obs</a:t>
                </a:r>
                <a:r>
                  <a:rPr lang="en-US" dirty="0"/>
                  <a:t>) = .0104 x 2 = .0208</a:t>
                </a:r>
                <a:endParaRPr lang="en-CA" dirty="0"/>
              </a:p>
              <a:p>
                <a:endParaRPr lang="en-US" dirty="0"/>
              </a:p>
            </p:txBody>
          </p:sp>
        </mc:Choice>
        <mc:Fallback xmlns="">
          <p:sp>
            <p:nvSpPr>
              <p:cNvPr id="4" name="Content Placeholder 2">
                <a:extLst>
                  <a:ext uri="{FF2B5EF4-FFF2-40B4-BE49-F238E27FC236}">
                    <a16:creationId xmlns:a16="http://schemas.microsoft.com/office/drawing/2014/main" id="{F278465F-EED8-DB2C-AD1A-D5407CE0C40E}"/>
                  </a:ext>
                </a:extLst>
              </p:cNvPr>
              <p:cNvSpPr txBox="1">
                <a:spLocks noRot="1" noChangeAspect="1" noMove="1" noResize="1" noEditPoints="1" noAdjustHandles="1" noChangeArrowheads="1" noChangeShapeType="1" noTextEdit="1"/>
              </p:cNvSpPr>
              <p:nvPr/>
            </p:nvSpPr>
            <p:spPr>
              <a:xfrm>
                <a:off x="6096000" y="633816"/>
                <a:ext cx="5257800" cy="6271404"/>
              </a:xfrm>
              <a:prstGeom prst="rect">
                <a:avLst/>
              </a:prstGeom>
              <a:blipFill>
                <a:blip r:embed="rId2"/>
                <a:stretch>
                  <a:fillRect l="-2317" t="-1652" r="-1738"/>
                </a:stretch>
              </a:blipFill>
            </p:spPr>
            <p:txBody>
              <a:bodyPr/>
              <a:lstStyle/>
              <a:p>
                <a:r>
                  <a:rPr lang="en-US">
                    <a:noFill/>
                  </a:rPr>
                  <a:t> </a:t>
                </a:r>
              </a:p>
            </p:txBody>
          </p:sp>
        </mc:Fallback>
      </mc:AlternateContent>
    </p:spTree>
    <p:extLst>
      <p:ext uri="{BB962C8B-B14F-4D97-AF65-F5344CB8AC3E}">
        <p14:creationId xmlns:p14="http://schemas.microsoft.com/office/powerpoint/2010/main" val="13149235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ED5C53-0395-2C57-3420-DA458DC951E4}"/>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61991B83-2569-F008-751F-6BAB6849D1F7}"/>
              </a:ext>
            </a:extLst>
          </p:cNvPr>
          <p:cNvGrpSpPr/>
          <p:nvPr/>
        </p:nvGrpSpPr>
        <p:grpSpPr>
          <a:xfrm>
            <a:off x="294429" y="602116"/>
            <a:ext cx="5458932" cy="5307690"/>
            <a:chOff x="1462829" y="602117"/>
            <a:chExt cx="5458932" cy="5307690"/>
          </a:xfrm>
        </p:grpSpPr>
        <p:grpSp>
          <p:nvGrpSpPr>
            <p:cNvPr id="5" name="Group 4">
              <a:extLst>
                <a:ext uri="{FF2B5EF4-FFF2-40B4-BE49-F238E27FC236}">
                  <a16:creationId xmlns:a16="http://schemas.microsoft.com/office/drawing/2014/main" id="{C22B2254-E06F-1E87-6F31-51732D6CB52D}"/>
                </a:ext>
              </a:extLst>
            </p:cNvPr>
            <p:cNvGrpSpPr/>
            <p:nvPr/>
          </p:nvGrpSpPr>
          <p:grpSpPr>
            <a:xfrm>
              <a:off x="1462829" y="602117"/>
              <a:ext cx="5458932" cy="5307690"/>
              <a:chOff x="1779790" y="1493134"/>
              <a:chExt cx="4490974" cy="4366550"/>
            </a:xfrm>
          </p:grpSpPr>
          <p:cxnSp>
            <p:nvCxnSpPr>
              <p:cNvPr id="15" name="Straight Arrow Connector 14">
                <a:extLst>
                  <a:ext uri="{FF2B5EF4-FFF2-40B4-BE49-F238E27FC236}">
                    <a16:creationId xmlns:a16="http://schemas.microsoft.com/office/drawing/2014/main" id="{7C6A3F41-E442-C245-5E49-9DAE9B76641C}"/>
                  </a:ext>
                </a:extLst>
              </p:cNvPr>
              <p:cNvCxnSpPr>
                <a:cxnSpLocks/>
              </p:cNvCxnSpPr>
              <p:nvPr/>
            </p:nvCxnSpPr>
            <p:spPr>
              <a:xfrm flipV="1">
                <a:off x="1805652" y="1493134"/>
                <a:ext cx="0" cy="4366550"/>
              </a:xfrm>
              <a:prstGeom prst="straightConnector1">
                <a:avLst/>
              </a:prstGeom>
              <a:ln w="127000">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B20EBA1E-DC2F-A191-03FF-CD9633A1EBBC}"/>
                  </a:ext>
                </a:extLst>
              </p:cNvPr>
              <p:cNvCxnSpPr>
                <a:cxnSpLocks/>
              </p:cNvCxnSpPr>
              <p:nvPr/>
            </p:nvCxnSpPr>
            <p:spPr>
              <a:xfrm>
                <a:off x="1779790" y="5816277"/>
                <a:ext cx="4490974" cy="0"/>
              </a:xfrm>
              <a:prstGeom prst="straightConnector1">
                <a:avLst/>
              </a:prstGeom>
              <a:ln w="127000">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sp>
            <p:nvSpPr>
              <p:cNvPr id="17" name="Freeform 16">
                <a:extLst>
                  <a:ext uri="{FF2B5EF4-FFF2-40B4-BE49-F238E27FC236}">
                    <a16:creationId xmlns:a16="http://schemas.microsoft.com/office/drawing/2014/main" id="{19494F4F-1B07-EC40-4EB4-F8FE0CADF101}"/>
                  </a:ext>
                </a:extLst>
              </p:cNvPr>
              <p:cNvSpPr/>
              <p:nvPr/>
            </p:nvSpPr>
            <p:spPr>
              <a:xfrm>
                <a:off x="1939274" y="3449119"/>
                <a:ext cx="1893537" cy="2087919"/>
              </a:xfrm>
              <a:custGeom>
                <a:avLst/>
                <a:gdLst>
                  <a:gd name="connsiteX0" fmla="*/ 0 w 1893537"/>
                  <a:gd name="connsiteY0" fmla="*/ 2879376 h 2887468"/>
                  <a:gd name="connsiteX1" fmla="*/ 412694 w 1893537"/>
                  <a:gd name="connsiteY1" fmla="*/ 2361486 h 2887468"/>
                  <a:gd name="connsiteX2" fmla="*/ 841572 w 1893537"/>
                  <a:gd name="connsiteY2" fmla="*/ 233281 h 2887468"/>
                  <a:gd name="connsiteX3" fmla="*/ 1068149 w 1893537"/>
                  <a:gd name="connsiteY3" fmla="*/ 289925 h 2887468"/>
                  <a:gd name="connsiteX4" fmla="*/ 1472751 w 1893537"/>
                  <a:gd name="connsiteY4" fmla="*/ 2321026 h 2887468"/>
                  <a:gd name="connsiteX5" fmla="*/ 1893537 w 1893537"/>
                  <a:gd name="connsiteY5" fmla="*/ 2887468 h 2887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3537" h="2887468">
                    <a:moveTo>
                      <a:pt x="0" y="2879376"/>
                    </a:moveTo>
                    <a:cubicBezTo>
                      <a:pt x="136216" y="2840939"/>
                      <a:pt x="272432" y="2802502"/>
                      <a:pt x="412694" y="2361486"/>
                    </a:cubicBezTo>
                    <a:cubicBezTo>
                      <a:pt x="552956" y="1920470"/>
                      <a:pt x="732330" y="578541"/>
                      <a:pt x="841572" y="233281"/>
                    </a:cubicBezTo>
                    <a:cubicBezTo>
                      <a:pt x="950814" y="-111979"/>
                      <a:pt x="962953" y="-58032"/>
                      <a:pt x="1068149" y="289925"/>
                    </a:cubicBezTo>
                    <a:cubicBezTo>
                      <a:pt x="1173345" y="637882"/>
                      <a:pt x="1335186" y="1888102"/>
                      <a:pt x="1472751" y="2321026"/>
                    </a:cubicBezTo>
                    <a:cubicBezTo>
                      <a:pt x="1610316" y="2753950"/>
                      <a:pt x="1689888" y="2863192"/>
                      <a:pt x="1893537" y="2887468"/>
                    </a:cubicBezTo>
                  </a:path>
                </a:pathLst>
              </a:custGeom>
              <a:solidFill>
                <a:schemeClr val="accent1">
                  <a:lumMod val="40000"/>
                  <a:lumOff val="60000"/>
                  <a:alpha val="84678"/>
                </a:schemeClr>
              </a:solidFill>
              <a:ln>
                <a:solidFill>
                  <a:schemeClr val="accent1">
                    <a:lumMod val="50000"/>
                    <a:alpha val="85134"/>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17">
                <a:extLst>
                  <a:ext uri="{FF2B5EF4-FFF2-40B4-BE49-F238E27FC236}">
                    <a16:creationId xmlns:a16="http://schemas.microsoft.com/office/drawing/2014/main" id="{169D0236-87B7-48EA-B717-C3F1A3D43EF5}"/>
                  </a:ext>
                </a:extLst>
              </p:cNvPr>
              <p:cNvSpPr/>
              <p:nvPr/>
            </p:nvSpPr>
            <p:spPr>
              <a:xfrm>
                <a:off x="2842958" y="2826560"/>
                <a:ext cx="1893537" cy="2710478"/>
              </a:xfrm>
              <a:custGeom>
                <a:avLst/>
                <a:gdLst>
                  <a:gd name="connsiteX0" fmla="*/ 0 w 1893537"/>
                  <a:gd name="connsiteY0" fmla="*/ 2879376 h 2887468"/>
                  <a:gd name="connsiteX1" fmla="*/ 412694 w 1893537"/>
                  <a:gd name="connsiteY1" fmla="*/ 2361486 h 2887468"/>
                  <a:gd name="connsiteX2" fmla="*/ 841572 w 1893537"/>
                  <a:gd name="connsiteY2" fmla="*/ 233281 h 2887468"/>
                  <a:gd name="connsiteX3" fmla="*/ 1068149 w 1893537"/>
                  <a:gd name="connsiteY3" fmla="*/ 289925 h 2887468"/>
                  <a:gd name="connsiteX4" fmla="*/ 1472751 w 1893537"/>
                  <a:gd name="connsiteY4" fmla="*/ 2321026 h 2887468"/>
                  <a:gd name="connsiteX5" fmla="*/ 1893537 w 1893537"/>
                  <a:gd name="connsiteY5" fmla="*/ 2887468 h 2887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3537" h="2887468">
                    <a:moveTo>
                      <a:pt x="0" y="2879376"/>
                    </a:moveTo>
                    <a:cubicBezTo>
                      <a:pt x="136216" y="2840939"/>
                      <a:pt x="272432" y="2802502"/>
                      <a:pt x="412694" y="2361486"/>
                    </a:cubicBezTo>
                    <a:cubicBezTo>
                      <a:pt x="552956" y="1920470"/>
                      <a:pt x="732330" y="578541"/>
                      <a:pt x="841572" y="233281"/>
                    </a:cubicBezTo>
                    <a:cubicBezTo>
                      <a:pt x="950814" y="-111979"/>
                      <a:pt x="962953" y="-58032"/>
                      <a:pt x="1068149" y="289925"/>
                    </a:cubicBezTo>
                    <a:cubicBezTo>
                      <a:pt x="1173345" y="637882"/>
                      <a:pt x="1335186" y="1888102"/>
                      <a:pt x="1472751" y="2321026"/>
                    </a:cubicBezTo>
                    <a:cubicBezTo>
                      <a:pt x="1610316" y="2753950"/>
                      <a:pt x="1689888" y="2863192"/>
                      <a:pt x="1893537" y="2887468"/>
                    </a:cubicBezTo>
                  </a:path>
                </a:pathLst>
              </a:custGeom>
              <a:solidFill>
                <a:schemeClr val="accent2">
                  <a:lumMod val="40000"/>
                  <a:lumOff val="60000"/>
                  <a:alpha val="85220"/>
                </a:schemeClr>
              </a:solidFill>
              <a:ln>
                <a:solidFill>
                  <a:schemeClr val="accent2">
                    <a:lumMod val="50000"/>
                    <a:alpha val="85199"/>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18">
                <a:extLst>
                  <a:ext uri="{FF2B5EF4-FFF2-40B4-BE49-F238E27FC236}">
                    <a16:creationId xmlns:a16="http://schemas.microsoft.com/office/drawing/2014/main" id="{60790F85-4849-81BD-4D33-2DAA132F3181}"/>
                  </a:ext>
                </a:extLst>
              </p:cNvPr>
              <p:cNvSpPr/>
              <p:nvPr/>
            </p:nvSpPr>
            <p:spPr>
              <a:xfrm>
                <a:off x="3722204" y="2311601"/>
                <a:ext cx="2101382" cy="3225437"/>
              </a:xfrm>
              <a:custGeom>
                <a:avLst/>
                <a:gdLst>
                  <a:gd name="connsiteX0" fmla="*/ 0 w 1893537"/>
                  <a:gd name="connsiteY0" fmla="*/ 2879376 h 2887468"/>
                  <a:gd name="connsiteX1" fmla="*/ 412694 w 1893537"/>
                  <a:gd name="connsiteY1" fmla="*/ 2361486 h 2887468"/>
                  <a:gd name="connsiteX2" fmla="*/ 841572 w 1893537"/>
                  <a:gd name="connsiteY2" fmla="*/ 233281 h 2887468"/>
                  <a:gd name="connsiteX3" fmla="*/ 1068149 w 1893537"/>
                  <a:gd name="connsiteY3" fmla="*/ 289925 h 2887468"/>
                  <a:gd name="connsiteX4" fmla="*/ 1472751 w 1893537"/>
                  <a:gd name="connsiteY4" fmla="*/ 2321026 h 2887468"/>
                  <a:gd name="connsiteX5" fmla="*/ 1893537 w 1893537"/>
                  <a:gd name="connsiteY5" fmla="*/ 2887468 h 2887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3537" h="2887468">
                    <a:moveTo>
                      <a:pt x="0" y="2879376"/>
                    </a:moveTo>
                    <a:cubicBezTo>
                      <a:pt x="136216" y="2840939"/>
                      <a:pt x="272432" y="2802502"/>
                      <a:pt x="412694" y="2361486"/>
                    </a:cubicBezTo>
                    <a:cubicBezTo>
                      <a:pt x="552956" y="1920470"/>
                      <a:pt x="732330" y="578541"/>
                      <a:pt x="841572" y="233281"/>
                    </a:cubicBezTo>
                    <a:cubicBezTo>
                      <a:pt x="950814" y="-111979"/>
                      <a:pt x="962953" y="-58032"/>
                      <a:pt x="1068149" y="289925"/>
                    </a:cubicBezTo>
                    <a:cubicBezTo>
                      <a:pt x="1173345" y="637882"/>
                      <a:pt x="1335186" y="1888102"/>
                      <a:pt x="1472751" y="2321026"/>
                    </a:cubicBezTo>
                    <a:cubicBezTo>
                      <a:pt x="1610316" y="2753950"/>
                      <a:pt x="1689888" y="2863192"/>
                      <a:pt x="1893537" y="2887468"/>
                    </a:cubicBezTo>
                  </a:path>
                </a:pathLst>
              </a:custGeom>
              <a:solidFill>
                <a:schemeClr val="accent6">
                  <a:lumMod val="40000"/>
                  <a:lumOff val="60000"/>
                  <a:alpha val="85188"/>
                </a:schemeClr>
              </a:solidFill>
              <a:ln>
                <a:solidFill>
                  <a:schemeClr val="accent6">
                    <a:lumMod val="50000"/>
                    <a:alpha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Freeform 5">
              <a:extLst>
                <a:ext uri="{FF2B5EF4-FFF2-40B4-BE49-F238E27FC236}">
                  <a16:creationId xmlns:a16="http://schemas.microsoft.com/office/drawing/2014/main" id="{244FAA8B-C9EA-52C8-FA89-796DBC13F5C0}"/>
                </a:ext>
              </a:extLst>
            </p:cNvPr>
            <p:cNvSpPr/>
            <p:nvPr/>
          </p:nvSpPr>
          <p:spPr>
            <a:xfrm>
              <a:off x="1812853" y="2979683"/>
              <a:ext cx="3708069" cy="2264351"/>
            </a:xfrm>
            <a:custGeom>
              <a:avLst/>
              <a:gdLst>
                <a:gd name="connsiteX0" fmla="*/ 0 w 3229897"/>
                <a:gd name="connsiteY0" fmla="*/ 2138516 h 2138516"/>
                <a:gd name="connsiteX1" fmla="*/ 678426 w 3229897"/>
                <a:gd name="connsiteY1" fmla="*/ 1991032 h 2138516"/>
                <a:gd name="connsiteX2" fmla="*/ 1253613 w 3229897"/>
                <a:gd name="connsiteY2" fmla="*/ 1401097 h 2138516"/>
                <a:gd name="connsiteX3" fmla="*/ 1784555 w 3229897"/>
                <a:gd name="connsiteY3" fmla="*/ 1238864 h 2138516"/>
                <a:gd name="connsiteX4" fmla="*/ 2433484 w 3229897"/>
                <a:gd name="connsiteY4" fmla="*/ 693174 h 2138516"/>
                <a:gd name="connsiteX5" fmla="*/ 3229897 w 3229897"/>
                <a:gd name="connsiteY5" fmla="*/ 0 h 2138516"/>
                <a:gd name="connsiteX0" fmla="*/ 0 w 3708069"/>
                <a:gd name="connsiteY0" fmla="*/ 2264351 h 2264351"/>
                <a:gd name="connsiteX1" fmla="*/ 1156598 w 3708069"/>
                <a:gd name="connsiteY1" fmla="*/ 1991032 h 2264351"/>
                <a:gd name="connsiteX2" fmla="*/ 1731785 w 3708069"/>
                <a:gd name="connsiteY2" fmla="*/ 1401097 h 2264351"/>
                <a:gd name="connsiteX3" fmla="*/ 2262727 w 3708069"/>
                <a:gd name="connsiteY3" fmla="*/ 1238864 h 2264351"/>
                <a:gd name="connsiteX4" fmla="*/ 2911656 w 3708069"/>
                <a:gd name="connsiteY4" fmla="*/ 693174 h 2264351"/>
                <a:gd name="connsiteX5" fmla="*/ 3708069 w 3708069"/>
                <a:gd name="connsiteY5" fmla="*/ 0 h 2264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8069" h="2264351">
                  <a:moveTo>
                    <a:pt x="0" y="2264351"/>
                  </a:moveTo>
                  <a:lnTo>
                    <a:pt x="1156598" y="1991032"/>
                  </a:lnTo>
                  <a:lnTo>
                    <a:pt x="1731785" y="1401097"/>
                  </a:lnTo>
                  <a:lnTo>
                    <a:pt x="2262727" y="1238864"/>
                  </a:lnTo>
                  <a:lnTo>
                    <a:pt x="2911656" y="693174"/>
                  </a:lnTo>
                  <a:lnTo>
                    <a:pt x="3708069" y="0"/>
                  </a:lnTo>
                </a:path>
              </a:pathLst>
            </a:custGeom>
            <a:noFill/>
            <a:ln w="127000">
              <a:solidFill>
                <a:schemeClr val="bg1">
                  <a:alpha val="84175"/>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AB7C0256-C5EC-0F33-92F2-93CAB2A3B8DE}"/>
                </a:ext>
              </a:extLst>
            </p:cNvPr>
            <p:cNvCxnSpPr>
              <a:cxnSpLocks/>
            </p:cNvCxnSpPr>
            <p:nvPr/>
          </p:nvCxnSpPr>
          <p:spPr>
            <a:xfrm flipV="1">
              <a:off x="5630015" y="2762124"/>
              <a:ext cx="122104" cy="126034"/>
            </a:xfrm>
            <a:prstGeom prst="straightConnector1">
              <a:avLst/>
            </a:pr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8" name="Freeform 7">
              <a:extLst>
                <a:ext uri="{FF2B5EF4-FFF2-40B4-BE49-F238E27FC236}">
                  <a16:creationId xmlns:a16="http://schemas.microsoft.com/office/drawing/2014/main" id="{C4535313-1421-0499-CDC4-D5E57D0C9D8B}"/>
                </a:ext>
              </a:extLst>
            </p:cNvPr>
            <p:cNvSpPr/>
            <p:nvPr/>
          </p:nvSpPr>
          <p:spPr>
            <a:xfrm>
              <a:off x="1817303" y="2889806"/>
              <a:ext cx="3812712" cy="2352582"/>
            </a:xfrm>
            <a:custGeom>
              <a:avLst/>
              <a:gdLst>
                <a:gd name="connsiteX0" fmla="*/ 0 w 3229897"/>
                <a:gd name="connsiteY0" fmla="*/ 2138516 h 2138516"/>
                <a:gd name="connsiteX1" fmla="*/ 678426 w 3229897"/>
                <a:gd name="connsiteY1" fmla="*/ 1991032 h 2138516"/>
                <a:gd name="connsiteX2" fmla="*/ 1253613 w 3229897"/>
                <a:gd name="connsiteY2" fmla="*/ 1401097 h 2138516"/>
                <a:gd name="connsiteX3" fmla="*/ 1784555 w 3229897"/>
                <a:gd name="connsiteY3" fmla="*/ 1238864 h 2138516"/>
                <a:gd name="connsiteX4" fmla="*/ 2433484 w 3229897"/>
                <a:gd name="connsiteY4" fmla="*/ 693174 h 2138516"/>
                <a:gd name="connsiteX5" fmla="*/ 3229897 w 3229897"/>
                <a:gd name="connsiteY5" fmla="*/ 0 h 2138516"/>
                <a:gd name="connsiteX0" fmla="*/ 0 w 3326150"/>
                <a:gd name="connsiteY0" fmla="*/ 2226747 h 2226747"/>
                <a:gd name="connsiteX1" fmla="*/ 678426 w 3326150"/>
                <a:gd name="connsiteY1" fmla="*/ 2079263 h 2226747"/>
                <a:gd name="connsiteX2" fmla="*/ 1253613 w 3326150"/>
                <a:gd name="connsiteY2" fmla="*/ 1489328 h 2226747"/>
                <a:gd name="connsiteX3" fmla="*/ 1784555 w 3326150"/>
                <a:gd name="connsiteY3" fmla="*/ 1327095 h 2226747"/>
                <a:gd name="connsiteX4" fmla="*/ 2433484 w 3326150"/>
                <a:gd name="connsiteY4" fmla="*/ 781405 h 2226747"/>
                <a:gd name="connsiteX5" fmla="*/ 3326150 w 3326150"/>
                <a:gd name="connsiteY5" fmla="*/ 0 h 2226747"/>
                <a:gd name="connsiteX0" fmla="*/ 0 w 3812712"/>
                <a:gd name="connsiteY0" fmla="*/ 2352582 h 2352582"/>
                <a:gd name="connsiteX1" fmla="*/ 1164988 w 3812712"/>
                <a:gd name="connsiteY1" fmla="*/ 2079263 h 2352582"/>
                <a:gd name="connsiteX2" fmla="*/ 1740175 w 3812712"/>
                <a:gd name="connsiteY2" fmla="*/ 1489328 h 2352582"/>
                <a:gd name="connsiteX3" fmla="*/ 2271117 w 3812712"/>
                <a:gd name="connsiteY3" fmla="*/ 1327095 h 2352582"/>
                <a:gd name="connsiteX4" fmla="*/ 2920046 w 3812712"/>
                <a:gd name="connsiteY4" fmla="*/ 781405 h 2352582"/>
                <a:gd name="connsiteX5" fmla="*/ 3812712 w 3812712"/>
                <a:gd name="connsiteY5" fmla="*/ 0 h 2352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2712" h="2352582">
                  <a:moveTo>
                    <a:pt x="0" y="2352582"/>
                  </a:moveTo>
                  <a:lnTo>
                    <a:pt x="1164988" y="2079263"/>
                  </a:lnTo>
                  <a:lnTo>
                    <a:pt x="1740175" y="1489328"/>
                  </a:lnTo>
                  <a:lnTo>
                    <a:pt x="2271117" y="1327095"/>
                  </a:lnTo>
                  <a:lnTo>
                    <a:pt x="2920046" y="781405"/>
                  </a:lnTo>
                  <a:lnTo>
                    <a:pt x="3812712" y="0"/>
                  </a:lnTo>
                </a:path>
              </a:pathLst>
            </a:cu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8C41E433-C9E3-D71C-7212-DC3B3B5C428E}"/>
                </a:ext>
              </a:extLst>
            </p:cNvPr>
            <p:cNvSpPr/>
            <p:nvPr/>
          </p:nvSpPr>
          <p:spPr>
            <a:xfrm>
              <a:off x="1737815" y="5180385"/>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9B0C401-2244-019A-71FC-92DD015215AB}"/>
                </a:ext>
              </a:extLst>
            </p:cNvPr>
            <p:cNvSpPr/>
            <p:nvPr/>
          </p:nvSpPr>
          <p:spPr>
            <a:xfrm>
              <a:off x="2889176" y="4884308"/>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186D18AC-D19E-C3AD-E713-E44E276F6683}"/>
                </a:ext>
              </a:extLst>
            </p:cNvPr>
            <p:cNvSpPr/>
            <p:nvPr/>
          </p:nvSpPr>
          <p:spPr>
            <a:xfrm>
              <a:off x="3464941" y="4316251"/>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72AFD39-FB13-A803-92EA-927C36024282}"/>
                </a:ext>
              </a:extLst>
            </p:cNvPr>
            <p:cNvSpPr/>
            <p:nvPr/>
          </p:nvSpPr>
          <p:spPr>
            <a:xfrm>
              <a:off x="4014062" y="4120703"/>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73B4B788-5235-B92F-0FBE-B16B6155F412}"/>
                </a:ext>
              </a:extLst>
            </p:cNvPr>
            <p:cNvSpPr/>
            <p:nvPr/>
          </p:nvSpPr>
          <p:spPr>
            <a:xfrm>
              <a:off x="4660823" y="3598409"/>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20C90C00-CDE4-3070-F60B-CADAB3E7365C}"/>
                </a:ext>
              </a:extLst>
            </p:cNvPr>
            <p:cNvSpPr/>
            <p:nvPr/>
          </p:nvSpPr>
          <p:spPr>
            <a:xfrm>
              <a:off x="5260932" y="3074751"/>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Title 1">
            <a:extLst>
              <a:ext uri="{FF2B5EF4-FFF2-40B4-BE49-F238E27FC236}">
                <a16:creationId xmlns:a16="http://schemas.microsoft.com/office/drawing/2014/main" id="{AF86FBB2-26FA-B339-FA6C-625FE14E41E6}"/>
              </a:ext>
            </a:extLst>
          </p:cNvPr>
          <p:cNvSpPr txBox="1">
            <a:spLocks/>
          </p:cNvSpPr>
          <p:nvPr/>
        </p:nvSpPr>
        <p:spPr>
          <a:xfrm>
            <a:off x="5809077" y="269830"/>
            <a:ext cx="6468542" cy="658817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u="sng" dirty="0">
                <a:latin typeface="Calibri" panose="020F0502020204030204" pitchFamily="34" charset="0"/>
                <a:cs typeface="Calibri" panose="020F0502020204030204" pitchFamily="34" charset="0"/>
              </a:rPr>
              <a:t>Lecture Outline</a:t>
            </a:r>
          </a:p>
          <a:p>
            <a:endParaRPr lang="en-US" sz="3200" dirty="0">
              <a:latin typeface="Calibri" panose="020F0502020204030204" pitchFamily="34" charset="0"/>
              <a:cs typeface="Calibri" panose="020F0502020204030204" pitchFamily="34" charset="0"/>
            </a:endParaRPr>
          </a:p>
          <a:p>
            <a:r>
              <a:rPr lang="en-US" sz="3200" dirty="0">
                <a:latin typeface="Calibri" panose="020F0502020204030204" pitchFamily="34" charset="0"/>
                <a:cs typeface="Calibri" panose="020F0502020204030204" pitchFamily="34" charset="0"/>
              </a:rPr>
              <a:t>Steps for Hypothesis Testing</a:t>
            </a:r>
          </a:p>
          <a:p>
            <a:pPr marL="800100" indent="-508000">
              <a:buFont typeface="+mj-lt"/>
              <a:buAutoNum type="arabicPeriod"/>
            </a:pPr>
            <a:r>
              <a:rPr lang="en-US" sz="2800" dirty="0"/>
              <a:t>Define Hypotheses</a:t>
            </a:r>
          </a:p>
          <a:p>
            <a:pPr marL="800100" indent="-508000">
              <a:buFont typeface="+mj-lt"/>
              <a:buAutoNum type="arabicPeriod"/>
            </a:pPr>
            <a:r>
              <a:rPr lang="en-US" sz="2800" dirty="0"/>
              <a:t>Select Sampling Distribution</a:t>
            </a:r>
          </a:p>
          <a:p>
            <a:pPr marL="800100" indent="-508000">
              <a:buFont typeface="+mj-lt"/>
              <a:buAutoNum type="arabicPeriod"/>
            </a:pPr>
            <a:r>
              <a:rPr lang="en-US" sz="2800" dirty="0"/>
              <a:t>Set </a:t>
            </a:r>
            <a:r>
              <a:rPr lang="en-US" sz="2800" i="1" dirty="0"/>
              <a:t>a priori</a:t>
            </a:r>
            <a:r>
              <a:rPr lang="en-US" sz="2800" dirty="0"/>
              <a:t> criteria</a:t>
            </a:r>
          </a:p>
          <a:p>
            <a:pPr marL="800100" indent="-508000">
              <a:buFont typeface="+mj-lt"/>
              <a:buAutoNum type="arabicPeriod"/>
            </a:pPr>
            <a:r>
              <a:rPr lang="en-US" sz="2800" dirty="0"/>
              <a:t>Compute statistics</a:t>
            </a:r>
          </a:p>
          <a:p>
            <a:pPr marL="800100" indent="-508000">
              <a:buFont typeface="+mj-lt"/>
              <a:buAutoNum type="arabicPeriod"/>
            </a:pPr>
            <a:r>
              <a:rPr lang="en-US" sz="2800" dirty="0">
                <a:solidFill>
                  <a:srgbClr val="FF0000"/>
                </a:solidFill>
              </a:rPr>
              <a:t>Make statistical decision</a:t>
            </a:r>
          </a:p>
          <a:p>
            <a:pPr marL="800100" indent="-508000">
              <a:buFont typeface="+mj-lt"/>
              <a:buAutoNum type="arabicPeriod"/>
            </a:pPr>
            <a:r>
              <a:rPr lang="en-US" sz="2800" dirty="0"/>
              <a:t>Interpret your outcome</a:t>
            </a:r>
            <a:endParaRPr lang="en-US" sz="2000" dirty="0"/>
          </a:p>
          <a:p>
            <a:endParaRPr lang="en-US"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6512383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AE6BB-58A8-1546-92D6-2C0306990118}"/>
              </a:ext>
            </a:extLst>
          </p:cNvPr>
          <p:cNvSpPr>
            <a:spLocks noGrp="1"/>
          </p:cNvSpPr>
          <p:nvPr>
            <p:ph type="title"/>
          </p:nvPr>
        </p:nvSpPr>
        <p:spPr/>
        <p:txBody>
          <a:bodyPr/>
          <a:lstStyle/>
          <a:p>
            <a:r>
              <a:rPr lang="en-US" dirty="0"/>
              <a:t>Step 5: Make Statistical Decision</a:t>
            </a:r>
          </a:p>
        </p:txBody>
      </p:sp>
      <p:pic>
        <p:nvPicPr>
          <p:cNvPr id="5" name="Picture 4" descr="Chart&#10;&#10;Description automatically generated">
            <a:extLst>
              <a:ext uri="{FF2B5EF4-FFF2-40B4-BE49-F238E27FC236}">
                <a16:creationId xmlns:a16="http://schemas.microsoft.com/office/drawing/2014/main" id="{4B26E6D9-BDE8-C04E-95C7-DA80AEA0A5C7}"/>
              </a:ext>
            </a:extLst>
          </p:cNvPr>
          <p:cNvPicPr>
            <a:picLocks noChangeAspect="1"/>
          </p:cNvPicPr>
          <p:nvPr/>
        </p:nvPicPr>
        <p:blipFill rotWithShape="1">
          <a:blip r:embed="rId2"/>
          <a:srcRect r="15716"/>
          <a:stretch/>
        </p:blipFill>
        <p:spPr>
          <a:xfrm>
            <a:off x="7126874" y="2593442"/>
            <a:ext cx="5065126" cy="2368752"/>
          </a:xfrm>
          <a:prstGeom prst="rect">
            <a:avLst/>
          </a:prstGeom>
        </p:spPr>
      </p:pic>
      <p:sp>
        <p:nvSpPr>
          <p:cNvPr id="7" name="Content Placeholder 6">
            <a:extLst>
              <a:ext uri="{FF2B5EF4-FFF2-40B4-BE49-F238E27FC236}">
                <a16:creationId xmlns:a16="http://schemas.microsoft.com/office/drawing/2014/main" id="{D225BD0C-D24D-5A42-ADF6-D9633BF8CAA0}"/>
              </a:ext>
            </a:extLst>
          </p:cNvPr>
          <p:cNvSpPr>
            <a:spLocks noGrp="1"/>
          </p:cNvSpPr>
          <p:nvPr>
            <p:ph idx="1"/>
          </p:nvPr>
        </p:nvSpPr>
        <p:spPr>
          <a:xfrm>
            <a:off x="838199" y="1825624"/>
            <a:ext cx="6288673" cy="5032375"/>
          </a:xfrm>
        </p:spPr>
        <p:txBody>
          <a:bodyPr>
            <a:normAutofit/>
          </a:bodyPr>
          <a:lstStyle/>
          <a:p>
            <a:pPr marL="0" indent="0">
              <a:buNone/>
            </a:pPr>
            <a:r>
              <a:rPr lang="en-US" dirty="0"/>
              <a:t>We determine whether things (e.g., two groups) are statistically different by</a:t>
            </a:r>
          </a:p>
          <a:p>
            <a:r>
              <a:rPr lang="en-US" dirty="0"/>
              <a:t>Comparing our </a:t>
            </a:r>
            <a:r>
              <a:rPr lang="en-US" b="1" i="1" dirty="0"/>
              <a:t>p</a:t>
            </a:r>
            <a:r>
              <a:rPr lang="en-US" b="1" dirty="0"/>
              <a:t>(</a:t>
            </a:r>
            <a:r>
              <a:rPr lang="en-US" b="1" i="1" dirty="0" err="1"/>
              <a:t>obs</a:t>
            </a:r>
            <a:r>
              <a:rPr lang="en-US" b="1" dirty="0"/>
              <a:t>)</a:t>
            </a:r>
            <a:r>
              <a:rPr lang="en-US" dirty="0"/>
              <a:t> to our </a:t>
            </a:r>
            <a:r>
              <a:rPr lang="en-US" b="1" i="1" dirty="0"/>
              <a:t>p</a:t>
            </a:r>
            <a:r>
              <a:rPr lang="en-US" b="1" dirty="0"/>
              <a:t>(</a:t>
            </a:r>
            <a:r>
              <a:rPr lang="el-GR" b="1" i="1" dirty="0"/>
              <a:t>α</a:t>
            </a:r>
            <a:r>
              <a:rPr lang="en-US" b="1" dirty="0"/>
              <a:t>)</a:t>
            </a:r>
            <a:r>
              <a:rPr lang="en-US" dirty="0"/>
              <a:t> </a:t>
            </a:r>
          </a:p>
          <a:p>
            <a:r>
              <a:rPr lang="en-US" dirty="0"/>
              <a:t>Comparing our </a:t>
            </a:r>
            <a:r>
              <a:rPr lang="en-US" b="1" i="1" dirty="0"/>
              <a:t>z</a:t>
            </a:r>
            <a:r>
              <a:rPr lang="en-US" b="1" dirty="0"/>
              <a:t>(</a:t>
            </a:r>
            <a:r>
              <a:rPr lang="en-US" b="1" i="1" dirty="0" err="1"/>
              <a:t>obs</a:t>
            </a:r>
            <a:r>
              <a:rPr lang="en-US" b="1" dirty="0"/>
              <a:t>) </a:t>
            </a:r>
            <a:r>
              <a:rPr lang="en-US" dirty="0"/>
              <a:t>to our </a:t>
            </a:r>
            <a:r>
              <a:rPr lang="en-US" b="1" i="1" dirty="0"/>
              <a:t>z(crit)</a:t>
            </a:r>
          </a:p>
          <a:p>
            <a:endParaRPr lang="en-US" b="1" i="1" dirty="0"/>
          </a:p>
          <a:p>
            <a:pPr marL="0" indent="0">
              <a:buNone/>
            </a:pPr>
            <a:r>
              <a:rPr lang="en-US" dirty="0"/>
              <a:t>Note that comparing p-values or z-values will always lead to the same statistical decision</a:t>
            </a:r>
          </a:p>
          <a:p>
            <a:r>
              <a:rPr lang="en-US" dirty="0"/>
              <a:t>So, you only actually need to do one comparison</a:t>
            </a:r>
          </a:p>
        </p:txBody>
      </p:sp>
      <p:cxnSp>
        <p:nvCxnSpPr>
          <p:cNvPr id="3" name="Straight Connector 2">
            <a:extLst>
              <a:ext uri="{FF2B5EF4-FFF2-40B4-BE49-F238E27FC236}">
                <a16:creationId xmlns:a16="http://schemas.microsoft.com/office/drawing/2014/main" id="{2F783D67-8CA4-DCE5-0014-966908D7E18A}"/>
              </a:ext>
            </a:extLst>
          </p:cNvPr>
          <p:cNvCxnSpPr/>
          <p:nvPr/>
        </p:nvCxnSpPr>
        <p:spPr>
          <a:xfrm flipV="1">
            <a:off x="11056192" y="2599209"/>
            <a:ext cx="0" cy="165958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488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19782D-6378-F266-EBE9-61DD5FB50D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CD44F4-0C66-FEF3-2D64-9B9DCC3799AE}"/>
              </a:ext>
            </a:extLst>
          </p:cNvPr>
          <p:cNvSpPr>
            <a:spLocks noGrp="1"/>
          </p:cNvSpPr>
          <p:nvPr>
            <p:ph type="title"/>
          </p:nvPr>
        </p:nvSpPr>
        <p:spPr/>
        <p:txBody>
          <a:bodyPr/>
          <a:lstStyle/>
          <a:p>
            <a:r>
              <a:rPr lang="en-US" dirty="0"/>
              <a:t>Step 5: Make Statistical Decision</a:t>
            </a:r>
          </a:p>
        </p:txBody>
      </p:sp>
      <p:pic>
        <p:nvPicPr>
          <p:cNvPr id="5" name="Picture 4" descr="Chart&#10;&#10;Description automatically generated">
            <a:extLst>
              <a:ext uri="{FF2B5EF4-FFF2-40B4-BE49-F238E27FC236}">
                <a16:creationId xmlns:a16="http://schemas.microsoft.com/office/drawing/2014/main" id="{52178A5E-B128-1325-6C36-ADAD4D4E79A8}"/>
              </a:ext>
            </a:extLst>
          </p:cNvPr>
          <p:cNvPicPr>
            <a:picLocks noChangeAspect="1"/>
          </p:cNvPicPr>
          <p:nvPr/>
        </p:nvPicPr>
        <p:blipFill rotWithShape="1">
          <a:blip r:embed="rId2"/>
          <a:srcRect r="15716"/>
          <a:stretch/>
        </p:blipFill>
        <p:spPr>
          <a:xfrm>
            <a:off x="7126874" y="2593442"/>
            <a:ext cx="5065126" cy="2368752"/>
          </a:xfrm>
          <a:prstGeom prst="rect">
            <a:avLst/>
          </a:prstGeom>
        </p:spPr>
      </p:pic>
      <p:sp>
        <p:nvSpPr>
          <p:cNvPr id="7" name="Content Placeholder 6">
            <a:extLst>
              <a:ext uri="{FF2B5EF4-FFF2-40B4-BE49-F238E27FC236}">
                <a16:creationId xmlns:a16="http://schemas.microsoft.com/office/drawing/2014/main" id="{B4CDFF18-C7D1-0507-8AA5-AB569E70F27D}"/>
              </a:ext>
            </a:extLst>
          </p:cNvPr>
          <p:cNvSpPr>
            <a:spLocks noGrp="1"/>
          </p:cNvSpPr>
          <p:nvPr>
            <p:ph idx="1"/>
          </p:nvPr>
        </p:nvSpPr>
        <p:spPr>
          <a:xfrm>
            <a:off x="838199" y="1825624"/>
            <a:ext cx="6288673" cy="5032375"/>
          </a:xfrm>
        </p:spPr>
        <p:txBody>
          <a:bodyPr>
            <a:normAutofit fontScale="92500" lnSpcReduction="10000"/>
          </a:bodyPr>
          <a:lstStyle/>
          <a:p>
            <a:pPr marL="0" indent="0">
              <a:buNone/>
            </a:pPr>
            <a:r>
              <a:rPr lang="en-US" dirty="0"/>
              <a:t>Compare our </a:t>
            </a:r>
            <a:r>
              <a:rPr lang="en-US" b="1" i="1" dirty="0"/>
              <a:t>p</a:t>
            </a:r>
            <a:r>
              <a:rPr lang="en-US" b="1" dirty="0"/>
              <a:t>(</a:t>
            </a:r>
            <a:r>
              <a:rPr lang="en-US" b="1" i="1" dirty="0" err="1"/>
              <a:t>obs</a:t>
            </a:r>
            <a:r>
              <a:rPr lang="en-US" b="1" dirty="0"/>
              <a:t>)</a:t>
            </a:r>
            <a:r>
              <a:rPr lang="en-US" dirty="0"/>
              <a:t> to our </a:t>
            </a:r>
            <a:r>
              <a:rPr lang="en-US" b="1" i="1" dirty="0"/>
              <a:t>p</a:t>
            </a:r>
            <a:r>
              <a:rPr lang="en-US" b="1" dirty="0"/>
              <a:t>(</a:t>
            </a:r>
            <a:r>
              <a:rPr lang="el-GR" b="1" dirty="0"/>
              <a:t>α</a:t>
            </a:r>
            <a:r>
              <a:rPr lang="en-US" b="1" dirty="0"/>
              <a:t>)</a:t>
            </a:r>
            <a:r>
              <a:rPr lang="en-US" dirty="0"/>
              <a:t> </a:t>
            </a:r>
          </a:p>
          <a:p>
            <a:pPr marL="0" indent="0">
              <a:buNone/>
            </a:pPr>
            <a:r>
              <a:rPr lang="en-US" dirty="0"/>
              <a:t>Compare our </a:t>
            </a:r>
            <a:r>
              <a:rPr lang="en-US" b="1" i="1" dirty="0"/>
              <a:t>z</a:t>
            </a:r>
            <a:r>
              <a:rPr lang="en-US" b="1" dirty="0"/>
              <a:t>(</a:t>
            </a:r>
            <a:r>
              <a:rPr lang="en-US" b="1" i="1" dirty="0" err="1"/>
              <a:t>obs</a:t>
            </a:r>
            <a:r>
              <a:rPr lang="en-US" b="1" dirty="0"/>
              <a:t>) </a:t>
            </a:r>
            <a:r>
              <a:rPr lang="en-US" dirty="0"/>
              <a:t>to our </a:t>
            </a:r>
            <a:r>
              <a:rPr lang="en-US" b="1" i="1" dirty="0"/>
              <a:t>z(crit)</a:t>
            </a:r>
          </a:p>
          <a:p>
            <a:pPr marL="0" indent="0">
              <a:buNone/>
            </a:pPr>
            <a:endParaRPr lang="en-US" b="1" dirty="0"/>
          </a:p>
          <a:p>
            <a:r>
              <a:rPr lang="en-US" i="1" dirty="0"/>
              <a:t>p</a:t>
            </a:r>
            <a:r>
              <a:rPr lang="en-US" dirty="0"/>
              <a:t>(</a:t>
            </a:r>
            <a:r>
              <a:rPr lang="en-US" i="1" dirty="0" err="1"/>
              <a:t>obs</a:t>
            </a:r>
            <a:r>
              <a:rPr lang="en-US" dirty="0"/>
              <a:t>) = Value determined </a:t>
            </a:r>
            <a:r>
              <a:rPr lang="en-US" i="1" dirty="0"/>
              <a:t>a posteriori</a:t>
            </a:r>
          </a:p>
          <a:p>
            <a:pPr lvl="1"/>
            <a:r>
              <a:rPr lang="en-US" dirty="0"/>
              <a:t>Reflects the proportion of the sampling distribution that reflects our observed data</a:t>
            </a:r>
          </a:p>
          <a:p>
            <a:pPr lvl="1"/>
            <a:r>
              <a:rPr lang="en-US" dirty="0"/>
              <a:t>Probability your outcome occurred by chance</a:t>
            </a:r>
          </a:p>
          <a:p>
            <a:pPr lvl="1"/>
            <a:endParaRPr lang="en-US" dirty="0"/>
          </a:p>
          <a:p>
            <a:r>
              <a:rPr lang="en-US" i="1" dirty="0"/>
              <a:t>p</a:t>
            </a:r>
            <a:r>
              <a:rPr lang="en-US" dirty="0"/>
              <a:t>(</a:t>
            </a:r>
            <a:r>
              <a:rPr lang="el-GR" i="1" dirty="0"/>
              <a:t>α</a:t>
            </a:r>
            <a:r>
              <a:rPr lang="en-US" dirty="0"/>
              <a:t>) </a:t>
            </a:r>
            <a:r>
              <a:rPr lang="en-US" b="1" dirty="0"/>
              <a:t>=</a:t>
            </a:r>
            <a:r>
              <a:rPr lang="en-US" dirty="0"/>
              <a:t> Value decided </a:t>
            </a:r>
            <a:r>
              <a:rPr lang="en-US" i="1" dirty="0"/>
              <a:t>a priori</a:t>
            </a:r>
          </a:p>
          <a:p>
            <a:pPr lvl="1"/>
            <a:r>
              <a:rPr lang="en-US" dirty="0"/>
              <a:t>Reflects the proportion of the sampling distribution that we’ve designated as a threshold for statistical significance</a:t>
            </a:r>
          </a:p>
          <a:p>
            <a:pPr lvl="1"/>
            <a:r>
              <a:rPr lang="en-US" dirty="0"/>
              <a:t>Probability of which you are willing to make a mistake</a:t>
            </a:r>
          </a:p>
        </p:txBody>
      </p:sp>
      <p:cxnSp>
        <p:nvCxnSpPr>
          <p:cNvPr id="3" name="Straight Connector 2">
            <a:extLst>
              <a:ext uri="{FF2B5EF4-FFF2-40B4-BE49-F238E27FC236}">
                <a16:creationId xmlns:a16="http://schemas.microsoft.com/office/drawing/2014/main" id="{059D671D-C449-9EB4-7355-7F0E248BC903}"/>
              </a:ext>
            </a:extLst>
          </p:cNvPr>
          <p:cNvCxnSpPr/>
          <p:nvPr/>
        </p:nvCxnSpPr>
        <p:spPr>
          <a:xfrm flipV="1">
            <a:off x="11056192" y="2599209"/>
            <a:ext cx="0" cy="165958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55863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AE6BB-58A8-1546-92D6-2C0306990118}"/>
              </a:ext>
            </a:extLst>
          </p:cNvPr>
          <p:cNvSpPr>
            <a:spLocks noGrp="1"/>
          </p:cNvSpPr>
          <p:nvPr>
            <p:ph type="title"/>
          </p:nvPr>
        </p:nvSpPr>
        <p:spPr/>
        <p:txBody>
          <a:bodyPr/>
          <a:lstStyle/>
          <a:p>
            <a:r>
              <a:rPr lang="en-US" dirty="0"/>
              <a:t>Step 5: Make Statistical Decision</a:t>
            </a:r>
          </a:p>
        </p:txBody>
      </p:sp>
      <p:pic>
        <p:nvPicPr>
          <p:cNvPr id="5" name="Picture 4" descr="Chart&#10;&#10;Description automatically generated">
            <a:extLst>
              <a:ext uri="{FF2B5EF4-FFF2-40B4-BE49-F238E27FC236}">
                <a16:creationId xmlns:a16="http://schemas.microsoft.com/office/drawing/2014/main" id="{4B26E6D9-BDE8-C04E-95C7-DA80AEA0A5C7}"/>
              </a:ext>
            </a:extLst>
          </p:cNvPr>
          <p:cNvPicPr>
            <a:picLocks noChangeAspect="1"/>
          </p:cNvPicPr>
          <p:nvPr/>
        </p:nvPicPr>
        <p:blipFill rotWithShape="1">
          <a:blip r:embed="rId2"/>
          <a:srcRect r="15716"/>
          <a:stretch/>
        </p:blipFill>
        <p:spPr>
          <a:xfrm>
            <a:off x="7126874" y="2593442"/>
            <a:ext cx="5065126" cy="2368752"/>
          </a:xfrm>
          <a:prstGeom prst="rect">
            <a:avLst/>
          </a:prstGeom>
        </p:spPr>
      </p:pic>
      <p:sp>
        <p:nvSpPr>
          <p:cNvPr id="7" name="Content Placeholder 6">
            <a:extLst>
              <a:ext uri="{FF2B5EF4-FFF2-40B4-BE49-F238E27FC236}">
                <a16:creationId xmlns:a16="http://schemas.microsoft.com/office/drawing/2014/main" id="{D225BD0C-D24D-5A42-ADF6-D9633BF8CAA0}"/>
              </a:ext>
            </a:extLst>
          </p:cNvPr>
          <p:cNvSpPr>
            <a:spLocks noGrp="1"/>
          </p:cNvSpPr>
          <p:nvPr>
            <p:ph idx="1"/>
          </p:nvPr>
        </p:nvSpPr>
        <p:spPr>
          <a:xfrm>
            <a:off x="838199" y="1825625"/>
            <a:ext cx="7476459" cy="5032376"/>
          </a:xfrm>
        </p:spPr>
        <p:txBody>
          <a:bodyPr>
            <a:normAutofit fontScale="92500" lnSpcReduction="20000"/>
          </a:bodyPr>
          <a:lstStyle/>
          <a:p>
            <a:pPr marL="0" indent="0">
              <a:buNone/>
            </a:pPr>
            <a:r>
              <a:rPr lang="en-US" dirty="0"/>
              <a:t>Compare our </a:t>
            </a:r>
            <a:r>
              <a:rPr lang="en-US" b="1" i="1" dirty="0"/>
              <a:t>p</a:t>
            </a:r>
            <a:r>
              <a:rPr lang="en-US" b="1" dirty="0"/>
              <a:t>(</a:t>
            </a:r>
            <a:r>
              <a:rPr lang="en-US" b="1" i="1" dirty="0" err="1"/>
              <a:t>obs</a:t>
            </a:r>
            <a:r>
              <a:rPr lang="en-US" b="1" dirty="0"/>
              <a:t>)</a:t>
            </a:r>
            <a:r>
              <a:rPr lang="en-US" dirty="0"/>
              <a:t> to our </a:t>
            </a:r>
            <a:r>
              <a:rPr lang="en-US" b="1" i="1" dirty="0"/>
              <a:t>p</a:t>
            </a:r>
            <a:r>
              <a:rPr lang="en-US" b="1" dirty="0"/>
              <a:t>(</a:t>
            </a:r>
            <a:r>
              <a:rPr lang="el-GR" b="1" dirty="0"/>
              <a:t>α</a:t>
            </a:r>
            <a:r>
              <a:rPr lang="en-US" b="1" dirty="0"/>
              <a:t>)</a:t>
            </a:r>
            <a:r>
              <a:rPr lang="en-US" dirty="0"/>
              <a:t> </a:t>
            </a:r>
          </a:p>
          <a:p>
            <a:pPr marL="0" indent="0">
              <a:buNone/>
            </a:pPr>
            <a:r>
              <a:rPr lang="en-US" dirty="0"/>
              <a:t>Compare our </a:t>
            </a:r>
            <a:r>
              <a:rPr lang="en-US" b="1" i="1" dirty="0"/>
              <a:t>z</a:t>
            </a:r>
            <a:r>
              <a:rPr lang="en-US" b="1" dirty="0"/>
              <a:t>(</a:t>
            </a:r>
            <a:r>
              <a:rPr lang="en-US" b="1" i="1" dirty="0" err="1"/>
              <a:t>obs</a:t>
            </a:r>
            <a:r>
              <a:rPr lang="en-US" b="1" dirty="0"/>
              <a:t>) </a:t>
            </a:r>
            <a:r>
              <a:rPr lang="en-US" dirty="0"/>
              <a:t>to our </a:t>
            </a:r>
            <a:r>
              <a:rPr lang="en-US" b="1" i="1" dirty="0"/>
              <a:t>z(crit)</a:t>
            </a:r>
          </a:p>
          <a:p>
            <a:endParaRPr lang="en-US" b="1" dirty="0"/>
          </a:p>
          <a:p>
            <a:r>
              <a:rPr lang="en-US" i="1" dirty="0"/>
              <a:t>p</a:t>
            </a:r>
            <a:r>
              <a:rPr lang="en-US" dirty="0"/>
              <a:t>(</a:t>
            </a:r>
            <a:r>
              <a:rPr lang="en-US" dirty="0" err="1"/>
              <a:t>obs</a:t>
            </a:r>
            <a:r>
              <a:rPr lang="en-US" dirty="0"/>
              <a:t>) = </a:t>
            </a:r>
          </a:p>
          <a:p>
            <a:pPr lvl="1"/>
            <a:r>
              <a:rPr lang="en-US" dirty="0"/>
              <a:t>One-Tailed: .0104 x 1 = .0104</a:t>
            </a:r>
          </a:p>
          <a:p>
            <a:pPr lvl="1"/>
            <a:r>
              <a:rPr lang="en-US" dirty="0"/>
              <a:t>Two-Tailed: .0104 x 2 = .0208</a:t>
            </a:r>
          </a:p>
          <a:p>
            <a:r>
              <a:rPr lang="en-US" i="1" dirty="0"/>
              <a:t>p</a:t>
            </a:r>
            <a:r>
              <a:rPr lang="en-US" dirty="0"/>
              <a:t>(</a:t>
            </a:r>
            <a:r>
              <a:rPr lang="el-GR" dirty="0"/>
              <a:t>α</a:t>
            </a:r>
            <a:r>
              <a:rPr lang="en-US" dirty="0"/>
              <a:t>) </a:t>
            </a:r>
            <a:r>
              <a:rPr lang="en-US" b="1" dirty="0"/>
              <a:t>=</a:t>
            </a:r>
            <a:r>
              <a:rPr lang="en-US" dirty="0"/>
              <a:t> .05</a:t>
            </a:r>
          </a:p>
          <a:p>
            <a:endParaRPr lang="en-US" i="1" dirty="0"/>
          </a:p>
          <a:p>
            <a:r>
              <a:rPr lang="en-US" i="1" dirty="0"/>
              <a:t>z</a:t>
            </a:r>
            <a:r>
              <a:rPr lang="en-US" dirty="0"/>
              <a:t>(</a:t>
            </a:r>
            <a:r>
              <a:rPr lang="en-US" dirty="0" err="1"/>
              <a:t>obs</a:t>
            </a:r>
            <a:r>
              <a:rPr lang="en-US" dirty="0"/>
              <a:t>) </a:t>
            </a:r>
            <a:r>
              <a:rPr lang="en-US" b="1" dirty="0"/>
              <a:t>= </a:t>
            </a:r>
            <a:r>
              <a:rPr lang="en-US" dirty="0"/>
              <a:t>2.3077</a:t>
            </a:r>
          </a:p>
          <a:p>
            <a:pPr lvl="1"/>
            <a:r>
              <a:rPr lang="en-US" dirty="0"/>
              <a:t>Note, the z(</a:t>
            </a:r>
            <a:r>
              <a:rPr lang="en-US" dirty="0" err="1"/>
              <a:t>obs</a:t>
            </a:r>
            <a:r>
              <a:rPr lang="en-US" dirty="0"/>
              <a:t>) has to be </a:t>
            </a:r>
            <a:r>
              <a:rPr lang="en-US" i="1" dirty="0"/>
              <a:t>more extreme </a:t>
            </a:r>
            <a:r>
              <a:rPr lang="en-US" dirty="0"/>
              <a:t>than the z(crit)</a:t>
            </a:r>
          </a:p>
          <a:p>
            <a:r>
              <a:rPr lang="en-US" i="1" dirty="0"/>
              <a:t>z</a:t>
            </a:r>
            <a:r>
              <a:rPr lang="en-US" dirty="0"/>
              <a:t>(crit) </a:t>
            </a:r>
            <a:r>
              <a:rPr lang="en-US" i="1" dirty="0"/>
              <a:t>= </a:t>
            </a:r>
          </a:p>
          <a:p>
            <a:pPr lvl="1"/>
            <a:r>
              <a:rPr lang="en-US" dirty="0"/>
              <a:t>One-Tailed: -1.645 or +1.645</a:t>
            </a:r>
          </a:p>
          <a:p>
            <a:pPr lvl="1"/>
            <a:r>
              <a:rPr lang="en-CA" dirty="0"/>
              <a:t>Two-Tailed: ±</a:t>
            </a:r>
            <a:r>
              <a:rPr lang="en-US" dirty="0"/>
              <a:t>1.96</a:t>
            </a:r>
          </a:p>
        </p:txBody>
      </p:sp>
      <p:cxnSp>
        <p:nvCxnSpPr>
          <p:cNvPr id="3" name="Straight Connector 2">
            <a:extLst>
              <a:ext uri="{FF2B5EF4-FFF2-40B4-BE49-F238E27FC236}">
                <a16:creationId xmlns:a16="http://schemas.microsoft.com/office/drawing/2014/main" id="{DB078745-8735-8D8D-08A3-1014CB63C336}"/>
              </a:ext>
            </a:extLst>
          </p:cNvPr>
          <p:cNvCxnSpPr/>
          <p:nvPr/>
        </p:nvCxnSpPr>
        <p:spPr>
          <a:xfrm flipV="1">
            <a:off x="11056192" y="2599209"/>
            <a:ext cx="0" cy="165958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2964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xEl>
                                              <p:pRg st="11" end="1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AE6BB-58A8-1546-92D6-2C0306990118}"/>
              </a:ext>
            </a:extLst>
          </p:cNvPr>
          <p:cNvSpPr>
            <a:spLocks noGrp="1"/>
          </p:cNvSpPr>
          <p:nvPr>
            <p:ph type="title"/>
          </p:nvPr>
        </p:nvSpPr>
        <p:spPr/>
        <p:txBody>
          <a:bodyPr/>
          <a:lstStyle/>
          <a:p>
            <a:r>
              <a:rPr lang="en-US" dirty="0"/>
              <a:t>Step 5: Make Statistical Decision</a:t>
            </a:r>
          </a:p>
        </p:txBody>
      </p:sp>
      <p:pic>
        <p:nvPicPr>
          <p:cNvPr id="5" name="Picture 4" descr="Chart&#10;&#10;Description automatically generated">
            <a:extLst>
              <a:ext uri="{FF2B5EF4-FFF2-40B4-BE49-F238E27FC236}">
                <a16:creationId xmlns:a16="http://schemas.microsoft.com/office/drawing/2014/main" id="{4B26E6D9-BDE8-C04E-95C7-DA80AEA0A5C7}"/>
              </a:ext>
            </a:extLst>
          </p:cNvPr>
          <p:cNvPicPr>
            <a:picLocks noChangeAspect="1"/>
          </p:cNvPicPr>
          <p:nvPr/>
        </p:nvPicPr>
        <p:blipFill rotWithShape="1">
          <a:blip r:embed="rId2"/>
          <a:srcRect r="15716"/>
          <a:stretch/>
        </p:blipFill>
        <p:spPr>
          <a:xfrm>
            <a:off x="7126874" y="2593442"/>
            <a:ext cx="5065126" cy="2368752"/>
          </a:xfrm>
          <a:prstGeom prst="rect">
            <a:avLst/>
          </a:prstGeom>
        </p:spPr>
      </p:pic>
      <p:sp>
        <p:nvSpPr>
          <p:cNvPr id="7" name="Content Placeholder 6">
            <a:extLst>
              <a:ext uri="{FF2B5EF4-FFF2-40B4-BE49-F238E27FC236}">
                <a16:creationId xmlns:a16="http://schemas.microsoft.com/office/drawing/2014/main" id="{D225BD0C-D24D-5A42-ADF6-D9633BF8CAA0}"/>
              </a:ext>
            </a:extLst>
          </p:cNvPr>
          <p:cNvSpPr>
            <a:spLocks noGrp="1"/>
          </p:cNvSpPr>
          <p:nvPr>
            <p:ph idx="1"/>
          </p:nvPr>
        </p:nvSpPr>
        <p:spPr>
          <a:xfrm>
            <a:off x="838199" y="1825624"/>
            <a:ext cx="6511503" cy="5032375"/>
          </a:xfrm>
        </p:spPr>
        <p:txBody>
          <a:bodyPr>
            <a:normAutofit/>
          </a:bodyPr>
          <a:lstStyle/>
          <a:p>
            <a:pPr marL="0" indent="0">
              <a:buNone/>
            </a:pPr>
            <a:r>
              <a:rPr lang="en-US" i="1" dirty="0"/>
              <a:t>p</a:t>
            </a:r>
            <a:r>
              <a:rPr lang="en-US" dirty="0"/>
              <a:t>(</a:t>
            </a:r>
            <a:r>
              <a:rPr lang="en-US" dirty="0" err="1"/>
              <a:t>obs</a:t>
            </a:r>
            <a:r>
              <a:rPr lang="en-US" dirty="0"/>
              <a:t>) &gt; </a:t>
            </a:r>
            <a:r>
              <a:rPr lang="en-US" i="1" dirty="0"/>
              <a:t>p</a:t>
            </a:r>
            <a:r>
              <a:rPr lang="en-US" dirty="0"/>
              <a:t>(</a:t>
            </a:r>
            <a:r>
              <a:rPr lang="el-GR" dirty="0"/>
              <a:t>α</a:t>
            </a:r>
            <a:r>
              <a:rPr lang="en-US" dirty="0"/>
              <a:t>)    AND    |</a:t>
            </a:r>
            <a:r>
              <a:rPr lang="en-US" i="1" dirty="0"/>
              <a:t>z</a:t>
            </a:r>
            <a:r>
              <a:rPr lang="en-US" dirty="0"/>
              <a:t>(</a:t>
            </a:r>
            <a:r>
              <a:rPr lang="en-US" dirty="0" err="1"/>
              <a:t>obs</a:t>
            </a:r>
            <a:r>
              <a:rPr lang="en-US" dirty="0"/>
              <a:t>)| &lt; |</a:t>
            </a:r>
            <a:r>
              <a:rPr lang="en-US" i="1" dirty="0"/>
              <a:t>z</a:t>
            </a:r>
            <a:r>
              <a:rPr lang="en-US" dirty="0"/>
              <a:t>(crit)|</a:t>
            </a:r>
          </a:p>
          <a:p>
            <a:r>
              <a:rPr lang="en-US" dirty="0"/>
              <a:t>Not Significant</a:t>
            </a:r>
          </a:p>
          <a:p>
            <a:pPr lvl="1"/>
            <a:r>
              <a:rPr lang="en-US" dirty="0"/>
              <a:t>Fail to reject the null hypothesis</a:t>
            </a:r>
            <a:endParaRPr lang="en-US" baseline="-25000" dirty="0"/>
          </a:p>
          <a:p>
            <a:pPr lvl="1"/>
            <a:r>
              <a:rPr lang="en-US" dirty="0"/>
              <a:t>Suspend Judgment on alternative hypothesis</a:t>
            </a:r>
          </a:p>
          <a:p>
            <a:pPr lvl="2"/>
            <a:r>
              <a:rPr lang="en-US" dirty="0"/>
              <a:t>Outcome is inconclusive</a:t>
            </a:r>
          </a:p>
          <a:p>
            <a:pPr lvl="2"/>
            <a:endParaRPr lang="en-US" dirty="0"/>
          </a:p>
          <a:p>
            <a:pPr marL="0" indent="0">
              <a:buNone/>
            </a:pPr>
            <a:r>
              <a:rPr lang="en-US" i="1" dirty="0"/>
              <a:t>p</a:t>
            </a:r>
            <a:r>
              <a:rPr lang="en-US" dirty="0"/>
              <a:t>(</a:t>
            </a:r>
            <a:r>
              <a:rPr lang="en-US" dirty="0" err="1"/>
              <a:t>obs</a:t>
            </a:r>
            <a:r>
              <a:rPr lang="en-US" dirty="0"/>
              <a:t>) &lt; </a:t>
            </a:r>
            <a:r>
              <a:rPr lang="en-US" i="1" dirty="0"/>
              <a:t>p</a:t>
            </a:r>
            <a:r>
              <a:rPr lang="en-US" dirty="0"/>
              <a:t>(</a:t>
            </a:r>
            <a:r>
              <a:rPr lang="el-GR" dirty="0"/>
              <a:t>α</a:t>
            </a:r>
            <a:r>
              <a:rPr lang="en-US" dirty="0"/>
              <a:t>)    AND    |</a:t>
            </a:r>
            <a:r>
              <a:rPr lang="en-US" i="1" dirty="0"/>
              <a:t>z</a:t>
            </a:r>
            <a:r>
              <a:rPr lang="en-US" dirty="0"/>
              <a:t>(</a:t>
            </a:r>
            <a:r>
              <a:rPr lang="en-US" dirty="0" err="1"/>
              <a:t>obs</a:t>
            </a:r>
            <a:r>
              <a:rPr lang="en-US" dirty="0"/>
              <a:t>)| &gt; |</a:t>
            </a:r>
            <a:r>
              <a:rPr lang="en-US" i="1" dirty="0"/>
              <a:t>z</a:t>
            </a:r>
            <a:r>
              <a:rPr lang="en-US" dirty="0"/>
              <a:t>(crit)|</a:t>
            </a:r>
          </a:p>
          <a:p>
            <a:r>
              <a:rPr lang="en-US" dirty="0"/>
              <a:t>Significant</a:t>
            </a:r>
          </a:p>
          <a:p>
            <a:pPr lvl="1"/>
            <a:r>
              <a:rPr lang="en-US" dirty="0"/>
              <a:t>Reject the null hypothesis</a:t>
            </a:r>
            <a:endParaRPr lang="en-US" baseline="-25000" dirty="0"/>
          </a:p>
          <a:p>
            <a:pPr lvl="1"/>
            <a:r>
              <a:rPr lang="en-US" dirty="0"/>
              <a:t>Accept alternative hypothesis</a:t>
            </a:r>
          </a:p>
          <a:p>
            <a:pPr lvl="2"/>
            <a:r>
              <a:rPr lang="en-US" dirty="0"/>
              <a:t>Data represents a systematic change in </a:t>
            </a:r>
            <a:r>
              <a:rPr lang="en-US" dirty="0" err="1"/>
              <a:t>behaviour</a:t>
            </a:r>
            <a:endParaRPr lang="en-US" dirty="0"/>
          </a:p>
          <a:p>
            <a:pPr lvl="2"/>
            <a:endParaRPr lang="en-US" dirty="0"/>
          </a:p>
        </p:txBody>
      </p:sp>
      <p:cxnSp>
        <p:nvCxnSpPr>
          <p:cNvPr id="3" name="Straight Connector 2">
            <a:extLst>
              <a:ext uri="{FF2B5EF4-FFF2-40B4-BE49-F238E27FC236}">
                <a16:creationId xmlns:a16="http://schemas.microsoft.com/office/drawing/2014/main" id="{9EAE913E-FF73-00F6-7C99-7F2DCF3D0981}"/>
              </a:ext>
            </a:extLst>
          </p:cNvPr>
          <p:cNvCxnSpPr/>
          <p:nvPr/>
        </p:nvCxnSpPr>
        <p:spPr>
          <a:xfrm flipV="1">
            <a:off x="11056192" y="2599209"/>
            <a:ext cx="0" cy="165958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1451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AE6BB-58A8-1546-92D6-2C0306990118}"/>
              </a:ext>
            </a:extLst>
          </p:cNvPr>
          <p:cNvSpPr>
            <a:spLocks noGrp="1"/>
          </p:cNvSpPr>
          <p:nvPr>
            <p:ph type="title"/>
          </p:nvPr>
        </p:nvSpPr>
        <p:spPr/>
        <p:txBody>
          <a:bodyPr/>
          <a:lstStyle/>
          <a:p>
            <a:r>
              <a:rPr lang="en-US" dirty="0"/>
              <a:t>Step 5: Make Statistical Decision</a:t>
            </a:r>
          </a:p>
        </p:txBody>
      </p:sp>
      <p:pic>
        <p:nvPicPr>
          <p:cNvPr id="5" name="Picture 4" descr="Chart&#10;&#10;Description automatically generated">
            <a:extLst>
              <a:ext uri="{FF2B5EF4-FFF2-40B4-BE49-F238E27FC236}">
                <a16:creationId xmlns:a16="http://schemas.microsoft.com/office/drawing/2014/main" id="{4B26E6D9-BDE8-C04E-95C7-DA80AEA0A5C7}"/>
              </a:ext>
            </a:extLst>
          </p:cNvPr>
          <p:cNvPicPr>
            <a:picLocks noChangeAspect="1"/>
          </p:cNvPicPr>
          <p:nvPr/>
        </p:nvPicPr>
        <p:blipFill rotWithShape="1">
          <a:blip r:embed="rId2"/>
          <a:srcRect r="15716"/>
          <a:stretch/>
        </p:blipFill>
        <p:spPr>
          <a:xfrm>
            <a:off x="7126874" y="2593442"/>
            <a:ext cx="5065126" cy="2368752"/>
          </a:xfrm>
          <a:prstGeom prst="rect">
            <a:avLst/>
          </a:prstGeom>
        </p:spPr>
      </p:pic>
      <p:sp>
        <p:nvSpPr>
          <p:cNvPr id="7" name="Content Placeholder 6">
            <a:extLst>
              <a:ext uri="{FF2B5EF4-FFF2-40B4-BE49-F238E27FC236}">
                <a16:creationId xmlns:a16="http://schemas.microsoft.com/office/drawing/2014/main" id="{D225BD0C-D24D-5A42-ADF6-D9633BF8CAA0}"/>
              </a:ext>
            </a:extLst>
          </p:cNvPr>
          <p:cNvSpPr>
            <a:spLocks noGrp="1"/>
          </p:cNvSpPr>
          <p:nvPr>
            <p:ph idx="1"/>
          </p:nvPr>
        </p:nvSpPr>
        <p:spPr>
          <a:xfrm>
            <a:off x="838200" y="1825624"/>
            <a:ext cx="6120160" cy="5032375"/>
          </a:xfrm>
        </p:spPr>
        <p:txBody>
          <a:bodyPr>
            <a:normAutofit/>
          </a:bodyPr>
          <a:lstStyle/>
          <a:p>
            <a:pPr marL="0" indent="0">
              <a:buNone/>
            </a:pPr>
            <a:r>
              <a:rPr lang="en-US" b="1" dirty="0"/>
              <a:t>One Tailed</a:t>
            </a:r>
          </a:p>
          <a:p>
            <a:r>
              <a:rPr lang="en-US" i="1" dirty="0"/>
              <a:t>p</a:t>
            </a:r>
            <a:r>
              <a:rPr lang="en-US" dirty="0"/>
              <a:t>(</a:t>
            </a:r>
            <a:r>
              <a:rPr lang="en-US" dirty="0" err="1"/>
              <a:t>obs</a:t>
            </a:r>
            <a:r>
              <a:rPr lang="en-US" dirty="0"/>
              <a:t>) = .0104 </a:t>
            </a:r>
            <a:r>
              <a:rPr lang="en-US" b="1" dirty="0"/>
              <a:t>&lt;</a:t>
            </a:r>
            <a:r>
              <a:rPr lang="en-US" dirty="0"/>
              <a:t> </a:t>
            </a:r>
            <a:r>
              <a:rPr lang="en-US" i="1" dirty="0"/>
              <a:t>p</a:t>
            </a:r>
            <a:r>
              <a:rPr lang="en-US" dirty="0"/>
              <a:t>(</a:t>
            </a:r>
            <a:r>
              <a:rPr lang="el-GR" dirty="0"/>
              <a:t>α</a:t>
            </a:r>
            <a:r>
              <a:rPr lang="en-US" dirty="0"/>
              <a:t>) </a:t>
            </a:r>
            <a:r>
              <a:rPr lang="en-US" b="1" dirty="0"/>
              <a:t>= </a:t>
            </a:r>
            <a:r>
              <a:rPr lang="en-US" dirty="0"/>
              <a:t>.05</a:t>
            </a:r>
          </a:p>
          <a:p>
            <a:pPr lvl="1"/>
            <a:r>
              <a:rPr lang="en-US" i="1" dirty="0"/>
              <a:t>Reject the null hypothesis</a:t>
            </a:r>
          </a:p>
          <a:p>
            <a:endParaRPr lang="en-US" i="1" dirty="0"/>
          </a:p>
          <a:p>
            <a:r>
              <a:rPr lang="en-US" i="1" dirty="0"/>
              <a:t>z</a:t>
            </a:r>
            <a:r>
              <a:rPr lang="en-US" dirty="0"/>
              <a:t>(</a:t>
            </a:r>
            <a:r>
              <a:rPr lang="en-US" dirty="0" err="1"/>
              <a:t>obs</a:t>
            </a:r>
            <a:r>
              <a:rPr lang="en-US" dirty="0"/>
              <a:t>) </a:t>
            </a:r>
            <a:r>
              <a:rPr lang="en-US" b="1" dirty="0"/>
              <a:t>= </a:t>
            </a:r>
            <a:r>
              <a:rPr lang="en-US" dirty="0"/>
              <a:t>2.3077 </a:t>
            </a:r>
            <a:r>
              <a:rPr lang="en-US" b="1" dirty="0"/>
              <a:t>&gt;</a:t>
            </a:r>
            <a:r>
              <a:rPr lang="en-US" dirty="0"/>
              <a:t> </a:t>
            </a:r>
            <a:r>
              <a:rPr lang="en-US" i="1" dirty="0"/>
              <a:t>z</a:t>
            </a:r>
            <a:r>
              <a:rPr lang="en-US" dirty="0"/>
              <a:t>(crit)</a:t>
            </a:r>
            <a:r>
              <a:rPr lang="en-US" i="1" dirty="0"/>
              <a:t> </a:t>
            </a:r>
            <a:r>
              <a:rPr lang="en-US" dirty="0"/>
              <a:t>=</a:t>
            </a:r>
            <a:r>
              <a:rPr lang="en-US" i="1" dirty="0"/>
              <a:t> </a:t>
            </a:r>
            <a:r>
              <a:rPr lang="en-US" dirty="0"/>
              <a:t>1.645</a:t>
            </a:r>
          </a:p>
          <a:p>
            <a:pPr lvl="1"/>
            <a:r>
              <a:rPr lang="en-US" i="1" dirty="0"/>
              <a:t>Reject the null hypothesis</a:t>
            </a:r>
          </a:p>
          <a:p>
            <a:pPr marL="0" indent="0">
              <a:buNone/>
            </a:pPr>
            <a:endParaRPr lang="en-US" i="1" dirty="0"/>
          </a:p>
          <a:p>
            <a:r>
              <a:rPr lang="en-US" dirty="0"/>
              <a:t>In other words, there IS a difference between Jo’s exam score and past courses</a:t>
            </a:r>
          </a:p>
          <a:p>
            <a:pPr marL="457200" lvl="1" indent="0">
              <a:buNone/>
            </a:pPr>
            <a:endParaRPr lang="en-US" i="1" dirty="0"/>
          </a:p>
          <a:p>
            <a:endParaRPr lang="en-US" dirty="0"/>
          </a:p>
        </p:txBody>
      </p:sp>
      <p:cxnSp>
        <p:nvCxnSpPr>
          <p:cNvPr id="3" name="Straight Connector 2">
            <a:extLst>
              <a:ext uri="{FF2B5EF4-FFF2-40B4-BE49-F238E27FC236}">
                <a16:creationId xmlns:a16="http://schemas.microsoft.com/office/drawing/2014/main" id="{37068757-0463-819F-A33B-715136737BA9}"/>
              </a:ext>
            </a:extLst>
          </p:cNvPr>
          <p:cNvCxnSpPr/>
          <p:nvPr/>
        </p:nvCxnSpPr>
        <p:spPr>
          <a:xfrm flipV="1">
            <a:off x="11056192" y="2599209"/>
            <a:ext cx="0" cy="165958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3292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AE6BB-58A8-1546-92D6-2C0306990118}"/>
              </a:ext>
            </a:extLst>
          </p:cNvPr>
          <p:cNvSpPr>
            <a:spLocks noGrp="1"/>
          </p:cNvSpPr>
          <p:nvPr>
            <p:ph type="title"/>
          </p:nvPr>
        </p:nvSpPr>
        <p:spPr/>
        <p:txBody>
          <a:bodyPr/>
          <a:lstStyle/>
          <a:p>
            <a:r>
              <a:rPr lang="en-US" dirty="0"/>
              <a:t>Step 5: Make Statistical Decision</a:t>
            </a:r>
          </a:p>
        </p:txBody>
      </p:sp>
      <p:pic>
        <p:nvPicPr>
          <p:cNvPr id="5" name="Picture 4" descr="Chart&#10;&#10;Description automatically generated">
            <a:extLst>
              <a:ext uri="{FF2B5EF4-FFF2-40B4-BE49-F238E27FC236}">
                <a16:creationId xmlns:a16="http://schemas.microsoft.com/office/drawing/2014/main" id="{4B26E6D9-BDE8-C04E-95C7-DA80AEA0A5C7}"/>
              </a:ext>
            </a:extLst>
          </p:cNvPr>
          <p:cNvPicPr>
            <a:picLocks noChangeAspect="1"/>
          </p:cNvPicPr>
          <p:nvPr/>
        </p:nvPicPr>
        <p:blipFill rotWithShape="1">
          <a:blip r:embed="rId2"/>
          <a:srcRect r="15716"/>
          <a:stretch/>
        </p:blipFill>
        <p:spPr>
          <a:xfrm>
            <a:off x="7126874" y="2593442"/>
            <a:ext cx="5065126" cy="2368752"/>
          </a:xfrm>
          <a:prstGeom prst="rect">
            <a:avLst/>
          </a:prstGeom>
        </p:spPr>
      </p:pic>
      <p:sp>
        <p:nvSpPr>
          <p:cNvPr id="7" name="Content Placeholder 6">
            <a:extLst>
              <a:ext uri="{FF2B5EF4-FFF2-40B4-BE49-F238E27FC236}">
                <a16:creationId xmlns:a16="http://schemas.microsoft.com/office/drawing/2014/main" id="{D225BD0C-D24D-5A42-ADF6-D9633BF8CAA0}"/>
              </a:ext>
            </a:extLst>
          </p:cNvPr>
          <p:cNvSpPr>
            <a:spLocks noGrp="1"/>
          </p:cNvSpPr>
          <p:nvPr>
            <p:ph idx="1"/>
          </p:nvPr>
        </p:nvSpPr>
        <p:spPr>
          <a:xfrm>
            <a:off x="838200" y="1825624"/>
            <a:ext cx="6120160" cy="5032375"/>
          </a:xfrm>
        </p:spPr>
        <p:txBody>
          <a:bodyPr>
            <a:normAutofit/>
          </a:bodyPr>
          <a:lstStyle/>
          <a:p>
            <a:pPr marL="0" indent="0">
              <a:buNone/>
            </a:pPr>
            <a:r>
              <a:rPr lang="en-US" b="1" dirty="0"/>
              <a:t>Two Tailed</a:t>
            </a:r>
          </a:p>
          <a:p>
            <a:r>
              <a:rPr lang="en-US" i="1" dirty="0"/>
              <a:t>p</a:t>
            </a:r>
            <a:r>
              <a:rPr lang="en-US" dirty="0"/>
              <a:t>(</a:t>
            </a:r>
            <a:r>
              <a:rPr lang="en-US" dirty="0" err="1"/>
              <a:t>obs</a:t>
            </a:r>
            <a:r>
              <a:rPr lang="en-US" dirty="0"/>
              <a:t>) = .0208 </a:t>
            </a:r>
            <a:r>
              <a:rPr lang="en-US" b="1" dirty="0"/>
              <a:t>&lt;</a:t>
            </a:r>
            <a:r>
              <a:rPr lang="en-US" dirty="0"/>
              <a:t> </a:t>
            </a:r>
            <a:r>
              <a:rPr lang="en-US" i="1" dirty="0"/>
              <a:t>p</a:t>
            </a:r>
            <a:r>
              <a:rPr lang="en-US" dirty="0"/>
              <a:t>(</a:t>
            </a:r>
            <a:r>
              <a:rPr lang="el-GR" dirty="0"/>
              <a:t>α</a:t>
            </a:r>
            <a:r>
              <a:rPr lang="en-US" dirty="0"/>
              <a:t>) </a:t>
            </a:r>
            <a:r>
              <a:rPr lang="en-US" b="1" dirty="0"/>
              <a:t>= </a:t>
            </a:r>
            <a:r>
              <a:rPr lang="en-US" dirty="0"/>
              <a:t>.05</a:t>
            </a:r>
          </a:p>
          <a:p>
            <a:pPr lvl="1"/>
            <a:r>
              <a:rPr lang="en-US" i="1" dirty="0"/>
              <a:t>Reject the null hypothesis</a:t>
            </a:r>
          </a:p>
          <a:p>
            <a:endParaRPr lang="en-US" i="1" dirty="0"/>
          </a:p>
          <a:p>
            <a:r>
              <a:rPr lang="en-US" i="1" dirty="0"/>
              <a:t>z</a:t>
            </a:r>
            <a:r>
              <a:rPr lang="en-US" dirty="0"/>
              <a:t>(</a:t>
            </a:r>
            <a:r>
              <a:rPr lang="en-US" dirty="0" err="1"/>
              <a:t>obs</a:t>
            </a:r>
            <a:r>
              <a:rPr lang="en-US" dirty="0"/>
              <a:t>)</a:t>
            </a:r>
            <a:r>
              <a:rPr lang="en-US" i="1" dirty="0"/>
              <a:t> </a:t>
            </a:r>
            <a:r>
              <a:rPr lang="en-US" b="1" dirty="0"/>
              <a:t>= </a:t>
            </a:r>
            <a:r>
              <a:rPr lang="en-US" dirty="0"/>
              <a:t>2.3077 </a:t>
            </a:r>
            <a:r>
              <a:rPr lang="en-US" b="1" dirty="0"/>
              <a:t>&gt;</a:t>
            </a:r>
            <a:r>
              <a:rPr lang="en-US" dirty="0"/>
              <a:t> </a:t>
            </a:r>
            <a:r>
              <a:rPr lang="en-US" i="1" dirty="0"/>
              <a:t>z</a:t>
            </a:r>
            <a:r>
              <a:rPr lang="en-US" dirty="0"/>
              <a:t>(crit) =</a:t>
            </a:r>
            <a:r>
              <a:rPr lang="en-US" i="1" dirty="0"/>
              <a:t> </a:t>
            </a:r>
            <a:r>
              <a:rPr lang="en-CA" dirty="0"/>
              <a:t>±</a:t>
            </a:r>
            <a:r>
              <a:rPr lang="en-US" dirty="0"/>
              <a:t>1.96</a:t>
            </a:r>
          </a:p>
          <a:p>
            <a:pPr lvl="1"/>
            <a:r>
              <a:rPr lang="en-US" i="1" dirty="0"/>
              <a:t>Reject the null hypothesis</a:t>
            </a:r>
          </a:p>
          <a:p>
            <a:pPr lvl="1"/>
            <a:endParaRPr lang="en-US" i="1" dirty="0"/>
          </a:p>
          <a:p>
            <a:r>
              <a:rPr lang="en-US" dirty="0"/>
              <a:t>In other words, there IS a difference between Jo’s exam score and past courses</a:t>
            </a:r>
          </a:p>
          <a:p>
            <a:pPr lvl="1"/>
            <a:endParaRPr lang="en-US" i="1" dirty="0"/>
          </a:p>
          <a:p>
            <a:endParaRPr lang="en-US" dirty="0"/>
          </a:p>
        </p:txBody>
      </p:sp>
      <p:cxnSp>
        <p:nvCxnSpPr>
          <p:cNvPr id="3" name="Straight Connector 2">
            <a:extLst>
              <a:ext uri="{FF2B5EF4-FFF2-40B4-BE49-F238E27FC236}">
                <a16:creationId xmlns:a16="http://schemas.microsoft.com/office/drawing/2014/main" id="{3AAC850D-E80E-26F7-24CE-455F551C5401}"/>
              </a:ext>
            </a:extLst>
          </p:cNvPr>
          <p:cNvCxnSpPr/>
          <p:nvPr/>
        </p:nvCxnSpPr>
        <p:spPr>
          <a:xfrm flipV="1">
            <a:off x="11056192" y="2599209"/>
            <a:ext cx="0" cy="165958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5048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6A2FE-7BAC-4F02-4783-0C6D98206B8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4A29DE-AE02-5ACD-072D-D4A3B2525AE1}"/>
              </a:ext>
            </a:extLst>
          </p:cNvPr>
          <p:cNvSpPr>
            <a:spLocks noGrp="1"/>
          </p:cNvSpPr>
          <p:nvPr>
            <p:ph idx="1"/>
          </p:nvPr>
        </p:nvSpPr>
        <p:spPr>
          <a:xfrm>
            <a:off x="838200" y="586596"/>
            <a:ext cx="5257800" cy="6271404"/>
          </a:xfrm>
        </p:spPr>
        <p:txBody>
          <a:bodyPr>
            <a:normAutofit/>
          </a:bodyPr>
          <a:lstStyle/>
          <a:p>
            <a:pPr marL="0" indent="0">
              <a:buNone/>
            </a:pPr>
            <a:r>
              <a:rPr lang="en-US" b="1" dirty="0"/>
              <a:t>Step 1:</a:t>
            </a:r>
          </a:p>
          <a:p>
            <a:r>
              <a:rPr lang="en-US" b="1" i="1" dirty="0"/>
              <a:t>H</a:t>
            </a:r>
            <a:r>
              <a:rPr lang="en-US" b="1" i="1" baseline="-25000" dirty="0"/>
              <a:t>0</a:t>
            </a:r>
            <a:r>
              <a:rPr lang="en-US" b="1" dirty="0"/>
              <a:t>: </a:t>
            </a:r>
            <a:r>
              <a:rPr lang="el-GR" i="1" dirty="0"/>
              <a:t>μ</a:t>
            </a:r>
            <a:r>
              <a:rPr lang="en-CA" dirty="0"/>
              <a:t> =</a:t>
            </a:r>
            <a:r>
              <a:rPr lang="el-GR" dirty="0"/>
              <a:t> </a:t>
            </a:r>
            <a:r>
              <a:rPr lang="en-US" dirty="0"/>
              <a:t>75.00</a:t>
            </a:r>
            <a:r>
              <a:rPr lang="en-CA" dirty="0"/>
              <a:t>    </a:t>
            </a:r>
          </a:p>
          <a:p>
            <a:r>
              <a:rPr lang="en-US" b="1" i="1" dirty="0"/>
              <a:t>H</a:t>
            </a:r>
            <a:r>
              <a:rPr lang="en-US" b="1" i="1" baseline="-25000" dirty="0"/>
              <a:t>1</a:t>
            </a:r>
            <a:r>
              <a:rPr lang="en-US" b="1" dirty="0"/>
              <a:t>: </a:t>
            </a:r>
            <a:r>
              <a:rPr lang="el-GR" i="1" dirty="0"/>
              <a:t>μ</a:t>
            </a:r>
            <a:r>
              <a:rPr lang="en-CA" dirty="0"/>
              <a:t> ≠ </a:t>
            </a:r>
            <a:r>
              <a:rPr lang="en-US" dirty="0"/>
              <a:t>75.00</a:t>
            </a:r>
            <a:r>
              <a:rPr lang="en-CA" dirty="0"/>
              <a:t>    </a:t>
            </a:r>
          </a:p>
          <a:p>
            <a:pPr lvl="1"/>
            <a:r>
              <a:rPr lang="en-CA" dirty="0"/>
              <a:t>Thus, two-tailed</a:t>
            </a:r>
          </a:p>
          <a:p>
            <a:pPr marL="0" indent="0">
              <a:buNone/>
            </a:pPr>
            <a:endParaRPr lang="en-CA" b="1" dirty="0"/>
          </a:p>
          <a:p>
            <a:pPr marL="0" indent="0">
              <a:buNone/>
            </a:pPr>
            <a:r>
              <a:rPr lang="en-CA" b="1" dirty="0"/>
              <a:t>Step 2: </a:t>
            </a:r>
            <a:endParaRPr lang="en-US" b="1" dirty="0"/>
          </a:p>
          <a:p>
            <a:pPr>
              <a:lnSpc>
                <a:spcPct val="100000"/>
              </a:lnSpc>
              <a:spcBef>
                <a:spcPts val="0"/>
              </a:spcBef>
            </a:pPr>
            <a:r>
              <a:rPr lang="en-US" sz="1200" b="1" dirty="0"/>
              <a:t>Type of Research Design</a:t>
            </a:r>
            <a:r>
              <a:rPr lang="en-US" sz="1200" dirty="0"/>
              <a:t>: Single-Participant Design</a:t>
            </a:r>
          </a:p>
          <a:p>
            <a:pPr>
              <a:lnSpc>
                <a:spcPct val="100000"/>
              </a:lnSpc>
              <a:spcBef>
                <a:spcPts val="0"/>
              </a:spcBef>
            </a:pPr>
            <a:r>
              <a:rPr lang="en-US" sz="1200" b="1" dirty="0"/>
              <a:t>Model of Hypothesis Testing</a:t>
            </a:r>
            <a:r>
              <a:rPr lang="en-US" sz="1200" dirty="0"/>
              <a:t>: Random Sampling</a:t>
            </a:r>
          </a:p>
          <a:p>
            <a:pPr>
              <a:lnSpc>
                <a:spcPct val="100000"/>
              </a:lnSpc>
              <a:spcBef>
                <a:spcPts val="0"/>
              </a:spcBef>
            </a:pPr>
            <a:r>
              <a:rPr lang="en-US" sz="1200" b="1" dirty="0"/>
              <a:t>Nature of Data (Scales of measurement)</a:t>
            </a:r>
            <a:r>
              <a:rPr lang="en-US" sz="1200" dirty="0"/>
              <a:t>: Score data</a:t>
            </a:r>
          </a:p>
          <a:p>
            <a:pPr>
              <a:lnSpc>
                <a:spcPct val="100000"/>
              </a:lnSpc>
              <a:spcBef>
                <a:spcPts val="0"/>
              </a:spcBef>
            </a:pPr>
            <a:r>
              <a:rPr lang="en-US" sz="1200" b="1" dirty="0"/>
              <a:t>Statistic Being Analyzed</a:t>
            </a:r>
            <a:r>
              <a:rPr lang="en-US" sz="1200" dirty="0"/>
              <a:t>: X</a:t>
            </a:r>
          </a:p>
          <a:p>
            <a:pPr>
              <a:lnSpc>
                <a:spcPct val="100000"/>
              </a:lnSpc>
              <a:spcBef>
                <a:spcPts val="0"/>
              </a:spcBef>
            </a:pPr>
            <a:r>
              <a:rPr lang="en-US" sz="1200" b="1" dirty="0"/>
              <a:t>Information about the Population</a:t>
            </a:r>
            <a:r>
              <a:rPr lang="en-US" sz="1200" dirty="0"/>
              <a:t>: </a:t>
            </a:r>
            <a:r>
              <a:rPr lang="el-GR" sz="1200" dirty="0"/>
              <a:t>μ</a:t>
            </a:r>
            <a:r>
              <a:rPr lang="en-US" sz="1200" dirty="0"/>
              <a:t> = 75.00, σ = 6.50, </a:t>
            </a:r>
            <a:r>
              <a:rPr lang="en-US" sz="1200" i="1" dirty="0"/>
              <a:t>N</a:t>
            </a:r>
            <a:r>
              <a:rPr lang="en-US" sz="1200" dirty="0"/>
              <a:t> = 500</a:t>
            </a:r>
          </a:p>
          <a:p>
            <a:pPr>
              <a:lnSpc>
                <a:spcPct val="100000"/>
              </a:lnSpc>
              <a:spcBef>
                <a:spcPts val="0"/>
              </a:spcBef>
            </a:pPr>
            <a:r>
              <a:rPr lang="en-US" sz="1200" b="1" dirty="0"/>
              <a:t>Sample Size</a:t>
            </a:r>
            <a:r>
              <a:rPr lang="en-US" sz="1200" dirty="0"/>
              <a:t>: </a:t>
            </a:r>
            <a:r>
              <a:rPr lang="en-US" sz="1200" i="1" dirty="0"/>
              <a:t>n</a:t>
            </a:r>
            <a:r>
              <a:rPr lang="en-US" sz="1200" dirty="0"/>
              <a:t> = 1</a:t>
            </a:r>
          </a:p>
          <a:p>
            <a:pPr>
              <a:lnSpc>
                <a:spcPct val="100000"/>
              </a:lnSpc>
              <a:spcBef>
                <a:spcPts val="0"/>
              </a:spcBef>
            </a:pPr>
            <a:r>
              <a:rPr lang="en-US" sz="1200" b="1" dirty="0"/>
              <a:t>Shape</a:t>
            </a:r>
            <a:r>
              <a:rPr lang="en-US" sz="1200" dirty="0"/>
              <a:t>: Normally distributed</a:t>
            </a:r>
            <a:endParaRPr lang="en-US" sz="1050" dirty="0"/>
          </a:p>
          <a:p>
            <a:pPr marL="0" indent="0">
              <a:lnSpc>
                <a:spcPct val="100000"/>
              </a:lnSpc>
              <a:buNone/>
            </a:pPr>
            <a:endParaRPr lang="en-US" b="1" dirty="0"/>
          </a:p>
          <a:p>
            <a:pPr marL="0" indent="0">
              <a:lnSpc>
                <a:spcPct val="100000"/>
              </a:lnSpc>
              <a:buNone/>
            </a:pPr>
            <a:r>
              <a:rPr lang="en-US" b="1" dirty="0"/>
              <a:t>Step 3:</a:t>
            </a:r>
          </a:p>
          <a:p>
            <a:r>
              <a:rPr lang="en-CA" i="1" dirty="0"/>
              <a:t>p(</a:t>
            </a:r>
            <a:r>
              <a:rPr lang="el-GR" i="1" dirty="0"/>
              <a:t>α</a:t>
            </a:r>
            <a:r>
              <a:rPr lang="en-CA" i="1" dirty="0"/>
              <a:t>) </a:t>
            </a:r>
            <a:r>
              <a:rPr lang="en-CA" dirty="0"/>
              <a:t>= .05, </a:t>
            </a:r>
            <a:r>
              <a:rPr lang="en-CA" i="1" dirty="0"/>
              <a:t>z(crit)</a:t>
            </a:r>
            <a:r>
              <a:rPr lang="en-CA" dirty="0"/>
              <a:t> = ±</a:t>
            </a:r>
            <a:r>
              <a:rPr lang="en-US" dirty="0"/>
              <a:t>1.96</a:t>
            </a:r>
          </a:p>
          <a:p>
            <a:pPr marL="0" indent="0">
              <a:buNone/>
            </a:pPr>
            <a:endParaRPr lang="en-CA" dirty="0"/>
          </a:p>
          <a:p>
            <a:endParaRPr lang="en-US" dirty="0"/>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CCC794E0-E08F-8598-FC0F-3AFD1D113E61}"/>
                  </a:ext>
                </a:extLst>
              </p:cNvPr>
              <p:cNvSpPr txBox="1">
                <a:spLocks/>
              </p:cNvSpPr>
              <p:nvPr/>
            </p:nvSpPr>
            <p:spPr>
              <a:xfrm>
                <a:off x="6096000" y="633816"/>
                <a:ext cx="5257800" cy="627140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Step 4:</a:t>
                </a:r>
              </a:p>
              <a:p>
                <a:r>
                  <a:rPr lang="en-US" i="1" dirty="0"/>
                  <a:t>z</a:t>
                </a:r>
                <a:r>
                  <a:rPr lang="en-US" dirty="0"/>
                  <a:t>(</a:t>
                </a:r>
                <a:r>
                  <a:rPr lang="en-US" dirty="0" err="1"/>
                  <a:t>obs</a:t>
                </a:r>
                <a:r>
                  <a:rPr lang="en-US" dirty="0"/>
                  <a:t>) =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90.0000</m:t>
                        </m:r>
                        <m:r>
                          <a:rPr lang="en-CA" i="1">
                            <a:latin typeface="Cambria Math" panose="02040503050406030204" pitchFamily="18" charset="0"/>
                          </a:rPr>
                          <m:t> −</m:t>
                        </m:r>
                        <m:r>
                          <a:rPr lang="en-US" b="0" i="1" smtClean="0">
                            <a:latin typeface="Cambria Math" panose="02040503050406030204" pitchFamily="18" charset="0"/>
                          </a:rPr>
                          <m:t> </m:t>
                        </m:r>
                        <m:r>
                          <a:rPr lang="en-US" i="1">
                            <a:latin typeface="Cambria Math" panose="02040503050406030204" pitchFamily="18" charset="0"/>
                          </a:rPr>
                          <m:t>75.0000</m:t>
                        </m:r>
                      </m:num>
                      <m:den>
                        <m:r>
                          <a:rPr lang="en-US" i="1">
                            <a:latin typeface="Cambria Math" panose="02040503050406030204" pitchFamily="18" charset="0"/>
                          </a:rPr>
                          <m:t>6.5000</m:t>
                        </m:r>
                      </m:den>
                    </m:f>
                  </m:oMath>
                </a14:m>
                <a:r>
                  <a:rPr lang="en-US" dirty="0"/>
                  <a:t>  = 2.3077</a:t>
                </a:r>
              </a:p>
              <a:p>
                <a:r>
                  <a:rPr lang="en-US" i="1" dirty="0"/>
                  <a:t>p</a:t>
                </a:r>
                <a:r>
                  <a:rPr lang="en-US" dirty="0"/>
                  <a:t>(</a:t>
                </a:r>
                <a:r>
                  <a:rPr lang="en-US" i="1" dirty="0" err="1"/>
                  <a:t>obs</a:t>
                </a:r>
                <a:r>
                  <a:rPr lang="en-US" dirty="0"/>
                  <a:t>) = .0104 x 2 = .0208</a:t>
                </a:r>
                <a:endParaRPr lang="en-US" i="1" dirty="0"/>
              </a:p>
              <a:p>
                <a:pPr marL="0" indent="0">
                  <a:buFont typeface="Arial" panose="020B0604020202020204" pitchFamily="34" charset="0"/>
                  <a:buNone/>
                </a:pPr>
                <a:endParaRPr lang="en-CA" b="1" dirty="0"/>
              </a:p>
              <a:p>
                <a:pPr marL="0" indent="0">
                  <a:buFont typeface="Arial" panose="020B0604020202020204" pitchFamily="34" charset="0"/>
                  <a:buNone/>
                </a:pPr>
                <a:r>
                  <a:rPr lang="en-CA" b="1" dirty="0"/>
                  <a:t>Step 5: </a:t>
                </a:r>
                <a:endParaRPr lang="en-US" b="1" dirty="0"/>
              </a:p>
              <a:p>
                <a:r>
                  <a:rPr lang="en-US" sz="2000" i="1" dirty="0"/>
                  <a:t>p</a:t>
                </a:r>
                <a:r>
                  <a:rPr lang="en-US" sz="2000" dirty="0"/>
                  <a:t>(</a:t>
                </a:r>
                <a:r>
                  <a:rPr lang="en-US" sz="2000" dirty="0" err="1"/>
                  <a:t>obs</a:t>
                </a:r>
                <a:r>
                  <a:rPr lang="en-US" sz="2000" dirty="0"/>
                  <a:t>) = . 0208 </a:t>
                </a:r>
                <a:r>
                  <a:rPr lang="en-US" sz="2000" b="1" dirty="0"/>
                  <a:t>&lt;</a:t>
                </a:r>
                <a:r>
                  <a:rPr lang="en-US" sz="2000" dirty="0"/>
                  <a:t> </a:t>
                </a:r>
                <a:r>
                  <a:rPr lang="en-US" sz="2000" i="1" dirty="0"/>
                  <a:t>p</a:t>
                </a:r>
                <a:r>
                  <a:rPr lang="en-US" sz="2000" dirty="0"/>
                  <a:t>(</a:t>
                </a:r>
                <a:r>
                  <a:rPr lang="el-GR" sz="2000" dirty="0"/>
                  <a:t>α</a:t>
                </a:r>
                <a:r>
                  <a:rPr lang="en-US" sz="2000" dirty="0"/>
                  <a:t>) </a:t>
                </a:r>
                <a:r>
                  <a:rPr lang="en-US" sz="2000" b="1" dirty="0"/>
                  <a:t>= </a:t>
                </a:r>
                <a:r>
                  <a:rPr lang="en-US" sz="2000" dirty="0"/>
                  <a:t>.05</a:t>
                </a:r>
              </a:p>
              <a:p>
                <a:pPr lvl="1"/>
                <a:r>
                  <a:rPr lang="en-US" sz="1800" i="1" dirty="0"/>
                  <a:t>Reject the null hypothesis</a:t>
                </a:r>
              </a:p>
              <a:p>
                <a:r>
                  <a:rPr lang="en-US" sz="2000" i="1" dirty="0"/>
                  <a:t>z(</a:t>
                </a:r>
                <a:r>
                  <a:rPr lang="en-US" sz="2000" i="1" dirty="0" err="1"/>
                  <a:t>obs</a:t>
                </a:r>
                <a:r>
                  <a:rPr lang="en-US" sz="2000" i="1" dirty="0"/>
                  <a:t>) </a:t>
                </a:r>
                <a:r>
                  <a:rPr lang="en-US" sz="2000" b="1" dirty="0"/>
                  <a:t>= </a:t>
                </a:r>
                <a:r>
                  <a:rPr lang="en-US" sz="2000" dirty="0"/>
                  <a:t>2.3077 </a:t>
                </a:r>
                <a:r>
                  <a:rPr lang="en-US" sz="2000" b="1" dirty="0"/>
                  <a:t>&gt;</a:t>
                </a:r>
                <a:r>
                  <a:rPr lang="en-US" sz="2000" dirty="0"/>
                  <a:t> </a:t>
                </a:r>
                <a:r>
                  <a:rPr lang="en-US" sz="2000" i="1" dirty="0"/>
                  <a:t>z(crit) </a:t>
                </a:r>
                <a:r>
                  <a:rPr lang="en-US" sz="2000" dirty="0"/>
                  <a:t>=</a:t>
                </a:r>
                <a:r>
                  <a:rPr lang="en-US" sz="2000" i="1" dirty="0"/>
                  <a:t> </a:t>
                </a:r>
                <a:r>
                  <a:rPr lang="en-CA" sz="2000" dirty="0"/>
                  <a:t>±</a:t>
                </a:r>
                <a:r>
                  <a:rPr lang="en-US" sz="2000" dirty="0"/>
                  <a:t>1.96</a:t>
                </a:r>
              </a:p>
              <a:p>
                <a:pPr lvl="1"/>
                <a:r>
                  <a:rPr lang="en-US" sz="1800" i="1" dirty="0"/>
                  <a:t>Reject the null hypothesis</a:t>
                </a:r>
              </a:p>
              <a:p>
                <a:pPr marL="457200" lvl="1" indent="0">
                  <a:buNone/>
                </a:pPr>
                <a:endParaRPr lang="en-CA" dirty="0"/>
              </a:p>
              <a:p>
                <a:endParaRPr lang="en-US" dirty="0"/>
              </a:p>
            </p:txBody>
          </p:sp>
        </mc:Choice>
        <mc:Fallback xmlns="">
          <p:sp>
            <p:nvSpPr>
              <p:cNvPr id="4" name="Content Placeholder 2">
                <a:extLst>
                  <a:ext uri="{FF2B5EF4-FFF2-40B4-BE49-F238E27FC236}">
                    <a16:creationId xmlns:a16="http://schemas.microsoft.com/office/drawing/2014/main" id="{CCC794E0-E08F-8598-FC0F-3AFD1D113E61}"/>
                  </a:ext>
                </a:extLst>
              </p:cNvPr>
              <p:cNvSpPr txBox="1">
                <a:spLocks noRot="1" noChangeAspect="1" noMove="1" noResize="1" noEditPoints="1" noAdjustHandles="1" noChangeArrowheads="1" noChangeShapeType="1" noTextEdit="1"/>
              </p:cNvSpPr>
              <p:nvPr/>
            </p:nvSpPr>
            <p:spPr>
              <a:xfrm>
                <a:off x="6096000" y="633816"/>
                <a:ext cx="5257800" cy="6271404"/>
              </a:xfrm>
              <a:prstGeom prst="rect">
                <a:avLst/>
              </a:prstGeom>
              <a:blipFill>
                <a:blip r:embed="rId2"/>
                <a:stretch>
                  <a:fillRect l="-2317" t="-1652" r="-1738"/>
                </a:stretch>
              </a:blipFill>
            </p:spPr>
            <p:txBody>
              <a:bodyPr/>
              <a:lstStyle/>
              <a:p>
                <a:r>
                  <a:rPr lang="en-US">
                    <a:noFill/>
                  </a:rPr>
                  <a:t> </a:t>
                </a:r>
              </a:p>
            </p:txBody>
          </p:sp>
        </mc:Fallback>
      </mc:AlternateContent>
    </p:spTree>
    <p:extLst>
      <p:ext uri="{BB962C8B-B14F-4D97-AF65-F5344CB8AC3E}">
        <p14:creationId xmlns:p14="http://schemas.microsoft.com/office/powerpoint/2010/main" val="362160666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AF0EE-E434-C727-C9A5-16154FBA5A40}"/>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C544D762-A680-1297-FB96-75FBC164773C}"/>
              </a:ext>
            </a:extLst>
          </p:cNvPr>
          <p:cNvGrpSpPr/>
          <p:nvPr/>
        </p:nvGrpSpPr>
        <p:grpSpPr>
          <a:xfrm>
            <a:off x="294429" y="602116"/>
            <a:ext cx="5458932" cy="5307690"/>
            <a:chOff x="1462829" y="602117"/>
            <a:chExt cx="5458932" cy="5307690"/>
          </a:xfrm>
        </p:grpSpPr>
        <p:grpSp>
          <p:nvGrpSpPr>
            <p:cNvPr id="5" name="Group 4">
              <a:extLst>
                <a:ext uri="{FF2B5EF4-FFF2-40B4-BE49-F238E27FC236}">
                  <a16:creationId xmlns:a16="http://schemas.microsoft.com/office/drawing/2014/main" id="{6A3EB272-1072-AB54-FF07-8781857C0953}"/>
                </a:ext>
              </a:extLst>
            </p:cNvPr>
            <p:cNvGrpSpPr/>
            <p:nvPr/>
          </p:nvGrpSpPr>
          <p:grpSpPr>
            <a:xfrm>
              <a:off x="1462829" y="602117"/>
              <a:ext cx="5458932" cy="5307690"/>
              <a:chOff x="1779790" y="1493134"/>
              <a:chExt cx="4490974" cy="4366550"/>
            </a:xfrm>
          </p:grpSpPr>
          <p:cxnSp>
            <p:nvCxnSpPr>
              <p:cNvPr id="15" name="Straight Arrow Connector 14">
                <a:extLst>
                  <a:ext uri="{FF2B5EF4-FFF2-40B4-BE49-F238E27FC236}">
                    <a16:creationId xmlns:a16="http://schemas.microsoft.com/office/drawing/2014/main" id="{0E17C865-80FE-AA94-CF26-2DDCC3E9C472}"/>
                  </a:ext>
                </a:extLst>
              </p:cNvPr>
              <p:cNvCxnSpPr>
                <a:cxnSpLocks/>
              </p:cNvCxnSpPr>
              <p:nvPr/>
            </p:nvCxnSpPr>
            <p:spPr>
              <a:xfrm flipV="1">
                <a:off x="1805652" y="1493134"/>
                <a:ext cx="0" cy="4366550"/>
              </a:xfrm>
              <a:prstGeom prst="straightConnector1">
                <a:avLst/>
              </a:prstGeom>
              <a:ln w="127000">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7A1C995A-BE60-5A1C-C6E5-19D244092905}"/>
                  </a:ext>
                </a:extLst>
              </p:cNvPr>
              <p:cNvCxnSpPr>
                <a:cxnSpLocks/>
              </p:cNvCxnSpPr>
              <p:nvPr/>
            </p:nvCxnSpPr>
            <p:spPr>
              <a:xfrm>
                <a:off x="1779790" y="5816277"/>
                <a:ext cx="4490974" cy="0"/>
              </a:xfrm>
              <a:prstGeom prst="straightConnector1">
                <a:avLst/>
              </a:prstGeom>
              <a:ln w="127000">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sp>
            <p:nvSpPr>
              <p:cNvPr id="17" name="Freeform 16">
                <a:extLst>
                  <a:ext uri="{FF2B5EF4-FFF2-40B4-BE49-F238E27FC236}">
                    <a16:creationId xmlns:a16="http://schemas.microsoft.com/office/drawing/2014/main" id="{B6550ECC-3963-2C7E-C04C-4F05E031CDC3}"/>
                  </a:ext>
                </a:extLst>
              </p:cNvPr>
              <p:cNvSpPr/>
              <p:nvPr/>
            </p:nvSpPr>
            <p:spPr>
              <a:xfrm>
                <a:off x="1939274" y="3449119"/>
                <a:ext cx="1893537" cy="2087919"/>
              </a:xfrm>
              <a:custGeom>
                <a:avLst/>
                <a:gdLst>
                  <a:gd name="connsiteX0" fmla="*/ 0 w 1893537"/>
                  <a:gd name="connsiteY0" fmla="*/ 2879376 h 2887468"/>
                  <a:gd name="connsiteX1" fmla="*/ 412694 w 1893537"/>
                  <a:gd name="connsiteY1" fmla="*/ 2361486 h 2887468"/>
                  <a:gd name="connsiteX2" fmla="*/ 841572 w 1893537"/>
                  <a:gd name="connsiteY2" fmla="*/ 233281 h 2887468"/>
                  <a:gd name="connsiteX3" fmla="*/ 1068149 w 1893537"/>
                  <a:gd name="connsiteY3" fmla="*/ 289925 h 2887468"/>
                  <a:gd name="connsiteX4" fmla="*/ 1472751 w 1893537"/>
                  <a:gd name="connsiteY4" fmla="*/ 2321026 h 2887468"/>
                  <a:gd name="connsiteX5" fmla="*/ 1893537 w 1893537"/>
                  <a:gd name="connsiteY5" fmla="*/ 2887468 h 2887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3537" h="2887468">
                    <a:moveTo>
                      <a:pt x="0" y="2879376"/>
                    </a:moveTo>
                    <a:cubicBezTo>
                      <a:pt x="136216" y="2840939"/>
                      <a:pt x="272432" y="2802502"/>
                      <a:pt x="412694" y="2361486"/>
                    </a:cubicBezTo>
                    <a:cubicBezTo>
                      <a:pt x="552956" y="1920470"/>
                      <a:pt x="732330" y="578541"/>
                      <a:pt x="841572" y="233281"/>
                    </a:cubicBezTo>
                    <a:cubicBezTo>
                      <a:pt x="950814" y="-111979"/>
                      <a:pt x="962953" y="-58032"/>
                      <a:pt x="1068149" y="289925"/>
                    </a:cubicBezTo>
                    <a:cubicBezTo>
                      <a:pt x="1173345" y="637882"/>
                      <a:pt x="1335186" y="1888102"/>
                      <a:pt x="1472751" y="2321026"/>
                    </a:cubicBezTo>
                    <a:cubicBezTo>
                      <a:pt x="1610316" y="2753950"/>
                      <a:pt x="1689888" y="2863192"/>
                      <a:pt x="1893537" y="2887468"/>
                    </a:cubicBezTo>
                  </a:path>
                </a:pathLst>
              </a:custGeom>
              <a:solidFill>
                <a:schemeClr val="accent1">
                  <a:lumMod val="40000"/>
                  <a:lumOff val="60000"/>
                  <a:alpha val="84678"/>
                </a:schemeClr>
              </a:solidFill>
              <a:ln>
                <a:solidFill>
                  <a:schemeClr val="accent1">
                    <a:lumMod val="50000"/>
                    <a:alpha val="85134"/>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17">
                <a:extLst>
                  <a:ext uri="{FF2B5EF4-FFF2-40B4-BE49-F238E27FC236}">
                    <a16:creationId xmlns:a16="http://schemas.microsoft.com/office/drawing/2014/main" id="{2CC3E81C-B747-5218-C83D-FE6576DCD474}"/>
                  </a:ext>
                </a:extLst>
              </p:cNvPr>
              <p:cNvSpPr/>
              <p:nvPr/>
            </p:nvSpPr>
            <p:spPr>
              <a:xfrm>
                <a:off x="2842958" y="2826560"/>
                <a:ext cx="1893537" cy="2710478"/>
              </a:xfrm>
              <a:custGeom>
                <a:avLst/>
                <a:gdLst>
                  <a:gd name="connsiteX0" fmla="*/ 0 w 1893537"/>
                  <a:gd name="connsiteY0" fmla="*/ 2879376 h 2887468"/>
                  <a:gd name="connsiteX1" fmla="*/ 412694 w 1893537"/>
                  <a:gd name="connsiteY1" fmla="*/ 2361486 h 2887468"/>
                  <a:gd name="connsiteX2" fmla="*/ 841572 w 1893537"/>
                  <a:gd name="connsiteY2" fmla="*/ 233281 h 2887468"/>
                  <a:gd name="connsiteX3" fmla="*/ 1068149 w 1893537"/>
                  <a:gd name="connsiteY3" fmla="*/ 289925 h 2887468"/>
                  <a:gd name="connsiteX4" fmla="*/ 1472751 w 1893537"/>
                  <a:gd name="connsiteY4" fmla="*/ 2321026 h 2887468"/>
                  <a:gd name="connsiteX5" fmla="*/ 1893537 w 1893537"/>
                  <a:gd name="connsiteY5" fmla="*/ 2887468 h 2887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3537" h="2887468">
                    <a:moveTo>
                      <a:pt x="0" y="2879376"/>
                    </a:moveTo>
                    <a:cubicBezTo>
                      <a:pt x="136216" y="2840939"/>
                      <a:pt x="272432" y="2802502"/>
                      <a:pt x="412694" y="2361486"/>
                    </a:cubicBezTo>
                    <a:cubicBezTo>
                      <a:pt x="552956" y="1920470"/>
                      <a:pt x="732330" y="578541"/>
                      <a:pt x="841572" y="233281"/>
                    </a:cubicBezTo>
                    <a:cubicBezTo>
                      <a:pt x="950814" y="-111979"/>
                      <a:pt x="962953" y="-58032"/>
                      <a:pt x="1068149" y="289925"/>
                    </a:cubicBezTo>
                    <a:cubicBezTo>
                      <a:pt x="1173345" y="637882"/>
                      <a:pt x="1335186" y="1888102"/>
                      <a:pt x="1472751" y="2321026"/>
                    </a:cubicBezTo>
                    <a:cubicBezTo>
                      <a:pt x="1610316" y="2753950"/>
                      <a:pt x="1689888" y="2863192"/>
                      <a:pt x="1893537" y="2887468"/>
                    </a:cubicBezTo>
                  </a:path>
                </a:pathLst>
              </a:custGeom>
              <a:solidFill>
                <a:schemeClr val="accent2">
                  <a:lumMod val="40000"/>
                  <a:lumOff val="60000"/>
                  <a:alpha val="85220"/>
                </a:schemeClr>
              </a:solidFill>
              <a:ln>
                <a:solidFill>
                  <a:schemeClr val="accent2">
                    <a:lumMod val="50000"/>
                    <a:alpha val="85199"/>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18">
                <a:extLst>
                  <a:ext uri="{FF2B5EF4-FFF2-40B4-BE49-F238E27FC236}">
                    <a16:creationId xmlns:a16="http://schemas.microsoft.com/office/drawing/2014/main" id="{5CDC46FC-390F-D967-D68F-BD0FE01F1FFD}"/>
                  </a:ext>
                </a:extLst>
              </p:cNvPr>
              <p:cNvSpPr/>
              <p:nvPr/>
            </p:nvSpPr>
            <p:spPr>
              <a:xfrm>
                <a:off x="3722204" y="2311601"/>
                <a:ext cx="2101382" cy="3225437"/>
              </a:xfrm>
              <a:custGeom>
                <a:avLst/>
                <a:gdLst>
                  <a:gd name="connsiteX0" fmla="*/ 0 w 1893537"/>
                  <a:gd name="connsiteY0" fmla="*/ 2879376 h 2887468"/>
                  <a:gd name="connsiteX1" fmla="*/ 412694 w 1893537"/>
                  <a:gd name="connsiteY1" fmla="*/ 2361486 h 2887468"/>
                  <a:gd name="connsiteX2" fmla="*/ 841572 w 1893537"/>
                  <a:gd name="connsiteY2" fmla="*/ 233281 h 2887468"/>
                  <a:gd name="connsiteX3" fmla="*/ 1068149 w 1893537"/>
                  <a:gd name="connsiteY3" fmla="*/ 289925 h 2887468"/>
                  <a:gd name="connsiteX4" fmla="*/ 1472751 w 1893537"/>
                  <a:gd name="connsiteY4" fmla="*/ 2321026 h 2887468"/>
                  <a:gd name="connsiteX5" fmla="*/ 1893537 w 1893537"/>
                  <a:gd name="connsiteY5" fmla="*/ 2887468 h 2887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3537" h="2887468">
                    <a:moveTo>
                      <a:pt x="0" y="2879376"/>
                    </a:moveTo>
                    <a:cubicBezTo>
                      <a:pt x="136216" y="2840939"/>
                      <a:pt x="272432" y="2802502"/>
                      <a:pt x="412694" y="2361486"/>
                    </a:cubicBezTo>
                    <a:cubicBezTo>
                      <a:pt x="552956" y="1920470"/>
                      <a:pt x="732330" y="578541"/>
                      <a:pt x="841572" y="233281"/>
                    </a:cubicBezTo>
                    <a:cubicBezTo>
                      <a:pt x="950814" y="-111979"/>
                      <a:pt x="962953" y="-58032"/>
                      <a:pt x="1068149" y="289925"/>
                    </a:cubicBezTo>
                    <a:cubicBezTo>
                      <a:pt x="1173345" y="637882"/>
                      <a:pt x="1335186" y="1888102"/>
                      <a:pt x="1472751" y="2321026"/>
                    </a:cubicBezTo>
                    <a:cubicBezTo>
                      <a:pt x="1610316" y="2753950"/>
                      <a:pt x="1689888" y="2863192"/>
                      <a:pt x="1893537" y="2887468"/>
                    </a:cubicBezTo>
                  </a:path>
                </a:pathLst>
              </a:custGeom>
              <a:solidFill>
                <a:schemeClr val="accent6">
                  <a:lumMod val="40000"/>
                  <a:lumOff val="60000"/>
                  <a:alpha val="85188"/>
                </a:schemeClr>
              </a:solidFill>
              <a:ln>
                <a:solidFill>
                  <a:schemeClr val="accent6">
                    <a:lumMod val="50000"/>
                    <a:alpha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Freeform 5">
              <a:extLst>
                <a:ext uri="{FF2B5EF4-FFF2-40B4-BE49-F238E27FC236}">
                  <a16:creationId xmlns:a16="http://schemas.microsoft.com/office/drawing/2014/main" id="{A5720E22-FD35-DEAC-156C-21289E1F2221}"/>
                </a:ext>
              </a:extLst>
            </p:cNvPr>
            <p:cNvSpPr/>
            <p:nvPr/>
          </p:nvSpPr>
          <p:spPr>
            <a:xfrm>
              <a:off x="1812853" y="2979683"/>
              <a:ext cx="3708069" cy="2264351"/>
            </a:xfrm>
            <a:custGeom>
              <a:avLst/>
              <a:gdLst>
                <a:gd name="connsiteX0" fmla="*/ 0 w 3229897"/>
                <a:gd name="connsiteY0" fmla="*/ 2138516 h 2138516"/>
                <a:gd name="connsiteX1" fmla="*/ 678426 w 3229897"/>
                <a:gd name="connsiteY1" fmla="*/ 1991032 h 2138516"/>
                <a:gd name="connsiteX2" fmla="*/ 1253613 w 3229897"/>
                <a:gd name="connsiteY2" fmla="*/ 1401097 h 2138516"/>
                <a:gd name="connsiteX3" fmla="*/ 1784555 w 3229897"/>
                <a:gd name="connsiteY3" fmla="*/ 1238864 h 2138516"/>
                <a:gd name="connsiteX4" fmla="*/ 2433484 w 3229897"/>
                <a:gd name="connsiteY4" fmla="*/ 693174 h 2138516"/>
                <a:gd name="connsiteX5" fmla="*/ 3229897 w 3229897"/>
                <a:gd name="connsiteY5" fmla="*/ 0 h 2138516"/>
                <a:gd name="connsiteX0" fmla="*/ 0 w 3708069"/>
                <a:gd name="connsiteY0" fmla="*/ 2264351 h 2264351"/>
                <a:gd name="connsiteX1" fmla="*/ 1156598 w 3708069"/>
                <a:gd name="connsiteY1" fmla="*/ 1991032 h 2264351"/>
                <a:gd name="connsiteX2" fmla="*/ 1731785 w 3708069"/>
                <a:gd name="connsiteY2" fmla="*/ 1401097 h 2264351"/>
                <a:gd name="connsiteX3" fmla="*/ 2262727 w 3708069"/>
                <a:gd name="connsiteY3" fmla="*/ 1238864 h 2264351"/>
                <a:gd name="connsiteX4" fmla="*/ 2911656 w 3708069"/>
                <a:gd name="connsiteY4" fmla="*/ 693174 h 2264351"/>
                <a:gd name="connsiteX5" fmla="*/ 3708069 w 3708069"/>
                <a:gd name="connsiteY5" fmla="*/ 0 h 2264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8069" h="2264351">
                  <a:moveTo>
                    <a:pt x="0" y="2264351"/>
                  </a:moveTo>
                  <a:lnTo>
                    <a:pt x="1156598" y="1991032"/>
                  </a:lnTo>
                  <a:lnTo>
                    <a:pt x="1731785" y="1401097"/>
                  </a:lnTo>
                  <a:lnTo>
                    <a:pt x="2262727" y="1238864"/>
                  </a:lnTo>
                  <a:lnTo>
                    <a:pt x="2911656" y="693174"/>
                  </a:lnTo>
                  <a:lnTo>
                    <a:pt x="3708069" y="0"/>
                  </a:lnTo>
                </a:path>
              </a:pathLst>
            </a:custGeom>
            <a:noFill/>
            <a:ln w="127000">
              <a:solidFill>
                <a:schemeClr val="bg1">
                  <a:alpha val="84175"/>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3A0E8E41-3531-7B65-640E-9F44A8DD80DD}"/>
                </a:ext>
              </a:extLst>
            </p:cNvPr>
            <p:cNvCxnSpPr>
              <a:cxnSpLocks/>
            </p:cNvCxnSpPr>
            <p:nvPr/>
          </p:nvCxnSpPr>
          <p:spPr>
            <a:xfrm flipV="1">
              <a:off x="5630015" y="2762124"/>
              <a:ext cx="122104" cy="126034"/>
            </a:xfrm>
            <a:prstGeom prst="straightConnector1">
              <a:avLst/>
            </a:pr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8" name="Freeform 7">
              <a:extLst>
                <a:ext uri="{FF2B5EF4-FFF2-40B4-BE49-F238E27FC236}">
                  <a16:creationId xmlns:a16="http://schemas.microsoft.com/office/drawing/2014/main" id="{81591379-4C0D-296D-20D0-3C23280D1F94}"/>
                </a:ext>
              </a:extLst>
            </p:cNvPr>
            <p:cNvSpPr/>
            <p:nvPr/>
          </p:nvSpPr>
          <p:spPr>
            <a:xfrm>
              <a:off x="1817303" y="2889806"/>
              <a:ext cx="3812712" cy="2352582"/>
            </a:xfrm>
            <a:custGeom>
              <a:avLst/>
              <a:gdLst>
                <a:gd name="connsiteX0" fmla="*/ 0 w 3229897"/>
                <a:gd name="connsiteY0" fmla="*/ 2138516 h 2138516"/>
                <a:gd name="connsiteX1" fmla="*/ 678426 w 3229897"/>
                <a:gd name="connsiteY1" fmla="*/ 1991032 h 2138516"/>
                <a:gd name="connsiteX2" fmla="*/ 1253613 w 3229897"/>
                <a:gd name="connsiteY2" fmla="*/ 1401097 h 2138516"/>
                <a:gd name="connsiteX3" fmla="*/ 1784555 w 3229897"/>
                <a:gd name="connsiteY3" fmla="*/ 1238864 h 2138516"/>
                <a:gd name="connsiteX4" fmla="*/ 2433484 w 3229897"/>
                <a:gd name="connsiteY4" fmla="*/ 693174 h 2138516"/>
                <a:gd name="connsiteX5" fmla="*/ 3229897 w 3229897"/>
                <a:gd name="connsiteY5" fmla="*/ 0 h 2138516"/>
                <a:gd name="connsiteX0" fmla="*/ 0 w 3326150"/>
                <a:gd name="connsiteY0" fmla="*/ 2226747 h 2226747"/>
                <a:gd name="connsiteX1" fmla="*/ 678426 w 3326150"/>
                <a:gd name="connsiteY1" fmla="*/ 2079263 h 2226747"/>
                <a:gd name="connsiteX2" fmla="*/ 1253613 w 3326150"/>
                <a:gd name="connsiteY2" fmla="*/ 1489328 h 2226747"/>
                <a:gd name="connsiteX3" fmla="*/ 1784555 w 3326150"/>
                <a:gd name="connsiteY3" fmla="*/ 1327095 h 2226747"/>
                <a:gd name="connsiteX4" fmla="*/ 2433484 w 3326150"/>
                <a:gd name="connsiteY4" fmla="*/ 781405 h 2226747"/>
                <a:gd name="connsiteX5" fmla="*/ 3326150 w 3326150"/>
                <a:gd name="connsiteY5" fmla="*/ 0 h 2226747"/>
                <a:gd name="connsiteX0" fmla="*/ 0 w 3812712"/>
                <a:gd name="connsiteY0" fmla="*/ 2352582 h 2352582"/>
                <a:gd name="connsiteX1" fmla="*/ 1164988 w 3812712"/>
                <a:gd name="connsiteY1" fmla="*/ 2079263 h 2352582"/>
                <a:gd name="connsiteX2" fmla="*/ 1740175 w 3812712"/>
                <a:gd name="connsiteY2" fmla="*/ 1489328 h 2352582"/>
                <a:gd name="connsiteX3" fmla="*/ 2271117 w 3812712"/>
                <a:gd name="connsiteY3" fmla="*/ 1327095 h 2352582"/>
                <a:gd name="connsiteX4" fmla="*/ 2920046 w 3812712"/>
                <a:gd name="connsiteY4" fmla="*/ 781405 h 2352582"/>
                <a:gd name="connsiteX5" fmla="*/ 3812712 w 3812712"/>
                <a:gd name="connsiteY5" fmla="*/ 0 h 2352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2712" h="2352582">
                  <a:moveTo>
                    <a:pt x="0" y="2352582"/>
                  </a:moveTo>
                  <a:lnTo>
                    <a:pt x="1164988" y="2079263"/>
                  </a:lnTo>
                  <a:lnTo>
                    <a:pt x="1740175" y="1489328"/>
                  </a:lnTo>
                  <a:lnTo>
                    <a:pt x="2271117" y="1327095"/>
                  </a:lnTo>
                  <a:lnTo>
                    <a:pt x="2920046" y="781405"/>
                  </a:lnTo>
                  <a:lnTo>
                    <a:pt x="3812712" y="0"/>
                  </a:lnTo>
                </a:path>
              </a:pathLst>
            </a:cu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E38640D7-57B9-615D-864F-32DC4D4DB5EB}"/>
                </a:ext>
              </a:extLst>
            </p:cNvPr>
            <p:cNvSpPr/>
            <p:nvPr/>
          </p:nvSpPr>
          <p:spPr>
            <a:xfrm>
              <a:off x="1737815" y="5180385"/>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AACE2AD2-4C5C-E930-DD3C-FCDD53AA8966}"/>
                </a:ext>
              </a:extLst>
            </p:cNvPr>
            <p:cNvSpPr/>
            <p:nvPr/>
          </p:nvSpPr>
          <p:spPr>
            <a:xfrm>
              <a:off x="2889176" y="4884308"/>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68FDB5D2-C674-2946-6FB4-DD19745B5B60}"/>
                </a:ext>
              </a:extLst>
            </p:cNvPr>
            <p:cNvSpPr/>
            <p:nvPr/>
          </p:nvSpPr>
          <p:spPr>
            <a:xfrm>
              <a:off x="3464941" y="4316251"/>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C0169AE2-D651-3A17-93EA-7D1BA5DF879F}"/>
                </a:ext>
              </a:extLst>
            </p:cNvPr>
            <p:cNvSpPr/>
            <p:nvPr/>
          </p:nvSpPr>
          <p:spPr>
            <a:xfrm>
              <a:off x="4014062" y="4120703"/>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22B2F1AE-8130-EDDE-795F-66DE134FED79}"/>
                </a:ext>
              </a:extLst>
            </p:cNvPr>
            <p:cNvSpPr/>
            <p:nvPr/>
          </p:nvSpPr>
          <p:spPr>
            <a:xfrm>
              <a:off x="4660823" y="3598409"/>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3AF18A17-E678-B539-6A97-5D2FD567E92C}"/>
                </a:ext>
              </a:extLst>
            </p:cNvPr>
            <p:cNvSpPr/>
            <p:nvPr/>
          </p:nvSpPr>
          <p:spPr>
            <a:xfrm>
              <a:off x="5260932" y="3074751"/>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Title 1">
            <a:extLst>
              <a:ext uri="{FF2B5EF4-FFF2-40B4-BE49-F238E27FC236}">
                <a16:creationId xmlns:a16="http://schemas.microsoft.com/office/drawing/2014/main" id="{0ECFD531-4573-2AA3-6B5C-0996E4DFFDBF}"/>
              </a:ext>
            </a:extLst>
          </p:cNvPr>
          <p:cNvSpPr txBox="1">
            <a:spLocks/>
          </p:cNvSpPr>
          <p:nvPr/>
        </p:nvSpPr>
        <p:spPr>
          <a:xfrm>
            <a:off x="5809077" y="269830"/>
            <a:ext cx="6468542" cy="658817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u="sng" dirty="0">
                <a:latin typeface="Calibri" panose="020F0502020204030204" pitchFamily="34" charset="0"/>
                <a:cs typeface="Calibri" panose="020F0502020204030204" pitchFamily="34" charset="0"/>
              </a:rPr>
              <a:t>Lecture Outline</a:t>
            </a:r>
          </a:p>
          <a:p>
            <a:endParaRPr lang="en-US" sz="3200" dirty="0">
              <a:latin typeface="Calibri" panose="020F0502020204030204" pitchFamily="34" charset="0"/>
              <a:cs typeface="Calibri" panose="020F0502020204030204" pitchFamily="34" charset="0"/>
            </a:endParaRPr>
          </a:p>
          <a:p>
            <a:r>
              <a:rPr lang="en-US" sz="3200" dirty="0">
                <a:latin typeface="Calibri" panose="020F0502020204030204" pitchFamily="34" charset="0"/>
                <a:cs typeface="Calibri" panose="020F0502020204030204" pitchFamily="34" charset="0"/>
              </a:rPr>
              <a:t>Steps for Hypothesis Testing</a:t>
            </a:r>
          </a:p>
          <a:p>
            <a:pPr marL="800100" indent="-508000">
              <a:buFont typeface="+mj-lt"/>
              <a:buAutoNum type="arabicPeriod"/>
            </a:pPr>
            <a:r>
              <a:rPr lang="en-US" sz="2800" dirty="0"/>
              <a:t>Define Hypotheses</a:t>
            </a:r>
          </a:p>
          <a:p>
            <a:pPr marL="800100" indent="-508000">
              <a:buFont typeface="+mj-lt"/>
              <a:buAutoNum type="arabicPeriod"/>
            </a:pPr>
            <a:r>
              <a:rPr lang="en-US" sz="2800" dirty="0"/>
              <a:t>Select Sampling Distribution</a:t>
            </a:r>
          </a:p>
          <a:p>
            <a:pPr marL="800100" indent="-508000">
              <a:buFont typeface="+mj-lt"/>
              <a:buAutoNum type="arabicPeriod"/>
            </a:pPr>
            <a:r>
              <a:rPr lang="en-US" sz="2800" dirty="0"/>
              <a:t>Set </a:t>
            </a:r>
            <a:r>
              <a:rPr lang="en-US" sz="2800" i="1" dirty="0"/>
              <a:t>a priori</a:t>
            </a:r>
            <a:r>
              <a:rPr lang="en-US" sz="2800" dirty="0"/>
              <a:t> criteria</a:t>
            </a:r>
          </a:p>
          <a:p>
            <a:pPr marL="800100" indent="-508000">
              <a:buFont typeface="+mj-lt"/>
              <a:buAutoNum type="arabicPeriod"/>
            </a:pPr>
            <a:r>
              <a:rPr lang="en-US" sz="2800" dirty="0"/>
              <a:t>Compute statistics</a:t>
            </a:r>
          </a:p>
          <a:p>
            <a:pPr marL="800100" indent="-508000">
              <a:buFont typeface="+mj-lt"/>
              <a:buAutoNum type="arabicPeriod"/>
            </a:pPr>
            <a:r>
              <a:rPr lang="en-US" sz="2800" dirty="0"/>
              <a:t>Make statistical decision</a:t>
            </a:r>
          </a:p>
          <a:p>
            <a:pPr marL="800100" indent="-508000">
              <a:buFont typeface="+mj-lt"/>
              <a:buAutoNum type="arabicPeriod"/>
            </a:pPr>
            <a:r>
              <a:rPr lang="en-US" sz="2800" dirty="0">
                <a:solidFill>
                  <a:srgbClr val="FF0000"/>
                </a:solidFill>
              </a:rPr>
              <a:t>Interpret your outcome</a:t>
            </a:r>
            <a:endParaRPr lang="en-US" sz="2000" dirty="0">
              <a:solidFill>
                <a:srgbClr val="FF0000"/>
              </a:solidFill>
            </a:endParaRPr>
          </a:p>
          <a:p>
            <a:endParaRPr lang="en-US"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4087041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930FC-7AB2-5445-B2E0-DFA6802FADCA}"/>
              </a:ext>
            </a:extLst>
          </p:cNvPr>
          <p:cNvSpPr>
            <a:spLocks noGrp="1"/>
          </p:cNvSpPr>
          <p:nvPr>
            <p:ph type="title"/>
          </p:nvPr>
        </p:nvSpPr>
        <p:spPr/>
        <p:txBody>
          <a:bodyPr/>
          <a:lstStyle/>
          <a:p>
            <a:r>
              <a:rPr lang="en-US" dirty="0"/>
              <a:t>Step 6: Interpret Your Outcome</a:t>
            </a:r>
          </a:p>
        </p:txBody>
      </p:sp>
      <p:sp>
        <p:nvSpPr>
          <p:cNvPr id="3" name="Content Placeholder 2">
            <a:extLst>
              <a:ext uri="{FF2B5EF4-FFF2-40B4-BE49-F238E27FC236}">
                <a16:creationId xmlns:a16="http://schemas.microsoft.com/office/drawing/2014/main" id="{A36D13B5-C64B-9348-A91A-B0C49455909B}"/>
              </a:ext>
            </a:extLst>
          </p:cNvPr>
          <p:cNvSpPr>
            <a:spLocks noGrp="1"/>
          </p:cNvSpPr>
          <p:nvPr>
            <p:ph idx="1"/>
          </p:nvPr>
        </p:nvSpPr>
        <p:spPr>
          <a:xfrm>
            <a:off x="838200" y="1825624"/>
            <a:ext cx="6349409" cy="5032375"/>
          </a:xfrm>
        </p:spPr>
        <p:txBody>
          <a:bodyPr>
            <a:normAutofit/>
          </a:bodyPr>
          <a:lstStyle/>
          <a:p>
            <a:pPr marL="0" indent="0">
              <a:buNone/>
            </a:pPr>
            <a:r>
              <a:rPr lang="en-CA" b="1" dirty="0"/>
              <a:t>Interpret and Report your statistical outcome</a:t>
            </a:r>
          </a:p>
          <a:p>
            <a:r>
              <a:rPr lang="en-CA" dirty="0"/>
              <a:t>Report in APA format</a:t>
            </a:r>
          </a:p>
          <a:p>
            <a:r>
              <a:rPr lang="en-CA" dirty="0"/>
              <a:t>Report in common writing (not jargon other than the statistics themselves)</a:t>
            </a:r>
            <a:endParaRPr lang="en-US" dirty="0"/>
          </a:p>
        </p:txBody>
      </p:sp>
      <p:pic>
        <p:nvPicPr>
          <p:cNvPr id="7" name="Picture 6">
            <a:extLst>
              <a:ext uri="{FF2B5EF4-FFF2-40B4-BE49-F238E27FC236}">
                <a16:creationId xmlns:a16="http://schemas.microsoft.com/office/drawing/2014/main" id="{A663B439-A177-C574-D586-654AFF859421}"/>
              </a:ext>
            </a:extLst>
          </p:cNvPr>
          <p:cNvPicPr>
            <a:picLocks noChangeAspect="1"/>
          </p:cNvPicPr>
          <p:nvPr/>
        </p:nvPicPr>
        <p:blipFill>
          <a:blip r:embed="rId2"/>
          <a:stretch>
            <a:fillRect/>
          </a:stretch>
        </p:blipFill>
        <p:spPr>
          <a:xfrm>
            <a:off x="8006375" y="2012306"/>
            <a:ext cx="3566167" cy="4480569"/>
          </a:xfrm>
          <a:prstGeom prst="rect">
            <a:avLst/>
          </a:prstGeom>
        </p:spPr>
      </p:pic>
    </p:spTree>
    <p:extLst>
      <p:ext uri="{BB962C8B-B14F-4D97-AF65-F5344CB8AC3E}">
        <p14:creationId xmlns:p14="http://schemas.microsoft.com/office/powerpoint/2010/main" val="252353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930FC-7AB2-5445-B2E0-DFA6802FADCA}"/>
              </a:ext>
            </a:extLst>
          </p:cNvPr>
          <p:cNvSpPr>
            <a:spLocks noGrp="1"/>
          </p:cNvSpPr>
          <p:nvPr>
            <p:ph type="title"/>
          </p:nvPr>
        </p:nvSpPr>
        <p:spPr/>
        <p:txBody>
          <a:bodyPr/>
          <a:lstStyle/>
          <a:p>
            <a:r>
              <a:rPr lang="en-US" dirty="0"/>
              <a:t>Step 6: Interpret Your Outcome</a:t>
            </a:r>
          </a:p>
        </p:txBody>
      </p:sp>
      <p:sp>
        <p:nvSpPr>
          <p:cNvPr id="3" name="Content Placeholder 2">
            <a:extLst>
              <a:ext uri="{FF2B5EF4-FFF2-40B4-BE49-F238E27FC236}">
                <a16:creationId xmlns:a16="http://schemas.microsoft.com/office/drawing/2014/main" id="{A36D13B5-C64B-9348-A91A-B0C49455909B}"/>
              </a:ext>
            </a:extLst>
          </p:cNvPr>
          <p:cNvSpPr>
            <a:spLocks noGrp="1"/>
          </p:cNvSpPr>
          <p:nvPr>
            <p:ph idx="1"/>
          </p:nvPr>
        </p:nvSpPr>
        <p:spPr>
          <a:xfrm>
            <a:off x="838200" y="1825624"/>
            <a:ext cx="6349409" cy="5032375"/>
          </a:xfrm>
        </p:spPr>
        <p:txBody>
          <a:bodyPr>
            <a:normAutofit fontScale="92500" lnSpcReduction="20000"/>
          </a:bodyPr>
          <a:lstStyle/>
          <a:p>
            <a:pPr marL="0" indent="0">
              <a:buNone/>
            </a:pPr>
            <a:r>
              <a:rPr lang="en-US" dirty="0"/>
              <a:t>Jo’s final exam score of </a:t>
            </a:r>
            <a:r>
              <a:rPr lang="en-US" b="1" i="1" dirty="0"/>
              <a:t>x</a:t>
            </a:r>
            <a:r>
              <a:rPr lang="en-US" b="1" dirty="0"/>
              <a:t> = 90.00% </a:t>
            </a:r>
            <a:r>
              <a:rPr lang="en-US" dirty="0"/>
              <a:t>was </a:t>
            </a:r>
            <a:r>
              <a:rPr lang="en-US" i="1" dirty="0"/>
              <a:t>statistically greater </a:t>
            </a:r>
            <a:r>
              <a:rPr lang="en-US" dirty="0"/>
              <a:t>than the average of past classes (</a:t>
            </a:r>
            <a:r>
              <a:rPr lang="el-GR" b="1" i="1" dirty="0"/>
              <a:t>μ</a:t>
            </a:r>
            <a:r>
              <a:rPr lang="en-CA" b="1" i="1" dirty="0"/>
              <a:t> </a:t>
            </a:r>
            <a:r>
              <a:rPr lang="en-CA" b="1" dirty="0"/>
              <a:t>= 75.00</a:t>
            </a:r>
            <a:r>
              <a:rPr lang="en-CA" dirty="0"/>
              <a:t>, </a:t>
            </a:r>
            <a:r>
              <a:rPr lang="en-US" b="1" i="1" dirty="0"/>
              <a:t>σ</a:t>
            </a:r>
            <a:r>
              <a:rPr lang="en-US" b="1" dirty="0"/>
              <a:t> = 6.50</a:t>
            </a:r>
            <a:r>
              <a:rPr lang="en-US" dirty="0"/>
              <a:t>), </a:t>
            </a:r>
            <a:r>
              <a:rPr lang="en-US" b="1" i="1" dirty="0"/>
              <a:t>z</a:t>
            </a:r>
            <a:r>
              <a:rPr lang="en-US" dirty="0"/>
              <a:t> </a:t>
            </a:r>
            <a:r>
              <a:rPr lang="en-US" b="1" dirty="0"/>
              <a:t>= 2.31</a:t>
            </a:r>
            <a:r>
              <a:rPr lang="en-US" dirty="0"/>
              <a:t>, </a:t>
            </a:r>
            <a:r>
              <a:rPr lang="en-US" b="1" i="1" dirty="0"/>
              <a:t>p</a:t>
            </a:r>
            <a:r>
              <a:rPr lang="en-US" dirty="0"/>
              <a:t> </a:t>
            </a:r>
            <a:r>
              <a:rPr lang="en-US" b="1" dirty="0"/>
              <a:t>= .021</a:t>
            </a:r>
            <a:r>
              <a:rPr lang="en-US" dirty="0"/>
              <a:t>. The statistics problem generator did improve Jo’s exam score.</a:t>
            </a:r>
          </a:p>
          <a:p>
            <a:r>
              <a:rPr lang="en-US" dirty="0"/>
              <a:t>Only use directional descriptions (e.g., faster, less than) if results are statistically significant</a:t>
            </a:r>
          </a:p>
          <a:p>
            <a:r>
              <a:rPr lang="en-US" dirty="0"/>
              <a:t>If they are not significant, then there is </a:t>
            </a:r>
            <a:r>
              <a:rPr lang="en-US" i="1" dirty="0"/>
              <a:t>no difference</a:t>
            </a:r>
            <a:r>
              <a:rPr lang="en-US" dirty="0"/>
              <a:t>  </a:t>
            </a:r>
          </a:p>
          <a:p>
            <a:pPr lvl="1"/>
            <a:r>
              <a:rPr lang="en-US" i="1" dirty="0"/>
              <a:t>E.g., Jo’s final exam score of 90% was not significantly different than…</a:t>
            </a:r>
          </a:p>
          <a:p>
            <a:r>
              <a:rPr lang="en-US" i="1" dirty="0"/>
              <a:t>Decimals: APA format is to report 2 decimals but to report p-values to 3 decimals</a:t>
            </a:r>
          </a:p>
          <a:p>
            <a:endParaRPr lang="en-US" i="1" dirty="0"/>
          </a:p>
        </p:txBody>
      </p:sp>
      <p:pic>
        <p:nvPicPr>
          <p:cNvPr id="7" name="Picture 6">
            <a:extLst>
              <a:ext uri="{FF2B5EF4-FFF2-40B4-BE49-F238E27FC236}">
                <a16:creationId xmlns:a16="http://schemas.microsoft.com/office/drawing/2014/main" id="{FC8DDF7C-EB1B-4184-F69D-F379CE69D23D}"/>
              </a:ext>
            </a:extLst>
          </p:cNvPr>
          <p:cNvPicPr>
            <a:picLocks noChangeAspect="1"/>
          </p:cNvPicPr>
          <p:nvPr/>
        </p:nvPicPr>
        <p:blipFill>
          <a:blip r:embed="rId2"/>
          <a:stretch>
            <a:fillRect/>
          </a:stretch>
        </p:blipFill>
        <p:spPr>
          <a:xfrm>
            <a:off x="8006375" y="2012306"/>
            <a:ext cx="3566167" cy="4480569"/>
          </a:xfrm>
          <a:prstGeom prst="rect">
            <a:avLst/>
          </a:prstGeom>
        </p:spPr>
      </p:pic>
    </p:spTree>
    <p:extLst>
      <p:ext uri="{BB962C8B-B14F-4D97-AF65-F5344CB8AC3E}">
        <p14:creationId xmlns:p14="http://schemas.microsoft.com/office/powerpoint/2010/main" val="1798089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A115E2-4FE8-2E4C-A37A-70FF38E79C49}"/>
              </a:ext>
            </a:extLst>
          </p:cNvPr>
          <p:cNvSpPr>
            <a:spLocks noGrp="1"/>
          </p:cNvSpPr>
          <p:nvPr>
            <p:ph idx="1"/>
          </p:nvPr>
        </p:nvSpPr>
        <p:spPr>
          <a:xfrm>
            <a:off x="838200" y="586596"/>
            <a:ext cx="5257800" cy="6271404"/>
          </a:xfrm>
        </p:spPr>
        <p:txBody>
          <a:bodyPr>
            <a:normAutofit/>
          </a:bodyPr>
          <a:lstStyle/>
          <a:p>
            <a:pPr marL="0" indent="0">
              <a:buNone/>
            </a:pPr>
            <a:r>
              <a:rPr lang="en-US" b="1" dirty="0"/>
              <a:t>Step 1:</a:t>
            </a:r>
          </a:p>
          <a:p>
            <a:r>
              <a:rPr lang="en-US" b="1" i="1" dirty="0"/>
              <a:t>H</a:t>
            </a:r>
            <a:r>
              <a:rPr lang="en-US" b="1" i="1" baseline="-25000" dirty="0"/>
              <a:t>0</a:t>
            </a:r>
            <a:r>
              <a:rPr lang="en-US" b="1" dirty="0"/>
              <a:t>: </a:t>
            </a:r>
            <a:r>
              <a:rPr lang="el-GR" i="1" dirty="0"/>
              <a:t>μ</a:t>
            </a:r>
            <a:r>
              <a:rPr lang="en-CA" dirty="0"/>
              <a:t> =</a:t>
            </a:r>
            <a:r>
              <a:rPr lang="el-GR" dirty="0"/>
              <a:t> </a:t>
            </a:r>
            <a:r>
              <a:rPr lang="en-US" dirty="0"/>
              <a:t>75.00</a:t>
            </a:r>
            <a:r>
              <a:rPr lang="en-CA" dirty="0"/>
              <a:t>    </a:t>
            </a:r>
          </a:p>
          <a:p>
            <a:r>
              <a:rPr lang="en-US" b="1" i="1" dirty="0"/>
              <a:t>H</a:t>
            </a:r>
            <a:r>
              <a:rPr lang="en-US" b="1" i="1" baseline="-25000" dirty="0"/>
              <a:t>1</a:t>
            </a:r>
            <a:r>
              <a:rPr lang="en-US" b="1" dirty="0"/>
              <a:t>: </a:t>
            </a:r>
            <a:r>
              <a:rPr lang="el-GR" i="1" dirty="0"/>
              <a:t>μ</a:t>
            </a:r>
            <a:r>
              <a:rPr lang="en-CA" dirty="0"/>
              <a:t> ≠ </a:t>
            </a:r>
            <a:r>
              <a:rPr lang="en-US" dirty="0"/>
              <a:t>75.00</a:t>
            </a:r>
            <a:r>
              <a:rPr lang="en-CA" dirty="0"/>
              <a:t>    </a:t>
            </a:r>
          </a:p>
          <a:p>
            <a:pPr lvl="1"/>
            <a:r>
              <a:rPr lang="en-CA" dirty="0"/>
              <a:t>Thus, two-tailed</a:t>
            </a:r>
          </a:p>
          <a:p>
            <a:pPr marL="0" indent="0">
              <a:buNone/>
            </a:pPr>
            <a:endParaRPr lang="en-CA" b="1" dirty="0"/>
          </a:p>
          <a:p>
            <a:pPr marL="0" indent="0">
              <a:buNone/>
            </a:pPr>
            <a:r>
              <a:rPr lang="en-CA" b="1" dirty="0"/>
              <a:t>Step 2: </a:t>
            </a:r>
            <a:endParaRPr lang="en-US" b="1" dirty="0"/>
          </a:p>
          <a:p>
            <a:pPr>
              <a:lnSpc>
                <a:spcPct val="100000"/>
              </a:lnSpc>
              <a:spcBef>
                <a:spcPts val="0"/>
              </a:spcBef>
            </a:pPr>
            <a:r>
              <a:rPr lang="en-US" sz="1200" b="1" dirty="0"/>
              <a:t>Type of Research Design</a:t>
            </a:r>
            <a:r>
              <a:rPr lang="en-US" sz="1200" dirty="0"/>
              <a:t>: Single-Participant Design</a:t>
            </a:r>
          </a:p>
          <a:p>
            <a:pPr>
              <a:lnSpc>
                <a:spcPct val="100000"/>
              </a:lnSpc>
              <a:spcBef>
                <a:spcPts val="0"/>
              </a:spcBef>
            </a:pPr>
            <a:r>
              <a:rPr lang="en-US" sz="1200" b="1" dirty="0"/>
              <a:t>Model of Hypothesis Testing</a:t>
            </a:r>
            <a:r>
              <a:rPr lang="en-US" sz="1200" dirty="0"/>
              <a:t>: Random Sampling</a:t>
            </a:r>
          </a:p>
          <a:p>
            <a:pPr>
              <a:lnSpc>
                <a:spcPct val="100000"/>
              </a:lnSpc>
              <a:spcBef>
                <a:spcPts val="0"/>
              </a:spcBef>
            </a:pPr>
            <a:r>
              <a:rPr lang="en-US" sz="1200" b="1"/>
              <a:t>Nature </a:t>
            </a:r>
            <a:r>
              <a:rPr lang="en-US" sz="1200" b="1" dirty="0"/>
              <a:t>of Data (Scales of measurement)</a:t>
            </a:r>
            <a:r>
              <a:rPr lang="en-US" sz="1200" dirty="0"/>
              <a:t>: Score data</a:t>
            </a:r>
          </a:p>
          <a:p>
            <a:pPr>
              <a:lnSpc>
                <a:spcPct val="100000"/>
              </a:lnSpc>
              <a:spcBef>
                <a:spcPts val="0"/>
              </a:spcBef>
            </a:pPr>
            <a:r>
              <a:rPr lang="en-US" sz="1200" b="1" dirty="0"/>
              <a:t>Statistic Being Analyzed</a:t>
            </a:r>
            <a:r>
              <a:rPr lang="en-US" sz="1200" dirty="0"/>
              <a:t>: X</a:t>
            </a:r>
          </a:p>
          <a:p>
            <a:pPr>
              <a:lnSpc>
                <a:spcPct val="100000"/>
              </a:lnSpc>
              <a:spcBef>
                <a:spcPts val="0"/>
              </a:spcBef>
            </a:pPr>
            <a:r>
              <a:rPr lang="en-US" sz="1200" b="1" dirty="0"/>
              <a:t>Information about the Population</a:t>
            </a:r>
            <a:r>
              <a:rPr lang="en-US" sz="1200" dirty="0"/>
              <a:t>: </a:t>
            </a:r>
            <a:r>
              <a:rPr lang="el-GR" sz="1200" dirty="0"/>
              <a:t>μ</a:t>
            </a:r>
            <a:r>
              <a:rPr lang="en-US" sz="1200" dirty="0"/>
              <a:t> = 75.00, σ = 6.50, </a:t>
            </a:r>
            <a:r>
              <a:rPr lang="en-US" sz="1200" i="1" dirty="0"/>
              <a:t>N</a:t>
            </a:r>
            <a:r>
              <a:rPr lang="en-US" sz="1200" dirty="0"/>
              <a:t> = 500</a:t>
            </a:r>
          </a:p>
          <a:p>
            <a:pPr>
              <a:lnSpc>
                <a:spcPct val="100000"/>
              </a:lnSpc>
              <a:spcBef>
                <a:spcPts val="0"/>
              </a:spcBef>
            </a:pPr>
            <a:r>
              <a:rPr lang="en-US" sz="1200" b="1" dirty="0"/>
              <a:t>Sample Size</a:t>
            </a:r>
            <a:r>
              <a:rPr lang="en-US" sz="1200" dirty="0"/>
              <a:t>: </a:t>
            </a:r>
            <a:r>
              <a:rPr lang="en-US" sz="1200" i="1" dirty="0"/>
              <a:t>n</a:t>
            </a:r>
            <a:r>
              <a:rPr lang="en-US" sz="1200" dirty="0"/>
              <a:t> = 1</a:t>
            </a:r>
          </a:p>
          <a:p>
            <a:pPr>
              <a:lnSpc>
                <a:spcPct val="100000"/>
              </a:lnSpc>
              <a:spcBef>
                <a:spcPts val="0"/>
              </a:spcBef>
            </a:pPr>
            <a:r>
              <a:rPr lang="en-US" sz="1200" b="1" dirty="0"/>
              <a:t>Shape</a:t>
            </a:r>
            <a:r>
              <a:rPr lang="en-US" sz="1200" dirty="0"/>
              <a:t>: Normally distributed</a:t>
            </a:r>
            <a:endParaRPr lang="en-US" sz="1050" dirty="0"/>
          </a:p>
          <a:p>
            <a:pPr marL="0" indent="0">
              <a:lnSpc>
                <a:spcPct val="100000"/>
              </a:lnSpc>
              <a:buNone/>
            </a:pPr>
            <a:endParaRPr lang="en-US" b="1" dirty="0"/>
          </a:p>
          <a:p>
            <a:pPr marL="0" indent="0">
              <a:lnSpc>
                <a:spcPct val="100000"/>
              </a:lnSpc>
              <a:buNone/>
            </a:pPr>
            <a:r>
              <a:rPr lang="en-US" b="1" dirty="0"/>
              <a:t>Step 3:</a:t>
            </a:r>
          </a:p>
          <a:p>
            <a:r>
              <a:rPr lang="en-CA" i="1" dirty="0"/>
              <a:t>p(</a:t>
            </a:r>
            <a:r>
              <a:rPr lang="el-GR" i="1" dirty="0"/>
              <a:t>α</a:t>
            </a:r>
            <a:r>
              <a:rPr lang="en-CA" i="1" dirty="0"/>
              <a:t>) </a:t>
            </a:r>
            <a:r>
              <a:rPr lang="en-CA" dirty="0"/>
              <a:t>= .05, </a:t>
            </a:r>
            <a:r>
              <a:rPr lang="en-CA" i="1" dirty="0"/>
              <a:t>z(crit)</a:t>
            </a:r>
            <a:r>
              <a:rPr lang="en-CA" dirty="0"/>
              <a:t> = ±</a:t>
            </a:r>
            <a:r>
              <a:rPr lang="en-US" dirty="0"/>
              <a:t>1.96</a:t>
            </a:r>
          </a:p>
          <a:p>
            <a:pPr marL="0" indent="0">
              <a:buNone/>
            </a:pPr>
            <a:endParaRPr lang="en-CA" dirty="0"/>
          </a:p>
          <a:p>
            <a:endParaRPr lang="en-US" dirty="0"/>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574432C5-7DF4-5F4D-A83A-EE45D530B8EC}"/>
                  </a:ext>
                </a:extLst>
              </p:cNvPr>
              <p:cNvSpPr txBox="1">
                <a:spLocks/>
              </p:cNvSpPr>
              <p:nvPr/>
            </p:nvSpPr>
            <p:spPr>
              <a:xfrm>
                <a:off x="6096000" y="633816"/>
                <a:ext cx="5257800" cy="627140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Step 4:</a:t>
                </a:r>
              </a:p>
              <a:p>
                <a:r>
                  <a:rPr lang="en-US" i="1" dirty="0"/>
                  <a:t>z</a:t>
                </a:r>
                <a:r>
                  <a:rPr lang="en-US" dirty="0"/>
                  <a:t>(</a:t>
                </a:r>
                <a:r>
                  <a:rPr lang="en-US" dirty="0" err="1"/>
                  <a:t>obs</a:t>
                </a:r>
                <a:r>
                  <a:rPr lang="en-US" dirty="0"/>
                  <a:t>) =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90.0000</m:t>
                        </m:r>
                        <m:r>
                          <a:rPr lang="en-CA" i="1">
                            <a:latin typeface="Cambria Math" panose="02040503050406030204" pitchFamily="18" charset="0"/>
                          </a:rPr>
                          <m:t> −</m:t>
                        </m:r>
                        <m:r>
                          <a:rPr lang="en-US" b="0" i="1" smtClean="0">
                            <a:latin typeface="Cambria Math" panose="02040503050406030204" pitchFamily="18" charset="0"/>
                          </a:rPr>
                          <m:t> </m:t>
                        </m:r>
                        <m:r>
                          <a:rPr lang="en-US" i="1">
                            <a:latin typeface="Cambria Math" panose="02040503050406030204" pitchFamily="18" charset="0"/>
                          </a:rPr>
                          <m:t>75.0000</m:t>
                        </m:r>
                      </m:num>
                      <m:den>
                        <m:r>
                          <a:rPr lang="en-US" i="1">
                            <a:latin typeface="Cambria Math" panose="02040503050406030204" pitchFamily="18" charset="0"/>
                          </a:rPr>
                          <m:t>6.5000</m:t>
                        </m:r>
                      </m:den>
                    </m:f>
                  </m:oMath>
                </a14:m>
                <a:r>
                  <a:rPr lang="en-US" dirty="0"/>
                  <a:t>  = 2.3077</a:t>
                </a:r>
              </a:p>
              <a:p>
                <a:r>
                  <a:rPr lang="en-US" i="1" dirty="0"/>
                  <a:t>p</a:t>
                </a:r>
                <a:r>
                  <a:rPr lang="en-US" dirty="0"/>
                  <a:t>(</a:t>
                </a:r>
                <a:r>
                  <a:rPr lang="en-US" i="1" dirty="0" err="1"/>
                  <a:t>obs</a:t>
                </a:r>
                <a:r>
                  <a:rPr lang="en-US" dirty="0"/>
                  <a:t>) = .0104 x 2 = .0208</a:t>
                </a:r>
                <a:endParaRPr lang="en-US" i="1" dirty="0"/>
              </a:p>
              <a:p>
                <a:pPr marL="0" indent="0">
                  <a:buFont typeface="Arial" panose="020B0604020202020204" pitchFamily="34" charset="0"/>
                  <a:buNone/>
                </a:pPr>
                <a:endParaRPr lang="en-CA" b="1" dirty="0"/>
              </a:p>
              <a:p>
                <a:pPr marL="0" indent="0">
                  <a:buFont typeface="Arial" panose="020B0604020202020204" pitchFamily="34" charset="0"/>
                  <a:buNone/>
                </a:pPr>
                <a:r>
                  <a:rPr lang="en-CA" b="1" dirty="0"/>
                  <a:t>Step 5: </a:t>
                </a:r>
                <a:endParaRPr lang="en-US" b="1" dirty="0"/>
              </a:p>
              <a:p>
                <a:r>
                  <a:rPr lang="en-US" sz="2000" i="1" dirty="0"/>
                  <a:t>p</a:t>
                </a:r>
                <a:r>
                  <a:rPr lang="en-US" sz="2000" dirty="0"/>
                  <a:t>(</a:t>
                </a:r>
                <a:r>
                  <a:rPr lang="en-US" sz="2000" dirty="0" err="1"/>
                  <a:t>obs</a:t>
                </a:r>
                <a:r>
                  <a:rPr lang="en-US" sz="2000" dirty="0"/>
                  <a:t>) = . 0208 </a:t>
                </a:r>
                <a:r>
                  <a:rPr lang="en-US" sz="2000" b="1" dirty="0"/>
                  <a:t>&lt;</a:t>
                </a:r>
                <a:r>
                  <a:rPr lang="en-US" sz="2000" dirty="0"/>
                  <a:t> </a:t>
                </a:r>
                <a:r>
                  <a:rPr lang="en-US" sz="2000" i="1" dirty="0"/>
                  <a:t>p</a:t>
                </a:r>
                <a:r>
                  <a:rPr lang="en-US" sz="2000" dirty="0"/>
                  <a:t>(</a:t>
                </a:r>
                <a:r>
                  <a:rPr lang="el-GR" sz="2000" dirty="0"/>
                  <a:t>α</a:t>
                </a:r>
                <a:r>
                  <a:rPr lang="en-US" sz="2000" dirty="0"/>
                  <a:t>) </a:t>
                </a:r>
                <a:r>
                  <a:rPr lang="en-US" sz="2000" b="1" dirty="0"/>
                  <a:t>= </a:t>
                </a:r>
                <a:r>
                  <a:rPr lang="en-US" sz="2000" dirty="0"/>
                  <a:t>.05</a:t>
                </a:r>
              </a:p>
              <a:p>
                <a:pPr lvl="1"/>
                <a:r>
                  <a:rPr lang="en-US" sz="1800" i="1" dirty="0"/>
                  <a:t>Reject the null hypothesis</a:t>
                </a:r>
              </a:p>
              <a:p>
                <a:r>
                  <a:rPr lang="en-US" sz="2000" i="1" dirty="0"/>
                  <a:t>z(</a:t>
                </a:r>
                <a:r>
                  <a:rPr lang="en-US" sz="2000" i="1" dirty="0" err="1"/>
                  <a:t>obs</a:t>
                </a:r>
                <a:r>
                  <a:rPr lang="en-US" sz="2000" i="1" dirty="0"/>
                  <a:t>) </a:t>
                </a:r>
                <a:r>
                  <a:rPr lang="en-US" sz="2000" b="1" dirty="0"/>
                  <a:t>= </a:t>
                </a:r>
                <a:r>
                  <a:rPr lang="en-US" sz="2000" dirty="0"/>
                  <a:t>2.3077 </a:t>
                </a:r>
                <a:r>
                  <a:rPr lang="en-US" sz="2000" b="1" dirty="0"/>
                  <a:t>&gt;</a:t>
                </a:r>
                <a:r>
                  <a:rPr lang="en-US" sz="2000" dirty="0"/>
                  <a:t> </a:t>
                </a:r>
                <a:r>
                  <a:rPr lang="en-US" sz="2000" i="1" dirty="0"/>
                  <a:t>z(crit) </a:t>
                </a:r>
                <a:r>
                  <a:rPr lang="en-US" sz="2000" dirty="0"/>
                  <a:t>=</a:t>
                </a:r>
                <a:r>
                  <a:rPr lang="en-US" sz="2000" i="1" dirty="0"/>
                  <a:t> </a:t>
                </a:r>
                <a:r>
                  <a:rPr lang="en-CA" sz="2000" dirty="0"/>
                  <a:t>±</a:t>
                </a:r>
                <a:r>
                  <a:rPr lang="en-US" sz="2000" dirty="0"/>
                  <a:t>1.96</a:t>
                </a:r>
              </a:p>
              <a:p>
                <a:pPr lvl="1"/>
                <a:r>
                  <a:rPr lang="en-US" sz="1800" i="1" dirty="0"/>
                  <a:t>Reject the null hypothesis</a:t>
                </a:r>
              </a:p>
              <a:p>
                <a:pPr marL="0" indent="0">
                  <a:lnSpc>
                    <a:spcPct val="100000"/>
                  </a:lnSpc>
                  <a:buFont typeface="Arial" panose="020B0604020202020204" pitchFamily="34" charset="0"/>
                  <a:buNone/>
                </a:pPr>
                <a:endParaRPr lang="en-US" dirty="0"/>
              </a:p>
              <a:p>
                <a:pPr marL="0" indent="0">
                  <a:lnSpc>
                    <a:spcPct val="100000"/>
                  </a:lnSpc>
                  <a:buFont typeface="Arial" panose="020B0604020202020204" pitchFamily="34" charset="0"/>
                  <a:buNone/>
                </a:pPr>
                <a:r>
                  <a:rPr lang="en-US" b="1" dirty="0"/>
                  <a:t>Step 6:</a:t>
                </a:r>
              </a:p>
              <a:p>
                <a:r>
                  <a:rPr lang="en-US" sz="2000" dirty="0"/>
                  <a:t>Jo’s final exam score of </a:t>
                </a:r>
                <a:r>
                  <a:rPr lang="en-US" sz="2000" b="1" i="1" dirty="0"/>
                  <a:t>x</a:t>
                </a:r>
                <a:r>
                  <a:rPr lang="en-US" sz="2000" b="1" dirty="0"/>
                  <a:t> = 90.00% </a:t>
                </a:r>
                <a:r>
                  <a:rPr lang="en-US" sz="2000" dirty="0"/>
                  <a:t>was </a:t>
                </a:r>
                <a:r>
                  <a:rPr lang="en-US" sz="2000" i="1" dirty="0"/>
                  <a:t>statistically greater </a:t>
                </a:r>
                <a:r>
                  <a:rPr lang="en-US" sz="2000" dirty="0"/>
                  <a:t>than the average of past classes (</a:t>
                </a:r>
                <a:r>
                  <a:rPr lang="el-GR" sz="2000" b="1" i="1" dirty="0"/>
                  <a:t>μ</a:t>
                </a:r>
                <a:r>
                  <a:rPr lang="en-CA" sz="2000" b="1" i="1" dirty="0"/>
                  <a:t> </a:t>
                </a:r>
                <a:r>
                  <a:rPr lang="en-CA" sz="2000" b="1" dirty="0"/>
                  <a:t>= 75.00</a:t>
                </a:r>
                <a:r>
                  <a:rPr lang="en-CA" sz="2000" dirty="0"/>
                  <a:t>, </a:t>
                </a:r>
                <a:r>
                  <a:rPr lang="en-US" sz="2000" b="1" i="1" dirty="0"/>
                  <a:t>σ</a:t>
                </a:r>
                <a:r>
                  <a:rPr lang="en-US" sz="2000" b="1" dirty="0"/>
                  <a:t> = 6.50</a:t>
                </a:r>
                <a:r>
                  <a:rPr lang="en-US" sz="2000" dirty="0"/>
                  <a:t>), </a:t>
                </a:r>
                <a:r>
                  <a:rPr lang="en-US" sz="2000" b="1" i="1" dirty="0"/>
                  <a:t>z</a:t>
                </a:r>
                <a:r>
                  <a:rPr lang="en-US" sz="2000" dirty="0"/>
                  <a:t> </a:t>
                </a:r>
                <a:r>
                  <a:rPr lang="en-US" sz="2000" b="1" dirty="0"/>
                  <a:t>= 2.31</a:t>
                </a:r>
                <a:r>
                  <a:rPr lang="en-US" sz="2000" dirty="0"/>
                  <a:t>, </a:t>
                </a:r>
                <a:r>
                  <a:rPr lang="en-US" sz="2000" b="1" i="1" dirty="0"/>
                  <a:t>p</a:t>
                </a:r>
                <a:r>
                  <a:rPr lang="en-US" sz="2000" dirty="0"/>
                  <a:t> </a:t>
                </a:r>
                <a:r>
                  <a:rPr lang="en-US" sz="2000" b="1" dirty="0"/>
                  <a:t>= .021</a:t>
                </a:r>
                <a:r>
                  <a:rPr lang="en-US" sz="2000" dirty="0"/>
                  <a:t>. The statistics problem generator did improve Jo’s exam score.</a:t>
                </a:r>
              </a:p>
              <a:p>
                <a:pPr marL="0" indent="0">
                  <a:buFont typeface="Arial" panose="020B0604020202020204" pitchFamily="34" charset="0"/>
                  <a:buNone/>
                </a:pPr>
                <a:endParaRPr lang="en-CA" dirty="0"/>
              </a:p>
              <a:p>
                <a:endParaRPr lang="en-US" dirty="0"/>
              </a:p>
            </p:txBody>
          </p:sp>
        </mc:Choice>
        <mc:Fallback xmlns="">
          <p:sp>
            <p:nvSpPr>
              <p:cNvPr id="4" name="Content Placeholder 2">
                <a:extLst>
                  <a:ext uri="{FF2B5EF4-FFF2-40B4-BE49-F238E27FC236}">
                    <a16:creationId xmlns:a16="http://schemas.microsoft.com/office/drawing/2014/main" id="{574432C5-7DF4-5F4D-A83A-EE45D530B8EC}"/>
                  </a:ext>
                </a:extLst>
              </p:cNvPr>
              <p:cNvSpPr txBox="1">
                <a:spLocks noRot="1" noChangeAspect="1" noMove="1" noResize="1" noEditPoints="1" noAdjustHandles="1" noChangeArrowheads="1" noChangeShapeType="1" noTextEdit="1"/>
              </p:cNvSpPr>
              <p:nvPr/>
            </p:nvSpPr>
            <p:spPr>
              <a:xfrm>
                <a:off x="6096000" y="633816"/>
                <a:ext cx="5257800" cy="6271404"/>
              </a:xfrm>
              <a:prstGeom prst="rect">
                <a:avLst/>
              </a:prstGeom>
              <a:blipFill>
                <a:blip r:embed="rId2"/>
                <a:stretch>
                  <a:fillRect l="-2317" t="-2235" r="-1738"/>
                </a:stretch>
              </a:blipFill>
            </p:spPr>
            <p:txBody>
              <a:bodyPr/>
              <a:lstStyle/>
              <a:p>
                <a:r>
                  <a:rPr lang="en-US">
                    <a:noFill/>
                  </a:rPr>
                  <a:t> </a:t>
                </a:r>
              </a:p>
            </p:txBody>
          </p:sp>
        </mc:Fallback>
      </mc:AlternateContent>
    </p:spTree>
    <p:extLst>
      <p:ext uri="{BB962C8B-B14F-4D97-AF65-F5344CB8AC3E}">
        <p14:creationId xmlns:p14="http://schemas.microsoft.com/office/powerpoint/2010/main" val="210788193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33129-C00B-120B-3925-17A6B35FB58E}"/>
              </a:ext>
            </a:extLst>
          </p:cNvPr>
          <p:cNvSpPr>
            <a:spLocks noGrp="1"/>
          </p:cNvSpPr>
          <p:nvPr>
            <p:ph type="ctrTitle"/>
          </p:nvPr>
        </p:nvSpPr>
        <p:spPr/>
        <p:txBody>
          <a:bodyPr/>
          <a:lstStyle/>
          <a:p>
            <a:r>
              <a:rPr lang="en-US" dirty="0"/>
              <a:t>Extra Resources</a:t>
            </a:r>
          </a:p>
        </p:txBody>
      </p:sp>
    </p:spTree>
    <p:extLst>
      <p:ext uri="{BB962C8B-B14F-4D97-AF65-F5344CB8AC3E}">
        <p14:creationId xmlns:p14="http://schemas.microsoft.com/office/powerpoint/2010/main" val="51688107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7E2C7-2863-0F88-39B6-B3E0414EFC5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1CD6204-308B-65DE-A472-2CCB44E5D331}"/>
              </a:ext>
            </a:extLst>
          </p:cNvPr>
          <p:cNvPicPr>
            <a:picLocks noChangeAspect="1"/>
          </p:cNvPicPr>
          <p:nvPr/>
        </p:nvPicPr>
        <p:blipFill>
          <a:blip r:embed="rId2"/>
          <a:stretch>
            <a:fillRect/>
          </a:stretch>
        </p:blipFill>
        <p:spPr>
          <a:xfrm>
            <a:off x="1329476" y="1301466"/>
            <a:ext cx="9533047" cy="5408171"/>
          </a:xfrm>
          <a:prstGeom prst="rect">
            <a:avLst/>
          </a:prstGeom>
        </p:spPr>
      </p:pic>
      <p:sp>
        <p:nvSpPr>
          <p:cNvPr id="8" name="TextBox 7">
            <a:extLst>
              <a:ext uri="{FF2B5EF4-FFF2-40B4-BE49-F238E27FC236}">
                <a16:creationId xmlns:a16="http://schemas.microsoft.com/office/drawing/2014/main" id="{F8542ACC-FC20-2283-7C5E-296FB1B68207}"/>
              </a:ext>
            </a:extLst>
          </p:cNvPr>
          <p:cNvSpPr txBox="1"/>
          <p:nvPr/>
        </p:nvSpPr>
        <p:spPr>
          <a:xfrm>
            <a:off x="6354792" y="6391537"/>
            <a:ext cx="6096000" cy="369332"/>
          </a:xfrm>
          <a:prstGeom prst="rect">
            <a:avLst/>
          </a:prstGeom>
          <a:noFill/>
        </p:spPr>
        <p:txBody>
          <a:bodyPr wrap="square">
            <a:spAutoFit/>
          </a:bodyPr>
          <a:lstStyle/>
          <a:p>
            <a:r>
              <a:rPr lang="en-US" dirty="0"/>
              <a:t>https://chadcwilliams.shinyapps.io/StatsProblemGenerator/</a:t>
            </a:r>
          </a:p>
        </p:txBody>
      </p:sp>
      <p:sp>
        <p:nvSpPr>
          <p:cNvPr id="2" name="Title 1">
            <a:extLst>
              <a:ext uri="{FF2B5EF4-FFF2-40B4-BE49-F238E27FC236}">
                <a16:creationId xmlns:a16="http://schemas.microsoft.com/office/drawing/2014/main" id="{4075D6AF-22F5-3540-21E7-1C01B8DB6014}"/>
              </a:ext>
            </a:extLst>
          </p:cNvPr>
          <p:cNvSpPr>
            <a:spLocks noGrp="1"/>
          </p:cNvSpPr>
          <p:nvPr>
            <p:ph type="title"/>
          </p:nvPr>
        </p:nvSpPr>
        <p:spPr>
          <a:xfrm>
            <a:off x="838200" y="365125"/>
            <a:ext cx="10515600" cy="1325563"/>
          </a:xfrm>
        </p:spPr>
        <p:txBody>
          <a:bodyPr/>
          <a:lstStyle/>
          <a:p>
            <a:r>
              <a:rPr lang="en-US" dirty="0"/>
              <a:t>Stats Problem Generator</a:t>
            </a:r>
          </a:p>
        </p:txBody>
      </p:sp>
    </p:spTree>
    <p:extLst>
      <p:ext uri="{BB962C8B-B14F-4D97-AF65-F5344CB8AC3E}">
        <p14:creationId xmlns:p14="http://schemas.microsoft.com/office/powerpoint/2010/main" val="192749340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45057-EAA4-AB81-E2EF-A86049DFE08D}"/>
              </a:ext>
            </a:extLst>
          </p:cNvPr>
          <p:cNvSpPr>
            <a:spLocks noGrp="1"/>
          </p:cNvSpPr>
          <p:nvPr>
            <p:ph type="title"/>
          </p:nvPr>
        </p:nvSpPr>
        <p:spPr/>
        <p:txBody>
          <a:bodyPr/>
          <a:lstStyle/>
          <a:p>
            <a:r>
              <a:rPr lang="en-US" dirty="0"/>
              <a:t>Extra Resources</a:t>
            </a:r>
          </a:p>
        </p:txBody>
      </p:sp>
      <p:pic>
        <p:nvPicPr>
          <p:cNvPr id="4" name="Picture 3">
            <a:hlinkClick r:id="rId2"/>
            <a:extLst>
              <a:ext uri="{FF2B5EF4-FFF2-40B4-BE49-F238E27FC236}">
                <a16:creationId xmlns:a16="http://schemas.microsoft.com/office/drawing/2014/main" id="{C6669C7A-B5F6-F538-1798-75448DC68A2C}"/>
              </a:ext>
            </a:extLst>
          </p:cNvPr>
          <p:cNvPicPr>
            <a:picLocks noChangeAspect="1"/>
          </p:cNvPicPr>
          <p:nvPr/>
        </p:nvPicPr>
        <p:blipFill>
          <a:blip r:embed="rId3"/>
          <a:stretch>
            <a:fillRect/>
          </a:stretch>
        </p:blipFill>
        <p:spPr>
          <a:xfrm>
            <a:off x="281436" y="1928938"/>
            <a:ext cx="5357363" cy="3000123"/>
          </a:xfrm>
          <a:prstGeom prst="rect">
            <a:avLst/>
          </a:prstGeom>
        </p:spPr>
      </p:pic>
      <p:pic>
        <p:nvPicPr>
          <p:cNvPr id="7" name="Picture 6">
            <a:hlinkClick r:id="rId4"/>
            <a:extLst>
              <a:ext uri="{FF2B5EF4-FFF2-40B4-BE49-F238E27FC236}">
                <a16:creationId xmlns:a16="http://schemas.microsoft.com/office/drawing/2014/main" id="{942BECBF-BC07-8E84-7C68-DA5CB6F3ADDB}"/>
              </a:ext>
            </a:extLst>
          </p:cNvPr>
          <p:cNvPicPr>
            <a:picLocks noChangeAspect="1"/>
          </p:cNvPicPr>
          <p:nvPr/>
        </p:nvPicPr>
        <p:blipFill>
          <a:blip r:embed="rId5"/>
          <a:stretch>
            <a:fillRect/>
          </a:stretch>
        </p:blipFill>
        <p:spPr>
          <a:xfrm>
            <a:off x="6553201" y="1928938"/>
            <a:ext cx="5357363" cy="3000123"/>
          </a:xfrm>
          <a:prstGeom prst="rect">
            <a:avLst/>
          </a:prstGeom>
        </p:spPr>
      </p:pic>
    </p:spTree>
    <p:extLst>
      <p:ext uri="{BB962C8B-B14F-4D97-AF65-F5344CB8AC3E}">
        <p14:creationId xmlns:p14="http://schemas.microsoft.com/office/powerpoint/2010/main" val="1212647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3200</TotalTime>
  <Words>3369</Words>
  <Application>Microsoft Office PowerPoint</Application>
  <PresentationFormat>Widescreen</PresentationFormat>
  <Paragraphs>578</Paragraphs>
  <Slides>59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59</vt:i4>
      </vt:variant>
    </vt:vector>
  </HeadingPairs>
  <TitlesOfParts>
    <vt:vector size="64" baseType="lpstr">
      <vt:lpstr>Arial</vt:lpstr>
      <vt:lpstr>Calibri</vt:lpstr>
      <vt:lpstr>Calibri Light</vt:lpstr>
      <vt:lpstr>Cambria Math</vt:lpstr>
      <vt:lpstr>Office Theme</vt:lpstr>
      <vt:lpstr>Hypothesis Testing</vt:lpstr>
      <vt:lpstr>PowerPoint Presentation</vt:lpstr>
      <vt:lpstr>PowerPoint Presentation</vt:lpstr>
      <vt:lpstr>Science!</vt:lpstr>
      <vt:lpstr>Steps of Hypothesis Testing</vt:lpstr>
      <vt:lpstr>Steps of Hypothesis Testing</vt:lpstr>
      <vt:lpstr>Steps of Hypothesis Testing</vt:lpstr>
      <vt:lpstr>PowerPoint Presentation</vt:lpstr>
      <vt:lpstr>PowerPoint Presentation</vt:lpstr>
      <vt:lpstr>Step 1: Define Hypotheses</vt:lpstr>
      <vt:lpstr>Step 1: Define Hypotheses</vt:lpstr>
      <vt:lpstr>Step 1: Define Hypotheses</vt:lpstr>
      <vt:lpstr>Step 1: Define Hypotheses</vt:lpstr>
      <vt:lpstr>Step 1: Define Hypotheses</vt:lpstr>
      <vt:lpstr>PowerPoint Presentation</vt:lpstr>
      <vt:lpstr>PowerPoint Presentation</vt:lpstr>
      <vt:lpstr>Step 2: Select the Sampling Distribution</vt:lpstr>
      <vt:lpstr>Step 2: Select the Sampling Distribution</vt:lpstr>
      <vt:lpstr>Step 2: Select the Sampling Distribution</vt:lpstr>
      <vt:lpstr>PowerPoint Presentation</vt:lpstr>
      <vt:lpstr>PowerPoint Presentation</vt:lpstr>
      <vt:lpstr>Step 3: Determine a priori Criteria</vt:lpstr>
      <vt:lpstr>Step 3: Determine a priori Criteria</vt:lpstr>
      <vt:lpstr>Step 3: Determine a priori Criteria</vt:lpstr>
      <vt:lpstr>Step 3: Determine a priori Criteria</vt:lpstr>
      <vt:lpstr>Step 3: Determine a priori Criteria</vt:lpstr>
      <vt:lpstr>Step 3: Determine a priori Criteria</vt:lpstr>
      <vt:lpstr>Step 3: Determine a priori Criteria</vt:lpstr>
      <vt:lpstr>Step 3: Determine a priori Criteria</vt:lpstr>
      <vt:lpstr>Step 3: Determine a priori Criteria</vt:lpstr>
      <vt:lpstr>Step 3: Determine a priori Criteria</vt:lpstr>
      <vt:lpstr>Step 3: Determine a priori Criteria</vt:lpstr>
      <vt:lpstr>Step 3: Determine a priori Criteria</vt:lpstr>
      <vt:lpstr>Step 3: Determine a priori Criteria</vt:lpstr>
      <vt:lpstr>Step 3: Determine a priori Criteria</vt:lpstr>
      <vt:lpstr>Step 3: Determine a priori Criteria</vt:lpstr>
      <vt:lpstr>Step 3: Determine a priori Criteria</vt:lpstr>
      <vt:lpstr>PowerPoint Presentation</vt:lpstr>
      <vt:lpstr>PowerPoint Presentation</vt:lpstr>
      <vt:lpstr>Step 4: Compute Statistics</vt:lpstr>
      <vt:lpstr>Step 4: Compute Statistics</vt:lpstr>
      <vt:lpstr>Step 4: Compute Statistics</vt:lpstr>
      <vt:lpstr>Step 4: Compute Statistics</vt:lpstr>
      <vt:lpstr>PowerPoint Presentation</vt:lpstr>
      <vt:lpstr>PowerPoint Presentation</vt:lpstr>
      <vt:lpstr>Step 5: Make Statistical Decision</vt:lpstr>
      <vt:lpstr>Step 5: Make Statistical Decision</vt:lpstr>
      <vt:lpstr>Step 5: Make Statistical Decision</vt:lpstr>
      <vt:lpstr>Step 5: Make Statistical Decision</vt:lpstr>
      <vt:lpstr>Step 5: Make Statistical Decision</vt:lpstr>
      <vt:lpstr>Step 5: Make Statistical Decision</vt:lpstr>
      <vt:lpstr>PowerPoint Presentation</vt:lpstr>
      <vt:lpstr>PowerPoint Presentation</vt:lpstr>
      <vt:lpstr>Step 6: Interpret Your Outcome</vt:lpstr>
      <vt:lpstr>Step 6: Interpret Your Outcome</vt:lpstr>
      <vt:lpstr>PowerPoint Presentation</vt:lpstr>
      <vt:lpstr>Extra Resources</vt:lpstr>
      <vt:lpstr>Stats Problem Generator</vt:lpstr>
      <vt:lpstr>Extra Resources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Hypothesis Testing</dc:title>
  <dc:creator>Microsoft Office User</dc:creator>
  <cp:lastModifiedBy>Chad Williams</cp:lastModifiedBy>
  <cp:revision>209</cp:revision>
  <dcterms:created xsi:type="dcterms:W3CDTF">2021-06-09T23:13:38Z</dcterms:created>
  <dcterms:modified xsi:type="dcterms:W3CDTF">2026-08-20T20:49:12Z</dcterms:modified>
</cp:coreProperties>
</file>