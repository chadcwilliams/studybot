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257" r:id="rId2"/>
    <p:sldId id="280" r:id="rId3"/>
    <p:sldId id="448" r:id="rId4"/>
    <p:sldId id="434" r:id="rId5"/>
    <p:sldId id="281" r:id="rId6"/>
    <p:sldId id="284" r:id="rId7"/>
    <p:sldId id="330" r:id="rId8"/>
    <p:sldId id="328" r:id="rId9"/>
    <p:sldId id="331" r:id="rId10"/>
    <p:sldId id="333" r:id="rId11"/>
    <p:sldId id="332" r:id="rId12"/>
    <p:sldId id="334" r:id="rId13"/>
    <p:sldId id="335" r:id="rId14"/>
    <p:sldId id="336" r:id="rId15"/>
    <p:sldId id="337" r:id="rId16"/>
    <p:sldId id="338" r:id="rId17"/>
    <p:sldId id="339" r:id="rId18"/>
    <p:sldId id="435" r:id="rId19"/>
    <p:sldId id="449" r:id="rId20"/>
    <p:sldId id="292" r:id="rId21"/>
    <p:sldId id="294" r:id="rId22"/>
    <p:sldId id="340" r:id="rId23"/>
    <p:sldId id="299" r:id="rId24"/>
    <p:sldId id="297" r:id="rId25"/>
    <p:sldId id="298" r:id="rId26"/>
    <p:sldId id="296" r:id="rId27"/>
    <p:sldId id="436" r:id="rId28"/>
    <p:sldId id="295" r:id="rId29"/>
    <p:sldId id="312" r:id="rId30"/>
    <p:sldId id="314" r:id="rId31"/>
    <p:sldId id="315" r:id="rId32"/>
    <p:sldId id="302" r:id="rId33"/>
    <p:sldId id="303" r:id="rId34"/>
    <p:sldId id="316" r:id="rId35"/>
    <p:sldId id="437" r:id="rId36"/>
    <p:sldId id="301" r:id="rId37"/>
    <p:sldId id="317" r:id="rId38"/>
    <p:sldId id="342" r:id="rId39"/>
    <p:sldId id="341" r:id="rId40"/>
    <p:sldId id="318" r:id="rId41"/>
    <p:sldId id="304" r:id="rId42"/>
    <p:sldId id="319" r:id="rId43"/>
    <p:sldId id="305" r:id="rId44"/>
    <p:sldId id="306" r:id="rId45"/>
    <p:sldId id="320" r:id="rId46"/>
    <p:sldId id="321" r:id="rId47"/>
    <p:sldId id="308" r:id="rId48"/>
    <p:sldId id="442" r:id="rId49"/>
    <p:sldId id="438" r:id="rId50"/>
    <p:sldId id="389" r:id="rId51"/>
    <p:sldId id="286" r:id="rId52"/>
    <p:sldId id="289" r:id="rId53"/>
    <p:sldId id="288" r:id="rId54"/>
    <p:sldId id="383" r:id="rId55"/>
    <p:sldId id="391" r:id="rId56"/>
    <p:sldId id="439" r:id="rId57"/>
    <p:sldId id="393" r:id="rId58"/>
    <p:sldId id="394" r:id="rId59"/>
    <p:sldId id="384" r:id="rId60"/>
    <p:sldId id="395" r:id="rId61"/>
    <p:sldId id="396" r:id="rId62"/>
    <p:sldId id="398" r:id="rId63"/>
    <p:sldId id="399" r:id="rId64"/>
    <p:sldId id="400" r:id="rId65"/>
    <p:sldId id="401" r:id="rId66"/>
    <p:sldId id="402" r:id="rId67"/>
    <p:sldId id="431" r:id="rId68"/>
    <p:sldId id="430" r:id="rId69"/>
    <p:sldId id="450" r:id="rId70"/>
    <p:sldId id="403" r:id="rId71"/>
    <p:sldId id="327" r:id="rId72"/>
    <p:sldId id="404" r:id="rId73"/>
    <p:sldId id="405" r:id="rId74"/>
    <p:sldId id="329" r:id="rId75"/>
    <p:sldId id="406" r:id="rId76"/>
    <p:sldId id="407" r:id="rId77"/>
    <p:sldId id="408" r:id="rId78"/>
    <p:sldId id="409" r:id="rId79"/>
    <p:sldId id="410" r:id="rId80"/>
    <p:sldId id="411" r:id="rId81"/>
    <p:sldId id="453" r:id="rId82"/>
    <p:sldId id="415" r:id="rId83"/>
    <p:sldId id="413" r:id="rId84"/>
    <p:sldId id="414" r:id="rId85"/>
    <p:sldId id="416" r:id="rId86"/>
    <p:sldId id="385" r:id="rId87"/>
    <p:sldId id="357" r:id="rId88"/>
    <p:sldId id="352" r:id="rId89"/>
    <p:sldId id="353" r:id="rId90"/>
    <p:sldId id="355" r:id="rId91"/>
    <p:sldId id="354" r:id="rId92"/>
    <p:sldId id="356" r:id="rId93"/>
    <p:sldId id="386" r:id="rId94"/>
    <p:sldId id="451" r:id="rId95"/>
    <p:sldId id="362" r:id="rId96"/>
    <p:sldId id="367" r:id="rId97"/>
    <p:sldId id="363" r:id="rId98"/>
    <p:sldId id="364" r:id="rId99"/>
    <p:sldId id="365" r:id="rId100"/>
    <p:sldId id="366" r:id="rId101"/>
    <p:sldId id="360" r:id="rId102"/>
    <p:sldId id="361" r:id="rId103"/>
    <p:sldId id="423" r:id="rId104"/>
    <p:sldId id="424" r:id="rId105"/>
    <p:sldId id="443" r:id="rId106"/>
    <p:sldId id="440" r:id="rId107"/>
    <p:sldId id="344" r:id="rId108"/>
    <p:sldId id="368" r:id="rId109"/>
    <p:sldId id="369" r:id="rId110"/>
    <p:sldId id="370" r:id="rId111"/>
    <p:sldId id="371" r:id="rId112"/>
    <p:sldId id="426" r:id="rId113"/>
    <p:sldId id="372" r:id="rId114"/>
    <p:sldId id="374" r:id="rId115"/>
    <p:sldId id="376" r:id="rId116"/>
    <p:sldId id="444" r:id="rId117"/>
    <p:sldId id="441" r:id="rId118"/>
    <p:sldId id="452" r:id="rId119"/>
    <p:sldId id="387" r:id="rId120"/>
    <p:sldId id="429" r:id="rId121"/>
    <p:sldId id="447" r:id="rId122"/>
    <p:sldId id="446" r:id="rId123"/>
    <p:sldId id="445" r:id="rId1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5F0F"/>
    <a:srgbClr val="E8871E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 autoAdjust="0"/>
    <p:restoredTop sz="89588" autoAdjust="0"/>
  </p:normalViewPr>
  <p:slideViewPr>
    <p:cSldViewPr snapToGrid="0" snapToObjects="1">
      <p:cViewPr varScale="1">
        <p:scale>
          <a:sx n="89" d="100"/>
          <a:sy n="89" d="100"/>
        </p:scale>
        <p:origin x="44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redo custSel addSld delSld modSld sldOrd">
      <pc:chgData name="Chad Williams" userId="618f96a3-8672-4e43-ae03-eeed93bb7387" providerId="ADAL" clId="{DFF2BB08-185E-495B-B2A0-BE0942C7B81E}" dt="2026-08-17T19:28:43.761" v="2033" actId="167"/>
      <pc:docMkLst>
        <pc:docMk/>
      </pc:docMkLst>
      <pc:sldChg chg="addSp delSp modSp mod">
        <pc:chgData name="Chad Williams" userId="618f96a3-8672-4e43-ae03-eeed93bb7387" providerId="ADAL" clId="{DFF2BB08-185E-495B-B2A0-BE0942C7B81E}" dt="2026-07-24T15:57:43.070" v="2024" actId="20577"/>
        <pc:sldMkLst>
          <pc:docMk/>
          <pc:sldMk cId="1371064164" sldId="352"/>
        </pc:sldMkLst>
        <pc:spChg chg="mod">
          <ac:chgData name="Chad Williams" userId="618f96a3-8672-4e43-ae03-eeed93bb7387" providerId="ADAL" clId="{DFF2BB08-185E-495B-B2A0-BE0942C7B81E}" dt="2026-07-23T21:18:19.549" v="1873" actId="207"/>
          <ac:spMkLst>
            <pc:docMk/>
            <pc:sldMk cId="1371064164" sldId="352"/>
            <ac:spMk id="7" creationId="{7D0CFCE8-1651-11B3-CE79-A482014229A8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8" creationId="{59DB8C97-FF3B-0916-D12A-365FB8B9213D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10" creationId="{D68943A8-43BA-BEEC-AA02-E1B3DED222F0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14" creationId="{6E5F809C-B36C-F810-008C-A037999BE5BD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18" creationId="{09AE2BC1-A4CA-DA36-9EEE-9F4187C011FB}"/>
          </ac:spMkLst>
        </pc:spChg>
        <pc:spChg chg="mod">
          <ac:chgData name="Chad Williams" userId="618f96a3-8672-4e43-ae03-eeed93bb7387" providerId="ADAL" clId="{DFF2BB08-185E-495B-B2A0-BE0942C7B81E}" dt="2026-07-23T21:16:31.857" v="1843" actId="207"/>
          <ac:spMkLst>
            <pc:docMk/>
            <pc:sldMk cId="1371064164" sldId="352"/>
            <ac:spMk id="20" creationId="{EC488E46-F81E-18B0-077E-0D9F894FE922}"/>
          </ac:spMkLst>
        </pc:spChg>
        <pc:spChg chg="mod">
          <ac:chgData name="Chad Williams" userId="618f96a3-8672-4e43-ae03-eeed93bb7387" providerId="ADAL" clId="{DFF2BB08-185E-495B-B2A0-BE0942C7B81E}" dt="2026-07-23T21:16:32.031" v="1844" actId="207"/>
          <ac:spMkLst>
            <pc:docMk/>
            <pc:sldMk cId="1371064164" sldId="352"/>
            <ac:spMk id="21" creationId="{8A093811-598C-F765-0946-1E961A763A9F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23" creationId="{84C089EE-EDC0-13EF-E95A-AD349D6B54CB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24" creationId="{D938FD0A-9EBF-6EB8-8540-537B2CB20422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30" creationId="{ABF574CF-376E-CA02-9E39-474A89D660CF}"/>
          </ac:spMkLst>
        </pc:spChg>
        <pc:spChg chg="mod">
          <ac:chgData name="Chad Williams" userId="618f96a3-8672-4e43-ae03-eeed93bb7387" providerId="ADAL" clId="{DFF2BB08-185E-495B-B2A0-BE0942C7B81E}" dt="2026-07-23T21:14:29.841" v="1818"/>
          <ac:spMkLst>
            <pc:docMk/>
            <pc:sldMk cId="1371064164" sldId="352"/>
            <ac:spMk id="34" creationId="{1DCB7F74-E10F-DCEB-05B2-63A67FF918D4}"/>
          </ac:spMkLst>
        </pc:spChg>
        <pc:graphicFrameChg chg="mod modGraphic">
          <ac:chgData name="Chad Williams" userId="618f96a3-8672-4e43-ae03-eeed93bb7387" providerId="ADAL" clId="{DFF2BB08-185E-495B-B2A0-BE0942C7B81E}" dt="2026-07-24T15:57:43.070" v="2024" actId="20577"/>
          <ac:graphicFrameMkLst>
            <pc:docMk/>
            <pc:sldMk cId="1371064164" sldId="352"/>
            <ac:graphicFrameMk id="13" creationId="{8CD72A97-E698-1A4F-8D13-B5F52677094F}"/>
          </ac:graphicFrameMkLst>
        </pc:graphicFrameChg>
      </pc:sldChg>
      <pc:sldChg chg="addSp delSp modSp mod">
        <pc:chgData name="Chad Williams" userId="618f96a3-8672-4e43-ae03-eeed93bb7387" providerId="ADAL" clId="{DFF2BB08-185E-495B-B2A0-BE0942C7B81E}" dt="2026-07-23T21:18:14.872" v="1872" actId="207"/>
        <pc:sldMkLst>
          <pc:docMk/>
          <pc:sldMk cId="3221091069" sldId="353"/>
        </pc:sldMkLst>
        <pc:spChg chg="mod">
          <ac:chgData name="Chad Williams" userId="618f96a3-8672-4e43-ae03-eeed93bb7387" providerId="ADAL" clId="{DFF2BB08-185E-495B-B2A0-BE0942C7B81E}" dt="2026-07-23T21:16:50.982" v="1855"/>
          <ac:spMkLst>
            <pc:docMk/>
            <pc:sldMk cId="3221091069" sldId="353"/>
            <ac:spMk id="8" creationId="{E4F6DDE6-4E64-7F60-44F0-768A86A46B1B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9" creationId="{5F0B62C0-4A98-A163-5775-15893A67F0B1}"/>
          </ac:spMkLst>
        </pc:spChg>
        <pc:spChg chg="mod">
          <ac:chgData name="Chad Williams" userId="618f96a3-8672-4e43-ae03-eeed93bb7387" providerId="ADAL" clId="{DFF2BB08-185E-495B-B2A0-BE0942C7B81E}" dt="2026-07-23T21:18:14.872" v="1872" actId="207"/>
          <ac:spMkLst>
            <pc:docMk/>
            <pc:sldMk cId="3221091069" sldId="353"/>
            <ac:spMk id="11" creationId="{E40D2773-32F4-BDD9-E3D2-489AFE8141A3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14" creationId="{CCC107A4-9971-3F86-4122-CEFBD0961918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16" creationId="{45ABF01B-2202-BB19-6B96-A14E7B810737}"/>
          </ac:spMkLst>
        </pc:spChg>
        <pc:spChg chg="mod">
          <ac:chgData name="Chad Williams" userId="618f96a3-8672-4e43-ae03-eeed93bb7387" providerId="ADAL" clId="{DFF2BB08-185E-495B-B2A0-BE0942C7B81E}" dt="2026-07-23T21:16:50.982" v="1855"/>
          <ac:spMkLst>
            <pc:docMk/>
            <pc:sldMk cId="3221091069" sldId="353"/>
            <ac:spMk id="18" creationId="{68A76F3C-77A5-FE0A-6185-18DA1933FA9E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20" creationId="{4BF4CBA4-2942-B822-EB45-6F681A2C2CC4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22" creationId="{A4F146EE-852E-D25E-2016-AB92C22ABE57}"/>
          </ac:spMkLst>
        </pc:spChg>
        <pc:spChg chg="mod">
          <ac:chgData name="Chad Williams" userId="618f96a3-8672-4e43-ae03-eeed93bb7387" providerId="ADAL" clId="{DFF2BB08-185E-495B-B2A0-BE0942C7B81E}" dt="2026-07-23T21:16:50.982" v="1855"/>
          <ac:spMkLst>
            <pc:docMk/>
            <pc:sldMk cId="3221091069" sldId="353"/>
            <ac:spMk id="23" creationId="{8D405B0E-43A8-D941-B18A-9D206839608D}"/>
          </ac:spMkLst>
        </pc:spChg>
        <pc:spChg chg="mod">
          <ac:chgData name="Chad Williams" userId="618f96a3-8672-4e43-ae03-eeed93bb7387" providerId="ADAL" clId="{DFF2BB08-185E-495B-B2A0-BE0942C7B81E}" dt="2026-07-23T21:17:09.811" v="1862" actId="207"/>
          <ac:spMkLst>
            <pc:docMk/>
            <pc:sldMk cId="3221091069" sldId="353"/>
            <ac:spMk id="24" creationId="{AE1C7FA4-8F69-6CEA-96D7-F474634E5ABE}"/>
          </ac:spMkLst>
        </pc:spChg>
        <pc:spChg chg="mod">
          <ac:chgData name="Chad Williams" userId="618f96a3-8672-4e43-ae03-eeed93bb7387" providerId="ADAL" clId="{DFF2BB08-185E-495B-B2A0-BE0942C7B81E}" dt="2026-07-23T21:17:18.910" v="1864" actId="207"/>
          <ac:spMkLst>
            <pc:docMk/>
            <pc:sldMk cId="3221091069" sldId="353"/>
            <ac:spMk id="30" creationId="{08694F40-47A1-74BB-A1DE-2D9D3178E272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31" creationId="{7EB40841-70DD-981D-3887-4AB8509B79E1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32" creationId="{E6FDA96C-A017-D1B2-5636-1D2752E6F000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33" creationId="{03073874-603C-5274-AB01-CFFEBD824330}"/>
          </ac:spMkLst>
        </pc:spChg>
        <pc:spChg chg="mod">
          <ac:chgData name="Chad Williams" userId="618f96a3-8672-4e43-ae03-eeed93bb7387" providerId="ADAL" clId="{DFF2BB08-185E-495B-B2A0-BE0942C7B81E}" dt="2026-07-23T21:16:50.982" v="1855"/>
          <ac:spMkLst>
            <pc:docMk/>
            <pc:sldMk cId="3221091069" sldId="353"/>
            <ac:spMk id="34" creationId="{9D149680-41F8-06E5-BB98-EF6AC72B2DEC}"/>
          </ac:spMkLst>
        </pc:spChg>
        <pc:spChg chg="mod">
          <ac:chgData name="Chad Williams" userId="618f96a3-8672-4e43-ae03-eeed93bb7387" providerId="ADAL" clId="{DFF2BB08-185E-495B-B2A0-BE0942C7B81E}" dt="2026-07-23T21:16:50.982" v="1855"/>
          <ac:spMkLst>
            <pc:docMk/>
            <pc:sldMk cId="3221091069" sldId="353"/>
            <ac:spMk id="35" creationId="{D0C96417-492C-6E9F-D53B-D70CA98AAFDE}"/>
          </ac:spMkLst>
        </pc:spChg>
        <pc:spChg chg="mod">
          <ac:chgData name="Chad Williams" userId="618f96a3-8672-4e43-ae03-eeed93bb7387" providerId="ADAL" clId="{DFF2BB08-185E-495B-B2A0-BE0942C7B81E}" dt="2026-07-23T21:17:02.268" v="1860" actId="208"/>
          <ac:spMkLst>
            <pc:docMk/>
            <pc:sldMk cId="3221091069" sldId="353"/>
            <ac:spMk id="36" creationId="{6454DCCA-E968-A1C4-31C6-7A9FFDFBB1CA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18:59.455" v="1881" actId="478"/>
        <pc:sldMkLst>
          <pc:docMk/>
          <pc:sldMk cId="64167178" sldId="354"/>
        </pc:sldMkLst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4" creationId="{A0848684-0FDB-824C-B8BD-0281D322A4DE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15" creationId="{D6F7E39C-F42E-3187-02D0-1FF8791B88F2}"/>
          </ac:spMkLst>
        </pc:spChg>
        <pc:spChg chg="mod">
          <ac:chgData name="Chad Williams" userId="618f96a3-8672-4e43-ae03-eeed93bb7387" providerId="ADAL" clId="{DFF2BB08-185E-495B-B2A0-BE0942C7B81E}" dt="2026-07-23T21:18:45.465" v="1879" actId="207"/>
          <ac:spMkLst>
            <pc:docMk/>
            <pc:sldMk cId="64167178" sldId="354"/>
            <ac:spMk id="16" creationId="{9C3D7E50-28BF-59AB-48AE-AB7DC7654CF1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17" creationId="{DC94068F-5F9E-C00F-0848-DDD65D03A2A3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19" creationId="{410D7132-C8A7-CA77-37A6-FCD9D67F9E9D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21" creationId="{BB11BAE7-E8F9-4621-4BF2-EDFCF373BA93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31" creationId="{76BDE351-4DF1-8415-F3CF-8D9A5EA49582}"/>
          </ac:spMkLst>
        </pc:spChg>
        <pc:spChg chg="mod">
          <ac:chgData name="Chad Williams" userId="618f96a3-8672-4e43-ae03-eeed93bb7387" providerId="ADAL" clId="{DFF2BB08-185E-495B-B2A0-BE0942C7B81E}" dt="2026-07-23T21:18:41.766" v="1878" actId="207"/>
          <ac:spMkLst>
            <pc:docMk/>
            <pc:sldMk cId="64167178" sldId="354"/>
            <ac:spMk id="32" creationId="{4FBFC23C-C909-1FED-A11E-5F9AFCCC016D}"/>
          </ac:spMkLst>
        </pc:spChg>
        <pc:spChg chg="mod">
          <ac:chgData name="Chad Williams" userId="618f96a3-8672-4e43-ae03-eeed93bb7387" providerId="ADAL" clId="{DFF2BB08-185E-495B-B2A0-BE0942C7B81E}" dt="2026-07-23T21:18:54.536" v="1880" actId="207"/>
          <ac:spMkLst>
            <pc:docMk/>
            <pc:sldMk cId="64167178" sldId="354"/>
            <ac:spMk id="33" creationId="{C7B8D2E1-16AE-DD63-5212-3A72A775FF26}"/>
          </ac:spMkLst>
        </pc:spChg>
        <pc:spChg chg="mod">
          <ac:chgData name="Chad Williams" userId="618f96a3-8672-4e43-ae03-eeed93bb7387" providerId="ADAL" clId="{DFF2BB08-185E-495B-B2A0-BE0942C7B81E}" dt="2026-07-23T21:18:34.531" v="1876"/>
          <ac:spMkLst>
            <pc:docMk/>
            <pc:sldMk cId="64167178" sldId="354"/>
            <ac:spMk id="34" creationId="{5DD20FCA-BC2E-BF2E-65AF-6EC83D81647C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6:02.031" v="1997" actId="478"/>
        <pc:sldMkLst>
          <pc:docMk/>
          <pc:sldMk cId="3551644254" sldId="355"/>
        </pc:sldMkLst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7" creationId="{CD48E01E-7CA9-C7C5-BD15-45C4DB57A772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8" creationId="{ABD16699-D654-189A-77C3-B559BFC4FBDC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10" creationId="{C0A28D0B-322A-90C6-979D-E9D5E0A4E59B}"/>
          </ac:spMkLst>
        </pc:spChg>
        <pc:spChg chg="mod">
          <ac:chgData name="Chad Williams" userId="618f96a3-8672-4e43-ae03-eeed93bb7387" providerId="ADAL" clId="{DFF2BB08-185E-495B-B2A0-BE0942C7B81E}" dt="2026-07-23T21:18:07.570" v="1871" actId="207"/>
          <ac:spMkLst>
            <pc:docMk/>
            <pc:sldMk cId="3551644254" sldId="355"/>
            <ac:spMk id="11" creationId="{EAB2D470-B60F-0846-96F6-CAC92D437AB7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14" creationId="{C6823564-A5F3-4566-4107-D993148DFE55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19" creationId="{A7B92212-307E-5913-F88B-8EE082903ADE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20" creationId="{F83D3CAD-1825-E8C0-BB87-72AE1870851A}"/>
          </ac:spMkLst>
        </pc:spChg>
        <pc:spChg chg="mod">
          <ac:chgData name="Chad Williams" userId="618f96a3-8672-4e43-ae03-eeed93bb7387" providerId="ADAL" clId="{DFF2BB08-185E-495B-B2A0-BE0942C7B81E}" dt="2026-07-23T21:17:42.095" v="1869" actId="207"/>
          <ac:spMkLst>
            <pc:docMk/>
            <pc:sldMk cId="3551644254" sldId="355"/>
            <ac:spMk id="24" creationId="{CC04CCC5-0639-B7FC-A65F-DEC8B20B04B3}"/>
          </ac:spMkLst>
        </pc:spChg>
        <pc:spChg chg="mod">
          <ac:chgData name="Chad Williams" userId="618f96a3-8672-4e43-ae03-eeed93bb7387" providerId="ADAL" clId="{DFF2BB08-185E-495B-B2A0-BE0942C7B81E}" dt="2026-07-23T21:17:54.553" v="1870" actId="207"/>
          <ac:spMkLst>
            <pc:docMk/>
            <pc:sldMk cId="3551644254" sldId="355"/>
            <ac:spMk id="30" creationId="{35CBA1B7-DF73-F029-F966-2A7BDD049B04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31" creationId="{366FD4FC-2FE2-963D-09CF-9D3F0C85F541}"/>
          </ac:spMkLst>
        </pc:spChg>
        <pc:spChg chg="mod">
          <ac:chgData name="Chad Williams" userId="618f96a3-8672-4e43-ae03-eeed93bb7387" providerId="ADAL" clId="{DFF2BB08-185E-495B-B2A0-BE0942C7B81E}" dt="2026-07-23T21:17:36.264" v="1867"/>
          <ac:spMkLst>
            <pc:docMk/>
            <pc:sldMk cId="3551644254" sldId="355"/>
            <ac:spMk id="33" creationId="{79C98433-02D5-70DA-C62F-1FC7B2B8A03D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19:41.378" v="1889" actId="207"/>
        <pc:sldMkLst>
          <pc:docMk/>
          <pc:sldMk cId="3372115729" sldId="356"/>
        </pc:sldMkLst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4" creationId="{39BBB748-4951-6D9D-2AE2-D6D8482FCF8D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8" creationId="{CC96567C-320C-207C-ED32-D919E6675245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11" creationId="{353E7A49-3296-2582-CA23-D5B42461CAF8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14" creationId="{9D9D5CA3-F455-6157-44CD-8B7760DA0526}"/>
          </ac:spMkLst>
        </pc:spChg>
        <pc:spChg chg="mod">
          <ac:chgData name="Chad Williams" userId="618f96a3-8672-4e43-ae03-eeed93bb7387" providerId="ADAL" clId="{DFF2BB08-185E-495B-B2A0-BE0942C7B81E}" dt="2026-07-23T21:19:41.378" v="1889" actId="207"/>
          <ac:spMkLst>
            <pc:docMk/>
            <pc:sldMk cId="3372115729" sldId="356"/>
            <ac:spMk id="20" creationId="{51369313-5480-C1D0-21FD-0565AB5099C6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22" creationId="{7475265A-D5A2-8040-D0DD-F4F5AEF7DF07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31" creationId="{6B75C257-BA56-3F95-8C6B-59720E793E77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32" creationId="{9A6BB682-DB10-D1CB-3B3B-A8249FBC9490}"/>
          </ac:spMkLst>
        </pc:spChg>
        <pc:spChg chg="mod">
          <ac:chgData name="Chad Williams" userId="618f96a3-8672-4e43-ae03-eeed93bb7387" providerId="ADAL" clId="{DFF2BB08-185E-495B-B2A0-BE0942C7B81E}" dt="2026-07-23T21:19:18.493" v="1885"/>
          <ac:spMkLst>
            <pc:docMk/>
            <pc:sldMk cId="3372115729" sldId="356"/>
            <ac:spMk id="34" creationId="{BD2C8CD1-210C-E96D-8351-AD4B2481C578}"/>
          </ac:spMkLst>
        </pc:spChg>
        <pc:spChg chg="mod">
          <ac:chgData name="Chad Williams" userId="618f96a3-8672-4e43-ae03-eeed93bb7387" providerId="ADAL" clId="{DFF2BB08-185E-495B-B2A0-BE0942C7B81E}" dt="2026-07-23T21:19:26.179" v="1887" actId="207"/>
          <ac:spMkLst>
            <pc:docMk/>
            <pc:sldMk cId="3372115729" sldId="356"/>
            <ac:spMk id="36" creationId="{3E863859-27DA-1B71-8840-E170BD04F10A}"/>
          </ac:spMkLst>
        </pc:spChg>
        <pc:spChg chg="mod">
          <ac:chgData name="Chad Williams" userId="618f96a3-8672-4e43-ae03-eeed93bb7387" providerId="ADAL" clId="{DFF2BB08-185E-495B-B2A0-BE0942C7B81E}" dt="2026-07-23T21:19:37.084" v="1888" actId="207"/>
          <ac:spMkLst>
            <pc:docMk/>
            <pc:sldMk cId="3372115729" sldId="356"/>
            <ac:spMk id="37" creationId="{16B5264D-03C4-E5FD-15EC-9E76E2D1159F}"/>
          </ac:spMkLst>
        </pc:spChg>
      </pc:sldChg>
      <pc:sldChg chg="addSp delSp modSp mod">
        <pc:chgData name="Chad Williams" userId="618f96a3-8672-4e43-ae03-eeed93bb7387" providerId="ADAL" clId="{DFF2BB08-185E-495B-B2A0-BE0942C7B81E}" dt="2026-07-24T15:57:43.294" v="2025" actId="20577"/>
        <pc:sldMkLst>
          <pc:docMk/>
          <pc:sldMk cId="668774205" sldId="357"/>
        </pc:sldMkLst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8" creationId="{516E53B4-B4A2-FA8C-59A1-F2379603DDA5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18" creationId="{2836528E-6F9B-FDA9-CAE5-475D4C13E9B5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19" creationId="{CA7C73FC-10C4-0276-E67A-B7C17873D8FD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20" creationId="{D358A3E3-32D1-25D7-3331-31215851BC19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23" creationId="{D8124344-B6CA-1342-592F-ECF0D536D140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30" creationId="{A98E755C-FE41-A03E-8A48-138F84D8CBAB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31" creationId="{759A5E3A-00AC-3E59-72B3-8C6E7F0F4A7F}"/>
          </ac:spMkLst>
        </pc:spChg>
        <pc:spChg chg="mod">
          <ac:chgData name="Chad Williams" userId="618f96a3-8672-4e43-ae03-eeed93bb7387" providerId="ADAL" clId="{DFF2BB08-185E-495B-B2A0-BE0942C7B81E}" dt="2026-07-23T21:14:07.818" v="1814"/>
          <ac:spMkLst>
            <pc:docMk/>
            <pc:sldMk cId="668774205" sldId="357"/>
            <ac:spMk id="33" creationId="{A028878F-3F48-09D4-3640-96D7AA1B4854}"/>
          </ac:spMkLst>
        </pc:spChg>
        <pc:graphicFrameChg chg="modGraphic">
          <ac:chgData name="Chad Williams" userId="618f96a3-8672-4e43-ae03-eeed93bb7387" providerId="ADAL" clId="{DFF2BB08-185E-495B-B2A0-BE0942C7B81E}" dt="2026-07-24T15:57:43.294" v="2025" actId="20577"/>
          <ac:graphicFrameMkLst>
            <pc:docMk/>
            <pc:sldMk cId="668774205" sldId="357"/>
            <ac:graphicFrameMk id="13" creationId="{8CD72A97-E698-1A4F-8D13-B5F52677094F}"/>
          </ac:graphicFrameMkLst>
        </pc:graphicFrameChg>
      </pc:sldChg>
      <pc:sldChg chg="addSp delSp modSp add mod delAnim modAnim">
        <pc:chgData name="Chad Williams" userId="618f96a3-8672-4e43-ae03-eeed93bb7387" providerId="ADAL" clId="{DFF2BB08-185E-495B-B2A0-BE0942C7B81E}" dt="2026-07-23T21:25:30.261" v="1995" actId="114"/>
        <pc:sldMkLst>
          <pc:docMk/>
          <pc:sldMk cId="2098161844" sldId="360"/>
        </pc:sldMkLst>
        <pc:spChg chg="mod">
          <ac:chgData name="Chad Williams" userId="618f96a3-8672-4e43-ae03-eeed93bb7387" providerId="ADAL" clId="{DFF2BB08-185E-495B-B2A0-BE0942C7B81E}" dt="2026-07-23T21:23:49.201" v="1971" actId="1076"/>
          <ac:spMkLst>
            <pc:docMk/>
            <pc:sldMk cId="2098161844" sldId="360"/>
            <ac:spMk id="5" creationId="{D7015C7E-86F2-4A4B-B942-83CCDA3A680B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43" creationId="{7F37FADE-BD10-73D0-7D93-824D1530D839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44" creationId="{6507078A-0DDC-28F9-BC6C-008EE7478F82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49" creationId="{175F8D96-C7B9-5699-12A1-DC43ABDB48B6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50" creationId="{661B06E9-3F70-8DFF-5613-7ED5DEA2104F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53" creationId="{9D581853-6B1A-D1CD-35AE-DF42E7B4079B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54" creationId="{577000AB-1134-1260-3AE0-C5B95CFE72B1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55" creationId="{1F21709F-6254-37DA-8655-8E889CB161FD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56" creationId="{A43C47C6-BB0B-7304-8609-02BAA9A8DD6A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60" creationId="{90E358F7-F0A9-3323-F841-EB219A8AF41C}"/>
          </ac:spMkLst>
        </pc:spChg>
        <pc:spChg chg="mod">
          <ac:chgData name="Chad Williams" userId="618f96a3-8672-4e43-ae03-eeed93bb7387" providerId="ADAL" clId="{DFF2BB08-185E-495B-B2A0-BE0942C7B81E}" dt="2026-07-23T21:21:53.056" v="1930"/>
          <ac:spMkLst>
            <pc:docMk/>
            <pc:sldMk cId="2098161844" sldId="360"/>
            <ac:spMk id="63" creationId="{90CC922B-D139-86B1-AC3A-A8FA9F9DAA53}"/>
          </ac:spMkLst>
        </pc:spChg>
        <pc:spChg chg="add mod">
          <ac:chgData name="Chad Williams" userId="618f96a3-8672-4e43-ae03-eeed93bb7387" providerId="ADAL" clId="{DFF2BB08-185E-495B-B2A0-BE0942C7B81E}" dt="2026-07-23T21:22:59.981" v="1941" actId="1076"/>
          <ac:spMkLst>
            <pc:docMk/>
            <pc:sldMk cId="2098161844" sldId="360"/>
            <ac:spMk id="66" creationId="{504941F0-1443-5053-B13E-3E08CBEDB360}"/>
          </ac:spMkLst>
        </pc:spChg>
        <pc:spChg chg="add mod">
          <ac:chgData name="Chad Williams" userId="618f96a3-8672-4e43-ae03-eeed93bb7387" providerId="ADAL" clId="{DFF2BB08-185E-495B-B2A0-BE0942C7B81E}" dt="2026-07-23T21:23:51.688" v="1972" actId="1076"/>
          <ac:spMkLst>
            <pc:docMk/>
            <pc:sldMk cId="2098161844" sldId="360"/>
            <ac:spMk id="73" creationId="{6362BC66-1012-C7AF-7CF5-5DBCB07BD348}"/>
          </ac:spMkLst>
        </pc:spChg>
        <pc:spChg chg="add mod">
          <ac:chgData name="Chad Williams" userId="618f96a3-8672-4e43-ae03-eeed93bb7387" providerId="ADAL" clId="{DFF2BB08-185E-495B-B2A0-BE0942C7B81E}" dt="2026-07-23T21:24:15.153" v="1977" actId="1076"/>
          <ac:spMkLst>
            <pc:docMk/>
            <pc:sldMk cId="2098161844" sldId="360"/>
            <ac:spMk id="74" creationId="{069D4950-75A2-9AB0-2D66-6D4E82EFD9CD}"/>
          </ac:spMkLst>
        </pc:spChg>
        <pc:spChg chg="add mod">
          <ac:chgData name="Chad Williams" userId="618f96a3-8672-4e43-ae03-eeed93bb7387" providerId="ADAL" clId="{DFF2BB08-185E-495B-B2A0-BE0942C7B81E}" dt="2026-07-23T21:25:30.261" v="1995" actId="114"/>
          <ac:spMkLst>
            <pc:docMk/>
            <pc:sldMk cId="2098161844" sldId="360"/>
            <ac:spMk id="78" creationId="{1FA55BAA-5B84-B1C0-C28D-8EE86F677307}"/>
          </ac:spMkLst>
        </pc:spChg>
        <pc:cxnChg chg="add mod">
          <ac:chgData name="Chad Williams" userId="618f96a3-8672-4e43-ae03-eeed93bb7387" providerId="ADAL" clId="{DFF2BB08-185E-495B-B2A0-BE0942C7B81E}" dt="2026-07-23T21:23:15.890" v="1956" actId="14100"/>
          <ac:cxnSpMkLst>
            <pc:docMk/>
            <pc:sldMk cId="2098161844" sldId="360"/>
            <ac:cxnSpMk id="67" creationId="{C91FFC65-F2D4-0920-BB12-A9BA52B33B50}"/>
          </ac:cxnSpMkLst>
        </pc:cxnChg>
        <pc:cxnChg chg="add mod">
          <ac:chgData name="Chad Williams" userId="618f96a3-8672-4e43-ae03-eeed93bb7387" providerId="ADAL" clId="{DFF2BB08-185E-495B-B2A0-BE0942C7B81E}" dt="2026-07-23T21:23:07.856" v="1955" actId="1035"/>
          <ac:cxnSpMkLst>
            <pc:docMk/>
            <pc:sldMk cId="2098161844" sldId="360"/>
            <ac:cxnSpMk id="68" creationId="{2744C0FF-18CD-3432-2770-88D825879888}"/>
          </ac:cxnSpMkLst>
        </pc:cxnChg>
        <pc:cxnChg chg="add mod">
          <ac:chgData name="Chad Williams" userId="618f96a3-8672-4e43-ae03-eeed93bb7387" providerId="ADAL" clId="{DFF2BB08-185E-495B-B2A0-BE0942C7B81E}" dt="2026-07-23T21:24:18.825" v="1978" actId="14100"/>
          <ac:cxnSpMkLst>
            <pc:docMk/>
            <pc:sldMk cId="2098161844" sldId="360"/>
            <ac:cxnSpMk id="75" creationId="{C4500447-1B51-B29A-F05D-4F57027C8D9C}"/>
          </ac:cxnSpMkLst>
        </pc:cxnChg>
        <pc:cxnChg chg="add mod">
          <ac:chgData name="Chad Williams" userId="618f96a3-8672-4e43-ae03-eeed93bb7387" providerId="ADAL" clId="{DFF2BB08-185E-495B-B2A0-BE0942C7B81E}" dt="2026-07-23T21:24:11.959" v="1976" actId="1076"/>
          <ac:cxnSpMkLst>
            <pc:docMk/>
            <pc:sldMk cId="2098161844" sldId="360"/>
            <ac:cxnSpMk id="76" creationId="{9A4EA4CC-6992-5FA4-8BBC-F3206832B956}"/>
          </ac:cxnSpMkLst>
        </pc:cxnChg>
      </pc:sldChg>
      <pc:sldChg chg="addSp delSp modSp mod">
        <pc:chgData name="Chad Williams" userId="618f96a3-8672-4e43-ae03-eeed93bb7387" providerId="ADAL" clId="{DFF2BB08-185E-495B-B2A0-BE0942C7B81E}" dt="2026-07-23T21:20:27.679" v="1905" actId="478"/>
        <pc:sldMkLst>
          <pc:docMk/>
          <pc:sldMk cId="2580205080" sldId="362"/>
        </pc:sldMkLst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7" creationId="{C00EB7A3-2390-9AEE-1CAB-F6702C828E6D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8" creationId="{55AF68E4-7BA1-E7C1-DD2B-E33FE2FC15F4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13" creationId="{FA394724-3242-A1E1-5200-5FC87DFE68E8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16" creationId="{ECBD658B-11CB-75DE-1D0C-97095AD519F9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20" creationId="{B95C9BF4-9D86-E6B5-717F-D937EFE99EB4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31" creationId="{AC5FCBE7-C78C-C993-5FDE-8B1047079ECD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33" creationId="{6CCED467-58F8-7F19-37FD-571BB791C4AF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34" creationId="{98E1E017-BB46-E0CF-2007-67FD43BC843E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36" creationId="{57481CD7-039C-EFD4-2853-90DA95C96CEE}"/>
          </ac:spMkLst>
        </pc:spChg>
        <pc:spChg chg="mod">
          <ac:chgData name="Chad Williams" userId="618f96a3-8672-4e43-ae03-eeed93bb7387" providerId="ADAL" clId="{DFF2BB08-185E-495B-B2A0-BE0942C7B81E}" dt="2026-07-23T21:20:20.275" v="1899"/>
          <ac:spMkLst>
            <pc:docMk/>
            <pc:sldMk cId="2580205080" sldId="362"/>
            <ac:spMk id="37" creationId="{758AB062-46BC-B820-A9F1-FAB6EE884290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1:01.396" v="1913" actId="207"/>
        <pc:sldMkLst>
          <pc:docMk/>
          <pc:sldMk cId="2682391999" sldId="363"/>
        </pc:sldMkLst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7" creationId="{5FB9415E-ACFD-C399-03E4-84C7AAD829DD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8" creationId="{1C6AC9CE-6677-6E0F-F3B4-685216F38D64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11" creationId="{59083AE3-EFB3-AB93-413F-9D4B36ABB0BA}"/>
          </ac:spMkLst>
        </pc:spChg>
        <pc:spChg chg="mod">
          <ac:chgData name="Chad Williams" userId="618f96a3-8672-4e43-ae03-eeed93bb7387" providerId="ADAL" clId="{DFF2BB08-185E-495B-B2A0-BE0942C7B81E}" dt="2026-07-23T21:21:01.396" v="1913" actId="207"/>
          <ac:spMkLst>
            <pc:docMk/>
            <pc:sldMk cId="2682391999" sldId="363"/>
            <ac:spMk id="13" creationId="{6C374550-91E7-60BE-1314-CCF466EC6DAA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15" creationId="{3C527D21-5490-B16E-37A8-6DD2891B10AA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18" creationId="{2A9D8088-332E-7A06-F7D9-7C5A21D56509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19" creationId="{128A4BD8-89CF-3D03-F92E-EDA0066DF17E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20" creationId="{FDE36CB4-DA8B-7003-C902-C442F3EBBEA5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36" creationId="{E851F035-8687-5F11-6236-7729D15A363A}"/>
          </ac:spMkLst>
        </pc:spChg>
        <pc:spChg chg="mod">
          <ac:chgData name="Chad Williams" userId="618f96a3-8672-4e43-ae03-eeed93bb7387" providerId="ADAL" clId="{DFF2BB08-185E-495B-B2A0-BE0942C7B81E}" dt="2026-07-23T21:20:59.131" v="1912"/>
          <ac:spMkLst>
            <pc:docMk/>
            <pc:sldMk cId="2682391999" sldId="363"/>
            <ac:spMk id="37" creationId="{85B33264-7115-7116-73ED-1514D944BD02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1:11.467" v="1917" actId="207"/>
        <pc:sldMkLst>
          <pc:docMk/>
          <pc:sldMk cId="1909141435" sldId="364"/>
        </pc:sldMkLst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8" creationId="{5D48600B-92D3-9128-8F84-A9C0D5CAB75A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11" creationId="{B849F6C2-51DB-7F96-152C-A15AB8DDBE83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13" creationId="{1D310506-EBD4-C8C1-5273-90F69E689298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14" creationId="{2557A2BD-E21A-CC57-867D-345C30F39611}"/>
          </ac:spMkLst>
        </pc:spChg>
        <pc:spChg chg="mod">
          <ac:chgData name="Chad Williams" userId="618f96a3-8672-4e43-ae03-eeed93bb7387" providerId="ADAL" clId="{DFF2BB08-185E-495B-B2A0-BE0942C7B81E}" dt="2026-07-23T21:21:11.467" v="1917" actId="207"/>
          <ac:spMkLst>
            <pc:docMk/>
            <pc:sldMk cId="1909141435" sldId="364"/>
            <ac:spMk id="15" creationId="{C3FE48A4-3409-F957-1D2A-853423C7B01F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18" creationId="{9563CCC5-F695-B072-67AB-9882DE08C693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21" creationId="{314E241A-BD32-FE65-98F7-71DE4FFBF06A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30" creationId="{DFBA1507-6D87-53AC-5791-B311F1A95912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31" creationId="{64A91820-5917-EA00-2E09-FC0E6EAA2B23}"/>
          </ac:spMkLst>
        </pc:spChg>
        <pc:spChg chg="mod">
          <ac:chgData name="Chad Williams" userId="618f96a3-8672-4e43-ae03-eeed93bb7387" providerId="ADAL" clId="{DFF2BB08-185E-495B-B2A0-BE0942C7B81E}" dt="2026-07-23T21:21:09.227" v="1916"/>
          <ac:spMkLst>
            <pc:docMk/>
            <pc:sldMk cId="1909141435" sldId="364"/>
            <ac:spMk id="33" creationId="{2F483F16-2A8F-5680-F5A5-74A84FC52BED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1:24.896" v="1921" actId="207"/>
        <pc:sldMkLst>
          <pc:docMk/>
          <pc:sldMk cId="4088542375" sldId="365"/>
        </pc:sldMkLst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13" creationId="{2D092327-7331-1972-4BEA-F264A44EE857}"/>
          </ac:spMkLst>
        </pc:spChg>
        <pc:spChg chg="mod">
          <ac:chgData name="Chad Williams" userId="618f96a3-8672-4e43-ae03-eeed93bb7387" providerId="ADAL" clId="{DFF2BB08-185E-495B-B2A0-BE0942C7B81E}" dt="2026-07-23T21:21:24.896" v="1921" actId="207"/>
          <ac:spMkLst>
            <pc:docMk/>
            <pc:sldMk cId="4088542375" sldId="365"/>
            <ac:spMk id="18" creationId="{F6758209-C202-87B8-D3AE-9A4507B21D52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20" creationId="{FCDDB37D-9B88-8F6B-E544-0EE0DDDCBBE8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22" creationId="{D2CED312-64E6-5E8E-702D-9AAB7E58F117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23" creationId="{A37B2161-F65B-7227-C5C7-2525A6D0E2CB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30" creationId="{6D9AAEE0-B608-FBD1-D890-826DF4E2D6FF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31" creationId="{81A976A1-DA8A-7F38-B2A9-73EA039BBACE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32" creationId="{5977753D-8C97-F375-10BC-6A7EB8F4C03B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33" creationId="{1F5171A1-01A7-2D47-EE80-724CE8FA0603}"/>
          </ac:spMkLst>
        </pc:spChg>
        <pc:spChg chg="mod">
          <ac:chgData name="Chad Williams" userId="618f96a3-8672-4e43-ae03-eeed93bb7387" providerId="ADAL" clId="{DFF2BB08-185E-495B-B2A0-BE0942C7B81E}" dt="2026-07-23T21:21:21.430" v="1920"/>
          <ac:spMkLst>
            <pc:docMk/>
            <pc:sldMk cId="4088542375" sldId="365"/>
            <ac:spMk id="37" creationId="{C47DD281-92A7-C379-500D-2A68504CF479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1:37.292" v="1925" actId="207"/>
        <pc:sldMkLst>
          <pc:docMk/>
          <pc:sldMk cId="1419844385" sldId="366"/>
        </pc:sldMkLst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7" creationId="{7D4ED12A-7973-A167-8BAB-E656E71EEF37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8" creationId="{48DFF2BF-45CF-B67A-BAA6-2B3C94420EEE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13" creationId="{E7AF8B1A-8C45-FDC9-6499-534D83E53338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14" creationId="{7FF907D8-1969-BEE0-D50D-DC55E9B4EC05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18" creationId="{E6008F33-11FA-F6FE-2E29-A8A9A35C7013}"/>
          </ac:spMkLst>
        </pc:spChg>
        <pc:spChg chg="mod">
          <ac:chgData name="Chad Williams" userId="618f96a3-8672-4e43-ae03-eeed93bb7387" providerId="ADAL" clId="{DFF2BB08-185E-495B-B2A0-BE0942C7B81E}" dt="2026-07-23T21:21:37.292" v="1925" actId="207"/>
          <ac:spMkLst>
            <pc:docMk/>
            <pc:sldMk cId="1419844385" sldId="366"/>
            <ac:spMk id="20" creationId="{380F194F-DC2B-EA37-5291-A57C6DFB38A0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21" creationId="{A303861D-013C-6C14-869D-4935CB273203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23" creationId="{1FC80C2D-5CDE-9500-55BE-1523F016950F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31" creationId="{6A97DA75-1241-4453-0E2C-637C91B698F4}"/>
          </ac:spMkLst>
        </pc:spChg>
        <pc:spChg chg="mod">
          <ac:chgData name="Chad Williams" userId="618f96a3-8672-4e43-ae03-eeed93bb7387" providerId="ADAL" clId="{DFF2BB08-185E-495B-B2A0-BE0942C7B81E}" dt="2026-07-23T21:21:34.973" v="1924"/>
          <ac:spMkLst>
            <pc:docMk/>
            <pc:sldMk cId="1419844385" sldId="366"/>
            <ac:spMk id="35" creationId="{8E205420-1DFF-C6F9-4CAC-5755B728488D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20:50.841" v="1909" actId="207"/>
        <pc:sldMkLst>
          <pc:docMk/>
          <pc:sldMk cId="4086403539" sldId="367"/>
        </pc:sldMkLst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7" creationId="{3CED29DF-1B9D-DACC-EA9A-A78A2B7AD698}"/>
          </ac:spMkLst>
        </pc:spChg>
        <pc:spChg chg="mod">
          <ac:chgData name="Chad Williams" userId="618f96a3-8672-4e43-ae03-eeed93bb7387" providerId="ADAL" clId="{DFF2BB08-185E-495B-B2A0-BE0942C7B81E}" dt="2026-07-23T21:20:50.841" v="1909" actId="207"/>
          <ac:spMkLst>
            <pc:docMk/>
            <pc:sldMk cId="4086403539" sldId="367"/>
            <ac:spMk id="8" creationId="{FD3EFB28-1F36-0AE1-296A-ED49647A7754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13" creationId="{07B54E13-2584-A36D-5666-7A22D96885A8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14" creationId="{4BBF8158-CA48-44AD-D7AF-E637E60EEFCE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15" creationId="{40EECA0D-1C92-281D-9F46-F793A52FF781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16" creationId="{BA27F6E4-92E9-C4D2-9C96-376D90A8D674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20" creationId="{F2748505-8C90-E659-E36F-E1CB1FA27111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30" creationId="{CB25DB23-13F6-A968-1E3E-22BD0AAC4AAF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31" creationId="{B8F1D6B0-EC19-51B2-7C8E-10025464707F}"/>
          </ac:spMkLst>
        </pc:spChg>
        <pc:spChg chg="mod">
          <ac:chgData name="Chad Williams" userId="618f96a3-8672-4e43-ae03-eeed93bb7387" providerId="ADAL" clId="{DFF2BB08-185E-495B-B2A0-BE0942C7B81E}" dt="2026-07-23T21:20:47.438" v="1908"/>
          <ac:spMkLst>
            <pc:docMk/>
            <pc:sldMk cId="4086403539" sldId="367"/>
            <ac:spMk id="37" creationId="{2CA035C8-6ED2-9BBE-32B1-F1185B7C7B48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13:46.749" v="1809" actId="478"/>
        <pc:sldMkLst>
          <pc:docMk/>
          <pc:sldMk cId="1668283658" sldId="385"/>
        </pc:sldMkLst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20" creationId="{73A569DC-DCB9-C71F-0400-84787D2CB4B9}"/>
          </ac:spMkLst>
        </pc:spChg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33" creationId="{D19B0026-1205-C63F-0A61-D3D2E9B12DBB}"/>
          </ac:spMkLst>
        </pc:spChg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36" creationId="{5F3E8B6F-94DC-14EC-AEE6-4DD22E621604}"/>
          </ac:spMkLst>
        </pc:spChg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38" creationId="{BEDA1E4C-2E4F-FA0F-4797-86C99F0051DF}"/>
          </ac:spMkLst>
        </pc:spChg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39" creationId="{DDEA94B9-AAFE-6BAD-2697-914D0438BDD0}"/>
          </ac:spMkLst>
        </pc:spChg>
        <pc:spChg chg="mod">
          <ac:chgData name="Chad Williams" userId="618f96a3-8672-4e43-ae03-eeed93bb7387" providerId="ADAL" clId="{DFF2BB08-185E-495B-B2A0-BE0942C7B81E}" dt="2026-07-23T21:13:26.213" v="1806"/>
          <ac:spMkLst>
            <pc:docMk/>
            <pc:sldMk cId="1668283658" sldId="385"/>
            <ac:spMk id="41" creationId="{F10F3613-471A-E125-F031-D5AB9F7C65F4}"/>
          </ac:spMkLst>
        </pc:spChg>
      </pc:sldChg>
      <pc:sldChg chg="addSp delSp modSp mod">
        <pc:chgData name="Chad Williams" userId="618f96a3-8672-4e43-ae03-eeed93bb7387" providerId="ADAL" clId="{DFF2BB08-185E-495B-B2A0-BE0942C7B81E}" dt="2026-07-23T21:19:57.339" v="1892"/>
        <pc:sldMkLst>
          <pc:docMk/>
          <pc:sldMk cId="2862741692" sldId="386"/>
        </pc:sldMkLst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8" creationId="{7B59AF97-AFB3-C081-132A-72215518D29A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14" creationId="{0385AB0B-307E-B67F-5F00-3E5A83249412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15" creationId="{3C37E073-5950-62B5-14C0-CAE2652D28B4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16" creationId="{345B00B2-06A9-B420-A259-0DC27F006260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20" creationId="{37AF5E99-C762-BFD7-2F23-3E1C1170FED3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31" creationId="{5BFFB4FC-67FD-F064-4AF7-1DD4709EE4C2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32" creationId="{1275A9D0-EFA6-02FB-157B-F57B1ADAF4E1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33" creationId="{022D1484-E8EB-C042-969B-061D6DC160A4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36" creationId="{DE2D04F3-462D-9007-EB38-58785B4E0308}"/>
          </ac:spMkLst>
        </pc:spChg>
        <pc:spChg chg="mod">
          <ac:chgData name="Chad Williams" userId="618f96a3-8672-4e43-ae03-eeed93bb7387" providerId="ADAL" clId="{DFF2BB08-185E-495B-B2A0-BE0942C7B81E}" dt="2026-07-23T21:19:57.339" v="1892"/>
          <ac:spMkLst>
            <pc:docMk/>
            <pc:sldMk cId="2862741692" sldId="386"/>
            <ac:spMk id="37" creationId="{E22888E1-0566-30BF-5E1B-A956F04778EF}"/>
          </ac:spMkLst>
        </pc:spChg>
      </pc:sldChg>
      <pc:sldChg chg="addSp delSp modSp mod delAnim modAnim">
        <pc:chgData name="Chad Williams" userId="618f96a3-8672-4e43-ae03-eeed93bb7387" providerId="ADAL" clId="{DFF2BB08-185E-495B-B2A0-BE0942C7B81E}" dt="2026-07-23T21:28:23.976" v="2005"/>
        <pc:sldMkLst>
          <pc:docMk/>
          <pc:sldMk cId="1503335287" sldId="416"/>
        </pc:sldMkLst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36" creationId="{7788B7FD-1A6C-C4AE-DB04-830E4009C632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38" creationId="{751538BF-5E29-7734-AD78-07DE42181F77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40" creationId="{E577CF9A-BB46-C382-88D0-E810A95F5EEA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45" creationId="{B6654789-84FC-20A6-8C3F-AACF0F66E3C3}"/>
          </ac:spMkLst>
        </pc:spChg>
        <pc:spChg chg="mod">
          <ac:chgData name="Chad Williams" userId="618f96a3-8672-4e43-ae03-eeed93bb7387" providerId="ADAL" clId="{DFF2BB08-185E-495B-B2A0-BE0942C7B81E}" dt="2026-07-23T21:13:13.064" v="1803"/>
          <ac:spMkLst>
            <pc:docMk/>
            <pc:sldMk cId="1503335287" sldId="416"/>
            <ac:spMk id="46" creationId="{D52F7081-5820-B15D-FD11-0794235F2E60}"/>
          </ac:spMkLst>
        </pc:spChg>
        <pc:spChg chg="mod">
          <ac:chgData name="Chad Williams" userId="618f96a3-8672-4e43-ae03-eeed93bb7387" providerId="ADAL" clId="{DFF2BB08-185E-495B-B2A0-BE0942C7B81E}" dt="2026-07-23T21:13:13.064" v="1803"/>
          <ac:spMkLst>
            <pc:docMk/>
            <pc:sldMk cId="1503335287" sldId="416"/>
            <ac:spMk id="47" creationId="{6B4E655F-B0C5-E18D-B2B9-72959F0C31BF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48" creationId="{51F39CD9-8603-73F8-F185-745DE73FB088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49" creationId="{D9B2197D-D925-F830-F51E-E974AE93FC8D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50" creationId="{0A779CC3-B3E4-640B-3808-1EE94B6F6177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51" creationId="{DAF1352A-ED6E-2FEA-03C7-B84DE3482AD9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53" creationId="{3AC84DFB-E7DA-15C0-3DC3-C999621F8856}"/>
          </ac:spMkLst>
        </pc:spChg>
        <pc:spChg chg="mod topLvl">
          <ac:chgData name="Chad Williams" userId="618f96a3-8672-4e43-ae03-eeed93bb7387" providerId="ADAL" clId="{DFF2BB08-185E-495B-B2A0-BE0942C7B81E}" dt="2026-07-23T21:27:49.149" v="1998" actId="165"/>
          <ac:spMkLst>
            <pc:docMk/>
            <pc:sldMk cId="1503335287" sldId="416"/>
            <ac:spMk id="54" creationId="{F9C9CB1F-9989-3FEE-3661-0A189E8FD326}"/>
          </ac:spMkLst>
        </pc:spChg>
      </pc:sldChg>
      <pc:sldChg chg="addSp delSp modSp mod">
        <pc:chgData name="Chad Williams" userId="618f96a3-8672-4e43-ae03-eeed93bb7387" providerId="ADAL" clId="{DFF2BB08-185E-495B-B2A0-BE0942C7B81E}" dt="2026-08-17T19:28:43.761" v="2033" actId="167"/>
        <pc:sldMkLst>
          <pc:docMk/>
          <pc:sldMk cId="1927493404" sldId="446"/>
        </pc:sldMkLst>
        <pc:grpChg chg="del">
          <ac:chgData name="Chad Williams" userId="618f96a3-8672-4e43-ae03-eeed93bb7387" providerId="ADAL" clId="{DFF2BB08-185E-495B-B2A0-BE0942C7B81E}" dt="2026-08-17T19:28:22.950" v="2026" actId="478"/>
          <ac:grpSpMkLst>
            <pc:docMk/>
            <pc:sldMk cId="1927493404" sldId="446"/>
            <ac:grpSpMk id="5" creationId="{C0D09B81-4ED5-A4B8-A453-9A8A0C5E5EC3}"/>
          </ac:grpSpMkLst>
        </pc:grpChg>
        <pc:picChg chg="add mod ord">
          <ac:chgData name="Chad Williams" userId="618f96a3-8672-4e43-ae03-eeed93bb7387" providerId="ADAL" clId="{DFF2BB08-185E-495B-B2A0-BE0942C7B81E}" dt="2026-08-17T19:28:43.761" v="2033" actId="167"/>
          <ac:picMkLst>
            <pc:docMk/>
            <pc:sldMk cId="1927493404" sldId="446"/>
            <ac:picMk id="7" creationId="{04A48A79-75E6-4947-7CE7-882C30322B9A}"/>
          </ac:picMkLst>
        </pc:picChg>
      </pc:sldChg>
      <pc:sldChg chg="addSp delSp modSp add mod">
        <pc:chgData name="Chad Williams" userId="618f96a3-8672-4e43-ae03-eeed93bb7387" providerId="ADAL" clId="{DFF2BB08-185E-495B-B2A0-BE0942C7B81E}" dt="2026-07-23T21:20:08.774" v="1895"/>
        <pc:sldMkLst>
          <pc:docMk/>
          <pc:sldMk cId="4275382816" sldId="451"/>
        </pc:sldMkLst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7" creationId="{32DB9A6A-1E08-2711-6B80-90D74F76AA82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11" creationId="{3F7E11B1-932D-42BC-A91A-912ABE44544D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18" creationId="{5BAA7207-7172-150E-5DB4-77D8819A98C3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19" creationId="{CFFFBDD7-B30A-0748-D648-00EF97A51B41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20" creationId="{0AB856D2-F582-F79E-7AA6-8C759C922C22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22" creationId="{C05D7CBA-920A-0B6C-3DBF-E6484845E17D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23" creationId="{89DB3FE2-271D-2E7E-B0B5-DC4966666DB6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30" creationId="{5D84CF87-C1C0-A8B4-4330-471E56A96918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31" creationId="{AD85F5E4-3180-C46A-1570-1FC1BBFDE6D2}"/>
          </ac:spMkLst>
        </pc:spChg>
        <pc:spChg chg="mod">
          <ac:chgData name="Chad Williams" userId="618f96a3-8672-4e43-ae03-eeed93bb7387" providerId="ADAL" clId="{DFF2BB08-185E-495B-B2A0-BE0942C7B81E}" dt="2026-07-23T21:20:08.774" v="1895"/>
          <ac:spMkLst>
            <pc:docMk/>
            <pc:sldMk cId="4275382816" sldId="451"/>
            <ac:spMk id="36" creationId="{AFD4E20F-C1AB-9EBA-5964-91ACBB540F0D}"/>
          </ac:spMkLst>
        </pc:spChg>
      </pc:sldChg>
      <pc:sldMasterChg chg="delSldLayout">
        <pc:chgData name="Chad Williams" userId="618f96a3-8672-4e43-ae03-eeed93bb7387" providerId="ADAL" clId="{DFF2BB08-185E-495B-B2A0-BE0942C7B81E}" dt="2026-07-23T21:25:46.275" v="1996" actId="47"/>
        <pc:sldMasterMkLst>
          <pc:docMk/>
          <pc:sldMasterMk cId="2475574151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738CA-2C8A-4476-B12B-20BBD3A7715D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34402-63D3-4358-B894-B470F29D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4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4402-63D3-4358-B894-B470F29D125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5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4402-63D3-4358-B894-B470F29D125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71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4402-63D3-4358-B894-B470F29D1253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81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4402-63D3-4358-B894-B470F29D1253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7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D499-BA2D-0949-8834-A666BCDFE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8DD3-4419-7A4F-BA60-4B1CEB63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C9FC-503C-364F-8640-E11A46B0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AFD8-5557-F540-A707-13E63FAB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0CB5F-5A66-A340-B2DB-E5B4B05B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0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2B9A-C5FD-1041-869E-806B35D8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742A4-CD6B-474B-83B9-DDCD7D78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BA51-DA01-0440-8191-9E891380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E111C-BA18-3D49-84A1-22CE7C86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61D7-C52A-F743-85AB-4A5832DF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7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1941-B4A0-3347-B5EB-2AC03BF3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9283-E424-CA45-BF06-B7FF3D42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5A99B-C3D9-5E48-9662-F54F4969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C30CE-E8CF-4044-B1DF-4CE46EFD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4E60-4470-344D-9B42-51D48034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6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7F85-807B-EE42-9E32-58AD8B6E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45CE3-F47D-6D45-AC01-BD502C7D3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95511-5417-FF42-A9BE-3B75AC7FA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48DFF-B49F-124C-A261-569D0EDA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C2AA9-E81E-FD45-A99C-39E3E361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46B72-1961-5348-8AC7-AD9CD134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6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848B-6C57-FC43-A069-B82782E0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B8FEC-B9FE-0246-A6ED-F060542B9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E785-D88F-8544-8797-A05067CAF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28CC2-AE15-DF40-B32E-6977503A0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DE7A4-69F2-7649-9499-AE87B996E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64833-5B62-9E4E-BE25-59B58363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80F06-D883-A941-B6D7-60103B56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2FC0B-B868-A049-B02A-DD657CC2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B967-107D-494E-83F5-37CE1E23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DC5EF-A528-6044-AB98-A9F200E50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84DDD-2AEE-B147-B1F2-383067FB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6E7AB-1C2F-F849-A752-2BFB68EF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9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6E39A-3340-8D49-86B1-4FD08241D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E3D5C-DB37-664B-96B5-CCAF122D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4CB78-8427-AA41-A212-03F582F9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7E7B-C88D-5C4B-85C4-3849A698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BBB0-0299-4E4A-987F-4213D6EBD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1F619-4346-B147-9533-C28C669B8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A25B6-9976-724D-987B-2CC5A2B9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E543E-20B3-964D-B467-BD86F6A4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C2858-190B-5A44-827D-6342E550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4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4CFE-A2FD-FA4F-930E-10BA5F5A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62911-7303-0D40-BDD5-2F915C782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02BED-E92A-0F4F-8D9E-C2D6B3BF7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ABA23-F49A-044D-BCBA-4EAE6E4E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FF2D9-C4C3-7D49-B911-67322B12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80E2D-42D3-A84C-9B12-E84F07F8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4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871D-D9B7-DA40-A08E-92254117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E7B58-704C-B446-AAF2-4F0922B01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27AF-611A-BC49-93E0-14F679BB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0B494-6FCE-2048-9DF9-718DEDF9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E0CC4-BAD7-4B4C-A231-6D7EDBF5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7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D60F1-F274-0745-B5A1-3D1764182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53FDB-D8FF-714F-8137-87AAF96B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BAEBE-8581-5A49-BC60-AE4C4254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01A90-EEC5-C941-A56E-FF866AE8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641CD-E9F7-3144-B722-A92A757A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00112-C9A2-B644-AEC0-421B6CAB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668C1-BE07-D64A-B76B-226564706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AE44B-75B9-C94D-8642-65C3F05AE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EA4F9-9C44-F64A-A5F4-473E91D1B58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E72A4-09AC-0247-881E-51BC1CB67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63B3A-238D-1947-BCE4-F8FCEED7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84550-E6AE-A348-9EAC-1CFE59F1F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7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0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0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youtu.be/SplCk-t1BeA?si=cw514mDz402D75I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hyperlink" Target="https://youtu.be/SzZ6GpcfoQY?si=-zX99elpNHsX9Pw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315" y="1122363"/>
            <a:ext cx="6878304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 </a:t>
            </a:r>
            <a:b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&amp; Variability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7187" y="3602038"/>
            <a:ext cx="6404813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297783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B1B6-F358-95AE-9C25-085045A5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27EB-3E07-38A4-13CD-C20A5E54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80714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If we </a:t>
            </a:r>
            <a:r>
              <a:rPr lang="en-US" b="1" u="sng" dirty="0"/>
              <a:t>do</a:t>
            </a:r>
            <a:r>
              <a:rPr lang="en-US" b="1" dirty="0"/>
              <a:t> any math more complex than addition or subtraction</a:t>
            </a:r>
          </a:p>
          <a:p>
            <a:pPr lvl="1"/>
            <a:r>
              <a:rPr lang="en-US" dirty="0"/>
              <a:t>e.g., multiplication, squaring</a:t>
            </a:r>
          </a:p>
          <a:p>
            <a:r>
              <a:rPr lang="en-US" dirty="0"/>
              <a:t>Computations should include 4 decimals</a:t>
            </a:r>
          </a:p>
          <a:p>
            <a:r>
              <a:rPr lang="en-US" dirty="0"/>
              <a:t>Report to 2 decimals</a:t>
            </a:r>
          </a:p>
          <a:p>
            <a:r>
              <a:rPr lang="en-US" dirty="0"/>
              <a:t>Exception: Report p-values to as many decimals as our tables provide us (Unit 3.1.)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If we </a:t>
            </a:r>
            <a:r>
              <a:rPr lang="en-US" b="1" u="sng" dirty="0"/>
              <a:t>do not </a:t>
            </a:r>
            <a:r>
              <a:rPr lang="en-US" b="1" dirty="0"/>
              <a:t>do any math more complex than addition or subtraction</a:t>
            </a:r>
          </a:p>
          <a:p>
            <a:r>
              <a:rPr lang="en-US" dirty="0"/>
              <a:t>Report the number of decimals as given</a:t>
            </a:r>
          </a:p>
          <a:p>
            <a:pPr lvl="1"/>
            <a:r>
              <a:rPr lang="en-US" dirty="0"/>
              <a:t>Whole numbers stay whole numbers (30 -&gt; 30)</a:t>
            </a:r>
          </a:p>
          <a:p>
            <a:pPr lvl="1"/>
            <a:r>
              <a:rPr lang="en-US" dirty="0"/>
              <a:t>Numbers with decimals keep those decimals (30.56 -&gt; 30.56)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A4D5-72E1-BD15-DFAB-71FB89CC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83F0E15-4BD6-67C3-DDB0-1948AC20971C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04E3FC-3539-4138-FB20-22A4523625EC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2B6FBF4-26DF-1DA1-5DC1-D38541DB42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8C8A33A-480F-6E17-A224-0D471D80B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A6C2A7C-1BC1-E5DE-7243-778EF6384A92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D1529B6-6007-CACE-D48F-8FB9C2B79177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3195647-9CF2-1E1F-9F3B-DED5264145D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308B3B0-383D-FC88-2F65-BE0F0B76925D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B1540DD-0619-953D-8E5E-0B65176C9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1CDE749-E2BB-78A1-96B0-1A1FE8060E4E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C4F530-DB1B-65D8-6D41-A0D02A99D6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E758DC-A715-DB94-52E2-D622D92CA1F2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12BEDB-8A5F-35BF-6A6B-A7F4E75DCF7D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61F1BBB-9252-33C5-54F8-BB939EAE5C8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434C64-64BF-FEE2-77AE-F6083D4F4330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DFAFE5-F464-57B5-2CB3-739981344B0B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08FC50CC-067C-F11B-D498-2DB861F0F9FA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253203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3E3D-1932-704E-AFC0-FC5F293C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66D50-5073-DC4E-A61C-A5596779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239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Descriptive Statistics</a:t>
            </a:r>
            <a:r>
              <a:rPr lang="en-US" sz="3600" dirty="0"/>
              <a:t>: Defines a set of data using metrics</a:t>
            </a:r>
          </a:p>
          <a:p>
            <a:r>
              <a:rPr lang="en-US" sz="3600" b="1" dirty="0"/>
              <a:t>Central Tendency</a:t>
            </a:r>
            <a:r>
              <a:rPr lang="en-US" sz="3600" dirty="0"/>
              <a:t>: A measure that best represents the data</a:t>
            </a:r>
          </a:p>
          <a:p>
            <a:pPr lvl="1"/>
            <a:r>
              <a:rPr lang="en-US" sz="3200" dirty="0"/>
              <a:t>Mode, Median, Mean</a:t>
            </a:r>
          </a:p>
          <a:p>
            <a:r>
              <a:rPr lang="en-US" sz="3600" b="1" dirty="0"/>
              <a:t>Variability</a:t>
            </a:r>
            <a:r>
              <a:rPr lang="en-US" sz="3600" dirty="0"/>
              <a:t>: A measure that describes the spread of the data</a:t>
            </a:r>
          </a:p>
          <a:p>
            <a:pPr lvl="1"/>
            <a:r>
              <a:rPr lang="en-US" sz="3200" dirty="0"/>
              <a:t>Range, SIQR, MAD, SS, SD</a:t>
            </a:r>
            <a:r>
              <a:rPr lang="en-US" sz="3200" baseline="30000" dirty="0"/>
              <a:t>2</a:t>
            </a:r>
            <a:r>
              <a:rPr lang="en-US" sz="3200" dirty="0"/>
              <a:t>, SD</a:t>
            </a:r>
          </a:p>
        </p:txBody>
      </p:sp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10B2CA25-2E1F-9E4F-8848-819A14D8C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401" y="2030752"/>
            <a:ext cx="4907599" cy="352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7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17CF-2169-8043-8073-BA292A47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8CBB0C0-C6B1-3C41-BB0E-3BB1865EE005}"/>
              </a:ext>
            </a:extLst>
          </p:cNvPr>
          <p:cNvSpPr/>
          <p:nvPr/>
        </p:nvSpPr>
        <p:spPr>
          <a:xfrm>
            <a:off x="3270325" y="1258645"/>
            <a:ext cx="6228677" cy="5335793"/>
          </a:xfrm>
          <a:custGeom>
            <a:avLst/>
            <a:gdLst>
              <a:gd name="connsiteX0" fmla="*/ 0 w 6228677"/>
              <a:gd name="connsiteY0" fmla="*/ 43030 h 5335793"/>
              <a:gd name="connsiteX1" fmla="*/ 96819 w 6228677"/>
              <a:gd name="connsiteY1" fmla="*/ 527124 h 5335793"/>
              <a:gd name="connsiteX2" fmla="*/ 4130936 w 6228677"/>
              <a:gd name="connsiteY2" fmla="*/ 623943 h 5335793"/>
              <a:gd name="connsiteX3" fmla="*/ 4421393 w 6228677"/>
              <a:gd name="connsiteY3" fmla="*/ 2011680 h 5335793"/>
              <a:gd name="connsiteX4" fmla="*/ 6067313 w 6228677"/>
              <a:gd name="connsiteY4" fmla="*/ 5335793 h 5335793"/>
              <a:gd name="connsiteX5" fmla="*/ 6228677 w 6228677"/>
              <a:gd name="connsiteY5" fmla="*/ 0 h 5335793"/>
              <a:gd name="connsiteX6" fmla="*/ 0 w 6228677"/>
              <a:gd name="connsiteY6" fmla="*/ 43030 h 533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8677" h="5335793">
                <a:moveTo>
                  <a:pt x="0" y="43030"/>
                </a:moveTo>
                <a:lnTo>
                  <a:pt x="96819" y="527124"/>
                </a:lnTo>
                <a:lnTo>
                  <a:pt x="4130936" y="623943"/>
                </a:lnTo>
                <a:lnTo>
                  <a:pt x="4421393" y="2011680"/>
                </a:lnTo>
                <a:lnTo>
                  <a:pt x="6067313" y="5335793"/>
                </a:lnTo>
                <a:lnTo>
                  <a:pt x="6228677" y="0"/>
                </a:lnTo>
                <a:lnTo>
                  <a:pt x="0" y="4303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8A7DF8E-D405-1248-AAA6-2BA936E7D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739527"/>
              </p:ext>
            </p:extLst>
          </p:nvPr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89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246C-04F8-8A0A-1DC5-74AF53AE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1FF3-9BC5-FF1F-D5FB-747DB47E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AFE562A-C185-341D-7D7F-208C5EDF63F8}"/>
              </a:ext>
            </a:extLst>
          </p:cNvPr>
          <p:cNvSpPr/>
          <p:nvPr/>
        </p:nvSpPr>
        <p:spPr>
          <a:xfrm>
            <a:off x="3270325" y="1258645"/>
            <a:ext cx="6228677" cy="5335793"/>
          </a:xfrm>
          <a:custGeom>
            <a:avLst/>
            <a:gdLst>
              <a:gd name="connsiteX0" fmla="*/ 0 w 6228677"/>
              <a:gd name="connsiteY0" fmla="*/ 43030 h 5335793"/>
              <a:gd name="connsiteX1" fmla="*/ 96819 w 6228677"/>
              <a:gd name="connsiteY1" fmla="*/ 527124 h 5335793"/>
              <a:gd name="connsiteX2" fmla="*/ 4130936 w 6228677"/>
              <a:gd name="connsiteY2" fmla="*/ 623943 h 5335793"/>
              <a:gd name="connsiteX3" fmla="*/ 4421393 w 6228677"/>
              <a:gd name="connsiteY3" fmla="*/ 2011680 h 5335793"/>
              <a:gd name="connsiteX4" fmla="*/ 6067313 w 6228677"/>
              <a:gd name="connsiteY4" fmla="*/ 5335793 h 5335793"/>
              <a:gd name="connsiteX5" fmla="*/ 6228677 w 6228677"/>
              <a:gd name="connsiteY5" fmla="*/ 0 h 5335793"/>
              <a:gd name="connsiteX6" fmla="*/ 0 w 6228677"/>
              <a:gd name="connsiteY6" fmla="*/ 43030 h 533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8677" h="5335793">
                <a:moveTo>
                  <a:pt x="0" y="43030"/>
                </a:moveTo>
                <a:lnTo>
                  <a:pt x="96819" y="527124"/>
                </a:lnTo>
                <a:lnTo>
                  <a:pt x="4130936" y="623943"/>
                </a:lnTo>
                <a:lnTo>
                  <a:pt x="4421393" y="2011680"/>
                </a:lnTo>
                <a:lnTo>
                  <a:pt x="6067313" y="5335793"/>
                </a:lnTo>
                <a:lnTo>
                  <a:pt x="6228677" y="0"/>
                </a:lnTo>
                <a:lnTo>
                  <a:pt x="0" y="4303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8C86120-B06E-4D19-2704-D2F9A9E7643C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pic>
        <p:nvPicPr>
          <p:cNvPr id="5" name="Picture 8" descr="Pin on first siteSUP paddle boards">
            <a:extLst>
              <a:ext uri="{FF2B5EF4-FFF2-40B4-BE49-F238E27FC236}">
                <a16:creationId xmlns:a16="http://schemas.microsoft.com/office/drawing/2014/main" id="{FD5665BB-36BD-A04D-06C6-19A35C630B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83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AE9B-22BD-556E-81C9-EADA8928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D0C5BDB6-9522-DB28-0728-F0A0E356D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5780EA-C398-8A2C-21A5-E4DC7F43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F074F17-DDDF-E2D8-21F2-9A273359C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775349"/>
              </p:ext>
            </p:extLst>
          </p:nvPr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FE565E2-49AF-7229-6214-B93B40C7D28D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90C15-6D6B-87BC-C83E-93E579C285E3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A26A9-44FB-52C6-FC4D-DFC7C16BF418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18A1D-605C-3A2B-5055-F295D7628651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213FDB-611B-B12F-0BFC-A6C89434E361}"/>
              </a:ext>
            </a:extLst>
          </p:cNvPr>
          <p:cNvSpPr/>
          <p:nvPr/>
        </p:nvSpPr>
        <p:spPr>
          <a:xfrm>
            <a:off x="845820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C72B00-5D84-37C3-746B-88E5318346D9}"/>
              </a:ext>
            </a:extLst>
          </p:cNvPr>
          <p:cNvSpPr/>
          <p:nvPr/>
        </p:nvSpPr>
        <p:spPr>
          <a:xfrm>
            <a:off x="3649980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93EDE7-1F2E-A896-952C-83500ECEC17E}"/>
              </a:ext>
            </a:extLst>
          </p:cNvPr>
          <p:cNvSpPr/>
          <p:nvPr/>
        </p:nvSpPr>
        <p:spPr>
          <a:xfrm>
            <a:off x="1775460" y="29323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99CEE1-8B00-000A-448C-ABC51CF106D9}"/>
              </a:ext>
            </a:extLst>
          </p:cNvPr>
          <p:cNvSpPr/>
          <p:nvPr/>
        </p:nvSpPr>
        <p:spPr>
          <a:xfrm>
            <a:off x="845820" y="4830002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01B7-C54B-010F-8725-F9642D9A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43E15128-7447-CF7D-7232-5A1EE62476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AE3E4-1AB1-208F-F177-4758908D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C32C36F-92AD-7779-0F51-DC8C7D1816EA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09DACB-D7E9-1158-B50B-E9E41293C3E8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B505B-EA88-26FD-B899-44BA00DB722C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2EAAE-E525-875D-E9A9-E1D5C81C4334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24218-2062-5F04-6D6C-4426E353E7AE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C416A-78B2-FAD3-0259-AA30738FCA09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91CB0-B149-80FB-9C57-6DA0AFB934C6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8AEEE-A366-158D-734B-9442CCF233C8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D32EDA-522E-62FD-383C-8FBBF2C36976}"/>
              </a:ext>
            </a:extLst>
          </p:cNvPr>
          <p:cNvSpPr/>
          <p:nvPr/>
        </p:nvSpPr>
        <p:spPr>
          <a:xfrm>
            <a:off x="1775460" y="20179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247C8B-36EB-F538-4D58-5144A7079CA1}"/>
              </a:ext>
            </a:extLst>
          </p:cNvPr>
          <p:cNvSpPr/>
          <p:nvPr/>
        </p:nvSpPr>
        <p:spPr>
          <a:xfrm>
            <a:off x="841214" y="296118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93C0CC-0AAD-F69D-25E4-3695D7F390E1}"/>
              </a:ext>
            </a:extLst>
          </p:cNvPr>
          <p:cNvSpPr/>
          <p:nvPr/>
        </p:nvSpPr>
        <p:spPr>
          <a:xfrm>
            <a:off x="1775460" y="38818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9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28A1-9D8E-1DB6-34B5-7E49E9A6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4554644D-8E5E-3F8B-B378-6F46BD7833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751DA-531A-9378-DDD6-55221612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95E7664-D1D2-1082-E04D-353AB2E4CF1C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59D2EFA-6215-297D-E63F-CEABF6DCBAFC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28259-1EF7-2445-DC6D-15AAFCD7AA74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DE971-9077-D139-E959-8C1BC1FBAB80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63C5B-EFE0-2CFB-CBBD-B4D2E02187E8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1195D0-E02B-52EE-777E-5B406CF33CF4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6E399-F7D2-D834-7049-658ACF1E0BEB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BEDB61-086E-1E48-A515-38CE4390221D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6651C3-D252-F4A4-767E-C533B3B190A2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64F7A5-B35F-35A4-CB2E-2946BAB1BAA7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B94073-8F20-CE20-8F56-D14BC2349322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48F33-E499-D6C1-A220-53C6B09A0D00}"/>
              </a:ext>
            </a:extLst>
          </p:cNvPr>
          <p:cNvSpPr/>
          <p:nvPr/>
        </p:nvSpPr>
        <p:spPr>
          <a:xfrm>
            <a:off x="876300" y="38818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AAF25F-0B47-9F59-58F1-9B706172CD3B}"/>
              </a:ext>
            </a:extLst>
          </p:cNvPr>
          <p:cNvSpPr/>
          <p:nvPr/>
        </p:nvSpPr>
        <p:spPr>
          <a:xfrm>
            <a:off x="2720340" y="2965407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EBC13E-AD2A-2FB7-75FD-B39710823AAB}"/>
              </a:ext>
            </a:extLst>
          </p:cNvPr>
          <p:cNvSpPr/>
          <p:nvPr/>
        </p:nvSpPr>
        <p:spPr>
          <a:xfrm>
            <a:off x="2720340" y="481776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8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4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EC81-D2A6-BC5A-213F-52DBC623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A95F60CA-A103-FEAB-22FA-29A7BA27E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35BD35-AC65-55E4-BBF5-BBC019E4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DCD7220-D881-C9FD-CA62-12D22109B079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3AAB44E-8ADE-95CC-2FC8-8F164B3C62C7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5717C-19B9-C3BC-D786-860873035B4B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3E995-BA90-CB9A-B2BD-B4ED86EB8A78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0FD76-5244-CF01-D725-692A78D0B364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88C87-EC93-36D9-E3E1-52033CD92B1E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6957F-29A8-BDAB-D217-9A0EB665DDBE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936785-1713-13A5-9D54-C8911F97C27A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EFC9B4-3551-C2F0-707E-2DB12955C503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245DF-17DC-515D-A6C9-3627DAB88F5F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CAA085-B3B2-1A03-B8C3-F9BA19C34AF5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09639B-74F0-94A5-60CA-5730FB450CB5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ACF85F-8DF6-7652-FA05-0EEFBE193227}"/>
              </a:ext>
            </a:extLst>
          </p:cNvPr>
          <p:cNvSpPr/>
          <p:nvPr/>
        </p:nvSpPr>
        <p:spPr>
          <a:xfrm>
            <a:off x="97625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31DD3E-9BEE-4350-52C1-B478E70F90FC}"/>
              </a:ext>
            </a:extLst>
          </p:cNvPr>
          <p:cNvSpPr/>
          <p:nvPr/>
        </p:nvSpPr>
        <p:spPr>
          <a:xfrm>
            <a:off x="2695474" y="38818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761116-5D6E-1020-A1AE-30E26016D03F}"/>
              </a:ext>
            </a:extLst>
          </p:cNvPr>
          <p:cNvSpPr/>
          <p:nvPr/>
        </p:nvSpPr>
        <p:spPr>
          <a:xfrm>
            <a:off x="3635806" y="481776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03ED-D6C2-F8DF-27FA-BD5A891B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E5CCDBD4-9E0A-E424-8B41-7EEFFC18AE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6552B9-32A7-F502-DE99-26CCE620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02A92C2-1427-BFDB-DADD-28C7CD719E57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B296CA9-B0BC-66D1-B6F9-57EA77DE6E4A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94767-4855-6196-465D-C0AB998BA881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921B0-4CB1-56BD-D7C1-80D999B17DC0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4558A-4269-2187-5517-5F40593E7F17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7CAB64-6707-D8F3-358D-627EEE738883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B44AB7-5A6F-9691-93F7-3A97732976E0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C5EAE4-7884-4BBC-FFE2-82625A2B7EAF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A0370-6AED-330C-6BF9-14263CE0D4B7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7AB9-27BE-CFD9-0156-0F0046A04D33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9FF97E-3871-1339-19A2-22FB5CF729B9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AE26B6-3F31-DA1A-C6A4-D1D42C3C7FCE}"/>
              </a:ext>
            </a:extLst>
          </p:cNvPr>
          <p:cNvSpPr/>
          <p:nvPr/>
        </p:nvSpPr>
        <p:spPr>
          <a:xfrm>
            <a:off x="61074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809E93-6389-BD75-9F88-D7F22EB654BE}"/>
              </a:ext>
            </a:extLst>
          </p:cNvPr>
          <p:cNvSpPr/>
          <p:nvPr/>
        </p:nvSpPr>
        <p:spPr>
          <a:xfrm>
            <a:off x="6109616" y="443184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7C3060-645C-0EE0-F1DD-5C3A81084740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7B07C-C603-DFCA-BA89-392EE280A05F}"/>
              </a:ext>
            </a:extLst>
          </p:cNvPr>
          <p:cNvSpPr/>
          <p:nvPr/>
        </p:nvSpPr>
        <p:spPr>
          <a:xfrm>
            <a:off x="97625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A3CC26-B5B3-B571-313E-2F5BB13626FD}"/>
              </a:ext>
            </a:extLst>
          </p:cNvPr>
          <p:cNvSpPr/>
          <p:nvPr/>
        </p:nvSpPr>
        <p:spPr>
          <a:xfrm>
            <a:off x="1806255" y="481776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78BBDE-BE73-1967-8FCA-57177B16B4B9}"/>
              </a:ext>
            </a:extLst>
          </p:cNvPr>
          <p:cNvSpPr/>
          <p:nvPr/>
        </p:nvSpPr>
        <p:spPr>
          <a:xfrm>
            <a:off x="2723334" y="1996885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9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F80D-4FBD-D431-A8EF-B44B4235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57772982-774B-D61F-DEF7-61CFBF68DC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1A20D5-0DFB-A78E-FF9D-E0CE773C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9EFCCAF-AD95-80C7-BC73-9D29817B22D5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63EFA8D-9C72-F8BF-EAFC-ED2FCB848673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DBF19-2B5D-0329-D129-EEC177320F90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5B75A-312A-8FA6-97D5-FC69679468A7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E1101-D960-38C0-B5A3-E0AA66E781C5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52422-DE5A-86FF-436A-918988F1DBF2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33FB0-E3A1-076F-1784-5C44ED26A536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2E310-FBBD-7A3E-BBB9-632A2A1C77C8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9BAD2-6161-7D4F-E0B8-5FDBBB8C22E0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DDF55-2118-84CA-D722-68E512AA2155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5B5E3-7269-D400-97D2-D3130E6E9B6D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E38A72-AAFB-42A4-3AF9-AF42A489C1FE}"/>
              </a:ext>
            </a:extLst>
          </p:cNvPr>
          <p:cNvSpPr/>
          <p:nvPr/>
        </p:nvSpPr>
        <p:spPr>
          <a:xfrm>
            <a:off x="61074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4409E1-D365-F3EA-69A3-5CCA20B1C519}"/>
              </a:ext>
            </a:extLst>
          </p:cNvPr>
          <p:cNvSpPr/>
          <p:nvPr/>
        </p:nvSpPr>
        <p:spPr>
          <a:xfrm>
            <a:off x="6109616" y="443184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768F24-8106-09A5-1ACF-7B658EFB6B78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6A3A9-9ADE-DE70-BBFD-116DBE614BCA}"/>
              </a:ext>
            </a:extLst>
          </p:cNvPr>
          <p:cNvSpPr/>
          <p:nvPr/>
        </p:nvSpPr>
        <p:spPr>
          <a:xfrm>
            <a:off x="97625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E85CD9-3045-5269-54AC-FDA625CB0437}"/>
              </a:ext>
            </a:extLst>
          </p:cNvPr>
          <p:cNvSpPr/>
          <p:nvPr/>
        </p:nvSpPr>
        <p:spPr>
          <a:xfrm>
            <a:off x="106769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B4A864-2950-89F5-9ACA-296A6DB43C19}"/>
              </a:ext>
            </a:extLst>
          </p:cNvPr>
          <p:cNvSpPr/>
          <p:nvPr/>
        </p:nvSpPr>
        <p:spPr>
          <a:xfrm>
            <a:off x="3638004" y="2936532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5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EDCD-65E8-935B-402E-9E173453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2B17DBF7-C472-6657-566F-586A24542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CC6D56-6453-1626-461E-C5688811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C221B58-EAB1-118E-8820-79F498C25F94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E3B8B97-DE1C-EBA6-65EC-DDEB80BA6E3D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BAFE9-A9C3-4C29-AEE2-5F1F7C39FBEF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335E3-345B-FFF6-49C2-0BA33009A565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2C0E33-2968-0BB9-3208-2F1CAE579240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30282-E061-C784-7AE6-D667FC88C9CE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A2F32-F57C-6B67-CF2A-B0EB786D78F0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D7D22-C028-AE9F-D9F8-29A00DF72D40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4237C-EAE2-C63A-1080-F7198D45BB70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C4E05-9023-BBF0-66E9-5606E5A4181D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B593B-F45B-DE52-BC51-09945BFD941D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93D10F-6E94-EC5C-F894-3F151C27EBC7}"/>
              </a:ext>
            </a:extLst>
          </p:cNvPr>
          <p:cNvSpPr/>
          <p:nvPr/>
        </p:nvSpPr>
        <p:spPr>
          <a:xfrm>
            <a:off x="61074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8D8CC6-4A85-C00C-A594-F7F2189C0188}"/>
              </a:ext>
            </a:extLst>
          </p:cNvPr>
          <p:cNvSpPr/>
          <p:nvPr/>
        </p:nvSpPr>
        <p:spPr>
          <a:xfrm>
            <a:off x="6109616" y="443184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F2C318-8892-F29C-E1FC-C26820673D90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9A1971-EC4E-CC51-E8A3-26A3953188D1}"/>
              </a:ext>
            </a:extLst>
          </p:cNvPr>
          <p:cNvSpPr/>
          <p:nvPr/>
        </p:nvSpPr>
        <p:spPr>
          <a:xfrm>
            <a:off x="97625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7EBE47-8300-55BA-70CB-7572B3EECBFE}"/>
              </a:ext>
            </a:extLst>
          </p:cNvPr>
          <p:cNvSpPr/>
          <p:nvPr/>
        </p:nvSpPr>
        <p:spPr>
          <a:xfrm>
            <a:off x="5193030" y="443129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37C0C-B813-4796-073F-6A90EE859FF2}"/>
              </a:ext>
            </a:extLst>
          </p:cNvPr>
          <p:cNvSpPr/>
          <p:nvPr/>
        </p:nvSpPr>
        <p:spPr>
          <a:xfrm>
            <a:off x="106769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7E18EB-E228-F883-9037-5C67C1ED0CE3}"/>
              </a:ext>
            </a:extLst>
          </p:cNvPr>
          <p:cNvSpPr/>
          <p:nvPr/>
        </p:nvSpPr>
        <p:spPr>
          <a:xfrm>
            <a:off x="3662917" y="3890072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5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6291-322F-413C-A7C8-561A0F82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71889C09-FEB7-C6EA-8895-455F46CCF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8FB256-D55A-BFC2-5150-B8DFE3629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2E6111C-2542-57AF-8529-4B4BA4EA9731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773878B-46B2-5ACE-9135-F7C36C7EB9D1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98687-D442-D9A4-63F1-4B3462CF904E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B7368-B9CC-8848-8F36-1C86C6C70710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EB38B3-B05A-5BA1-E57C-DF95648F9CAC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E4961B-482B-6C87-6945-7FCDC96C0585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4D94F7-7DD1-1EFB-323F-150196FFD3CB}"/>
              </a:ext>
            </a:extLst>
          </p:cNvPr>
          <p:cNvSpPr/>
          <p:nvPr/>
        </p:nvSpPr>
        <p:spPr>
          <a:xfrm>
            <a:off x="7021830" y="3276318"/>
            <a:ext cx="914400" cy="17479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C4D5D-5E0E-7C58-B2B7-EC16B6AB62AF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413D37-124B-A705-11C7-554BBA39E3D6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C36D1-D1A5-8FA6-217D-8E7E5C533785}"/>
              </a:ext>
            </a:extLst>
          </p:cNvPr>
          <p:cNvSpPr/>
          <p:nvPr/>
        </p:nvSpPr>
        <p:spPr>
          <a:xfrm>
            <a:off x="8845867" y="3240404"/>
            <a:ext cx="914400" cy="1784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2888B5-4E41-1B49-6ED8-433B5C472E23}"/>
              </a:ext>
            </a:extLst>
          </p:cNvPr>
          <p:cNvSpPr/>
          <p:nvPr/>
        </p:nvSpPr>
        <p:spPr>
          <a:xfrm>
            <a:off x="61074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FB96B-2875-75A8-8884-668845C8042C}"/>
              </a:ext>
            </a:extLst>
          </p:cNvPr>
          <p:cNvSpPr/>
          <p:nvPr/>
        </p:nvSpPr>
        <p:spPr>
          <a:xfrm>
            <a:off x="6109616" y="3832591"/>
            <a:ext cx="914400" cy="11936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4B2E40-4619-9390-A9C0-86028EA50C72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43BBBA-CD01-7C1C-31F4-F48C9A1FE909}"/>
              </a:ext>
            </a:extLst>
          </p:cNvPr>
          <p:cNvSpPr/>
          <p:nvPr/>
        </p:nvSpPr>
        <p:spPr>
          <a:xfrm>
            <a:off x="9762564" y="3832591"/>
            <a:ext cx="914400" cy="11906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DA9472-488A-87D1-1A0A-8204CF831E2B}"/>
              </a:ext>
            </a:extLst>
          </p:cNvPr>
          <p:cNvSpPr/>
          <p:nvPr/>
        </p:nvSpPr>
        <p:spPr>
          <a:xfrm>
            <a:off x="5193030" y="443129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AFD5C4-A8A7-2585-530A-48462339CB41}"/>
              </a:ext>
            </a:extLst>
          </p:cNvPr>
          <p:cNvSpPr/>
          <p:nvPr/>
        </p:nvSpPr>
        <p:spPr>
          <a:xfrm>
            <a:off x="106769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11B695-BEEE-4754-5B88-C54F2186E493}"/>
              </a:ext>
            </a:extLst>
          </p:cNvPr>
          <p:cNvSpPr/>
          <p:nvPr/>
        </p:nvSpPr>
        <p:spPr>
          <a:xfrm>
            <a:off x="7936230" y="2664001"/>
            <a:ext cx="914400" cy="23594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77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CC20-1F60-F599-D919-5370F2B5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2FB9619E-75C8-EE80-8458-0EDDDB9DD1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2798904" y="5082732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945B01-E3B9-1774-7C0D-59D9185B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82104-3013-6692-DE59-6C553F310049}"/>
              </a:ext>
            </a:extLst>
          </p:cNvPr>
          <p:cNvSpPr/>
          <p:nvPr/>
        </p:nvSpPr>
        <p:spPr>
          <a:xfrm>
            <a:off x="5653917" y="388115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D6CDBB-91B6-A2F6-5197-3D154B9EB5B3}"/>
              </a:ext>
            </a:extLst>
          </p:cNvPr>
          <p:cNvSpPr/>
          <p:nvPr/>
        </p:nvSpPr>
        <p:spPr>
          <a:xfrm>
            <a:off x="5653917" y="32867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7E257-2EDD-C760-E226-2A1E4196190E}"/>
              </a:ext>
            </a:extLst>
          </p:cNvPr>
          <p:cNvSpPr/>
          <p:nvPr/>
        </p:nvSpPr>
        <p:spPr>
          <a:xfrm>
            <a:off x="5653917" y="2710389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23075-37FA-4AE9-E846-73B8A67C66BD}"/>
              </a:ext>
            </a:extLst>
          </p:cNvPr>
          <p:cNvSpPr/>
          <p:nvPr/>
        </p:nvSpPr>
        <p:spPr>
          <a:xfrm>
            <a:off x="4739517" y="3304749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800C5-5A4D-8ADB-F0EE-DAC77F879C54}"/>
              </a:ext>
            </a:extLst>
          </p:cNvPr>
          <p:cNvSpPr/>
          <p:nvPr/>
        </p:nvSpPr>
        <p:spPr>
          <a:xfrm>
            <a:off x="4739517" y="388196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04E2FD-E664-3CE8-C720-8C6648A35D63}"/>
              </a:ext>
            </a:extLst>
          </p:cNvPr>
          <p:cNvSpPr/>
          <p:nvPr/>
        </p:nvSpPr>
        <p:spPr>
          <a:xfrm>
            <a:off x="4739517" y="3322706"/>
            <a:ext cx="914400" cy="17479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563AD-89C1-4491-4A72-A18D2C1E8293}"/>
              </a:ext>
            </a:extLst>
          </p:cNvPr>
          <p:cNvSpPr/>
          <p:nvPr/>
        </p:nvSpPr>
        <p:spPr>
          <a:xfrm>
            <a:off x="6563554" y="329958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77F7A-3740-BBB2-70EB-5574864A5168}"/>
              </a:ext>
            </a:extLst>
          </p:cNvPr>
          <p:cNvSpPr/>
          <p:nvPr/>
        </p:nvSpPr>
        <p:spPr>
          <a:xfrm>
            <a:off x="6565459" y="388034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8CF9DF-588C-C42E-E436-B2B9D2B1240F}"/>
              </a:ext>
            </a:extLst>
          </p:cNvPr>
          <p:cNvSpPr/>
          <p:nvPr/>
        </p:nvSpPr>
        <p:spPr>
          <a:xfrm>
            <a:off x="6563554" y="3286792"/>
            <a:ext cx="914400" cy="1784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B3F328-E5D7-DC31-51DE-A7AE31D4AAA5}"/>
              </a:ext>
            </a:extLst>
          </p:cNvPr>
          <p:cNvSpPr/>
          <p:nvPr/>
        </p:nvSpPr>
        <p:spPr>
          <a:xfrm>
            <a:off x="3825117" y="388196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7298A6-605A-9313-84B2-A8B8B7C6B77F}"/>
              </a:ext>
            </a:extLst>
          </p:cNvPr>
          <p:cNvSpPr/>
          <p:nvPr/>
        </p:nvSpPr>
        <p:spPr>
          <a:xfrm>
            <a:off x="3827303" y="3878979"/>
            <a:ext cx="914400" cy="11936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D10156-7BA9-3298-8B35-B0E42010F254}"/>
              </a:ext>
            </a:extLst>
          </p:cNvPr>
          <p:cNvSpPr/>
          <p:nvPr/>
        </p:nvSpPr>
        <p:spPr>
          <a:xfrm>
            <a:off x="7478346" y="3878979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DF530C-3ECD-E433-D357-235507B42A63}"/>
              </a:ext>
            </a:extLst>
          </p:cNvPr>
          <p:cNvSpPr/>
          <p:nvPr/>
        </p:nvSpPr>
        <p:spPr>
          <a:xfrm>
            <a:off x="7480251" y="3878979"/>
            <a:ext cx="914400" cy="11906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082A4C-DF19-8E5D-A1BB-D5CC95A72582}"/>
              </a:ext>
            </a:extLst>
          </p:cNvPr>
          <p:cNvSpPr/>
          <p:nvPr/>
        </p:nvSpPr>
        <p:spPr>
          <a:xfrm>
            <a:off x="2910717" y="447768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43EF-DB5B-E9C4-4665-85978AFB730D}"/>
              </a:ext>
            </a:extLst>
          </p:cNvPr>
          <p:cNvSpPr/>
          <p:nvPr/>
        </p:nvSpPr>
        <p:spPr>
          <a:xfrm>
            <a:off x="8394651" y="447526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4327A-7370-F977-BF42-F67228330411}"/>
              </a:ext>
            </a:extLst>
          </p:cNvPr>
          <p:cNvSpPr/>
          <p:nvPr/>
        </p:nvSpPr>
        <p:spPr>
          <a:xfrm>
            <a:off x="5653917" y="2710389"/>
            <a:ext cx="914400" cy="23594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black line drawing of a curve&#10;&#10;AI-generated content may be incorrect.">
            <a:extLst>
              <a:ext uri="{FF2B5EF4-FFF2-40B4-BE49-F238E27FC236}">
                <a16:creationId xmlns:a16="http://schemas.microsoft.com/office/drawing/2014/main" id="{1F399D3C-CB18-E4F5-1D66-6774B3E30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7000" y="2476499"/>
            <a:ext cx="12522200" cy="287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AC4D-CBA0-B3BB-C98E-F976C0C6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0965-4205-1643-9F14-AA799413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</a:t>
            </a:r>
          </a:p>
        </p:txBody>
      </p:sp>
      <p:pic>
        <p:nvPicPr>
          <p:cNvPr id="25" name="Picture 8" descr="Pin on first siteSUP paddle boards">
            <a:extLst>
              <a:ext uri="{FF2B5EF4-FFF2-40B4-BE49-F238E27FC236}">
                <a16:creationId xmlns:a16="http://schemas.microsoft.com/office/drawing/2014/main" id="{8113EF5F-7181-17C0-4875-3388887243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2798904" y="5082732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A black line drawing of a curve&#10;&#10;AI-generated content may be incorrect.">
            <a:extLst>
              <a:ext uri="{FF2B5EF4-FFF2-40B4-BE49-F238E27FC236}">
                <a16:creationId xmlns:a16="http://schemas.microsoft.com/office/drawing/2014/main" id="{2990BB08-D60B-8E55-41B0-8CB52E60FE2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7000" y="2476499"/>
            <a:ext cx="12522200" cy="287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34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FA5A-2EDA-DE75-80D9-FD585C76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02DCAD-96FD-0BEB-1ACF-4AD1D60AF83F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383426-4429-E16A-FF89-88C387B61E9B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BB69388-DDCA-C4F1-99B8-EA4CE99691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279D28C-AC65-F7E4-6A33-86B25588A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AE7A9A3B-9245-4264-455F-99862150383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C43447F-C7EF-35AB-A5D2-9DC31DC4043E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2612151-C3BA-88E8-C884-D4850953C080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90CDCB-7F19-94BC-21C5-1B49356B81B4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BA42BF5-A45D-E8D1-8718-E5E5C03EB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ED1FFBA-ED0C-0DCF-1B85-16C8808120AF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BA38D16-8638-74E3-B7FF-C997125A1536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9511DF-B9B3-CEE7-DA7C-A02483CAF484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9E1A98-6731-1F10-D8F6-2108DA1C674A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6BC197C-E974-E9D2-D211-C9B3F8C7449A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80FBF78-6A82-05A4-D388-173655903BE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CEC38D-6398-B8A3-1688-94910C415235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3062AB90-2627-70CB-F5EA-7E2CE92F82CC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13597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FA52-7A52-96AF-72D8-D443C3BF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79B1A243-1E92-05E5-118A-24D9569495A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2148" y="72654"/>
              <a:ext cx="11327704" cy="6675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1926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</a:tblGrid>
                  <a:tr h="606802">
                    <a:tc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Mode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mdn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x̄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Description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most common response or category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 in the physical middle of the data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The arithmetic average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69456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Computation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highest frequency (visually)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i="1" dirty="0"/>
                            <a:t>Location: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Scales of Measurement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Nominal, Ordinal, Interval, Ratio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Ordinal, 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Reliability in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Least reliable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Moderately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Most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879886"/>
                      </a:ext>
                    </a:extLst>
                  </a:tr>
                  <a:tr h="18535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Easy to compute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Can be used for any scale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affected by outliers</a:t>
                          </a:r>
                        </a:p>
                        <a:p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Can be used with rank and score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Best for ranked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Less biased (than mean) when data are very skewed and by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Takes into account quantitative information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meaningful for interpretation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commonly used/ most statistics uses it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1600815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b="1" dirty="0"/>
                            <a:t>Disadvantages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used in most inferential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reliable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associated with any measure of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used in many statistical computations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More subject to sampling variation than 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Only applies to </a:t>
                          </a:r>
                          <a:r>
                            <a:rPr lang="en-US" i="1" dirty="0"/>
                            <a:t>score </a:t>
                          </a:r>
                          <a:r>
                            <a:rPr lang="en-US" dirty="0"/>
                            <a:t>(i.e., Interval &amp; ratio)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good if data is very skewed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488675"/>
                  </p:ext>
                </p:extLst>
              </p:nvPr>
            </p:nvGraphicFramePr>
            <p:xfrm>
              <a:off x="432148" y="72654"/>
              <a:ext cx="11327704" cy="6675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1926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Mode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mdn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x̄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Description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most common response or category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 in the physical middle of the data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The arithmetic average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69456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Computation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highest frequency (visually)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15" t="-188596" r="-100430" b="-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215" t="-188596" r="-430" b="-68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Scales of Measurement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Nominal, Ordinal, Interval, Ratio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Ordinal, 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Reliability in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Least reliable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Moderately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Most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879886"/>
                      </a:ext>
                    </a:extLst>
                  </a:tr>
                  <a:tr h="18535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Easy to compute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Can be used for any scale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affected by outliers</a:t>
                          </a:r>
                        </a:p>
                        <a:p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Can be used with rank and score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Best for ranked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Less biased (than mean) when data are very skewed and by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Takes into account quantitative information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meaningful for interpretation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commonly used/ most statistics uses it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1600815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b="1" dirty="0"/>
                            <a:t>Disadvantages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used in most inferential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reliable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associated with any measure of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used in many statistical computations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More subject to sampling variation than 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Only applies to </a:t>
                          </a:r>
                          <a:r>
                            <a:rPr lang="en-US" i="1" dirty="0"/>
                            <a:t>score </a:t>
                          </a:r>
                          <a:r>
                            <a:rPr lang="en-US" dirty="0"/>
                            <a:t>(i.e., Interval &amp; ratio)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good if data is very skewed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638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9E7E-7A4C-AA4A-8503-3D5A2619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0AA92-2598-BA48-B948-2629EEA56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4096" cy="50817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/>
              <a:t>Types of Central Tendency</a:t>
            </a:r>
          </a:p>
          <a:p>
            <a:r>
              <a:rPr lang="en-US" sz="3200" dirty="0"/>
              <a:t>Mode (</a:t>
            </a:r>
            <a:r>
              <a:rPr lang="en-US" sz="3200" i="1" dirty="0"/>
              <a:t>mod)</a:t>
            </a:r>
            <a:endParaRPr lang="en-US" sz="3200" dirty="0"/>
          </a:p>
          <a:p>
            <a:r>
              <a:rPr lang="en-US" sz="3200" dirty="0"/>
              <a:t>Median (</a:t>
            </a:r>
            <a:r>
              <a:rPr lang="en-US" sz="3200" i="1" dirty="0" err="1"/>
              <a:t>mdn</a:t>
            </a:r>
            <a:r>
              <a:rPr lang="en-US" sz="3200" i="1" dirty="0"/>
              <a:t>)</a:t>
            </a:r>
            <a:endParaRPr lang="en-US" sz="3200" dirty="0"/>
          </a:p>
          <a:p>
            <a:r>
              <a:rPr lang="en-US" sz="3200" dirty="0"/>
              <a:t>Mean (</a:t>
            </a:r>
            <a:r>
              <a:rPr lang="en-CA" sz="3200" i="1" dirty="0"/>
              <a:t>x</a:t>
            </a:r>
            <a:r>
              <a:rPr lang="en-CA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 </a:t>
            </a:r>
            <a:r>
              <a:rPr lang="en-CA" sz="3200" i="1" dirty="0"/>
              <a:t>or M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Selecting a Central Tendency</a:t>
            </a:r>
          </a:p>
          <a:p>
            <a:r>
              <a:rPr lang="en-US" sz="3200" dirty="0"/>
              <a:t>Should best reflect the data</a:t>
            </a:r>
          </a:p>
          <a:p>
            <a:r>
              <a:rPr lang="en-US" sz="3200" dirty="0"/>
              <a:t>Should be appropriate to the scale of measurement</a:t>
            </a:r>
          </a:p>
          <a:p>
            <a:r>
              <a:rPr lang="en-US" sz="3200" dirty="0"/>
              <a:t>Should be as unbiased as possible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B2952113-65A5-6643-B82D-12B23690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296" y="3996685"/>
            <a:ext cx="3898910" cy="2808483"/>
          </a:xfrm>
          <a:prstGeom prst="rect">
            <a:avLst/>
          </a:prstGeom>
        </p:spPr>
      </p:pic>
      <p:pic>
        <p:nvPicPr>
          <p:cNvPr id="7" name="Picture 6" descr="Diagram, histogram&#10;&#10;Description automatically generated">
            <a:extLst>
              <a:ext uri="{FF2B5EF4-FFF2-40B4-BE49-F238E27FC236}">
                <a16:creationId xmlns:a16="http://schemas.microsoft.com/office/drawing/2014/main" id="{F87152E1-E41E-8346-9819-37EDC24E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296" y="1027906"/>
            <a:ext cx="3905250" cy="283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1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9946" cy="568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Description</a:t>
            </a:r>
            <a:r>
              <a:rPr lang="en-US" sz="3600" dirty="0"/>
              <a:t>: The most common response or category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Computation</a:t>
            </a:r>
            <a:r>
              <a:rPr lang="en-US" sz="3600" dirty="0"/>
              <a:t>: The highest frequency (visually)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ECC669F-206D-1149-B0AB-88A5026CD544}"/>
              </a:ext>
            </a:extLst>
          </p:cNvPr>
          <p:cNvSpPr/>
          <p:nvPr/>
        </p:nvSpPr>
        <p:spPr>
          <a:xfrm>
            <a:off x="8087097" y="1353787"/>
            <a:ext cx="2660073" cy="1460665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70A067DF-2A8A-5B4C-9DA7-F9D22208E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651" y="365125"/>
            <a:ext cx="4909470" cy="349006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6043DB08-48FA-4047-B8E4-ED4091B77A5B}"/>
              </a:ext>
            </a:extLst>
          </p:cNvPr>
          <p:cNvSpPr/>
          <p:nvPr/>
        </p:nvSpPr>
        <p:spPr>
          <a:xfrm>
            <a:off x="8357172" y="0"/>
            <a:ext cx="2253677" cy="1256520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Bar Graphs and Double Bar Graphs - Ms. Parker's Class Website">
            <a:extLst>
              <a:ext uri="{FF2B5EF4-FFF2-40B4-BE49-F238E27FC236}">
                <a16:creationId xmlns:a16="http://schemas.microsoft.com/office/drawing/2014/main" id="{EB0BF6D5-7E91-464F-A02E-B8B9CAD19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72" y="3952457"/>
            <a:ext cx="3584828" cy="26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9B5436E3-30F5-A84B-8C15-1981758A465A}"/>
              </a:ext>
            </a:extLst>
          </p:cNvPr>
          <p:cNvSpPr/>
          <p:nvPr/>
        </p:nvSpPr>
        <p:spPr>
          <a:xfrm>
            <a:off x="7609114" y="3766457"/>
            <a:ext cx="3951515" cy="2917372"/>
          </a:xfrm>
          <a:custGeom>
            <a:avLst/>
            <a:gdLst>
              <a:gd name="connsiteX0" fmla="*/ 250372 w 3951515"/>
              <a:gd name="connsiteY0" fmla="*/ 2307772 h 2917372"/>
              <a:gd name="connsiteX1" fmla="*/ 729343 w 3951515"/>
              <a:gd name="connsiteY1" fmla="*/ 2656114 h 2917372"/>
              <a:gd name="connsiteX2" fmla="*/ 3624943 w 3951515"/>
              <a:gd name="connsiteY2" fmla="*/ 2656114 h 2917372"/>
              <a:gd name="connsiteX3" fmla="*/ 3614057 w 3951515"/>
              <a:gd name="connsiteY3" fmla="*/ 10886 h 2917372"/>
              <a:gd name="connsiteX4" fmla="*/ 3951515 w 3951515"/>
              <a:gd name="connsiteY4" fmla="*/ 0 h 2917372"/>
              <a:gd name="connsiteX5" fmla="*/ 3875315 w 3951515"/>
              <a:gd name="connsiteY5" fmla="*/ 2917372 h 2917372"/>
              <a:gd name="connsiteX6" fmla="*/ 0 w 3951515"/>
              <a:gd name="connsiteY6" fmla="*/ 2917372 h 2917372"/>
              <a:gd name="connsiteX7" fmla="*/ 250372 w 3951515"/>
              <a:gd name="connsiteY7" fmla="*/ 2307772 h 291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1515" h="2917372">
                <a:moveTo>
                  <a:pt x="250372" y="2307772"/>
                </a:moveTo>
                <a:lnTo>
                  <a:pt x="729343" y="2656114"/>
                </a:lnTo>
                <a:lnTo>
                  <a:pt x="3624943" y="2656114"/>
                </a:lnTo>
                <a:cubicBezTo>
                  <a:pt x="3621314" y="1774371"/>
                  <a:pt x="3617686" y="892629"/>
                  <a:pt x="3614057" y="10886"/>
                </a:cubicBezTo>
                <a:lnTo>
                  <a:pt x="3951515" y="0"/>
                </a:lnTo>
                <a:lnTo>
                  <a:pt x="3875315" y="2917372"/>
                </a:lnTo>
                <a:lnTo>
                  <a:pt x="0" y="2917372"/>
                </a:lnTo>
                <a:lnTo>
                  <a:pt x="250372" y="230777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EC6913-F7DB-9003-3F7C-B4A376B84958}"/>
              </a:ext>
            </a:extLst>
          </p:cNvPr>
          <p:cNvCxnSpPr/>
          <p:nvPr/>
        </p:nvCxnSpPr>
        <p:spPr>
          <a:xfrm flipH="1">
            <a:off x="9721192" y="4040471"/>
            <a:ext cx="1025978" cy="581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83E225-EDE7-D865-86D5-6F3DDA691213}"/>
              </a:ext>
            </a:extLst>
          </p:cNvPr>
          <p:cNvCxnSpPr/>
          <p:nvPr/>
        </p:nvCxnSpPr>
        <p:spPr>
          <a:xfrm flipH="1">
            <a:off x="8197192" y="543827"/>
            <a:ext cx="1025978" cy="5814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54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1445-8236-BEC5-66D5-6B318D70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7665-1547-5F59-79C5-3C22DE31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CE3D9-B576-F20F-F11D-9006748DA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7295" cy="568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Description</a:t>
            </a:r>
            <a:r>
              <a:rPr lang="en-US" sz="3600" dirty="0"/>
              <a:t>: The most common response or category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Computation</a:t>
            </a:r>
            <a:r>
              <a:rPr lang="en-US" sz="3600" dirty="0"/>
              <a:t>: The highest frequency (visually)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729C2F7-ACBB-800A-5172-8A1F63FDA817}"/>
              </a:ext>
            </a:extLst>
          </p:cNvPr>
          <p:cNvSpPr/>
          <p:nvPr/>
        </p:nvSpPr>
        <p:spPr>
          <a:xfrm>
            <a:off x="8087097" y="1353787"/>
            <a:ext cx="2660073" cy="1460665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1FB5480-A7DF-65C5-99E1-D5BB4C866B3D}"/>
              </a:ext>
            </a:extLst>
          </p:cNvPr>
          <p:cNvSpPr/>
          <p:nvPr/>
        </p:nvSpPr>
        <p:spPr>
          <a:xfrm>
            <a:off x="8357172" y="0"/>
            <a:ext cx="2253677" cy="1256520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B706C1A-CD6E-547E-F3DC-BC2D87C0B2BA}"/>
              </a:ext>
            </a:extLst>
          </p:cNvPr>
          <p:cNvSpPr/>
          <p:nvPr/>
        </p:nvSpPr>
        <p:spPr>
          <a:xfrm>
            <a:off x="7609114" y="3766457"/>
            <a:ext cx="3951515" cy="2917372"/>
          </a:xfrm>
          <a:custGeom>
            <a:avLst/>
            <a:gdLst>
              <a:gd name="connsiteX0" fmla="*/ 250372 w 3951515"/>
              <a:gd name="connsiteY0" fmla="*/ 2307772 h 2917372"/>
              <a:gd name="connsiteX1" fmla="*/ 729343 w 3951515"/>
              <a:gd name="connsiteY1" fmla="*/ 2656114 h 2917372"/>
              <a:gd name="connsiteX2" fmla="*/ 3624943 w 3951515"/>
              <a:gd name="connsiteY2" fmla="*/ 2656114 h 2917372"/>
              <a:gd name="connsiteX3" fmla="*/ 3614057 w 3951515"/>
              <a:gd name="connsiteY3" fmla="*/ 10886 h 2917372"/>
              <a:gd name="connsiteX4" fmla="*/ 3951515 w 3951515"/>
              <a:gd name="connsiteY4" fmla="*/ 0 h 2917372"/>
              <a:gd name="connsiteX5" fmla="*/ 3875315 w 3951515"/>
              <a:gd name="connsiteY5" fmla="*/ 2917372 h 2917372"/>
              <a:gd name="connsiteX6" fmla="*/ 0 w 3951515"/>
              <a:gd name="connsiteY6" fmla="*/ 2917372 h 2917372"/>
              <a:gd name="connsiteX7" fmla="*/ 250372 w 3951515"/>
              <a:gd name="connsiteY7" fmla="*/ 2307772 h 291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1515" h="2917372">
                <a:moveTo>
                  <a:pt x="250372" y="2307772"/>
                </a:moveTo>
                <a:lnTo>
                  <a:pt x="729343" y="2656114"/>
                </a:lnTo>
                <a:lnTo>
                  <a:pt x="3624943" y="2656114"/>
                </a:lnTo>
                <a:cubicBezTo>
                  <a:pt x="3621314" y="1774371"/>
                  <a:pt x="3617686" y="892629"/>
                  <a:pt x="3614057" y="10886"/>
                </a:cubicBezTo>
                <a:lnTo>
                  <a:pt x="3951515" y="0"/>
                </a:lnTo>
                <a:lnTo>
                  <a:pt x="3875315" y="2917372"/>
                </a:lnTo>
                <a:lnTo>
                  <a:pt x="0" y="2917372"/>
                </a:lnTo>
                <a:lnTo>
                  <a:pt x="250372" y="230777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395051-938E-D3F0-5BF2-BE86B2F42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44808"/>
              </p:ext>
            </p:extLst>
          </p:nvPr>
        </p:nvGraphicFramePr>
        <p:xfrm>
          <a:off x="6701687" y="489857"/>
          <a:ext cx="4858942" cy="6148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471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2429471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25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1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24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0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23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0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22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0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21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1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20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3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19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4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675852"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18</a:t>
                      </a:r>
                    </a:p>
                  </a:txBody>
                  <a:tcPr marL="119268" marR="119268" marT="59634" marB="5963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700" dirty="0"/>
                        <a:t>1</a:t>
                      </a:r>
                    </a:p>
                  </a:txBody>
                  <a:tcPr marL="119268" marR="119268" marT="59634" marB="5963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F53C71-9C27-F238-98EB-0F773E1A681A}"/>
              </a:ext>
            </a:extLst>
          </p:cNvPr>
          <p:cNvSpPr/>
          <p:nvPr/>
        </p:nvSpPr>
        <p:spPr>
          <a:xfrm>
            <a:off x="7609114" y="5384800"/>
            <a:ext cx="3001735" cy="5207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7794" cy="568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Scales of Measurement</a:t>
            </a:r>
            <a:r>
              <a:rPr lang="en-US" sz="3600" dirty="0"/>
              <a:t>: Nominal, Ordinal, Interval, Ratio</a:t>
            </a:r>
          </a:p>
          <a:p>
            <a:r>
              <a:rPr lang="en-US" sz="3600" dirty="0"/>
              <a:t>Only method for nominal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Reliability in Variability</a:t>
            </a:r>
            <a:r>
              <a:rPr lang="en-US" sz="3600" dirty="0"/>
              <a:t>: Least reliable</a:t>
            </a:r>
          </a:p>
          <a:p>
            <a:r>
              <a:rPr lang="en-US" sz="3600" dirty="0"/>
              <a:t>Potential for lots of variability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ECC669F-206D-1149-B0AB-88A5026CD544}"/>
              </a:ext>
            </a:extLst>
          </p:cNvPr>
          <p:cNvSpPr/>
          <p:nvPr/>
        </p:nvSpPr>
        <p:spPr>
          <a:xfrm>
            <a:off x="8087097" y="1353787"/>
            <a:ext cx="2660073" cy="1460665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39DC8932-393D-F246-A9ED-910A78E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651" y="365125"/>
            <a:ext cx="4909470" cy="349006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3A1C4ECF-6BC1-5B42-A539-397DB263AF97}"/>
              </a:ext>
            </a:extLst>
          </p:cNvPr>
          <p:cNvSpPr/>
          <p:nvPr/>
        </p:nvSpPr>
        <p:spPr>
          <a:xfrm>
            <a:off x="8357172" y="0"/>
            <a:ext cx="2253677" cy="1256520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Bar Graphs and Double Bar Graphs - Ms. Parker's Class Website">
            <a:extLst>
              <a:ext uri="{FF2B5EF4-FFF2-40B4-BE49-F238E27FC236}">
                <a16:creationId xmlns:a16="http://schemas.microsoft.com/office/drawing/2014/main" id="{5B47FF23-EE3D-D34E-82FD-6BE99AA41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72" y="3855190"/>
            <a:ext cx="3584828" cy="26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82ED59FE-28F2-4A4E-8C53-3CAF17BEBD49}"/>
              </a:ext>
            </a:extLst>
          </p:cNvPr>
          <p:cNvSpPr/>
          <p:nvPr/>
        </p:nvSpPr>
        <p:spPr>
          <a:xfrm>
            <a:off x="7609114" y="3766457"/>
            <a:ext cx="3951515" cy="2917372"/>
          </a:xfrm>
          <a:custGeom>
            <a:avLst/>
            <a:gdLst>
              <a:gd name="connsiteX0" fmla="*/ 250372 w 3951515"/>
              <a:gd name="connsiteY0" fmla="*/ 2307772 h 2917372"/>
              <a:gd name="connsiteX1" fmla="*/ 729343 w 3951515"/>
              <a:gd name="connsiteY1" fmla="*/ 2656114 h 2917372"/>
              <a:gd name="connsiteX2" fmla="*/ 3624943 w 3951515"/>
              <a:gd name="connsiteY2" fmla="*/ 2656114 h 2917372"/>
              <a:gd name="connsiteX3" fmla="*/ 3614057 w 3951515"/>
              <a:gd name="connsiteY3" fmla="*/ 10886 h 2917372"/>
              <a:gd name="connsiteX4" fmla="*/ 3951515 w 3951515"/>
              <a:gd name="connsiteY4" fmla="*/ 0 h 2917372"/>
              <a:gd name="connsiteX5" fmla="*/ 3875315 w 3951515"/>
              <a:gd name="connsiteY5" fmla="*/ 2917372 h 2917372"/>
              <a:gd name="connsiteX6" fmla="*/ 0 w 3951515"/>
              <a:gd name="connsiteY6" fmla="*/ 2917372 h 2917372"/>
              <a:gd name="connsiteX7" fmla="*/ 250372 w 3951515"/>
              <a:gd name="connsiteY7" fmla="*/ 2307772 h 291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1515" h="2917372">
                <a:moveTo>
                  <a:pt x="250372" y="2307772"/>
                </a:moveTo>
                <a:lnTo>
                  <a:pt x="729343" y="2656114"/>
                </a:lnTo>
                <a:lnTo>
                  <a:pt x="3624943" y="2656114"/>
                </a:lnTo>
                <a:cubicBezTo>
                  <a:pt x="3621314" y="1774371"/>
                  <a:pt x="3617686" y="892629"/>
                  <a:pt x="3614057" y="10886"/>
                </a:cubicBezTo>
                <a:lnTo>
                  <a:pt x="3951515" y="0"/>
                </a:lnTo>
                <a:lnTo>
                  <a:pt x="3875315" y="2917372"/>
                </a:lnTo>
                <a:lnTo>
                  <a:pt x="0" y="2917372"/>
                </a:lnTo>
                <a:lnTo>
                  <a:pt x="250372" y="230777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9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7295" cy="568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Advantages:</a:t>
            </a:r>
          </a:p>
          <a:p>
            <a:r>
              <a:rPr lang="en-US" sz="3600" dirty="0"/>
              <a:t>Easy to compute</a:t>
            </a:r>
          </a:p>
          <a:p>
            <a:r>
              <a:rPr lang="en-US" sz="3600" dirty="0"/>
              <a:t>Can be used for any scale</a:t>
            </a:r>
          </a:p>
          <a:p>
            <a:r>
              <a:rPr lang="en-US" sz="3600" dirty="0"/>
              <a:t>Not affected by outliers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ECC669F-206D-1149-B0AB-88A5026CD544}"/>
              </a:ext>
            </a:extLst>
          </p:cNvPr>
          <p:cNvSpPr/>
          <p:nvPr/>
        </p:nvSpPr>
        <p:spPr>
          <a:xfrm>
            <a:off x="8087097" y="1353787"/>
            <a:ext cx="2660073" cy="1460665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FDE907EE-E75F-E14A-84D8-40FD6C11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651" y="365125"/>
            <a:ext cx="4909470" cy="349006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42D8314E-16AB-FD4F-8F56-ECD15D69542A}"/>
              </a:ext>
            </a:extLst>
          </p:cNvPr>
          <p:cNvSpPr/>
          <p:nvPr/>
        </p:nvSpPr>
        <p:spPr>
          <a:xfrm>
            <a:off x="8357172" y="0"/>
            <a:ext cx="2253677" cy="1256520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Bar Graphs and Double Bar Graphs - Ms. Parker's Class Website">
            <a:extLst>
              <a:ext uri="{FF2B5EF4-FFF2-40B4-BE49-F238E27FC236}">
                <a16:creationId xmlns:a16="http://schemas.microsoft.com/office/drawing/2014/main" id="{ECAA537C-752B-5C41-B1FB-16288B59A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72" y="3855190"/>
            <a:ext cx="3584828" cy="26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9608E110-4C9D-7B48-B56E-982A9894514D}"/>
              </a:ext>
            </a:extLst>
          </p:cNvPr>
          <p:cNvSpPr/>
          <p:nvPr/>
        </p:nvSpPr>
        <p:spPr>
          <a:xfrm>
            <a:off x="7609114" y="3766457"/>
            <a:ext cx="3951515" cy="2917372"/>
          </a:xfrm>
          <a:custGeom>
            <a:avLst/>
            <a:gdLst>
              <a:gd name="connsiteX0" fmla="*/ 250372 w 3951515"/>
              <a:gd name="connsiteY0" fmla="*/ 2307772 h 2917372"/>
              <a:gd name="connsiteX1" fmla="*/ 729343 w 3951515"/>
              <a:gd name="connsiteY1" fmla="*/ 2656114 h 2917372"/>
              <a:gd name="connsiteX2" fmla="*/ 3624943 w 3951515"/>
              <a:gd name="connsiteY2" fmla="*/ 2656114 h 2917372"/>
              <a:gd name="connsiteX3" fmla="*/ 3614057 w 3951515"/>
              <a:gd name="connsiteY3" fmla="*/ 10886 h 2917372"/>
              <a:gd name="connsiteX4" fmla="*/ 3951515 w 3951515"/>
              <a:gd name="connsiteY4" fmla="*/ 0 h 2917372"/>
              <a:gd name="connsiteX5" fmla="*/ 3875315 w 3951515"/>
              <a:gd name="connsiteY5" fmla="*/ 2917372 h 2917372"/>
              <a:gd name="connsiteX6" fmla="*/ 0 w 3951515"/>
              <a:gd name="connsiteY6" fmla="*/ 2917372 h 2917372"/>
              <a:gd name="connsiteX7" fmla="*/ 250372 w 3951515"/>
              <a:gd name="connsiteY7" fmla="*/ 2307772 h 291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1515" h="2917372">
                <a:moveTo>
                  <a:pt x="250372" y="2307772"/>
                </a:moveTo>
                <a:lnTo>
                  <a:pt x="729343" y="2656114"/>
                </a:lnTo>
                <a:lnTo>
                  <a:pt x="3624943" y="2656114"/>
                </a:lnTo>
                <a:cubicBezTo>
                  <a:pt x="3621314" y="1774371"/>
                  <a:pt x="3617686" y="892629"/>
                  <a:pt x="3614057" y="10886"/>
                </a:cubicBezTo>
                <a:lnTo>
                  <a:pt x="3951515" y="0"/>
                </a:lnTo>
                <a:lnTo>
                  <a:pt x="3875315" y="2917372"/>
                </a:lnTo>
                <a:lnTo>
                  <a:pt x="0" y="2917372"/>
                </a:lnTo>
                <a:lnTo>
                  <a:pt x="250372" y="230777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7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7295" cy="568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Disadvantages: </a:t>
            </a:r>
          </a:p>
          <a:p>
            <a:r>
              <a:rPr lang="en-US" sz="3600" dirty="0"/>
              <a:t>Not used in most inferential statistics</a:t>
            </a:r>
          </a:p>
          <a:p>
            <a:r>
              <a:rPr lang="en-US" sz="3600" dirty="0"/>
              <a:t>Not reliable</a:t>
            </a:r>
          </a:p>
          <a:p>
            <a:r>
              <a:rPr lang="en-US" sz="3600" dirty="0"/>
              <a:t>Not associated with any measure of variability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6A8C1E1C-9F26-314E-9B8F-4B23A0416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651" y="365125"/>
            <a:ext cx="4909470" cy="349006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6ECC669F-206D-1149-B0AB-88A5026CD544}"/>
              </a:ext>
            </a:extLst>
          </p:cNvPr>
          <p:cNvSpPr/>
          <p:nvPr/>
        </p:nvSpPr>
        <p:spPr>
          <a:xfrm>
            <a:off x="8357172" y="0"/>
            <a:ext cx="2253677" cy="1256520"/>
          </a:xfrm>
          <a:custGeom>
            <a:avLst/>
            <a:gdLst>
              <a:gd name="connsiteX0" fmla="*/ 0 w 2660073"/>
              <a:gd name="connsiteY0" fmla="*/ 1258784 h 1460665"/>
              <a:gd name="connsiteX1" fmla="*/ 0 w 2660073"/>
              <a:gd name="connsiteY1" fmla="*/ 1460665 h 1460665"/>
              <a:gd name="connsiteX2" fmla="*/ 261257 w 2660073"/>
              <a:gd name="connsiteY2" fmla="*/ 1460665 h 1460665"/>
              <a:gd name="connsiteX3" fmla="*/ 2660073 w 2660073"/>
              <a:gd name="connsiteY3" fmla="*/ 890649 h 1460665"/>
              <a:gd name="connsiteX4" fmla="*/ 2517569 w 2660073"/>
              <a:gd name="connsiteY4" fmla="*/ 0 h 1460665"/>
              <a:gd name="connsiteX5" fmla="*/ 11875 w 2660073"/>
              <a:gd name="connsiteY5" fmla="*/ 831273 h 1460665"/>
              <a:gd name="connsiteX6" fmla="*/ 0 w 2660073"/>
              <a:gd name="connsiteY6" fmla="*/ 1258784 h 146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0073" h="1460665">
                <a:moveTo>
                  <a:pt x="0" y="1258784"/>
                </a:moveTo>
                <a:lnTo>
                  <a:pt x="0" y="1460665"/>
                </a:lnTo>
                <a:lnTo>
                  <a:pt x="261257" y="1460665"/>
                </a:lnTo>
                <a:lnTo>
                  <a:pt x="2660073" y="890649"/>
                </a:lnTo>
                <a:lnTo>
                  <a:pt x="2517569" y="0"/>
                </a:lnTo>
                <a:lnTo>
                  <a:pt x="11875" y="831273"/>
                </a:lnTo>
                <a:lnTo>
                  <a:pt x="0" y="125878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ar Graphs and Double Bar Graphs - Ms. Parker's Class Website">
            <a:extLst>
              <a:ext uri="{FF2B5EF4-FFF2-40B4-BE49-F238E27FC236}">
                <a16:creationId xmlns:a16="http://schemas.microsoft.com/office/drawing/2014/main" id="{4B266950-D699-F744-9B3E-56BD11F9E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72" y="3855190"/>
            <a:ext cx="3584828" cy="26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18005B7-FAB0-B74F-BEEC-08595E2877DF}"/>
              </a:ext>
            </a:extLst>
          </p:cNvPr>
          <p:cNvSpPr/>
          <p:nvPr/>
        </p:nvSpPr>
        <p:spPr>
          <a:xfrm>
            <a:off x="7609114" y="3766457"/>
            <a:ext cx="3951515" cy="2917372"/>
          </a:xfrm>
          <a:custGeom>
            <a:avLst/>
            <a:gdLst>
              <a:gd name="connsiteX0" fmla="*/ 250372 w 3951515"/>
              <a:gd name="connsiteY0" fmla="*/ 2307772 h 2917372"/>
              <a:gd name="connsiteX1" fmla="*/ 729343 w 3951515"/>
              <a:gd name="connsiteY1" fmla="*/ 2656114 h 2917372"/>
              <a:gd name="connsiteX2" fmla="*/ 3624943 w 3951515"/>
              <a:gd name="connsiteY2" fmla="*/ 2656114 h 2917372"/>
              <a:gd name="connsiteX3" fmla="*/ 3614057 w 3951515"/>
              <a:gd name="connsiteY3" fmla="*/ 10886 h 2917372"/>
              <a:gd name="connsiteX4" fmla="*/ 3951515 w 3951515"/>
              <a:gd name="connsiteY4" fmla="*/ 0 h 2917372"/>
              <a:gd name="connsiteX5" fmla="*/ 3875315 w 3951515"/>
              <a:gd name="connsiteY5" fmla="*/ 2917372 h 2917372"/>
              <a:gd name="connsiteX6" fmla="*/ 0 w 3951515"/>
              <a:gd name="connsiteY6" fmla="*/ 2917372 h 2917372"/>
              <a:gd name="connsiteX7" fmla="*/ 250372 w 3951515"/>
              <a:gd name="connsiteY7" fmla="*/ 2307772 h 291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1515" h="2917372">
                <a:moveTo>
                  <a:pt x="250372" y="2307772"/>
                </a:moveTo>
                <a:lnTo>
                  <a:pt x="729343" y="2656114"/>
                </a:lnTo>
                <a:lnTo>
                  <a:pt x="3624943" y="2656114"/>
                </a:lnTo>
                <a:cubicBezTo>
                  <a:pt x="3621314" y="1774371"/>
                  <a:pt x="3617686" y="892629"/>
                  <a:pt x="3614057" y="10886"/>
                </a:cubicBezTo>
                <a:lnTo>
                  <a:pt x="3951515" y="0"/>
                </a:lnTo>
                <a:lnTo>
                  <a:pt x="3875315" y="2917372"/>
                </a:lnTo>
                <a:lnTo>
                  <a:pt x="0" y="2917372"/>
                </a:lnTo>
                <a:lnTo>
                  <a:pt x="250372" y="230777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(</a:t>
            </a:r>
            <a:r>
              <a:rPr lang="en-US" i="1" dirty="0"/>
              <a:t>mod</a:t>
            </a:r>
            <a:r>
              <a:rPr lang="en-US" dirty="0"/>
              <a:t>)</a:t>
            </a: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7BD98514-E197-DC42-9DAC-3F8A794B6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98" y="1240971"/>
            <a:ext cx="7721803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0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45A0-2626-7E47-F537-F0C88D4E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51A0302-634F-962C-04B3-28164EB95268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763FF8-BA9B-569E-3AC2-5FFA66A4D5B5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8333262-9C22-BB51-D529-914DEC5F75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DBC44E3-39FD-DE92-14F7-EFE1F9483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A82E6CF-6253-5312-372C-24BAD60C3BAF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5FEC2B9D-B5A7-57AB-BEC3-3A8732DC3AE6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2440B14-D2E1-0E72-B230-E163AA36FFC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3F7B179-BC23-97DE-553E-CC2A220E3F5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0E179C8-1ACD-80DA-D801-0F48BBD530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F8DCF3A-5E07-C807-B6DD-2CBC4EFF352E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475528-F8EC-0CF7-1035-08FC25E10328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6A30CE-7A4A-2664-BB5B-1B14B7D696E9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0625479-EC2C-5D0A-4D70-EA7396331760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A5134F-BBFF-AB01-BB7C-020E2DF969DD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C21F34-7FE5-467B-2748-B430496D90E2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9F3E64-CCAD-D6B4-94EF-A77641E20BF5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B46A6FA-A6E4-3DB4-51A0-64AE9D62A70B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2349832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848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Value in the physical middle of the data</a:t>
            </a:r>
          </a:p>
          <a:p>
            <a:endParaRPr lang="en-US" dirty="0"/>
          </a:p>
        </p:txBody>
      </p:sp>
      <p:pic>
        <p:nvPicPr>
          <p:cNvPr id="5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8893C268-C13A-9744-A6A6-C513D7375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E5736E-0DE3-2D48-BB22-F56F7B02DCEF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1           2         3          4          5            6           7            8            9             10           11</a:t>
            </a:r>
          </a:p>
        </p:txBody>
      </p:sp>
    </p:spTree>
    <p:extLst>
      <p:ext uri="{BB962C8B-B14F-4D97-AF65-F5344CB8AC3E}">
        <p14:creationId xmlns:p14="http://schemas.microsoft.com/office/powerpoint/2010/main" val="2005449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9E703B4F-1EAF-554E-BC17-504A6E769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pic>
        <p:nvPicPr>
          <p:cNvPr id="6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F6D1A2C4-14D0-C44F-9159-BFB8585DC1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68" r="51094"/>
          <a:stretch/>
        </p:blipFill>
        <p:spPr bwMode="auto">
          <a:xfrm>
            <a:off x="5039708" y="3055466"/>
            <a:ext cx="1024760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34983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</a:t>
            </a:r>
            <a:r>
              <a:rPr lang="en-US" dirty="0"/>
              <a:t>:</a:t>
            </a:r>
            <a:endParaRPr lang="en-US" i="1" dirty="0"/>
          </a:p>
          <a:p>
            <a:r>
              <a:rPr lang="en-US" dirty="0"/>
              <a:t>If odd number of values, number in the middle</a:t>
            </a:r>
          </a:p>
          <a:p>
            <a:pPr lvl="1"/>
            <a:r>
              <a:rPr lang="en-US" dirty="0"/>
              <a:t>1, 4, 5,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, 7, 10, 12, median =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3C436-5735-B849-9470-CCF7F93DC5BD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1           2         3          4          5            6           7            8            9             10           11</a:t>
            </a:r>
          </a:p>
        </p:txBody>
      </p:sp>
    </p:spTree>
    <p:extLst>
      <p:ext uri="{BB962C8B-B14F-4D97-AF65-F5344CB8AC3E}">
        <p14:creationId xmlns:p14="http://schemas.microsoft.com/office/powerpoint/2010/main" val="100640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9E703B4F-1EAF-554E-BC17-504A6E769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90"/>
          <a:stretch/>
        </p:blipFill>
        <p:spPr bwMode="auto">
          <a:xfrm>
            <a:off x="838199" y="3052508"/>
            <a:ext cx="10515600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pic>
        <p:nvPicPr>
          <p:cNvPr id="6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C3574E4F-F64F-5345-AB38-5C0BDEC4F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9" r="51093"/>
          <a:stretch/>
        </p:blipFill>
        <p:spPr bwMode="auto">
          <a:xfrm>
            <a:off x="4666596" y="3052508"/>
            <a:ext cx="2052145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3C436-5735-B849-9470-CCF7F93DC5BD}"/>
              </a:ext>
            </a:extLst>
          </p:cNvPr>
          <p:cNvSpPr txBox="1"/>
          <p:nvPr/>
        </p:nvSpPr>
        <p:spPr>
          <a:xfrm>
            <a:off x="838199" y="6334780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1           2         3          4          5            6           7            8            9             10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1746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</a:t>
            </a:r>
            <a:r>
              <a:rPr lang="en-US" dirty="0"/>
              <a:t>:</a:t>
            </a:r>
            <a:endParaRPr lang="en-US" i="1" dirty="0"/>
          </a:p>
          <a:p>
            <a:r>
              <a:rPr lang="en-US" dirty="0"/>
              <a:t>If even number of values, midpoint of two middle values</a:t>
            </a:r>
          </a:p>
          <a:p>
            <a:pPr lvl="1"/>
            <a:r>
              <a:rPr lang="en-US" dirty="0"/>
              <a:t>1, 4,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, 7, 10, median = 5.50</a:t>
            </a:r>
          </a:p>
        </p:txBody>
      </p:sp>
    </p:spTree>
    <p:extLst>
      <p:ext uri="{BB962C8B-B14F-4D97-AF65-F5344CB8AC3E}">
        <p14:creationId xmlns:p14="http://schemas.microsoft.com/office/powerpoint/2010/main" val="132429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9E703B4F-1EAF-554E-BC17-504A6E769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90"/>
          <a:stretch/>
        </p:blipFill>
        <p:spPr bwMode="auto">
          <a:xfrm>
            <a:off x="838199" y="3052508"/>
            <a:ext cx="10515600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pic>
        <p:nvPicPr>
          <p:cNvPr id="6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9C051DAF-BC09-0E49-9E6E-E55BBC346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9" r="51093"/>
          <a:stretch/>
        </p:blipFill>
        <p:spPr bwMode="auto">
          <a:xfrm>
            <a:off x="4666596" y="3052508"/>
            <a:ext cx="2052145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2188B-C5C5-974E-B7A1-C4DF49071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1746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Computation</a:t>
                </a:r>
                <a:r>
                  <a:rPr lang="en-US" dirty="0"/>
                  <a:t>:</a:t>
                </a:r>
                <a:endParaRPr lang="en-US" i="1" dirty="0"/>
              </a:p>
              <a:p>
                <a:r>
                  <a:rPr lang="en-US" dirty="0"/>
                  <a:t>Can find </a:t>
                </a:r>
                <a:r>
                  <a:rPr lang="en-US" i="1" dirty="0"/>
                  <a:t>location</a:t>
                </a:r>
                <a:r>
                  <a:rPr lang="en-US" dirty="0"/>
                  <a:t> of the median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But then go see what that number is!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2188B-C5C5-974E-B7A1-C4DF49071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17469" cy="5032375"/>
              </a:xfrm>
              <a:blipFill>
                <a:blip r:embed="rId3"/>
                <a:stretch>
                  <a:fillRect l="-1036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F93C436-5735-B849-9470-CCF7F93DC5BD}"/>
              </a:ext>
            </a:extLst>
          </p:cNvPr>
          <p:cNvSpPr txBox="1"/>
          <p:nvPr/>
        </p:nvSpPr>
        <p:spPr>
          <a:xfrm>
            <a:off x="838199" y="6334780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1           2         3          4          5            6           7            8            9             10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73871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795F6F6D-5719-974D-807F-70EFE6E30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786" y="4156556"/>
            <a:ext cx="8345214" cy="2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Scales of Measurement</a:t>
            </a:r>
            <a:r>
              <a:rPr lang="en-US" dirty="0"/>
              <a:t>: Ordinal, Interval, Ratio</a:t>
            </a:r>
          </a:p>
          <a:p>
            <a:r>
              <a:rPr lang="en-US" dirty="0"/>
              <a:t>Most common for ordinal</a:t>
            </a:r>
          </a:p>
          <a:p>
            <a:r>
              <a:rPr lang="en-US" dirty="0"/>
              <a:t>Also used when data is very skewed (more later)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Reliability in Variability</a:t>
            </a:r>
            <a:r>
              <a:rPr lang="en-US" dirty="0"/>
              <a:t>: Moderately reliable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2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C85FAE87-69E3-504F-A4B1-696DB176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786" y="4156556"/>
            <a:ext cx="8345214" cy="2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88515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dirty="0"/>
              <a:t>Can be used with ordinal, interval, and ratio data</a:t>
            </a:r>
          </a:p>
          <a:p>
            <a:r>
              <a:rPr lang="en-US" dirty="0"/>
              <a:t>Best for ordinal data</a:t>
            </a:r>
          </a:p>
          <a:p>
            <a:r>
              <a:rPr lang="en-US" dirty="0"/>
              <a:t>Less biased (than mean) when data are very skewed</a:t>
            </a:r>
          </a:p>
          <a:p>
            <a:r>
              <a:rPr lang="en-US" dirty="0"/>
              <a:t>Not affected by outliers</a:t>
            </a:r>
          </a:p>
        </p:txBody>
      </p:sp>
    </p:spTree>
    <p:extLst>
      <p:ext uri="{BB962C8B-B14F-4D97-AF65-F5344CB8AC3E}">
        <p14:creationId xmlns:p14="http://schemas.microsoft.com/office/powerpoint/2010/main" val="410362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(</a:t>
            </a:r>
            <a:r>
              <a:rPr lang="en-US" i="1" dirty="0" err="1"/>
              <a:t>mdn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7126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Disadvantages</a:t>
            </a:r>
            <a:r>
              <a:rPr lang="en-US" dirty="0"/>
              <a:t>: </a:t>
            </a:r>
          </a:p>
          <a:p>
            <a:r>
              <a:rPr lang="en-US" dirty="0"/>
              <a:t>Not used in many statistical computations</a:t>
            </a:r>
          </a:p>
          <a:p>
            <a:r>
              <a:rPr lang="en-US" dirty="0"/>
              <a:t>More subject to sampling variation than mean</a:t>
            </a:r>
          </a:p>
          <a:p>
            <a:pPr lvl="1"/>
            <a:r>
              <a:rPr lang="en-US" dirty="0"/>
              <a:t>i.e., it is not stable across samples</a:t>
            </a:r>
          </a:p>
          <a:p>
            <a:endParaRPr lang="en-US" dirty="0"/>
          </a:p>
        </p:txBody>
      </p:sp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C85FAE87-69E3-504F-A4B1-696DB176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786" y="4156556"/>
            <a:ext cx="8345214" cy="2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3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163CD-8269-774F-7367-DFAACBE4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37A30F-F751-FDB0-A396-81B8E23D6A94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0EB1F2-CA6F-B056-9DE0-AEC608D163C5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A899E86-8C05-FDE1-B725-A3074D9C4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6104F138-2F24-3919-5D8D-4385A58D7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8DBA2EE-236F-E422-CD5D-9221DF9F0B6A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F6CC301-BC37-3C9A-284D-F9335F42B278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E198208-A0EE-ABD8-8FD7-6E2A5017140A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210F26-2372-3BB4-8CC2-62824099CBC5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1BD34FF-16DD-A3F0-6BDF-CB23502D7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913A511-4371-60B2-0AAE-9F6DB00D448B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FE4ABF-4259-2A6B-791F-6B085AF8A3E7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AE3051-6BBF-C943-1044-9F7148924C72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22548B-BA06-7A2A-FC70-D9749F859E97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DBCEFB6-928C-AFF2-D060-7DBE9D213978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68E37D-4319-033B-59E0-07414146FA3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564826C-2E46-7386-D687-F94BCAE3313E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3EDAC9B9-CAC7-81DE-DC91-5E05221408AF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3069691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The arithmetic average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2AEB75A1-518F-294F-A166-7F96B0DCD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53917-EDE9-364E-AB97-4D2E64C7B47F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1           2         3         6           10            20        35          50         65             75          85</a:t>
            </a:r>
          </a:p>
        </p:txBody>
      </p:sp>
    </p:spTree>
    <p:extLst>
      <p:ext uri="{BB962C8B-B14F-4D97-AF65-F5344CB8AC3E}">
        <p14:creationId xmlns:p14="http://schemas.microsoft.com/office/powerpoint/2010/main" val="2587432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2AEB75A1-518F-294F-A166-7F96B0DCD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2188B-C5C5-974E-B7A1-C4DF49071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Computation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2188B-C5C5-974E-B7A1-C4DF49071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27269F-2BDF-CF45-80E1-1340EF6DD33C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1           2         3         6           10            20        35          50         65             75          85</a:t>
            </a:r>
          </a:p>
        </p:txBody>
      </p:sp>
    </p:spTree>
    <p:extLst>
      <p:ext uri="{BB962C8B-B14F-4D97-AF65-F5344CB8AC3E}">
        <p14:creationId xmlns:p14="http://schemas.microsoft.com/office/powerpoint/2010/main" val="2347096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2BA1-3EAC-C97C-F1CE-A41EC754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CAB462AA-E15D-4E4C-30DE-07F5EFB42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F73B92-7D85-8CBB-A554-C6063682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5F403-4C47-0DC0-4BBC-08DED509F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4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CA" sz="4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CA" sz="4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5F403-4C47-0DC0-4BBC-08DED509F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E7616A-AC0B-3C8C-A386-688B84A9F4BC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1           2         3         6           10            20        35          50         65             75          85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3CA9E018-F432-7BD0-9A32-F7B925E38B0B}"/>
              </a:ext>
            </a:extLst>
          </p:cNvPr>
          <p:cNvSpPr/>
          <p:nvPr/>
        </p:nvSpPr>
        <p:spPr>
          <a:xfrm>
            <a:off x="4572000" y="1955800"/>
            <a:ext cx="914400" cy="317500"/>
          </a:xfrm>
          <a:prstGeom prst="leftArrow">
            <a:avLst/>
          </a:prstGeom>
          <a:ln>
            <a:solidFill>
              <a:srgbClr val="ED7D3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EA62E-F146-D4A9-852E-95C1221316CA}"/>
              </a:ext>
            </a:extLst>
          </p:cNvPr>
          <p:cNvSpPr txBox="1"/>
          <p:nvPr/>
        </p:nvSpPr>
        <p:spPr>
          <a:xfrm>
            <a:off x="907236" y="1637496"/>
            <a:ext cx="35957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ED7D31"/>
                </a:solidFill>
              </a:rPr>
              <a:t>Sigma: Sum everything</a:t>
            </a:r>
          </a:p>
          <a:p>
            <a:pPr algn="ctr"/>
            <a:r>
              <a:rPr lang="en-US" sz="2800" b="1" dirty="0">
                <a:solidFill>
                  <a:srgbClr val="ED7D31"/>
                </a:solidFill>
              </a:rPr>
              <a:t>next to me 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3631CEC-3DA3-EDAE-29B9-1A4AB3AB8FED}"/>
              </a:ext>
            </a:extLst>
          </p:cNvPr>
          <p:cNvSpPr/>
          <p:nvPr/>
        </p:nvSpPr>
        <p:spPr>
          <a:xfrm rot="10800000">
            <a:off x="6705602" y="1949450"/>
            <a:ext cx="914400" cy="317500"/>
          </a:xfrm>
          <a:prstGeom prst="lef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71B47-D6D6-D9A8-330E-6298F288BF26}"/>
              </a:ext>
            </a:extLst>
          </p:cNvPr>
          <p:cNvSpPr txBox="1"/>
          <p:nvPr/>
        </p:nvSpPr>
        <p:spPr>
          <a:xfrm>
            <a:off x="7682921" y="1637496"/>
            <a:ext cx="36079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X: all of your data</a:t>
            </a:r>
            <a:b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(see below: 1, 2, 3, 6…)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F2EE11D2-A251-4245-63D0-BDABF8A69354}"/>
              </a:ext>
            </a:extLst>
          </p:cNvPr>
          <p:cNvSpPr/>
          <p:nvPr/>
        </p:nvSpPr>
        <p:spPr>
          <a:xfrm>
            <a:off x="4864100" y="2761780"/>
            <a:ext cx="914400" cy="317500"/>
          </a:xfrm>
          <a:prstGeom prst="lef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6AA18-6611-48A6-8381-E437E7C5F176}"/>
              </a:ext>
            </a:extLst>
          </p:cNvPr>
          <p:cNvSpPr txBox="1"/>
          <p:nvPr/>
        </p:nvSpPr>
        <p:spPr>
          <a:xfrm>
            <a:off x="319886" y="2647013"/>
            <a:ext cx="4480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Sample Size: How much data</a:t>
            </a:r>
          </a:p>
        </p:txBody>
      </p:sp>
    </p:spTree>
    <p:extLst>
      <p:ext uri="{BB962C8B-B14F-4D97-AF65-F5344CB8AC3E}">
        <p14:creationId xmlns:p14="http://schemas.microsoft.com/office/powerpoint/2010/main" val="369336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B9D7-52DF-916C-3701-978FB8E9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760CA2C1-93A9-B684-3BD1-B0FFCA42E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61A9AA-5F38-F38F-377A-6EA8C1C1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0663B-E663-BF7A-4930-AC5D074DE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Computation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CA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0663B-E663-BF7A-4930-AC5D074DE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37481F5-390E-4674-AB4B-9A964320E04E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1           2         3         6           10            20        35          50         65             75          85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17EE2D-DDC4-F67B-BA1E-E26D0F2595E6}"/>
              </a:ext>
            </a:extLst>
          </p:cNvPr>
          <p:cNvCxnSpPr>
            <a:cxnSpLocks/>
          </p:cNvCxnSpPr>
          <p:nvPr/>
        </p:nvCxnSpPr>
        <p:spPr>
          <a:xfrm flipV="1">
            <a:off x="6413157" y="3187700"/>
            <a:ext cx="0" cy="3670299"/>
          </a:xfrm>
          <a:prstGeom prst="line">
            <a:avLst/>
          </a:prstGeom>
          <a:ln w="635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C60AF1-7F86-3242-DAE4-95AFAAAC4D12}"/>
              </a:ext>
            </a:extLst>
          </p:cNvPr>
          <p:cNvSpPr txBox="1"/>
          <p:nvPr/>
        </p:nvSpPr>
        <p:spPr>
          <a:xfrm>
            <a:off x="6061137" y="2467012"/>
            <a:ext cx="13596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D7D31"/>
                </a:solidFill>
              </a:rPr>
              <a:t>32.00</a:t>
            </a:r>
            <a:endParaRPr lang="en-US" b="1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27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2AEB75A1-518F-294F-A166-7F96B0DCD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6" y="3055466"/>
            <a:ext cx="12002814" cy="3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Scales of Measurement</a:t>
            </a:r>
            <a:r>
              <a:rPr lang="en-US" dirty="0"/>
              <a:t>: Interval, Ratio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Reliability in Variability</a:t>
            </a:r>
            <a:r>
              <a:rPr lang="en-US" dirty="0"/>
              <a:t>: Most reliable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8CCAE-5254-264A-B394-302397A0E2C2}"/>
              </a:ext>
            </a:extLst>
          </p:cNvPr>
          <p:cNvSpPr txBox="1"/>
          <p:nvPr/>
        </p:nvSpPr>
        <p:spPr>
          <a:xfrm>
            <a:off x="189186" y="6337738"/>
            <a:ext cx="1200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1           2         3         6           10            20        35          50         65             75          85</a:t>
            </a:r>
          </a:p>
        </p:txBody>
      </p:sp>
    </p:spTree>
    <p:extLst>
      <p:ext uri="{BB962C8B-B14F-4D97-AF65-F5344CB8AC3E}">
        <p14:creationId xmlns:p14="http://schemas.microsoft.com/office/powerpoint/2010/main" val="409659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dirty="0"/>
              <a:t>Takes into account quantitative information</a:t>
            </a:r>
          </a:p>
          <a:p>
            <a:r>
              <a:rPr lang="en-US" dirty="0"/>
              <a:t>Most meaningful for interpretation</a:t>
            </a:r>
          </a:p>
          <a:p>
            <a:r>
              <a:rPr lang="en-US" dirty="0"/>
              <a:t>Most commonly used in statistical equations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4C4491B0-0686-D048-9865-134B58B1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786" y="4156556"/>
            <a:ext cx="8345214" cy="2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3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71C3-2675-C749-9BB9-3FE6900E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(</a:t>
            </a:r>
            <a:r>
              <a:rPr lang="en-US" i="1" dirty="0"/>
              <a:t>x̄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188B-C5C5-974E-B7A1-C4DF4907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Disadvantages</a:t>
            </a:r>
            <a:r>
              <a:rPr lang="en-US" dirty="0"/>
              <a:t>: </a:t>
            </a:r>
          </a:p>
          <a:p>
            <a:r>
              <a:rPr lang="en-US" dirty="0"/>
              <a:t>Only applies to </a:t>
            </a:r>
            <a:r>
              <a:rPr lang="en-US" i="1" dirty="0"/>
              <a:t>score </a:t>
            </a:r>
            <a:r>
              <a:rPr lang="en-US" dirty="0"/>
              <a:t>(i.e., Interval &amp; ratio) data</a:t>
            </a:r>
          </a:p>
          <a:p>
            <a:r>
              <a:rPr lang="en-US" dirty="0"/>
              <a:t>Not good if data is very skewed (more on that later)</a:t>
            </a:r>
          </a:p>
        </p:txBody>
      </p:sp>
      <p:pic>
        <p:nvPicPr>
          <p:cNvPr id="6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4C4491B0-0686-D048-9865-134B58B1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786" y="4156556"/>
            <a:ext cx="8345214" cy="2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36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488675"/>
                  </p:ext>
                </p:extLst>
              </p:nvPr>
            </p:nvGraphicFramePr>
            <p:xfrm>
              <a:off x="432148" y="72654"/>
              <a:ext cx="11327704" cy="6675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1926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</a:tblGrid>
                  <a:tr h="606802">
                    <a:tc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Mode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mdn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x̄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Description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most common response or category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 in the physical middle of the data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The arithmetic average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69456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Computation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highest frequency (visually)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i="1" dirty="0"/>
                            <a:t>Location:</a:t>
                          </a:r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Scales of Measurement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Nominal, Ordinal, Interval, Ratio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Ordinal, 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Reliability in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Least reliable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Moderately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Most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879886"/>
                      </a:ext>
                    </a:extLst>
                  </a:tr>
                  <a:tr h="18535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Easy to compute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Can be used for any scale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affected by outliers</a:t>
                          </a:r>
                        </a:p>
                        <a:p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Can be used with rank and score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Best for ranked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Less biased (than mean) when data are very skewed and by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Takes into account quantitative information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meaningful for interpretation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commonly used/ most statistics uses it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1600815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b="1" dirty="0"/>
                            <a:t>Disadvantages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used in most inferential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reliable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associated with any measure of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used in many statistical computations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More subject to sampling variation than 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Only applies to </a:t>
                          </a:r>
                          <a:r>
                            <a:rPr lang="en-US" i="1" dirty="0"/>
                            <a:t>score </a:t>
                          </a:r>
                          <a:r>
                            <a:rPr lang="en-US" dirty="0"/>
                            <a:t>(i.e., Interval &amp; ratio)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good if data is very skewed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488675"/>
                  </p:ext>
                </p:extLst>
              </p:nvPr>
            </p:nvGraphicFramePr>
            <p:xfrm>
              <a:off x="432148" y="72654"/>
              <a:ext cx="11327704" cy="6675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1926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831926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Mode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mdn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x̄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Description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most common response or category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 in the physical middle of the data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The arithmetic average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69456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Computation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The highest frequency (visually)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15" t="-188596" r="-100430" b="-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215" t="-188596" r="-430" b="-68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Scales of Measurement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Nominal, Ordinal, Interval, Ratio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Ordinal, 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Interval,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60680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Reliability in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Least reliable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Moderately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Most reliable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879886"/>
                      </a:ext>
                    </a:extLst>
                  </a:tr>
                  <a:tr h="18535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Easy to compute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Can be used for any scale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affected by outliers</a:t>
                          </a:r>
                        </a:p>
                        <a:p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Can be used with rank and score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Best for ranked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Less biased (than mean) when data are very skewed and by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Takes into account quantitative information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meaningful for interpretation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Most commonly used/ most statistics uses it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1600815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b="1" dirty="0"/>
                            <a:t>Disadvantages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used in most inferential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reliable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/>
                            <a:t>Not associated with any measure of variability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used in many statistical computations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More subject to sampling variation than 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Only applies to </a:t>
                          </a:r>
                          <a:r>
                            <a:rPr lang="en-US" i="1" dirty="0"/>
                            <a:t>score </a:t>
                          </a:r>
                          <a:r>
                            <a:rPr lang="en-US" dirty="0"/>
                            <a:t>(i.e., Interval &amp; ratio) data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Not good if data is very skewed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9175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CBFE-8DFA-7D47-9F1E-BF02A38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Reframing with Scales of Measurement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A7479E-8AD0-1645-A36D-F4852CFA8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004013"/>
              </p:ext>
            </p:extLst>
          </p:nvPr>
        </p:nvGraphicFramePr>
        <p:xfrm>
          <a:off x="555170" y="1690688"/>
          <a:ext cx="11283045" cy="421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09">
                  <a:extLst>
                    <a:ext uri="{9D8B030D-6E8A-4147-A177-3AD203B41FA5}">
                      <a16:colId xmlns:a16="http://schemas.microsoft.com/office/drawing/2014/main" val="3856334550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205383047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523962979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1972242338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3635198318"/>
                    </a:ext>
                  </a:extLst>
                </a:gridCol>
              </a:tblGrid>
              <a:tr h="670802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76478"/>
                  </a:ext>
                </a:extLst>
              </a:tr>
              <a:tr h="123670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Rank-Ordered</a:t>
                      </a:r>
                    </a:p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(no 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1647"/>
                  </a:ext>
                </a:extLst>
              </a:tr>
              <a:tr h="511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86508"/>
                  </a:ext>
                </a:extLst>
              </a:tr>
              <a:tr h="16540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81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420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CBFE-8DFA-7D47-9F1E-BF02A38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Reframing with Scales of Measurement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A7479E-8AD0-1645-A36D-F4852CFA8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535874"/>
              </p:ext>
            </p:extLst>
          </p:nvPr>
        </p:nvGraphicFramePr>
        <p:xfrm>
          <a:off x="555170" y="1690688"/>
          <a:ext cx="11283045" cy="421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09">
                  <a:extLst>
                    <a:ext uri="{9D8B030D-6E8A-4147-A177-3AD203B41FA5}">
                      <a16:colId xmlns:a16="http://schemas.microsoft.com/office/drawing/2014/main" val="3856334550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205383047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523962979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1972242338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3635198318"/>
                    </a:ext>
                  </a:extLst>
                </a:gridCol>
              </a:tblGrid>
              <a:tr h="670802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76478"/>
                  </a:ext>
                </a:extLst>
              </a:tr>
              <a:tr h="123670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Rank-Ordered</a:t>
                      </a:r>
                    </a:p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(no 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1647"/>
                  </a:ext>
                </a:extLst>
              </a:tr>
              <a:tr h="511756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Data Type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86508"/>
                  </a:ext>
                </a:extLst>
              </a:tr>
              <a:tr h="16540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81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625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CBFE-8DFA-7D47-9F1E-BF02A38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Reframing with Scales of Measurement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A7479E-8AD0-1645-A36D-F4852CFA86F4}"/>
              </a:ext>
            </a:extLst>
          </p:cNvPr>
          <p:cNvGraphicFramePr>
            <a:graphicFrameLocks noGrp="1"/>
          </p:cNvGraphicFramePr>
          <p:nvPr/>
        </p:nvGraphicFramePr>
        <p:xfrm>
          <a:off x="555170" y="1690688"/>
          <a:ext cx="11283045" cy="421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09">
                  <a:extLst>
                    <a:ext uri="{9D8B030D-6E8A-4147-A177-3AD203B41FA5}">
                      <a16:colId xmlns:a16="http://schemas.microsoft.com/office/drawing/2014/main" val="3856334550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205383047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523962979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1972242338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3635198318"/>
                    </a:ext>
                  </a:extLst>
                </a:gridCol>
              </a:tblGrid>
              <a:tr h="670802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76478"/>
                  </a:ext>
                </a:extLst>
              </a:tr>
              <a:tr h="123670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Rank-Ordered</a:t>
                      </a:r>
                    </a:p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(no 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1647"/>
                  </a:ext>
                </a:extLst>
              </a:tr>
              <a:tr h="511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86508"/>
                  </a:ext>
                </a:extLst>
              </a:tr>
              <a:tr h="16540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81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542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CBFE-8DFA-7D47-9F1E-BF02A38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Reframing with Scales of Measurement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5534C7-8C19-FE48-9B9F-6C3B3DC0E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05128"/>
              </p:ext>
            </p:extLst>
          </p:nvPr>
        </p:nvGraphicFramePr>
        <p:xfrm>
          <a:off x="454477" y="1347788"/>
          <a:ext cx="11283045" cy="5393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09">
                  <a:extLst>
                    <a:ext uri="{9D8B030D-6E8A-4147-A177-3AD203B41FA5}">
                      <a16:colId xmlns:a16="http://schemas.microsoft.com/office/drawing/2014/main" val="3856334550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205383047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523962979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1972242338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3635198318"/>
                    </a:ext>
                  </a:extLst>
                </a:gridCol>
              </a:tblGrid>
              <a:tr h="590639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76478"/>
                  </a:ext>
                </a:extLst>
              </a:tr>
              <a:tr h="120769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Rank-Ordered</a:t>
                      </a:r>
                    </a:p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(no 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1647"/>
                  </a:ext>
                </a:extLst>
              </a:tr>
              <a:tr h="45623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86508"/>
                  </a:ext>
                </a:extLst>
              </a:tr>
              <a:tr h="145637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81417"/>
                  </a:ext>
                </a:extLst>
              </a:tr>
              <a:tr h="145637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Variability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41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286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F35ACF-7887-C5ED-96CC-E0EC9AEF1A2E}"/>
              </a:ext>
            </a:extLst>
          </p:cNvPr>
          <p:cNvGrpSpPr/>
          <p:nvPr/>
        </p:nvGrpSpPr>
        <p:grpSpPr>
          <a:xfrm>
            <a:off x="310684" y="1928841"/>
            <a:ext cx="11697153" cy="4224542"/>
            <a:chOff x="0" y="1744937"/>
            <a:chExt cx="9043951" cy="32663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DF8727-7148-4CCF-A2E1-0278AD229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5248"/>
            <a:stretch>
              <a:fillRect/>
            </a:stretch>
          </p:blipFill>
          <p:spPr>
            <a:xfrm>
              <a:off x="0" y="1846751"/>
              <a:ext cx="7894553" cy="31644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BF1A4E-D231-4ACD-3119-74AE4642B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756" b="18604"/>
            <a:stretch>
              <a:fillRect/>
            </a:stretch>
          </p:blipFill>
          <p:spPr>
            <a:xfrm>
              <a:off x="4990809" y="1744937"/>
              <a:ext cx="4053142" cy="2575777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7F1364-3ADA-DF51-5D40-C754E355FF55}"/>
              </a:ext>
            </a:extLst>
          </p:cNvPr>
          <p:cNvSpPr/>
          <p:nvPr/>
        </p:nvSpPr>
        <p:spPr>
          <a:xfrm>
            <a:off x="6101752" y="5260267"/>
            <a:ext cx="1276709" cy="7723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88D1B-B6C3-E657-52D9-F27084A30D78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9BDAA-B437-C6E2-B719-46D0B05C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Stats Problem Generator</a:t>
            </a:r>
          </a:p>
        </p:txBody>
      </p:sp>
    </p:spTree>
    <p:extLst>
      <p:ext uri="{BB962C8B-B14F-4D97-AF65-F5344CB8AC3E}">
        <p14:creationId xmlns:p14="http://schemas.microsoft.com/office/powerpoint/2010/main" val="323459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C2C4-FAB2-1526-91EA-D0AA69A8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BCBBDC2-FCFC-AE80-9584-E29005224FCC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9E6B3C6-6F77-6955-04B2-E804D3F51FA9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ADFE620-7DD1-F6A1-462D-AF5D13C19B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648F16A1-5BCE-A3AF-9AC0-AF8A23D985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0B14F3F-B997-8517-ED8A-D6338940902E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B43EF4D-9C04-100D-77FF-14B1A90661F9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30F0A2B-A5AC-E5BB-4555-64D2C2CDA48A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1D564BC-D54F-3E5C-14F0-357E8B0CF12E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CA3D96A-4721-581A-7A7D-8C01502085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86C0F6E-5AED-0636-E359-C75C9102325F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534D37-C2E9-CC9E-ECDB-49EF4A3E2090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4BC21D-FC6F-1DD9-1686-4F5CF1317FAC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8DE8B12-CB35-C7BD-E16B-FBE0F85A8877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5F63B9-9572-19A1-1668-E461BF4CB023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8F5BB8-DE63-17AA-32C1-FF82B74AD4D9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CAEFDE-FB9B-8F85-2A78-23C133BF118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E00ED64-6F73-1660-1CD0-1C6A2851F757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2787120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B0A7-E15B-284B-96E2-EB82F15C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Central Tendency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AA2B42-929A-DA4A-ACF2-EB511111F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3907" cy="4351338"/>
          </a:xfrm>
        </p:spPr>
        <p:txBody>
          <a:bodyPr/>
          <a:lstStyle/>
          <a:p>
            <a:r>
              <a:rPr lang="en-US" dirty="0"/>
              <a:t>Both samples on the right have identical mode, median, and mean.</a:t>
            </a:r>
          </a:p>
          <a:p>
            <a:r>
              <a:rPr lang="en-US" dirty="0"/>
              <a:t>The distribution on the bottom shows how the median and mean really do not represent the distribution well at all </a:t>
            </a:r>
          </a:p>
          <a:p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A36EFEDC-F1CC-9249-AD97-261FDAD28D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949"/>
          <a:stretch/>
        </p:blipFill>
        <p:spPr>
          <a:xfrm>
            <a:off x="7872760" y="1631432"/>
            <a:ext cx="3813717" cy="2642912"/>
          </a:xfrm>
          <a:prstGeom prst="rect">
            <a:avLst/>
          </a:prstGeo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D5E74367-9DFC-4B49-A4FB-5A228BBF77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949"/>
          <a:stretch/>
        </p:blipFill>
        <p:spPr>
          <a:xfrm>
            <a:off x="7872761" y="4215088"/>
            <a:ext cx="3813717" cy="2642912"/>
          </a:xfrm>
          <a:prstGeom prst="rect">
            <a:avLst/>
          </a:prstGeom>
        </p:spPr>
      </p:pic>
      <p:pic>
        <p:nvPicPr>
          <p:cNvPr id="9" name="Picture 8" descr="A picture containing text, scale&#10;&#10;Description automatically generated">
            <a:extLst>
              <a:ext uri="{FF2B5EF4-FFF2-40B4-BE49-F238E27FC236}">
                <a16:creationId xmlns:a16="http://schemas.microsoft.com/office/drawing/2014/main" id="{96D1F17E-47FA-2E45-874C-27C055C5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473" y="4001294"/>
            <a:ext cx="4077473" cy="284931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554C00-45C3-6649-9933-B20AEC49C9E7}"/>
              </a:ext>
            </a:extLst>
          </p:cNvPr>
          <p:cNvCxnSpPr>
            <a:cxnSpLocks/>
          </p:cNvCxnSpPr>
          <p:nvPr/>
        </p:nvCxnSpPr>
        <p:spPr>
          <a:xfrm>
            <a:off x="4638907" y="4338007"/>
            <a:ext cx="3871" cy="19618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E9C9CC3-95ED-4830-37E4-F30BF18145CA}"/>
              </a:ext>
            </a:extLst>
          </p:cNvPr>
          <p:cNvSpPr txBox="1"/>
          <p:nvPr/>
        </p:nvSpPr>
        <p:spPr>
          <a:xfrm>
            <a:off x="4209001" y="6261810"/>
            <a:ext cx="904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Median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265114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32B4-7400-A14A-AB39-20FB4B7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in Participant Scores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C7F7B1A-48B0-A045-94DC-85B90CE8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884" y="2026444"/>
            <a:ext cx="5621325" cy="394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8A3760-708F-0E47-A895-1EB237FE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6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For a single participant measurement</a:t>
            </a:r>
          </a:p>
          <a:p>
            <a:r>
              <a:rPr lang="en-US" sz="3600" b="1" dirty="0"/>
              <a:t>X</a:t>
            </a:r>
            <a:r>
              <a:rPr lang="en-US" sz="3600" b="1" baseline="-25000" dirty="0"/>
              <a:t>o</a:t>
            </a:r>
            <a:r>
              <a:rPr lang="en-US" sz="3600" b="1" dirty="0"/>
              <a:t> = </a:t>
            </a:r>
            <a:r>
              <a:rPr lang="en-US" sz="3600" b="1" dirty="0" err="1"/>
              <a:t>X</a:t>
            </a:r>
            <a:r>
              <a:rPr lang="en-US" sz="3600" b="1" baseline="-25000" dirty="0" err="1"/>
              <a:t>t</a:t>
            </a:r>
            <a:r>
              <a:rPr lang="en-US" sz="3600" b="1" dirty="0"/>
              <a:t> + X</a:t>
            </a:r>
            <a:r>
              <a:rPr lang="en-US" sz="3600" b="1" baseline="-25000" dirty="0"/>
              <a:t>e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o</a:t>
            </a:r>
            <a:r>
              <a:rPr lang="en-US" sz="3200" b="1" dirty="0"/>
              <a:t> = </a:t>
            </a:r>
            <a:r>
              <a:rPr lang="en-US" sz="3200" dirty="0"/>
              <a:t>Observed score</a:t>
            </a:r>
          </a:p>
          <a:p>
            <a:pPr lvl="1"/>
            <a:r>
              <a:rPr lang="en-US" sz="3200" b="1" dirty="0" err="1"/>
              <a:t>X</a:t>
            </a:r>
            <a:r>
              <a:rPr lang="en-US" sz="3200" b="1" baseline="-25000" dirty="0" err="1"/>
              <a:t>t</a:t>
            </a:r>
            <a:r>
              <a:rPr lang="en-US" sz="3200" b="1" dirty="0"/>
              <a:t> = </a:t>
            </a:r>
            <a:r>
              <a:rPr lang="en-US" sz="3200" dirty="0"/>
              <a:t>True score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e</a:t>
            </a:r>
            <a:r>
              <a:rPr lang="en-US" sz="3200" b="1" dirty="0"/>
              <a:t> = </a:t>
            </a:r>
            <a:r>
              <a:rPr lang="en-US" sz="3200" dirty="0"/>
              <a:t>Error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57390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32B4-7400-A14A-AB39-20FB4B7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in Participant Scores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C7F7B1A-48B0-A045-94DC-85B90CE8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884" y="2026444"/>
            <a:ext cx="5621325" cy="394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8A3760-708F-0E47-A895-1EB237FE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605"/>
            <a:ext cx="55076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For a single participant measurement</a:t>
            </a:r>
          </a:p>
          <a:p>
            <a:r>
              <a:rPr lang="en-US" sz="3600" b="1" dirty="0"/>
              <a:t>X</a:t>
            </a:r>
            <a:r>
              <a:rPr lang="en-US" sz="3600" b="1" baseline="-25000" dirty="0"/>
              <a:t>o</a:t>
            </a:r>
            <a:r>
              <a:rPr lang="en-US" sz="3600" b="1" dirty="0"/>
              <a:t> = </a:t>
            </a:r>
            <a:r>
              <a:rPr lang="en-US" sz="3600" b="1" dirty="0" err="1"/>
              <a:t>X</a:t>
            </a:r>
            <a:r>
              <a:rPr lang="en-US" sz="3600" b="1" baseline="-25000" dirty="0" err="1"/>
              <a:t>t</a:t>
            </a:r>
            <a:r>
              <a:rPr lang="en-US" sz="3600" b="1" dirty="0"/>
              <a:t> + X</a:t>
            </a:r>
            <a:r>
              <a:rPr lang="en-US" sz="3600" b="1" baseline="-25000" dirty="0"/>
              <a:t>e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o</a:t>
            </a:r>
            <a:r>
              <a:rPr lang="en-US" sz="3200" b="1" dirty="0"/>
              <a:t> = </a:t>
            </a:r>
            <a:r>
              <a:rPr lang="en-US" sz="3200" dirty="0"/>
              <a:t>Observed score</a:t>
            </a:r>
          </a:p>
          <a:p>
            <a:pPr lvl="1"/>
            <a:r>
              <a:rPr lang="en-US" sz="3200" b="1" dirty="0" err="1"/>
              <a:t>X</a:t>
            </a:r>
            <a:r>
              <a:rPr lang="en-US" sz="3200" b="1" baseline="-25000" dirty="0" err="1"/>
              <a:t>t</a:t>
            </a:r>
            <a:r>
              <a:rPr lang="en-US" sz="3200" b="1" dirty="0"/>
              <a:t> = </a:t>
            </a:r>
            <a:r>
              <a:rPr lang="en-US" sz="3200" dirty="0"/>
              <a:t>True score</a:t>
            </a:r>
          </a:p>
          <a:p>
            <a:pPr lvl="1"/>
            <a:r>
              <a:rPr lang="en-US" sz="3200" b="1" dirty="0">
                <a:solidFill>
                  <a:srgbClr val="FF0000"/>
                </a:solidFill>
              </a:rPr>
              <a:t>X</a:t>
            </a:r>
            <a:r>
              <a:rPr lang="en-US" sz="3200" b="1" baseline="-25000" dirty="0">
                <a:solidFill>
                  <a:srgbClr val="FF0000"/>
                </a:solidFill>
              </a:rPr>
              <a:t>e</a:t>
            </a:r>
            <a:r>
              <a:rPr lang="en-US" sz="3200" b="1" dirty="0">
                <a:solidFill>
                  <a:srgbClr val="FF0000"/>
                </a:solidFill>
              </a:rPr>
              <a:t> = </a:t>
            </a:r>
            <a:r>
              <a:rPr lang="en-US" sz="3200" dirty="0">
                <a:solidFill>
                  <a:srgbClr val="FF0000"/>
                </a:solidFill>
              </a:rPr>
              <a:t>Error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11744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32B4-7400-A14A-AB39-20FB4B7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in Distributions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C7F7B1A-48B0-A045-94DC-85B90CE8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884" y="2026444"/>
            <a:ext cx="5621325" cy="394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8A3760-708F-0E47-A895-1EB237FE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6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For a group of participant measurements</a:t>
            </a:r>
          </a:p>
          <a:p>
            <a:r>
              <a:rPr lang="en-US" sz="3600" b="1" dirty="0"/>
              <a:t>X</a:t>
            </a:r>
            <a:r>
              <a:rPr lang="en-US" sz="3600" b="1" baseline="-25000" dirty="0"/>
              <a:t>o</a:t>
            </a:r>
            <a:r>
              <a:rPr lang="en-US" sz="3600" b="1" dirty="0"/>
              <a:t> = </a:t>
            </a:r>
            <a:r>
              <a:rPr lang="en-US" sz="3600" b="1" dirty="0" err="1"/>
              <a:t>X</a:t>
            </a:r>
            <a:r>
              <a:rPr lang="en-US" sz="3600" b="1" baseline="-25000" dirty="0" err="1"/>
              <a:t>t</a:t>
            </a:r>
            <a:r>
              <a:rPr lang="en-US" sz="3600" b="1" dirty="0"/>
              <a:t> + X</a:t>
            </a:r>
            <a:r>
              <a:rPr lang="en-US" sz="3600" b="1" baseline="-25000" dirty="0"/>
              <a:t>e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o</a:t>
            </a:r>
            <a:r>
              <a:rPr lang="en-US" sz="3200" b="1" dirty="0"/>
              <a:t> = </a:t>
            </a:r>
            <a:r>
              <a:rPr lang="en-US" sz="3200" dirty="0"/>
              <a:t>Observed score (one P)</a:t>
            </a:r>
          </a:p>
          <a:p>
            <a:pPr lvl="1"/>
            <a:r>
              <a:rPr lang="en-US" sz="3200" b="1" dirty="0" err="1"/>
              <a:t>X</a:t>
            </a:r>
            <a:r>
              <a:rPr lang="en-US" sz="3200" b="1" baseline="-25000" dirty="0" err="1"/>
              <a:t>t</a:t>
            </a:r>
            <a:r>
              <a:rPr lang="en-US" sz="3200" b="1" dirty="0"/>
              <a:t> = </a:t>
            </a:r>
            <a:r>
              <a:rPr lang="en-US" sz="3200" dirty="0"/>
              <a:t>Central tendency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e</a:t>
            </a:r>
            <a:r>
              <a:rPr lang="en-US" sz="3200" b="1" dirty="0"/>
              <a:t> = </a:t>
            </a:r>
            <a:r>
              <a:rPr lang="en-US" sz="3200" dirty="0"/>
              <a:t>Variability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3521575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32B4-7400-A14A-AB39-20FB4B7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in Distributions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C7F7B1A-48B0-A045-94DC-85B90CE8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884" y="2026444"/>
            <a:ext cx="5621325" cy="394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8A3760-708F-0E47-A895-1EB237FE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6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For a group of participant measurements</a:t>
            </a:r>
          </a:p>
          <a:p>
            <a:r>
              <a:rPr lang="en-US" sz="3600" b="1" dirty="0"/>
              <a:t>X</a:t>
            </a:r>
            <a:r>
              <a:rPr lang="en-US" sz="3600" b="1" baseline="-25000" dirty="0"/>
              <a:t>o</a:t>
            </a:r>
            <a:r>
              <a:rPr lang="en-US" sz="3600" b="1" dirty="0"/>
              <a:t> = </a:t>
            </a:r>
            <a:r>
              <a:rPr lang="en-US" sz="3600" b="1" dirty="0" err="1"/>
              <a:t>X</a:t>
            </a:r>
            <a:r>
              <a:rPr lang="en-US" sz="3600" b="1" baseline="-25000" dirty="0" err="1"/>
              <a:t>t</a:t>
            </a:r>
            <a:r>
              <a:rPr lang="en-US" sz="3600" b="1" dirty="0"/>
              <a:t> + X</a:t>
            </a:r>
            <a:r>
              <a:rPr lang="en-US" sz="3600" b="1" baseline="-25000" dirty="0"/>
              <a:t>e</a:t>
            </a:r>
          </a:p>
          <a:p>
            <a:pPr lvl="1"/>
            <a:r>
              <a:rPr lang="en-US" sz="3200" b="1" dirty="0"/>
              <a:t>X</a:t>
            </a:r>
            <a:r>
              <a:rPr lang="en-US" sz="3200" b="1" baseline="-25000" dirty="0"/>
              <a:t>o</a:t>
            </a:r>
            <a:r>
              <a:rPr lang="en-US" sz="3200" b="1" dirty="0"/>
              <a:t> = </a:t>
            </a:r>
            <a:r>
              <a:rPr lang="en-US" sz="3200" dirty="0"/>
              <a:t>Observed score (one P)</a:t>
            </a:r>
          </a:p>
          <a:p>
            <a:pPr lvl="1"/>
            <a:r>
              <a:rPr lang="en-US" sz="3200" b="1" dirty="0" err="1"/>
              <a:t>X</a:t>
            </a:r>
            <a:r>
              <a:rPr lang="en-US" sz="3200" b="1" baseline="-25000" dirty="0" err="1"/>
              <a:t>t</a:t>
            </a:r>
            <a:r>
              <a:rPr lang="en-US" sz="3200" b="1" dirty="0"/>
              <a:t> = </a:t>
            </a:r>
            <a:r>
              <a:rPr lang="en-US" sz="3200" dirty="0"/>
              <a:t>Central tendency</a:t>
            </a:r>
          </a:p>
          <a:p>
            <a:pPr lvl="1"/>
            <a:r>
              <a:rPr lang="en-US" sz="3200" b="1" dirty="0">
                <a:solidFill>
                  <a:srgbClr val="FF0000"/>
                </a:solidFill>
              </a:rPr>
              <a:t>X</a:t>
            </a:r>
            <a:r>
              <a:rPr lang="en-US" sz="3200" b="1" baseline="-25000" dirty="0">
                <a:solidFill>
                  <a:srgbClr val="FF0000"/>
                </a:solidFill>
              </a:rPr>
              <a:t>e</a:t>
            </a:r>
            <a:r>
              <a:rPr lang="en-US" sz="3200" b="1" dirty="0">
                <a:solidFill>
                  <a:srgbClr val="FF0000"/>
                </a:solidFill>
              </a:rPr>
              <a:t> = </a:t>
            </a:r>
            <a:r>
              <a:rPr lang="en-US" sz="3200" dirty="0">
                <a:solidFill>
                  <a:srgbClr val="FF0000"/>
                </a:solidFill>
              </a:rPr>
              <a:t>Variability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50128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322A-C8BA-5144-A955-98EA8A5C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Measure of Variability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1A1D5-17A4-DC4D-AD94-A12FE6A2B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8299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Variability</a:t>
            </a:r>
            <a:r>
              <a:rPr lang="en-US" dirty="0"/>
              <a:t>: Measure that describes how spread out our data are</a:t>
            </a:r>
          </a:p>
          <a:p>
            <a:r>
              <a:rPr lang="en-US" dirty="0"/>
              <a:t>Gives a distance among scores</a:t>
            </a:r>
          </a:p>
          <a:p>
            <a:endParaRPr lang="en-US" dirty="0"/>
          </a:p>
          <a:p>
            <a:r>
              <a:rPr lang="en-US" b="1" dirty="0"/>
              <a:t>Choosing a variability measure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Appropriate to the measure of CT</a:t>
            </a:r>
          </a:p>
          <a:p>
            <a:pPr lvl="1"/>
            <a:r>
              <a:rPr lang="en-US" dirty="0"/>
              <a:t>Provide a useful description of the spread in data</a:t>
            </a:r>
          </a:p>
          <a:p>
            <a:pPr lvl="1"/>
            <a:r>
              <a:rPr lang="en-US" dirty="0"/>
              <a:t>The measure chosen should provide the smallest indicator of variability</a:t>
            </a:r>
          </a:p>
          <a:p>
            <a:pPr lvl="1"/>
            <a:r>
              <a:rPr lang="en-US" dirty="0"/>
              <a:t>Represent the data in meaningful units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D23EFDD2-1E0F-4E43-9518-F73D3087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190" y="2591594"/>
            <a:ext cx="49466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9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0EC1-1A4F-813C-E3F2-F7F76AC1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9A6B36-A076-60FD-AD6A-512D19FF760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6D5BD63-F8ED-2F16-1F11-33019C79649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D532289-E992-C773-5FAD-FAE31D66C6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CF5F473-5B8C-65DB-1FDE-21640A0A0D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16FCA7A-0025-2619-9F19-A4B56F95E5B3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CCEA8415-0392-CA0B-4A8E-41F9A191DF00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AFF432D-05B9-5C8E-095A-2825E8897C00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AC62D1A-08C0-CF53-3669-C7D697BA4410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4075840-E9B9-D2E1-2659-B62A5BA69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F050F0-0D0F-4DD9-7877-0768102D35D8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49936A1-D8EB-7FD7-A51C-F11524F81AA5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FB24B65-5625-FAEB-B50F-A5C41469730B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AC5E11E-A846-E6AE-C024-3DA89C7991C0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EA2EE94-8D04-D491-5C20-C1B1723DA994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70758F-B4BF-2AEC-1426-01EF2911B835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8986DA7-5CEB-0858-B359-9CFE71C94408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B0E6FCD5-8CBB-F8DA-7061-58A844F6F68E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632726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075442"/>
                  </p:ext>
                </p:extLst>
              </p:nvPr>
            </p:nvGraphicFramePr>
            <p:xfrm>
              <a:off x="220230" y="0"/>
              <a:ext cx="11751540" cy="6891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0308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553515761"/>
                        </a:ext>
                      </a:extLst>
                    </a:gridCol>
                  </a:tblGrid>
                  <a:tr h="381737">
                    <a:tc>
                      <a:txBody>
                        <a:bodyPr/>
                        <a:lstStyle/>
                        <a:p>
                          <a:endParaRPr lang="en-US" sz="1900" b="1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SIQR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900" dirty="0">
                              <a:solidFill>
                                <a:schemeClr val="tx1"/>
                              </a:solidFill>
                            </a:rPr>
                            <a:t>MAD</a:t>
                          </a:r>
                          <a:endParaRPr lang="en-US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SD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1244349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Description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difference between the highest and lowest score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range of values contained in </a:t>
                          </a:r>
                          <a:r>
                            <a:rPr lang="en-US" sz="1900" i="1" dirty="0"/>
                            <a:t>25% </a:t>
                          </a:r>
                          <a:r>
                            <a:rPr lang="en-US" sz="1900" dirty="0"/>
                            <a:t>of the distribution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The median distance values have from median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Approximate average deviation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956811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Computation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Max- Min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CA" sz="2400" b="0" i="1" baseline="-25000" smtClean="0">
                                        <a:latin typeface="Cambria Math" panose="02040503050406030204" pitchFamily="18" charset="0"/>
                                      </a:rPr>
                                      <m:t>75%−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CA" sz="2400" b="0" i="1" baseline="-25000" smtClean="0">
                                        <a:latin typeface="Cambria Math" panose="02040503050406030204" pitchFamily="18" charset="0"/>
                                      </a:rPr>
                                      <m:t>25%</m:t>
                                    </m:r>
                                  </m:num>
                                  <m:den>
                                    <m:r>
                                      <a:rPr lang="en-CA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(|X-</a:t>
                          </a:r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|)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69274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Scales of Measurement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1547019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Quick to compute</a:t>
                          </a:r>
                        </a:p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Easy to understand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affected by extreme scores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Takes all scores into account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Less sensitive to extreme scores (than SD)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CA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Accounts for all scores in distribution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Important role in advanced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2058809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900" b="1" dirty="0"/>
                            <a:t>Disadvantages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uses two of the numbers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Unreliable – sensitive to extreme values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Does not include all values of distribution (i.e., a trimmed </a:t>
                          </a: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most statistical equations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many statistical computations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Sensitive to extreme scores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used for (non-skewed) score (interval/ratio) data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075442"/>
                  </p:ext>
                </p:extLst>
              </p:nvPr>
            </p:nvGraphicFramePr>
            <p:xfrm>
              <a:off x="220230" y="0"/>
              <a:ext cx="11751540" cy="6891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0308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553515761"/>
                        </a:ext>
                      </a:extLst>
                    </a:gridCol>
                  </a:tblGrid>
                  <a:tr h="384422">
                    <a:tc>
                      <a:txBody>
                        <a:bodyPr/>
                        <a:lstStyle/>
                        <a:p>
                          <a:endParaRPr lang="en-US" sz="1900" b="1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SIQR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900" dirty="0">
                              <a:solidFill>
                                <a:schemeClr val="tx1"/>
                              </a:solidFill>
                            </a:rPr>
                            <a:t>MAD</a:t>
                          </a:r>
                          <a:endParaRPr lang="en-US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SD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125310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Description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difference between the highest and lowest score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range of values contained in </a:t>
                          </a:r>
                          <a:r>
                            <a:rPr lang="en-US" sz="1900" i="1" dirty="0"/>
                            <a:t>25% </a:t>
                          </a:r>
                          <a:r>
                            <a:rPr lang="en-US" sz="1900" dirty="0"/>
                            <a:t>of the distribution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The median distance values have from median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Approximate average deviation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96354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Computation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Max- Min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73418" r="-200259" b="-446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(|X-</a:t>
                          </a:r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|)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7398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Scales of Measurement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155790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Quick to compute</a:t>
                          </a:r>
                        </a:p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Easy to understand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affected by extreme scores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Takes all scores into account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Less sensitive to extreme scores (than SD)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CA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Accounts for all scores in distribution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Important role in advanced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2058809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900" b="1" dirty="0"/>
                            <a:t>Disadvantages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uses two of the numbers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Unreliable – sensitive to extreme values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Does not include all values of distribution (i.e., a trimmed </a:t>
                          </a: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most statistical equations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many statistical computations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Sensitive to extreme scores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used for (non-skewed) score (interval/ratio) data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 descr="Calculate Standard Deviation with Hair">
            <a:extLst>
              <a:ext uri="{FF2B5EF4-FFF2-40B4-BE49-F238E27FC236}">
                <a16:creationId xmlns:a16="http://schemas.microsoft.com/office/drawing/2014/main" id="{400462AA-08A9-814F-890B-3704C94C2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6"/>
          <a:stretch/>
        </p:blipFill>
        <p:spPr bwMode="auto">
          <a:xfrm>
            <a:off x="10217552" y="1655727"/>
            <a:ext cx="1050088" cy="86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8328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(SS and SD</a:t>
                      </a:r>
                      <a:r>
                        <a:rPr lang="en-US" sz="36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1662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rgbClr val="FF0000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(SS and SD</a:t>
                      </a:r>
                      <a:r>
                        <a:rPr lang="en-US" sz="36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4902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Nominal, Mode, and Variability</a:t>
            </a:r>
          </a:p>
        </p:txBody>
      </p:sp>
      <p:pic>
        <p:nvPicPr>
          <p:cNvPr id="4" name="Picture 2" descr="Bar Graphs and Double Bar Graphs - Ms. Parker's Class Website">
            <a:extLst>
              <a:ext uri="{FF2B5EF4-FFF2-40B4-BE49-F238E27FC236}">
                <a16:creationId xmlns:a16="http://schemas.microsoft.com/office/drawing/2014/main" id="{F2BF7C12-040E-5146-BBFA-CC24E31F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529" y="1487294"/>
            <a:ext cx="7160941" cy="537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90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(SS and SD</a:t>
                      </a:r>
                      <a:r>
                        <a:rPr lang="en-US" sz="36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5896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439AB-CA77-A64D-894E-68C5D984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272"/>
          <a:stretch>
            <a:fillRect/>
          </a:stretch>
        </p:blipFill>
        <p:spPr>
          <a:xfrm>
            <a:off x="0" y="4572000"/>
            <a:ext cx="12246506" cy="8908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9420"/>
            <a:ext cx="10515600" cy="25119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Range</a:t>
            </a:r>
            <a:r>
              <a:rPr lang="en-US" sz="3600" dirty="0"/>
              <a:t>: Variability defined as the difference between the highest and lowest score</a:t>
            </a:r>
          </a:p>
          <a:p>
            <a:r>
              <a:rPr lang="en-US" sz="3600" dirty="0"/>
              <a:t>1 1 1 2 3 3 3 4 4 4 4 </a:t>
            </a:r>
          </a:p>
          <a:p>
            <a:pPr lvl="1"/>
            <a:r>
              <a:rPr lang="en-US" sz="2800" b="1" dirty="0"/>
              <a:t>Computation</a:t>
            </a:r>
            <a:r>
              <a:rPr lang="en-US" sz="2800" dirty="0"/>
              <a:t>: Max-Min</a:t>
            </a:r>
          </a:p>
          <a:p>
            <a:pPr lvl="1"/>
            <a:r>
              <a:rPr lang="en-US" sz="2800" dirty="0"/>
              <a:t>Max = 4, Min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1                    2                    3                    4                   5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7B83C-FAC6-9042-9B6B-58F0A0A09237}"/>
              </a:ext>
            </a:extLst>
          </p:cNvPr>
          <p:cNvSpPr txBox="1"/>
          <p:nvPr/>
        </p:nvSpPr>
        <p:spPr>
          <a:xfrm>
            <a:off x="5706794" y="2950953"/>
            <a:ext cx="2667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Range</a:t>
            </a:r>
            <a:r>
              <a:rPr lang="en-US" sz="3600" dirty="0"/>
              <a:t>: 4-1=3</a:t>
            </a:r>
          </a:p>
        </p:txBody>
      </p:sp>
    </p:spTree>
    <p:extLst>
      <p:ext uri="{BB962C8B-B14F-4D97-AF65-F5344CB8AC3E}">
        <p14:creationId xmlns:p14="http://schemas.microsoft.com/office/powerpoint/2010/main" val="79855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Range </a:t>
            </a:r>
          </a:p>
          <a:p>
            <a:r>
              <a:rPr lang="en-US" sz="3600" b="1" dirty="0"/>
              <a:t>Advantage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/>
              <a:t>Quick to compute</a:t>
            </a:r>
          </a:p>
          <a:p>
            <a:pPr lvl="1"/>
            <a:r>
              <a:rPr lang="en-US" sz="3200" dirty="0"/>
              <a:t>Easy to understand</a:t>
            </a:r>
          </a:p>
        </p:txBody>
      </p:sp>
      <p:pic>
        <p:nvPicPr>
          <p:cNvPr id="11" name="Picture 10" descr="Image result for high variability distributions">
            <a:extLst>
              <a:ext uri="{FF2B5EF4-FFF2-40B4-BE49-F238E27FC236}">
                <a16:creationId xmlns:a16="http://schemas.microsoft.com/office/drawing/2014/main" id="{B565DE3B-F049-E6C1-27EE-5DFB7F948A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/>
          <a:stretch>
            <a:fillRect/>
          </a:stretch>
        </p:blipFill>
        <p:spPr bwMode="auto">
          <a:xfrm>
            <a:off x="6324600" y="2843141"/>
            <a:ext cx="5910188" cy="3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2822BE3-B241-129D-22C6-9A53974337E8}"/>
              </a:ext>
            </a:extLst>
          </p:cNvPr>
          <p:cNvGrpSpPr/>
          <p:nvPr/>
        </p:nvGrpSpPr>
        <p:grpSpPr>
          <a:xfrm>
            <a:off x="4671938" y="5834882"/>
            <a:ext cx="1757696" cy="657994"/>
            <a:chOff x="3790092" y="4351087"/>
            <a:chExt cx="987597" cy="36970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D091F1-AD7F-83CD-B473-BF0923A5EC8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4521613" y="4535941"/>
              <a:ext cx="256076" cy="39502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ontent Placeholder 3">
              <a:extLst>
                <a:ext uri="{FF2B5EF4-FFF2-40B4-BE49-F238E27FC236}">
                  <a16:creationId xmlns:a16="http://schemas.microsoft.com/office/drawing/2014/main" id="{B44C1604-727E-3478-6D00-B0665316444D}"/>
                </a:ext>
              </a:extLst>
            </p:cNvPr>
            <p:cNvSpPr txBox="1">
              <a:spLocks/>
            </p:cNvSpPr>
            <p:nvPr/>
          </p:nvSpPr>
          <p:spPr>
            <a:xfrm>
              <a:off x="3790092" y="4351087"/>
              <a:ext cx="731520" cy="369707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txBody>
            <a:bodyPr vert="horz" wrap="square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SzPct val="85000"/>
                <a:buFontTx/>
                <a:buNone/>
                <a:tabLst/>
                <a:defRPr sz="24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1pPr>
              <a:lvl2pPr marL="488950" indent="-174625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20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2pPr>
              <a:lvl3pPr marL="757238" indent="-134938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8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3pPr>
              <a:lvl4pPr marL="1023938" indent="-1333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6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4pPr>
              <a:lvl5pPr marL="1246188" indent="-134938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4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CA" sz="4000" dirty="0"/>
                <a:t>Range</a:t>
              </a:r>
              <a:endParaRPr lang="en-CA" sz="22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E8F2DB-C1F6-3867-2DB2-5F6905D3D7E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4521613" y="4496439"/>
              <a:ext cx="256076" cy="39502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63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Range </a:t>
            </a:r>
          </a:p>
          <a:p>
            <a:r>
              <a:rPr lang="en-US" sz="3600" b="1" dirty="0"/>
              <a:t>Disadvantage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/>
              <a:t>Only uses two of the numbers</a:t>
            </a:r>
          </a:p>
          <a:p>
            <a:pPr lvl="1"/>
            <a:r>
              <a:rPr lang="en-US" sz="3200" dirty="0"/>
              <a:t>Unreliable, sensitive to extreme values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3" name="Picture 2" descr="Image result for high variability distributions">
            <a:extLst>
              <a:ext uri="{FF2B5EF4-FFF2-40B4-BE49-F238E27FC236}">
                <a16:creationId xmlns:a16="http://schemas.microsoft.com/office/drawing/2014/main" id="{9C79F956-19EF-AC86-EF3C-B302DC203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/>
          <a:stretch>
            <a:fillRect/>
          </a:stretch>
        </p:blipFill>
        <p:spPr bwMode="auto">
          <a:xfrm>
            <a:off x="6324600" y="2843141"/>
            <a:ext cx="5910188" cy="3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C7E9ACA-13DD-453A-AE42-D7542606409D}"/>
              </a:ext>
            </a:extLst>
          </p:cNvPr>
          <p:cNvGrpSpPr/>
          <p:nvPr/>
        </p:nvGrpSpPr>
        <p:grpSpPr>
          <a:xfrm>
            <a:off x="4671938" y="5834882"/>
            <a:ext cx="1757696" cy="657994"/>
            <a:chOff x="3790092" y="4351087"/>
            <a:chExt cx="987597" cy="36970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93612B-E660-D3FB-4A23-92C2686FEBF0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4521613" y="4535941"/>
              <a:ext cx="256076" cy="39502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0EC249A8-B64C-F619-A0BF-F62F7F1370DE}"/>
                </a:ext>
              </a:extLst>
            </p:cNvPr>
            <p:cNvSpPr txBox="1">
              <a:spLocks/>
            </p:cNvSpPr>
            <p:nvPr/>
          </p:nvSpPr>
          <p:spPr>
            <a:xfrm>
              <a:off x="3790092" y="4351087"/>
              <a:ext cx="731520" cy="369707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txBody>
            <a:bodyPr vert="horz" wrap="square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SzPct val="85000"/>
                <a:buFontTx/>
                <a:buNone/>
                <a:tabLst/>
                <a:defRPr sz="24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1pPr>
              <a:lvl2pPr marL="488950" indent="-174625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20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2pPr>
              <a:lvl3pPr marL="757238" indent="-134938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8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3pPr>
              <a:lvl4pPr marL="1023938" indent="-1333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6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4pPr>
              <a:lvl5pPr marL="1246188" indent="-134938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SzPct val="85000"/>
                <a:buFont typeface="Wingdings" pitchFamily="2" charset="2"/>
                <a:buChar char="§"/>
                <a:tabLst/>
                <a:defRPr sz="1400" b="0" i="0" kern="1200">
                  <a:solidFill>
                    <a:schemeClr val="tx2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CA" sz="4000" dirty="0"/>
                <a:t>Range</a:t>
              </a:r>
              <a:endParaRPr lang="en-CA" sz="22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C650923-9D67-D89B-7655-38213024660E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521613" y="4496439"/>
              <a:ext cx="256076" cy="39502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396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(SS and SD</a:t>
                      </a:r>
                      <a:r>
                        <a:rPr lang="en-US" sz="36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657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7D50796-935B-A845-94A4-99DDD76E8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7402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Semi-Interquartile Range (SIQR)</a:t>
                </a:r>
                <a:r>
                  <a:rPr lang="en-US" sz="3600" dirty="0"/>
                  <a:t>: Variability defined as the range of values contained in </a:t>
                </a:r>
                <a:r>
                  <a:rPr lang="en-US" sz="3600" i="1" dirty="0"/>
                  <a:t>25% </a:t>
                </a:r>
                <a:r>
                  <a:rPr lang="en-US" sz="3600" dirty="0"/>
                  <a:t>of the distribution</a:t>
                </a:r>
              </a:p>
              <a:p>
                <a:r>
                  <a:rPr lang="en-US" sz="3200" b="1" dirty="0"/>
                  <a:t>Computation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75%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25%</m:t>
                            </m:r>
                          </m:sub>
                        </m:sSub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/>
                  <a:t>Q</a:t>
                </a:r>
                <a:r>
                  <a:rPr lang="en-US" sz="2800" baseline="-25000" dirty="0"/>
                  <a:t>75%</a:t>
                </a:r>
                <a:r>
                  <a:rPr lang="en-US" sz="2800" dirty="0"/>
                  <a:t>: The 75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percentile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/>
                  <a:t>Q</a:t>
                </a:r>
                <a:r>
                  <a:rPr lang="en-US" sz="2800" baseline="-25000" dirty="0"/>
                  <a:t>25%</a:t>
                </a:r>
                <a:r>
                  <a:rPr lang="en-US" sz="2800" dirty="0"/>
                  <a:t>: The 25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percentile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7D50796-935B-A845-94A4-99DDD76E8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740241"/>
              </a:xfrm>
              <a:blipFill>
                <a:blip r:embed="rId2"/>
                <a:stretch>
                  <a:fillRect l="-1797" t="-3909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F335FDA-CAD8-9643-8EF6-528663F8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5150872"/>
            <a:ext cx="78232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42CC-F340-FF80-E64F-7F509AD0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3015-3DEE-386C-A72D-DA0D8583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16EE542-1DF4-5EAF-9DBD-396815F31898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3CBA9E7-94E1-97ED-26C3-7FB9BD343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87100" cy="37402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Semi-Interquartile Range (SIQR)</a:t>
                </a:r>
                <a:endParaRPr lang="en-US" sz="3600" dirty="0"/>
              </a:p>
              <a:p>
                <a:r>
                  <a:rPr lang="en-US" sz="3200" b="1" dirty="0"/>
                  <a:t>Computation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75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%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%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800" b="1" dirty="0"/>
                  <a:t>Step 1</a:t>
                </a:r>
                <a:r>
                  <a:rPr lang="en-US" sz="2800" dirty="0"/>
                  <a:t>: Split the data in half using the median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b="1" dirty="0"/>
                  <a:t>Step 2</a:t>
                </a:r>
                <a:r>
                  <a:rPr lang="en-US" sz="2800" dirty="0"/>
                  <a:t>: Find the medians of each half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b="1" dirty="0"/>
                  <a:t>Step 3</a:t>
                </a:r>
                <a:r>
                  <a:rPr lang="en-US" sz="2800" dirty="0"/>
                  <a:t>: Use the equation above</a:t>
                </a:r>
                <a:endParaRPr lang="en-US" sz="2800" i="1" baseline="-250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3CBA9E7-94E1-97ED-26C3-7FB9BD343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87100" cy="3740241"/>
              </a:xfrm>
              <a:blipFill>
                <a:blip r:embed="rId2"/>
                <a:stretch>
                  <a:fillRect l="-1705" t="-3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91BA1F6-FCD1-9326-2867-79099F263B34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03AB692-790B-4FC1-6C27-D6B7F2D0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700"/>
          <a:stretch>
            <a:fillRect/>
          </a:stretch>
        </p:blipFill>
        <p:spPr>
          <a:xfrm>
            <a:off x="2184400" y="6111923"/>
            <a:ext cx="7823200" cy="540162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4A35204F-6EB4-5FE7-2D5F-9F79D1DBCF72}"/>
              </a:ext>
            </a:extLst>
          </p:cNvPr>
          <p:cNvSpPr/>
          <p:nvPr/>
        </p:nvSpPr>
        <p:spPr>
          <a:xfrm>
            <a:off x="5981700" y="5584328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22C23-7C98-D113-6790-46B3CFAD1C1C}"/>
              </a:ext>
            </a:extLst>
          </p:cNvPr>
          <p:cNvSpPr txBox="1"/>
          <p:nvPr/>
        </p:nvSpPr>
        <p:spPr>
          <a:xfrm>
            <a:off x="5489951" y="5151353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Median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28DDE0-DEC5-10B7-7FE0-6C468979B88B}"/>
              </a:ext>
            </a:extLst>
          </p:cNvPr>
          <p:cNvSpPr/>
          <p:nvPr/>
        </p:nvSpPr>
        <p:spPr>
          <a:xfrm>
            <a:off x="2206700" y="6111923"/>
            <a:ext cx="3860412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3344D-D96C-83B8-6798-2162C0D75E99}"/>
              </a:ext>
            </a:extLst>
          </p:cNvPr>
          <p:cNvSpPr/>
          <p:nvPr/>
        </p:nvSpPr>
        <p:spPr>
          <a:xfrm>
            <a:off x="6073604" y="6107647"/>
            <a:ext cx="3860412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9A902E4-479D-3FC4-201A-A69FFE4649D7}"/>
              </a:ext>
            </a:extLst>
          </p:cNvPr>
          <p:cNvSpPr/>
          <p:nvPr/>
        </p:nvSpPr>
        <p:spPr>
          <a:xfrm>
            <a:off x="4037098" y="5589333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D63290-22BA-97CD-C180-27D7B5407C4F}"/>
              </a:ext>
            </a:extLst>
          </p:cNvPr>
          <p:cNvSpPr txBox="1"/>
          <p:nvPr/>
        </p:nvSpPr>
        <p:spPr>
          <a:xfrm>
            <a:off x="3760040" y="512266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25%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1ECADB6-E698-47CB-C8E4-439F3F7C324A}"/>
              </a:ext>
            </a:extLst>
          </p:cNvPr>
          <p:cNvSpPr/>
          <p:nvPr/>
        </p:nvSpPr>
        <p:spPr>
          <a:xfrm>
            <a:off x="7902744" y="5580366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9A1F3-EE71-BBBC-C5CF-403C60BB451A}"/>
              </a:ext>
            </a:extLst>
          </p:cNvPr>
          <p:cNvSpPr txBox="1"/>
          <p:nvPr/>
        </p:nvSpPr>
        <p:spPr>
          <a:xfrm>
            <a:off x="7600049" y="51086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75% </a:t>
            </a:r>
          </a:p>
        </p:txBody>
      </p:sp>
    </p:spTree>
    <p:extLst>
      <p:ext uri="{BB962C8B-B14F-4D97-AF65-F5344CB8AC3E}">
        <p14:creationId xmlns:p14="http://schemas.microsoft.com/office/powerpoint/2010/main" val="73383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9" grpId="0" animBg="1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B270-8D94-E4D7-3EDA-45F23162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B7F3-8E9E-E83C-CDB2-0AB6E454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357B752-EE5E-7606-018C-8DD9950E7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53281" cy="37402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Semi-Interquartile Range (SIQR)</a:t>
                </a:r>
                <a:endParaRPr lang="en-US" sz="3600" dirty="0"/>
              </a:p>
              <a:p>
                <a:r>
                  <a:rPr lang="en-US" sz="3200" b="1" dirty="0"/>
                  <a:t>Computation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75%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25%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22.5000</m:t>
                        </m:r>
                        <m:r>
                          <a:rPr lang="en-CA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.0000</m:t>
                        </m:r>
                      </m:num>
                      <m:den>
                        <m:r>
                          <a:rPr lang="en-CA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1.2500 = 1.25</m:t>
                    </m:r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357B752-EE5E-7606-018C-8DD9950E7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53281" cy="3740241"/>
              </a:xfrm>
              <a:blipFill>
                <a:blip r:embed="rId2"/>
                <a:stretch>
                  <a:fillRect l="-1624" t="-3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A674032-2486-8ECF-AC11-D924103B6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700"/>
          <a:stretch>
            <a:fillRect/>
          </a:stretch>
        </p:blipFill>
        <p:spPr>
          <a:xfrm>
            <a:off x="2184400" y="6111923"/>
            <a:ext cx="7823200" cy="540162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691FE67F-BE42-8CC1-9715-07458014F1E0}"/>
              </a:ext>
            </a:extLst>
          </p:cNvPr>
          <p:cNvSpPr/>
          <p:nvPr/>
        </p:nvSpPr>
        <p:spPr>
          <a:xfrm>
            <a:off x="5981700" y="5584328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71D2F-D31E-C6F3-85CB-81BF3ED4D42E}"/>
              </a:ext>
            </a:extLst>
          </p:cNvPr>
          <p:cNvSpPr txBox="1"/>
          <p:nvPr/>
        </p:nvSpPr>
        <p:spPr>
          <a:xfrm>
            <a:off x="5489951" y="5151353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Median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0C610-1B01-33B1-7556-1DB95A2189CD}"/>
              </a:ext>
            </a:extLst>
          </p:cNvPr>
          <p:cNvSpPr/>
          <p:nvPr/>
        </p:nvSpPr>
        <p:spPr>
          <a:xfrm>
            <a:off x="2206700" y="6111923"/>
            <a:ext cx="3860412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61F19-4E5E-53D2-0F69-7067C47D751F}"/>
              </a:ext>
            </a:extLst>
          </p:cNvPr>
          <p:cNvSpPr/>
          <p:nvPr/>
        </p:nvSpPr>
        <p:spPr>
          <a:xfrm>
            <a:off x="6073604" y="6107647"/>
            <a:ext cx="3860412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903E98F-B017-4534-1AFA-FDA6757687E2}"/>
              </a:ext>
            </a:extLst>
          </p:cNvPr>
          <p:cNvSpPr/>
          <p:nvPr/>
        </p:nvSpPr>
        <p:spPr>
          <a:xfrm>
            <a:off x="4037098" y="5589333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702E3-071B-6277-8E1A-DA09AEABCB1C}"/>
              </a:ext>
            </a:extLst>
          </p:cNvPr>
          <p:cNvSpPr txBox="1"/>
          <p:nvPr/>
        </p:nvSpPr>
        <p:spPr>
          <a:xfrm>
            <a:off x="3760040" y="512266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25%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979F566-2721-E4B8-2D7C-7CA249F3F518}"/>
              </a:ext>
            </a:extLst>
          </p:cNvPr>
          <p:cNvSpPr/>
          <p:nvPr/>
        </p:nvSpPr>
        <p:spPr>
          <a:xfrm>
            <a:off x="7902744" y="5580366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75BB2E-BF41-193C-3EC1-30F8D481F17A}"/>
              </a:ext>
            </a:extLst>
          </p:cNvPr>
          <p:cNvSpPr txBox="1"/>
          <p:nvPr/>
        </p:nvSpPr>
        <p:spPr>
          <a:xfrm>
            <a:off x="7600049" y="51086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75% </a:t>
            </a:r>
          </a:p>
        </p:txBody>
      </p:sp>
    </p:spTree>
    <p:extLst>
      <p:ext uri="{BB962C8B-B14F-4D97-AF65-F5344CB8AC3E}">
        <p14:creationId xmlns:p14="http://schemas.microsoft.com/office/powerpoint/2010/main" val="8133051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7B4F-E151-4659-C9DD-FD4401DB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7340-0DE5-6043-5407-6A456991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DF89328-548B-95C9-CE4E-6C74D59D83F0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CCDC8A7-CD14-0533-1625-B708CF079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87100" cy="37402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Semi-Interquartile Range (SIQR)</a:t>
                </a:r>
                <a:endParaRPr lang="en-US" sz="3600" dirty="0"/>
              </a:p>
              <a:p>
                <a:r>
                  <a:rPr lang="en-US" sz="3200" b="1"/>
                  <a:t>Computation</a:t>
                </a:r>
                <a:r>
                  <a:rPr lang="en-US" sz="320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75%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25%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800" b="1" dirty="0"/>
                  <a:t>Note</a:t>
                </a:r>
                <a:r>
                  <a:rPr lang="en-US" sz="2800" dirty="0"/>
                  <a:t>: If the data has an odd number of samples, then ignore the middle number as shown below</a:t>
                </a:r>
                <a:endParaRPr lang="en-US" sz="2800" i="1" baseline="-250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CCDC8A7-CD14-0533-1625-B708CF079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87100" cy="3740241"/>
              </a:xfrm>
              <a:blipFill>
                <a:blip r:embed="rId2"/>
                <a:stretch>
                  <a:fillRect l="-1705" t="-3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88099FB-DB99-61ED-4E54-39FD49FB103C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F2B2DD5-DA16-BB3C-0DC3-2D5401653B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1" r="9949" b="65700"/>
          <a:stretch>
            <a:fillRect/>
          </a:stretch>
        </p:blipFill>
        <p:spPr>
          <a:xfrm>
            <a:off x="2505232" y="6146586"/>
            <a:ext cx="7044841" cy="511473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0A151213-2EE6-928F-A221-D1766EF33666}"/>
              </a:ext>
            </a:extLst>
          </p:cNvPr>
          <p:cNvSpPr/>
          <p:nvPr/>
        </p:nvSpPr>
        <p:spPr>
          <a:xfrm>
            <a:off x="5981700" y="5584328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6A8DC-055F-BEA6-9102-EA51D1C787F8}"/>
              </a:ext>
            </a:extLst>
          </p:cNvPr>
          <p:cNvSpPr txBox="1"/>
          <p:nvPr/>
        </p:nvSpPr>
        <p:spPr>
          <a:xfrm>
            <a:off x="5489951" y="5151353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Median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42BA3-7B49-8496-938D-A2D24DF82FC4}"/>
              </a:ext>
            </a:extLst>
          </p:cNvPr>
          <p:cNvSpPr/>
          <p:nvPr/>
        </p:nvSpPr>
        <p:spPr>
          <a:xfrm>
            <a:off x="2505231" y="6111923"/>
            <a:ext cx="3254620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C41493-6768-6D3A-CD93-B1B7A3650E59}"/>
              </a:ext>
            </a:extLst>
          </p:cNvPr>
          <p:cNvSpPr/>
          <p:nvPr/>
        </p:nvSpPr>
        <p:spPr>
          <a:xfrm>
            <a:off x="6432151" y="6107647"/>
            <a:ext cx="3254618" cy="65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58174E9-3E65-6EE2-F8D6-C2BC27E9B8B7}"/>
              </a:ext>
            </a:extLst>
          </p:cNvPr>
          <p:cNvSpPr/>
          <p:nvPr/>
        </p:nvSpPr>
        <p:spPr>
          <a:xfrm>
            <a:off x="4037098" y="5589333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D41C0-BDC2-CE7A-4FAB-B731837BF1A3}"/>
              </a:ext>
            </a:extLst>
          </p:cNvPr>
          <p:cNvSpPr txBox="1"/>
          <p:nvPr/>
        </p:nvSpPr>
        <p:spPr>
          <a:xfrm>
            <a:off x="3760040" y="512266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25%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B0633DA-A190-D1FD-C6BE-0B2F962AD168}"/>
              </a:ext>
            </a:extLst>
          </p:cNvPr>
          <p:cNvSpPr/>
          <p:nvPr/>
        </p:nvSpPr>
        <p:spPr>
          <a:xfrm>
            <a:off x="7902744" y="5580366"/>
            <a:ext cx="183811" cy="5183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A7464-501C-0344-44A9-CB18A1F48562}"/>
              </a:ext>
            </a:extLst>
          </p:cNvPr>
          <p:cNvSpPr txBox="1"/>
          <p:nvPr/>
        </p:nvSpPr>
        <p:spPr>
          <a:xfrm>
            <a:off x="7600049" y="51086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b="1" baseline="-25000" dirty="0">
                <a:solidFill>
                  <a:srgbClr val="FF0000"/>
                </a:solidFill>
              </a:rPr>
              <a:t>75% </a:t>
            </a:r>
          </a:p>
        </p:txBody>
      </p:sp>
    </p:spTree>
    <p:extLst>
      <p:ext uri="{BB962C8B-B14F-4D97-AF65-F5344CB8AC3E}">
        <p14:creationId xmlns:p14="http://schemas.microsoft.com/office/powerpoint/2010/main" val="232025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9" grpId="0" animBg="1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6277" cy="3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Semi-Interquartile Range (SIQR)</a:t>
            </a:r>
            <a:endParaRPr lang="en-US" sz="3600" dirty="0"/>
          </a:p>
          <a:p>
            <a:r>
              <a:rPr lang="en-US" sz="3600" b="1" dirty="0"/>
              <a:t>Advantages</a:t>
            </a:r>
          </a:p>
          <a:p>
            <a:pPr lvl="1"/>
            <a:r>
              <a:rPr lang="en-US" sz="3200" dirty="0"/>
              <a:t>Not affected by extreme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F335FDA-CAD8-9643-8EF6-528663F8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5150872"/>
            <a:ext cx="78232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Ordinal/Score, Median/Mean,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8183" cy="3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Semi-Interquartile Range (SIQR)</a:t>
            </a:r>
            <a:endParaRPr lang="en-US" sz="3600" dirty="0"/>
          </a:p>
          <a:p>
            <a:r>
              <a:rPr lang="en-US" sz="3600" b="1" dirty="0"/>
              <a:t>Disadvantage</a:t>
            </a:r>
          </a:p>
          <a:p>
            <a:pPr lvl="1"/>
            <a:r>
              <a:rPr lang="en-US" sz="3200" dirty="0"/>
              <a:t>Does not include all values of distribution</a:t>
            </a:r>
            <a:r>
              <a:rPr lang="en-US" sz="2800" dirty="0"/>
              <a:t> (i.e., a trimmed </a:t>
            </a:r>
            <a:r>
              <a:rPr lang="en-US" sz="2800" dirty="0" err="1"/>
              <a:t>dist</a:t>
            </a:r>
            <a:r>
              <a:rPr lang="en-US" sz="2800" dirty="0"/>
              <a:t>)</a:t>
            </a:r>
          </a:p>
          <a:p>
            <a:pPr lvl="1"/>
            <a:r>
              <a:rPr lang="en-US" sz="3200" dirty="0"/>
              <a:t>Not used in most statistical equations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F335FDA-CAD8-9643-8EF6-528663F8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5150872"/>
            <a:ext cx="78232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2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(SS and SD</a:t>
                      </a:r>
                      <a:r>
                        <a:rPr lang="en-US" sz="36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3976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49E035-D924-0747-B357-BD2154A01FC2}"/>
              </a:ext>
            </a:extLst>
          </p:cNvPr>
          <p:cNvGrpSpPr/>
          <p:nvPr/>
        </p:nvGrpSpPr>
        <p:grpSpPr>
          <a:xfrm>
            <a:off x="3192087" y="1553717"/>
            <a:ext cx="5802284" cy="4030279"/>
            <a:chOff x="3192087" y="1553717"/>
            <a:chExt cx="5802284" cy="403027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0AD2C55-192B-714C-8547-BB30116F9F78}"/>
                </a:ext>
              </a:extLst>
            </p:cNvPr>
            <p:cNvCxnSpPr>
              <a:cxnSpLocks/>
            </p:cNvCxnSpPr>
            <p:nvPr/>
          </p:nvCxnSpPr>
          <p:spPr>
            <a:xfrm>
              <a:off x="3192087" y="5304282"/>
              <a:ext cx="5802284" cy="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1BA2AC-9860-B04B-AAE5-A1D4C8E4CD5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553717"/>
              <a:ext cx="0" cy="3750565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A9580B-4A9A-A54B-B1A2-FCFFE4BA2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746" y="52876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C845B2C-EC9F-054C-9EFF-F6C14A423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5043" y="5282271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6E638FE-283E-6743-B72C-859450D95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844" y="5335376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7E57263-DDA5-AB42-9CF8-A3E7EAD93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6113" y="5312010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DC397D2-8EB6-E643-A05A-55FD29B6F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3717" y="53105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1D5F12BB-642B-B1A7-6A5E-7A78BB1E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Deviations</a:t>
            </a:r>
          </a:p>
        </p:txBody>
      </p:sp>
    </p:spTree>
    <p:extLst>
      <p:ext uri="{BB962C8B-B14F-4D97-AF65-F5344CB8AC3E}">
        <p14:creationId xmlns:p14="http://schemas.microsoft.com/office/powerpoint/2010/main" val="26885345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61094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(MAD): </a:t>
            </a:r>
            <a:r>
              <a:rPr lang="en-US" sz="3600" dirty="0"/>
              <a:t>The median distance values are from the median</a:t>
            </a:r>
          </a:p>
          <a:p>
            <a:r>
              <a:rPr lang="en-US" sz="3200" dirty="0"/>
              <a:t>Best measure of variability for median</a:t>
            </a:r>
          </a:p>
          <a:p>
            <a:r>
              <a:rPr lang="en-US" sz="3200" dirty="0"/>
              <a:t>The median of deviations (sort of)</a:t>
            </a:r>
          </a:p>
          <a:p>
            <a:r>
              <a:rPr lang="en-US" b="1" dirty="0"/>
              <a:t>Computation: </a:t>
            </a:r>
            <a:r>
              <a:rPr lang="en-US" dirty="0" err="1"/>
              <a:t>mdn</a:t>
            </a:r>
            <a:r>
              <a:rPr lang="en-US" dirty="0"/>
              <a:t>(|x-</a:t>
            </a:r>
            <a:r>
              <a:rPr lang="en-US" dirty="0" err="1"/>
              <a:t>mdn</a:t>
            </a:r>
            <a:r>
              <a:rPr lang="en-US" dirty="0"/>
              <a:t>|)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38677"/>
              </p:ext>
            </p:extLst>
          </p:nvPr>
        </p:nvGraphicFramePr>
        <p:xfrm>
          <a:off x="7996518" y="1614170"/>
          <a:ext cx="4050702" cy="311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96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2812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Step 1</a:t>
            </a:r>
            <a:r>
              <a:rPr lang="en-US" dirty="0"/>
              <a:t>: Find median</a:t>
            </a:r>
          </a:p>
          <a:p>
            <a:r>
              <a:rPr lang="en-US" b="1" dirty="0"/>
              <a:t>Step 2</a:t>
            </a:r>
            <a:r>
              <a:rPr lang="en-US" dirty="0"/>
              <a:t>: Find deviations from the median</a:t>
            </a:r>
          </a:p>
          <a:p>
            <a:r>
              <a:rPr lang="en-US" b="1" dirty="0"/>
              <a:t>Step 3</a:t>
            </a:r>
            <a:r>
              <a:rPr lang="en-US" dirty="0"/>
              <a:t>: Convert to absolute values</a:t>
            </a:r>
          </a:p>
          <a:p>
            <a:r>
              <a:rPr lang="en-US" b="1" dirty="0"/>
              <a:t>Step 4</a:t>
            </a:r>
            <a:r>
              <a:rPr lang="en-US" dirty="0"/>
              <a:t>: Find median of absolute deviations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60633"/>
              </p:ext>
            </p:extLst>
          </p:nvPr>
        </p:nvGraphicFramePr>
        <p:xfrm>
          <a:off x="7996518" y="1614170"/>
          <a:ext cx="4050702" cy="311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14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61094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Step 1</a:t>
            </a:r>
            <a:r>
              <a:rPr lang="en-US" dirty="0"/>
              <a:t>: Find median</a:t>
            </a:r>
          </a:p>
          <a:p>
            <a:pPr lvl="1"/>
            <a:r>
              <a:rPr lang="en-US" dirty="0"/>
              <a:t>Median = 6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693742"/>
              </p:ext>
            </p:extLst>
          </p:nvPr>
        </p:nvGraphicFramePr>
        <p:xfrm>
          <a:off x="7996518" y="1614170"/>
          <a:ext cx="4050702" cy="357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=6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6661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07306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Step 1</a:t>
            </a:r>
            <a:r>
              <a:rPr lang="en-US" dirty="0"/>
              <a:t>: Find median</a:t>
            </a:r>
          </a:p>
          <a:p>
            <a:r>
              <a:rPr lang="en-US" b="1" dirty="0"/>
              <a:t>Step 2</a:t>
            </a:r>
            <a:r>
              <a:rPr lang="en-US" dirty="0"/>
              <a:t>: Find deviations from the median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188753"/>
              </p:ext>
            </p:extLst>
          </p:nvPr>
        </p:nvGraphicFramePr>
        <p:xfrm>
          <a:off x="7996518" y="1614170"/>
          <a:ext cx="4050702" cy="357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=6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1-6 = -5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4-6 = -2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5-6 = -1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7-6 = 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8-6 = 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10-6 =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3047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61094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Step 1</a:t>
            </a:r>
            <a:r>
              <a:rPr lang="en-US" dirty="0"/>
              <a:t>: Find median</a:t>
            </a:r>
          </a:p>
          <a:p>
            <a:r>
              <a:rPr lang="en-US" b="1" dirty="0"/>
              <a:t>Step 2</a:t>
            </a:r>
            <a:r>
              <a:rPr lang="en-US" dirty="0"/>
              <a:t>: Find deviations from the median</a:t>
            </a:r>
          </a:p>
          <a:p>
            <a:r>
              <a:rPr lang="en-US" b="1" dirty="0"/>
              <a:t>Step 3</a:t>
            </a:r>
            <a:r>
              <a:rPr lang="en-US" dirty="0"/>
              <a:t>: Convert to absolute values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B6DB-9BEA-7342-9812-BB60EBEF1AFF}"/>
              </a:ext>
            </a:extLst>
          </p:cNvPr>
          <p:cNvSpPr txBox="1"/>
          <p:nvPr/>
        </p:nvSpPr>
        <p:spPr>
          <a:xfrm>
            <a:off x="609600" y="5584329"/>
            <a:ext cx="107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35154"/>
              </p:ext>
            </p:extLst>
          </p:nvPr>
        </p:nvGraphicFramePr>
        <p:xfrm>
          <a:off x="7996518" y="1614170"/>
          <a:ext cx="4050702" cy="357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=6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1-6 = -5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4-6 = -2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5-6 = -1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7-6 = 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8-6 = 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10-6 = 4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6011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61094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Step 1</a:t>
            </a:r>
            <a:r>
              <a:rPr lang="en-US" dirty="0"/>
              <a:t>: Find median</a:t>
            </a:r>
          </a:p>
          <a:p>
            <a:r>
              <a:rPr lang="en-US" b="1" dirty="0"/>
              <a:t>Step 2</a:t>
            </a:r>
            <a:r>
              <a:rPr lang="en-US" dirty="0"/>
              <a:t>: Find deviations from the median</a:t>
            </a:r>
          </a:p>
          <a:p>
            <a:r>
              <a:rPr lang="en-US" b="1" dirty="0"/>
              <a:t>Step 3</a:t>
            </a:r>
            <a:r>
              <a:rPr lang="en-US" dirty="0"/>
              <a:t>: Convert to absolute values</a:t>
            </a:r>
          </a:p>
          <a:p>
            <a:r>
              <a:rPr lang="en-US" b="1" dirty="0"/>
              <a:t>Step 4</a:t>
            </a:r>
            <a:r>
              <a:rPr lang="en-US" dirty="0"/>
              <a:t>: Find median of absolute deviations</a:t>
            </a:r>
          </a:p>
          <a:p>
            <a:pPr lvl="1"/>
            <a:r>
              <a:rPr lang="en-US" dirty="0"/>
              <a:t>1 1 </a:t>
            </a:r>
            <a:r>
              <a:rPr lang="en-US" dirty="0">
                <a:solidFill>
                  <a:srgbClr val="FF0000"/>
                </a:solidFill>
              </a:rPr>
              <a:t>2 2</a:t>
            </a:r>
            <a:r>
              <a:rPr lang="en-US" dirty="0"/>
              <a:t> 4 5</a:t>
            </a:r>
          </a:p>
          <a:p>
            <a:pPr lvl="1"/>
            <a:r>
              <a:rPr lang="en-US" b="1" dirty="0"/>
              <a:t>MAD</a:t>
            </a:r>
            <a:r>
              <a:rPr lang="en-US" dirty="0"/>
              <a:t> = 2 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528690"/>
              </p:ext>
            </p:extLst>
          </p:nvPr>
        </p:nvGraphicFramePr>
        <p:xfrm>
          <a:off x="7996518" y="1614170"/>
          <a:ext cx="4050702" cy="357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=6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1-6 = -5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4-6 = -2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5-6 = -1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7-6 = 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8-6 = 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10-6 = 4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05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Ordinal, Median,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07306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Takes all scores into account</a:t>
            </a:r>
          </a:p>
          <a:p>
            <a:pPr lvl="1"/>
            <a:r>
              <a:rPr lang="en-US" dirty="0"/>
              <a:t>Less sensitive to extreme scores (than SD)</a:t>
            </a:r>
          </a:p>
          <a:p>
            <a:pPr lvl="1"/>
            <a:endParaRPr lang="en-US" sz="3600" dirty="0"/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Not used in many statistical computations</a:t>
            </a:r>
          </a:p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FBE20D7-CCD4-8A46-A96F-467154C7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426989"/>
              </p:ext>
            </p:extLst>
          </p:nvPr>
        </p:nvGraphicFramePr>
        <p:xfrm>
          <a:off x="7996518" y="1614170"/>
          <a:ext cx="4050702" cy="357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34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1350234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=6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1-6 = -5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4-6 = -2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5-6 = -1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7-6 = 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8-6 = 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10-6 = 4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MAD=2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71B9-2B31-C68A-0BAE-4BC7206E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565C-D684-A82F-0559-E4A37CE7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Table with correct decimal usage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617D97-D69D-9A5A-D67C-96DF9A6B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07306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Median Absolute Deviation (MAD)</a:t>
            </a:r>
            <a:endParaRPr lang="en-US" sz="3600" dirty="0"/>
          </a:p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F096682-9BC8-9E17-03FE-7CD66B6CD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16568"/>
              </p:ext>
            </p:extLst>
          </p:nvPr>
        </p:nvGraphicFramePr>
        <p:xfrm>
          <a:off x="1294391" y="2852447"/>
          <a:ext cx="9102705" cy="3943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300">
                  <a:extLst>
                    <a:ext uri="{9D8B030D-6E8A-4147-A177-3AD203B41FA5}">
                      <a16:colId xmlns:a16="http://schemas.microsoft.com/office/drawing/2014/main" val="3915167600"/>
                    </a:ext>
                  </a:extLst>
                </a:gridCol>
                <a:gridCol w="2869170">
                  <a:extLst>
                    <a:ext uri="{9D8B030D-6E8A-4147-A177-3AD203B41FA5}">
                      <a16:colId xmlns:a16="http://schemas.microsoft.com/office/drawing/2014/main" val="3784030493"/>
                    </a:ext>
                  </a:extLst>
                </a:gridCol>
                <a:gridCol w="3034235">
                  <a:extLst>
                    <a:ext uri="{9D8B030D-6E8A-4147-A177-3AD203B41FA5}">
                      <a16:colId xmlns:a16="http://schemas.microsoft.com/office/drawing/2014/main" val="96005305"/>
                    </a:ext>
                  </a:extLst>
                </a:gridCol>
              </a:tblGrid>
              <a:tr h="5603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|x-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50569"/>
                  </a:ext>
                </a:extLst>
              </a:tr>
              <a:tr h="25588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= 6.0000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1 - 6.0000 = -5.0000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4 - 6.0000 = -2.0000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5 - 6.0000 = -1.0000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7 - 6.0000 = 1.0000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8 - 6.0000 = 2.0000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10 - 6.0000 = 4.0000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2.0000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4.0000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MAD = 2.0000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: 2.00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700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9DAF68-D099-9C4E-99A0-5F1F5F8A108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90655"/>
          <a:ext cx="8127999" cy="713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994928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63674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2655600"/>
                    </a:ext>
                  </a:extLst>
                </a:gridCol>
              </a:tblGrid>
              <a:tr h="21217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509"/>
                  </a:ext>
                </a:extLst>
              </a:tr>
              <a:tr h="5015819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SD</a:t>
                      </a:r>
                    </a:p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3600" i="1" dirty="0">
                          <a:solidFill>
                            <a:srgbClr val="FF0000"/>
                          </a:solidFill>
                        </a:rPr>
                        <a:t>SS and SD</a:t>
                      </a:r>
                      <a:r>
                        <a:rPr lang="en-US" sz="3600" i="1" baseline="30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6335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CB183-2D6D-0A41-AB86-43831CEF553E}"/>
              </a:ext>
            </a:extLst>
          </p:cNvPr>
          <p:cNvCxnSpPr/>
          <p:nvPr/>
        </p:nvCxnSpPr>
        <p:spPr>
          <a:xfrm>
            <a:off x="3323063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CBA07-C5E6-8444-8603-7DB68DDA3F16}"/>
              </a:ext>
            </a:extLst>
          </p:cNvPr>
          <p:cNvCxnSpPr/>
          <p:nvPr/>
        </p:nvCxnSpPr>
        <p:spPr>
          <a:xfrm>
            <a:off x="6096000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52E84-2F81-A743-AD40-96016801F234}"/>
              </a:ext>
            </a:extLst>
          </p:cNvPr>
          <p:cNvCxnSpPr/>
          <p:nvPr/>
        </p:nvCxnSpPr>
        <p:spPr>
          <a:xfrm>
            <a:off x="8783444" y="1204332"/>
            <a:ext cx="0" cy="14273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7310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47965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 Deviation: </a:t>
            </a:r>
            <a:r>
              <a:rPr lang="en-US" sz="3600" dirty="0"/>
              <a:t>Approximate average deviation</a:t>
            </a:r>
          </a:p>
          <a:p>
            <a:r>
              <a:rPr lang="en-US" sz="3600" dirty="0"/>
              <a:t>Best measure of variability for mean</a:t>
            </a:r>
          </a:p>
          <a:p>
            <a:r>
              <a:rPr lang="en-US" sz="3600" dirty="0"/>
              <a:t>The mean of the deviations (sort of)</a:t>
            </a:r>
          </a:p>
          <a:p>
            <a:pPr marL="0" indent="0">
              <a:buNone/>
            </a:pPr>
            <a:endParaRPr lang="en-US" sz="3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DC2F3C1-56CA-274F-88E9-91C78136CCEC}"/>
              </a:ext>
            </a:extLst>
          </p:cNvPr>
          <p:cNvGrpSpPr/>
          <p:nvPr/>
        </p:nvGrpSpPr>
        <p:grpSpPr>
          <a:xfrm>
            <a:off x="7046260" y="2276296"/>
            <a:ext cx="4987738" cy="4153889"/>
            <a:chOff x="3192087" y="1553717"/>
            <a:chExt cx="5802284" cy="403027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DAC56B-1685-EE40-8F16-DB6AF980760A}"/>
                </a:ext>
              </a:extLst>
            </p:cNvPr>
            <p:cNvCxnSpPr>
              <a:cxnSpLocks/>
            </p:cNvCxnSpPr>
            <p:nvPr/>
          </p:nvCxnSpPr>
          <p:spPr>
            <a:xfrm>
              <a:off x="3192087" y="5304282"/>
              <a:ext cx="5802284" cy="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4E7409-8437-EF49-A2C8-7F3FAE3EF3C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553717"/>
              <a:ext cx="0" cy="3750565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4CC10B-5C0F-7446-8282-7365A9C8F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746" y="52876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9E6857-40EC-B940-9FE3-91591FF5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5043" y="5282271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E05C1D-3439-BD44-BFE3-A18143B91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4915" y="5335376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30EFC4-32A3-CD4B-87F7-0A360F5FD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6113" y="5312010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91B51D7-63C6-D54B-9DA7-A344589B13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3717" y="53105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510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0796-935B-A845-94A4-99DDD76E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45941" cy="505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Standard Deviation: </a:t>
            </a:r>
            <a:r>
              <a:rPr lang="en-US" sz="3600" dirty="0"/>
              <a:t>Approximate average deviation</a:t>
            </a:r>
          </a:p>
          <a:p>
            <a:r>
              <a:rPr lang="en-US" sz="3600" b="1" dirty="0"/>
              <a:t>Computation</a:t>
            </a:r>
            <a:r>
              <a:rPr lang="en-US" sz="3600" dirty="0"/>
              <a:t>:</a:t>
            </a:r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DC2F3C1-56CA-274F-88E9-91C78136CCEC}"/>
              </a:ext>
            </a:extLst>
          </p:cNvPr>
          <p:cNvGrpSpPr/>
          <p:nvPr/>
        </p:nvGrpSpPr>
        <p:grpSpPr>
          <a:xfrm>
            <a:off x="7046260" y="2276296"/>
            <a:ext cx="4987738" cy="4153889"/>
            <a:chOff x="3192087" y="1553717"/>
            <a:chExt cx="5802284" cy="403027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DAC56B-1685-EE40-8F16-DB6AF980760A}"/>
                </a:ext>
              </a:extLst>
            </p:cNvPr>
            <p:cNvCxnSpPr>
              <a:cxnSpLocks/>
            </p:cNvCxnSpPr>
            <p:nvPr/>
          </p:nvCxnSpPr>
          <p:spPr>
            <a:xfrm>
              <a:off x="3192087" y="5304282"/>
              <a:ext cx="5802284" cy="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4E7409-8437-EF49-A2C8-7F3FAE3EF3C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553717"/>
              <a:ext cx="0" cy="3750565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4CC10B-5C0F-7446-8282-7365A9C8F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746" y="52876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9E6857-40EC-B940-9FE3-91591FF5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5043" y="5282271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E05C1D-3439-BD44-BFE3-A18143B91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4915" y="5335376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30EFC4-32A3-CD4B-87F7-0A360F5FD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6113" y="5312010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91B51D7-63C6-D54B-9DA7-A344589B13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3717" y="53105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06F740E0-3DB2-6C49-A21E-DCC45BD87CD0}"/>
              </a:ext>
            </a:extLst>
          </p:cNvPr>
          <p:cNvSpPr/>
          <p:nvPr/>
        </p:nvSpPr>
        <p:spPr>
          <a:xfrm>
            <a:off x="10116028" y="2963790"/>
            <a:ext cx="255494" cy="2554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D188C8-BB10-2044-9A37-3A2BACB4F323}"/>
              </a:ext>
            </a:extLst>
          </p:cNvPr>
          <p:cNvSpPr/>
          <p:nvPr/>
        </p:nvSpPr>
        <p:spPr>
          <a:xfrm>
            <a:off x="7495249" y="3533049"/>
            <a:ext cx="255494" cy="2554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543935-A93C-DD43-AAB1-CD5052B17E91}"/>
              </a:ext>
            </a:extLst>
          </p:cNvPr>
          <p:cNvSpPr/>
          <p:nvPr/>
        </p:nvSpPr>
        <p:spPr>
          <a:xfrm>
            <a:off x="10647756" y="3660796"/>
            <a:ext cx="255494" cy="2554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A63EFC-EB10-CB41-8374-FEAC0A0C0859}"/>
              </a:ext>
            </a:extLst>
          </p:cNvPr>
          <p:cNvSpPr/>
          <p:nvPr/>
        </p:nvSpPr>
        <p:spPr>
          <a:xfrm>
            <a:off x="8756105" y="4581977"/>
            <a:ext cx="255494" cy="2554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053AED-5118-BA44-BEE3-D628178F17F7}"/>
              </a:ext>
            </a:extLst>
          </p:cNvPr>
          <p:cNvSpPr/>
          <p:nvPr/>
        </p:nvSpPr>
        <p:spPr>
          <a:xfrm>
            <a:off x="10051487" y="5682925"/>
            <a:ext cx="255494" cy="2554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62BAAB0-7AB2-A6EF-369D-C0EE9079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1B4A55-AD53-473B-0612-84FEBE7A94D9}"/>
                  </a:ext>
                </a:extLst>
              </p:cNvPr>
              <p:cNvSpPr txBox="1"/>
              <p:nvPr/>
            </p:nvSpPr>
            <p:spPr>
              <a:xfrm>
                <a:off x="3853318" y="2812042"/>
                <a:ext cx="2707280" cy="18187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1B4A55-AD53-473B-0612-84FEBE7A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318" y="2812042"/>
                <a:ext cx="2707280" cy="18187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3576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9B43659D-BC1F-B5C6-1E9B-57019FB541C9}"/>
              </a:ext>
            </a:extLst>
          </p:cNvPr>
          <p:cNvSpPr/>
          <p:nvPr/>
        </p:nvSpPr>
        <p:spPr>
          <a:xfrm>
            <a:off x="2114392" y="2860503"/>
            <a:ext cx="354441" cy="106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7788B7FD-1A6C-C4AE-DB04-830E4009C632}"/>
              </a:ext>
            </a:extLst>
          </p:cNvPr>
          <p:cNvSpPr/>
          <p:nvPr/>
        </p:nvSpPr>
        <p:spPr>
          <a:xfrm>
            <a:off x="3799317" y="2860503"/>
            <a:ext cx="354441" cy="106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751538BF-5E29-7734-AD78-07DE42181F77}"/>
              </a:ext>
            </a:extLst>
          </p:cNvPr>
          <p:cNvSpPr/>
          <p:nvPr/>
        </p:nvSpPr>
        <p:spPr>
          <a:xfrm>
            <a:off x="5643900" y="2860503"/>
            <a:ext cx="354441" cy="106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E577CF9A-BB46-C382-88D0-E810A95F5EEA}"/>
              </a:ext>
            </a:extLst>
          </p:cNvPr>
          <p:cNvSpPr/>
          <p:nvPr/>
        </p:nvSpPr>
        <p:spPr>
          <a:xfrm>
            <a:off x="7594923" y="2860503"/>
            <a:ext cx="354441" cy="106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E8AF35A5-C53E-86BE-5985-4E3B57034FAC}"/>
              </a:ext>
            </a:extLst>
          </p:cNvPr>
          <p:cNvSpPr/>
          <p:nvPr/>
        </p:nvSpPr>
        <p:spPr>
          <a:xfrm>
            <a:off x="9333068" y="2860503"/>
            <a:ext cx="354441" cy="106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60CC70A2-E961-DCDB-F757-C91B62E39359}"/>
              </a:ext>
            </a:extLst>
          </p:cNvPr>
          <p:cNvSpPr/>
          <p:nvPr/>
        </p:nvSpPr>
        <p:spPr>
          <a:xfrm>
            <a:off x="1369321" y="2477323"/>
            <a:ext cx="745071" cy="766359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B6654789-84FC-20A6-8C3F-AACF0F66E3C3}"/>
              </a:ext>
            </a:extLst>
          </p:cNvPr>
          <p:cNvSpPr/>
          <p:nvPr/>
        </p:nvSpPr>
        <p:spPr>
          <a:xfrm>
            <a:off x="1369321" y="2477323"/>
            <a:ext cx="745071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D52F7081-5820-B15D-FD11-0794235F2E60}"/>
              </a:ext>
            </a:extLst>
          </p:cNvPr>
          <p:cNvSpPr/>
          <p:nvPr/>
        </p:nvSpPr>
        <p:spPr>
          <a:xfrm>
            <a:off x="2468833" y="2477323"/>
            <a:ext cx="1330484" cy="76635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6B4E655F-B0C5-E18D-B2B9-72959F0C31BF}"/>
              </a:ext>
            </a:extLst>
          </p:cNvPr>
          <p:cNvSpPr/>
          <p:nvPr/>
        </p:nvSpPr>
        <p:spPr>
          <a:xfrm>
            <a:off x="2468833" y="2477323"/>
            <a:ext cx="1330484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51F39CD9-8603-73F8-F185-745DE73FB088}"/>
              </a:ext>
            </a:extLst>
          </p:cNvPr>
          <p:cNvSpPr/>
          <p:nvPr/>
        </p:nvSpPr>
        <p:spPr>
          <a:xfrm>
            <a:off x="4153758" y="2477323"/>
            <a:ext cx="1490142" cy="76635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D9B2197D-D925-F830-F51E-E974AE93FC8D}"/>
              </a:ext>
            </a:extLst>
          </p:cNvPr>
          <p:cNvSpPr/>
          <p:nvPr/>
        </p:nvSpPr>
        <p:spPr>
          <a:xfrm>
            <a:off x="4153758" y="2477323"/>
            <a:ext cx="1490142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0A779CC3-B3E4-640B-3808-1EE94B6F6177}"/>
              </a:ext>
            </a:extLst>
          </p:cNvPr>
          <p:cNvSpPr/>
          <p:nvPr/>
        </p:nvSpPr>
        <p:spPr>
          <a:xfrm>
            <a:off x="5998342" y="2477323"/>
            <a:ext cx="1596581" cy="76635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DAF1352A-ED6E-2FEA-03C7-B84DE3482AD9}"/>
              </a:ext>
            </a:extLst>
          </p:cNvPr>
          <p:cNvSpPr/>
          <p:nvPr/>
        </p:nvSpPr>
        <p:spPr>
          <a:xfrm>
            <a:off x="5998342" y="2477323"/>
            <a:ext cx="1596581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2" name="Shape 25">
            <a:extLst>
              <a:ext uri="{FF2B5EF4-FFF2-40B4-BE49-F238E27FC236}">
                <a16:creationId xmlns:a16="http://schemas.microsoft.com/office/drawing/2014/main" id="{4C947D98-7B91-054F-C89D-2B859C6BB4C8}"/>
              </a:ext>
            </a:extLst>
          </p:cNvPr>
          <p:cNvSpPr/>
          <p:nvPr/>
        </p:nvSpPr>
        <p:spPr>
          <a:xfrm>
            <a:off x="7949364" y="2477323"/>
            <a:ext cx="1383704" cy="76635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3AC84DFB-E7DA-15C0-3DC3-C999621F8856}"/>
              </a:ext>
            </a:extLst>
          </p:cNvPr>
          <p:cNvSpPr/>
          <p:nvPr/>
        </p:nvSpPr>
        <p:spPr>
          <a:xfrm>
            <a:off x="7949364" y="2477323"/>
            <a:ext cx="1383704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F9C9CB1F-9989-3FEE-3661-0A189E8FD326}"/>
              </a:ext>
            </a:extLst>
          </p:cNvPr>
          <p:cNvSpPr/>
          <p:nvPr/>
        </p:nvSpPr>
        <p:spPr>
          <a:xfrm>
            <a:off x="9687508" y="2477323"/>
            <a:ext cx="1383704" cy="76635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CD1672E8-C347-4804-0E2F-EF1B0326DB3C}"/>
              </a:ext>
            </a:extLst>
          </p:cNvPr>
          <p:cNvSpPr/>
          <p:nvPr/>
        </p:nvSpPr>
        <p:spPr>
          <a:xfrm>
            <a:off x="9687508" y="2477323"/>
            <a:ext cx="1383704" cy="76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0333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8" grpId="0" animBg="1"/>
      <p:bldP spid="40" grpId="0" animBg="1"/>
      <p:bldP spid="42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B2408-F38F-B44F-BB88-C687CF759691}"/>
              </a:ext>
            </a:extLst>
          </p:cNvPr>
          <p:cNvSpPr txBox="1"/>
          <p:nvPr/>
        </p:nvSpPr>
        <p:spPr>
          <a:xfrm>
            <a:off x="234176" y="3769112"/>
            <a:ext cx="98813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</a:t>
            </a:r>
            <a:r>
              <a:rPr lang="en-US" sz="2400" dirty="0"/>
              <a:t>: Determine mean</a:t>
            </a:r>
          </a:p>
          <a:p>
            <a:r>
              <a:rPr lang="en-US" sz="2400" b="1" dirty="0"/>
              <a:t>Step 2</a:t>
            </a:r>
            <a:r>
              <a:rPr lang="en-US" sz="2400" dirty="0"/>
              <a:t>: Determine deviations from the mean</a:t>
            </a:r>
          </a:p>
          <a:p>
            <a:r>
              <a:rPr lang="en-US" sz="2400" b="1" dirty="0"/>
              <a:t>Step 3</a:t>
            </a:r>
            <a:r>
              <a:rPr lang="en-US" sz="2400" dirty="0"/>
              <a:t>: Square these deviations</a:t>
            </a:r>
          </a:p>
          <a:p>
            <a:r>
              <a:rPr lang="en-US" sz="2400" b="1" dirty="0"/>
              <a:t>Step 4</a:t>
            </a:r>
            <a:r>
              <a:rPr lang="en-US" sz="2400" dirty="0"/>
              <a:t>: Sum the squared deviations (=Sums of Squares)</a:t>
            </a:r>
          </a:p>
          <a:p>
            <a:r>
              <a:rPr lang="en-US" sz="2400" b="1" dirty="0"/>
              <a:t>Step 5</a:t>
            </a:r>
            <a:r>
              <a:rPr lang="en-US" sz="2400" dirty="0"/>
              <a:t>: Divide result by N (=Variance)</a:t>
            </a:r>
          </a:p>
          <a:p>
            <a:r>
              <a:rPr lang="en-US" sz="2400" b="1" dirty="0"/>
              <a:t>Step 6</a:t>
            </a:r>
            <a:r>
              <a:rPr lang="en-US" sz="2400" dirty="0"/>
              <a:t>: Square root (=Standard Deviation)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02BA3A-FAA9-791D-1DB5-6C03FB2BCCBC}"/>
              </a:ext>
            </a:extLst>
          </p:cNvPr>
          <p:cNvGrpSpPr/>
          <p:nvPr/>
        </p:nvGrpSpPr>
        <p:grpSpPr>
          <a:xfrm>
            <a:off x="7952545" y="3810170"/>
            <a:ext cx="3460449" cy="2881932"/>
            <a:chOff x="3192087" y="1553717"/>
            <a:chExt cx="5802284" cy="403027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08B1D7-6AE5-056B-7DCE-76642F44ADEF}"/>
                </a:ext>
              </a:extLst>
            </p:cNvPr>
            <p:cNvCxnSpPr>
              <a:cxnSpLocks/>
            </p:cNvCxnSpPr>
            <p:nvPr/>
          </p:nvCxnSpPr>
          <p:spPr>
            <a:xfrm>
              <a:off x="3192087" y="5304282"/>
              <a:ext cx="5802284" cy="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A149572-7E8D-7F6D-46C9-F7E27B1B165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553717"/>
              <a:ext cx="0" cy="3750565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555F402-67C1-2166-D343-97346DB98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746" y="52876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59D2B2C-50FB-681D-66B5-B3C8FAB6BC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5043" y="5282271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B0B75D-32C2-F1F2-7886-B508AC4D7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4915" y="5335376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6E216E2-D86A-E80A-93B8-7F1EEEB5E3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6113" y="5312010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11CEBC-2E47-5329-8C02-DA1C5C45F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3717" y="5310557"/>
              <a:ext cx="1" cy="24862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39947F73-A193-D77D-35D9-F7E2DEC7C5F4}"/>
              </a:ext>
            </a:extLst>
          </p:cNvPr>
          <p:cNvSpPr/>
          <p:nvPr/>
        </p:nvSpPr>
        <p:spPr>
          <a:xfrm>
            <a:off x="10104805" y="4064168"/>
            <a:ext cx="177260" cy="17726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33C42F-450B-AB41-57C1-4FCF22A12DF2}"/>
              </a:ext>
            </a:extLst>
          </p:cNvPr>
          <p:cNvSpPr/>
          <p:nvPr/>
        </p:nvSpPr>
        <p:spPr>
          <a:xfrm>
            <a:off x="8220626" y="4633427"/>
            <a:ext cx="177260" cy="17726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D16BF0-9EAF-823C-D744-12238AD3B65E}"/>
              </a:ext>
            </a:extLst>
          </p:cNvPr>
          <p:cNvSpPr/>
          <p:nvPr/>
        </p:nvSpPr>
        <p:spPr>
          <a:xfrm>
            <a:off x="10636533" y="4761174"/>
            <a:ext cx="177260" cy="17726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3CCF48-396E-7640-C110-B1A089D37995}"/>
              </a:ext>
            </a:extLst>
          </p:cNvPr>
          <p:cNvSpPr/>
          <p:nvPr/>
        </p:nvSpPr>
        <p:spPr>
          <a:xfrm>
            <a:off x="9180367" y="5696500"/>
            <a:ext cx="177260" cy="17726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2134A7-CAEB-59BA-9821-CD630631F079}"/>
              </a:ext>
            </a:extLst>
          </p:cNvPr>
          <p:cNvSpPr/>
          <p:nvPr/>
        </p:nvSpPr>
        <p:spPr>
          <a:xfrm>
            <a:off x="10040264" y="6148303"/>
            <a:ext cx="177260" cy="17726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8695E7-24DB-0C9B-6EAC-DEA1000B6655}"/>
              </a:ext>
            </a:extLst>
          </p:cNvPr>
          <p:cNvGrpSpPr/>
          <p:nvPr/>
        </p:nvGrpSpPr>
        <p:grpSpPr>
          <a:xfrm>
            <a:off x="1369321" y="2477323"/>
            <a:ext cx="9701891" cy="766359"/>
            <a:chOff x="1844440" y="1819018"/>
            <a:chExt cx="8334756" cy="658368"/>
          </a:xfrm>
        </p:grpSpPr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73A569DC-DCB9-C71F-0400-84787D2CB4B9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0D29725B-F4EE-F8E2-F89D-4A73C59CE5FD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10FA0209-4361-8FB6-1D42-913D9F133008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39AABCEB-9B1D-56F3-4486-8B924EC25B03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D19B0026-1205-C63F-0A61-D3D2E9B12DBB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17">
              <a:extLst>
                <a:ext uri="{FF2B5EF4-FFF2-40B4-BE49-F238E27FC236}">
                  <a16:creationId xmlns:a16="http://schemas.microsoft.com/office/drawing/2014/main" id="{D64F05CC-47E6-2A08-ABE3-DB60B5FE3A43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18">
              <a:extLst>
                <a:ext uri="{FF2B5EF4-FFF2-40B4-BE49-F238E27FC236}">
                  <a16:creationId xmlns:a16="http://schemas.microsoft.com/office/drawing/2014/main" id="{5F3E8B6F-94DC-14EC-AEE6-4DD22E621604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37" name="Shape 19">
              <a:extLst>
                <a:ext uri="{FF2B5EF4-FFF2-40B4-BE49-F238E27FC236}">
                  <a16:creationId xmlns:a16="http://schemas.microsoft.com/office/drawing/2014/main" id="{B408F3DE-932F-AF93-058B-90B619C071EE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20">
              <a:extLst>
                <a:ext uri="{FF2B5EF4-FFF2-40B4-BE49-F238E27FC236}">
                  <a16:creationId xmlns:a16="http://schemas.microsoft.com/office/drawing/2014/main" id="{BEDA1E4C-2E4F-FA0F-4797-86C99F0051DF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DDEA94B9-AAFE-6BAD-2697-914D0438BDD0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22">
              <a:extLst>
                <a:ext uri="{FF2B5EF4-FFF2-40B4-BE49-F238E27FC236}">
                  <a16:creationId xmlns:a16="http://schemas.microsoft.com/office/drawing/2014/main" id="{14BA9F28-0494-09F1-122B-66756F429C24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41" name="Shape 23">
              <a:extLst>
                <a:ext uri="{FF2B5EF4-FFF2-40B4-BE49-F238E27FC236}">
                  <a16:creationId xmlns:a16="http://schemas.microsoft.com/office/drawing/2014/main" id="{F10F3613-471A-E125-F031-D5AB9F7C65F4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6287E039-F059-8520-69E0-957CCA232F57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43" name="Shape 25">
              <a:extLst>
                <a:ext uri="{FF2B5EF4-FFF2-40B4-BE49-F238E27FC236}">
                  <a16:creationId xmlns:a16="http://schemas.microsoft.com/office/drawing/2014/main" id="{A2D21889-B1ED-7F70-8460-9B1D88ED8754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EDE68E33-5FDE-DA56-3E29-25D1A32945E4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45" name="Shape 27">
              <a:extLst>
                <a:ext uri="{FF2B5EF4-FFF2-40B4-BE49-F238E27FC236}">
                  <a16:creationId xmlns:a16="http://schemas.microsoft.com/office/drawing/2014/main" id="{1F03CB93-7862-1718-8CB4-45A741A2D74B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28">
              <a:extLst>
                <a:ext uri="{FF2B5EF4-FFF2-40B4-BE49-F238E27FC236}">
                  <a16:creationId xmlns:a16="http://schemas.microsoft.com/office/drawing/2014/main" id="{7AAAB75B-79F8-55CA-3739-9A7996383143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828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49544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CA" sz="2000" dirty="0">
                          <a:solidFill>
                            <a:srgbClr val="FF0000"/>
                          </a:solidFill>
                        </a:rPr>
                        <a:t>x̅̅ </a:t>
                      </a:r>
                      <a:r>
                        <a:rPr lang="en-CA" sz="2000">
                          <a:solidFill>
                            <a:srgbClr val="FF0000"/>
                          </a:solidFill>
                        </a:rPr>
                        <a:t>= 5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758EF37-CE7B-2169-44BF-BE1BEB690A8E}"/>
              </a:ext>
            </a:extLst>
          </p:cNvPr>
          <p:cNvGrpSpPr/>
          <p:nvPr/>
        </p:nvGrpSpPr>
        <p:grpSpPr>
          <a:xfrm>
            <a:off x="1369321" y="2477323"/>
            <a:ext cx="9701891" cy="766359"/>
            <a:chOff x="1844440" y="1819018"/>
            <a:chExt cx="8334756" cy="658368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4821EC64-6121-FFDA-3105-F718CB086C08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516E53B4-B4A2-FA8C-59A1-F2379603DDA5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56294423-8709-C951-598E-B50425C82460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0ECA6FB2-6456-6747-FA63-4C6C8F6A5F5E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49ADD8D4-25D5-18ED-2636-804476910EA4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E81D9E14-3438-3040-EB67-142F109F594D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8">
              <a:extLst>
                <a:ext uri="{FF2B5EF4-FFF2-40B4-BE49-F238E27FC236}">
                  <a16:creationId xmlns:a16="http://schemas.microsoft.com/office/drawing/2014/main" id="{2836528E-6F9B-FDA9-CAE5-475D4C13E9B5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CA7C73FC-10C4-0276-E67A-B7C17873D8FD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20">
              <a:extLst>
                <a:ext uri="{FF2B5EF4-FFF2-40B4-BE49-F238E27FC236}">
                  <a16:creationId xmlns:a16="http://schemas.microsoft.com/office/drawing/2014/main" id="{D358A3E3-32D1-25D7-3331-31215851BC19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1" name="Shape 21">
              <a:extLst>
                <a:ext uri="{FF2B5EF4-FFF2-40B4-BE49-F238E27FC236}">
                  <a16:creationId xmlns:a16="http://schemas.microsoft.com/office/drawing/2014/main" id="{AAD34FE7-D0E3-B2EC-825D-28CB1445A314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3FE3EE93-D454-E991-5D81-501F61F6B368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3" name="Shape 23">
              <a:extLst>
                <a:ext uri="{FF2B5EF4-FFF2-40B4-BE49-F238E27FC236}">
                  <a16:creationId xmlns:a16="http://schemas.microsoft.com/office/drawing/2014/main" id="{D8124344-B6CA-1342-592F-ECF0D536D140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4">
              <a:extLst>
                <a:ext uri="{FF2B5EF4-FFF2-40B4-BE49-F238E27FC236}">
                  <a16:creationId xmlns:a16="http://schemas.microsoft.com/office/drawing/2014/main" id="{3224E0FE-7B39-65F5-F568-DBF7104D03CC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A98E755C-FE41-A03E-8A48-138F84D8CBAB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759A5E3A-00AC-3E59-72B3-8C6E7F0F4A7F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124AAEA2-766C-6CC5-3801-36761409F89A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A028878F-3F48-09D4-3640-96D7AA1B4854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6687742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957747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0-5 = -5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4-5 = -1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5-5 = 0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8-5 = 3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C418AD7-76F3-A8D8-7B46-D650168F0798}"/>
              </a:ext>
            </a:extLst>
          </p:cNvPr>
          <p:cNvGrpSpPr/>
          <p:nvPr/>
        </p:nvGrpSpPr>
        <p:grpSpPr>
          <a:xfrm>
            <a:off x="1120787" y="1806759"/>
            <a:ext cx="9950425" cy="1436923"/>
            <a:chOff x="1630928" y="1242946"/>
            <a:chExt cx="8548268" cy="12344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C0F927F2-80A5-640C-3929-D2E9478EBD67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7D0CFCE8-1651-11B3-CE79-A482014229A8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B85F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solidFill>
                              <a:srgbClr val="B85F0F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7D0CFCE8-1651-11B3-CE79-A482014229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59DB8C97-FF3B-0916-D12A-365FB8B9213D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68943A8-43BA-BEEC-AA02-E1B3DED222F0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6E5F809C-B36C-F810-008C-A037999BE5BD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A923A6F0-AE02-8C33-680E-B466F87FBF2A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09AE2BC1-A4CA-DA36-9EEE-9F4187C011FB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E100671D-4A25-FCC8-BB7B-054461EC2E0D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EC488E46-F81E-18B0-077E-0D9F894FE922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8871E"/>
            </a:solidFill>
            <a:ln w="15875">
              <a:solidFill>
                <a:srgbClr val="B85F0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8A093811-598C-F765-0946-1E961A763A9F}"/>
                </a:ext>
              </a:extLst>
            </p:cNvPr>
            <p:cNvSpPr/>
            <p:nvPr/>
          </p:nvSpPr>
          <p:spPr>
            <a:xfrm>
              <a:off x="2789015" y="2049573"/>
              <a:ext cx="1143000" cy="1972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>
                <a:solidFill>
                  <a:schemeClr val="bg1"/>
                </a:solidFill>
              </a:endParaRPr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F02B62EA-5FFE-89FC-CE7B-D4E7DCDCA7CB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84C089EE-EDC0-13EF-E95A-AD349D6B54CB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4" name="Shape 23">
              <a:extLst>
                <a:ext uri="{FF2B5EF4-FFF2-40B4-BE49-F238E27FC236}">
                  <a16:creationId xmlns:a16="http://schemas.microsoft.com/office/drawing/2014/main" id="{D938FD0A-9EBF-6EB8-8540-537B2CB20422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ABF574CF-376E-CA02-9E39-474A89D660CF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3745A1C4-5CA7-33B7-3AA0-3A499816D9CD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059AFD21-F3FB-F663-C888-0F808EE2E652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129C01E5-D88F-8DD7-E370-CB620CE937BC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1DCB7F74-E10F-DCEB-05B2-63A67FF918D4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10641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532574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0-5 = -5</a:t>
                      </a:r>
                    </a:p>
                    <a:p>
                      <a:pPr algn="ctr"/>
                      <a:r>
                        <a:rPr lang="en-US" sz="2000" dirty="0"/>
                        <a:t>4-5 = -1</a:t>
                      </a:r>
                    </a:p>
                    <a:p>
                      <a:pPr algn="ctr"/>
                      <a:r>
                        <a:rPr lang="en-US" sz="2000" dirty="0"/>
                        <a:t>5-5 = 0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1D0432F-87FF-0E2E-3F95-243305CFBD73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4F6DDE6-4E64-7F60-44F0-768A86A46B1B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4">
                  <a:extLst>
                    <a:ext uri="{FF2B5EF4-FFF2-40B4-BE49-F238E27FC236}">
                      <a16:creationId xmlns:a16="http://schemas.microsoft.com/office/drawing/2014/main" id="{5F0B62C0-4A98-A163-5775-15893A67F0B1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 4">
                  <a:extLst>
                    <a:ext uri="{FF2B5EF4-FFF2-40B4-BE49-F238E27FC236}">
                      <a16:creationId xmlns:a16="http://schemas.microsoft.com/office/drawing/2014/main" id="{5F0B62C0-4A98-A163-5775-15893A67F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EBFB0539-8B86-DAA5-0BDE-39C3BFC06570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E40D2773-32F4-BDD9-E3D2-489AFE8141A3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E40D2773-32F4-BDD9-E3D2-489AFE8141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CCC107A4-9971-3F86-4122-CEFBD0961918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45ABF01B-2202-BB19-6B96-A14E7B810737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68A76F3C-77A5-FE0A-6185-18DA1933FA9E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4BF4CBA4-2942-B822-EB45-6F681A2C2CC4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0ACB7334-6565-FC97-48C4-3BFDF751B835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A4F146EE-852E-D25E-2016-AB92C22ABE57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8D405B0E-43A8-D941-B18A-9D206839608D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AE1C7FA4-8F69-6CEA-96D7-F474634E5ABE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8871E"/>
            </a:solidFill>
            <a:ln w="15875">
              <a:solidFill>
                <a:srgbClr val="B85F0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2">
              <a:extLst>
                <a:ext uri="{FF2B5EF4-FFF2-40B4-BE49-F238E27FC236}">
                  <a16:creationId xmlns:a16="http://schemas.microsoft.com/office/drawing/2014/main" id="{08694F40-47A1-74BB-A1DE-2D9D3178E272}"/>
                </a:ext>
              </a:extLst>
            </p:cNvPr>
            <p:cNvSpPr/>
            <p:nvPr/>
          </p:nvSpPr>
          <p:spPr>
            <a:xfrm>
              <a:off x="4236510" y="1969755"/>
              <a:ext cx="1280160" cy="3568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>
                <a:solidFill>
                  <a:schemeClr val="bg1"/>
                </a:solidFill>
              </a:endParaRPr>
            </a:p>
          </p:txBody>
        </p:sp>
        <p:sp>
          <p:nvSpPr>
            <p:cNvPr id="31" name="Shape 23">
              <a:extLst>
                <a:ext uri="{FF2B5EF4-FFF2-40B4-BE49-F238E27FC236}">
                  <a16:creationId xmlns:a16="http://schemas.microsoft.com/office/drawing/2014/main" id="{7EB40841-70DD-981D-3887-4AB8509B79E1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E6FDA96C-A017-D1B2-5636-1D2752E6F000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03073874-603C-5274-AB01-CFFEBD824330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9D149680-41F8-06E5-BB98-EF6AC72B2DEC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D0C96417-492C-6E9F-D53B-D70CA98AAFDE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6454DCCA-E968-A1C4-31C6-7A9FFDFBB1CA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10910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325279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0-5 = -5</a:t>
                      </a:r>
                    </a:p>
                    <a:p>
                      <a:pPr algn="ctr"/>
                      <a:r>
                        <a:rPr lang="en-US" sz="2000" dirty="0"/>
                        <a:t>4-5 = -1</a:t>
                      </a:r>
                    </a:p>
                    <a:p>
                      <a:pPr algn="ctr"/>
                      <a:r>
                        <a:rPr lang="en-US" sz="2000" dirty="0"/>
                        <a:t>5-5 = 0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SS = 44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C3D35E75-D84C-33AD-3CFC-7712CE7C140E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60E6083E-2A7B-1123-5F53-6BCA4B2AAFCF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CD48E01E-7CA9-C7C5-BD15-45C4DB57A772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CD48E01E-7CA9-C7C5-BD15-45C4DB57A7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ABD16699-D654-189A-77C3-B559BFC4FBDC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6">
                  <a:extLst>
                    <a:ext uri="{FF2B5EF4-FFF2-40B4-BE49-F238E27FC236}">
                      <a16:creationId xmlns:a16="http://schemas.microsoft.com/office/drawing/2014/main" id="{0E1D1582-AF5B-C4F7-1885-0CEAC1B6A4E1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 6">
                  <a:extLst>
                    <a:ext uri="{FF2B5EF4-FFF2-40B4-BE49-F238E27FC236}">
                      <a16:creationId xmlns:a16="http://schemas.microsoft.com/office/drawing/2014/main" id="{0E1D1582-AF5B-C4F7-1885-0CEAC1B6A4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C0A28D0B-322A-90C6-979D-E9D5E0A4E59B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8">
                  <a:extLst>
                    <a:ext uri="{FF2B5EF4-FFF2-40B4-BE49-F238E27FC236}">
                      <a16:creationId xmlns:a16="http://schemas.microsoft.com/office/drawing/2014/main" id="{EAB2D470-B60F-0846-96F6-CAC92D437AB7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solidFill>
                      <a:srgbClr val="B85F0F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8">
                  <a:extLst>
                    <a:ext uri="{FF2B5EF4-FFF2-40B4-BE49-F238E27FC236}">
                      <a16:creationId xmlns:a16="http://schemas.microsoft.com/office/drawing/2014/main" id="{EAB2D470-B60F-0846-96F6-CAC92D437A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C6823564-A5F3-4566-4107-D993148DFE55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81C91170-B4B9-4A7B-369D-E8B2D1F5B4D4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6FAA3377-03BD-CEA4-07B1-359B29D13432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A7B92212-307E-5913-F88B-8EE082903ADE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F83D3CAD-1825-E8C0-BB87-72AE1870851A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4645DA10-D6F3-816C-3AE0-F0FEEF9CC086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0F56BA47-5433-BD89-1250-DFD0FBB91229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0A3A8901-451F-180D-46B6-48F31729ED8D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4" name="Shape 23">
              <a:extLst>
                <a:ext uri="{FF2B5EF4-FFF2-40B4-BE49-F238E27FC236}">
                  <a16:creationId xmlns:a16="http://schemas.microsoft.com/office/drawing/2014/main" id="{CC04CCC5-0639-B7FC-A65F-DEC8B20B04B3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8871E"/>
            </a:solidFill>
            <a:ln w="15875">
              <a:solidFill>
                <a:srgbClr val="B85F0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35CBA1B7-DF73-F029-F966-2A7BDD049B04}"/>
                </a:ext>
              </a:extLst>
            </p:cNvPr>
            <p:cNvSpPr/>
            <p:nvPr/>
          </p:nvSpPr>
          <p:spPr>
            <a:xfrm>
              <a:off x="5821166" y="1983361"/>
              <a:ext cx="1371600" cy="32968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366FD4FC-2FE2-963D-09CF-9D3F0C85F541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45443E95-BBB1-EA0B-D85E-820B618A0260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79C98433-02D5-70DA-C62F-1FC7B2B8A03D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5358A107-EC26-88EE-F381-2993C998FB5E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16442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86662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0-5 = -5</a:t>
                      </a:r>
                    </a:p>
                    <a:p>
                      <a:pPr algn="ctr"/>
                      <a:r>
                        <a:rPr lang="en-US" sz="2000" dirty="0"/>
                        <a:t>4-5 = -1</a:t>
                      </a:r>
                    </a:p>
                    <a:p>
                      <a:pPr algn="ctr"/>
                      <a:r>
                        <a:rPr lang="en-US" sz="2000" dirty="0"/>
                        <a:t>5-5 = 0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SS = 44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SD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= 8.80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5A61AEC-6FA1-C10D-D208-9350C52EBB3E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A0848684-0FDB-824C-B8BD-0281D322A4DE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8CDB97F5-9D7C-6297-921A-77EE7BCDFFC2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8CDB97F5-9D7C-6297-921A-77EE7BCDFF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194A1C61-97B3-D932-58B7-51656C1F8ACA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F9DA1699-AE66-AB3F-C0B6-D811A86B3391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F9DA1699-AE66-AB3F-C0B6-D811A86B3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83A8568B-E14C-8ED7-745D-1706367611FE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8">
                  <a:extLst>
                    <a:ext uri="{FF2B5EF4-FFF2-40B4-BE49-F238E27FC236}">
                      <a16:creationId xmlns:a16="http://schemas.microsoft.com/office/drawing/2014/main" id="{C363BF40-28EF-09E6-77FF-D34E3AC6DBE6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8">
                  <a:extLst>
                    <a:ext uri="{FF2B5EF4-FFF2-40B4-BE49-F238E27FC236}">
                      <a16:creationId xmlns:a16="http://schemas.microsoft.com/office/drawing/2014/main" id="{C363BF40-28EF-09E6-77FF-D34E3AC6DB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D6F7E39C-F42E-3187-02D0-1FF8791B88F2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9C3D7E50-28BF-59AB-48AE-AB7DC7654CF1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9C3D7E50-28BF-59AB-48AE-AB7DC7654C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DC94068F-5F9E-C00F-0848-DDD65D03A2A3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410D7132-C8A7-CA77-37A6-FCD9D67F9E9D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5AB93E2-1694-96BC-A608-617FB5EA8169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BB11BAE7-E8F9-4621-4BF2-EDFCF373BA93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52E1344D-5A68-5259-CD37-B8CBDFCC0D52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DA857A14-F953-D105-CAC5-2733E22285A1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0079F33-38BA-EEF5-2FE2-6C9ACAF21020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3D4F7A16-8A2F-575C-3E38-D95605BE1800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76BDE351-4DF1-8415-F3CF-8D9A5EA49582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2" name="Shape 25">
              <a:extLst>
                <a:ext uri="{FF2B5EF4-FFF2-40B4-BE49-F238E27FC236}">
                  <a16:creationId xmlns:a16="http://schemas.microsoft.com/office/drawing/2014/main" id="{4FBFC23C-C909-1FED-A11E-5F9AFCCC016D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8871E"/>
            </a:solidFill>
            <a:ln w="15875">
              <a:solidFill>
                <a:srgbClr val="B85F0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C7B8D2E1-16AE-DD63-5212-3A72A775FF26}"/>
                </a:ext>
              </a:extLst>
            </p:cNvPr>
            <p:cNvSpPr/>
            <p:nvPr/>
          </p:nvSpPr>
          <p:spPr>
            <a:xfrm>
              <a:off x="7497261" y="1969755"/>
              <a:ext cx="1188720" cy="3568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>
                <a:solidFill>
                  <a:schemeClr val="bg1"/>
                </a:solidFill>
              </a:endParaRPr>
            </a:p>
          </p:txBody>
        </p:sp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5DD20FCA-BC2E-BF2E-65AF-6EC83D81647C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24A748CA-1D47-853C-1557-0654F2AFDD0D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641671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97998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0-5 = -5</a:t>
                      </a:r>
                    </a:p>
                    <a:p>
                      <a:pPr algn="ctr"/>
                      <a:r>
                        <a:rPr lang="en-US" sz="2000" dirty="0"/>
                        <a:t>4-5 = -1</a:t>
                      </a:r>
                    </a:p>
                    <a:p>
                      <a:pPr algn="ctr"/>
                      <a:r>
                        <a:rPr lang="en-US" sz="2000" dirty="0"/>
                        <a:t>5-5 = 0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SS = 44</a:t>
                      </a:r>
                    </a:p>
                    <a:p>
                      <a:pPr algn="ctr"/>
                      <a:r>
                        <a:rPr lang="en-US" sz="2000" dirty="0"/>
                        <a:t>SD</a:t>
                      </a:r>
                      <a:r>
                        <a:rPr lang="en-US" sz="2000" baseline="30000" dirty="0"/>
                        <a:t>2</a:t>
                      </a:r>
                      <a:r>
                        <a:rPr lang="en-US" sz="2000" dirty="0"/>
                        <a:t> = 8.80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SD = 2.97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CE3F51A1-E796-4D67-401A-83FB5843CA5D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39BBB748-4951-6D9D-2AE2-D6D8482FCF8D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D628AED8-9AC8-B0DA-F134-1A0CDBA64BAF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D628AED8-9AC8-B0DA-F134-1A0CDBA64B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CC96567C-320C-207C-ED32-D919E6675245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353E7A49-3296-2582-CA23-D5B42461CAF8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353E7A49-3296-2582-CA23-D5B42461CA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9D9D5CA3-F455-6157-44CD-8B7760DA0526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0125A6C6-62C3-F891-581E-2D4E7D4221AA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0125A6C6-62C3-F891-581E-2D4E7D4221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7B7F9C8C-7281-8E94-8632-112AC131DDF1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3B2D16D8-7EF4-496A-0F6C-308E981D1C51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3B2D16D8-7EF4-496A-0F6C-308E981D1C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7C9210F6-2C00-F190-CDCA-5933918609AD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51369313-5480-C1D0-21FD-0565AB5099C6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51369313-5480-C1D0-21FD-0565AB5099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347177B0-BCB5-E42E-E74F-78F5F6F91CCF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475265A-D5A2-8040-D0DD-F4F5AEF7DF07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09C77FDF-4078-6DD8-8361-5DEF5222D319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4D15CDAA-FBEC-C02E-8007-8969919E572E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236A0A05-E4AB-1160-FA6D-A0EF7F55DAE4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6B75C257-BA56-3F95-8C6B-59720E793E77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9A6BB682-DB10-D1CB-3B3B-A8249FBC9490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BE85E100-1D2B-8563-7674-1E7278B14307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BD2C8CD1-210C-E96D-8351-AD4B2481C578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90B05EA2-CE0B-622E-5C30-88469E4BE9B9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3E863859-27DA-1B71-8840-E170BD04F10A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8871E"/>
            </a:solidFill>
            <a:ln w="15875">
              <a:solidFill>
                <a:srgbClr val="B85F0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16B5264D-03C4-E5FD-15EC-9E76E2D1159F}"/>
                </a:ext>
              </a:extLst>
            </p:cNvPr>
            <p:cNvSpPr/>
            <p:nvPr/>
          </p:nvSpPr>
          <p:spPr>
            <a:xfrm>
              <a:off x="8990476" y="1983361"/>
              <a:ext cx="1188720" cy="32968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1157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F9E3F-7101-FC45-9CC0-458A7FC83857}"/>
              </a:ext>
            </a:extLst>
          </p:cNvPr>
          <p:cNvSpPr txBox="1"/>
          <p:nvPr/>
        </p:nvSpPr>
        <p:spPr>
          <a:xfrm>
            <a:off x="624783" y="3725257"/>
            <a:ext cx="78162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CD72A97-E698-1A4F-8D13-B5F52677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80971"/>
              </p:ext>
            </p:extLst>
          </p:nvPr>
        </p:nvGraphicFramePr>
        <p:xfrm>
          <a:off x="3311812" y="3804022"/>
          <a:ext cx="5822664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88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1940888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endParaRPr lang="en-US" sz="20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0-5 = -5</a:t>
                      </a:r>
                    </a:p>
                    <a:p>
                      <a:pPr algn="ctr"/>
                      <a:r>
                        <a:rPr lang="en-US" sz="2000" dirty="0"/>
                        <a:t>4-5 = -1</a:t>
                      </a:r>
                    </a:p>
                    <a:p>
                      <a:pPr algn="ctr"/>
                      <a:r>
                        <a:rPr lang="en-US" sz="2000" dirty="0"/>
                        <a:t>5-5 = 0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  <a:p>
                      <a:pPr algn="ctr"/>
                      <a:r>
                        <a:rPr lang="en-US" sz="2000" dirty="0"/>
                        <a:t>8-5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SS = 44</a:t>
                      </a:r>
                    </a:p>
                    <a:p>
                      <a:pPr algn="ctr"/>
                      <a:r>
                        <a:rPr lang="en-US" sz="2000" dirty="0"/>
                        <a:t>SD</a:t>
                      </a:r>
                      <a:r>
                        <a:rPr lang="en-US" sz="2000" baseline="30000" dirty="0"/>
                        <a:t>2</a:t>
                      </a:r>
                      <a:r>
                        <a:rPr lang="en-US" sz="2000" dirty="0"/>
                        <a:t> = 8.80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SD = 2.97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53C5375-9DF5-5840-71A8-D71B37C079C3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BA661F06-A4D8-5C62-594D-E5D12B50E32C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53DB3D7E-7B2F-D19B-060C-C3197852EDF4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53DB3D7E-7B2F-D19B-060C-C3197852E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7B59AF97-AFB3-C081-132A-72215518D29A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6B8DCAE4-7EC9-4A37-88D1-382575A8BCA5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 6">
                  <a:extLst>
                    <a:ext uri="{FF2B5EF4-FFF2-40B4-BE49-F238E27FC236}">
                      <a16:creationId xmlns:a16="http://schemas.microsoft.com/office/drawing/2014/main" id="{6B8DCAE4-7EC9-4A37-88D1-382575A8BC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0385AB0B-307E-B67F-5F00-3E5A83249412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3C37E073-5950-62B5-14C0-CAE2652D28B4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3C37E073-5950-62B5-14C0-CAE2652D2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345B00B2-06A9-B420-A259-0DC27F006260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74F1A0FE-E2C6-C23C-26DB-337D8C2F1E42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74F1A0FE-E2C6-C23C-26DB-337D8C2F1E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F458BDB4-11FA-2699-DF9C-B13046935747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37AF5E99-C762-BFD7-2F23-3E1C1170FED3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37AF5E99-C762-BFD7-2F23-3E1C1170FE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27034535-CA1B-FF71-A6CB-B817A3766649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D00E93DB-8DDC-B800-9A0D-2DDF9DBC5AB8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98DA2A23-E8F3-6325-A50C-455E1F53C688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2513F454-038B-7676-4713-B34266D77AEF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84BC9C6D-C326-BDB4-FC0F-36E6B571D905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5BFFB4FC-67FD-F064-4AF7-1DD4709EE4C2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1275A9D0-EFA6-02FB-157B-F57B1ADAF4E1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022D1484-E8EB-C042-969B-061D6DC160A4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B35DCF24-D9F8-1E4E-5835-C13E57EBC9A6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9CA4A815-94D1-4A67-79DA-4B0CCD11ADE0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DE2D04F3-462D-9007-EB38-58785B4E0308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E22888E1-0566-30BF-5E1B-A956F04778EF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8627416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954E-6DEB-1114-02E7-79783AD0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32E-CC07-0F12-D2D9-914523E1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Table with correct decimal usage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558A8E-8967-B927-AE4C-F02E428384DD}"/>
              </a:ext>
            </a:extLst>
          </p:cNvPr>
          <p:cNvSpPr txBox="1"/>
          <p:nvPr/>
        </p:nvSpPr>
        <p:spPr>
          <a:xfrm>
            <a:off x="624783" y="3725257"/>
            <a:ext cx="7816273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0, 4, 5, 8, 8</a:t>
            </a:r>
          </a:p>
          <a:p>
            <a:endParaRPr lang="en-US" sz="3200" b="1" dirty="0"/>
          </a:p>
          <a:p>
            <a:r>
              <a:rPr lang="en-US" sz="3200" b="1" dirty="0"/>
              <a:t>Report:</a:t>
            </a:r>
          </a:p>
          <a:p>
            <a:r>
              <a:rPr lang="en-US" sz="3200" dirty="0"/>
              <a:t>SD = 2.97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aseline="3000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B274523-D07D-3F30-80D5-0FC52EA6F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843697"/>
              </p:ext>
            </p:extLst>
          </p:nvPr>
        </p:nvGraphicFramePr>
        <p:xfrm>
          <a:off x="2777706" y="3804022"/>
          <a:ext cx="8134710" cy="305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570">
                  <a:extLst>
                    <a:ext uri="{9D8B030D-6E8A-4147-A177-3AD203B41FA5}">
                      <a16:colId xmlns:a16="http://schemas.microsoft.com/office/drawing/2014/main" val="932416178"/>
                    </a:ext>
                  </a:extLst>
                </a:gridCol>
                <a:gridCol w="2711570">
                  <a:extLst>
                    <a:ext uri="{9D8B030D-6E8A-4147-A177-3AD203B41FA5}">
                      <a16:colId xmlns:a16="http://schemas.microsoft.com/office/drawing/2014/main" val="3548801548"/>
                    </a:ext>
                  </a:extLst>
                </a:gridCol>
                <a:gridCol w="2711570">
                  <a:extLst>
                    <a:ext uri="{9D8B030D-6E8A-4147-A177-3AD203B41FA5}">
                      <a16:colId xmlns:a16="http://schemas.microsoft.com/office/drawing/2014/main" val="3356175988"/>
                    </a:ext>
                  </a:extLst>
                </a:gridCol>
              </a:tblGrid>
              <a:tr h="392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endParaRPr lang="en-US" sz="20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(x - </a:t>
                      </a:r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x̅̅)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26785"/>
                  </a:ext>
                </a:extLst>
              </a:tr>
              <a:tr h="16500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0 - 5.0000 = -5.0000</a:t>
                      </a:r>
                    </a:p>
                    <a:p>
                      <a:pPr algn="ctr"/>
                      <a:r>
                        <a:rPr lang="en-US" sz="2000" dirty="0"/>
                        <a:t>4 - 5.0000 = -1.0000</a:t>
                      </a:r>
                    </a:p>
                    <a:p>
                      <a:pPr algn="ctr"/>
                      <a:r>
                        <a:rPr lang="en-US" sz="2000" dirty="0"/>
                        <a:t>5 - 5.0000 = 0.0000</a:t>
                      </a:r>
                    </a:p>
                    <a:p>
                      <a:pPr algn="ctr"/>
                      <a:r>
                        <a:rPr lang="en-US" sz="2000" dirty="0"/>
                        <a:t>8 - 5.0000 = 3.0000</a:t>
                      </a:r>
                    </a:p>
                    <a:p>
                      <a:pPr algn="ctr"/>
                      <a:r>
                        <a:rPr lang="en-US" sz="2000" dirty="0"/>
                        <a:t>8 - 5.0000 = 3.0000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25.0000</a:t>
                      </a:r>
                    </a:p>
                    <a:p>
                      <a:pPr algn="ctr"/>
                      <a:r>
                        <a:rPr lang="en-US" sz="2000" dirty="0"/>
                        <a:t>1.0000</a:t>
                      </a:r>
                    </a:p>
                    <a:p>
                      <a:pPr algn="ctr"/>
                      <a:r>
                        <a:rPr lang="en-US" sz="2000" dirty="0"/>
                        <a:t>0.0000</a:t>
                      </a:r>
                    </a:p>
                    <a:p>
                      <a:pPr algn="ctr"/>
                      <a:r>
                        <a:rPr lang="en-US" sz="2000" dirty="0"/>
                        <a:t>9.0000</a:t>
                      </a:r>
                    </a:p>
                    <a:p>
                      <a:pPr algn="ctr"/>
                      <a:r>
                        <a:rPr lang="en-US" sz="2000" dirty="0"/>
                        <a:t>9.0000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95834"/>
                  </a:ext>
                </a:extLst>
              </a:tr>
              <a:tr h="52002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>
                          <a:solidFill>
                            <a:schemeClr val="tx1"/>
                          </a:solidFill>
                        </a:rPr>
                        <a:t> x̅̅ = 5</a:t>
                      </a:r>
                      <a:r>
                        <a:rPr lang="en-US" sz="2000" dirty="0"/>
                        <a:t>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SS = 44.0000</a:t>
                      </a:r>
                    </a:p>
                    <a:p>
                      <a:pPr algn="ctr"/>
                      <a:r>
                        <a:rPr lang="en-US" sz="2000" dirty="0"/>
                        <a:t>SD</a:t>
                      </a:r>
                      <a:r>
                        <a:rPr lang="en-US" sz="2000" baseline="30000" dirty="0"/>
                        <a:t>2</a:t>
                      </a:r>
                      <a:r>
                        <a:rPr lang="en-US" sz="2000" dirty="0"/>
                        <a:t> = 8.8000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SD = 2.9700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798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37BA2B3-8D7F-5BCF-DD3D-1443DE0D9A97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8153FB01-6869-2522-FA04-83557F483126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4">
                  <a:extLst>
                    <a:ext uri="{FF2B5EF4-FFF2-40B4-BE49-F238E27FC236}">
                      <a16:creationId xmlns:a16="http://schemas.microsoft.com/office/drawing/2014/main" id="{406C0AD9-284A-E607-2B1E-B27FB9F57D39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 4">
                  <a:extLst>
                    <a:ext uri="{FF2B5EF4-FFF2-40B4-BE49-F238E27FC236}">
                      <a16:creationId xmlns:a16="http://schemas.microsoft.com/office/drawing/2014/main" id="{406C0AD9-284A-E607-2B1E-B27FB9F57D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2DB9A6A-1E08-2711-6B80-90D74F76AA82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57B82A28-A344-C052-FA91-48F0D22B979F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57B82A28-A344-C052-FA91-48F0D22B97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3F7E11B1-932D-42BC-A91A-912ABE44544D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8">
                  <a:extLst>
                    <a:ext uri="{FF2B5EF4-FFF2-40B4-BE49-F238E27FC236}">
                      <a16:creationId xmlns:a16="http://schemas.microsoft.com/office/drawing/2014/main" id="{1B7EDCE1-4C57-7169-150C-2F79B8734122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8">
                  <a:extLst>
                    <a:ext uri="{FF2B5EF4-FFF2-40B4-BE49-F238E27FC236}">
                      <a16:creationId xmlns:a16="http://schemas.microsoft.com/office/drawing/2014/main" id="{1B7EDCE1-4C57-7169-150C-2F79B87341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E4903D1-6AC5-B893-52C4-A64C460A301F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9F832EA4-7087-E103-F69B-BBF404C309C2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9F832EA4-7087-E103-F69B-BBF404C309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5BAA7207-7172-150E-5DB4-77D8819A98C3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12">
                  <a:extLst>
                    <a:ext uri="{FF2B5EF4-FFF2-40B4-BE49-F238E27FC236}">
                      <a16:creationId xmlns:a16="http://schemas.microsoft.com/office/drawing/2014/main" id="{CFFFBDD7-B30A-0748-D648-00EF97A51B41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 12">
                  <a:extLst>
                    <a:ext uri="{FF2B5EF4-FFF2-40B4-BE49-F238E27FC236}">
                      <a16:creationId xmlns:a16="http://schemas.microsoft.com/office/drawing/2014/main" id="{CFFFBDD7-B30A-0748-D648-00EF97A51B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0AB856D2-F582-F79E-7AA6-8C759C922C22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AAD268CE-3F17-8705-00CE-A5A498823017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C05D7CBA-920A-0B6C-3DBF-E6484845E17D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89DB3FE2-271D-2E7E-B0B5-DC4966666DB6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4D9ABB74-9B5D-E2E1-DEE9-57C7944E3A40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2">
              <a:extLst>
                <a:ext uri="{FF2B5EF4-FFF2-40B4-BE49-F238E27FC236}">
                  <a16:creationId xmlns:a16="http://schemas.microsoft.com/office/drawing/2014/main" id="{5D84CF87-C1C0-A8B4-4330-471E56A96918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1" name="Shape 23">
              <a:extLst>
                <a:ext uri="{FF2B5EF4-FFF2-40B4-BE49-F238E27FC236}">
                  <a16:creationId xmlns:a16="http://schemas.microsoft.com/office/drawing/2014/main" id="{AD85F5E4-3180-C46A-1570-1FC1BBFDE6D2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65C6E5D1-3FA4-35AE-6EF7-322AEAC99379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2F2AE656-117B-822C-DF6D-BDCA5B93ED3E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AEBC118D-F5EF-49E2-DC77-8849DC3BF84A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C5826429-E44E-668F-4C00-96B6AE3D77C9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AFD4E20F-C1AB-9EBA-5964-91ACBB540F0D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53828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115F9-CA36-3DCE-3FED-8771B9D7B660}"/>
                  </a:ext>
                </a:extLst>
              </p:cNvPr>
              <p:cNvSpPr txBox="1"/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115F9-CA36-3DCE-3FED-8771B9D7B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14691F1-A6D7-7D0C-6A82-1EA8AE426AE2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C00EB7A3-2390-9AEE-1CAB-F6702C828E6D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55AF68E4-7BA1-E7C1-DD2B-E33FE2FC15F4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55AF68E4-7BA1-E7C1-DD2B-E33FE2FC15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971A4DF3-C6C8-18AD-104F-CA662342AE6D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FA394724-3242-A1E1-5200-5FC87DFE68E8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FA394724-3242-A1E1-5200-5FC87DFE68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76D6EA53-7AB3-9696-B64A-8D39A35D11F7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A405AFB4-A14D-CB11-C635-BC34865E2CDD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A405AFB4-A14D-CB11-C635-BC34865E2C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ECBD658B-11CB-75DE-1D0C-97095AD519F9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022DD59-4248-342E-002B-4998C851E7BD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022DD59-4248-342E-002B-4998C851E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0FB881F8-DA2D-5590-B02A-8EA48A6C3424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B95C9BF4-9D86-E6B5-717F-D937EFE99EB4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B95C9BF4-9D86-E6B5-717F-D937EFE99E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0FAD0D32-250F-682B-88DA-F08043D478A0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0A98C2B2-A3F8-4319-C866-9659EB7D9ECE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49526FEC-3DA9-1925-02E2-AF762E4E3917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3A39D30D-9A45-E330-063B-00AFA9541B61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866AF0FE-745B-759C-6962-A90F6CDA0D80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AC5FCBE7-C78C-C993-5FDE-8B1047079ECD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44262872-AEA4-79E9-D9F5-87813C4D9528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6CCED467-58F8-7F19-37FD-571BB791C4AF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98E1E017-BB46-E0CF-2007-67FD43BC843E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564B7E20-5494-682A-381C-15DC8D2D6792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57481CD7-039C-EFD4-2853-90DA95C96CEE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758AB062-46BC-B820-A9F1-FAB6EE884290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5802050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EA8E74-EE75-5630-7E9D-253C6B76D59D}"/>
                  </a:ext>
                </a:extLst>
              </p:cNvPr>
              <p:cNvSpPr txBox="1"/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EA8E74-EE75-5630-7E9D-253C6B76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E1712B8-1D5D-7DAF-1278-E33D94E168B8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3CED29DF-1B9D-DACC-EA9A-A78A2B7AD698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FD3EFB28-1F36-0AE1-296A-ED49647A7754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B85F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solidFill>
                              <a:srgbClr val="B85F0F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FD3EFB28-1F36-0AE1-296A-ED49647A77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2C431750-56CA-743F-0739-A76B584A6615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07B54E13-2584-A36D-5666-7A22D96885A8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07B54E13-2584-A36D-5666-7A22D96885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4BBF8158-CA48-44AD-D7AF-E637E60EEFCE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40EECA0D-1C92-281D-9F46-F793A52FF781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40EECA0D-1C92-281D-9F46-F793A52FF7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BA27F6E4-92E9-C4D2-9C96-376D90A8D674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AB5D589-89AB-0613-C81D-E2B17BB92D1F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AB5D589-89AB-0613-C81D-E2B17BB92D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4AF6E003-258F-B6BF-B349-B5AB9A2DBA45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2748505-8C90-E659-E36F-E1CB1FA27111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2748505-8C90-E659-E36F-E1CB1FA27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522484E1-FE55-3122-EC6A-A4A8BBDC0718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D4E21832-D96E-B449-C702-800EC0163F54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6D94765D-9E9B-36BF-23A0-630B8A9DCA83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9366DF25-44C0-9C7C-70C5-8CF62CFE806D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CB25DB23-13F6-A968-1E3E-22BD0AAC4AAF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B8F1D6B0-EC19-51B2-7C8E-10025464707F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DCC6190B-1804-E6DB-FF08-D2CB295F89B5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AEC96150-48E2-624F-B248-B13ED1E00463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22F3C0C0-BDA4-32C5-E858-8522930AE36E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721C11F9-1A9D-0D38-B8CF-E8590624F31B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9394DD81-B386-6C7F-F36F-DB2348722D5F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2CA035C8-6ED2-9BBE-32B1-F1185B7C7B48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64035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CCA06B-C7CA-2505-3C0A-CCEDF6193E1E}"/>
                  </a:ext>
                </a:extLst>
              </p:cNvPr>
              <p:cNvSpPr txBox="1"/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CCA06B-C7CA-2505-3C0A-CCEDF6193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7C462E-3C62-EA3B-0454-981087609429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5FB9415E-ACFD-C399-03E4-84C7AAD829DD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1C6AC9CE-6677-6E0F-F3B4-685216F38D64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1C6AC9CE-6677-6E0F-F3B4-685216F38D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59083AE3-EFB3-AB93-413F-9D4B36ABB0BA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6C374550-91E7-60BE-1314-CCF466EC6DAA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6C374550-91E7-60BE-1314-CCF466EC6D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6D06571F-7B46-E537-06A8-AD0B751DD8F7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3C527D21-5490-B16E-37A8-6DD2891B10AA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3C527D21-5490-B16E-37A8-6DD2891B10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D0063B8A-CACE-762E-B75E-A4473D49AC53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2A9D8088-332E-7A06-F7D9-7C5A21D56509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2A9D8088-332E-7A06-F7D9-7C5A21D565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128A4BD8-89CF-3D03-F92E-EDA0066DF17E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DE36CB4-DA8B-7003-C902-C442F3EBBEA5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DE36CB4-DA8B-7003-C902-C442F3EBBE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EBEA40A3-35A8-925D-9EC8-F638882988C6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67D0E35-A572-1288-E0CF-E8BB90F54646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F56826CE-5410-6D45-CE70-D0451EDFEA9B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173DAC42-3741-8449-FDC2-2BAEFD9E6B02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013474D4-68FA-B513-A060-9DA0B16C5BDA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209DEC14-C8E7-FF8F-D50A-1D460D2A1019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5C3C06D7-C62B-50C9-8358-E533BFBBC7C5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8951406B-A333-D4C9-082F-ACC584A682C9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77DD1A6C-A671-65ED-464B-3CFB7E4D1C57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3F3C466F-BE46-FD40-02BB-3F15C295CA12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E851F035-8687-5F11-6236-7729D15A363A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85B33264-7115-7116-73ED-1514D944BD02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23919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737E7-CEEA-37EF-5BA7-7A567E992636}"/>
                  </a:ext>
                </a:extLst>
              </p:cNvPr>
              <p:cNvSpPr txBox="1"/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737E7-CEEA-37EF-5BA7-7A567E992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B5C2DDB-AF30-A7C0-FCA5-6DB28E033E45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987D191F-D1DE-1F66-254B-6AA71A3879F9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5D48600B-92D3-9128-8F84-A9C0D5CAB75A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5D48600B-92D3-9128-8F84-A9C0D5CAB7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849F6C2-51DB-7F96-152C-A15AB8DDBE83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1D310506-EBD4-C8C1-5273-90F69E689298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1D310506-EBD4-C8C1-5273-90F69E6892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2557A2BD-E21A-CC57-867D-345C30F39611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C3FE48A4-3409-F957-1D2A-853423C7B01F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solidFill>
                                          <a:srgbClr val="B85F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solidFill>
                      <a:srgbClr val="B85F0F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C3FE48A4-3409-F957-1D2A-853423C7B0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841071CC-519A-32E0-F3AD-3F327572BE6B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9563CCC5-F695-B072-67AB-9882DE08C693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9563CCC5-F695-B072-67AB-9882DE08C6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D403D41B-BC04-A65D-FCAF-1ACD261E6155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BD1D5AE1-5402-4072-909F-A735AFD2C254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BD1D5AE1-5402-4072-909F-A735AFD2C2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314E241A-BD32-FE65-98F7-71DE4FFBF06A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2F46BFE5-E0EC-4222-B855-2F7E55FDFDEF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176E9367-2E38-AECB-4856-945D26944009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46ED34D8-DF15-F7E5-7FC5-94481B07F260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DFBA1507-6D87-53AC-5791-B311F1A95912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64A91820-5917-EA00-2E09-FC0E6EAA2B23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B882297B-656C-3D9A-2CE4-73CAD866BE75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2F483F16-2A8F-5680-F5A5-74A84FC52BED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13CCB9DE-6983-AFB2-CC17-880BD6BAC257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FFEAA88D-A13E-8396-4E38-88B479B9FCB8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744E5098-1B92-1A23-471F-95F048EB76DB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040246E6-2B2A-BC67-6F18-3F03152A5A82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91414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2B078-AD17-1685-D179-4991FDA284C8}"/>
                  </a:ext>
                </a:extLst>
              </p:cNvPr>
              <p:cNvSpPr txBox="1"/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2B078-AD17-1685-D179-4991FDA28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70" y="4141504"/>
                <a:ext cx="3038076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A973A3E-EA28-3837-8060-3C9E5642455E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0FF8DC0C-660D-C13B-23BE-6953EF4FBCA8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D3273466-031F-B54E-A577-E2D5100B51E4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D3273466-031F-B54E-A577-E2D5100B51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8D2DC9DB-3FB4-96C4-66C5-2365CF6CA149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2D092327-7331-1972-4BEA-F264A44EE857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2D092327-7331-1972-4BEA-F264A44EE8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EF730AB4-B36E-0C00-5CF0-DE48D74E499C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494BEABE-6E7B-5D77-7801-885CF05232B8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494BEABE-6E7B-5D77-7801-885CF05232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5AC960E7-FAAC-EE7E-0B5C-57F9F2B166C2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6758209-C202-87B8-D3AE-9A4507B21D52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F6758209-C202-87B8-D3AE-9A4507B21D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16E473FD-741A-A5B8-8FBC-05A44A016390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CDDB37D-9B88-8F6B-E544-0EE0DDDCBBE8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FCDDB37D-9B88-8F6B-E544-0EE0DDDCBB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98A50C28-008C-5CEF-7C6A-94A8B9109A54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D2CED312-64E6-5E8E-702D-9AAB7E58F117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A37B2161-F65B-7227-C5C7-2525A6D0E2CB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35689B60-E5F1-7EBE-02B2-66CEAE7F4B13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6D9AAEE0-B608-FBD1-D890-826DF4E2D6FF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81A976A1-DA8A-7F38-B2A9-73EA039BBACE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5977753D-8C97-F375-10BC-6A7EB8F4C03B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1F5171A1-01A7-2D47-EE80-724CE8FA0603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9BF879C9-BB17-C0E3-6697-127E71D7FE86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48A9D0A2-08E2-9178-C2C1-B4500D0842D2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E27A233B-C5D7-93DC-CD5E-942C128EF8DF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C47DD281-92A7-C379-500D-2A68504CF479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85423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BF9BC7-C1B5-9AC8-9DFD-B70AE02E1748}"/>
                  </a:ext>
                </a:extLst>
              </p:cNvPr>
              <p:cNvSpPr txBox="1"/>
              <p:nvPr/>
            </p:nvSpPr>
            <p:spPr>
              <a:xfrm>
                <a:off x="963677" y="4141504"/>
                <a:ext cx="3655360" cy="245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5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5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sz="5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BF9BC7-C1B5-9AC8-9DFD-B70AE02E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77" y="4141504"/>
                <a:ext cx="3655360" cy="2455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656BA7A-D10E-5EBF-929C-4BDEA6F002D7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7D4ED12A-7973-A167-8BAB-E656E71EEF37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48DFF2BF-45CF-B67A-BAA6-2B3C94420EEE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48DFF2BF-45CF-B67A-BAA6-2B3C94420E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771D9D4F-EC1E-ADF3-0C5B-F87098D5025A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E7AF8B1A-8C45-FDC9-6499-534D83E53338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 6">
                  <a:extLst>
                    <a:ext uri="{FF2B5EF4-FFF2-40B4-BE49-F238E27FC236}">
                      <a16:creationId xmlns:a16="http://schemas.microsoft.com/office/drawing/2014/main" id="{E7AF8B1A-8C45-FDC9-6499-534D83E533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7FF907D8-1969-BEE0-D50D-DC55E9B4EC05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D7FA5793-0802-28D0-C0F2-945506D82DC6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8">
                  <a:extLst>
                    <a:ext uri="{FF2B5EF4-FFF2-40B4-BE49-F238E27FC236}">
                      <a16:creationId xmlns:a16="http://schemas.microsoft.com/office/drawing/2014/main" id="{D7FA5793-0802-28D0-C0F2-945506D82D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C3FC4562-3C44-E204-A12C-0FB507CC7A1F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E6008F33-11FA-F6FE-2E29-A8A9A35C7013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 10">
                  <a:extLst>
                    <a:ext uri="{FF2B5EF4-FFF2-40B4-BE49-F238E27FC236}">
                      <a16:creationId xmlns:a16="http://schemas.microsoft.com/office/drawing/2014/main" id="{E6008F33-11FA-F6FE-2E29-A8A9A35C70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81F741DE-C408-7DFA-2BE8-4975BE18AFF0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380F194F-DC2B-EA37-5291-A57C6DFB38A0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rgbClr val="B85F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B85F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>
                    <a:solidFill>
                      <a:srgbClr val="B85F0F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380F194F-DC2B-EA37-5291-A57C6DFB38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A303861D-013C-6C14-869D-4935CB273203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4127FDB6-1D39-6CB6-5E15-5F598FA9D055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1FC80C2D-5CDE-9500-55BE-1523F016950F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5F1B78FC-4753-71D1-A7BD-2A200E023D96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F898F143-FDA8-1841-324C-8E5A90102119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6A97DA75-1241-4453-0E2C-637C91B698F4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79C6983A-5654-30FD-E285-87E1E42A5EEE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0EA271B7-CB4B-E5F8-D86C-F8D1B58E7F8B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52BBCCFD-45DB-5630-EE87-83959FF68ED9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8E205420-1DFF-C6F9-4CAC-5755B728488D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40B292C6-476A-742F-63F2-4E8BBA5B0652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13A0C150-EEAE-0FB6-39F1-1391EA5E6AD7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8443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076F-4624-5A4C-853D-94B98495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Interval/Ratio, Mean, and Variability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7015C7E-86F2-4A4B-B942-83CCDA3A680B}"/>
              </a:ext>
            </a:extLst>
          </p:cNvPr>
          <p:cNvSpPr/>
          <p:nvPr/>
        </p:nvSpPr>
        <p:spPr>
          <a:xfrm>
            <a:off x="1531620" y="1154430"/>
            <a:ext cx="8583930" cy="5726430"/>
          </a:xfrm>
          <a:custGeom>
            <a:avLst/>
            <a:gdLst>
              <a:gd name="connsiteX0" fmla="*/ 674370 w 8583930"/>
              <a:gd name="connsiteY0" fmla="*/ 4800600 h 5726430"/>
              <a:gd name="connsiteX1" fmla="*/ 1817370 w 8583930"/>
              <a:gd name="connsiteY1" fmla="*/ 5246370 h 5726430"/>
              <a:gd name="connsiteX2" fmla="*/ 3520440 w 8583930"/>
              <a:gd name="connsiteY2" fmla="*/ 5497830 h 5726430"/>
              <a:gd name="connsiteX3" fmla="*/ 7920990 w 8583930"/>
              <a:gd name="connsiteY3" fmla="*/ 5429250 h 5726430"/>
              <a:gd name="connsiteX4" fmla="*/ 7875270 w 8583930"/>
              <a:gd name="connsiteY4" fmla="*/ 0 h 5726430"/>
              <a:gd name="connsiteX5" fmla="*/ 8538210 w 8583930"/>
              <a:gd name="connsiteY5" fmla="*/ 57150 h 5726430"/>
              <a:gd name="connsiteX6" fmla="*/ 8583930 w 8583930"/>
              <a:gd name="connsiteY6" fmla="*/ 5726430 h 5726430"/>
              <a:gd name="connsiteX7" fmla="*/ 0 w 8583930"/>
              <a:gd name="connsiteY7" fmla="*/ 5703570 h 5726430"/>
              <a:gd name="connsiteX8" fmla="*/ 674370 w 8583930"/>
              <a:gd name="connsiteY8" fmla="*/ 4800600 h 572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3930" h="5726430">
                <a:moveTo>
                  <a:pt x="674370" y="4800600"/>
                </a:moveTo>
                <a:lnTo>
                  <a:pt x="1817370" y="5246370"/>
                </a:lnTo>
                <a:lnTo>
                  <a:pt x="3520440" y="5497830"/>
                </a:lnTo>
                <a:lnTo>
                  <a:pt x="7920990" y="5429250"/>
                </a:lnTo>
                <a:lnTo>
                  <a:pt x="7875270" y="0"/>
                </a:lnTo>
                <a:lnTo>
                  <a:pt x="8538210" y="57150"/>
                </a:lnTo>
                <a:lnTo>
                  <a:pt x="8583930" y="5726430"/>
                </a:lnTo>
                <a:lnTo>
                  <a:pt x="0" y="5703570"/>
                </a:lnTo>
                <a:lnTo>
                  <a:pt x="674370" y="4800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FDE029-EC17-36E1-912D-5F8634FA2291}"/>
              </a:ext>
            </a:extLst>
          </p:cNvPr>
          <p:cNvGrpSpPr/>
          <p:nvPr/>
        </p:nvGrpSpPr>
        <p:grpSpPr>
          <a:xfrm>
            <a:off x="1120787" y="1796115"/>
            <a:ext cx="9950425" cy="1447567"/>
            <a:chOff x="1630928" y="1233802"/>
            <a:chExt cx="8548268" cy="1243584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91A644A2-9B28-7CE8-FA6B-F088504DD91E}"/>
                </a:ext>
              </a:extLst>
            </p:cNvPr>
            <p:cNvSpPr/>
            <p:nvPr/>
          </p:nvSpPr>
          <p:spPr>
            <a:xfrm>
              <a:off x="248452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4">
                  <a:extLst>
                    <a:ext uri="{FF2B5EF4-FFF2-40B4-BE49-F238E27FC236}">
                      <a16:creationId xmlns:a16="http://schemas.microsoft.com/office/drawing/2014/main" id="{7F37FADE-BD10-73D0-7D93-824D1530D839}"/>
                    </a:ext>
                  </a:extLst>
                </p:cNvPr>
                <p:cNvSpPr/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̄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 4">
                  <a:extLst>
                    <a:ext uri="{FF2B5EF4-FFF2-40B4-BE49-F238E27FC236}">
                      <a16:creationId xmlns:a16="http://schemas.microsoft.com/office/drawing/2014/main" id="{7F37FADE-BD10-73D0-7D93-824D1530D8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928" y="1242946"/>
                  <a:ext cx="2011680" cy="5029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Shape 5">
              <a:extLst>
                <a:ext uri="{FF2B5EF4-FFF2-40B4-BE49-F238E27FC236}">
                  <a16:creationId xmlns:a16="http://schemas.microsoft.com/office/drawing/2014/main" id="{6507078A-0DDC-28F9-BC6C-008EE7478F82}"/>
                </a:ext>
              </a:extLst>
            </p:cNvPr>
            <p:cNvSpPr/>
            <p:nvPr/>
          </p:nvSpPr>
          <p:spPr>
            <a:xfrm>
              <a:off x="3932015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6">
                  <a:extLst>
                    <a:ext uri="{FF2B5EF4-FFF2-40B4-BE49-F238E27FC236}">
                      <a16:creationId xmlns:a16="http://schemas.microsoft.com/office/drawing/2014/main" id="{61210FBF-2449-4789-9C6A-DCD49F8B750A}"/>
                    </a:ext>
                  </a:extLst>
                </p:cNvPr>
                <p:cNvSpPr/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𝑑𝑒𝑣𝑖𝑎𝑡𝑖𝑜𝑛𝑠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 6">
                  <a:extLst>
                    <a:ext uri="{FF2B5EF4-FFF2-40B4-BE49-F238E27FC236}">
                      <a16:creationId xmlns:a16="http://schemas.microsoft.com/office/drawing/2014/main" id="{61210FBF-2449-4789-9C6A-DCD49F8B7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423" y="1233802"/>
                  <a:ext cx="2011680" cy="5029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Shape 7">
              <a:extLst>
                <a:ext uri="{FF2B5EF4-FFF2-40B4-BE49-F238E27FC236}">
                  <a16:creationId xmlns:a16="http://schemas.microsoft.com/office/drawing/2014/main" id="{6FBF4C6A-4C49-3D25-531C-974BF81154A5}"/>
                </a:ext>
              </a:extLst>
            </p:cNvPr>
            <p:cNvSpPr/>
            <p:nvPr/>
          </p:nvSpPr>
          <p:spPr>
            <a:xfrm>
              <a:off x="5516670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8">
                  <a:extLst>
                    <a:ext uri="{FF2B5EF4-FFF2-40B4-BE49-F238E27FC236}">
                      <a16:creationId xmlns:a16="http://schemas.microsoft.com/office/drawing/2014/main" id="{175F8D96-C7B9-5699-12A1-DC43ABDB48B6}"/>
                    </a:ext>
                  </a:extLst>
                </p:cNvPr>
                <p:cNvSpPr/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𝑆𝑞𝑢𝑎𝑟𝑒𝑑</m:t>
                                    </m:r>
                                  </m:e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𝐷𝑒𝑣𝑖𝑎𝑡𝑖𝑜𝑛𝑠</m:t>
                                    </m:r>
                                  </m:e>
                                </m:eqAr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 8">
                  <a:extLst>
                    <a:ext uri="{FF2B5EF4-FFF2-40B4-BE49-F238E27FC236}">
                      <a16:creationId xmlns:a16="http://schemas.microsoft.com/office/drawing/2014/main" id="{175F8D96-C7B9-5699-12A1-DC43ABDB48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425" y="1314416"/>
                  <a:ext cx="2011680" cy="502920"/>
                </a:xfrm>
                <a:prstGeom prst="rect">
                  <a:avLst/>
                </a:prstGeom>
                <a:blipFill>
                  <a:blip r:embed="rId4"/>
                  <a:stretch>
                    <a:fillRect t="-84375" b="-137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Shape 9">
              <a:extLst>
                <a:ext uri="{FF2B5EF4-FFF2-40B4-BE49-F238E27FC236}">
                  <a16:creationId xmlns:a16="http://schemas.microsoft.com/office/drawing/2014/main" id="{661B06E9-3F70-8DFF-5613-7ED5DEA2104F}"/>
                </a:ext>
              </a:extLst>
            </p:cNvPr>
            <p:cNvSpPr/>
            <p:nvPr/>
          </p:nvSpPr>
          <p:spPr>
            <a:xfrm>
              <a:off x="7192766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10">
                  <a:extLst>
                    <a:ext uri="{FF2B5EF4-FFF2-40B4-BE49-F238E27FC236}">
                      <a16:creationId xmlns:a16="http://schemas.microsoft.com/office/drawing/2014/main" id="{7A205F13-F1BD-F47E-7183-F54A50826FA9}"/>
                    </a:ext>
                  </a:extLst>
                </p:cNvPr>
                <p:cNvSpPr/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 10">
                  <a:extLst>
                    <a:ext uri="{FF2B5EF4-FFF2-40B4-BE49-F238E27FC236}">
                      <a16:creationId xmlns:a16="http://schemas.microsoft.com/office/drawing/2014/main" id="{7A205F13-F1BD-F47E-7183-F54A50826F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173" y="1242946"/>
                  <a:ext cx="201168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Shape 11">
              <a:extLst>
                <a:ext uri="{FF2B5EF4-FFF2-40B4-BE49-F238E27FC236}">
                  <a16:creationId xmlns:a16="http://schemas.microsoft.com/office/drawing/2014/main" id="{3086D1D5-EA04-2D7E-0103-2A2F7DF8C9B0}"/>
                </a:ext>
              </a:extLst>
            </p:cNvPr>
            <p:cNvSpPr/>
            <p:nvPr/>
          </p:nvSpPr>
          <p:spPr>
            <a:xfrm>
              <a:off x="8685981" y="2148202"/>
              <a:ext cx="304495" cy="9144"/>
            </a:xfrm>
            <a:prstGeom prst="line">
              <a:avLst/>
            </a:prstGeom>
            <a:noFill/>
            <a:ln w="22225">
              <a:solidFill>
                <a:srgbClr val="2C5F7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12">
                  <a:extLst>
                    <a:ext uri="{FF2B5EF4-FFF2-40B4-BE49-F238E27FC236}">
                      <a16:creationId xmlns:a16="http://schemas.microsoft.com/office/drawing/2014/main" id="{9D581853-6B1A-D1CD-35AE-DF42E7B4079B}"/>
                    </a:ext>
                  </a:extLst>
                </p:cNvPr>
                <p:cNvSpPr/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b"/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 12">
                  <a:extLst>
                    <a:ext uri="{FF2B5EF4-FFF2-40B4-BE49-F238E27FC236}">
                      <a16:creationId xmlns:a16="http://schemas.microsoft.com/office/drawing/2014/main" id="{9D581853-6B1A-D1CD-35AE-DF42E7B40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388" y="1242946"/>
                  <a:ext cx="2011680" cy="5029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577000AB-1134-1260-3AE0-C5B95CFE72B1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oundRect">
              <a:avLst>
                <a:gd name="adj" fmla="val 12857"/>
              </a:avLst>
            </a:prstGeom>
            <a:solidFill>
              <a:srgbClr val="1B3A4B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1F21709F-6254-37DA-8655-8E889CB161FD}"/>
                </a:ext>
              </a:extLst>
            </p:cNvPr>
            <p:cNvSpPr/>
            <p:nvPr/>
          </p:nvSpPr>
          <p:spPr>
            <a:xfrm>
              <a:off x="1844440" y="1819018"/>
              <a:ext cx="64008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</a:t>
              </a:r>
              <a:endParaRPr lang="en-US" sz="1600" dirty="0"/>
            </a:p>
          </p:txBody>
        </p:sp>
        <p:sp>
          <p:nvSpPr>
            <p:cNvPr id="56" name="Shape 19">
              <a:extLst>
                <a:ext uri="{FF2B5EF4-FFF2-40B4-BE49-F238E27FC236}">
                  <a16:creationId xmlns:a16="http://schemas.microsoft.com/office/drawing/2014/main" id="{A43C47C6-BB0B-7304-8609-02BAA9A8DD6A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718B0D2E-DEF7-E2B3-B050-70D992DB7CEA}"/>
                </a:ext>
              </a:extLst>
            </p:cNvPr>
            <p:cNvSpPr/>
            <p:nvPr/>
          </p:nvSpPr>
          <p:spPr>
            <a:xfrm>
              <a:off x="2789015" y="1819018"/>
              <a:ext cx="11430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58" name="Shape 21">
              <a:extLst>
                <a:ext uri="{FF2B5EF4-FFF2-40B4-BE49-F238E27FC236}">
                  <a16:creationId xmlns:a16="http://schemas.microsoft.com/office/drawing/2014/main" id="{43A93854-4A58-7072-3021-9F53A56644CC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22">
              <a:extLst>
                <a:ext uri="{FF2B5EF4-FFF2-40B4-BE49-F238E27FC236}">
                  <a16:creationId xmlns:a16="http://schemas.microsoft.com/office/drawing/2014/main" id="{CB9075AC-EE86-EA64-AAFD-5910815A4ED3}"/>
                </a:ext>
              </a:extLst>
            </p:cNvPr>
            <p:cNvSpPr/>
            <p:nvPr/>
          </p:nvSpPr>
          <p:spPr>
            <a:xfrm>
              <a:off x="4236510" y="1819018"/>
              <a:ext cx="128016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Squared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1150" dirty="0"/>
            </a:p>
          </p:txBody>
        </p:sp>
        <p:sp>
          <p:nvSpPr>
            <p:cNvPr id="60" name="Shape 23">
              <a:extLst>
                <a:ext uri="{FF2B5EF4-FFF2-40B4-BE49-F238E27FC236}">
                  <a16:creationId xmlns:a16="http://schemas.microsoft.com/office/drawing/2014/main" id="{90E358F7-F0A9-3323-F841-EB219A8AF41C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24">
              <a:extLst>
                <a:ext uri="{FF2B5EF4-FFF2-40B4-BE49-F238E27FC236}">
                  <a16:creationId xmlns:a16="http://schemas.microsoft.com/office/drawing/2014/main" id="{FEF677C2-5E5A-3503-2C33-3E1B848CA3AA}"/>
                </a:ext>
              </a:extLst>
            </p:cNvPr>
            <p:cNvSpPr/>
            <p:nvPr/>
          </p:nvSpPr>
          <p:spPr>
            <a:xfrm>
              <a:off x="5821166" y="1819018"/>
              <a:ext cx="137160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 of Squares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(SS)</a:t>
              </a:r>
              <a:endParaRPr lang="en-US" sz="1050" dirty="0"/>
            </a:p>
          </p:txBody>
        </p:sp>
        <p:sp>
          <p:nvSpPr>
            <p:cNvPr id="62" name="Shape 25">
              <a:extLst>
                <a:ext uri="{FF2B5EF4-FFF2-40B4-BE49-F238E27FC236}">
                  <a16:creationId xmlns:a16="http://schemas.microsoft.com/office/drawing/2014/main" id="{8F8CB453-BA75-058B-5C8D-579442DBD728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6">
              <a:extLst>
                <a:ext uri="{FF2B5EF4-FFF2-40B4-BE49-F238E27FC236}">
                  <a16:creationId xmlns:a16="http://schemas.microsoft.com/office/drawing/2014/main" id="{90CC922B-D139-86B1-AC3A-A8FA9F9DAA53}"/>
                </a:ext>
              </a:extLst>
            </p:cNvPr>
            <p:cNvSpPr/>
            <p:nvPr/>
          </p:nvSpPr>
          <p:spPr>
            <a:xfrm>
              <a:off x="7497261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Variance</a:t>
              </a:r>
              <a:endParaRPr lang="en-US" sz="11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(SD²)</a:t>
              </a:r>
              <a:endParaRPr lang="en-US" sz="1150" dirty="0"/>
            </a:p>
          </p:txBody>
        </p:sp>
        <p:sp>
          <p:nvSpPr>
            <p:cNvPr id="64" name="Shape 27">
              <a:extLst>
                <a:ext uri="{FF2B5EF4-FFF2-40B4-BE49-F238E27FC236}">
                  <a16:creationId xmlns:a16="http://schemas.microsoft.com/office/drawing/2014/main" id="{0DA66744-4995-8DEB-DAED-71C4BFA67BF4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oundRect">
              <a:avLst>
                <a:gd name="adj" fmla="val 12500"/>
              </a:avLst>
            </a:prstGeom>
            <a:solidFill>
              <a:srgbClr val="EAF2F7"/>
            </a:solidFill>
            <a:ln w="15875">
              <a:solidFill>
                <a:srgbClr val="2C5F7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28">
              <a:extLst>
                <a:ext uri="{FF2B5EF4-FFF2-40B4-BE49-F238E27FC236}">
                  <a16:creationId xmlns:a16="http://schemas.microsoft.com/office/drawing/2014/main" id="{614E712B-740B-2191-FB9F-47945142CC4A}"/>
                </a:ext>
              </a:extLst>
            </p:cNvPr>
            <p:cNvSpPr/>
            <p:nvPr/>
          </p:nvSpPr>
          <p:spPr>
            <a:xfrm>
              <a:off x="8990476" y="1819018"/>
              <a:ext cx="1188720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spAutoFit/>
            </a:bodyPr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</a:t>
              </a:r>
              <a:endParaRPr lang="en-US" sz="10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50" b="1" dirty="0">
                  <a:solidFill>
                    <a:srgbClr val="1B3A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(SD)</a:t>
              </a:r>
              <a:endParaRPr lang="en-US" sz="1050" dirty="0"/>
            </a:p>
          </p:txBody>
        </p:sp>
      </p:grpSp>
      <p:sp>
        <p:nvSpPr>
          <p:cNvPr id="66" name="Shape 13">
            <a:extLst>
              <a:ext uri="{FF2B5EF4-FFF2-40B4-BE49-F238E27FC236}">
                <a16:creationId xmlns:a16="http://schemas.microsoft.com/office/drawing/2014/main" id="{504941F0-1443-5053-B13E-3E08CBEDB360}"/>
              </a:ext>
            </a:extLst>
          </p:cNvPr>
          <p:cNvSpPr/>
          <p:nvPr/>
        </p:nvSpPr>
        <p:spPr>
          <a:xfrm flipV="1">
            <a:off x="8638368" y="3257122"/>
            <a:ext cx="0" cy="27513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91FFC65-F2D4-0920-BB12-A9BA52B33B50}"/>
              </a:ext>
            </a:extLst>
          </p:cNvPr>
          <p:cNvCxnSpPr>
            <a:cxnSpLocks/>
          </p:cNvCxnSpPr>
          <p:nvPr/>
        </p:nvCxnSpPr>
        <p:spPr>
          <a:xfrm>
            <a:off x="8638368" y="3544821"/>
            <a:ext cx="1735642" cy="0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744C0FF-18CD-3432-2770-88D825879888}"/>
              </a:ext>
            </a:extLst>
          </p:cNvPr>
          <p:cNvCxnSpPr>
            <a:cxnSpLocks/>
          </p:cNvCxnSpPr>
          <p:nvPr/>
        </p:nvCxnSpPr>
        <p:spPr>
          <a:xfrm flipV="1">
            <a:off x="10374010" y="3258535"/>
            <a:ext cx="0" cy="275134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12">
                <a:extLst>
                  <a:ext uri="{FF2B5EF4-FFF2-40B4-BE49-F238E27FC236}">
                    <a16:creationId xmlns:a16="http://schemas.microsoft.com/office/drawing/2014/main" id="{6362BC66-1012-C7AF-7CF5-5DBCB07BD348}"/>
                  </a:ext>
                </a:extLst>
              </p:cNvPr>
              <p:cNvSpPr/>
              <p:nvPr/>
            </p:nvSpPr>
            <p:spPr>
              <a:xfrm>
                <a:off x="8393023" y="3339478"/>
                <a:ext cx="2341652" cy="585413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 12">
                <a:extLst>
                  <a:ext uri="{FF2B5EF4-FFF2-40B4-BE49-F238E27FC236}">
                    <a16:creationId xmlns:a16="http://schemas.microsoft.com/office/drawing/2014/main" id="{6362BC66-1012-C7AF-7CF5-5DBCB07BD3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023" y="3339478"/>
                <a:ext cx="2341652" cy="5854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Shape 13">
            <a:extLst>
              <a:ext uri="{FF2B5EF4-FFF2-40B4-BE49-F238E27FC236}">
                <a16:creationId xmlns:a16="http://schemas.microsoft.com/office/drawing/2014/main" id="{069D4950-75A2-9AB0-2D66-6D4E82EFD9CD}"/>
              </a:ext>
            </a:extLst>
          </p:cNvPr>
          <p:cNvSpPr/>
          <p:nvPr/>
        </p:nvSpPr>
        <p:spPr>
          <a:xfrm flipV="1">
            <a:off x="6796632" y="3262875"/>
            <a:ext cx="0" cy="27513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500447-1B51-B29A-F05D-4F57027C8D9C}"/>
              </a:ext>
            </a:extLst>
          </p:cNvPr>
          <p:cNvCxnSpPr>
            <a:cxnSpLocks/>
          </p:cNvCxnSpPr>
          <p:nvPr/>
        </p:nvCxnSpPr>
        <p:spPr>
          <a:xfrm>
            <a:off x="6796632" y="3544821"/>
            <a:ext cx="1841736" cy="0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A4EA4CC-6992-5FA4-8BBC-F3206832B956}"/>
              </a:ext>
            </a:extLst>
          </p:cNvPr>
          <p:cNvCxnSpPr>
            <a:cxnSpLocks/>
          </p:cNvCxnSpPr>
          <p:nvPr/>
        </p:nvCxnSpPr>
        <p:spPr>
          <a:xfrm flipV="1">
            <a:off x="8638368" y="3258535"/>
            <a:ext cx="0" cy="275134"/>
          </a:xfrm>
          <a:prstGeom prst="line">
            <a:avLst/>
          </a:prstGeom>
          <a:ln w="19050">
            <a:solidFill>
              <a:srgbClr val="2C5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12">
                <a:extLst>
                  <a:ext uri="{FF2B5EF4-FFF2-40B4-BE49-F238E27FC236}">
                    <a16:creationId xmlns:a16="http://schemas.microsoft.com/office/drawing/2014/main" id="{1FA55BAA-5B84-B1C0-C28D-8EE86F677307}"/>
                  </a:ext>
                </a:extLst>
              </p:cNvPr>
              <p:cNvSpPr/>
              <p:nvPr/>
            </p:nvSpPr>
            <p:spPr>
              <a:xfrm>
                <a:off x="6546674" y="3337553"/>
                <a:ext cx="2341652" cy="585413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8" name="Text 12">
                <a:extLst>
                  <a:ext uri="{FF2B5EF4-FFF2-40B4-BE49-F238E27FC236}">
                    <a16:creationId xmlns:a16="http://schemas.microsoft.com/office/drawing/2014/main" id="{1FA55BAA-5B84-B1C0-C28D-8EE86F6773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674" y="3337553"/>
                <a:ext cx="2341652" cy="5854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16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3" grpId="0" animBg="1"/>
      <p:bldP spid="74" grpId="0" animBg="1"/>
      <p:bldP spid="7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0087-B63D-5248-B830-41EA7E11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5DC5-15B5-7640-8E12-1E8D59BE4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744097" cy="54498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Approximate average that a set of scores varies from its mean</a:t>
            </a:r>
          </a:p>
          <a:p>
            <a:r>
              <a:rPr lang="en-CA" dirty="0"/>
              <a:t>Most common measure of variability</a:t>
            </a:r>
          </a:p>
          <a:p>
            <a:r>
              <a:rPr lang="en-CA" dirty="0"/>
              <a:t>Most often used in statistical equations</a:t>
            </a:r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Advantages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Accounts for all scores in distribution</a:t>
            </a:r>
          </a:p>
          <a:p>
            <a:pPr lvl="1"/>
            <a:r>
              <a:rPr lang="en-US" dirty="0"/>
              <a:t>Important role in inferential statistics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Sensitive to extreme scores</a:t>
            </a:r>
          </a:p>
          <a:p>
            <a:pPr lvl="1"/>
            <a:r>
              <a:rPr lang="en-US" dirty="0"/>
              <a:t>Only used for (non-skewed) </a:t>
            </a:r>
            <a:r>
              <a:rPr lang="en-US" i="1" dirty="0"/>
              <a:t>score</a:t>
            </a:r>
            <a:r>
              <a:rPr lang="en-US" dirty="0"/>
              <a:t> (interval/ratio) data</a:t>
            </a:r>
          </a:p>
        </p:txBody>
      </p:sp>
      <p:pic>
        <p:nvPicPr>
          <p:cNvPr id="5" name="Picture 4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10251773-0533-5145-A46B-0B22E9D5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46" y="3506757"/>
            <a:ext cx="6362700" cy="990600"/>
          </a:xfrm>
          <a:prstGeom prst="rect">
            <a:avLst/>
          </a:prstGeom>
        </p:spPr>
      </p:pic>
      <p:pic>
        <p:nvPicPr>
          <p:cNvPr id="3074" name="Picture 2" descr="Why Standard Deviation Matters When Choosing Investments | FIGuide">
            <a:extLst>
              <a:ext uri="{FF2B5EF4-FFF2-40B4-BE49-F238E27FC236}">
                <a16:creationId xmlns:a16="http://schemas.microsoft.com/office/drawing/2014/main" id="{C6995F7B-A6AC-4A40-BFD2-501F75B9B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813" y="506004"/>
            <a:ext cx="3594100" cy="615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61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52524"/>
                  </p:ext>
                </p:extLst>
              </p:nvPr>
            </p:nvGraphicFramePr>
            <p:xfrm>
              <a:off x="220230" y="0"/>
              <a:ext cx="11751540" cy="6891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0308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553515761"/>
                        </a:ext>
                      </a:extLst>
                    </a:gridCol>
                  </a:tblGrid>
                  <a:tr h="381737">
                    <a:tc>
                      <a:txBody>
                        <a:bodyPr/>
                        <a:lstStyle/>
                        <a:p>
                          <a:endParaRPr lang="en-US" sz="1900" b="1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SIQR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900" dirty="0">
                              <a:solidFill>
                                <a:schemeClr val="tx1"/>
                              </a:solidFill>
                            </a:rPr>
                            <a:t>MAD</a:t>
                          </a:r>
                          <a:endParaRPr lang="en-US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SD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1244349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Description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difference between the highest and lowest score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range of values contained in </a:t>
                          </a:r>
                          <a:r>
                            <a:rPr lang="en-US" sz="1900" i="1" dirty="0"/>
                            <a:t>25% </a:t>
                          </a:r>
                          <a:r>
                            <a:rPr lang="en-US" sz="1900" dirty="0"/>
                            <a:t>of the distribution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The median distance values have from median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Approximate average deviation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956811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Computation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Max- Min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CA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75%</m:t>
                                    </m:r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CA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25%</m:t>
                                    </m:r>
                                  </m:num>
                                  <m:den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(|X-</a:t>
                          </a:r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|)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69274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Scales of Measurement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1547019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Quick to compute</a:t>
                          </a:r>
                        </a:p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Easy to understand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affected by extreme scores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Takes all scores into account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Less sensitive to extreme scores (than SD)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CA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Accounts for all scores in distribution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Important role in advanced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2058809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900" b="1" dirty="0"/>
                            <a:t>Disadvantages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uses two of the numbers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Unreliable – sensitive to extreme values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Does not include all values of distribution (i.e., a trimmed </a:t>
                          </a: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most statistical equations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many statistical computations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Sensitive to extreme scores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used for (non-skewed) score (interval/ratio) data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4">
                <a:extLst>
                  <a:ext uri="{FF2B5EF4-FFF2-40B4-BE49-F238E27FC236}">
                    <a16:creationId xmlns:a16="http://schemas.microsoft.com/office/drawing/2014/main" id="{E859A6FB-B5C3-7540-B228-048A7D997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52524"/>
                  </p:ext>
                </p:extLst>
              </p:nvPr>
            </p:nvGraphicFramePr>
            <p:xfrm>
              <a:off x="220230" y="0"/>
              <a:ext cx="11751540" cy="6891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0308">
                      <a:extLst>
                        <a:ext uri="{9D8B030D-6E8A-4147-A177-3AD203B41FA5}">
                          <a16:colId xmlns:a16="http://schemas.microsoft.com/office/drawing/2014/main" val="1648103784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934101421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3065940997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099237779"/>
                        </a:ext>
                      </a:extLst>
                    </a:gridCol>
                    <a:gridCol w="2350308">
                      <a:extLst>
                        <a:ext uri="{9D8B030D-6E8A-4147-A177-3AD203B41FA5}">
                          <a16:colId xmlns:a16="http://schemas.microsoft.com/office/drawing/2014/main" val="2553515761"/>
                        </a:ext>
                      </a:extLst>
                    </a:gridCol>
                  </a:tblGrid>
                  <a:tr h="384422">
                    <a:tc>
                      <a:txBody>
                        <a:bodyPr/>
                        <a:lstStyle/>
                        <a:p>
                          <a:endParaRPr lang="en-US" sz="1900" b="1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SIQR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900" dirty="0">
                              <a:solidFill>
                                <a:schemeClr val="tx1"/>
                              </a:solidFill>
                            </a:rPr>
                            <a:t>MAD</a:t>
                          </a:r>
                          <a:endParaRPr lang="en-US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SD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455178"/>
                      </a:ext>
                    </a:extLst>
                  </a:tr>
                  <a:tr h="125310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Description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difference between the highest and lowest score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Variability defined as the range of values contained in </a:t>
                          </a:r>
                          <a:r>
                            <a:rPr lang="en-US" sz="1900" i="1" dirty="0"/>
                            <a:t>25% </a:t>
                          </a:r>
                          <a:r>
                            <a:rPr lang="en-US" sz="1900" dirty="0"/>
                            <a:t>of the distribution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The median distance values have from median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Approximate average deviation</a:t>
                          </a:r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62397"/>
                      </a:ext>
                    </a:extLst>
                  </a:tr>
                  <a:tr h="96354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Computation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Max- Min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73418" r="-200259" b="-446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(|X-</a:t>
                          </a:r>
                          <a:r>
                            <a:rPr lang="en-US" sz="1900" dirty="0" err="1"/>
                            <a:t>mdn</a:t>
                          </a:r>
                          <a:r>
                            <a:rPr lang="en-US" sz="1900" dirty="0"/>
                            <a:t>|)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  <a:p>
                          <a:pPr algn="ctr"/>
                          <a:endParaRPr lang="en-US" sz="1900" dirty="0"/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70957"/>
                      </a:ext>
                    </a:extLst>
                  </a:tr>
                  <a:tr h="67398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Scales of Measurement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Ordinal, 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/>
                            <a:t>Interval, Ratio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09165"/>
                      </a:ext>
                    </a:extLst>
                  </a:tr>
                  <a:tr h="1557902">
                    <a:tc>
                      <a:txBody>
                        <a:bodyPr/>
                        <a:lstStyle/>
                        <a:p>
                          <a:r>
                            <a:rPr lang="en-US" sz="1900" b="1" dirty="0"/>
                            <a:t>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Quick to compute</a:t>
                          </a:r>
                        </a:p>
                        <a:p>
                          <a:pPr marL="338138" lvl="1" indent="-3381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Easy to understand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affected by extreme scores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Takes all scores into account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Less sensitive to extreme scores (than SD)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CA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Accounts for all scores in distribution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Important role in advanced statistics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67396"/>
                      </a:ext>
                    </a:extLst>
                  </a:tr>
                  <a:tr h="2058809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900" b="1" dirty="0"/>
                            <a:t>Disadvantages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uses two of the numbers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Unreliable – sensitive to extreme values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Does not include all values of distribution (i.e., a trimmed </a:t>
                          </a: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most statistical equations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Not used in many statistical computations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Sensitive to extreme scores</a:t>
                          </a:r>
                        </a:p>
                        <a:p>
                          <a:pPr marL="401638" lvl="1" indent="-401638">
                            <a:buFont typeface="Arial" panose="020B0604020202020204" pitchFamily="34" charset="0"/>
                            <a:buChar char="•"/>
                            <a:tabLst/>
                          </a:pP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Only used for (non-skewed) score (interval/ratio) data</a:t>
                          </a:r>
                        </a:p>
                      </a:txBody>
                      <a:tcPr marL="94861" marR="94861" marT="47431" marB="4743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3348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 descr="Calculate Standard Deviation with Hair">
            <a:extLst>
              <a:ext uri="{FF2B5EF4-FFF2-40B4-BE49-F238E27FC236}">
                <a16:creationId xmlns:a16="http://schemas.microsoft.com/office/drawing/2014/main" id="{400462AA-08A9-814F-890B-3704C94C2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6"/>
          <a:stretch/>
        </p:blipFill>
        <p:spPr bwMode="auto">
          <a:xfrm>
            <a:off x="10217552" y="1655727"/>
            <a:ext cx="1050088" cy="86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40862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CBFE-8DFA-7D47-9F1E-BF02A38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Reframing with Scales of Measurement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5534C7-8C19-FE48-9B9F-6C3B3DC0EFC9}"/>
              </a:ext>
            </a:extLst>
          </p:cNvPr>
          <p:cNvGraphicFramePr>
            <a:graphicFrameLocks noGrp="1"/>
          </p:cNvGraphicFramePr>
          <p:nvPr/>
        </p:nvGraphicFramePr>
        <p:xfrm>
          <a:off x="454477" y="1347789"/>
          <a:ext cx="11283045" cy="552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09">
                  <a:extLst>
                    <a:ext uri="{9D8B030D-6E8A-4147-A177-3AD203B41FA5}">
                      <a16:colId xmlns:a16="http://schemas.microsoft.com/office/drawing/2014/main" val="3856334550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205383047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523962979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1972242338"/>
                    </a:ext>
                  </a:extLst>
                </a:gridCol>
                <a:gridCol w="2256609">
                  <a:extLst>
                    <a:ext uri="{9D8B030D-6E8A-4147-A177-3AD203B41FA5}">
                      <a16:colId xmlns:a16="http://schemas.microsoft.com/office/drawing/2014/main" val="3635198318"/>
                    </a:ext>
                  </a:extLst>
                </a:gridCol>
              </a:tblGrid>
              <a:tr h="583364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76478"/>
                  </a:ext>
                </a:extLst>
              </a:tr>
              <a:tr h="136503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Rank-Ordered</a:t>
                      </a:r>
                    </a:p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(no 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Equal Distances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(true zero)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1647"/>
                  </a:ext>
                </a:extLst>
              </a:tr>
              <a:tr h="51567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86508"/>
                  </a:ext>
                </a:extLst>
              </a:tr>
              <a:tr h="14384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81417"/>
                  </a:ext>
                </a:extLst>
              </a:tr>
              <a:tr h="16077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Variability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28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MAD (</a:t>
                      </a:r>
                      <a:r>
                        <a:rPr lang="en-US" sz="2000" b="0" i="1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SD (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SIQR</a:t>
                      </a:r>
                    </a:p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MAD (</a:t>
                      </a:r>
                      <a:r>
                        <a:rPr lang="en-US" sz="2000" b="0" i="1" dirty="0" err="1">
                          <a:solidFill>
                            <a:schemeClr val="tx1"/>
                          </a:solidFill>
                        </a:rPr>
                        <a:t>mdn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SD (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41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99429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C8B3-6770-7DC7-63D8-A44BDD6D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BC5C83A-F98F-516B-FA46-1775B7936699}"/>
              </a:ext>
            </a:extLst>
          </p:cNvPr>
          <p:cNvGrpSpPr/>
          <p:nvPr/>
        </p:nvGrpSpPr>
        <p:grpSpPr>
          <a:xfrm>
            <a:off x="247423" y="1089330"/>
            <a:ext cx="11697153" cy="4224542"/>
            <a:chOff x="0" y="1744937"/>
            <a:chExt cx="9043951" cy="32663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CA1231-857A-3E2E-7168-C2BEDD7CC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5248"/>
            <a:stretch>
              <a:fillRect/>
            </a:stretch>
          </p:blipFill>
          <p:spPr>
            <a:xfrm>
              <a:off x="0" y="1846751"/>
              <a:ext cx="7894553" cy="31644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B6E21D1-4799-3AF7-08F2-DF0A7F294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756" b="18604"/>
            <a:stretch>
              <a:fillRect/>
            </a:stretch>
          </p:blipFill>
          <p:spPr>
            <a:xfrm>
              <a:off x="4990809" y="1744937"/>
              <a:ext cx="4053142" cy="2575777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D983C2-38E8-84A4-4030-4AB440F2D0B9}"/>
              </a:ext>
            </a:extLst>
          </p:cNvPr>
          <p:cNvSpPr/>
          <p:nvPr/>
        </p:nvSpPr>
        <p:spPr>
          <a:xfrm>
            <a:off x="7315200" y="4415005"/>
            <a:ext cx="2472906" cy="7723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7D4F8-A87E-C5FA-1320-3194B0A8BA35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</p:spTree>
    <p:extLst>
      <p:ext uri="{BB962C8B-B14F-4D97-AF65-F5344CB8AC3E}">
        <p14:creationId xmlns:p14="http://schemas.microsoft.com/office/powerpoint/2010/main" val="381493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7F07-2169-08ED-B5BA-AE7AB5C3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3A6E48A-C7D1-BE26-9E7A-5562F9AE83C9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55294D-7BFC-C9C3-4F72-AA1830F7E291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D19F500-C2C5-2AE0-A904-705E46D848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A0CCF84-8DC5-9339-1380-996F420D52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99206F54-8509-4083-B3A1-A5ACB2B50F21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C567E4AC-A1B6-9959-6F04-FE5C684AA3EF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9C52C771-1916-9B3D-3BE3-267A5E88F16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C05D3C6-1D04-7CBA-FDEE-9831EEDEE383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D032A34-A4E5-0CF4-5CB6-7A5548821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4074019-A808-5140-D889-7E754746248E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2EC2337-9EBC-AFDF-E315-C809409A6170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B686E4B-3F55-D319-839B-BC6FB67E9776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115A61-E481-94CB-3BCF-61BADDF5CE31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A12F981-F295-D6BE-05AD-39720986DD5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C9121FE-7FF0-1AC9-ECD7-A50FFB0880F6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6B2B2B5-607D-341D-F5E4-D6F96F72EB7E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0C0413CD-5B3E-3F5B-1591-1798F918B883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30833513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336F-7754-FA10-EAD8-71AF8F0F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2C07-AF53-E877-4A06-707FB790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FE0C-5ACB-80A2-1EE0-DF0B7C37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Skewness can </a:t>
            </a:r>
            <a:r>
              <a:rPr lang="en-US" i="1" dirty="0"/>
              <a:t>bias </a:t>
            </a:r>
            <a:r>
              <a:rPr lang="en-US" dirty="0"/>
              <a:t>our central tendency (and variability)</a:t>
            </a:r>
          </a:p>
          <a:p>
            <a:r>
              <a:rPr lang="en-US" dirty="0"/>
              <a:t>In some cases, if the skew is too severe, we cannot use the mean to represent the data</a:t>
            </a:r>
          </a:p>
          <a:p>
            <a:r>
              <a:rPr lang="en-US" dirty="0"/>
              <a:t>We compute skew with </a:t>
            </a:r>
            <a:r>
              <a:rPr lang="en-US" b="1" i="1" dirty="0" err="1"/>
              <a:t>skew</a:t>
            </a:r>
            <a:r>
              <a:rPr lang="en-US" b="1" i="1" baseline="-25000" dirty="0" err="1"/>
              <a:t>p</a:t>
            </a:r>
            <a:endParaRPr lang="en-US" b="1" i="1" dirty="0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3EE8FCC2-3E8D-BC4A-0673-EDE03E81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7"/>
          <a:stretch>
            <a:fillRect/>
          </a:stretch>
        </p:blipFill>
        <p:spPr>
          <a:xfrm>
            <a:off x="6578442" y="2144940"/>
            <a:ext cx="5613558" cy="403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1716-61E7-B641-93D8-71120CF27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distribution of data where there exists extreme outliers</a:t>
            </a:r>
          </a:p>
          <a:p>
            <a:r>
              <a:rPr lang="en-US" dirty="0"/>
              <a:t>Most of the data is all bundled together, but a small subset is either way more positive or negative than the rest</a:t>
            </a:r>
          </a:p>
          <a:p>
            <a:pPr lvl="1"/>
            <a:r>
              <a:rPr lang="en-US" b="1" dirty="0"/>
              <a:t>18, 19, 19, 19, 19, 20, 20, 20, 21, 25, 1000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A08C43A7-0980-7147-835E-0ECDEA52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84" y="3830100"/>
            <a:ext cx="11825632" cy="3027900"/>
          </a:xfrm>
          <a:prstGeom prst="rect">
            <a:avLst/>
          </a:prstGeom>
        </p:spPr>
      </p:pic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A4D13429-226F-CC4B-96BF-929D4AD272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86" t="4796" r="3522" b="14507"/>
          <a:stretch>
            <a:fillRect/>
          </a:stretch>
        </p:blipFill>
        <p:spPr>
          <a:xfrm>
            <a:off x="8296275" y="4419599"/>
            <a:ext cx="3457575" cy="1827859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654FF602-61CB-336A-44D2-419F2BC3F7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86" t="4796" r="3522" b="14507"/>
          <a:stretch>
            <a:fillRect/>
          </a:stretch>
        </p:blipFill>
        <p:spPr>
          <a:xfrm flipH="1">
            <a:off x="429729" y="4419598"/>
            <a:ext cx="3457575" cy="1827859"/>
          </a:xfrm>
          <a:prstGeom prst="rect">
            <a:avLst/>
          </a:prstGeom>
        </p:spPr>
      </p:pic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41788457-BE4D-8DDF-7CE0-33EE7E02C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86" t="4796" r="47418" b="14507"/>
          <a:stretch>
            <a:fillRect/>
          </a:stretch>
        </p:blipFill>
        <p:spPr>
          <a:xfrm flipH="1">
            <a:off x="4648200" y="4419599"/>
            <a:ext cx="2781299" cy="18278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94F0C3-5146-C827-2B25-BFF13289791B}"/>
              </a:ext>
            </a:extLst>
          </p:cNvPr>
          <p:cNvSpPr/>
          <p:nvPr/>
        </p:nvSpPr>
        <p:spPr>
          <a:xfrm>
            <a:off x="183184" y="6304608"/>
            <a:ext cx="11684966" cy="53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A08C43A7-0980-7147-835E-0ECDEA52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4" y="2200083"/>
            <a:ext cx="11825632" cy="3027900"/>
          </a:xfrm>
          <a:prstGeom prst="rect">
            <a:avLst/>
          </a:prstGeom>
        </p:spPr>
      </p:pic>
      <p:pic>
        <p:nvPicPr>
          <p:cNvPr id="9" name="Picture 8" descr="Garden Snail Moving Forward Isolated On White Background Stock Photo,  Picture And Royalty Free Image. Image 9865718.">
            <a:extLst>
              <a:ext uri="{FF2B5EF4-FFF2-40B4-BE49-F238E27FC236}">
                <a16:creationId xmlns:a16="http://schemas.microsoft.com/office/drawing/2014/main" id="{00DBD16D-053E-AD4E-AEA9-7F4CB8B32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" t="21294" r="4096" b="17612"/>
          <a:stretch>
            <a:fillRect/>
          </a:stretch>
        </p:blipFill>
        <p:spPr bwMode="auto">
          <a:xfrm flipH="1">
            <a:off x="333309" y="5117910"/>
            <a:ext cx="3511501" cy="1740090"/>
          </a:xfrm>
          <a:custGeom>
            <a:avLst/>
            <a:gdLst>
              <a:gd name="connsiteX0" fmla="*/ 9266830 w 9266830"/>
              <a:gd name="connsiteY0" fmla="*/ 0 h 4189863"/>
              <a:gd name="connsiteX1" fmla="*/ 9184943 w 9266830"/>
              <a:gd name="connsiteY1" fmla="*/ 1269242 h 4189863"/>
              <a:gd name="connsiteX2" fmla="*/ 8898341 w 9266830"/>
              <a:gd name="connsiteY2" fmla="*/ 2033517 h 4189863"/>
              <a:gd name="connsiteX3" fmla="*/ 8147714 w 9266830"/>
              <a:gd name="connsiteY3" fmla="*/ 2606723 h 4189863"/>
              <a:gd name="connsiteX4" fmla="*/ 8598090 w 9266830"/>
              <a:gd name="connsiteY4" fmla="*/ 3261815 h 4189863"/>
              <a:gd name="connsiteX5" fmla="*/ 8311487 w 9266830"/>
              <a:gd name="connsiteY5" fmla="*/ 4094329 h 4189863"/>
              <a:gd name="connsiteX6" fmla="*/ 764275 w 9266830"/>
              <a:gd name="connsiteY6" fmla="*/ 4189863 h 4189863"/>
              <a:gd name="connsiteX7" fmla="*/ 0 w 9266830"/>
              <a:gd name="connsiteY7" fmla="*/ 3725839 h 4189863"/>
              <a:gd name="connsiteX8" fmla="*/ 109182 w 9266830"/>
              <a:gd name="connsiteY8" fmla="*/ 3534771 h 4189863"/>
              <a:gd name="connsiteX9" fmla="*/ 1214651 w 9266830"/>
              <a:gd name="connsiteY9" fmla="*/ 3138986 h 4189863"/>
              <a:gd name="connsiteX10" fmla="*/ 1678675 w 9266830"/>
              <a:gd name="connsiteY10" fmla="*/ 3070747 h 4189863"/>
              <a:gd name="connsiteX11" fmla="*/ 1405720 w 9266830"/>
              <a:gd name="connsiteY11" fmla="*/ 2524836 h 4189863"/>
              <a:gd name="connsiteX12" fmla="*/ 1378424 w 9266830"/>
              <a:gd name="connsiteY12" fmla="*/ 1937983 h 4189863"/>
              <a:gd name="connsiteX13" fmla="*/ 2060812 w 9266830"/>
              <a:gd name="connsiteY13" fmla="*/ 341194 h 4189863"/>
              <a:gd name="connsiteX14" fmla="*/ 4844955 w 9266830"/>
              <a:gd name="connsiteY14" fmla="*/ 286603 h 4189863"/>
              <a:gd name="connsiteX15" fmla="*/ 5472752 w 9266830"/>
              <a:gd name="connsiteY15" fmla="*/ 1323833 h 4189863"/>
              <a:gd name="connsiteX16" fmla="*/ 5773003 w 9266830"/>
              <a:gd name="connsiteY16" fmla="*/ 2374711 h 4189863"/>
              <a:gd name="connsiteX17" fmla="*/ 6755642 w 9266830"/>
              <a:gd name="connsiteY17" fmla="*/ 2415654 h 4189863"/>
              <a:gd name="connsiteX18" fmla="*/ 8366078 w 9266830"/>
              <a:gd name="connsiteY18" fmla="*/ 818866 h 418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266830" h="4189863">
                <a:moveTo>
                  <a:pt x="9266830" y="0"/>
                </a:moveTo>
                <a:lnTo>
                  <a:pt x="9184943" y="1269242"/>
                </a:lnTo>
                <a:lnTo>
                  <a:pt x="8898341" y="2033517"/>
                </a:lnTo>
                <a:lnTo>
                  <a:pt x="8147714" y="2606723"/>
                </a:lnTo>
                <a:lnTo>
                  <a:pt x="8598090" y="3261815"/>
                </a:lnTo>
                <a:lnTo>
                  <a:pt x="8311487" y="4094329"/>
                </a:lnTo>
                <a:lnTo>
                  <a:pt x="764275" y="4189863"/>
                </a:lnTo>
                <a:lnTo>
                  <a:pt x="0" y="3725839"/>
                </a:lnTo>
                <a:lnTo>
                  <a:pt x="109182" y="3534771"/>
                </a:lnTo>
                <a:lnTo>
                  <a:pt x="1214651" y="3138986"/>
                </a:lnTo>
                <a:lnTo>
                  <a:pt x="1678675" y="3070747"/>
                </a:lnTo>
                <a:lnTo>
                  <a:pt x="1405720" y="2524836"/>
                </a:lnTo>
                <a:lnTo>
                  <a:pt x="1378424" y="1937983"/>
                </a:lnTo>
                <a:lnTo>
                  <a:pt x="2060812" y="341194"/>
                </a:lnTo>
                <a:lnTo>
                  <a:pt x="4844955" y="286603"/>
                </a:lnTo>
                <a:lnTo>
                  <a:pt x="5472752" y="1323833"/>
                </a:lnTo>
                <a:lnTo>
                  <a:pt x="5773003" y="2374711"/>
                </a:lnTo>
                <a:lnTo>
                  <a:pt x="6755642" y="2415654"/>
                </a:lnTo>
                <a:lnTo>
                  <a:pt x="8366078" y="8188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Garden Snail Moving Forward Isolated On White Background Stock Photo,  Picture And Royalty Free Image. Image 9865718.">
            <a:extLst>
              <a:ext uri="{FF2B5EF4-FFF2-40B4-BE49-F238E27FC236}">
                <a16:creationId xmlns:a16="http://schemas.microsoft.com/office/drawing/2014/main" id="{355AEA9E-0505-CC4D-91CF-01404DDCD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" t="21294" r="4096" b="17612"/>
          <a:stretch>
            <a:fillRect/>
          </a:stretch>
        </p:blipFill>
        <p:spPr bwMode="auto">
          <a:xfrm>
            <a:off x="8210341" y="5117910"/>
            <a:ext cx="3511501" cy="1740090"/>
          </a:xfrm>
          <a:custGeom>
            <a:avLst/>
            <a:gdLst>
              <a:gd name="connsiteX0" fmla="*/ 9266830 w 9266830"/>
              <a:gd name="connsiteY0" fmla="*/ 0 h 4189863"/>
              <a:gd name="connsiteX1" fmla="*/ 9184943 w 9266830"/>
              <a:gd name="connsiteY1" fmla="*/ 1269242 h 4189863"/>
              <a:gd name="connsiteX2" fmla="*/ 8898341 w 9266830"/>
              <a:gd name="connsiteY2" fmla="*/ 2033517 h 4189863"/>
              <a:gd name="connsiteX3" fmla="*/ 8147714 w 9266830"/>
              <a:gd name="connsiteY3" fmla="*/ 2606723 h 4189863"/>
              <a:gd name="connsiteX4" fmla="*/ 8598090 w 9266830"/>
              <a:gd name="connsiteY4" fmla="*/ 3261815 h 4189863"/>
              <a:gd name="connsiteX5" fmla="*/ 8311487 w 9266830"/>
              <a:gd name="connsiteY5" fmla="*/ 4094329 h 4189863"/>
              <a:gd name="connsiteX6" fmla="*/ 764275 w 9266830"/>
              <a:gd name="connsiteY6" fmla="*/ 4189863 h 4189863"/>
              <a:gd name="connsiteX7" fmla="*/ 0 w 9266830"/>
              <a:gd name="connsiteY7" fmla="*/ 3725839 h 4189863"/>
              <a:gd name="connsiteX8" fmla="*/ 109182 w 9266830"/>
              <a:gd name="connsiteY8" fmla="*/ 3534771 h 4189863"/>
              <a:gd name="connsiteX9" fmla="*/ 1214651 w 9266830"/>
              <a:gd name="connsiteY9" fmla="*/ 3138986 h 4189863"/>
              <a:gd name="connsiteX10" fmla="*/ 1678675 w 9266830"/>
              <a:gd name="connsiteY10" fmla="*/ 3070747 h 4189863"/>
              <a:gd name="connsiteX11" fmla="*/ 1405720 w 9266830"/>
              <a:gd name="connsiteY11" fmla="*/ 2524836 h 4189863"/>
              <a:gd name="connsiteX12" fmla="*/ 1378424 w 9266830"/>
              <a:gd name="connsiteY12" fmla="*/ 1937983 h 4189863"/>
              <a:gd name="connsiteX13" fmla="*/ 2060812 w 9266830"/>
              <a:gd name="connsiteY13" fmla="*/ 341194 h 4189863"/>
              <a:gd name="connsiteX14" fmla="*/ 4844955 w 9266830"/>
              <a:gd name="connsiteY14" fmla="*/ 286603 h 4189863"/>
              <a:gd name="connsiteX15" fmla="*/ 5472752 w 9266830"/>
              <a:gd name="connsiteY15" fmla="*/ 1323833 h 4189863"/>
              <a:gd name="connsiteX16" fmla="*/ 5773003 w 9266830"/>
              <a:gd name="connsiteY16" fmla="*/ 2374711 h 4189863"/>
              <a:gd name="connsiteX17" fmla="*/ 6755642 w 9266830"/>
              <a:gd name="connsiteY17" fmla="*/ 2415654 h 4189863"/>
              <a:gd name="connsiteX18" fmla="*/ 8366078 w 9266830"/>
              <a:gd name="connsiteY18" fmla="*/ 818866 h 418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266830" h="4189863">
                <a:moveTo>
                  <a:pt x="9266830" y="0"/>
                </a:moveTo>
                <a:lnTo>
                  <a:pt x="9184943" y="1269242"/>
                </a:lnTo>
                <a:lnTo>
                  <a:pt x="8898341" y="2033517"/>
                </a:lnTo>
                <a:lnTo>
                  <a:pt x="8147714" y="2606723"/>
                </a:lnTo>
                <a:lnTo>
                  <a:pt x="8598090" y="3261815"/>
                </a:lnTo>
                <a:lnTo>
                  <a:pt x="8311487" y="4094329"/>
                </a:lnTo>
                <a:lnTo>
                  <a:pt x="764275" y="4189863"/>
                </a:lnTo>
                <a:lnTo>
                  <a:pt x="0" y="3725839"/>
                </a:lnTo>
                <a:lnTo>
                  <a:pt x="109182" y="3534771"/>
                </a:lnTo>
                <a:lnTo>
                  <a:pt x="1214651" y="3138986"/>
                </a:lnTo>
                <a:lnTo>
                  <a:pt x="1678675" y="3070747"/>
                </a:lnTo>
                <a:lnTo>
                  <a:pt x="1405720" y="2524836"/>
                </a:lnTo>
                <a:lnTo>
                  <a:pt x="1378424" y="1937983"/>
                </a:lnTo>
                <a:lnTo>
                  <a:pt x="2060812" y="341194"/>
                </a:lnTo>
                <a:lnTo>
                  <a:pt x="4844955" y="286603"/>
                </a:lnTo>
                <a:lnTo>
                  <a:pt x="5472752" y="1323833"/>
                </a:lnTo>
                <a:lnTo>
                  <a:pt x="5773003" y="2374711"/>
                </a:lnTo>
                <a:lnTo>
                  <a:pt x="6755642" y="2415654"/>
                </a:lnTo>
                <a:lnTo>
                  <a:pt x="8366078" y="8188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rden snail stock photo. Image of cute, mollusk, looking - 147664690">
            <a:extLst>
              <a:ext uri="{FF2B5EF4-FFF2-40B4-BE49-F238E27FC236}">
                <a16:creationId xmlns:a16="http://schemas.microsoft.com/office/drawing/2014/main" id="{C5376571-4FBF-694B-AAE4-2A4EBEA75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039" y="5117910"/>
            <a:ext cx="2460871" cy="174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78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1716-61E7-B641-93D8-71120CF27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Central Tendency</a:t>
            </a:r>
          </a:p>
          <a:p>
            <a:r>
              <a:rPr lang="en-US" dirty="0"/>
              <a:t>Mode is unaffected</a:t>
            </a:r>
          </a:p>
          <a:p>
            <a:r>
              <a:rPr lang="en-US" dirty="0"/>
              <a:t>Median is moderately affected</a:t>
            </a:r>
          </a:p>
          <a:p>
            <a:r>
              <a:rPr lang="en-US" dirty="0"/>
              <a:t>Mean is severely affected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A08C43A7-0980-7147-835E-0ECDEA52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4" y="3830100"/>
            <a:ext cx="11825632" cy="30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0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D8C3-D1DE-BD43-895C-5C7CC58B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and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150A-521F-034F-A7DF-9EFD1302D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266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18, 19, 19, 19, 19, 20, 20, 20, 21, 25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Mode = </a:t>
            </a:r>
            <a:r>
              <a:rPr lang="en-US" sz="3600" dirty="0"/>
              <a:t>19</a:t>
            </a:r>
          </a:p>
          <a:p>
            <a:pPr marL="0" indent="0">
              <a:buNone/>
            </a:pPr>
            <a:r>
              <a:rPr lang="en-US" sz="3600" b="1" dirty="0"/>
              <a:t>Median = </a:t>
            </a:r>
            <a:r>
              <a:rPr lang="en-US" sz="3600" dirty="0"/>
              <a:t>19.50</a:t>
            </a:r>
          </a:p>
          <a:p>
            <a:pPr marL="0" indent="0">
              <a:buNone/>
            </a:pPr>
            <a:r>
              <a:rPr lang="en-US" sz="3600" b="1" dirty="0"/>
              <a:t>Mean =</a:t>
            </a:r>
            <a:r>
              <a:rPr lang="en-US" sz="3600" dirty="0"/>
              <a:t> 20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96AE3A-DE94-5944-B02D-900599E42ED8}"/>
              </a:ext>
            </a:extLst>
          </p:cNvPr>
          <p:cNvSpPr txBox="1">
            <a:spLocks/>
          </p:cNvSpPr>
          <p:nvPr/>
        </p:nvSpPr>
        <p:spPr>
          <a:xfrm>
            <a:off x="4289534" y="2797832"/>
            <a:ext cx="8054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18, 19, 19, 19, 19, 20, 20, 20, 21, 25, </a:t>
            </a:r>
            <a:r>
              <a:rPr lang="en-US" sz="3600" b="1" dirty="0">
                <a:solidFill>
                  <a:srgbClr val="FF0000"/>
                </a:solidFill>
              </a:rPr>
              <a:t>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Mode = </a:t>
            </a:r>
            <a:r>
              <a:rPr lang="en-US" sz="3600" dirty="0">
                <a:solidFill>
                  <a:srgbClr val="FF0000"/>
                </a:solidFill>
              </a:rPr>
              <a:t>19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Median = </a:t>
            </a:r>
            <a:r>
              <a:rPr lang="en-US" sz="3600" dirty="0">
                <a:solidFill>
                  <a:srgbClr val="FF0000"/>
                </a:solidFill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Mean =</a:t>
            </a:r>
            <a:r>
              <a:rPr lang="en-US" sz="3600" dirty="0">
                <a:solidFill>
                  <a:srgbClr val="FF0000"/>
                </a:solidFill>
              </a:rPr>
              <a:t> 20.91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9168CC64-9EE3-3D4A-8C38-8CE865241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43"/>
          <a:stretch/>
        </p:blipFill>
        <p:spPr>
          <a:xfrm>
            <a:off x="8123274" y="3830100"/>
            <a:ext cx="3885542" cy="30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D8C3-D1DE-BD43-895C-5C7CC58B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and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150A-521F-034F-A7DF-9EFD1302D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266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18, 19, 19, 19, 19, 20, 20, 20, 21, 25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Mode = </a:t>
            </a:r>
            <a:r>
              <a:rPr lang="en-US" sz="3600" dirty="0"/>
              <a:t>19</a:t>
            </a:r>
          </a:p>
          <a:p>
            <a:pPr marL="0" indent="0">
              <a:buNone/>
            </a:pPr>
            <a:r>
              <a:rPr lang="en-US" sz="3600" b="1" dirty="0"/>
              <a:t>Median = </a:t>
            </a:r>
            <a:r>
              <a:rPr lang="en-US" sz="3600" dirty="0"/>
              <a:t>19.50</a:t>
            </a:r>
          </a:p>
          <a:p>
            <a:pPr marL="0" indent="0">
              <a:buNone/>
            </a:pPr>
            <a:r>
              <a:rPr lang="en-US" sz="3600" b="1" dirty="0"/>
              <a:t>Mean =</a:t>
            </a:r>
            <a:r>
              <a:rPr lang="en-US" sz="3600" dirty="0"/>
              <a:t> 20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96AE3A-DE94-5944-B02D-900599E42ED8}"/>
              </a:ext>
            </a:extLst>
          </p:cNvPr>
          <p:cNvSpPr txBox="1">
            <a:spLocks/>
          </p:cNvSpPr>
          <p:nvPr/>
        </p:nvSpPr>
        <p:spPr>
          <a:xfrm>
            <a:off x="4289534" y="2797832"/>
            <a:ext cx="8054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18, 19, 19, 19, 19, 20, 20, 20, 21, 25, </a:t>
            </a:r>
            <a:r>
              <a:rPr lang="en-US" sz="3600" b="1" dirty="0">
                <a:solidFill>
                  <a:srgbClr val="FF0000"/>
                </a:solidFill>
              </a:rPr>
              <a:t>1000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Mode = </a:t>
            </a:r>
            <a:r>
              <a:rPr lang="en-US" sz="3600" dirty="0">
                <a:solidFill>
                  <a:srgbClr val="FF0000"/>
                </a:solidFill>
              </a:rPr>
              <a:t>19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Median = </a:t>
            </a:r>
            <a:r>
              <a:rPr lang="en-US" sz="3600" dirty="0">
                <a:solidFill>
                  <a:srgbClr val="FF0000"/>
                </a:solidFill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</a:rPr>
              <a:t>Mean =</a:t>
            </a:r>
            <a:r>
              <a:rPr lang="en-US" sz="3600" dirty="0">
                <a:solidFill>
                  <a:srgbClr val="FF0000"/>
                </a:solidFill>
              </a:rPr>
              <a:t> 109.09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9168CC64-9EE3-3D4A-8C38-8CE865241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43"/>
          <a:stretch/>
        </p:blipFill>
        <p:spPr>
          <a:xfrm>
            <a:off x="8123274" y="3830100"/>
            <a:ext cx="3885542" cy="30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1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A08C43A7-0980-7147-835E-0ECDEA52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4" y="3830100"/>
            <a:ext cx="11825632" cy="30279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1716-61E7-B641-93D8-71120CF27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Pearson Skew (</a:t>
            </a:r>
            <a:r>
              <a:rPr lang="en-US" b="1" dirty="0" err="1"/>
              <a:t>Skew</a:t>
            </a:r>
            <a:r>
              <a:rPr lang="en-US" b="1" baseline="-25000" dirty="0" err="1"/>
              <a:t>p</a:t>
            </a:r>
            <a:r>
              <a:rPr lang="en-US" b="1" dirty="0"/>
              <a:t>): </a:t>
            </a:r>
            <a:r>
              <a:rPr lang="en-US" dirty="0"/>
              <a:t>Method for measuring the degree to which a dataset is skewed</a:t>
            </a:r>
          </a:p>
          <a:p>
            <a:r>
              <a:rPr lang="en-US" sz="2400" dirty="0"/>
              <a:t>Although we most often try and use means, when data is severely skewed, we must use median – </a:t>
            </a:r>
            <a:r>
              <a:rPr lang="en-US" sz="2400" b="1" i="1" dirty="0" err="1"/>
              <a:t>Skew</a:t>
            </a:r>
            <a:r>
              <a:rPr lang="en-US" sz="2400" b="1" i="1" baseline="-25000" dirty="0" err="1"/>
              <a:t>p</a:t>
            </a:r>
            <a:r>
              <a:rPr lang="en-US" sz="2400" dirty="0"/>
              <a:t> will give us a measure of this</a:t>
            </a:r>
          </a:p>
          <a:p>
            <a:r>
              <a:rPr lang="en-US" sz="2400" dirty="0"/>
              <a:t>Only for score (interval/ ratio) data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30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E1716-61E7-B641-93D8-71120CF27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Pearson Skew (</a:t>
                </a:r>
                <a:r>
                  <a:rPr lang="en-US" b="1" i="1" dirty="0" err="1"/>
                  <a:t>Skew</a:t>
                </a:r>
                <a:r>
                  <a:rPr lang="en-US" b="1" i="1" baseline="-25000" dirty="0" err="1"/>
                  <a:t>p</a:t>
                </a:r>
                <a:r>
                  <a:rPr lang="en-US" b="1" dirty="0"/>
                  <a:t>): </a:t>
                </a:r>
                <a:r>
                  <a:rPr lang="en-US" dirty="0"/>
                  <a:t>Method for measuring the degree to which a dataset is skewed</a:t>
                </a:r>
              </a:p>
              <a:p>
                <a:r>
                  <a:rPr lang="en-US" sz="2400" b="1" dirty="0"/>
                  <a:t>Computation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𝑀𝑑𝑛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b="1" dirty="0"/>
                  <a:t>1, 4, 6, 9, 12, 30</a:t>
                </a:r>
                <a:r>
                  <a:rPr lang="en-US" sz="2400" dirty="0"/>
                  <a:t>: </a:t>
                </a:r>
                <a:r>
                  <a:rPr lang="en-US" sz="2400" i="1" dirty="0" err="1"/>
                  <a:t>Mdn</a:t>
                </a:r>
                <a:r>
                  <a:rPr lang="en-US" sz="2400" dirty="0"/>
                  <a:t> = 7.5000, </a:t>
                </a:r>
                <a:r>
                  <a:rPr lang="en-US" sz="2400" i="1" dirty="0"/>
                  <a:t>x̅</a:t>
                </a:r>
                <a:r>
                  <a:rPr lang="en-US" sz="2400" dirty="0"/>
                  <a:t> = 10.3333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A" sz="2800" i="1" dirty="0">
                            <a:latin typeface="Cambria Math" panose="02040503050406030204" pitchFamily="18" charset="0"/>
                          </a:rPr>
                          <m:t>𝑀𝑑𝑛</m:t>
                        </m:r>
                        <m:r>
                          <a:rPr lang="en-CA" sz="28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𝑆𝐷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endParaRPr lang="en-CA" sz="28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3333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5000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4634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0.8982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b="1" dirty="0"/>
                  <a:t>Report</a:t>
                </a:r>
                <a:r>
                  <a:rPr lang="en-US" dirty="0"/>
                  <a:t>: 0.90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E1716-61E7-B641-93D8-71120CF27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A08C43A7-0980-7147-835E-0ECDEA523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316" y="4984642"/>
            <a:ext cx="7316500" cy="187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7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BFE3-6179-264A-8BAD-B63C08E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Skewed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1716-61E7-B641-93D8-71120CF2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Pearson Skew (</a:t>
            </a:r>
            <a:r>
              <a:rPr lang="en-US" b="1" i="1" dirty="0" err="1"/>
              <a:t>Skew</a:t>
            </a:r>
            <a:r>
              <a:rPr lang="en-US" b="1" i="1" baseline="-25000" dirty="0" err="1"/>
              <a:t>p</a:t>
            </a:r>
            <a:r>
              <a:rPr lang="en-US" b="1" dirty="0"/>
              <a:t>): </a:t>
            </a:r>
            <a:r>
              <a:rPr lang="en-US" dirty="0"/>
              <a:t>Method for measuring the degree to which a dataset is skewed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B87C-481D-5035-8079-23FD47D4F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083704"/>
              </p:ext>
            </p:extLst>
          </p:nvPr>
        </p:nvGraphicFramePr>
        <p:xfrm>
          <a:off x="3225879" y="2798964"/>
          <a:ext cx="5740242" cy="390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414">
                  <a:extLst>
                    <a:ext uri="{9D8B030D-6E8A-4147-A177-3AD203B41FA5}">
                      <a16:colId xmlns:a16="http://schemas.microsoft.com/office/drawing/2014/main" val="2104649140"/>
                    </a:ext>
                  </a:extLst>
                </a:gridCol>
                <a:gridCol w="1913414">
                  <a:extLst>
                    <a:ext uri="{9D8B030D-6E8A-4147-A177-3AD203B41FA5}">
                      <a16:colId xmlns:a16="http://schemas.microsoft.com/office/drawing/2014/main" val="2803131317"/>
                    </a:ext>
                  </a:extLst>
                </a:gridCol>
                <a:gridCol w="1913414">
                  <a:extLst>
                    <a:ext uri="{9D8B030D-6E8A-4147-A177-3AD203B41FA5}">
                      <a16:colId xmlns:a16="http://schemas.microsoft.com/office/drawing/2014/main" val="3483451437"/>
                    </a:ext>
                  </a:extLst>
                </a:gridCol>
              </a:tblGrid>
              <a:tr h="19994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Skew</a:t>
                      </a:r>
                      <a:r>
                        <a:rPr lang="en-US" baseline="-25000" dirty="0" err="1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988756"/>
                  </a:ext>
                </a:extLst>
              </a:tr>
              <a:tr h="7079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 up to |.5|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Mean &amp; SD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82225"/>
                  </a:ext>
                </a:extLst>
              </a:tr>
              <a:tr h="7079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|.5| up to |1.0|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Mild Skew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Mean &amp; SD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06400"/>
                  </a:ext>
                </a:extLst>
              </a:tr>
              <a:tr h="7079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|1.0| up to |1.5|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Moderate Skew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Mean &amp; SD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571635"/>
                  </a:ext>
                </a:extLst>
              </a:tr>
              <a:tr h="7079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|1.5| up to |2.0|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Strong Skew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Median &amp; MAD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63850"/>
                  </a:ext>
                </a:extLst>
              </a:tr>
              <a:tr h="7079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|2.0| or greater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Severe Skew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Median &amp; MAD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2418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7A3A-4FAC-1FE2-30C6-840E7A2D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589C614-1E25-F3D1-CBE5-1A098AFA4B1D}"/>
              </a:ext>
            </a:extLst>
          </p:cNvPr>
          <p:cNvGrpSpPr/>
          <p:nvPr/>
        </p:nvGrpSpPr>
        <p:grpSpPr>
          <a:xfrm>
            <a:off x="247423" y="1089330"/>
            <a:ext cx="11697153" cy="4224542"/>
            <a:chOff x="0" y="1744937"/>
            <a:chExt cx="9043951" cy="32663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013541-2685-31E6-685E-1BF763545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5248"/>
            <a:stretch>
              <a:fillRect/>
            </a:stretch>
          </p:blipFill>
          <p:spPr>
            <a:xfrm>
              <a:off x="0" y="1846751"/>
              <a:ext cx="7894553" cy="31644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A81007-FE5C-FA55-880D-1742E235C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756" b="18604"/>
            <a:stretch>
              <a:fillRect/>
            </a:stretch>
          </p:blipFill>
          <p:spPr>
            <a:xfrm>
              <a:off x="4990809" y="1744937"/>
              <a:ext cx="4053142" cy="2575777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F9F813-1C0B-6BFF-C941-003D94792498}"/>
              </a:ext>
            </a:extLst>
          </p:cNvPr>
          <p:cNvSpPr/>
          <p:nvPr/>
        </p:nvSpPr>
        <p:spPr>
          <a:xfrm>
            <a:off x="9770853" y="4420756"/>
            <a:ext cx="448573" cy="7723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7BC13-1890-FF3C-4CD7-08149869D630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</p:spTree>
    <p:extLst>
      <p:ext uri="{BB962C8B-B14F-4D97-AF65-F5344CB8AC3E}">
        <p14:creationId xmlns:p14="http://schemas.microsoft.com/office/powerpoint/2010/main" val="379003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50A5-C3A6-DBBB-47B0-4694E2A0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F5F11E-52D5-5F17-0D14-9D1169E3187A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EA5E099-CFAB-204A-D474-14527ED70019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DF5E37E-50EB-D7B1-B162-F84B92B622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B787676-4E5C-306C-CC86-916CA60CFE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07D17DA-3DF6-BA9B-0169-F03BE1305958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F45B1E01-A062-4011-3155-35C43EE5789D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F28C76D-5585-6687-EF38-1A28D365055E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16E64B2-FDC2-989B-67D9-A8293F6A08D5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3BCC2AA-09B9-D922-3FEC-4A93FC35C4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B89488-85AA-58BC-1C5C-2060F65F25D5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F2E05F6-A61D-CC51-F899-2DBEA06188C8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E1DD268-2C25-9238-B3A3-F4AD4B0DE11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F4887F-1DC3-EFE0-95B9-8AB04A9EE978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6694361-D50A-5EFE-CE47-A91DE15A2DBD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357ECDD-F1C0-EF7B-3D8D-D2EA4A88B793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0EEC7E6-CBD9-DB77-F1BB-6238123F133C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E57765E-DF82-7D07-51D0-69E552EEB9E8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Central Tendency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SIQR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Skewed Distributions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Reporting Descriptives</a:t>
            </a:r>
          </a:p>
        </p:txBody>
      </p:sp>
    </p:spTree>
    <p:extLst>
      <p:ext uri="{BB962C8B-B14F-4D97-AF65-F5344CB8AC3E}">
        <p14:creationId xmlns:p14="http://schemas.microsoft.com/office/powerpoint/2010/main" val="255675179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C20DE-3CE8-DB6D-8F1F-73959515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37BB-CCF8-D43E-4302-21275F40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62C2-F213-57FD-862D-A70D3000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We collected student exam scores for online statistical classes that were either performed asynchronously or synchronously. For the asynchronous group, the mean exam score was x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3600" dirty="0"/>
              <a:t> = 80% (</a:t>
            </a:r>
            <a:r>
              <a:rPr lang="en-US" sz="3600" i="1" dirty="0"/>
              <a:t>SD</a:t>
            </a:r>
            <a:r>
              <a:rPr lang="en-US" sz="3600" dirty="0"/>
              <a:t> = 16%) and the synchronous group, the mean exam score was x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3600" dirty="0"/>
              <a:t> = 85% (</a:t>
            </a:r>
            <a:r>
              <a:rPr lang="en-US" sz="3600" i="1" dirty="0"/>
              <a:t>SD</a:t>
            </a:r>
            <a:r>
              <a:rPr lang="en-US" sz="3600" dirty="0"/>
              <a:t> = 12%). Thus, although similar, exam scores for the synchronous group seemed to be higher than for the asynchronous group.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6061B6-230F-AFE2-2759-80E5B56B5E4E}"/>
              </a:ext>
            </a:extLst>
          </p:cNvPr>
          <p:cNvSpPr/>
          <p:nvPr/>
        </p:nvSpPr>
        <p:spPr>
          <a:xfrm>
            <a:off x="4961357" y="1825625"/>
            <a:ext cx="2353843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C2BA97-BE23-D527-AE41-10A00B218FA7}"/>
              </a:ext>
            </a:extLst>
          </p:cNvPr>
          <p:cNvSpPr/>
          <p:nvPr/>
        </p:nvSpPr>
        <p:spPr>
          <a:xfrm>
            <a:off x="7467600" y="2329545"/>
            <a:ext cx="4991100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E6E9B6-7BE9-399C-6125-BB92784108C7}"/>
              </a:ext>
            </a:extLst>
          </p:cNvPr>
          <p:cNvSpPr/>
          <p:nvPr/>
        </p:nvSpPr>
        <p:spPr>
          <a:xfrm>
            <a:off x="-266700" y="2837996"/>
            <a:ext cx="4044043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73FC9A-833C-825D-9E10-CED0AF958B5B}"/>
              </a:ext>
            </a:extLst>
          </p:cNvPr>
          <p:cNvSpPr/>
          <p:nvPr/>
        </p:nvSpPr>
        <p:spPr>
          <a:xfrm>
            <a:off x="3946668" y="3268435"/>
            <a:ext cx="1513119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CF9FAD-1991-680B-E80D-2EA483EB100D}"/>
              </a:ext>
            </a:extLst>
          </p:cNvPr>
          <p:cNvSpPr/>
          <p:nvPr/>
        </p:nvSpPr>
        <p:spPr>
          <a:xfrm>
            <a:off x="5481457" y="3278288"/>
            <a:ext cx="2046514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A33EEC-6577-FC63-C433-526F7351E779}"/>
              </a:ext>
            </a:extLst>
          </p:cNvPr>
          <p:cNvSpPr/>
          <p:nvPr/>
        </p:nvSpPr>
        <p:spPr>
          <a:xfrm>
            <a:off x="9533164" y="3757156"/>
            <a:ext cx="1536836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367492-0F16-E079-6492-30B5E2DD0391}"/>
              </a:ext>
            </a:extLst>
          </p:cNvPr>
          <p:cNvSpPr/>
          <p:nvPr/>
        </p:nvSpPr>
        <p:spPr>
          <a:xfrm>
            <a:off x="870860" y="4340336"/>
            <a:ext cx="2057399" cy="5910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BF8E58-A918-C8A8-D72A-35B5437B44C8}"/>
              </a:ext>
            </a:extLst>
          </p:cNvPr>
          <p:cNvSpPr/>
          <p:nvPr/>
        </p:nvSpPr>
        <p:spPr>
          <a:xfrm>
            <a:off x="838199" y="4340337"/>
            <a:ext cx="10186852" cy="15640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82D112-577B-60E4-BF2D-ABB7AC633C67}"/>
              </a:ext>
            </a:extLst>
          </p:cNvPr>
          <p:cNvSpPr/>
          <p:nvPr/>
        </p:nvSpPr>
        <p:spPr>
          <a:xfrm>
            <a:off x="6747600" y="1099177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207994-8899-6EDE-D7D4-1D4EE43EBAC7}"/>
              </a:ext>
            </a:extLst>
          </p:cNvPr>
          <p:cNvSpPr/>
          <p:nvPr/>
        </p:nvSpPr>
        <p:spPr>
          <a:xfrm>
            <a:off x="11070000" y="1584606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IV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109009-32C6-F2FE-0ACA-F9316740A1E9}"/>
              </a:ext>
            </a:extLst>
          </p:cNvPr>
          <p:cNvSpPr/>
          <p:nvPr/>
        </p:nvSpPr>
        <p:spPr>
          <a:xfrm>
            <a:off x="4335650" y="2533786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x̅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E8A5AD-5DE3-A3A4-4925-EE7ACD0E32BF}"/>
              </a:ext>
            </a:extLst>
          </p:cNvPr>
          <p:cNvSpPr/>
          <p:nvPr/>
        </p:nvSpPr>
        <p:spPr>
          <a:xfrm>
            <a:off x="6119450" y="2533786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14AF12-1F1B-C35E-CE4C-549E26B79B6B}"/>
              </a:ext>
            </a:extLst>
          </p:cNvPr>
          <p:cNvSpPr/>
          <p:nvPr/>
        </p:nvSpPr>
        <p:spPr>
          <a:xfrm>
            <a:off x="10945812" y="3193923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x̅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2CF2C76-2D2A-5C0B-DD19-6D792A283F17}"/>
              </a:ext>
            </a:extLst>
          </p:cNvPr>
          <p:cNvSpPr/>
          <p:nvPr/>
        </p:nvSpPr>
        <p:spPr>
          <a:xfrm>
            <a:off x="54885" y="4044836"/>
            <a:ext cx="815975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14984A-6185-02D8-76CA-1535E2434F4D}"/>
              </a:ext>
            </a:extLst>
          </p:cNvPr>
          <p:cNvSpPr/>
          <p:nvPr/>
        </p:nvSpPr>
        <p:spPr>
          <a:xfrm>
            <a:off x="7734300" y="5565368"/>
            <a:ext cx="2366781" cy="8159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Conclusion</a:t>
            </a:r>
          </a:p>
          <a:p>
            <a:pPr algn="ctr"/>
            <a:r>
              <a:rPr lang="en-US" sz="2400" b="1">
                <a:solidFill>
                  <a:srgbClr val="FF0000"/>
                </a:solidFill>
              </a:rPr>
              <a:t>in </a:t>
            </a:r>
            <a:r>
              <a:rPr lang="en-US" sz="2400" b="1" dirty="0">
                <a:solidFill>
                  <a:srgbClr val="FF0000"/>
                </a:solidFill>
              </a:rPr>
              <a:t>words</a:t>
            </a:r>
          </a:p>
        </p:txBody>
      </p:sp>
    </p:spTree>
    <p:extLst>
      <p:ext uri="{BB962C8B-B14F-4D97-AF65-F5344CB8AC3E}">
        <p14:creationId xmlns:p14="http://schemas.microsoft.com/office/powerpoint/2010/main" val="222214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08F6-E325-E244-8C24-14481773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EC73-6CB9-4841-9CEB-A49D99A6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We collected student exam scores for online statistical classes that were either performed asynchronously or synchronously. For the asynchronous group, the mean exam score was x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3600" dirty="0"/>
              <a:t> = 80% (</a:t>
            </a:r>
            <a:r>
              <a:rPr lang="en-US" sz="3600" i="1" dirty="0"/>
              <a:t>SD</a:t>
            </a:r>
            <a:r>
              <a:rPr lang="en-US" sz="3600" dirty="0"/>
              <a:t> = 16%) and the synchronous group, the mean exam score was x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3600" dirty="0"/>
              <a:t> = 85% (</a:t>
            </a:r>
            <a:r>
              <a:rPr lang="en-US" sz="3600" i="1" dirty="0"/>
              <a:t>SD</a:t>
            </a:r>
            <a:r>
              <a:rPr lang="en-US" sz="3600" dirty="0"/>
              <a:t> = 12%). Thus, although similar, exam scores for the synchronous group seemed to be higher than for the asynchronous group. </a:t>
            </a:r>
          </a:p>
        </p:txBody>
      </p:sp>
    </p:spTree>
    <p:extLst>
      <p:ext uri="{BB962C8B-B14F-4D97-AF65-F5344CB8AC3E}">
        <p14:creationId xmlns:p14="http://schemas.microsoft.com/office/powerpoint/2010/main" val="400256776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A6A6B7-1EEE-6E42-8775-EBD5528C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93136"/>
            <a:ext cx="11559363" cy="5964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Symbols so far:</a:t>
            </a:r>
          </a:p>
          <a:p>
            <a:pPr lvl="1"/>
            <a:r>
              <a:rPr lang="en-US" b="1" i="1" dirty="0"/>
              <a:t>General:</a:t>
            </a:r>
          </a:p>
          <a:p>
            <a:pPr lvl="2"/>
            <a:r>
              <a:rPr lang="en-US" i="1" dirty="0"/>
              <a:t>N</a:t>
            </a:r>
            <a:r>
              <a:rPr lang="en-US" dirty="0"/>
              <a:t> = Sample Size</a:t>
            </a:r>
          </a:p>
          <a:p>
            <a:pPr lvl="2"/>
            <a:r>
              <a:rPr lang="en-US" i="1" dirty="0"/>
              <a:t>X</a:t>
            </a:r>
            <a:r>
              <a:rPr lang="en-US" i="1" baseline="-25000" dirty="0"/>
              <a:t>o</a:t>
            </a:r>
            <a:r>
              <a:rPr lang="en-US" dirty="0"/>
              <a:t> = Observed Value</a:t>
            </a:r>
          </a:p>
          <a:p>
            <a:pPr lvl="2"/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= True value</a:t>
            </a:r>
          </a:p>
          <a:p>
            <a:pPr lvl="2"/>
            <a:r>
              <a:rPr lang="en-US" i="1" dirty="0"/>
              <a:t>X</a:t>
            </a:r>
            <a:r>
              <a:rPr lang="en-US" i="1" baseline="-25000" dirty="0"/>
              <a:t>e</a:t>
            </a:r>
            <a:r>
              <a:rPr lang="en-US" i="1" dirty="0"/>
              <a:t> </a:t>
            </a:r>
            <a:r>
              <a:rPr lang="en-US" dirty="0"/>
              <a:t>= Error</a:t>
            </a:r>
          </a:p>
          <a:p>
            <a:pPr lvl="2"/>
            <a:endParaRPr lang="en-US" dirty="0"/>
          </a:p>
          <a:p>
            <a:pPr lvl="1"/>
            <a:r>
              <a:rPr lang="en-US" b="1" i="1" dirty="0"/>
              <a:t>Central Tendency:</a:t>
            </a:r>
          </a:p>
          <a:p>
            <a:pPr lvl="2"/>
            <a:r>
              <a:rPr lang="en-US" i="1" dirty="0"/>
              <a:t>Mod</a:t>
            </a:r>
            <a:r>
              <a:rPr lang="en-US" dirty="0"/>
              <a:t> = mode</a:t>
            </a:r>
          </a:p>
          <a:p>
            <a:pPr lvl="2"/>
            <a:r>
              <a:rPr lang="en-US" i="1" dirty="0" err="1"/>
              <a:t>Mdn</a:t>
            </a:r>
            <a:r>
              <a:rPr lang="en-US" dirty="0"/>
              <a:t> = median </a:t>
            </a:r>
          </a:p>
          <a:p>
            <a:pPr lvl="2"/>
            <a:r>
              <a:rPr lang="en-CA" i="1" dirty="0"/>
              <a:t>x̅ </a:t>
            </a:r>
            <a:r>
              <a:rPr lang="en-CA" dirty="0"/>
              <a:t>= mean</a:t>
            </a:r>
          </a:p>
          <a:p>
            <a:pPr lvl="1"/>
            <a:endParaRPr lang="en-CA" dirty="0"/>
          </a:p>
          <a:p>
            <a:pPr lvl="1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FC9418-046F-F56F-84C3-4175A4CAA748}"/>
              </a:ext>
            </a:extLst>
          </p:cNvPr>
          <p:cNvSpPr txBox="1">
            <a:spLocks/>
          </p:cNvSpPr>
          <p:nvPr/>
        </p:nvSpPr>
        <p:spPr>
          <a:xfrm>
            <a:off x="4448174" y="893136"/>
            <a:ext cx="11559363" cy="596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r>
              <a:rPr lang="en-US" b="1" i="1" dirty="0"/>
              <a:t>Variability:</a:t>
            </a:r>
          </a:p>
          <a:p>
            <a:pPr lvl="2"/>
            <a:r>
              <a:rPr lang="en-CA" i="1" dirty="0"/>
              <a:t>SIQR</a:t>
            </a:r>
            <a:r>
              <a:rPr lang="en-CA" dirty="0"/>
              <a:t> = Semi-Interquartile Range (</a:t>
            </a:r>
            <a:r>
              <a:rPr lang="en-CA" i="1" dirty="0"/>
              <a:t>Q</a:t>
            </a:r>
            <a:r>
              <a:rPr lang="en-CA" i="1" baseline="-25000" dirty="0"/>
              <a:t>75%</a:t>
            </a:r>
            <a:r>
              <a:rPr lang="en-CA" dirty="0"/>
              <a:t>, </a:t>
            </a:r>
            <a:r>
              <a:rPr lang="en-CA" i="1" dirty="0"/>
              <a:t>Q</a:t>
            </a:r>
            <a:r>
              <a:rPr lang="en-CA" i="1" baseline="-25000" dirty="0"/>
              <a:t>25%</a:t>
            </a:r>
            <a:r>
              <a:rPr lang="en-CA" dirty="0"/>
              <a:t>)</a:t>
            </a:r>
          </a:p>
          <a:p>
            <a:pPr lvl="2"/>
            <a:r>
              <a:rPr lang="en-CA" i="1" dirty="0"/>
              <a:t>SS</a:t>
            </a:r>
            <a:r>
              <a:rPr lang="en-CA" dirty="0"/>
              <a:t> = Sums of squares</a:t>
            </a:r>
          </a:p>
          <a:p>
            <a:pPr lvl="2"/>
            <a:r>
              <a:rPr lang="en-CA" i="1" dirty="0"/>
              <a:t>SD</a:t>
            </a:r>
            <a:r>
              <a:rPr lang="en-CA" i="1" baseline="30000" dirty="0"/>
              <a:t>2</a:t>
            </a:r>
            <a:r>
              <a:rPr lang="en-CA" dirty="0"/>
              <a:t> = Variance</a:t>
            </a:r>
          </a:p>
          <a:p>
            <a:pPr lvl="2"/>
            <a:r>
              <a:rPr lang="en-CA" i="1" dirty="0"/>
              <a:t>SD</a:t>
            </a:r>
            <a:r>
              <a:rPr lang="en-CA" dirty="0"/>
              <a:t> = Standard Deviation</a:t>
            </a:r>
          </a:p>
          <a:p>
            <a:pPr lvl="2"/>
            <a:r>
              <a:rPr lang="en-CA" i="1" dirty="0" err="1"/>
              <a:t>Skew</a:t>
            </a:r>
            <a:r>
              <a:rPr lang="en-CA" i="1" baseline="-25000" dirty="0" err="1"/>
              <a:t>p</a:t>
            </a:r>
            <a:r>
              <a:rPr lang="en-CA" dirty="0"/>
              <a:t> = Pearson Skew</a:t>
            </a:r>
          </a:p>
          <a:p>
            <a:pPr lvl="1"/>
            <a:endParaRPr lang="en-CA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6870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E2C7-2863-0F88-39B6-B3E0414E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A48A79-75E6-4947-7CE7-882C3032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85" y="1459823"/>
            <a:ext cx="9312014" cy="5301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542ACC-FC20-2283-7C5E-296FB1B68207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5D6AF-22F5-3540-21E7-1C01B8DB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Stats Problem Generator</a:t>
            </a:r>
          </a:p>
        </p:txBody>
      </p:sp>
    </p:spTree>
    <p:extLst>
      <p:ext uri="{BB962C8B-B14F-4D97-AF65-F5344CB8AC3E}">
        <p14:creationId xmlns:p14="http://schemas.microsoft.com/office/powerpoint/2010/main" val="192749340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8BEB-D5C7-4AB8-E6F3-722982F1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135DD23F-2CD2-B16D-224C-B78E8772C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397" y="2254281"/>
            <a:ext cx="5443250" cy="3052973"/>
          </a:xfrm>
          <a:prstGeom prst="rect">
            <a:avLst/>
          </a:prstGeom>
        </p:spPr>
      </p:pic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89AEC8C7-1EEE-63A1-7DE2-EF8CED08C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85" y="2254281"/>
            <a:ext cx="5502215" cy="3081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11324-D3A7-A872-873A-1F38C8C0798B}"/>
              </a:ext>
            </a:extLst>
          </p:cNvPr>
          <p:cNvSpPr txBox="1"/>
          <p:nvPr/>
        </p:nvSpPr>
        <p:spPr>
          <a:xfrm>
            <a:off x="494581" y="5341758"/>
            <a:ext cx="5543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This video uses a slightly different equation for variance (they use n-1 instead of n). This is something we will cover in future lectures. For now, just use n, not n-1</a:t>
            </a:r>
          </a:p>
        </p:txBody>
      </p:sp>
    </p:spTree>
    <p:extLst>
      <p:ext uri="{BB962C8B-B14F-4D97-AF65-F5344CB8AC3E}">
        <p14:creationId xmlns:p14="http://schemas.microsoft.com/office/powerpoint/2010/main" val="3611601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5152</Words>
  <Application>Microsoft Office PowerPoint</Application>
  <PresentationFormat>Widescreen</PresentationFormat>
  <Paragraphs>1715</Paragraphs>
  <Slides>123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9" baseType="lpstr">
      <vt:lpstr>Aptos</vt:lpstr>
      <vt:lpstr>Arial</vt:lpstr>
      <vt:lpstr>Calibri</vt:lpstr>
      <vt:lpstr>Calibri Light</vt:lpstr>
      <vt:lpstr>Cambria Math</vt:lpstr>
      <vt:lpstr>Office Theme</vt:lpstr>
      <vt:lpstr>Central Tendency  &amp; Variability</vt:lpstr>
      <vt:lpstr>PowerPoint Presentation</vt:lpstr>
      <vt:lpstr>Decimal Rules</vt:lpstr>
      <vt:lpstr>PowerPoint Presentation</vt:lpstr>
      <vt:lpstr>Describing Data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Building a Distribution</vt:lpstr>
      <vt:lpstr>PowerPoint Presentation</vt:lpstr>
      <vt:lpstr>PowerPoint Presentation</vt:lpstr>
      <vt:lpstr>Central Tendency</vt:lpstr>
      <vt:lpstr>Mode (mod)</vt:lpstr>
      <vt:lpstr>Mode (mod)</vt:lpstr>
      <vt:lpstr>Mode (mod)</vt:lpstr>
      <vt:lpstr>Mode (mod)</vt:lpstr>
      <vt:lpstr>Mode (mod)</vt:lpstr>
      <vt:lpstr>Mode (mod)</vt:lpstr>
      <vt:lpstr>PowerPoint Presentation</vt:lpstr>
      <vt:lpstr>Median (mdn)</vt:lpstr>
      <vt:lpstr>Median (mdn)</vt:lpstr>
      <vt:lpstr>Median (mdn)</vt:lpstr>
      <vt:lpstr>Median (mdn)</vt:lpstr>
      <vt:lpstr>Median (mdn)</vt:lpstr>
      <vt:lpstr>Median (mdn)</vt:lpstr>
      <vt:lpstr>Median (mdn)</vt:lpstr>
      <vt:lpstr>PowerPoint Presentation</vt:lpstr>
      <vt:lpstr>Mean (x̄)</vt:lpstr>
      <vt:lpstr>Mean (x̄)</vt:lpstr>
      <vt:lpstr>Mean (x̄)</vt:lpstr>
      <vt:lpstr>Mean (x̄)</vt:lpstr>
      <vt:lpstr>Mean (x̄)</vt:lpstr>
      <vt:lpstr>Mean (x̄)</vt:lpstr>
      <vt:lpstr>Mean (x̄)</vt:lpstr>
      <vt:lpstr>PowerPoint Presentation</vt:lpstr>
      <vt:lpstr>Reframing with Scales of Measurement</vt:lpstr>
      <vt:lpstr>Reframing with Scales of Measurement</vt:lpstr>
      <vt:lpstr>Reframing with Scales of Measurement</vt:lpstr>
      <vt:lpstr>Reframing with Scales of Measurement</vt:lpstr>
      <vt:lpstr>Stats Problem Generator</vt:lpstr>
      <vt:lpstr>PowerPoint Presentation</vt:lpstr>
      <vt:lpstr>The Problem with Central Tendency</vt:lpstr>
      <vt:lpstr>Variability in Participant Scores</vt:lpstr>
      <vt:lpstr>Variability in Participant Scores</vt:lpstr>
      <vt:lpstr>Variability in Distributions</vt:lpstr>
      <vt:lpstr>Variability in Distributions</vt:lpstr>
      <vt:lpstr>Choosing a Measure of Variability</vt:lpstr>
      <vt:lpstr>PowerPoint Presentation</vt:lpstr>
      <vt:lpstr>PowerPoint Presentation</vt:lpstr>
      <vt:lpstr>PowerPoint Presentation</vt:lpstr>
      <vt:lpstr>PowerPoint Presentation</vt:lpstr>
      <vt:lpstr>Nominal, Mode, and Variability</vt:lpstr>
      <vt:lpstr>PowerPoint Presentation</vt:lpstr>
      <vt:lpstr>Ordinal/Score, Median/Mean, and Variability</vt:lpstr>
      <vt:lpstr>Ordinal/Score, Median/Mean, and Variability</vt:lpstr>
      <vt:lpstr>Ordinal/Score, Median/Mean, and Variability</vt:lpstr>
      <vt:lpstr>PowerPoint Presentation</vt:lpstr>
      <vt:lpstr>Ordinal/Score, Median/Mean, and Variability</vt:lpstr>
      <vt:lpstr>Ordinal/Score, Median/Mean, and Variability</vt:lpstr>
      <vt:lpstr>Ordinal/Score, Median/Mean, and Variability</vt:lpstr>
      <vt:lpstr>Ordinal/Score, Median/Mean, and Variability</vt:lpstr>
      <vt:lpstr>Ordinal/Score, Median/Mean, and Variability</vt:lpstr>
      <vt:lpstr>Ordinal/Score, Median/Mean, and Variability</vt:lpstr>
      <vt:lpstr>PowerPoint Presentation</vt:lpstr>
      <vt:lpstr>Deviations</vt:lpstr>
      <vt:lpstr>Ordinal, Median, and Variability</vt:lpstr>
      <vt:lpstr>Ordinal, Median, and Variability</vt:lpstr>
      <vt:lpstr>Ordinal, Median, and Variability</vt:lpstr>
      <vt:lpstr>Ordinal, Median, and Variability</vt:lpstr>
      <vt:lpstr>Ordinal, Median, and Variability</vt:lpstr>
      <vt:lpstr>Ordinal, Median, and Variability</vt:lpstr>
      <vt:lpstr>Ordinal, Median, and Variability</vt:lpstr>
      <vt:lpstr>Note: Table with correct decimal usage</vt:lpstr>
      <vt:lpstr>PowerPoint Presentation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Note: Table with correct decimal usage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Interval/Ratio, Mean, and Variability</vt:lpstr>
      <vt:lpstr>Standard Deviation</vt:lpstr>
      <vt:lpstr>PowerPoint Presentation</vt:lpstr>
      <vt:lpstr>Reframing with Scales of Measurement</vt:lpstr>
      <vt:lpstr>PowerPoint Presentation</vt:lpstr>
      <vt:lpstr>PowerPoint Presentation</vt:lpstr>
      <vt:lpstr>Skewed Distributions</vt:lpstr>
      <vt:lpstr>Skewed Distributions</vt:lpstr>
      <vt:lpstr>Skewed Distributions</vt:lpstr>
      <vt:lpstr>Skewed Distributions</vt:lpstr>
      <vt:lpstr>Outliers and Central Tendency</vt:lpstr>
      <vt:lpstr>Outliers and Central Tendency</vt:lpstr>
      <vt:lpstr>Skewed Distributions</vt:lpstr>
      <vt:lpstr>Skewed Distributions</vt:lpstr>
      <vt:lpstr>Skewed Distributions</vt:lpstr>
      <vt:lpstr>PowerPoint Presentation</vt:lpstr>
      <vt:lpstr>PowerPoint Presentation</vt:lpstr>
      <vt:lpstr>Reporting Descriptive Statistics</vt:lpstr>
      <vt:lpstr>Reporting Descriptive Statistics</vt:lpstr>
      <vt:lpstr>PowerPoint Presentation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Tendency</dc:title>
  <dc:creator>Microsoft Office User</dc:creator>
  <cp:lastModifiedBy>Chad Williams</cp:lastModifiedBy>
  <cp:revision>105</cp:revision>
  <dcterms:created xsi:type="dcterms:W3CDTF">2021-05-12T17:37:53Z</dcterms:created>
  <dcterms:modified xsi:type="dcterms:W3CDTF">2026-08-17T19:28:45Z</dcterms:modified>
</cp:coreProperties>
</file>