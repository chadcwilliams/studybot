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80" r:id="rId3"/>
    <p:sldId id="317" r:id="rId4"/>
    <p:sldId id="321" r:id="rId5"/>
    <p:sldId id="320" r:id="rId6"/>
    <p:sldId id="281" r:id="rId7"/>
    <p:sldId id="282" r:id="rId8"/>
    <p:sldId id="283" r:id="rId9"/>
    <p:sldId id="284" r:id="rId10"/>
    <p:sldId id="289" r:id="rId11"/>
    <p:sldId id="290" r:id="rId12"/>
    <p:sldId id="445" r:id="rId13"/>
    <p:sldId id="291" r:id="rId14"/>
    <p:sldId id="292" r:id="rId15"/>
    <p:sldId id="293" r:id="rId16"/>
    <p:sldId id="294" r:id="rId17"/>
    <p:sldId id="351" r:id="rId18"/>
    <p:sldId id="353" r:id="rId19"/>
    <p:sldId id="352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4" r:id="rId29"/>
    <p:sldId id="305" r:id="rId30"/>
    <p:sldId id="306" r:id="rId31"/>
    <p:sldId id="307" r:id="rId32"/>
    <p:sldId id="355" r:id="rId33"/>
    <p:sldId id="349" r:id="rId34"/>
    <p:sldId id="322" r:id="rId35"/>
    <p:sldId id="309" r:id="rId36"/>
    <p:sldId id="455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8" r:id="rId45"/>
    <p:sldId id="323" r:id="rId46"/>
    <p:sldId id="358" r:id="rId47"/>
    <p:sldId id="446" r:id="rId48"/>
    <p:sldId id="451" r:id="rId49"/>
    <p:sldId id="449" r:id="rId50"/>
    <p:sldId id="450" r:id="rId51"/>
    <p:sldId id="447" r:id="rId52"/>
    <p:sldId id="333" r:id="rId53"/>
    <p:sldId id="341" r:id="rId54"/>
    <p:sldId id="362" r:id="rId55"/>
    <p:sldId id="327" r:id="rId56"/>
    <p:sldId id="334" r:id="rId57"/>
    <p:sldId id="331" r:id="rId58"/>
    <p:sldId id="336" r:id="rId59"/>
    <p:sldId id="452" r:id="rId60"/>
    <p:sldId id="338" r:id="rId61"/>
    <p:sldId id="454" r:id="rId62"/>
    <p:sldId id="453" r:id="rId63"/>
    <p:sldId id="364" r:id="rId64"/>
    <p:sldId id="332" r:id="rId65"/>
    <p:sldId id="456" r:id="rId66"/>
    <p:sldId id="457" r:id="rId67"/>
    <p:sldId id="350" r:id="rId68"/>
    <p:sldId id="444" r:id="rId69"/>
    <p:sldId id="442" r:id="rId70"/>
    <p:sldId id="365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ADEC"/>
    <a:srgbClr val="EA8201"/>
    <a:srgbClr val="A6CEE3"/>
    <a:srgbClr val="2078B4"/>
    <a:srgbClr val="777676"/>
    <a:srgbClr val="BBB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B0FDD8-D897-4E58-A764-7184B338D110}" v="4" dt="2026-08-20T19:50:33.6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6327"/>
  </p:normalViewPr>
  <p:slideViewPr>
    <p:cSldViewPr snapToGrid="0" snapToObjects="1">
      <p:cViewPr varScale="1">
        <p:scale>
          <a:sx n="120" d="100"/>
          <a:sy n="120" d="100"/>
        </p:scale>
        <p:origin x="100" y="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d Williams" userId="618f96a3-8672-4e43-ae03-eeed93bb7387" providerId="ADAL" clId="{DFF2BB08-185E-495B-B2A0-BE0942C7B81E}"/>
    <pc:docChg chg="undo redo custSel addSld delSld modSld sldOrd">
      <pc:chgData name="Chad Williams" userId="618f96a3-8672-4e43-ae03-eeed93bb7387" providerId="ADAL" clId="{DFF2BB08-185E-495B-B2A0-BE0942C7B81E}" dt="2026-08-20T19:50:33.602" v="2602" actId="20577"/>
      <pc:docMkLst>
        <pc:docMk/>
      </pc:docMkLst>
      <pc:sldChg chg="modSp">
        <pc:chgData name="Chad Williams" userId="618f96a3-8672-4e43-ae03-eeed93bb7387" providerId="ADAL" clId="{DFF2BB08-185E-495B-B2A0-BE0942C7B81E}" dt="2026-08-20T19:50:33.602" v="2602" actId="20577"/>
        <pc:sldMkLst>
          <pc:docMk/>
          <pc:sldMk cId="345713893" sldId="332"/>
        </pc:sldMkLst>
        <pc:spChg chg="mod">
          <ac:chgData name="Chad Williams" userId="618f96a3-8672-4e43-ae03-eeed93bb7387" providerId="ADAL" clId="{DFF2BB08-185E-495B-B2A0-BE0942C7B81E}" dt="2026-08-20T19:50:33.602" v="2602" actId="20577"/>
          <ac:spMkLst>
            <pc:docMk/>
            <pc:sldMk cId="345713893" sldId="332"/>
            <ac:spMk id="3" creationId="{221A716B-1823-E84A-8F45-3B67ABA40B95}"/>
          </ac:spMkLst>
        </pc:spChg>
      </pc:sldChg>
      <pc:sldChg chg="modSp mod">
        <pc:chgData name="Chad Williams" userId="618f96a3-8672-4e43-ae03-eeed93bb7387" providerId="ADAL" clId="{DFF2BB08-185E-495B-B2A0-BE0942C7B81E}" dt="2026-08-20T19:42:01.030" v="2411" actId="732"/>
        <pc:sldMkLst>
          <pc:docMk/>
          <pc:sldMk cId="2131856382" sldId="333"/>
        </pc:sldMkLst>
        <pc:picChg chg="mod modCrop">
          <ac:chgData name="Chad Williams" userId="618f96a3-8672-4e43-ae03-eeed93bb7387" providerId="ADAL" clId="{DFF2BB08-185E-495B-B2A0-BE0942C7B81E}" dt="2026-08-20T19:42:01.030" v="2411" actId="732"/>
          <ac:picMkLst>
            <pc:docMk/>
            <pc:sldMk cId="2131856382" sldId="333"/>
            <ac:picMk id="5" creationId="{BB665DD8-8391-6D4C-A0A1-4F8A10D8E360}"/>
          </ac:picMkLst>
        </pc:picChg>
      </pc:sldChg>
      <pc:sldChg chg="addSp delSp modSp mod">
        <pc:chgData name="Chad Williams" userId="618f96a3-8672-4e43-ae03-eeed93bb7387" providerId="ADAL" clId="{DFF2BB08-185E-495B-B2A0-BE0942C7B81E}" dt="2026-08-17T19:27:34.511" v="2410" actId="167"/>
        <pc:sldMkLst>
          <pc:docMk/>
          <pc:sldMk cId="3234599986" sldId="442"/>
        </pc:sldMkLst>
        <pc:picChg chg="add mod ord">
          <ac:chgData name="Chad Williams" userId="618f96a3-8672-4e43-ae03-eeed93bb7387" providerId="ADAL" clId="{DFF2BB08-185E-495B-B2A0-BE0942C7B81E}" dt="2026-08-17T19:27:34.511" v="2410" actId="167"/>
          <ac:picMkLst>
            <pc:docMk/>
            <pc:sldMk cId="3234599986" sldId="442"/>
            <ac:picMk id="4" creationId="{33293351-8008-E1CB-4F15-4A555B653623}"/>
          </ac:picMkLst>
        </pc:picChg>
      </pc:sldChg>
      <pc:sldChg chg="addSp delSp modSp new mod">
        <pc:chgData name="Chad Williams" userId="618f96a3-8672-4e43-ae03-eeed93bb7387" providerId="ADAL" clId="{DFF2BB08-185E-495B-B2A0-BE0942C7B81E}" dt="2026-08-20T19:48:18.050" v="2601" actId="478"/>
        <pc:sldMkLst>
          <pc:docMk/>
          <pc:sldMk cId="1235191717" sldId="456"/>
        </pc:sldMkLst>
        <pc:spChg chg="mod">
          <ac:chgData name="Chad Williams" userId="618f96a3-8672-4e43-ae03-eeed93bb7387" providerId="ADAL" clId="{DFF2BB08-185E-495B-B2A0-BE0942C7B81E}" dt="2026-08-20T19:42:38.200" v="2419" actId="20577"/>
          <ac:spMkLst>
            <pc:docMk/>
            <pc:sldMk cId="1235191717" sldId="456"/>
            <ac:spMk id="2" creationId="{5E138042-C2C3-EB57-4F86-7056A00691F7}"/>
          </ac:spMkLst>
        </pc:spChg>
        <pc:spChg chg="del">
          <ac:chgData name="Chad Williams" userId="618f96a3-8672-4e43-ae03-eeed93bb7387" providerId="ADAL" clId="{DFF2BB08-185E-495B-B2A0-BE0942C7B81E}" dt="2026-08-20T19:42:44.588" v="2421" actId="478"/>
          <ac:spMkLst>
            <pc:docMk/>
            <pc:sldMk cId="1235191717" sldId="456"/>
            <ac:spMk id="3" creationId="{CF8654CC-F0B9-C600-E0A6-BC963497BD87}"/>
          </ac:spMkLst>
        </pc:spChg>
        <pc:spChg chg="add mod">
          <ac:chgData name="Chad Williams" userId="618f96a3-8672-4e43-ae03-eeed93bb7387" providerId="ADAL" clId="{DFF2BB08-185E-495B-B2A0-BE0942C7B81E}" dt="2026-08-20T19:47:26.781" v="2593" actId="14100"/>
          <ac:spMkLst>
            <pc:docMk/>
            <pc:sldMk cId="1235191717" sldId="456"/>
            <ac:spMk id="6" creationId="{0931E615-6EC2-D070-B18A-CFBFED401F42}"/>
          </ac:spMkLst>
        </pc:spChg>
        <pc:spChg chg="add del mod">
          <ac:chgData name="Chad Williams" userId="618f96a3-8672-4e43-ae03-eeed93bb7387" providerId="ADAL" clId="{DFF2BB08-185E-495B-B2A0-BE0942C7B81E}" dt="2026-08-20T19:48:18.050" v="2601" actId="478"/>
          <ac:spMkLst>
            <pc:docMk/>
            <pc:sldMk cId="1235191717" sldId="456"/>
            <ac:spMk id="8" creationId="{EB218275-38AF-EA6E-EDF9-2F0BDEDC58BB}"/>
          </ac:spMkLst>
        </pc:spChg>
        <pc:spChg chg="add del mod">
          <ac:chgData name="Chad Williams" userId="618f96a3-8672-4e43-ae03-eeed93bb7387" providerId="ADAL" clId="{DFF2BB08-185E-495B-B2A0-BE0942C7B81E}" dt="2026-08-20T19:48:18.050" v="2601" actId="478"/>
          <ac:spMkLst>
            <pc:docMk/>
            <pc:sldMk cId="1235191717" sldId="456"/>
            <ac:spMk id="10" creationId="{E041F29D-5713-685B-B7D5-43E3D840E667}"/>
          </ac:spMkLst>
        </pc:spChg>
        <pc:spChg chg="add del mod">
          <ac:chgData name="Chad Williams" userId="618f96a3-8672-4e43-ae03-eeed93bb7387" providerId="ADAL" clId="{DFF2BB08-185E-495B-B2A0-BE0942C7B81E}" dt="2026-08-20T19:47:28.267" v="2594" actId="478"/>
          <ac:spMkLst>
            <pc:docMk/>
            <pc:sldMk cId="1235191717" sldId="456"/>
            <ac:spMk id="12" creationId="{24DC72FC-A631-06D4-9672-4D233E61B3AD}"/>
          </ac:spMkLst>
        </pc:spChg>
        <pc:spChg chg="add del mod">
          <ac:chgData name="Chad Williams" userId="618f96a3-8672-4e43-ae03-eeed93bb7387" providerId="ADAL" clId="{DFF2BB08-185E-495B-B2A0-BE0942C7B81E}" dt="2026-08-20T19:48:18.050" v="2601" actId="478"/>
          <ac:spMkLst>
            <pc:docMk/>
            <pc:sldMk cId="1235191717" sldId="456"/>
            <ac:spMk id="14" creationId="{21D0552E-38A0-6C0F-5411-681B9CCC0945}"/>
          </ac:spMkLst>
        </pc:spChg>
        <pc:spChg chg="add del mod">
          <ac:chgData name="Chad Williams" userId="618f96a3-8672-4e43-ae03-eeed93bb7387" providerId="ADAL" clId="{DFF2BB08-185E-495B-B2A0-BE0942C7B81E}" dt="2026-08-20T19:48:18.050" v="2601" actId="478"/>
          <ac:spMkLst>
            <pc:docMk/>
            <pc:sldMk cId="1235191717" sldId="456"/>
            <ac:spMk id="16" creationId="{CF7708DE-288F-36B0-8219-2E71F8C823A5}"/>
          </ac:spMkLst>
        </pc:spChg>
        <pc:picChg chg="add mod">
          <ac:chgData name="Chad Williams" userId="618f96a3-8672-4e43-ae03-eeed93bb7387" providerId="ADAL" clId="{DFF2BB08-185E-495B-B2A0-BE0942C7B81E}" dt="2026-08-20T19:42:51.624" v="2424" actId="1076"/>
          <ac:picMkLst>
            <pc:docMk/>
            <pc:sldMk cId="1235191717" sldId="456"/>
            <ac:picMk id="5" creationId="{F9046296-5381-843A-689A-3472C37CD472}"/>
          </ac:picMkLst>
        </pc:picChg>
      </pc:sldChg>
      <pc:sldChg chg="add modAnim">
        <pc:chgData name="Chad Williams" userId="618f96a3-8672-4e43-ae03-eeed93bb7387" providerId="ADAL" clId="{DFF2BB08-185E-495B-B2A0-BE0942C7B81E}" dt="2026-08-20T19:48:13.514" v="2600"/>
        <pc:sldMkLst>
          <pc:docMk/>
          <pc:sldMk cId="3720748267" sldId="4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5E937-18BF-434D-91DF-6CEE7F50F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E707E0-184C-BD4E-AAD6-D2893C7B6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12376-C42F-6A4C-8A15-27BE567F2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E2E7E-5975-ED4F-B95F-6A49A7383F7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74000-3217-7447-92BE-5F8BF764A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EEFA9-C603-AC4F-A64B-494B6068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F1CF-4B63-E847-84C6-8C44D40CE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99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C44FF-6FD8-C749-85BA-7EB6EEF96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235C0-7DA1-0540-A6D0-A9B9665F6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9D1F7-B2C7-BD42-AFDD-F34277116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E2E7E-5975-ED4F-B95F-6A49A7383F7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0DDDC-8DE1-FA4E-9DE3-F5A60DB16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66BDA-5DAF-3345-8196-0075ED2E2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F1CF-4B63-E847-84C6-8C44D40CE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90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2A0A3-82E8-8741-B732-1E3A89846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B256C-1849-C043-9874-394848339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E1573-0178-2946-A11E-33CEAE76B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E2E7E-5975-ED4F-B95F-6A49A7383F7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FAA1E-7FC7-6544-8D44-1BB2FF90F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33959-FFF3-2F4E-8BC7-12BF9B153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F1CF-4B63-E847-84C6-8C44D40CE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48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C703F-89D7-D544-98FC-9481D955E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47041-7F34-9742-9D67-5DA4BBEC73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C5D10-293B-2043-BF62-C877DE2DA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F1BCA-A219-C741-9F3F-F987FCCE9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E2E7E-5975-ED4F-B95F-6A49A7383F7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40CA5B-C65B-A54A-9423-BC5591718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A15AC-3112-4542-B0DF-951D46CA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F1CF-4B63-E847-84C6-8C44D40CE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48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6D603-6450-224F-980C-7CA42E92A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17A17-5F89-A64D-98E6-7D7B6166A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55BED5-C113-CC48-A0BC-7FD7C1410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EBA2D-AB3C-9240-B155-EF08453F33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660EEC-A0B3-6D47-923B-FDFBBD740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EFD23F-D653-7249-8710-89D9343CE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E2E7E-5975-ED4F-B95F-6A49A7383F7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01A410-53D1-774F-84C7-B2D30F8B4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19EA8C-C91C-C747-A6C0-4135F34F1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F1CF-4B63-E847-84C6-8C44D40CE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0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1EEBD-C6BF-904D-BFB9-F0FFC5B01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DB700-62D0-EF49-B051-F8EA000E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E2E7E-5975-ED4F-B95F-6A49A7383F7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3E58DF-02D4-3749-B541-7FD5BA22E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C46C0-0FD1-EA4C-8274-8F63D3039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F1CF-4B63-E847-84C6-8C44D40CE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69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84F222-55B1-A84D-B43D-A9D2DB61A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E2E7E-5975-ED4F-B95F-6A49A7383F7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02D91-F12C-4040-A626-C59BADC0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B1269-3A7D-E74B-95B5-A07083CA3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F1CF-4B63-E847-84C6-8C44D40CE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585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7ED5B-0308-514D-B625-5353CAD7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F8FB6-FB08-B740-880F-0E7FFF2DC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73073-54BD-B844-BE02-E3DCBC0F9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B86CF-2E34-884B-959F-0F3CF32C8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E2E7E-5975-ED4F-B95F-6A49A7383F7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ED0CD-10B7-864E-B6ED-2D96BFC80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8DA3D-A255-A44A-9959-B31D22010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F1CF-4B63-E847-84C6-8C44D40CE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49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702E5-4493-524A-9EFC-C4B3E3F04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324307-B1E2-4A49-A746-968608892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07283-79A9-0448-A89F-8854376D1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1C4A24-DABC-414C-A08B-2AC234CA7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E2E7E-5975-ED4F-B95F-6A49A7383F7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A5AF6-BBDA-F743-B084-B3E105C77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EB19F-6259-6449-9FA6-6A8603B0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F1CF-4B63-E847-84C6-8C44D40CE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15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F4A06-99F2-E041-A510-043C0E4CD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18B04A-D0D2-1947-9C09-291DD0297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74016-1563-EC42-AF09-A3444E023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E2E7E-5975-ED4F-B95F-6A49A7383F7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0073F-1383-174A-8836-12FAFC39F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56533-A84E-8848-A912-35573A31D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F1CF-4B63-E847-84C6-8C44D40CE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75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822482-E9AA-2741-9EF0-9E3B333CDB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2B1AD8-5E2C-1144-AD33-0282FB2F6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2F3CF-5FAF-2647-808B-E3E835504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E2E7E-5975-ED4F-B95F-6A49A7383F7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CCFC5-4F72-0741-918B-70601CDD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51CF2-70D9-8240-B019-8F8BB9C55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F1CF-4B63-E847-84C6-8C44D40CE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72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A06ADE-4A5E-D14B-9FC6-6B9251553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52CC1-4E50-164C-9342-55EEF678A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D06FE-B2D0-1F4D-80A0-9B3831BBF8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E2E7E-5975-ED4F-B95F-6A49A7383F7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51600-2B89-9947-9A0A-D769C90D1D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0FF99-0C40-AD4B-A0E6-2A5455AEC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9F1CF-4B63-E847-84C6-8C44D40CE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59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hyperlink" Target="https://youtu.be/qBigTkBLU6g?si=Yhdoe9k6PpY7JZa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Uysh0CbbRFE?si=-5iYIxrn7-mTYWDj" TargetMode="External"/><Relationship Id="rId5" Type="http://schemas.openxmlformats.org/officeDocument/2006/relationships/image" Target="../media/image25.png"/><Relationship Id="rId4" Type="http://schemas.openxmlformats.org/officeDocument/2006/relationships/hyperlink" Target="https://youtu.be/6hJGa4Zp62M?si=dqog9ztgTyK1v4d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4505-984A-784F-B784-AEBB8FD00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9315" y="1122363"/>
            <a:ext cx="6878304" cy="2387600"/>
          </a:xfrm>
        </p:spPr>
        <p:txBody>
          <a:bodyPr>
            <a:noAutofit/>
          </a:bodyPr>
          <a:lstStyle/>
          <a:p>
            <a:r>
              <a:rPr lang="en-US" sz="4800" b="1">
                <a:latin typeface="Calibri" panose="020F0502020204030204" pitchFamily="34" charset="0"/>
                <a:cs typeface="Calibri" panose="020F0502020204030204" pitchFamily="34" charset="0"/>
              </a:rPr>
              <a:t>Frequency </a:t>
            </a:r>
            <a:br>
              <a:rPr lang="en-US" sz="4800" b="1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800" b="1">
                <a:latin typeface="Calibri" panose="020F0502020204030204" pitchFamily="34" charset="0"/>
                <a:cs typeface="Calibri" panose="020F0502020204030204" pitchFamily="34" charset="0"/>
              </a:rPr>
              <a:t>Distributions</a:t>
            </a:r>
            <a:endParaRPr lang="en-US" sz="4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BDEC7-4CE5-0C42-AD2E-FA8453064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7187" y="3602038"/>
            <a:ext cx="6404813" cy="1655762"/>
          </a:xfrm>
        </p:spPr>
        <p:txBody>
          <a:bodyPr>
            <a:normAutofit/>
          </a:bodyPr>
          <a:lstStyle/>
          <a:p>
            <a:r>
              <a:rPr lang="en-US" sz="3600" dirty="0"/>
              <a:t>Chad Williams</a:t>
            </a:r>
          </a:p>
          <a:p>
            <a:r>
              <a:rPr lang="en-US" sz="2800" dirty="0"/>
              <a:t>University of Victoria</a:t>
            </a:r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93A07B0-5ED5-F74E-A1D2-DB896138B20F}"/>
              </a:ext>
            </a:extLst>
          </p:cNvPr>
          <p:cNvGrpSpPr/>
          <p:nvPr/>
        </p:nvGrpSpPr>
        <p:grpSpPr>
          <a:xfrm>
            <a:off x="1462829" y="602117"/>
            <a:ext cx="5458932" cy="5307690"/>
            <a:chOff x="1462829" y="602117"/>
            <a:chExt cx="5458932" cy="530769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1367C81-ADE9-1F41-8FEA-4AF5AD77BDCE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57A84D5C-C387-1D47-9772-854B66FD33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1AE5A16A-F773-0646-9683-42DD8F3889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6E9A222-DCDE-EB4E-839F-B23FEDA593F5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419066EF-2FB6-1F47-B4D8-42A849FE2AD4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0448620-62B4-4F4D-946A-BF7ACA620963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D410515-89AE-9540-8E50-AA444F8EC47A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09B93DB-C642-8A4B-85C0-D6AE3FB6D3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9158FB07-577C-1C48-BE6C-59B0CA0BB524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3095749-45C8-8A4A-979E-7C4B025D4FDF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1A4B310-E851-814F-9BAA-0DD6B54C5EB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DBCC1C8-A7F4-9D45-B58E-21EF51AE8B3F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E602794-B522-FC44-BC63-545173E3DBFC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76F9C99-A770-9E43-955D-38F4554386A4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5704A3B-D9E0-7D4E-B43D-C5BABAB8D583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9529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Frequency Distributions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Stem and Leaf Display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Tables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Figures</a:t>
            </a:r>
          </a:p>
        </p:txBody>
      </p:sp>
    </p:spTree>
    <p:extLst>
      <p:ext uri="{BB962C8B-B14F-4D97-AF65-F5344CB8AC3E}">
        <p14:creationId xmlns:p14="http://schemas.microsoft.com/office/powerpoint/2010/main" val="297783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CB1B6-F358-95AE-9C25-085045A54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827EB-3E07-38A4-13CD-C20A5E548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213295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If we </a:t>
            </a:r>
            <a:r>
              <a:rPr lang="en-US" b="1" u="sng" dirty="0"/>
              <a:t>do</a:t>
            </a:r>
            <a:r>
              <a:rPr lang="en-US" b="1" dirty="0"/>
              <a:t> any math more complex than addition or subtraction</a:t>
            </a:r>
          </a:p>
          <a:p>
            <a:pPr lvl="1"/>
            <a:r>
              <a:rPr lang="en-US" dirty="0"/>
              <a:t>e.g., multiplication, squaring</a:t>
            </a:r>
          </a:p>
          <a:p>
            <a:r>
              <a:rPr lang="en-US" dirty="0"/>
              <a:t>Computations should include 4 decimals</a:t>
            </a:r>
          </a:p>
          <a:p>
            <a:r>
              <a:rPr lang="en-US" dirty="0"/>
              <a:t>Report to 2 decimals</a:t>
            </a:r>
          </a:p>
          <a:p>
            <a:r>
              <a:rPr lang="en-US" dirty="0"/>
              <a:t>Exception: Report p-values to as many decimals as our tables provide us (Unit 3.1.)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If we </a:t>
            </a:r>
            <a:r>
              <a:rPr lang="en-US" b="1" u="sng" dirty="0"/>
              <a:t>do not </a:t>
            </a:r>
            <a:r>
              <a:rPr lang="en-US" b="1" dirty="0"/>
              <a:t>do any math more complex than addition or subtraction</a:t>
            </a:r>
          </a:p>
          <a:p>
            <a:r>
              <a:rPr lang="en-US" dirty="0"/>
              <a:t>Report the number of decimals as given</a:t>
            </a:r>
          </a:p>
          <a:p>
            <a:pPr lvl="1"/>
            <a:r>
              <a:rPr lang="en-US" dirty="0"/>
              <a:t>Whole numbers stay whole numbers (30 -&gt; 30)</a:t>
            </a:r>
          </a:p>
          <a:p>
            <a:pPr lvl="1"/>
            <a:r>
              <a:rPr lang="en-US" dirty="0"/>
              <a:t>Numbers with decimals keep those decimals (30.56 -&gt; 30.56)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8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Frequency Distributions</a:t>
            </a:r>
          </a:p>
          <a:p>
            <a:endParaRPr lang="en-US" sz="4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Stem and Leaf Display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Tables and Figures</a:t>
            </a:r>
          </a:p>
        </p:txBody>
      </p:sp>
    </p:spTree>
    <p:extLst>
      <p:ext uri="{BB962C8B-B14F-4D97-AF65-F5344CB8AC3E}">
        <p14:creationId xmlns:p14="http://schemas.microsoft.com/office/powerpoint/2010/main" val="2067393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607F7-47CB-A94A-834D-409D1E3A5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Data Summaries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416271B-A820-4D43-9FA4-3C63AEBF1F0F}"/>
              </a:ext>
            </a:extLst>
          </p:cNvPr>
          <p:cNvGrpSpPr/>
          <p:nvPr/>
        </p:nvGrpSpPr>
        <p:grpSpPr>
          <a:xfrm>
            <a:off x="6680200" y="1481540"/>
            <a:ext cx="5154132" cy="5011335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4BA9FB8-FF6E-EB47-8D59-3FF5819E854F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F6AF7B1F-90F8-1A41-AEA6-4C915EFF3A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2905A-C465-AE4B-A40F-E76E844094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64CCCF2-7918-5B47-8DC0-867AAFFC57C1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3233ACB7-A88A-224E-82BC-FB5B77A94E40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F2497FEB-F814-D442-A9A7-2F6B8E0FB772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807CD70-14DE-7C43-8E07-4D68ED9850C8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27327BB-BEFF-7046-B8E0-F1C76F0B8C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1D1178B-B4E3-904E-866E-1DD242D7B4A0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8F22998-8723-F04E-AC2E-D1F297788A00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DE07114-27A7-474C-A6F8-7A47F25A1301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2AA4A2B-5C65-A449-8CC1-A5DB63393C55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22AFC8E-5E0E-114D-80E4-13C9E8EC7986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C7EBDF3-8944-D544-B347-001FDC1793B1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739CC04-5D05-5248-8BB5-86AA61AD34ED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31E53B4-03C7-BE46-ACE6-90750F29F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3828" cy="4351338"/>
          </a:xfrm>
        </p:spPr>
        <p:txBody>
          <a:bodyPr/>
          <a:lstStyle/>
          <a:p>
            <a:r>
              <a:rPr lang="en-US" sz="4000" dirty="0"/>
              <a:t>Bring order out of chaos</a:t>
            </a:r>
          </a:p>
          <a:p>
            <a:r>
              <a:rPr lang="en-US" sz="4000" dirty="0"/>
              <a:t>Observe trends</a:t>
            </a:r>
          </a:p>
          <a:p>
            <a:r>
              <a:rPr lang="en-US" sz="4000" dirty="0"/>
              <a:t>Assist analyses</a:t>
            </a:r>
          </a:p>
          <a:p>
            <a:r>
              <a:rPr lang="en-US" sz="4000" dirty="0"/>
              <a:t>Communicate!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92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Visualization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A5DF2-E7BC-674B-993E-5E49C51ED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Statistical Summaries</a:t>
            </a:r>
            <a:r>
              <a:rPr lang="en-US" dirty="0"/>
              <a:t>: Simplifying data into interpretable metrics</a:t>
            </a:r>
          </a:p>
          <a:p>
            <a:r>
              <a:rPr lang="en-US" dirty="0"/>
              <a:t>Raw data is overwhelming and difficult to interpret</a:t>
            </a:r>
          </a:p>
          <a:p>
            <a:pPr lvl="1"/>
            <a:r>
              <a:rPr lang="en-US" dirty="0"/>
              <a:t>We can summarize the data below into things like averages, max and min, etc.</a:t>
            </a:r>
          </a:p>
          <a:p>
            <a:pPr lvl="1"/>
            <a:r>
              <a:rPr lang="en-US" dirty="0"/>
              <a:t>Average = 23.30</a:t>
            </a:r>
          </a:p>
          <a:p>
            <a:pPr lvl="1"/>
            <a:r>
              <a:rPr lang="en-US" dirty="0"/>
              <a:t>Min = 19, Max = 43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23680-5CBF-4F4C-88FE-F5B1C9956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27" y="4001294"/>
            <a:ext cx="11586346" cy="273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30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Visualization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A5DF2-E7BC-674B-993E-5E49C51ED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Statistical Summaries</a:t>
            </a:r>
            <a:r>
              <a:rPr lang="en-US" dirty="0"/>
              <a:t>: Simplifying data into interpretable metrics</a:t>
            </a:r>
          </a:p>
          <a:p>
            <a:r>
              <a:rPr lang="en-US" b="1" dirty="0"/>
              <a:t>BUT</a:t>
            </a:r>
            <a:r>
              <a:rPr lang="en-US" dirty="0"/>
              <a:t> summaries can be too simple as well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DF9F40-FABD-2847-8E3E-71EB0DA36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2817541"/>
            <a:ext cx="8001000" cy="1981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DEE2D9-D058-5B46-ABFF-5CC15B6BC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4798741"/>
            <a:ext cx="8001000" cy="212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11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A5DF2-E7BC-674B-993E-5E49C51ED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Visualization: </a:t>
            </a:r>
            <a:r>
              <a:rPr lang="en-US" dirty="0"/>
              <a:t>The method of showing data graphically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EA0799-B446-BA40-B4F4-C02C3EBC3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589" y="2440449"/>
            <a:ext cx="8372822" cy="19771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014E7C-21F4-5941-819F-F8222811E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751" y="3465499"/>
            <a:ext cx="7295249" cy="33131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AB6CFC-8EAB-0F4B-A40A-FC7DDA4B1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6327" y="1690688"/>
            <a:ext cx="2148962" cy="48447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F32B960-8AF2-6037-D9AC-91F779E2D208}"/>
              </a:ext>
            </a:extLst>
          </p:cNvPr>
          <p:cNvSpPr/>
          <p:nvPr/>
        </p:nvSpPr>
        <p:spPr>
          <a:xfrm>
            <a:off x="9808820" y="4658264"/>
            <a:ext cx="155275" cy="448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020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Distribution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EA0799-B446-BA40-B4F4-C02C3EBC3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04" y="1690688"/>
            <a:ext cx="8372822" cy="19771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AB6CFC-8EAB-0F4B-A40A-FC7DDA4B1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327" y="1690688"/>
            <a:ext cx="2148962" cy="4844758"/>
          </a:xfrm>
          <a:prstGeom prst="rect">
            <a:avLst/>
          </a:prstGeom>
        </p:spPr>
      </p:pic>
      <p:sp>
        <p:nvSpPr>
          <p:cNvPr id="8" name="Bent Arrow 7">
            <a:extLst>
              <a:ext uri="{FF2B5EF4-FFF2-40B4-BE49-F238E27FC236}">
                <a16:creationId xmlns:a16="http://schemas.microsoft.com/office/drawing/2014/main" id="{4C9F0276-6F79-C54F-A6E2-495045D14FDE}"/>
              </a:ext>
            </a:extLst>
          </p:cNvPr>
          <p:cNvSpPr/>
          <p:nvPr/>
        </p:nvSpPr>
        <p:spPr>
          <a:xfrm flipV="1">
            <a:off x="4386686" y="3667788"/>
            <a:ext cx="4721130" cy="1137425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EE59B2-9E5E-55E6-B65E-43E6C181570F}"/>
              </a:ext>
            </a:extLst>
          </p:cNvPr>
          <p:cNvSpPr/>
          <p:nvPr/>
        </p:nvSpPr>
        <p:spPr>
          <a:xfrm>
            <a:off x="9808820" y="4658264"/>
            <a:ext cx="155275" cy="448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72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A0989-5A5F-CC4A-ADD5-92E8C5079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FC30E3-63E1-B241-A826-455A03DA1075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721566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E754D5-544B-744F-BAD8-CCF41D89E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906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1</a:t>
            </a:r>
            <a:r>
              <a:rPr lang="en-US" dirty="0"/>
              <a:t>: Determine how many participants you have</a:t>
            </a:r>
          </a:p>
          <a:p>
            <a:pPr marL="0" indent="0">
              <a:buNone/>
            </a:pPr>
            <a:r>
              <a:rPr lang="en-US" b="1" dirty="0"/>
              <a:t>Step 2</a:t>
            </a:r>
            <a:r>
              <a:rPr lang="en-US" dirty="0"/>
              <a:t>: Sort data (lowest to highest)</a:t>
            </a:r>
          </a:p>
          <a:p>
            <a:pPr marL="0" indent="0">
              <a:buNone/>
            </a:pPr>
            <a:r>
              <a:rPr lang="en-US" b="1" dirty="0"/>
              <a:t>Step 3</a:t>
            </a:r>
            <a:r>
              <a:rPr lang="en-US" dirty="0"/>
              <a:t>: Count the </a:t>
            </a:r>
            <a:r>
              <a:rPr lang="en-US" b="1" dirty="0"/>
              <a:t>frequency </a:t>
            </a:r>
            <a:r>
              <a:rPr lang="en-US" dirty="0"/>
              <a:t>for each unique number</a:t>
            </a:r>
          </a:p>
          <a:p>
            <a:pPr marL="0" indent="0">
              <a:buNone/>
            </a:pPr>
            <a:r>
              <a:rPr lang="en-US" b="1" dirty="0"/>
              <a:t>Step 4</a:t>
            </a:r>
            <a:r>
              <a:rPr lang="en-US" dirty="0"/>
              <a:t>: Determine the </a:t>
            </a:r>
            <a:r>
              <a:rPr lang="en-US" b="1" dirty="0"/>
              <a:t>relative frequency </a:t>
            </a:r>
            <a:r>
              <a:rPr lang="en-US" dirty="0"/>
              <a:t>of each number</a:t>
            </a:r>
          </a:p>
          <a:p>
            <a:pPr marL="0" indent="0">
              <a:buNone/>
            </a:pPr>
            <a:r>
              <a:rPr lang="en-US" b="1" dirty="0"/>
              <a:t>Step 5: </a:t>
            </a:r>
            <a:r>
              <a:rPr lang="en-US" dirty="0"/>
              <a:t>Determine the </a:t>
            </a:r>
            <a:r>
              <a:rPr lang="en-US" b="1" dirty="0"/>
              <a:t>cumulative frequency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Step 6: </a:t>
            </a:r>
            <a:r>
              <a:rPr lang="en-US" dirty="0"/>
              <a:t>Determine the </a:t>
            </a:r>
            <a:r>
              <a:rPr lang="en-US" b="1" dirty="0"/>
              <a:t>cumulative</a:t>
            </a:r>
            <a:r>
              <a:rPr lang="en-US" dirty="0"/>
              <a:t> </a:t>
            </a:r>
            <a:r>
              <a:rPr lang="en-US" b="1" dirty="0"/>
              <a:t>relative frequency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F42863-7330-A042-8260-31E3540FFC95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618328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8CA3D-275E-3297-F780-4B1E210EC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A115C-3F61-D2E1-069F-CF37D30BB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0110CA-1325-DF0C-0716-1B6BDE971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906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1</a:t>
            </a:r>
            <a:r>
              <a:rPr lang="en-US" dirty="0"/>
              <a:t>: Determine how many participants you have</a:t>
            </a:r>
          </a:p>
          <a:p>
            <a:r>
              <a:rPr lang="en-US" dirty="0"/>
              <a:t>Depicted as </a:t>
            </a:r>
            <a:r>
              <a:rPr lang="en-US" b="1" i="1" dirty="0"/>
              <a:t>N </a:t>
            </a:r>
            <a:r>
              <a:rPr lang="en-US" dirty="0"/>
              <a:t>(sample size)</a:t>
            </a:r>
          </a:p>
          <a:p>
            <a:r>
              <a:rPr lang="en-US" i="1" dirty="0"/>
              <a:t>N</a:t>
            </a:r>
            <a:r>
              <a:rPr lang="en-US"/>
              <a:t> </a:t>
            </a:r>
            <a:r>
              <a:rPr lang="en-US" dirty="0"/>
              <a:t>= 10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31F0AB-FAE2-37D6-BF5C-23C4D0FF974A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20240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E754D5-544B-744F-BAD8-CCF41D89E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906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2</a:t>
            </a:r>
            <a:r>
              <a:rPr lang="en-US" dirty="0"/>
              <a:t>: Sort data (lowest to highest)</a:t>
            </a:r>
          </a:p>
          <a:p>
            <a:r>
              <a:rPr lang="en-US" dirty="0"/>
              <a:t>18, 19, 19, 19, 19, 20, 20, 20, 21, 25 </a:t>
            </a:r>
            <a:r>
              <a:rPr lang="en-US" b="1" dirty="0"/>
              <a:t>OR:</a:t>
            </a:r>
            <a:endParaRPr lang="en-US" dirty="0"/>
          </a:p>
          <a:p>
            <a:pPr lvl="1"/>
            <a:r>
              <a:rPr lang="en-US" dirty="0"/>
              <a:t>18</a:t>
            </a:r>
          </a:p>
          <a:p>
            <a:pPr lvl="1"/>
            <a:r>
              <a:rPr lang="en-US" dirty="0"/>
              <a:t>19, 19, 19, 19</a:t>
            </a:r>
          </a:p>
          <a:p>
            <a:pPr lvl="1"/>
            <a:r>
              <a:rPr lang="en-US" dirty="0"/>
              <a:t>20, 20, 20</a:t>
            </a:r>
          </a:p>
          <a:p>
            <a:pPr lvl="1"/>
            <a:r>
              <a:rPr lang="en-US" dirty="0"/>
              <a:t>21</a:t>
            </a:r>
          </a:p>
          <a:p>
            <a:pPr lvl="1"/>
            <a:r>
              <a:rPr lang="en-US" dirty="0"/>
              <a:t>25</a:t>
            </a:r>
          </a:p>
          <a:p>
            <a:r>
              <a:rPr lang="en-US" dirty="0"/>
              <a:t>Immediately helpful (e.g., lowest and highest age)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F42863-7330-A042-8260-31E3540FFC95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701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636002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5EAC10A2-754E-5B48-AC3C-FF722018F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882256"/>
              </p:ext>
            </p:extLst>
          </p:nvPr>
        </p:nvGraphicFramePr>
        <p:xfrm>
          <a:off x="8431064" y="1978024"/>
          <a:ext cx="3725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20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862620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</a:tblGrid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Freq.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482704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7299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F42863-7330-A042-8260-31E3540FFC95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E754D5-544B-744F-BAD8-CCF41D89E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9065"/>
            <a:ext cx="7991007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Step 3</a:t>
            </a:r>
            <a:r>
              <a:rPr lang="en-US" dirty="0"/>
              <a:t>: Count the </a:t>
            </a:r>
            <a:r>
              <a:rPr lang="en-US" b="1" dirty="0"/>
              <a:t>frequency </a:t>
            </a:r>
            <a:r>
              <a:rPr lang="en-US" dirty="0"/>
              <a:t>for each unique number</a:t>
            </a:r>
          </a:p>
          <a:p>
            <a:pPr lvl="1"/>
            <a:r>
              <a:rPr lang="en-US" b="1" dirty="0"/>
              <a:t>Frequency</a:t>
            </a:r>
            <a:r>
              <a:rPr lang="en-US" dirty="0"/>
              <a:t>: Number of samples in a category </a:t>
            </a:r>
          </a:p>
          <a:p>
            <a:r>
              <a:rPr lang="en-US" dirty="0"/>
              <a:t>18			-&gt; 1</a:t>
            </a:r>
          </a:p>
          <a:p>
            <a:r>
              <a:rPr lang="en-US" dirty="0"/>
              <a:t>19, 19, 19, 19	-&gt; 4</a:t>
            </a:r>
          </a:p>
          <a:p>
            <a:r>
              <a:rPr lang="en-US" dirty="0"/>
              <a:t>20, 20, 20		-&gt; 3</a:t>
            </a:r>
          </a:p>
          <a:p>
            <a:r>
              <a:rPr lang="en-US" dirty="0"/>
              <a:t>21			-&gt; 1</a:t>
            </a:r>
          </a:p>
          <a:p>
            <a:r>
              <a:rPr lang="en-US" dirty="0"/>
              <a:t>25			-&gt; 1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Note: </a:t>
            </a:r>
            <a:r>
              <a:rPr lang="en-US" dirty="0"/>
              <a:t>even those with 0 frequency are included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6CD9493-FE80-E846-8659-962F91E0B626}"/>
              </a:ext>
            </a:extLst>
          </p:cNvPr>
          <p:cNvCxnSpPr>
            <a:cxnSpLocks/>
          </p:cNvCxnSpPr>
          <p:nvPr/>
        </p:nvCxnSpPr>
        <p:spPr>
          <a:xfrm>
            <a:off x="4594302" y="4438185"/>
            <a:ext cx="3725239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11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F42863-7330-A042-8260-31E3540FFC95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5EAC10A2-754E-5B48-AC3C-FF722018F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698021"/>
              </p:ext>
            </p:extLst>
          </p:nvPr>
        </p:nvGraphicFramePr>
        <p:xfrm>
          <a:off x="7781544" y="1508344"/>
          <a:ext cx="4255557" cy="5349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519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418519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  <a:gridCol w="1418519">
                  <a:extLst>
                    <a:ext uri="{9D8B030D-6E8A-4147-A177-3AD203B41FA5}">
                      <a16:colId xmlns:a16="http://schemas.microsoft.com/office/drawing/2014/main" val="735229582"/>
                    </a:ext>
                  </a:extLst>
                </a:gridCol>
              </a:tblGrid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Rel. Freq.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0.30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482704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7299"/>
                  </a:ext>
                </a:extLst>
              </a:tr>
            </a:tbl>
          </a:graphicData>
        </a:graphic>
      </p:graphicFrame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86BC99E-B080-8E4F-A6E7-D73EFE380223}"/>
              </a:ext>
            </a:extLst>
          </p:cNvPr>
          <p:cNvSpPr/>
          <p:nvPr/>
        </p:nvSpPr>
        <p:spPr>
          <a:xfrm>
            <a:off x="8226826" y="5261547"/>
            <a:ext cx="1876544" cy="42898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E754D5-544B-744F-BAD8-CCF41D89E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79065"/>
            <a:ext cx="712573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4</a:t>
            </a:r>
            <a:r>
              <a:rPr lang="en-US" dirty="0"/>
              <a:t>: Determine the </a:t>
            </a:r>
            <a:r>
              <a:rPr lang="en-US" b="1" dirty="0"/>
              <a:t>relative frequency </a:t>
            </a:r>
            <a:r>
              <a:rPr lang="en-US" dirty="0"/>
              <a:t>of each number</a:t>
            </a:r>
          </a:p>
          <a:p>
            <a:pPr lvl="1"/>
            <a:r>
              <a:rPr lang="en-US" b="1" dirty="0"/>
              <a:t>Relative Frequency</a:t>
            </a:r>
            <a:r>
              <a:rPr lang="en-US" dirty="0"/>
              <a:t>: Proportion of samples in a category</a:t>
            </a:r>
          </a:p>
          <a:p>
            <a:r>
              <a:rPr lang="en-US" dirty="0"/>
              <a:t>Rel. Freq. = frequency </a:t>
            </a:r>
            <a:r>
              <a:rPr lang="en-US"/>
              <a:t>/ N</a:t>
            </a:r>
            <a:endParaRPr lang="en-US" dirty="0"/>
          </a:p>
          <a:p>
            <a:r>
              <a:rPr lang="en-US" dirty="0"/>
              <a:t>E.g., for the frequency of age 20:</a:t>
            </a:r>
          </a:p>
          <a:p>
            <a:pPr lvl="1"/>
            <a:r>
              <a:rPr lang="en-US" dirty="0"/>
              <a:t>3/10 = 0.30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642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F42863-7330-A042-8260-31E3540FFC95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E754D5-544B-744F-BAD8-CCF41D89E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9065"/>
            <a:ext cx="7119551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4</a:t>
            </a:r>
            <a:r>
              <a:rPr lang="en-US" dirty="0"/>
              <a:t>: Determine the </a:t>
            </a:r>
            <a:r>
              <a:rPr lang="en-US" b="1" dirty="0"/>
              <a:t>relative frequency </a:t>
            </a:r>
            <a:r>
              <a:rPr lang="en-US" dirty="0"/>
              <a:t>of each number</a:t>
            </a:r>
          </a:p>
          <a:p>
            <a:pPr lvl="1"/>
            <a:r>
              <a:rPr lang="en-US" b="1" dirty="0"/>
              <a:t>Relative Frequency</a:t>
            </a:r>
            <a:r>
              <a:rPr lang="en-US" dirty="0"/>
              <a:t>: Proportion of samples in a category</a:t>
            </a:r>
          </a:p>
          <a:p>
            <a:r>
              <a:rPr lang="en-US" dirty="0"/>
              <a:t>Rel. Freq. = frequency / N</a:t>
            </a:r>
          </a:p>
          <a:p>
            <a:r>
              <a:rPr lang="en-US" dirty="0"/>
              <a:t>E.g., for the frequency of age 20:</a:t>
            </a:r>
          </a:p>
          <a:p>
            <a:pPr lvl="1"/>
            <a:r>
              <a:rPr lang="en-US" dirty="0"/>
              <a:t>3/10 = 0.30</a:t>
            </a:r>
          </a:p>
          <a:p>
            <a:pPr lvl="1"/>
            <a:endParaRPr lang="en-US" dirty="0"/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6CBF5E0B-0504-424E-BB29-B887B8F54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869180"/>
              </p:ext>
            </p:extLst>
          </p:nvPr>
        </p:nvGraphicFramePr>
        <p:xfrm>
          <a:off x="7781544" y="1508344"/>
          <a:ext cx="4255557" cy="5349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519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418519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  <a:gridCol w="1418519">
                  <a:extLst>
                    <a:ext uri="{9D8B030D-6E8A-4147-A177-3AD203B41FA5}">
                      <a16:colId xmlns:a16="http://schemas.microsoft.com/office/drawing/2014/main" val="735229582"/>
                    </a:ext>
                  </a:extLst>
                </a:gridCol>
              </a:tblGrid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Rel. Freq.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0.30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0.40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482704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7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775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9C26B-D372-C122-7359-7DC0AC1E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EB97CB-5578-C55C-6F9D-56BD5461C223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396FA-ECA5-65F8-7070-135F5B37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D1025D26-6960-91B8-E3F8-ED34AEF5D16A}"/>
              </a:ext>
            </a:extLst>
          </p:cNvPr>
          <p:cNvGraphicFramePr>
            <a:graphicFrameLocks noGrp="1"/>
          </p:cNvGraphicFramePr>
          <p:nvPr/>
        </p:nvGraphicFramePr>
        <p:xfrm>
          <a:off x="7781544" y="1508344"/>
          <a:ext cx="4255557" cy="5349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519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418519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  <a:gridCol w="1418519">
                  <a:extLst>
                    <a:ext uri="{9D8B030D-6E8A-4147-A177-3AD203B41FA5}">
                      <a16:colId xmlns:a16="http://schemas.microsoft.com/office/drawing/2014/main" val="735229582"/>
                    </a:ext>
                  </a:extLst>
                </a:gridCol>
              </a:tblGrid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Rel. Freq.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0.30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0.40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482704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7299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74C574F-9248-DB03-35BC-E67C32236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9065"/>
            <a:ext cx="7811125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4</a:t>
            </a:r>
            <a:r>
              <a:rPr lang="en-US" dirty="0"/>
              <a:t>: Determine the </a:t>
            </a:r>
            <a:r>
              <a:rPr lang="en-US" b="1" dirty="0"/>
              <a:t>relative frequency </a:t>
            </a:r>
            <a:r>
              <a:rPr lang="en-US" dirty="0"/>
              <a:t>of each number</a:t>
            </a:r>
          </a:p>
          <a:p>
            <a:r>
              <a:rPr lang="en-US" dirty="0"/>
              <a:t>Note that relative frequencies are </a:t>
            </a:r>
            <a:r>
              <a:rPr lang="en-US" b="1" i="1" dirty="0"/>
              <a:t>proportions</a:t>
            </a:r>
          </a:p>
          <a:p>
            <a:r>
              <a:rPr lang="en-US" dirty="0"/>
              <a:t>We’ll be using proportions </a:t>
            </a:r>
            <a:r>
              <a:rPr lang="en-US" b="1" dirty="0"/>
              <a:t>a lot </a:t>
            </a:r>
            <a:r>
              <a:rPr lang="en-US" dirty="0"/>
              <a:t>in this course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38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886DC-AA9B-94DB-1243-A04957062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FD2E7C-FC68-B117-6B12-29B7B54978AF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951991-2ACB-062C-0035-72A2CE878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10235745-F6DB-87F9-449E-E426FAA377B5}"/>
              </a:ext>
            </a:extLst>
          </p:cNvPr>
          <p:cNvGraphicFramePr>
            <a:graphicFrameLocks noGrp="1"/>
          </p:cNvGraphicFramePr>
          <p:nvPr/>
        </p:nvGraphicFramePr>
        <p:xfrm>
          <a:off x="7781544" y="1508344"/>
          <a:ext cx="4255557" cy="5349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519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418519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  <a:gridCol w="1418519">
                  <a:extLst>
                    <a:ext uri="{9D8B030D-6E8A-4147-A177-3AD203B41FA5}">
                      <a16:colId xmlns:a16="http://schemas.microsoft.com/office/drawing/2014/main" val="735229582"/>
                    </a:ext>
                  </a:extLst>
                </a:gridCol>
              </a:tblGrid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Rel. Freq.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0.30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0.40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482704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7299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E3C216-30F8-D02F-D3E1-FC4C6DDA6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9065"/>
            <a:ext cx="7811125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4</a:t>
            </a:r>
            <a:r>
              <a:rPr lang="en-US" dirty="0"/>
              <a:t>: Determine the </a:t>
            </a:r>
            <a:r>
              <a:rPr lang="en-US" b="1" dirty="0"/>
              <a:t>relative frequency </a:t>
            </a:r>
            <a:r>
              <a:rPr lang="en-US" dirty="0"/>
              <a:t>of each number</a:t>
            </a:r>
          </a:p>
          <a:p>
            <a:r>
              <a:rPr lang="en-US" dirty="0"/>
              <a:t>Proportions are percentages divided by 100</a:t>
            </a:r>
          </a:p>
          <a:p>
            <a:pPr lvl="1"/>
            <a:r>
              <a:rPr lang="en-US" dirty="0"/>
              <a:t>Proportions range from 0 to 1</a:t>
            </a:r>
          </a:p>
          <a:p>
            <a:pPr lvl="1"/>
            <a:r>
              <a:rPr lang="en-US" dirty="0"/>
              <a:t>0.10 proportion = 10%</a:t>
            </a:r>
          </a:p>
          <a:p>
            <a:r>
              <a:rPr lang="en-US" dirty="0"/>
              <a:t>Percentages are proportions times 100</a:t>
            </a:r>
          </a:p>
          <a:p>
            <a:pPr lvl="1"/>
            <a:r>
              <a:rPr lang="en-US" dirty="0"/>
              <a:t>Percentages range from 0 to 100</a:t>
            </a:r>
          </a:p>
          <a:p>
            <a:pPr lvl="1"/>
            <a:r>
              <a:rPr lang="en-US" dirty="0"/>
              <a:t>40% = 0.40 proportion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59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DE889-B077-1F55-827E-974D11299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9AD2882-6C42-934B-E1C9-8AB9386B342B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F6945C-41E2-F7E6-C35E-8E546015F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F58F5FE-D743-0BFE-E15D-90D8B6A93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9065"/>
            <a:ext cx="7811125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4</a:t>
            </a:r>
            <a:r>
              <a:rPr lang="en-US" dirty="0"/>
              <a:t>: Determine the </a:t>
            </a:r>
            <a:r>
              <a:rPr lang="en-US" b="1" dirty="0"/>
              <a:t>relative frequency </a:t>
            </a:r>
            <a:r>
              <a:rPr lang="en-US" dirty="0"/>
              <a:t>of each number</a:t>
            </a:r>
          </a:p>
          <a:p>
            <a:r>
              <a:rPr lang="en-US" dirty="0"/>
              <a:t>Proportions are percentages divided by 100</a:t>
            </a:r>
          </a:p>
          <a:p>
            <a:pPr lvl="1"/>
            <a:r>
              <a:rPr lang="en-US" dirty="0"/>
              <a:t>Proportions range from 0 to 1</a:t>
            </a:r>
          </a:p>
          <a:p>
            <a:pPr lvl="1"/>
            <a:r>
              <a:rPr lang="en-US" dirty="0"/>
              <a:t>0.10 proportion = 10%</a:t>
            </a:r>
          </a:p>
          <a:p>
            <a:r>
              <a:rPr lang="en-US" dirty="0"/>
              <a:t>Percentages are proportions times 100</a:t>
            </a:r>
          </a:p>
          <a:p>
            <a:pPr lvl="1"/>
            <a:r>
              <a:rPr lang="en-US" dirty="0"/>
              <a:t>Percentages range from 0 to 100</a:t>
            </a:r>
          </a:p>
          <a:p>
            <a:pPr lvl="1"/>
            <a:r>
              <a:rPr lang="en-US" dirty="0"/>
              <a:t>40% = 0.40 proportion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C5A3FA5-53F4-E0C4-2B34-0B416A3D900E}"/>
              </a:ext>
            </a:extLst>
          </p:cNvPr>
          <p:cNvSpPr/>
          <p:nvPr/>
        </p:nvSpPr>
        <p:spPr>
          <a:xfrm>
            <a:off x="8411200" y="1657662"/>
            <a:ext cx="3542675" cy="3542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0E71236-F089-9B7E-77A0-473B7B9FA72C}"/>
              </a:ext>
            </a:extLst>
          </p:cNvPr>
          <p:cNvSpPr/>
          <p:nvPr/>
        </p:nvSpPr>
        <p:spPr>
          <a:xfrm>
            <a:off x="10182225" y="1466850"/>
            <a:ext cx="1866900" cy="1981200"/>
          </a:xfrm>
          <a:custGeom>
            <a:avLst/>
            <a:gdLst>
              <a:gd name="connsiteX0" fmla="*/ 0 w 1866900"/>
              <a:gd name="connsiteY0" fmla="*/ 66675 h 1981200"/>
              <a:gd name="connsiteX1" fmla="*/ 0 w 1866900"/>
              <a:gd name="connsiteY1" fmla="*/ 1981200 h 1981200"/>
              <a:gd name="connsiteX2" fmla="*/ 1866900 w 1866900"/>
              <a:gd name="connsiteY2" fmla="*/ 1981200 h 1981200"/>
              <a:gd name="connsiteX3" fmla="*/ 1657350 w 1866900"/>
              <a:gd name="connsiteY3" fmla="*/ 0 h 1981200"/>
              <a:gd name="connsiteX4" fmla="*/ 0 w 1866900"/>
              <a:gd name="connsiteY4" fmla="*/ 66675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6900" h="1981200">
                <a:moveTo>
                  <a:pt x="0" y="66675"/>
                </a:moveTo>
                <a:lnTo>
                  <a:pt x="0" y="1981200"/>
                </a:lnTo>
                <a:lnTo>
                  <a:pt x="1866900" y="1981200"/>
                </a:lnTo>
                <a:lnTo>
                  <a:pt x="1657350" y="0"/>
                </a:lnTo>
                <a:lnTo>
                  <a:pt x="0" y="66675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742DCD-16FC-41BA-2823-C0CE3C198684}"/>
              </a:ext>
            </a:extLst>
          </p:cNvPr>
          <p:cNvSpPr txBox="1"/>
          <p:nvPr/>
        </p:nvSpPr>
        <p:spPr>
          <a:xfrm>
            <a:off x="8863325" y="2872859"/>
            <a:ext cx="1223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75%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6F28E7-8F6C-9119-2718-9297AA97DE4D}"/>
              </a:ext>
            </a:extLst>
          </p:cNvPr>
          <p:cNvSpPr txBox="1"/>
          <p:nvPr/>
        </p:nvSpPr>
        <p:spPr>
          <a:xfrm>
            <a:off x="8882375" y="3448050"/>
            <a:ext cx="1223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0.75</a:t>
            </a:r>
          </a:p>
        </p:txBody>
      </p:sp>
    </p:spTree>
    <p:extLst>
      <p:ext uri="{BB962C8B-B14F-4D97-AF65-F5344CB8AC3E}">
        <p14:creationId xmlns:p14="http://schemas.microsoft.com/office/powerpoint/2010/main" val="141344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F42863-7330-A042-8260-31E3540FFC95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E754D5-544B-744F-BAD8-CCF41D89E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9065"/>
            <a:ext cx="5908589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5: </a:t>
            </a:r>
            <a:r>
              <a:rPr lang="en-US" dirty="0"/>
              <a:t>Determine the </a:t>
            </a:r>
            <a:r>
              <a:rPr lang="en-US" b="1" dirty="0"/>
              <a:t>cumulative frequency</a:t>
            </a:r>
          </a:p>
          <a:p>
            <a:pPr lvl="1"/>
            <a:r>
              <a:rPr lang="en-US" b="1" dirty="0"/>
              <a:t>Cumulative frequency</a:t>
            </a:r>
            <a:r>
              <a:rPr lang="en-US" dirty="0"/>
              <a:t>: Number of samples in this category and in all categories </a:t>
            </a:r>
            <a:r>
              <a:rPr lang="en-US" i="1" dirty="0"/>
              <a:t>below</a:t>
            </a:r>
            <a:r>
              <a:rPr lang="en-US" dirty="0"/>
              <a:t> this one</a:t>
            </a:r>
          </a:p>
          <a:p>
            <a:r>
              <a:rPr lang="en-US" dirty="0"/>
              <a:t>Goes from </a:t>
            </a:r>
            <a:r>
              <a:rPr lang="en-US" b="1" dirty="0"/>
              <a:t>bottom to top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18 has 1 person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28B928EF-ABB6-3146-9E00-87FFA2ACF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958386"/>
              </p:ext>
            </p:extLst>
          </p:nvPr>
        </p:nvGraphicFramePr>
        <p:xfrm>
          <a:off x="6442561" y="1690011"/>
          <a:ext cx="5594540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635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398635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  <a:gridCol w="1398635">
                  <a:extLst>
                    <a:ext uri="{9D8B030D-6E8A-4147-A177-3AD203B41FA5}">
                      <a16:colId xmlns:a16="http://schemas.microsoft.com/office/drawing/2014/main" val="735229582"/>
                    </a:ext>
                  </a:extLst>
                </a:gridCol>
                <a:gridCol w="1398635">
                  <a:extLst>
                    <a:ext uri="{9D8B030D-6E8A-4147-A177-3AD203B41FA5}">
                      <a16:colId xmlns:a16="http://schemas.microsoft.com/office/drawing/2014/main" val="3838130553"/>
                    </a:ext>
                  </a:extLst>
                </a:gridCol>
              </a:tblGrid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Rel.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Freq.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0.40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482704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729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</p:spTree>
    <p:extLst>
      <p:ext uri="{BB962C8B-B14F-4D97-AF65-F5344CB8AC3E}">
        <p14:creationId xmlns:p14="http://schemas.microsoft.com/office/powerpoint/2010/main" val="2075143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F42863-7330-A042-8260-31E3540FFC95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E754D5-544B-744F-BAD8-CCF41D89E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9065"/>
            <a:ext cx="5894172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5: </a:t>
            </a:r>
            <a:r>
              <a:rPr lang="en-US" dirty="0"/>
              <a:t>Determine the </a:t>
            </a:r>
            <a:r>
              <a:rPr lang="en-US" b="1" dirty="0"/>
              <a:t>cumulative frequency</a:t>
            </a:r>
          </a:p>
          <a:p>
            <a:pPr lvl="1"/>
            <a:r>
              <a:rPr lang="en-US" b="1" dirty="0"/>
              <a:t>Cumulative frequency</a:t>
            </a:r>
            <a:r>
              <a:rPr lang="en-US" dirty="0"/>
              <a:t>: Number of samples in this category and in all categories </a:t>
            </a:r>
            <a:r>
              <a:rPr lang="en-US" i="1" dirty="0"/>
              <a:t>below</a:t>
            </a:r>
            <a:r>
              <a:rPr lang="en-US" dirty="0"/>
              <a:t> this one</a:t>
            </a:r>
          </a:p>
          <a:p>
            <a:r>
              <a:rPr lang="en-US" dirty="0"/>
              <a:t>Goes from </a:t>
            </a:r>
            <a:r>
              <a:rPr lang="en-US" b="1" dirty="0"/>
              <a:t>bottom to top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19 has 4 people and 18 has 1 person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28B928EF-ABB6-3146-9E00-87FFA2ACF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884470"/>
              </p:ext>
            </p:extLst>
          </p:nvPr>
        </p:nvGraphicFramePr>
        <p:xfrm>
          <a:off x="6442561" y="1690011"/>
          <a:ext cx="5594540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635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398635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  <a:gridCol w="1398635">
                  <a:extLst>
                    <a:ext uri="{9D8B030D-6E8A-4147-A177-3AD203B41FA5}">
                      <a16:colId xmlns:a16="http://schemas.microsoft.com/office/drawing/2014/main" val="735229582"/>
                    </a:ext>
                  </a:extLst>
                </a:gridCol>
                <a:gridCol w="1398635">
                  <a:extLst>
                    <a:ext uri="{9D8B030D-6E8A-4147-A177-3AD203B41FA5}">
                      <a16:colId xmlns:a16="http://schemas.microsoft.com/office/drawing/2014/main" val="3838130553"/>
                    </a:ext>
                  </a:extLst>
                </a:gridCol>
              </a:tblGrid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Rel.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Freq.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0.40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482704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729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</p:spTree>
    <p:extLst>
      <p:ext uri="{BB962C8B-B14F-4D97-AF65-F5344CB8AC3E}">
        <p14:creationId xmlns:p14="http://schemas.microsoft.com/office/powerpoint/2010/main" val="3750993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F42863-7330-A042-8260-31E3540FFC95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E754D5-544B-744F-BAD8-CCF41D89E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9065"/>
            <a:ext cx="5894172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5: </a:t>
            </a:r>
            <a:r>
              <a:rPr lang="en-US" dirty="0"/>
              <a:t>Determine the </a:t>
            </a:r>
            <a:r>
              <a:rPr lang="en-US" b="1" dirty="0"/>
              <a:t>cumulative frequency</a:t>
            </a:r>
          </a:p>
          <a:p>
            <a:pPr lvl="1"/>
            <a:r>
              <a:rPr lang="en-US" b="1" dirty="0"/>
              <a:t>Cumulative frequency</a:t>
            </a:r>
            <a:r>
              <a:rPr lang="en-US" dirty="0"/>
              <a:t>: Number of samples in this category and in all categories </a:t>
            </a:r>
            <a:r>
              <a:rPr lang="en-US" i="1" dirty="0"/>
              <a:t>below</a:t>
            </a:r>
            <a:r>
              <a:rPr lang="en-US" dirty="0"/>
              <a:t> this one</a:t>
            </a:r>
          </a:p>
          <a:p>
            <a:r>
              <a:rPr lang="en-US" dirty="0"/>
              <a:t>Goes from </a:t>
            </a:r>
            <a:r>
              <a:rPr lang="en-US" b="1" dirty="0"/>
              <a:t>bottom to top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19 has 4 people and 18 has 1 person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28B928EF-ABB6-3146-9E00-87FFA2ACF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027714"/>
              </p:ext>
            </p:extLst>
          </p:nvPr>
        </p:nvGraphicFramePr>
        <p:xfrm>
          <a:off x="6442561" y="1690011"/>
          <a:ext cx="5594540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635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398635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  <a:gridCol w="1398635">
                  <a:extLst>
                    <a:ext uri="{9D8B030D-6E8A-4147-A177-3AD203B41FA5}">
                      <a16:colId xmlns:a16="http://schemas.microsoft.com/office/drawing/2014/main" val="735229582"/>
                    </a:ext>
                  </a:extLst>
                </a:gridCol>
                <a:gridCol w="1398635">
                  <a:extLst>
                    <a:ext uri="{9D8B030D-6E8A-4147-A177-3AD203B41FA5}">
                      <a16:colId xmlns:a16="http://schemas.microsoft.com/office/drawing/2014/main" val="3838130553"/>
                    </a:ext>
                  </a:extLst>
                </a:gridCol>
              </a:tblGrid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Rel.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Freq.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0.40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482704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729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</p:spTree>
    <p:extLst>
      <p:ext uri="{BB962C8B-B14F-4D97-AF65-F5344CB8AC3E}">
        <p14:creationId xmlns:p14="http://schemas.microsoft.com/office/powerpoint/2010/main" val="2182654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F42863-7330-A042-8260-31E3540FFC95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28B928EF-ABB6-3146-9E00-87FFA2ACF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560640"/>
              </p:ext>
            </p:extLst>
          </p:nvPr>
        </p:nvGraphicFramePr>
        <p:xfrm>
          <a:off x="5644335" y="1395254"/>
          <a:ext cx="6547665" cy="551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533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735229582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3838130553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198736771"/>
                    </a:ext>
                  </a:extLst>
                </a:gridCol>
              </a:tblGrid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Rel.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Rel. Freq.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0.40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482704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729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E754D5-544B-744F-BAD8-CCF41D89E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9065"/>
            <a:ext cx="5185719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6: </a:t>
            </a:r>
            <a:r>
              <a:rPr lang="en-US" dirty="0"/>
              <a:t>Determine the </a:t>
            </a:r>
            <a:r>
              <a:rPr lang="en-US" b="1" dirty="0"/>
              <a:t>cumulative</a:t>
            </a:r>
            <a:r>
              <a:rPr lang="en-US" dirty="0"/>
              <a:t> </a:t>
            </a:r>
            <a:r>
              <a:rPr lang="en-US" b="1" dirty="0"/>
              <a:t>relative frequency</a:t>
            </a:r>
          </a:p>
          <a:p>
            <a:pPr lvl="1"/>
            <a:r>
              <a:rPr lang="en-US" b="1" dirty="0"/>
              <a:t>Cumulative relative frequency</a:t>
            </a:r>
            <a:r>
              <a:rPr lang="en-US" dirty="0"/>
              <a:t>: Proportion of samples in this category and in all categories </a:t>
            </a:r>
            <a:r>
              <a:rPr lang="en-US" i="1" dirty="0"/>
              <a:t>below</a:t>
            </a:r>
            <a:r>
              <a:rPr lang="en-US" dirty="0"/>
              <a:t> this one</a:t>
            </a:r>
          </a:p>
          <a:p>
            <a:r>
              <a:rPr lang="en-US" dirty="0"/>
              <a:t>Goes from </a:t>
            </a:r>
            <a:r>
              <a:rPr lang="en-US" b="1" dirty="0"/>
              <a:t>bottom to top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18 has 0.10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15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F42863-7330-A042-8260-31E3540FFC95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E754D5-544B-744F-BAD8-CCF41D89E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9065"/>
            <a:ext cx="5130114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6: </a:t>
            </a:r>
            <a:r>
              <a:rPr lang="en-US" dirty="0"/>
              <a:t>Determine the </a:t>
            </a:r>
            <a:r>
              <a:rPr lang="en-US" b="1" dirty="0"/>
              <a:t>cumulative</a:t>
            </a:r>
            <a:r>
              <a:rPr lang="en-US" dirty="0"/>
              <a:t> </a:t>
            </a:r>
            <a:r>
              <a:rPr lang="en-US" b="1" dirty="0"/>
              <a:t>relative frequency</a:t>
            </a:r>
          </a:p>
          <a:p>
            <a:pPr lvl="1"/>
            <a:r>
              <a:rPr lang="en-US" b="1" dirty="0"/>
              <a:t>Cumulative relative frequency</a:t>
            </a:r>
            <a:r>
              <a:rPr lang="en-US" dirty="0"/>
              <a:t>: Proportion of samples in this category and in all categories </a:t>
            </a:r>
            <a:r>
              <a:rPr lang="en-US" i="1" dirty="0"/>
              <a:t>below</a:t>
            </a:r>
            <a:r>
              <a:rPr lang="en-US" dirty="0"/>
              <a:t> this one</a:t>
            </a:r>
          </a:p>
          <a:p>
            <a:r>
              <a:rPr lang="en-US" dirty="0"/>
              <a:t>Goes from </a:t>
            </a:r>
            <a:r>
              <a:rPr lang="en-US" b="1" dirty="0"/>
              <a:t>bottom to top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19 has 0.40 and 18 has 0.10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28B928EF-ABB6-3146-9E00-87FFA2ACF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727994"/>
              </p:ext>
            </p:extLst>
          </p:nvPr>
        </p:nvGraphicFramePr>
        <p:xfrm>
          <a:off x="5644335" y="1395254"/>
          <a:ext cx="6547665" cy="551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533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735229582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3838130553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198736771"/>
                    </a:ext>
                  </a:extLst>
                </a:gridCol>
              </a:tblGrid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Rel.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</a:t>
                      </a:r>
                    </a:p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Rel. Freq.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0.40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0.50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482704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729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</p:spTree>
    <p:extLst>
      <p:ext uri="{BB962C8B-B14F-4D97-AF65-F5344CB8AC3E}">
        <p14:creationId xmlns:p14="http://schemas.microsoft.com/office/powerpoint/2010/main" val="395289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F42863-7330-A042-8260-31E3540FFC95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E754D5-544B-744F-BAD8-CCF41D89E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9065"/>
            <a:ext cx="5161005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6: </a:t>
            </a:r>
            <a:r>
              <a:rPr lang="en-US" dirty="0"/>
              <a:t>Determine the </a:t>
            </a:r>
            <a:r>
              <a:rPr lang="en-US" b="1" dirty="0"/>
              <a:t>cumulative</a:t>
            </a:r>
            <a:r>
              <a:rPr lang="en-US" dirty="0"/>
              <a:t> </a:t>
            </a:r>
            <a:r>
              <a:rPr lang="en-US" b="1" dirty="0"/>
              <a:t>relative frequency</a:t>
            </a:r>
          </a:p>
          <a:p>
            <a:pPr lvl="1"/>
            <a:r>
              <a:rPr lang="en-US" b="1" dirty="0"/>
              <a:t>Cumulative relative frequency</a:t>
            </a:r>
            <a:r>
              <a:rPr lang="en-US" dirty="0"/>
              <a:t>: Proportion of samples in this category and in all categories </a:t>
            </a:r>
            <a:r>
              <a:rPr lang="en-US" i="1" dirty="0"/>
              <a:t>below</a:t>
            </a:r>
            <a:r>
              <a:rPr lang="en-US" dirty="0"/>
              <a:t> this one</a:t>
            </a:r>
          </a:p>
          <a:p>
            <a:r>
              <a:rPr lang="en-US" dirty="0"/>
              <a:t>Goes from </a:t>
            </a:r>
            <a:r>
              <a:rPr lang="en-US" b="1" dirty="0"/>
              <a:t>bottom to top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19 has 0.40 and 18 has 0.10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28B928EF-ABB6-3146-9E00-87FFA2ACF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506504"/>
              </p:ext>
            </p:extLst>
          </p:nvPr>
        </p:nvGraphicFramePr>
        <p:xfrm>
          <a:off x="5644335" y="1395254"/>
          <a:ext cx="6547665" cy="551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533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735229582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3838130553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198736771"/>
                    </a:ext>
                  </a:extLst>
                </a:gridCol>
              </a:tblGrid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Rel.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Rel. Freq.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1.00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0.80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0.40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0.50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482704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729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</p:spTree>
    <p:extLst>
      <p:ext uri="{BB962C8B-B14F-4D97-AF65-F5344CB8AC3E}">
        <p14:creationId xmlns:p14="http://schemas.microsoft.com/office/powerpoint/2010/main" val="377925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342C0-3154-3140-9EE1-DECED1D9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382EF3D7-9A67-994A-8E62-B3B9B3552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572" y="1413164"/>
            <a:ext cx="5454143" cy="54448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01BAEA-1019-EC44-93DB-2351F2956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059905">
            <a:off x="114254" y="3644887"/>
            <a:ext cx="6228148" cy="109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5362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F42863-7330-A042-8260-31E3540FFC95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E754D5-544B-744F-BAD8-CCF41D89E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9065"/>
            <a:ext cx="497092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Now, this summarizes data well while still providing lots of information</a:t>
            </a:r>
          </a:p>
          <a:p>
            <a:r>
              <a:rPr lang="en-US" dirty="0"/>
              <a:t>Minimum + Maximum age</a:t>
            </a:r>
          </a:p>
          <a:p>
            <a:r>
              <a:rPr lang="en-US" dirty="0"/>
              <a:t>The most common age</a:t>
            </a:r>
          </a:p>
          <a:p>
            <a:r>
              <a:rPr lang="en-US" dirty="0"/>
              <a:t>That one student is (slightly) older than the rest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28B928EF-ABB6-3146-9E00-87FFA2ACF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16166"/>
              </p:ext>
            </p:extLst>
          </p:nvPr>
        </p:nvGraphicFramePr>
        <p:xfrm>
          <a:off x="5644335" y="1395254"/>
          <a:ext cx="6547665" cy="551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533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735229582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3838130553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198736771"/>
                    </a:ext>
                  </a:extLst>
                </a:gridCol>
              </a:tblGrid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Rel.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Rel. Freq.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1.00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0.80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0.40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0.50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482704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729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</p:spTree>
    <p:extLst>
      <p:ext uri="{BB962C8B-B14F-4D97-AF65-F5344CB8AC3E}">
        <p14:creationId xmlns:p14="http://schemas.microsoft.com/office/powerpoint/2010/main" val="197303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F42863-7330-A042-8260-31E3540FFC95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28B928EF-ABB6-3146-9E00-87FFA2ACF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26082"/>
              </p:ext>
            </p:extLst>
          </p:nvPr>
        </p:nvGraphicFramePr>
        <p:xfrm>
          <a:off x="5644335" y="1395254"/>
          <a:ext cx="6547665" cy="551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533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735229582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3838130553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198736771"/>
                    </a:ext>
                  </a:extLst>
                </a:gridCol>
              </a:tblGrid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Rel.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Rel. Freq.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1.00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0.80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0.40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0.50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482704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729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  <p:pic>
        <p:nvPicPr>
          <p:cNvPr id="11" name="Picture 10" descr="Chart, histogram&#10;&#10;Description automatically generated">
            <a:extLst>
              <a:ext uri="{FF2B5EF4-FFF2-40B4-BE49-F238E27FC236}">
                <a16:creationId xmlns:a16="http://schemas.microsoft.com/office/drawing/2014/main" id="{86F4CAEC-5ED3-8B44-825D-DAE02DD0A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410609"/>
            <a:ext cx="5491935" cy="444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090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F42863-7330-A042-8260-31E3540FFC95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28B928EF-ABB6-3146-9E00-87FFA2ACF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57286"/>
              </p:ext>
            </p:extLst>
          </p:nvPr>
        </p:nvGraphicFramePr>
        <p:xfrm>
          <a:off x="5644335" y="1395254"/>
          <a:ext cx="6547665" cy="551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533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735229582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3838130553"/>
                    </a:ext>
                  </a:extLst>
                </a:gridCol>
                <a:gridCol w="1309533">
                  <a:extLst>
                    <a:ext uri="{9D8B030D-6E8A-4147-A177-3AD203B41FA5}">
                      <a16:colId xmlns:a16="http://schemas.microsoft.com/office/drawing/2014/main" val="198736771"/>
                    </a:ext>
                  </a:extLst>
                </a:gridCol>
              </a:tblGrid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Rel.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Rel. Freq.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1.00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0.80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0.40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0.50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482704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729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0BF2CC-73F9-AA48-BC68-6107A3746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906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Grouped Intervals: </a:t>
            </a:r>
            <a:r>
              <a:rPr lang="en-US" dirty="0"/>
              <a:t>We can combine multiple categories of the variable</a:t>
            </a:r>
          </a:p>
          <a:p>
            <a:r>
              <a:rPr lang="en-US" dirty="0"/>
              <a:t>For example, age can be</a:t>
            </a:r>
          </a:p>
          <a:p>
            <a:pPr lvl="1"/>
            <a:r>
              <a:rPr lang="en-US" dirty="0"/>
              <a:t>0-4</a:t>
            </a:r>
          </a:p>
          <a:p>
            <a:pPr lvl="1"/>
            <a:r>
              <a:rPr lang="en-US" dirty="0"/>
              <a:t>5-9</a:t>
            </a:r>
          </a:p>
          <a:p>
            <a:pPr lvl="1"/>
            <a:r>
              <a:rPr lang="en-US" dirty="0"/>
              <a:t>10-14</a:t>
            </a:r>
          </a:p>
          <a:p>
            <a:pPr lvl="1"/>
            <a:r>
              <a:rPr lang="en-US" dirty="0"/>
              <a:t>15-19</a:t>
            </a:r>
          </a:p>
          <a:p>
            <a:pPr lvl="1"/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62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F42863-7330-A042-8260-31E3540FFC95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0BF2CC-73F9-AA48-BC68-6107A3746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906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Grouped Intervals</a:t>
            </a:r>
          </a:p>
          <a:p>
            <a:r>
              <a:rPr lang="en-US" dirty="0"/>
              <a:t>For a grouped interval frequency distribution, follow the same 6 steps but by combining the numbers that fall in the same group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502BBA6F-494F-6B48-B37E-BC9AE564E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170572"/>
              </p:ext>
            </p:extLst>
          </p:nvPr>
        </p:nvGraphicFramePr>
        <p:xfrm>
          <a:off x="6934200" y="2288148"/>
          <a:ext cx="5257800" cy="344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73522958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83813055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98736771"/>
                    </a:ext>
                  </a:extLst>
                </a:gridCol>
              </a:tblGrid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Rel.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Rel. Freq.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24-25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1.00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22-23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20-21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0.40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18-19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0.50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0.50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7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1327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F42863-7330-A042-8260-31E3540FFC95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28B928EF-ABB6-3146-9E00-87FFA2ACF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198977"/>
              </p:ext>
            </p:extLst>
          </p:nvPr>
        </p:nvGraphicFramePr>
        <p:xfrm>
          <a:off x="6934200" y="2288148"/>
          <a:ext cx="5257800" cy="344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73522958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83813055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98736771"/>
                    </a:ext>
                  </a:extLst>
                </a:gridCol>
              </a:tblGrid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Rel.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Rel. Freq.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24-25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1.00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22-23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20-21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0.40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18-19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0.50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0.50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729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0BF2CC-73F9-AA48-BC68-6107A3746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679065"/>
            <a:ext cx="631074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Grouped Intervals</a:t>
            </a:r>
            <a:endParaRPr lang="en-US" dirty="0"/>
          </a:p>
          <a:p>
            <a:r>
              <a:rPr lang="en-US" b="1" dirty="0"/>
              <a:t>Interval width</a:t>
            </a:r>
            <a:r>
              <a:rPr lang="en-US" dirty="0"/>
              <a:t>: The size of the range that we will use to combine values</a:t>
            </a:r>
          </a:p>
          <a:p>
            <a:pPr lvl="1"/>
            <a:r>
              <a:rPr lang="en-US" b="1" dirty="0"/>
              <a:t>Width of 10</a:t>
            </a:r>
            <a:r>
              <a:rPr lang="en-US" dirty="0"/>
              <a:t>: 0-9, 10-19, 20-29</a:t>
            </a:r>
          </a:p>
          <a:p>
            <a:pPr lvl="1"/>
            <a:r>
              <a:rPr lang="en-US" b="1" dirty="0"/>
              <a:t>Width of 5</a:t>
            </a:r>
            <a:r>
              <a:rPr lang="en-US" dirty="0"/>
              <a:t>: 0-4, 5-9, 10-14</a:t>
            </a:r>
          </a:p>
          <a:p>
            <a:pPr lvl="1"/>
            <a:r>
              <a:rPr lang="en-US" b="1" dirty="0"/>
              <a:t>Width of 2</a:t>
            </a:r>
            <a:r>
              <a:rPr lang="en-US" dirty="0"/>
              <a:t>: 0-1, 2-3, 4-5</a:t>
            </a:r>
          </a:p>
          <a:p>
            <a:pPr lvl="1"/>
            <a:r>
              <a:rPr lang="en-US" i="1" dirty="0"/>
              <a:t>We choose </a:t>
            </a:r>
            <a:r>
              <a:rPr lang="en-US" dirty="0"/>
              <a:t>this number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498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A7F38-BE72-498D-2E70-83B3D5459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32E8F28-DAE6-FCA2-D23D-939C765108E5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20, 25, 18, 19, 20, 19, 21, 19, 19, 20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D0BF8849-9548-3C23-4E15-A8703F8179F8}"/>
              </a:ext>
            </a:extLst>
          </p:cNvPr>
          <p:cNvGraphicFramePr>
            <a:graphicFrameLocks noGrp="1"/>
          </p:cNvGraphicFramePr>
          <p:nvPr/>
        </p:nvGraphicFramePr>
        <p:xfrm>
          <a:off x="6934200" y="2288148"/>
          <a:ext cx="5257800" cy="344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73522958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83813055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98736771"/>
                    </a:ext>
                  </a:extLst>
                </a:gridCol>
              </a:tblGrid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Rel.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Rel. Freq.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24-25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1.00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22-23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20-21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0.40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18-19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0.50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0.50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729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07F5BAA-50C3-C4DA-A84A-D41FACB53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268616-784F-71F9-1CA5-0117A8B6E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679065"/>
            <a:ext cx="631074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Grouped Intervals</a:t>
            </a:r>
            <a:endParaRPr lang="en-US" dirty="0"/>
          </a:p>
          <a:p>
            <a:r>
              <a:rPr lang="en-US" dirty="0"/>
              <a:t>Intervals are equal in width</a:t>
            </a:r>
          </a:p>
          <a:p>
            <a:r>
              <a:rPr lang="en-US" dirty="0"/>
              <a:t>First value of each interval is a multiple of the interval width</a:t>
            </a:r>
          </a:p>
          <a:p>
            <a:pPr lvl="1"/>
            <a:r>
              <a:rPr lang="en-US" dirty="0"/>
              <a:t>E.g., if our interval width were 5 here, our first category would be 15-19</a:t>
            </a:r>
          </a:p>
          <a:p>
            <a:r>
              <a:rPr lang="en-US" dirty="0"/>
              <a:t>Lowest interval contains lowest datum</a:t>
            </a:r>
          </a:p>
          <a:p>
            <a:r>
              <a:rPr lang="en-US" dirty="0"/>
              <a:t>Highest interval contains highest datum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1A41-133C-3A40-9E59-42C98F1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Frequency Distribution</a:t>
            </a:r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292585C0-9352-8945-9DFD-F40FD860A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178880"/>
              </p:ext>
            </p:extLst>
          </p:nvPr>
        </p:nvGraphicFramePr>
        <p:xfrm>
          <a:off x="5982730" y="2440282"/>
          <a:ext cx="5257800" cy="344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73522958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83813055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98736771"/>
                    </a:ext>
                  </a:extLst>
                </a:gridCol>
              </a:tblGrid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Rel.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Freq.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Cum. Rel. Freq.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24-25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1.00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22-23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20-21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0.40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  <a:tr h="51381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18-19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0.50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0.50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7299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0BF2CC-73F9-AA48-BC68-6107A3746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12520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Grouped Intervals</a:t>
            </a:r>
            <a:endParaRPr lang="en-US" sz="3200" dirty="0"/>
          </a:p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7767AC-C051-7949-8157-ECE90A5CCAC8}"/>
              </a:ext>
            </a:extLst>
          </p:cNvPr>
          <p:cNvSpPr txBox="1"/>
          <p:nvPr/>
        </p:nvSpPr>
        <p:spPr>
          <a:xfrm>
            <a:off x="927004" y="6027003"/>
            <a:ext cx="98446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When grouped intervals are on a plot, we use </a:t>
            </a:r>
            <a:r>
              <a:rPr lang="en-US" sz="2400"/>
              <a:t>the </a:t>
            </a:r>
            <a:r>
              <a:rPr lang="en-US" sz="2400" b="1"/>
              <a:t>midpoint</a:t>
            </a:r>
            <a:r>
              <a:rPr lang="en-US" sz="2400"/>
              <a:t> </a:t>
            </a:r>
            <a:r>
              <a:rPr lang="en-US" sz="2400" dirty="0"/>
              <a:t>of each interval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Midpoint: (24+25)/2 = 24.5000 = 24.50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22E0E2-346A-E899-C428-5A571C3D1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24" y="2395822"/>
            <a:ext cx="5153857" cy="341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52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Frequency Distributions</a:t>
            </a:r>
          </a:p>
          <a:p>
            <a:endParaRPr lang="en-US" sz="4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Stem and Leaf Display</a:t>
            </a:r>
          </a:p>
          <a:p>
            <a:endParaRPr lang="en-US" sz="4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Tables and Figures</a:t>
            </a:r>
          </a:p>
        </p:txBody>
      </p:sp>
    </p:spTree>
    <p:extLst>
      <p:ext uri="{BB962C8B-B14F-4D97-AF65-F5344CB8AC3E}">
        <p14:creationId xmlns:p14="http://schemas.microsoft.com/office/powerpoint/2010/main" val="25108336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6DFE-D6BD-4D4D-90F8-2372F130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Stem and Leaf Display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142EFF-788F-8F40-A0E6-B158B1894B3D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598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12, 15, 16, 21, 22, 22, 24, 29, 30, 33, 33, 40, 60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339ED283-2DA6-AD4D-8822-8F736A660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836263"/>
              </p:ext>
            </p:extLst>
          </p:nvPr>
        </p:nvGraphicFramePr>
        <p:xfrm>
          <a:off x="7780960" y="1978025"/>
          <a:ext cx="3725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20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862620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</a:tblGrid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Stem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Leaf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E744CF5-A87F-B647-84C1-0E5948E2A8CC}"/>
              </a:ext>
            </a:extLst>
          </p:cNvPr>
          <p:cNvSpPr txBox="1">
            <a:spLocks/>
          </p:cNvSpPr>
          <p:nvPr/>
        </p:nvSpPr>
        <p:spPr>
          <a:xfrm>
            <a:off x="2847109" y="4930977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600" b="1" dirty="0"/>
              <a:t>12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509541-1F5C-F54B-A954-6F8174545642}"/>
              </a:ext>
            </a:extLst>
          </p:cNvPr>
          <p:cNvSpPr txBox="1">
            <a:spLocks/>
          </p:cNvSpPr>
          <p:nvPr/>
        </p:nvSpPr>
        <p:spPr>
          <a:xfrm>
            <a:off x="1267691" y="3404756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600" dirty="0"/>
              <a:t>Stem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 dirty="0"/>
              <a:t>(leading digit)</a:t>
            </a:r>
            <a:endParaRPr lang="en-US" sz="8800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6C6DE6-4A7C-1744-B7AF-95FBE0A64C76}"/>
              </a:ext>
            </a:extLst>
          </p:cNvPr>
          <p:cNvCxnSpPr/>
          <p:nvPr/>
        </p:nvCxnSpPr>
        <p:spPr>
          <a:xfrm>
            <a:off x="3893128" y="3116725"/>
            <a:ext cx="0" cy="36285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3643938-D095-C647-B743-0ECF225DD942}"/>
              </a:ext>
            </a:extLst>
          </p:cNvPr>
          <p:cNvSpPr txBox="1">
            <a:spLocks/>
          </p:cNvSpPr>
          <p:nvPr/>
        </p:nvSpPr>
        <p:spPr>
          <a:xfrm>
            <a:off x="3893128" y="3430156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600" dirty="0"/>
              <a:t>Leaf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 dirty="0"/>
              <a:t>(trailing digit)</a:t>
            </a:r>
            <a:endParaRPr lang="en-US" sz="8800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94046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9C8C4-E227-6F6F-9EA8-5E0ACA29C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EAEB8-7334-B15F-DCA7-E25E2A367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Stem and Leaf Display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2D8777A-CA17-08CF-10A5-B7EBF021310E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598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12, 15, 16, 21, 22, 22, 24, 29, 30, 33, 33, 40, 60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380EDB7F-C5E9-57AD-20D4-DD784D463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456942"/>
              </p:ext>
            </p:extLst>
          </p:nvPr>
        </p:nvGraphicFramePr>
        <p:xfrm>
          <a:off x="7780960" y="1978025"/>
          <a:ext cx="3725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20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862620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</a:tblGrid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Stem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Leaf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679D9AA-7AA4-004F-E624-0D6852A86290}"/>
              </a:ext>
            </a:extLst>
          </p:cNvPr>
          <p:cNvSpPr txBox="1">
            <a:spLocks/>
          </p:cNvSpPr>
          <p:nvPr/>
        </p:nvSpPr>
        <p:spPr>
          <a:xfrm>
            <a:off x="2847109" y="4930977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600" b="1" dirty="0"/>
              <a:t>12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EAA0B12-661A-CC18-B4B9-9619A970AFCE}"/>
              </a:ext>
            </a:extLst>
          </p:cNvPr>
          <p:cNvSpPr txBox="1">
            <a:spLocks/>
          </p:cNvSpPr>
          <p:nvPr/>
        </p:nvSpPr>
        <p:spPr>
          <a:xfrm>
            <a:off x="1267691" y="3404756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600" dirty="0"/>
              <a:t>Stem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 dirty="0"/>
              <a:t>(leading digit)</a:t>
            </a:r>
            <a:endParaRPr lang="en-US" sz="8800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79FD10-B5FA-C647-CCBA-E69AB4220090}"/>
              </a:ext>
            </a:extLst>
          </p:cNvPr>
          <p:cNvCxnSpPr/>
          <p:nvPr/>
        </p:nvCxnSpPr>
        <p:spPr>
          <a:xfrm>
            <a:off x="3893128" y="3116725"/>
            <a:ext cx="0" cy="36285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5C5DB6E-1418-6839-3890-B04D3295EA06}"/>
              </a:ext>
            </a:extLst>
          </p:cNvPr>
          <p:cNvSpPr txBox="1">
            <a:spLocks/>
          </p:cNvSpPr>
          <p:nvPr/>
        </p:nvSpPr>
        <p:spPr>
          <a:xfrm>
            <a:off x="3893128" y="3430156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600" dirty="0"/>
              <a:t>Leaf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 dirty="0"/>
              <a:t>(trailing digit)</a:t>
            </a:r>
            <a:endParaRPr lang="en-US" sz="8800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6910102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6DFE-D6BD-4D4D-90F8-2372F130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Stem and Leaf Display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142EFF-788F-8F40-A0E6-B158B1894B3D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598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12, 15, 16, 21, 22, 22, 24, 29, 30, 33, 33, 40, 60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339ED283-2DA6-AD4D-8822-8F736A660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35374"/>
              </p:ext>
            </p:extLst>
          </p:nvPr>
        </p:nvGraphicFramePr>
        <p:xfrm>
          <a:off x="7780960" y="1978025"/>
          <a:ext cx="3725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20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862620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</a:tblGrid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Stem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Leaf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E744CF5-A87F-B647-84C1-0E5948E2A8CC}"/>
              </a:ext>
            </a:extLst>
          </p:cNvPr>
          <p:cNvSpPr txBox="1">
            <a:spLocks/>
          </p:cNvSpPr>
          <p:nvPr/>
        </p:nvSpPr>
        <p:spPr>
          <a:xfrm>
            <a:off x="2847109" y="4930977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600" b="1" dirty="0"/>
              <a:t>12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509541-1F5C-F54B-A954-6F8174545642}"/>
              </a:ext>
            </a:extLst>
          </p:cNvPr>
          <p:cNvSpPr txBox="1">
            <a:spLocks/>
          </p:cNvSpPr>
          <p:nvPr/>
        </p:nvSpPr>
        <p:spPr>
          <a:xfrm>
            <a:off x="1267691" y="3404756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8800" dirty="0"/>
              <a:t>Stem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5276E12-1AF2-A945-9035-2D8302983FB9}"/>
              </a:ext>
            </a:extLst>
          </p:cNvPr>
          <p:cNvSpPr txBox="1">
            <a:spLocks/>
          </p:cNvSpPr>
          <p:nvPr/>
        </p:nvSpPr>
        <p:spPr>
          <a:xfrm>
            <a:off x="3865418" y="3429000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8800" dirty="0"/>
              <a:t>Leaf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6C6DE6-4A7C-1744-B7AF-95FBE0A64C76}"/>
              </a:ext>
            </a:extLst>
          </p:cNvPr>
          <p:cNvCxnSpPr/>
          <p:nvPr/>
        </p:nvCxnSpPr>
        <p:spPr>
          <a:xfrm>
            <a:off x="3893128" y="3116725"/>
            <a:ext cx="0" cy="36285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B29CAA96-D66A-CF52-4288-8FE0975927F7}"/>
              </a:ext>
            </a:extLst>
          </p:cNvPr>
          <p:cNvSpPr/>
          <p:nvPr/>
        </p:nvSpPr>
        <p:spPr>
          <a:xfrm>
            <a:off x="1029566" y="1949450"/>
            <a:ext cx="438150" cy="4381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375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6DFE-D6BD-4D4D-90F8-2372F130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Stem and Leaf Display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142EFF-788F-8F40-A0E6-B158B1894B3D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598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12, 15, 16, 21, 22, 22, 24, 29, 30, 33, 33, 40, 60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339ED283-2DA6-AD4D-8822-8F736A660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191002"/>
              </p:ext>
            </p:extLst>
          </p:nvPr>
        </p:nvGraphicFramePr>
        <p:xfrm>
          <a:off x="7780960" y="1978025"/>
          <a:ext cx="3725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20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862620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</a:tblGrid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Stem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Leaf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E744CF5-A87F-B647-84C1-0E5948E2A8CC}"/>
              </a:ext>
            </a:extLst>
          </p:cNvPr>
          <p:cNvSpPr txBox="1">
            <a:spLocks/>
          </p:cNvSpPr>
          <p:nvPr/>
        </p:nvSpPr>
        <p:spPr>
          <a:xfrm>
            <a:off x="2847109" y="4930977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600" b="1" dirty="0"/>
              <a:t>15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509541-1F5C-F54B-A954-6F8174545642}"/>
              </a:ext>
            </a:extLst>
          </p:cNvPr>
          <p:cNvSpPr txBox="1">
            <a:spLocks/>
          </p:cNvSpPr>
          <p:nvPr/>
        </p:nvSpPr>
        <p:spPr>
          <a:xfrm>
            <a:off x="1267691" y="3404756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8800" dirty="0"/>
              <a:t>Stem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5276E12-1AF2-A945-9035-2D8302983FB9}"/>
              </a:ext>
            </a:extLst>
          </p:cNvPr>
          <p:cNvSpPr txBox="1">
            <a:spLocks/>
          </p:cNvSpPr>
          <p:nvPr/>
        </p:nvSpPr>
        <p:spPr>
          <a:xfrm>
            <a:off x="3865418" y="3429000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8800" dirty="0"/>
              <a:t>Leaf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6C6DE6-4A7C-1744-B7AF-95FBE0A64C76}"/>
              </a:ext>
            </a:extLst>
          </p:cNvPr>
          <p:cNvCxnSpPr/>
          <p:nvPr/>
        </p:nvCxnSpPr>
        <p:spPr>
          <a:xfrm>
            <a:off x="3893128" y="3116725"/>
            <a:ext cx="0" cy="36285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419175B1-6872-D603-7003-59E7796FAE4A}"/>
              </a:ext>
            </a:extLst>
          </p:cNvPr>
          <p:cNvSpPr/>
          <p:nvPr/>
        </p:nvSpPr>
        <p:spPr>
          <a:xfrm>
            <a:off x="1486766" y="1949450"/>
            <a:ext cx="438150" cy="4381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9878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6DFE-D6BD-4D4D-90F8-2372F130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Stem and Leaf Display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142EFF-788F-8F40-A0E6-B158B1894B3D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598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12, 15, 16, 21, 22, 22, 24, 29, 30, 33, 33, 40, 60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339ED283-2DA6-AD4D-8822-8F736A660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299347"/>
              </p:ext>
            </p:extLst>
          </p:nvPr>
        </p:nvGraphicFramePr>
        <p:xfrm>
          <a:off x="7780960" y="1978025"/>
          <a:ext cx="3725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20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862620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</a:tblGrid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Stem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Leaf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25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E744CF5-A87F-B647-84C1-0E5948E2A8CC}"/>
              </a:ext>
            </a:extLst>
          </p:cNvPr>
          <p:cNvSpPr txBox="1">
            <a:spLocks/>
          </p:cNvSpPr>
          <p:nvPr/>
        </p:nvSpPr>
        <p:spPr>
          <a:xfrm>
            <a:off x="2847109" y="4930977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600" b="1" dirty="0"/>
              <a:t>15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509541-1F5C-F54B-A954-6F8174545642}"/>
              </a:ext>
            </a:extLst>
          </p:cNvPr>
          <p:cNvSpPr txBox="1">
            <a:spLocks/>
          </p:cNvSpPr>
          <p:nvPr/>
        </p:nvSpPr>
        <p:spPr>
          <a:xfrm>
            <a:off x="1267691" y="3404756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8800" dirty="0"/>
              <a:t>Stem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5276E12-1AF2-A945-9035-2D8302983FB9}"/>
              </a:ext>
            </a:extLst>
          </p:cNvPr>
          <p:cNvSpPr txBox="1">
            <a:spLocks/>
          </p:cNvSpPr>
          <p:nvPr/>
        </p:nvSpPr>
        <p:spPr>
          <a:xfrm>
            <a:off x="3865418" y="3429000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8800" dirty="0"/>
              <a:t>Leaf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6C6DE6-4A7C-1744-B7AF-95FBE0A64C76}"/>
              </a:ext>
            </a:extLst>
          </p:cNvPr>
          <p:cNvCxnSpPr/>
          <p:nvPr/>
        </p:nvCxnSpPr>
        <p:spPr>
          <a:xfrm>
            <a:off x="3893128" y="3116725"/>
            <a:ext cx="0" cy="36285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891BE038-C326-E68A-61E2-B246EBBA07ED}"/>
              </a:ext>
            </a:extLst>
          </p:cNvPr>
          <p:cNvSpPr/>
          <p:nvPr/>
        </p:nvSpPr>
        <p:spPr>
          <a:xfrm>
            <a:off x="1486766" y="1949450"/>
            <a:ext cx="438150" cy="4381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4845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6DFE-D6BD-4D4D-90F8-2372F130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Stem and Leaf Display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142EFF-788F-8F40-A0E6-B158B1894B3D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598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12, 15, 16, 21, 22, 22, 24, 29, 30, 33, 33, 40, 60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339ED283-2DA6-AD4D-8822-8F736A660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59390"/>
              </p:ext>
            </p:extLst>
          </p:nvPr>
        </p:nvGraphicFramePr>
        <p:xfrm>
          <a:off x="7780960" y="1978025"/>
          <a:ext cx="3725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20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862620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</a:tblGrid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Stem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Leaf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256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E744CF5-A87F-B647-84C1-0E5948E2A8CC}"/>
              </a:ext>
            </a:extLst>
          </p:cNvPr>
          <p:cNvSpPr txBox="1">
            <a:spLocks/>
          </p:cNvSpPr>
          <p:nvPr/>
        </p:nvSpPr>
        <p:spPr>
          <a:xfrm>
            <a:off x="2847109" y="4930977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600" b="1" dirty="0"/>
              <a:t>21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509541-1F5C-F54B-A954-6F8174545642}"/>
              </a:ext>
            </a:extLst>
          </p:cNvPr>
          <p:cNvSpPr txBox="1">
            <a:spLocks/>
          </p:cNvSpPr>
          <p:nvPr/>
        </p:nvSpPr>
        <p:spPr>
          <a:xfrm>
            <a:off x="1267691" y="3404756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8800" dirty="0"/>
              <a:t>Stem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5276E12-1AF2-A945-9035-2D8302983FB9}"/>
              </a:ext>
            </a:extLst>
          </p:cNvPr>
          <p:cNvSpPr txBox="1">
            <a:spLocks/>
          </p:cNvSpPr>
          <p:nvPr/>
        </p:nvSpPr>
        <p:spPr>
          <a:xfrm>
            <a:off x="3865418" y="3429000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8800" dirty="0"/>
              <a:t>Leaf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6C6DE6-4A7C-1744-B7AF-95FBE0A64C76}"/>
              </a:ext>
            </a:extLst>
          </p:cNvPr>
          <p:cNvCxnSpPr/>
          <p:nvPr/>
        </p:nvCxnSpPr>
        <p:spPr>
          <a:xfrm>
            <a:off x="3893128" y="3116725"/>
            <a:ext cx="0" cy="36285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C221086D-1BD2-1050-AE5C-107638FE6401}"/>
              </a:ext>
            </a:extLst>
          </p:cNvPr>
          <p:cNvSpPr/>
          <p:nvPr/>
        </p:nvSpPr>
        <p:spPr>
          <a:xfrm>
            <a:off x="2382116" y="1949450"/>
            <a:ext cx="438150" cy="4381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0276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6DFE-D6BD-4D4D-90F8-2372F130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Stem and Leaf Display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142EFF-788F-8F40-A0E6-B158B1894B3D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598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12, 15, 16, 21, 22, 22, 24, 29, 30, 33, 33, 40, 60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339ED283-2DA6-AD4D-8822-8F736A660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577530"/>
              </p:ext>
            </p:extLst>
          </p:nvPr>
        </p:nvGraphicFramePr>
        <p:xfrm>
          <a:off x="7780960" y="1978025"/>
          <a:ext cx="3725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20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862620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</a:tblGrid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Stem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Leaf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256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E744CF5-A87F-B647-84C1-0E5948E2A8CC}"/>
              </a:ext>
            </a:extLst>
          </p:cNvPr>
          <p:cNvSpPr txBox="1">
            <a:spLocks/>
          </p:cNvSpPr>
          <p:nvPr/>
        </p:nvSpPr>
        <p:spPr>
          <a:xfrm>
            <a:off x="2847109" y="4930977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600" b="1" dirty="0"/>
              <a:t>21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509541-1F5C-F54B-A954-6F8174545642}"/>
              </a:ext>
            </a:extLst>
          </p:cNvPr>
          <p:cNvSpPr txBox="1">
            <a:spLocks/>
          </p:cNvSpPr>
          <p:nvPr/>
        </p:nvSpPr>
        <p:spPr>
          <a:xfrm>
            <a:off x="1267691" y="3404756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8800" dirty="0"/>
              <a:t>Stem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5276E12-1AF2-A945-9035-2D8302983FB9}"/>
              </a:ext>
            </a:extLst>
          </p:cNvPr>
          <p:cNvSpPr txBox="1">
            <a:spLocks/>
          </p:cNvSpPr>
          <p:nvPr/>
        </p:nvSpPr>
        <p:spPr>
          <a:xfrm>
            <a:off x="3865418" y="3429000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8800" dirty="0"/>
              <a:t>Leaf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6C6DE6-4A7C-1744-B7AF-95FBE0A64C76}"/>
              </a:ext>
            </a:extLst>
          </p:cNvPr>
          <p:cNvCxnSpPr/>
          <p:nvPr/>
        </p:nvCxnSpPr>
        <p:spPr>
          <a:xfrm>
            <a:off x="3893128" y="3116725"/>
            <a:ext cx="0" cy="36285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62344287-C7E9-16DC-32BB-B177B1D96C2F}"/>
              </a:ext>
            </a:extLst>
          </p:cNvPr>
          <p:cNvSpPr/>
          <p:nvPr/>
        </p:nvSpPr>
        <p:spPr>
          <a:xfrm>
            <a:off x="2382116" y="1949450"/>
            <a:ext cx="438150" cy="4381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222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6DFE-D6BD-4D4D-90F8-2372F130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Stem and Leaf Display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142EFF-788F-8F40-A0E6-B158B1894B3D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598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12, 15, 16, 21, 22, 22, 24, 29, 30, 33, 33, 40, 60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339ED283-2DA6-AD4D-8822-8F736A660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805040"/>
              </p:ext>
            </p:extLst>
          </p:nvPr>
        </p:nvGraphicFramePr>
        <p:xfrm>
          <a:off x="7780960" y="1978025"/>
          <a:ext cx="3725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20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862620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</a:tblGrid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Stem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Leaf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256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12249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033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E744CF5-A87F-B647-84C1-0E5948E2A8CC}"/>
              </a:ext>
            </a:extLst>
          </p:cNvPr>
          <p:cNvSpPr txBox="1">
            <a:spLocks/>
          </p:cNvSpPr>
          <p:nvPr/>
        </p:nvSpPr>
        <p:spPr>
          <a:xfrm>
            <a:off x="2847109" y="4930977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181A78-7D27-A3F5-FEFE-7AA3850DB19E}"/>
              </a:ext>
            </a:extLst>
          </p:cNvPr>
          <p:cNvCxnSpPr/>
          <p:nvPr/>
        </p:nvCxnSpPr>
        <p:spPr>
          <a:xfrm>
            <a:off x="9281160" y="2576945"/>
            <a:ext cx="0" cy="41066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6718B67-54FA-2EE7-80E3-472846B8E509}"/>
              </a:ext>
            </a:extLst>
          </p:cNvPr>
          <p:cNvSpPr/>
          <p:nvPr/>
        </p:nvSpPr>
        <p:spPr>
          <a:xfrm>
            <a:off x="9305879" y="2584397"/>
            <a:ext cx="1165860" cy="6920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9812A3-AAA6-1FDD-22F6-22C289A6DC93}"/>
              </a:ext>
            </a:extLst>
          </p:cNvPr>
          <p:cNvSpPr/>
          <p:nvPr/>
        </p:nvSpPr>
        <p:spPr>
          <a:xfrm>
            <a:off x="9306783" y="3268980"/>
            <a:ext cx="1635872" cy="6920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E4DD96-2325-D850-80AF-73CE900BC501}"/>
              </a:ext>
            </a:extLst>
          </p:cNvPr>
          <p:cNvSpPr/>
          <p:nvPr/>
        </p:nvSpPr>
        <p:spPr>
          <a:xfrm>
            <a:off x="9306783" y="3965955"/>
            <a:ext cx="1165860" cy="6920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70406B-8D20-243A-3BAD-55017D114CCF}"/>
              </a:ext>
            </a:extLst>
          </p:cNvPr>
          <p:cNvSpPr/>
          <p:nvPr/>
        </p:nvSpPr>
        <p:spPr>
          <a:xfrm>
            <a:off x="9306782" y="4665442"/>
            <a:ext cx="711423" cy="4994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5C0701-89A5-10CF-E33D-EB553B7BB6F1}"/>
              </a:ext>
            </a:extLst>
          </p:cNvPr>
          <p:cNvSpPr/>
          <p:nvPr/>
        </p:nvSpPr>
        <p:spPr>
          <a:xfrm>
            <a:off x="9306782" y="5885109"/>
            <a:ext cx="711415" cy="4994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graph with orange bars&#10;&#10;AI-generated content may be incorrect.">
            <a:extLst>
              <a:ext uri="{FF2B5EF4-FFF2-40B4-BE49-F238E27FC236}">
                <a16:creationId xmlns:a16="http://schemas.microsoft.com/office/drawing/2014/main" id="{3E83B387-0667-EA3E-4D52-F3B6883C84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46"/>
          <a:stretch>
            <a:fillRect/>
          </a:stretch>
        </p:blipFill>
        <p:spPr>
          <a:xfrm>
            <a:off x="764368" y="2637482"/>
            <a:ext cx="7223774" cy="4106632"/>
          </a:xfrm>
          <a:prstGeom prst="rect">
            <a:avLst/>
          </a:prstGeom>
        </p:spPr>
      </p:pic>
      <p:sp>
        <p:nvSpPr>
          <p:cNvPr id="19" name="Arrow: U-Turn 18">
            <a:extLst>
              <a:ext uri="{FF2B5EF4-FFF2-40B4-BE49-F238E27FC236}">
                <a16:creationId xmlns:a16="http://schemas.microsoft.com/office/drawing/2014/main" id="{D99B93A2-0144-6A07-A471-A58182F75E9E}"/>
              </a:ext>
            </a:extLst>
          </p:cNvPr>
          <p:cNvSpPr/>
          <p:nvPr/>
        </p:nvSpPr>
        <p:spPr>
          <a:xfrm flipH="1">
            <a:off x="3981449" y="1514475"/>
            <a:ext cx="5908263" cy="463550"/>
          </a:xfrm>
          <a:prstGeom prst="uturnArrow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379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  <p:bldP spid="11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6DFE-D6BD-4D4D-90F8-2372F130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Stem and Leaf Display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142EFF-788F-8F40-A0E6-B158B1894B3D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598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12, 15, 16, 21, 22, 22, 24, 29, 30, 33, 33, 40, 60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339ED283-2DA6-AD4D-8822-8F736A660F98}"/>
              </a:ext>
            </a:extLst>
          </p:cNvPr>
          <p:cNvGraphicFramePr>
            <a:graphicFrameLocks noGrp="1"/>
          </p:cNvGraphicFramePr>
          <p:nvPr/>
        </p:nvGraphicFramePr>
        <p:xfrm>
          <a:off x="7780960" y="1978025"/>
          <a:ext cx="3725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20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862620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</a:tblGrid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Stem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Leaf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256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12249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033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E744CF5-A87F-B647-84C1-0E5948E2A8CC}"/>
              </a:ext>
            </a:extLst>
          </p:cNvPr>
          <p:cNvSpPr txBox="1">
            <a:spLocks/>
          </p:cNvSpPr>
          <p:nvPr/>
        </p:nvSpPr>
        <p:spPr>
          <a:xfrm>
            <a:off x="2847109" y="4930977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8AC618D-6780-1942-954D-655A0BD8D7E6}"/>
              </a:ext>
            </a:extLst>
          </p:cNvPr>
          <p:cNvCxnSpPr/>
          <p:nvPr/>
        </p:nvCxnSpPr>
        <p:spPr>
          <a:xfrm>
            <a:off x="9281160" y="2576945"/>
            <a:ext cx="0" cy="41066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3FD9E08-02D1-954C-B6F0-8D9C4678FC7B}"/>
              </a:ext>
            </a:extLst>
          </p:cNvPr>
          <p:cNvSpPr/>
          <p:nvPr/>
        </p:nvSpPr>
        <p:spPr>
          <a:xfrm>
            <a:off x="9293972" y="2576945"/>
            <a:ext cx="1165860" cy="6920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4B1066-AAE1-D346-B64A-A09B52E58BDD}"/>
              </a:ext>
            </a:extLst>
          </p:cNvPr>
          <p:cNvSpPr/>
          <p:nvPr/>
        </p:nvSpPr>
        <p:spPr>
          <a:xfrm>
            <a:off x="9306783" y="3268980"/>
            <a:ext cx="1635872" cy="6920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C620DB-710B-1E4B-8C1E-FCF0CF923278}"/>
              </a:ext>
            </a:extLst>
          </p:cNvPr>
          <p:cNvSpPr/>
          <p:nvPr/>
        </p:nvSpPr>
        <p:spPr>
          <a:xfrm>
            <a:off x="9306783" y="3965955"/>
            <a:ext cx="1165860" cy="6920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804D78-5309-4A4D-BF13-BC27375A0B32}"/>
              </a:ext>
            </a:extLst>
          </p:cNvPr>
          <p:cNvSpPr/>
          <p:nvPr/>
        </p:nvSpPr>
        <p:spPr>
          <a:xfrm>
            <a:off x="9306782" y="4665442"/>
            <a:ext cx="711423" cy="4994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AB2F1B-7FC6-ED40-B8EF-8604B40DD393}"/>
              </a:ext>
            </a:extLst>
          </p:cNvPr>
          <p:cNvSpPr/>
          <p:nvPr/>
        </p:nvSpPr>
        <p:spPr>
          <a:xfrm>
            <a:off x="9306782" y="5885109"/>
            <a:ext cx="711415" cy="4994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886FD5D-875D-A54E-A596-132C4E7DF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0943"/>
            <a:ext cx="6942760" cy="37660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/>
              <a:t>Advantages</a:t>
            </a:r>
            <a:endParaRPr lang="en-US" sz="3600" dirty="0"/>
          </a:p>
          <a:p>
            <a:r>
              <a:rPr lang="en-US" sz="3200" dirty="0"/>
              <a:t>Presents all data while still summarizing/ visualizing</a:t>
            </a:r>
          </a:p>
          <a:p>
            <a:r>
              <a:rPr lang="en-US" sz="3200" dirty="0"/>
              <a:t>Conserves individual scores</a:t>
            </a:r>
          </a:p>
          <a:p>
            <a:pPr marL="0" indent="0">
              <a:buNone/>
            </a:pPr>
            <a:r>
              <a:rPr lang="en-US" sz="3600" b="1" dirty="0"/>
              <a:t>Disadvantages</a:t>
            </a:r>
            <a:endParaRPr lang="en-US" sz="3600" dirty="0"/>
          </a:p>
          <a:p>
            <a:r>
              <a:rPr lang="en-US" sz="3200" dirty="0"/>
              <a:t>Difficult to display with too much data</a:t>
            </a:r>
          </a:p>
          <a:p>
            <a:r>
              <a:rPr lang="en-US" sz="3200" dirty="0"/>
              <a:t>Can only show intervals of 2, 5, or 10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6550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6DFE-D6BD-4D4D-90F8-2372F130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Stem and Leaf Display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142EFF-788F-8F40-A0E6-B158B1894B3D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598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12, 15, 16, 21, 22, 22, 24, 29, 30, 33, 33, 40, 60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339ED283-2DA6-AD4D-8822-8F736A660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811607"/>
              </p:ext>
            </p:extLst>
          </p:nvPr>
        </p:nvGraphicFramePr>
        <p:xfrm>
          <a:off x="7927249" y="365125"/>
          <a:ext cx="3725240" cy="832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20">
                  <a:extLst>
                    <a:ext uri="{9D8B030D-6E8A-4147-A177-3AD203B41FA5}">
                      <a16:colId xmlns:a16="http://schemas.microsoft.com/office/drawing/2014/main" val="864366146"/>
                    </a:ext>
                  </a:extLst>
                </a:gridCol>
                <a:gridCol w="1862620">
                  <a:extLst>
                    <a:ext uri="{9D8B030D-6E8A-4147-A177-3AD203B41FA5}">
                      <a16:colId xmlns:a16="http://schemas.microsoft.com/office/drawing/2014/main" val="3316483975"/>
                    </a:ext>
                  </a:extLst>
                </a:gridCol>
              </a:tblGrid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Stem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Leaf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201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r>
                        <a:rPr lang="en-US" sz="3600" baseline="30000" dirty="0"/>
                        <a:t>(0)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36707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r>
                        <a:rPr lang="en-US" sz="3600" baseline="30000" dirty="0"/>
                        <a:t>(5)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56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169587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2</a:t>
                      </a:r>
                      <a:r>
                        <a:rPr lang="en-US" sz="3600" baseline="30000" dirty="0"/>
                        <a:t>(0)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1224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71185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2</a:t>
                      </a:r>
                      <a:r>
                        <a:rPr lang="en-US" sz="3600" baseline="30000" dirty="0"/>
                        <a:t>(5)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168255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3</a:t>
                      </a:r>
                      <a:r>
                        <a:rPr lang="en-US" sz="3600" baseline="30000" dirty="0"/>
                        <a:t>(0)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033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583133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3</a:t>
                      </a:r>
                      <a:r>
                        <a:rPr lang="en-US" sz="3600" baseline="30000" dirty="0"/>
                        <a:t>(5)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055653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4</a:t>
                      </a:r>
                      <a:r>
                        <a:rPr lang="en-US" sz="3600" baseline="30000" dirty="0"/>
                        <a:t>(0)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66860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4</a:t>
                      </a:r>
                      <a:r>
                        <a:rPr lang="en-US" sz="3600" baseline="30000" dirty="0"/>
                        <a:t>(5)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977553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…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06108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822770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10886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302865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E744CF5-A87F-B647-84C1-0E5948E2A8CC}"/>
              </a:ext>
            </a:extLst>
          </p:cNvPr>
          <p:cNvSpPr txBox="1">
            <a:spLocks/>
          </p:cNvSpPr>
          <p:nvPr/>
        </p:nvSpPr>
        <p:spPr>
          <a:xfrm>
            <a:off x="2847109" y="4930977"/>
            <a:ext cx="10515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886FD5D-875D-A54E-A596-132C4E7DF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0943"/>
            <a:ext cx="6942760" cy="37660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Disadvantages</a:t>
            </a:r>
            <a:endParaRPr lang="en-US" sz="3200" dirty="0"/>
          </a:p>
          <a:p>
            <a:r>
              <a:rPr lang="en-US" sz="3200" dirty="0"/>
              <a:t>Can only show intervals of 2, 5, or 10</a:t>
            </a:r>
          </a:p>
          <a:p>
            <a:r>
              <a:rPr lang="en-US" sz="3200" dirty="0"/>
              <a:t>We break it up like this when digit displays are becoming too long</a:t>
            </a:r>
          </a:p>
          <a:p>
            <a:pPr lvl="1"/>
            <a:r>
              <a:rPr lang="en-US" sz="2800" dirty="0"/>
              <a:t>1</a:t>
            </a:r>
            <a:r>
              <a:rPr lang="en-US" sz="2800" baseline="30000" dirty="0"/>
              <a:t>(0) </a:t>
            </a:r>
            <a:r>
              <a:rPr lang="en-US" sz="2800" dirty="0"/>
              <a:t>= 10-14</a:t>
            </a:r>
          </a:p>
          <a:p>
            <a:pPr lvl="1"/>
            <a:r>
              <a:rPr lang="en-US" sz="2800" dirty="0"/>
              <a:t>1</a:t>
            </a:r>
            <a:r>
              <a:rPr lang="en-US" sz="2800" baseline="30000" dirty="0"/>
              <a:t>(5) </a:t>
            </a:r>
            <a:r>
              <a:rPr lang="en-US" sz="2800" dirty="0"/>
              <a:t>= 15-19</a:t>
            </a:r>
          </a:p>
          <a:p>
            <a:pPr lvl="1"/>
            <a:r>
              <a:rPr lang="en-US" sz="2800" dirty="0"/>
              <a:t>2</a:t>
            </a:r>
            <a:r>
              <a:rPr lang="en-US" sz="2800" baseline="30000" dirty="0"/>
              <a:t>(0)</a:t>
            </a:r>
            <a:r>
              <a:rPr lang="en-US" sz="2800" dirty="0"/>
              <a:t> = 20-24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4206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Frequency Distributions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Stem and Leaf Display</a:t>
            </a:r>
          </a:p>
          <a:p>
            <a:endParaRPr lang="en-US" sz="4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Tables and Figures</a:t>
            </a:r>
          </a:p>
        </p:txBody>
      </p:sp>
    </p:spTree>
    <p:extLst>
      <p:ext uri="{BB962C8B-B14F-4D97-AF65-F5344CB8AC3E}">
        <p14:creationId xmlns:p14="http://schemas.microsoft.com/office/powerpoint/2010/main" val="31669807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54860-56B7-6EEE-A935-683B0D14E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2D4C88-95E2-F24C-E350-B2BDC0E1B9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52"/>
          <a:stretch>
            <a:fillRect/>
          </a:stretch>
        </p:blipFill>
        <p:spPr>
          <a:xfrm>
            <a:off x="1467615" y="1348996"/>
            <a:ext cx="9256770" cy="521758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36F7515-0DDA-C81F-1101-528D4346E5E6}"/>
              </a:ext>
            </a:extLst>
          </p:cNvPr>
          <p:cNvSpPr/>
          <p:nvPr/>
        </p:nvSpPr>
        <p:spPr>
          <a:xfrm>
            <a:off x="1610139" y="6235148"/>
            <a:ext cx="6526696" cy="450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10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8AF69-3F17-941E-06F9-7DD22778C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7EA7-6479-EB39-4E48-470A6BACD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8B9001-7169-E200-8D56-9FB2D915F3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52"/>
          <a:stretch>
            <a:fillRect/>
          </a:stretch>
        </p:blipFill>
        <p:spPr>
          <a:xfrm>
            <a:off x="1467615" y="1348996"/>
            <a:ext cx="9256770" cy="5217587"/>
          </a:xfrm>
          <a:prstGeom prst="rect">
            <a:avLst/>
          </a:prstGeom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F697B353-B3CD-0B29-BDF1-68CFF21CB582}"/>
              </a:ext>
            </a:extLst>
          </p:cNvPr>
          <p:cNvSpPr/>
          <p:nvPr/>
        </p:nvSpPr>
        <p:spPr>
          <a:xfrm rot="21067427">
            <a:off x="2811952" y="1465875"/>
            <a:ext cx="790647" cy="341692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E9ADF0-5FE5-7AE1-C2C2-E07DB0EE0EB7}"/>
              </a:ext>
            </a:extLst>
          </p:cNvPr>
          <p:cNvSpPr txBox="1"/>
          <p:nvPr/>
        </p:nvSpPr>
        <p:spPr>
          <a:xfrm>
            <a:off x="3624227" y="1225394"/>
            <a:ext cx="3317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Table number is bold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DE91C2-A49B-FC8C-0554-E195E21488FB}"/>
              </a:ext>
            </a:extLst>
          </p:cNvPr>
          <p:cNvSpPr/>
          <p:nvPr/>
        </p:nvSpPr>
        <p:spPr>
          <a:xfrm>
            <a:off x="1610139" y="6235148"/>
            <a:ext cx="6526696" cy="450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759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AB2BE-DDA0-F5D8-CF14-3FE7E428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43DF-D808-9FC7-4220-CFA60385E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EF980F-C3DE-0D0F-8189-61D7939266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52"/>
          <a:stretch>
            <a:fillRect/>
          </a:stretch>
        </p:blipFill>
        <p:spPr>
          <a:xfrm>
            <a:off x="1467615" y="1348996"/>
            <a:ext cx="9256770" cy="5217587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7F6FC454-621E-A796-A682-491E34C84099}"/>
              </a:ext>
            </a:extLst>
          </p:cNvPr>
          <p:cNvSpPr/>
          <p:nvPr/>
        </p:nvSpPr>
        <p:spPr>
          <a:xfrm rot="21067427">
            <a:off x="5564707" y="1997791"/>
            <a:ext cx="790647" cy="341692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B1F340-DDB7-A2B5-AE2C-E3F467BF73DF}"/>
              </a:ext>
            </a:extLst>
          </p:cNvPr>
          <p:cNvSpPr txBox="1"/>
          <p:nvPr/>
        </p:nvSpPr>
        <p:spPr>
          <a:xfrm>
            <a:off x="6374399" y="1597080"/>
            <a:ext cx="58133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Title on a separate line than the table number. Title should be italicized.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B1AC20-0CF4-AC3D-FBA7-FD2C95EF8605}"/>
              </a:ext>
            </a:extLst>
          </p:cNvPr>
          <p:cNvSpPr/>
          <p:nvPr/>
        </p:nvSpPr>
        <p:spPr>
          <a:xfrm>
            <a:off x="1610139" y="6235148"/>
            <a:ext cx="6526696" cy="450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9919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137CE-D61D-B018-B97B-5D3EAD74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61E79-09B5-DC66-3D50-A338CF321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1CB1FD-E411-354E-CDBD-42E52F7F26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52"/>
          <a:stretch>
            <a:fillRect/>
          </a:stretch>
        </p:blipFill>
        <p:spPr>
          <a:xfrm>
            <a:off x="1467615" y="1348996"/>
            <a:ext cx="9256770" cy="5217587"/>
          </a:xfrm>
          <a:prstGeom prst="rect">
            <a:avLst/>
          </a:prstGeom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EEF04FDB-2167-B137-F1F4-EA4605B92EAC}"/>
              </a:ext>
            </a:extLst>
          </p:cNvPr>
          <p:cNvSpPr/>
          <p:nvPr/>
        </p:nvSpPr>
        <p:spPr>
          <a:xfrm rot="21067427">
            <a:off x="2672804" y="2810970"/>
            <a:ext cx="790647" cy="341692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15067-D3BC-10B8-AA01-D43F81B67BA7}"/>
              </a:ext>
            </a:extLst>
          </p:cNvPr>
          <p:cNvSpPr txBox="1"/>
          <p:nvPr/>
        </p:nvSpPr>
        <p:spPr>
          <a:xfrm>
            <a:off x="5360262" y="685845"/>
            <a:ext cx="41301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First column is left-justified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A4DD3C-4D4D-2934-8154-1F67EBFFE7B6}"/>
              </a:ext>
            </a:extLst>
          </p:cNvPr>
          <p:cNvSpPr/>
          <p:nvPr/>
        </p:nvSpPr>
        <p:spPr>
          <a:xfrm>
            <a:off x="1610139" y="6235148"/>
            <a:ext cx="6526696" cy="450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105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E3923-465F-FEB1-A509-4158F7508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A8E42-4E0A-6D84-D1D7-116285EE4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FAD021-199F-AE44-88DE-FFB8AB275B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52"/>
          <a:stretch>
            <a:fillRect/>
          </a:stretch>
        </p:blipFill>
        <p:spPr>
          <a:xfrm>
            <a:off x="1467615" y="1348996"/>
            <a:ext cx="9256770" cy="5217587"/>
          </a:xfrm>
          <a:prstGeom prst="rect">
            <a:avLst/>
          </a:prstGeom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18D96519-979E-E9E3-7246-94B9607DA1B9}"/>
              </a:ext>
            </a:extLst>
          </p:cNvPr>
          <p:cNvSpPr/>
          <p:nvPr/>
        </p:nvSpPr>
        <p:spPr>
          <a:xfrm rot="21067427">
            <a:off x="4700386" y="2810970"/>
            <a:ext cx="790647" cy="341692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5DAD4-9333-8757-6527-72762B7EE672}"/>
              </a:ext>
            </a:extLst>
          </p:cNvPr>
          <p:cNvSpPr txBox="1"/>
          <p:nvPr/>
        </p:nvSpPr>
        <p:spPr>
          <a:xfrm>
            <a:off x="5360262" y="685845"/>
            <a:ext cx="5051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Remaining columns are centered</a:t>
            </a: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58D22CAF-60CD-76CC-7E55-893E65CB5C8A}"/>
              </a:ext>
            </a:extLst>
          </p:cNvPr>
          <p:cNvSpPr/>
          <p:nvPr/>
        </p:nvSpPr>
        <p:spPr>
          <a:xfrm rot="21067427">
            <a:off x="6058733" y="2810972"/>
            <a:ext cx="790647" cy="341692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E53B6D74-EDAB-C625-6629-D319775A5588}"/>
              </a:ext>
            </a:extLst>
          </p:cNvPr>
          <p:cNvSpPr/>
          <p:nvPr/>
        </p:nvSpPr>
        <p:spPr>
          <a:xfrm rot="21067427">
            <a:off x="7417078" y="2810974"/>
            <a:ext cx="790647" cy="341692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F9380858-8EF4-D4DD-96C8-098D321C5ED5}"/>
              </a:ext>
            </a:extLst>
          </p:cNvPr>
          <p:cNvSpPr/>
          <p:nvPr/>
        </p:nvSpPr>
        <p:spPr>
          <a:xfrm rot="21067427">
            <a:off x="8745432" y="2810976"/>
            <a:ext cx="790647" cy="341692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0BD9EF39-E3AB-B407-7E39-6CB96860FBFC}"/>
              </a:ext>
            </a:extLst>
          </p:cNvPr>
          <p:cNvSpPr/>
          <p:nvPr/>
        </p:nvSpPr>
        <p:spPr>
          <a:xfrm rot="21067427">
            <a:off x="10073785" y="2810976"/>
            <a:ext cx="790647" cy="341692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30443F-4AD1-B9DE-8859-5E99ADDD1A31}"/>
              </a:ext>
            </a:extLst>
          </p:cNvPr>
          <p:cNvSpPr/>
          <p:nvPr/>
        </p:nvSpPr>
        <p:spPr>
          <a:xfrm>
            <a:off x="1610139" y="6235148"/>
            <a:ext cx="6526696" cy="450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8541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96DE8-3B11-C0E2-A2F9-EC2E43902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AC99-0565-559C-230D-C9F8DFBBD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8498F5-065D-C20E-75D9-1B306404F6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52"/>
          <a:stretch>
            <a:fillRect/>
          </a:stretch>
        </p:blipFill>
        <p:spPr>
          <a:xfrm>
            <a:off x="1467615" y="1348996"/>
            <a:ext cx="9256770" cy="5217587"/>
          </a:xfrm>
          <a:prstGeom prst="rect">
            <a:avLst/>
          </a:prstGeom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EE8AD122-50EB-2E61-392A-2055DD828557}"/>
              </a:ext>
            </a:extLst>
          </p:cNvPr>
          <p:cNvSpPr/>
          <p:nvPr/>
        </p:nvSpPr>
        <p:spPr>
          <a:xfrm rot="10800000">
            <a:off x="838200" y="2503713"/>
            <a:ext cx="790647" cy="341692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F085968A-3D5C-C052-863E-A5F476D6A082}"/>
              </a:ext>
            </a:extLst>
          </p:cNvPr>
          <p:cNvSpPr/>
          <p:nvPr/>
        </p:nvSpPr>
        <p:spPr>
          <a:xfrm rot="10800000">
            <a:off x="838199" y="3380431"/>
            <a:ext cx="790647" cy="341692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3024EDDA-381A-42FD-27C4-DA5B35A7F703}"/>
              </a:ext>
            </a:extLst>
          </p:cNvPr>
          <p:cNvSpPr/>
          <p:nvPr/>
        </p:nvSpPr>
        <p:spPr>
          <a:xfrm rot="10800000">
            <a:off x="838200" y="5810131"/>
            <a:ext cx="790647" cy="341692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395036-6D04-3BB7-0F00-AD8D0CA626B4}"/>
              </a:ext>
            </a:extLst>
          </p:cNvPr>
          <p:cNvSpPr txBox="1"/>
          <p:nvPr/>
        </p:nvSpPr>
        <p:spPr>
          <a:xfrm>
            <a:off x="4035287" y="454692"/>
            <a:ext cx="75096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Horizontal lines only above and below the header and at the bottom of the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D74AC2-26AD-0CFD-933E-FA744C035F76}"/>
              </a:ext>
            </a:extLst>
          </p:cNvPr>
          <p:cNvSpPr txBox="1"/>
          <p:nvPr/>
        </p:nvSpPr>
        <p:spPr>
          <a:xfrm>
            <a:off x="4035287" y="1475244"/>
            <a:ext cx="750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No vertical lines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AA00C3-C04C-08B4-EF3D-9C773B8E7423}"/>
              </a:ext>
            </a:extLst>
          </p:cNvPr>
          <p:cNvSpPr/>
          <p:nvPr/>
        </p:nvSpPr>
        <p:spPr>
          <a:xfrm>
            <a:off x="1610139" y="6235148"/>
            <a:ext cx="6526696" cy="450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2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F557-9FCB-C94B-BF08-CFA92C67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A716B-1823-E84A-8F45-3B67ABA40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3682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Histograms</a:t>
            </a:r>
          </a:p>
          <a:p>
            <a:r>
              <a:rPr lang="en-US" sz="3600" b="1" dirty="0"/>
              <a:t>IV: </a:t>
            </a:r>
            <a:r>
              <a:rPr lang="en-US" sz="3600" dirty="0"/>
              <a:t>Interval or ratio</a:t>
            </a:r>
          </a:p>
          <a:p>
            <a:pPr lvl="1"/>
            <a:r>
              <a:rPr lang="en-US" sz="3200" dirty="0"/>
              <a:t>Bars touch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BB665DD8-8391-6D4C-A0A1-4F8A10D8E3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580"/>
          <a:stretch>
            <a:fillRect/>
          </a:stretch>
        </p:blipFill>
        <p:spPr>
          <a:xfrm>
            <a:off x="5200900" y="1027907"/>
            <a:ext cx="6834983" cy="464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5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F557-9FCB-C94B-BF08-CFA92C67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A716B-1823-E84A-8F45-3B67ABA40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3682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Histograms</a:t>
            </a:r>
          </a:p>
          <a:p>
            <a:r>
              <a:rPr lang="en-US" sz="3600" b="1" dirty="0"/>
              <a:t>IV: </a:t>
            </a:r>
            <a:r>
              <a:rPr lang="en-US" sz="3600" dirty="0"/>
              <a:t>Interval or ratio</a:t>
            </a:r>
          </a:p>
          <a:p>
            <a:pPr lvl="1"/>
            <a:r>
              <a:rPr lang="en-US" sz="3200" dirty="0"/>
              <a:t>Bars touch</a:t>
            </a:r>
          </a:p>
          <a:p>
            <a:pPr lvl="1"/>
            <a:r>
              <a:rPr lang="en-US" sz="3200" dirty="0"/>
              <a:t>Second IV is nominal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4E13DB3C-5BF1-8A4E-9528-558A0E224B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724"/>
          <a:stretch/>
        </p:blipFill>
        <p:spPr>
          <a:xfrm>
            <a:off x="5165157" y="747757"/>
            <a:ext cx="7026844" cy="589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7706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uinea pig in the grass&#10;&#10;AI-generated content may be incorrect.">
            <a:extLst>
              <a:ext uri="{FF2B5EF4-FFF2-40B4-BE49-F238E27FC236}">
                <a16:creationId xmlns:a16="http://schemas.microsoft.com/office/drawing/2014/main" id="{6C1E3F27-53E8-A7DC-0A7B-9B9D513D9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0815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D69DAA-DE9E-345E-91C9-1532BB0BE25B}"/>
              </a:ext>
            </a:extLst>
          </p:cNvPr>
          <p:cNvSpPr txBox="1"/>
          <p:nvPr/>
        </p:nvSpPr>
        <p:spPr>
          <a:xfrm>
            <a:off x="336431" y="284671"/>
            <a:ext cx="39422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What are the effects of different </a:t>
            </a:r>
            <a:r>
              <a:rPr lang="en-US" sz="3600" b="1" u="sng" dirty="0">
                <a:solidFill>
                  <a:schemeClr val="bg1"/>
                </a:solidFill>
              </a:rPr>
              <a:t>doses of Vitamin C </a:t>
            </a:r>
            <a:r>
              <a:rPr lang="en-US" sz="3600" b="1" dirty="0">
                <a:solidFill>
                  <a:schemeClr val="bg1"/>
                </a:solidFill>
              </a:rPr>
              <a:t>on Guinea pig </a:t>
            </a:r>
            <a:r>
              <a:rPr lang="en-US" sz="3600" b="1" u="sng" dirty="0">
                <a:solidFill>
                  <a:schemeClr val="bg1"/>
                </a:solidFill>
              </a:rPr>
              <a:t>tooth length</a:t>
            </a:r>
            <a:r>
              <a:rPr lang="en-US" sz="36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34B21D-5EC8-B401-213B-FAA47A6E3423}"/>
              </a:ext>
            </a:extLst>
          </p:cNvPr>
          <p:cNvSpPr txBox="1"/>
          <p:nvPr/>
        </p:nvSpPr>
        <p:spPr>
          <a:xfrm>
            <a:off x="8143336" y="-89141"/>
            <a:ext cx="44684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Does it change if the vitamin is delivered via </a:t>
            </a:r>
            <a:r>
              <a:rPr lang="en-US" sz="3600" b="1" u="sng" dirty="0">
                <a:solidFill>
                  <a:schemeClr val="bg1"/>
                </a:solidFill>
              </a:rPr>
              <a:t>orange juice (OJ) </a:t>
            </a:r>
            <a:r>
              <a:rPr lang="en-US" sz="3600" b="1" dirty="0">
                <a:solidFill>
                  <a:schemeClr val="bg1"/>
                </a:solidFill>
              </a:rPr>
              <a:t>or </a:t>
            </a:r>
            <a:r>
              <a:rPr lang="en-US" sz="3600" b="1" u="sng" dirty="0">
                <a:solidFill>
                  <a:schemeClr val="bg1"/>
                </a:solidFill>
              </a:rPr>
              <a:t>ascorbic acid (AA)</a:t>
            </a:r>
          </a:p>
        </p:txBody>
      </p:sp>
    </p:spTree>
    <p:extLst>
      <p:ext uri="{BB962C8B-B14F-4D97-AF65-F5344CB8AC3E}">
        <p14:creationId xmlns:p14="http://schemas.microsoft.com/office/powerpoint/2010/main" val="427175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89B1D57-ECC3-6E92-447E-7A6688153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0"/>
            <a:ext cx="58293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363179-B0C6-6248-8D33-E0B43871B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B388A9A-0105-B9AA-A70B-513D7DDCE08C}"/>
              </a:ext>
            </a:extLst>
          </p:cNvPr>
          <p:cNvSpPr/>
          <p:nvPr/>
        </p:nvSpPr>
        <p:spPr>
          <a:xfrm>
            <a:off x="3096508" y="2198643"/>
            <a:ext cx="514709" cy="190993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4C3EF5D-BB85-44BE-4A4D-2A0B58A80B0E}"/>
              </a:ext>
            </a:extLst>
          </p:cNvPr>
          <p:cNvSpPr/>
          <p:nvPr/>
        </p:nvSpPr>
        <p:spPr>
          <a:xfrm rot="5400000">
            <a:off x="6218035" y="5891983"/>
            <a:ext cx="377908" cy="143485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25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F557-9FCB-C94B-BF08-CFA92C67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A716B-1823-E84A-8F45-3B67ABA40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3682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Bar Plot</a:t>
            </a:r>
          </a:p>
          <a:p>
            <a:r>
              <a:rPr lang="en-US" sz="3600" b="1" dirty="0"/>
              <a:t>IV: </a:t>
            </a:r>
            <a:r>
              <a:rPr lang="en-US" sz="3600" dirty="0"/>
              <a:t>Nominal or ordinal</a:t>
            </a:r>
          </a:p>
          <a:p>
            <a:pPr lvl="1"/>
            <a:r>
              <a:rPr lang="en-US" sz="3200" dirty="0"/>
              <a:t>No measurable distance between categories</a:t>
            </a:r>
          </a:p>
          <a:p>
            <a:pPr lvl="1"/>
            <a:r>
              <a:rPr lang="en-US" sz="3200" dirty="0"/>
              <a:t>Spaces between categories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AA5056-D443-97CB-56D2-450275BA0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58293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220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F557-9FCB-C94B-BF08-CFA92C67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A716B-1823-E84A-8F45-3B67ABA40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35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Bar Plot</a:t>
            </a:r>
          </a:p>
          <a:p>
            <a:r>
              <a:rPr lang="en-US" sz="3600" b="1" dirty="0"/>
              <a:t>IV: </a:t>
            </a:r>
            <a:r>
              <a:rPr lang="en-US" sz="3600" dirty="0"/>
              <a:t>Nominal or ordinal</a:t>
            </a:r>
          </a:p>
          <a:p>
            <a:pPr lvl="1"/>
            <a:r>
              <a:rPr lang="en-US" sz="3200" dirty="0"/>
              <a:t>When two IVs</a:t>
            </a:r>
          </a:p>
          <a:p>
            <a:pPr lvl="1"/>
            <a:r>
              <a:rPr lang="en-US" sz="3200" dirty="0"/>
              <a:t>Second IV is nominal</a:t>
            </a:r>
          </a:p>
          <a:p>
            <a:pPr lvl="1"/>
            <a:r>
              <a:rPr lang="en-US" sz="3200" dirty="0"/>
              <a:t>Large gaps between the </a:t>
            </a:r>
            <a:r>
              <a:rPr lang="en-US" sz="3200" i="1" dirty="0"/>
              <a:t>primary</a:t>
            </a:r>
            <a:r>
              <a:rPr lang="en-US" sz="3200" dirty="0"/>
              <a:t> IV</a:t>
            </a:r>
          </a:p>
          <a:p>
            <a:pPr lvl="1"/>
            <a:r>
              <a:rPr lang="en-US" sz="3200" dirty="0"/>
              <a:t>Small gaps between the </a:t>
            </a:r>
            <a:r>
              <a:rPr lang="en-US" sz="3200" i="1" dirty="0"/>
              <a:t>secondary</a:t>
            </a:r>
            <a:r>
              <a:rPr lang="en-US" sz="3200" dirty="0"/>
              <a:t> IV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EE766D-8504-A3D6-2AD9-2059C3143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278" y="1353172"/>
            <a:ext cx="6431721" cy="482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274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F557-9FCB-C94B-BF08-CFA92C67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A716B-1823-E84A-8F45-3B67ABA40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04861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Line Plot</a:t>
            </a:r>
          </a:p>
          <a:p>
            <a:r>
              <a:rPr lang="en-US" sz="3600" b="1" dirty="0"/>
              <a:t>IV: </a:t>
            </a:r>
            <a:r>
              <a:rPr lang="en-US" sz="3600" dirty="0"/>
              <a:t>Interval or ratio</a:t>
            </a:r>
          </a:p>
          <a:p>
            <a:pPr lvl="1"/>
            <a:r>
              <a:rPr lang="en-US" sz="3200" dirty="0"/>
              <a:t>Line connects the conditions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4C0FA2-C3DD-46F3-5B0D-37A8CD6C0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577" y="1300220"/>
            <a:ext cx="6585187" cy="487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24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2D03F-F826-86FE-BFA3-DFB61227D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941A7-D6C7-5B8F-30C4-A4DD93847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DE12B-0A9D-2285-D226-6A09941DD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0567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Line Plot</a:t>
            </a:r>
          </a:p>
          <a:p>
            <a:r>
              <a:rPr lang="en-US" sz="3600" b="1" dirty="0"/>
              <a:t>IV: </a:t>
            </a:r>
            <a:r>
              <a:rPr lang="en-US" sz="3600" dirty="0"/>
              <a:t>Interval or ratio</a:t>
            </a:r>
          </a:p>
          <a:p>
            <a:pPr lvl="1"/>
            <a:r>
              <a:rPr lang="en-US" sz="3200" dirty="0"/>
              <a:t>Line connects the conditions</a:t>
            </a:r>
          </a:p>
          <a:p>
            <a:pPr lvl="1"/>
            <a:r>
              <a:rPr lang="en-US" sz="3200" dirty="0"/>
              <a:t>Second IV is nominal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8CCD7F-E851-FEEA-30E3-EED383668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242" y="1456599"/>
            <a:ext cx="6897757" cy="459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0574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F557-9FCB-C94B-BF08-CFA92C67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A716B-1823-E84A-8F45-3B67ABA40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0567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Scatterplot</a:t>
            </a:r>
          </a:p>
          <a:p>
            <a:r>
              <a:rPr lang="en-US" sz="3600" b="1" dirty="0"/>
              <a:t>IV: </a:t>
            </a:r>
            <a:r>
              <a:rPr lang="en-US" sz="3600" dirty="0"/>
              <a:t>Interval or ratio</a:t>
            </a:r>
          </a:p>
          <a:p>
            <a:pPr lvl="1"/>
            <a:r>
              <a:rPr lang="en-US" sz="3200" dirty="0"/>
              <a:t>Bivariate data</a:t>
            </a:r>
          </a:p>
          <a:p>
            <a:pPr lvl="2"/>
            <a:r>
              <a:rPr lang="en-US" sz="2400" dirty="0"/>
              <a:t>i.e., two sets of data</a:t>
            </a:r>
          </a:p>
          <a:p>
            <a:pPr lvl="1"/>
            <a:r>
              <a:rPr lang="en-US" sz="2800" dirty="0"/>
              <a:t>Both sets of data are interval or ratio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53EAE4-9EE9-1D87-ADB6-2E8EE9173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007" y="1311964"/>
            <a:ext cx="6467454" cy="479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F0AEF-88B1-17F6-6998-96E69E8C2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91836-E08E-38E4-9871-F5C059483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E29B2-7E5E-C57A-DEA0-800B5CDA3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0567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Scatterplot</a:t>
            </a:r>
          </a:p>
          <a:p>
            <a:r>
              <a:rPr lang="en-US" sz="3600" b="1" dirty="0"/>
              <a:t>IV: </a:t>
            </a:r>
            <a:r>
              <a:rPr lang="en-US" sz="3600" dirty="0"/>
              <a:t>Interval or ratio</a:t>
            </a:r>
          </a:p>
          <a:p>
            <a:pPr lvl="1"/>
            <a:r>
              <a:rPr lang="en-US" sz="3200" dirty="0"/>
              <a:t>Bivariate data</a:t>
            </a:r>
          </a:p>
          <a:p>
            <a:pPr lvl="2"/>
            <a:r>
              <a:rPr lang="en-US" sz="2400" dirty="0"/>
              <a:t>i.e., two sets of data</a:t>
            </a:r>
          </a:p>
          <a:p>
            <a:pPr lvl="1"/>
            <a:r>
              <a:rPr lang="en-US" sz="2800" dirty="0"/>
              <a:t>Both sets of data are interval or ratio</a:t>
            </a:r>
          </a:p>
          <a:p>
            <a:pPr lvl="1"/>
            <a:r>
              <a:rPr lang="en-US" sz="2800" dirty="0"/>
              <a:t>Second IV is nominal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DC0D99-DC3A-51E0-5301-5981705D2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070" y="1439410"/>
            <a:ext cx="6579040" cy="493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4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DBBFB-D2C3-36F5-55A0-AE1B49536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uinea pig in the grass&#10;&#10;AI-generated content may be incorrect.">
            <a:extLst>
              <a:ext uri="{FF2B5EF4-FFF2-40B4-BE49-F238E27FC236}">
                <a16:creationId xmlns:a16="http://schemas.microsoft.com/office/drawing/2014/main" id="{040BDF26-99F6-EEDA-E7F3-E23E98686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0815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C36121-29E8-A85A-628F-C36EFCF5C610}"/>
              </a:ext>
            </a:extLst>
          </p:cNvPr>
          <p:cNvSpPr txBox="1"/>
          <p:nvPr/>
        </p:nvSpPr>
        <p:spPr>
          <a:xfrm>
            <a:off x="336431" y="284671"/>
            <a:ext cx="39422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What are the effects of different </a:t>
            </a:r>
            <a:r>
              <a:rPr lang="en-US" sz="3600" b="1" u="sng" dirty="0">
                <a:solidFill>
                  <a:schemeClr val="bg1"/>
                </a:solidFill>
              </a:rPr>
              <a:t>doses of Vitamin C </a:t>
            </a:r>
            <a:r>
              <a:rPr lang="en-US" sz="3600" b="1" dirty="0">
                <a:solidFill>
                  <a:schemeClr val="bg1"/>
                </a:solidFill>
              </a:rPr>
              <a:t>on Guinea pig </a:t>
            </a:r>
            <a:r>
              <a:rPr lang="en-US" sz="3600" b="1" u="sng" dirty="0">
                <a:solidFill>
                  <a:schemeClr val="bg1"/>
                </a:solidFill>
              </a:rPr>
              <a:t>tooth length</a:t>
            </a:r>
            <a:r>
              <a:rPr lang="en-US" sz="36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76A757-11B1-E856-1263-AB43AE2BAE81}"/>
              </a:ext>
            </a:extLst>
          </p:cNvPr>
          <p:cNvSpPr txBox="1"/>
          <p:nvPr/>
        </p:nvSpPr>
        <p:spPr>
          <a:xfrm>
            <a:off x="8143336" y="-89141"/>
            <a:ext cx="44684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Does it change if the Vitamin is delivered via </a:t>
            </a:r>
            <a:r>
              <a:rPr lang="en-US" sz="3600" b="1" u="sng" dirty="0">
                <a:solidFill>
                  <a:schemeClr val="bg1"/>
                </a:solidFill>
              </a:rPr>
              <a:t>orange juice (OJ) </a:t>
            </a:r>
            <a:r>
              <a:rPr lang="en-US" sz="3600" b="1" dirty="0">
                <a:solidFill>
                  <a:schemeClr val="bg1"/>
                </a:solidFill>
              </a:rPr>
              <a:t>or </a:t>
            </a:r>
            <a:r>
              <a:rPr lang="en-US" sz="3600" b="1" u="sng" dirty="0">
                <a:solidFill>
                  <a:schemeClr val="bg1"/>
                </a:solidFill>
              </a:rPr>
              <a:t>ascorbic acid (AA)</a:t>
            </a:r>
          </a:p>
        </p:txBody>
      </p:sp>
    </p:spTree>
    <p:extLst>
      <p:ext uri="{BB962C8B-B14F-4D97-AF65-F5344CB8AC3E}">
        <p14:creationId xmlns:p14="http://schemas.microsoft.com/office/powerpoint/2010/main" val="26854979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D68CC2A2-6006-E6B4-1370-28C84F427BA8}"/>
              </a:ext>
            </a:extLst>
          </p:cNvPr>
          <p:cNvGrpSpPr/>
          <p:nvPr/>
        </p:nvGrpSpPr>
        <p:grpSpPr>
          <a:xfrm>
            <a:off x="97404" y="619891"/>
            <a:ext cx="12161698" cy="5943172"/>
            <a:chOff x="-1433930" y="716500"/>
            <a:chExt cx="14656657" cy="716240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AEF9855-4EFA-84F5-E22F-812FC90000FB}"/>
                </a:ext>
              </a:extLst>
            </p:cNvPr>
            <p:cNvGrpSpPr/>
            <p:nvPr/>
          </p:nvGrpSpPr>
          <p:grpSpPr>
            <a:xfrm>
              <a:off x="-1433930" y="716500"/>
              <a:ext cx="14656657" cy="7098198"/>
              <a:chOff x="-270608" y="72012"/>
              <a:chExt cx="15510879" cy="7511898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A30E9117-8A0D-5603-741E-391CA4C3D5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7030" y="72012"/>
                <a:ext cx="3311717" cy="3896138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C5B6CF24-9327-4215-3599-05B82BE68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51461" y="3990143"/>
                <a:ext cx="5288723" cy="3525817"/>
              </a:xfrm>
              <a:prstGeom prst="rect">
                <a:avLst/>
              </a:prstGeom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14F30BE2-BE88-6F99-62BD-E876006C29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70608" y="4008666"/>
                <a:ext cx="4766995" cy="3575244"/>
              </a:xfrm>
              <a:prstGeom prst="rect">
                <a:avLst/>
              </a:prstGeom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8BDD5B8A-5203-D7F8-647E-170C4280C4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06199" y="90330"/>
                <a:ext cx="5391367" cy="3992644"/>
              </a:xfrm>
              <a:prstGeom prst="rect">
                <a:avLst/>
              </a:prstGeom>
            </p:spPr>
          </p:pic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6CE508C4-934E-DC64-4F3F-D8B4039968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05069" y="273896"/>
                <a:ext cx="5135202" cy="3809077"/>
              </a:xfrm>
              <a:prstGeom prst="rect">
                <a:avLst/>
              </a:prstGeom>
            </p:spPr>
          </p:pic>
        </p:grp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902224A0-CB0F-D2E3-6516-FF2144602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16549" y="4372144"/>
              <a:ext cx="4675684" cy="3506763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9C9E190B-9914-09E6-523F-8ACA985C98BF}"/>
              </a:ext>
            </a:extLst>
          </p:cNvPr>
          <p:cNvSpPr txBox="1"/>
          <p:nvPr/>
        </p:nvSpPr>
        <p:spPr>
          <a:xfrm>
            <a:off x="207034" y="293298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One IV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8264F7-D449-2B0B-4AD6-23E838FAF465}"/>
              </a:ext>
            </a:extLst>
          </p:cNvPr>
          <p:cNvSpPr txBox="1"/>
          <p:nvPr/>
        </p:nvSpPr>
        <p:spPr>
          <a:xfrm>
            <a:off x="207034" y="3436022"/>
            <a:ext cx="916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Two IVs</a:t>
            </a:r>
          </a:p>
        </p:txBody>
      </p:sp>
    </p:spTree>
    <p:extLst>
      <p:ext uri="{BB962C8B-B14F-4D97-AF65-F5344CB8AC3E}">
        <p14:creationId xmlns:p14="http://schemas.microsoft.com/office/powerpoint/2010/main" val="5178933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F557-9FCB-C94B-BF08-CFA92C67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Bars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A716B-1823-E84A-8F45-3B67ABA40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3682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A note on error bars</a:t>
            </a:r>
          </a:p>
          <a:p>
            <a:r>
              <a:rPr lang="en-US" sz="3600" dirty="0"/>
              <a:t>They represent variability in our data</a:t>
            </a:r>
          </a:p>
          <a:p>
            <a:r>
              <a:rPr lang="en-US" sz="3600" dirty="0"/>
              <a:t>Variability will be covered in </a:t>
            </a:r>
            <a:r>
              <a:rPr lang="en-US" sz="3600"/>
              <a:t>Unit 1.3.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D42E10-9E52-91E6-ABD5-D0980E835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250" y="0"/>
            <a:ext cx="5847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1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38042-C2C3-EB57-4F86-7056A0069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046296-5381-843A-689A-3472C37CD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88" y="2291054"/>
            <a:ext cx="5417454" cy="40630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31E615-6EC2-D070-B18A-CFBFED401F42}"/>
              </a:ext>
            </a:extLst>
          </p:cNvPr>
          <p:cNvSpPr txBox="1"/>
          <p:nvPr/>
        </p:nvSpPr>
        <p:spPr>
          <a:xfrm>
            <a:off x="3463046" y="1028968"/>
            <a:ext cx="46483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Figure 1</a:t>
            </a:r>
          </a:p>
          <a:p>
            <a:endParaRPr lang="en-US" sz="2000" b="1" dirty="0"/>
          </a:p>
          <a:p>
            <a:r>
              <a:rPr lang="en-US" sz="2000" i="1" dirty="0"/>
              <a:t>Bar plot of Guinea Pig tooth length based on the dosage and source of Vitamin C </a:t>
            </a:r>
          </a:p>
        </p:txBody>
      </p:sp>
    </p:spTree>
    <p:extLst>
      <p:ext uri="{BB962C8B-B14F-4D97-AF65-F5344CB8AC3E}">
        <p14:creationId xmlns:p14="http://schemas.microsoft.com/office/powerpoint/2010/main" val="12351917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71F13-A5A8-7EC0-966C-C2FF60E04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A3B8E-AE61-3F35-0CDD-209DF128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E0D1E8-9B1B-366A-B792-4EBC58BF7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88" y="2291054"/>
            <a:ext cx="5417454" cy="40630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0708C6-196C-E699-EFD1-F141918CED8A}"/>
              </a:ext>
            </a:extLst>
          </p:cNvPr>
          <p:cNvSpPr txBox="1"/>
          <p:nvPr/>
        </p:nvSpPr>
        <p:spPr>
          <a:xfrm>
            <a:off x="3463046" y="1028968"/>
            <a:ext cx="46483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Figure 1</a:t>
            </a:r>
          </a:p>
          <a:p>
            <a:endParaRPr lang="en-US" sz="2000" b="1" dirty="0"/>
          </a:p>
          <a:p>
            <a:r>
              <a:rPr lang="en-US" sz="2000" i="1" dirty="0"/>
              <a:t>Bar plot of Guinea Pig tooth length based on the dosage and source of Vitamin C </a:t>
            </a: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4B709BB6-CDA5-C294-A20A-95E9395B5F2A}"/>
              </a:ext>
            </a:extLst>
          </p:cNvPr>
          <p:cNvSpPr/>
          <p:nvPr/>
        </p:nvSpPr>
        <p:spPr>
          <a:xfrm rot="21067427">
            <a:off x="4620589" y="954939"/>
            <a:ext cx="636593" cy="275115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2F78A6-0CDC-8464-C783-5F3ABC79828D}"/>
              </a:ext>
            </a:extLst>
          </p:cNvPr>
          <p:cNvSpPr txBox="1"/>
          <p:nvPr/>
        </p:nvSpPr>
        <p:spPr>
          <a:xfrm>
            <a:off x="5274596" y="776083"/>
            <a:ext cx="2905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Figure number is bold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E5526F-700B-2003-61FF-4EC11E3DA261}"/>
              </a:ext>
            </a:extLst>
          </p:cNvPr>
          <p:cNvSpPr txBox="1"/>
          <p:nvPr/>
        </p:nvSpPr>
        <p:spPr>
          <a:xfrm>
            <a:off x="8695094" y="1106074"/>
            <a:ext cx="3278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Title on a separate line than the table number. Title should be italicized. </a:t>
            </a:r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5A310347-6124-5BC3-16D6-BE3394AE9EB7}"/>
              </a:ext>
            </a:extLst>
          </p:cNvPr>
          <p:cNvSpPr/>
          <p:nvPr/>
        </p:nvSpPr>
        <p:spPr>
          <a:xfrm rot="21067427">
            <a:off x="7960997" y="1636551"/>
            <a:ext cx="636593" cy="275115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74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96754-74E9-784C-9B14-EBE8A4D59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Last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62790-C18D-EF4C-8238-54505F47D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Lying with Graphs</a:t>
            </a:r>
          </a:p>
          <a:p>
            <a:r>
              <a:rPr lang="en-US" dirty="0"/>
              <a:t>You have a lot of control how to display your data</a:t>
            </a:r>
          </a:p>
          <a:p>
            <a:pPr lvl="1"/>
            <a:r>
              <a:rPr lang="en-US" dirty="0"/>
              <a:t>Do not abuse it!</a:t>
            </a:r>
          </a:p>
          <a:p>
            <a:pPr lvl="1"/>
            <a:r>
              <a:rPr lang="en-US" dirty="0"/>
              <a:t>Always be as transparent as possible!</a:t>
            </a:r>
          </a:p>
        </p:txBody>
      </p:sp>
      <p:pic>
        <p:nvPicPr>
          <p:cNvPr id="5" name="Picture 4" descr="Chart&#10;&#10;Description automatically generated with medium confidence">
            <a:extLst>
              <a:ext uri="{FF2B5EF4-FFF2-40B4-BE49-F238E27FC236}">
                <a16:creationId xmlns:a16="http://schemas.microsoft.com/office/drawing/2014/main" id="{998CF117-EED8-D641-97A5-560AD763E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9013"/>
            <a:ext cx="12192000" cy="331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23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33129-C00B-120B-3925-17A6B35FB5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Extra Resources</a:t>
            </a:r>
          </a:p>
        </p:txBody>
      </p:sp>
    </p:spTree>
    <p:extLst>
      <p:ext uri="{BB962C8B-B14F-4D97-AF65-F5344CB8AC3E}">
        <p14:creationId xmlns:p14="http://schemas.microsoft.com/office/powerpoint/2010/main" val="51688107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293351-8008-E1CB-4F15-4A555B653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732" y="1412102"/>
            <a:ext cx="9578334" cy="54458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B88D1B-B6C3-E657-52D9-F27084A30D78}"/>
              </a:ext>
            </a:extLst>
          </p:cNvPr>
          <p:cNvSpPr txBox="1"/>
          <p:nvPr/>
        </p:nvSpPr>
        <p:spPr>
          <a:xfrm>
            <a:off x="6354792" y="63915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https://chadcwilliams.shinyapps.io/StatsProblemGenerator/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89BDAA-B437-C6E2-B719-46D0B05CD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Stats Problem Generator</a:t>
            </a:r>
          </a:p>
        </p:txBody>
      </p:sp>
    </p:spTree>
    <p:extLst>
      <p:ext uri="{BB962C8B-B14F-4D97-AF65-F5344CB8AC3E}">
        <p14:creationId xmlns:p14="http://schemas.microsoft.com/office/powerpoint/2010/main" val="32345999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9047A-FB31-D6D3-851F-6078CFEA4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Resources</a:t>
            </a: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1284504F-8F89-B633-4306-64D2D3BC9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146" y="1238822"/>
            <a:ext cx="4159707" cy="232943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hlinkClick r:id="rId4"/>
            <a:extLst>
              <a:ext uri="{FF2B5EF4-FFF2-40B4-BE49-F238E27FC236}">
                <a16:creationId xmlns:a16="http://schemas.microsoft.com/office/drawing/2014/main" id="{492B4A15-FC6B-4940-4141-2153F9828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697115"/>
            <a:ext cx="4712282" cy="2638878"/>
          </a:xfrm>
          <a:prstGeom prst="rect">
            <a:avLst/>
          </a:prstGeom>
        </p:spPr>
      </p:pic>
      <p:pic>
        <p:nvPicPr>
          <p:cNvPr id="9" name="Picture 8">
            <a:hlinkClick r:id="rId6"/>
            <a:extLst>
              <a:ext uri="{FF2B5EF4-FFF2-40B4-BE49-F238E27FC236}">
                <a16:creationId xmlns:a16="http://schemas.microsoft.com/office/drawing/2014/main" id="{B9851893-7EE7-C31F-04C1-00E6BA72C4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8226" y="3697115"/>
            <a:ext cx="4705574" cy="26351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E180E8-386E-6C2E-5547-C2120AF76309}"/>
              </a:ext>
            </a:extLst>
          </p:cNvPr>
          <p:cNvSpPr txBox="1"/>
          <p:nvPr/>
        </p:nvSpPr>
        <p:spPr>
          <a:xfrm>
            <a:off x="756795" y="6253469"/>
            <a:ext cx="4975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Note: The frequency tables in this video go in ascending order, but we do it in descending order.</a:t>
            </a:r>
          </a:p>
        </p:txBody>
      </p:sp>
    </p:spTree>
    <p:extLst>
      <p:ext uri="{BB962C8B-B14F-4D97-AF65-F5344CB8AC3E}">
        <p14:creationId xmlns:p14="http://schemas.microsoft.com/office/powerpoint/2010/main" val="1641994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c61d377-9894-427c-b13b-1d6a51662b4e}" enabled="0" method="" siteId="{9c61d377-9894-427c-b13b-1d6a51662b4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1999</TotalTime>
  <Words>3213</Words>
  <Application>Microsoft Office PowerPoint</Application>
  <PresentationFormat>Widescreen</PresentationFormat>
  <Paragraphs>1042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4" baseType="lpstr">
      <vt:lpstr>Arial</vt:lpstr>
      <vt:lpstr>Calibri</vt:lpstr>
      <vt:lpstr>Calibri Light</vt:lpstr>
      <vt:lpstr>Office Theme</vt:lpstr>
      <vt:lpstr>Frequency  Distributions</vt:lpstr>
      <vt:lpstr>PowerPoint Presentation</vt:lpstr>
      <vt:lpstr>Decimal Rules</vt:lpstr>
      <vt:lpstr>PowerPoint Presentation</vt:lpstr>
      <vt:lpstr>Purpose of Data Summaries</vt:lpstr>
      <vt:lpstr>Importance of Visualization </vt:lpstr>
      <vt:lpstr>Importance of Visualization </vt:lpstr>
      <vt:lpstr>Frequency Distribution</vt:lpstr>
      <vt:lpstr>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Creating a Frequency Distribution</vt:lpstr>
      <vt:lpstr>PowerPoint Presentation</vt:lpstr>
      <vt:lpstr>Stem and Leaf Display</vt:lpstr>
      <vt:lpstr>Stem and Leaf Display</vt:lpstr>
      <vt:lpstr>Stem and Leaf Display</vt:lpstr>
      <vt:lpstr>Stem and Leaf Display</vt:lpstr>
      <vt:lpstr>Stem and Leaf Display</vt:lpstr>
      <vt:lpstr>Stem and Leaf Display</vt:lpstr>
      <vt:lpstr>Stem and Leaf Display</vt:lpstr>
      <vt:lpstr>Stem and Leaf Display</vt:lpstr>
      <vt:lpstr>Stem and Leaf Display</vt:lpstr>
      <vt:lpstr>Stem and Leaf Display</vt:lpstr>
      <vt:lpstr>PowerPoint Presentation</vt:lpstr>
      <vt:lpstr>Tables</vt:lpstr>
      <vt:lpstr>Tables</vt:lpstr>
      <vt:lpstr>Tables</vt:lpstr>
      <vt:lpstr>Tables</vt:lpstr>
      <vt:lpstr>Tables</vt:lpstr>
      <vt:lpstr>Tables</vt:lpstr>
      <vt:lpstr>Figures</vt:lpstr>
      <vt:lpstr>Figures</vt:lpstr>
      <vt:lpstr>PowerPoint Presentation</vt:lpstr>
      <vt:lpstr>Figures</vt:lpstr>
      <vt:lpstr>Figures</vt:lpstr>
      <vt:lpstr>Figures</vt:lpstr>
      <vt:lpstr>Figures</vt:lpstr>
      <vt:lpstr>Figures</vt:lpstr>
      <vt:lpstr>Figures</vt:lpstr>
      <vt:lpstr>Figures</vt:lpstr>
      <vt:lpstr>PowerPoint Presentation</vt:lpstr>
      <vt:lpstr>PowerPoint Presentation</vt:lpstr>
      <vt:lpstr>Error Bars</vt:lpstr>
      <vt:lpstr>Figures</vt:lpstr>
      <vt:lpstr>Figures</vt:lpstr>
      <vt:lpstr>One Last Note</vt:lpstr>
      <vt:lpstr>Extra Resources</vt:lpstr>
      <vt:lpstr>Stats Problem Generator</vt:lpstr>
      <vt:lpstr>Extra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Distributions</dc:title>
  <dc:creator>Microsoft Office User</dc:creator>
  <cp:lastModifiedBy>Chad Williams</cp:lastModifiedBy>
  <cp:revision>152</cp:revision>
  <dcterms:created xsi:type="dcterms:W3CDTF">2021-05-10T19:04:10Z</dcterms:created>
  <dcterms:modified xsi:type="dcterms:W3CDTF">2026-08-20T19:50:34Z</dcterms:modified>
</cp:coreProperties>
</file>