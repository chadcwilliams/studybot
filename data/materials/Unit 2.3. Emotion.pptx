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80" r:id="rId3"/>
    <p:sldId id="318" r:id="rId4"/>
    <p:sldId id="472" r:id="rId5"/>
    <p:sldId id="281" r:id="rId6"/>
    <p:sldId id="286" r:id="rId7"/>
    <p:sldId id="283" r:id="rId8"/>
    <p:sldId id="284" r:id="rId9"/>
    <p:sldId id="285" r:id="rId10"/>
    <p:sldId id="319" r:id="rId11"/>
    <p:sldId id="288" r:id="rId12"/>
    <p:sldId id="305" r:id="rId13"/>
    <p:sldId id="477" r:id="rId14"/>
    <p:sldId id="297" r:id="rId15"/>
    <p:sldId id="290" r:id="rId16"/>
    <p:sldId id="291" r:id="rId17"/>
    <p:sldId id="294" r:id="rId18"/>
    <p:sldId id="295" r:id="rId19"/>
    <p:sldId id="296" r:id="rId20"/>
    <p:sldId id="293" r:id="rId21"/>
    <p:sldId id="322" r:id="rId22"/>
    <p:sldId id="320" r:id="rId23"/>
    <p:sldId id="299" r:id="rId24"/>
    <p:sldId id="300" r:id="rId25"/>
    <p:sldId id="301" r:id="rId26"/>
    <p:sldId id="478" r:id="rId27"/>
    <p:sldId id="304" r:id="rId28"/>
    <p:sldId id="321" r:id="rId29"/>
    <p:sldId id="306" r:id="rId30"/>
    <p:sldId id="309" r:id="rId31"/>
    <p:sldId id="314" r:id="rId32"/>
    <p:sldId id="315" r:id="rId33"/>
    <p:sldId id="307" r:id="rId34"/>
    <p:sldId id="479" r:id="rId35"/>
    <p:sldId id="310" r:id="rId36"/>
    <p:sldId id="311" r:id="rId37"/>
    <p:sldId id="312" r:id="rId38"/>
    <p:sldId id="316" r:id="rId39"/>
    <p:sldId id="481" r:id="rId40"/>
    <p:sldId id="482" r:id="rId41"/>
    <p:sldId id="36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97132"/>
    <a:srgbClr val="215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51A751-DE7B-4B1B-B418-CF69041BE7C1}" v="1" dt="2026-07-28T21:52:30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98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custSel addSld delSld modSld sldOrd">
      <pc:chgData name="Chad Williams" userId="618f96a3-8672-4e43-ae03-eeed93bb7387" providerId="ADAL" clId="{DFF2BB08-185E-495B-B2A0-BE0942C7B81E}" dt="2026-07-28T21:53:34.431" v="11207" actId="20577"/>
      <pc:docMkLst>
        <pc:docMk/>
      </pc:docMkLst>
      <pc:sldChg chg="modSp add mod">
        <pc:chgData name="Chad Williams" userId="618f96a3-8672-4e43-ae03-eeed93bb7387" providerId="ADAL" clId="{DFF2BB08-185E-495B-B2A0-BE0942C7B81E}" dt="2026-07-28T21:53:34.431" v="11207" actId="20577"/>
        <pc:sldMkLst>
          <pc:docMk/>
          <pc:sldMk cId="1446489920" sldId="363"/>
        </pc:sldMkLst>
        <pc:spChg chg="mod">
          <ac:chgData name="Chad Williams" userId="618f96a3-8672-4e43-ae03-eeed93bb7387" providerId="ADAL" clId="{DFF2BB08-185E-495B-B2A0-BE0942C7B81E}" dt="2026-07-28T21:53:34.431" v="11207" actId="20577"/>
          <ac:spMkLst>
            <pc:docMk/>
            <pc:sldMk cId="1446489920" sldId="363"/>
            <ac:spMk id="5" creationId="{67F61BB8-1FC1-AFE2-DABD-CEF63125C9F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58E55-DF54-4DED-9AD7-D46FCB7DC95A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5B977-0B2D-4610-A9FA-D6352649F8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98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5B977-0B2D-4610-A9FA-D6352649F8A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6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CC9F-153C-5BED-77D1-0EA8FA851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AFA1B-9317-E4FA-9E5F-71F307F14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A73E4-6544-A008-5669-868A3733E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B6D09-B653-253C-7468-CB695721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3E8E0-BCE4-8E2F-3CAF-4A0155F0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9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1D079-863E-8E80-51B0-7CE72BACC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3BEF-88ED-FA81-799F-132222CC5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72EFB-BE09-46CC-5EB5-923F524C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6EFA9-57FE-A7B8-0152-0677077C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A541-BCB9-1489-0D4F-34671F1D1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A1885-73A8-5C98-F85B-FD93EF33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37A30-0AAF-9C64-D450-3D3E62C28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A13C8-8130-0C7A-54B4-8B2AA151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34BF-4EF4-090A-5327-72E3A111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1FC7-CF5C-AD75-EEBC-C726161E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6A28B-31B8-90E0-AADB-E4AC95AD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A5B33-9A1F-2B19-2C08-444D6F7E5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D7EEE-51DA-00F0-2BC4-0203809C7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B6CCE-3D6C-9C92-E8CD-17CF1A15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C9986-80E1-876A-BDE4-EF8F4D69C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FCFA4-1493-0C60-41EB-5E0360F8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1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F673-6B17-CAA7-EDD6-EB6A46BE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42013-5E11-D28F-B4C3-E07D6D43A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4C146-9506-960E-B2C6-114BA1500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BEDC7-17C2-A78A-F73C-3BFFAAC16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F650B-E297-256A-06A0-1688F7254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1E005-308A-9E31-CDC4-583D302C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8BA9C-2513-9724-E7D8-B6AEAE22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60F89A-69C7-2DC4-2A67-FB0B568A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0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9B60-4ECB-D4C5-8F9C-72E834BA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69B5F-2004-DA7B-ABF6-7D712B038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0A102-A3B7-C8B1-77C9-E4C9BB98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87EC4-7497-0271-3E6A-E842B574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6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E70430-559B-8C59-E57F-58CA50ADF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99E04-CCEF-3AEF-0EB8-28DACA67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C6E08-EFFD-76A2-23F6-9951F33C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80C6-0265-BCB2-D248-70F79E4F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C3128-5EA3-9110-61E8-6E54054C5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DFD61-4640-6E89-117E-8033F215A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DAE60-E065-FA6D-E126-F6A6328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DA105-935B-CDCB-5819-3E9730FC0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2526E-01B6-82CE-B0F6-217F7B28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66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489F-F723-CF7F-7BF9-B198245EF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D3A86-032B-BCD7-6A72-9F5BEBC9AF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F5CEA-D30D-B373-82E9-DCD1FAE807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9203E-0C3D-FD43-06CF-BFC0FE6F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392B7-3636-A5E9-BA01-ECA6E682D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85FEB-1518-7D4D-8A18-4FE72BCE5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4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8754-A5FA-D976-080B-7F0E83EF7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D0E94-9358-341D-4038-E76888268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95BA3-992C-3CDB-41CD-646B7C252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EFD14-CAE1-5E67-18B9-50B714E3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5021C-74B3-CB99-976A-1F95B561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34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2E7540-105A-F4AF-F5BE-954009823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61B68-319D-3491-F4AB-52C88C4C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48040-C41C-A2CF-88F3-C132E0479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F7DA8-1DE6-4EA3-1B7F-D800D360C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BA4F0-46E8-02C8-7D5F-BE788AB8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7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EEC4E-DC2D-5EE1-5C7A-4C259295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4BA5-8DC3-EE54-47B9-587EBF40A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E6DD-3F7D-93DE-45F6-7A594444F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11407-8E1B-4C97-B51B-FFA28C554ED7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9E689-9319-DF25-D096-A79BFECCE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A93C1-3576-E67E-2759-17A9F78C5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13C4C-01C6-4528-B855-C0BB2AC84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05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2805" y="1122363"/>
            <a:ext cx="6197089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Emotion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2805" y="3602038"/>
            <a:ext cx="6197089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pic>
        <p:nvPicPr>
          <p:cNvPr id="10" name="Picture 9" descr="A colorful and black and white brain&#10;&#10;AI-generated content may be incorrect.">
            <a:extLst>
              <a:ext uri="{FF2B5EF4-FFF2-40B4-BE49-F238E27FC236}">
                <a16:creationId xmlns:a16="http://schemas.microsoft.com/office/drawing/2014/main" id="{2517674F-1EF5-6501-66B2-CCB81D59B9A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3" t="7044" r="23408" b="21998"/>
          <a:stretch>
            <a:fillRect/>
          </a:stretch>
        </p:blipFill>
        <p:spPr>
          <a:xfrm>
            <a:off x="1451809" y="-16931"/>
            <a:ext cx="4908331" cy="64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6574665" y="602116"/>
            <a:ext cx="5702954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Emotions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Limbic System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Regions Beyond the Limbic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Stress</a:t>
            </a:r>
          </a:p>
        </p:txBody>
      </p:sp>
      <p:pic>
        <p:nvPicPr>
          <p:cNvPr id="2" name="Picture 1" descr="A colorful and black and white brain&#10;&#10;AI-generated content may be incorrect.">
            <a:extLst>
              <a:ext uri="{FF2B5EF4-FFF2-40B4-BE49-F238E27FC236}">
                <a16:creationId xmlns:a16="http://schemas.microsoft.com/office/drawing/2014/main" id="{FF63C198-1FEA-CEA5-594F-622A66BCB8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3" t="7044" r="23408" b="21998"/>
          <a:stretch>
            <a:fillRect/>
          </a:stretch>
        </p:blipFill>
        <p:spPr>
          <a:xfrm>
            <a:off x="1451809" y="-16931"/>
            <a:ext cx="4908331" cy="64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3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0E3F-9C2B-6CA1-785D-F776B8F6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D701D34B-398C-963F-74F3-BAFAD2E04C06}"/>
              </a:ext>
            </a:extLst>
          </p:cNvPr>
          <p:cNvSpPr txBox="1">
            <a:spLocks/>
          </p:cNvSpPr>
          <p:nvPr/>
        </p:nvSpPr>
        <p:spPr>
          <a:xfrm>
            <a:off x="6574665" y="602116"/>
            <a:ext cx="5702954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Emotions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Limbic System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Regions Beyond the Limbic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Stress</a:t>
            </a:r>
          </a:p>
        </p:txBody>
      </p:sp>
      <p:pic>
        <p:nvPicPr>
          <p:cNvPr id="2" name="Picture 1" descr="A colorful and black and white brain&#10;&#10;AI-generated content may be incorrect.">
            <a:extLst>
              <a:ext uri="{FF2B5EF4-FFF2-40B4-BE49-F238E27FC236}">
                <a16:creationId xmlns:a16="http://schemas.microsoft.com/office/drawing/2014/main" id="{DC53784E-FABF-FB21-7339-6656DDD2FF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3" t="7044" r="23408" b="21998"/>
          <a:stretch>
            <a:fillRect/>
          </a:stretch>
        </p:blipFill>
        <p:spPr>
          <a:xfrm>
            <a:off x="1451809" y="-16931"/>
            <a:ext cx="4908331" cy="64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3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0ECD7-A2C0-CA4B-7579-80024DB3D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23575-2821-747A-6C48-6FB27671E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30347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Emotion</a:t>
            </a:r>
            <a:r>
              <a:rPr lang="en-US" dirty="0"/>
              <a:t>: A mostly automatic internal state with a physiological response to an object or situation</a:t>
            </a:r>
          </a:p>
          <a:p>
            <a:r>
              <a:rPr lang="en-US" dirty="0"/>
              <a:t>Emotions lie on </a:t>
            </a:r>
            <a:r>
              <a:rPr lang="en-US" b="1" dirty="0"/>
              <a:t>two dimensions</a:t>
            </a:r>
          </a:p>
          <a:p>
            <a:pPr lvl="1"/>
            <a:r>
              <a:rPr lang="en-US" dirty="0"/>
              <a:t>Arousing versus not arousing</a:t>
            </a:r>
          </a:p>
          <a:p>
            <a:pPr lvl="1"/>
            <a:r>
              <a:rPr lang="en-US" dirty="0"/>
              <a:t>Pleasant versus unpleasant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9C93FB-7911-9520-3693-945372899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977" y="1304692"/>
            <a:ext cx="4901706" cy="451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550A-3A61-0B91-05E2-1C94EABC3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E71E4-D3A3-C2F9-19C0-CE80C710F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35467" cy="48819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Plutchik’s Wheel of Emotions</a:t>
            </a:r>
            <a:endParaRPr lang="en-US" dirty="0"/>
          </a:p>
          <a:p>
            <a:pPr lvl="1"/>
            <a:r>
              <a:rPr lang="en-US" dirty="0"/>
              <a:t>Joy vs Sadness</a:t>
            </a:r>
          </a:p>
          <a:p>
            <a:pPr lvl="1"/>
            <a:r>
              <a:rPr lang="en-US" dirty="0"/>
              <a:t>Affection vs Disgust</a:t>
            </a:r>
          </a:p>
          <a:p>
            <a:pPr lvl="1"/>
            <a:r>
              <a:rPr lang="en-US" dirty="0"/>
              <a:t>Anger vs Fear</a:t>
            </a:r>
          </a:p>
          <a:p>
            <a:pPr lvl="1"/>
            <a:r>
              <a:rPr lang="en-US" dirty="0"/>
              <a:t>Expectation vs Surprise</a:t>
            </a:r>
          </a:p>
          <a:p>
            <a:r>
              <a:rPr lang="en-US" b="1" dirty="0"/>
              <a:t>Features</a:t>
            </a:r>
            <a:endParaRPr lang="en-US" dirty="0"/>
          </a:p>
          <a:p>
            <a:pPr lvl="1"/>
            <a:r>
              <a:rPr lang="en-US" dirty="0"/>
              <a:t>Emotions have intensity</a:t>
            </a:r>
          </a:p>
          <a:p>
            <a:pPr lvl="1"/>
            <a:r>
              <a:rPr lang="en-US" dirty="0"/>
              <a:t>Other emotions are thought to be the combination of these core emotions</a:t>
            </a:r>
          </a:p>
          <a:p>
            <a:pPr lvl="1"/>
            <a:r>
              <a:rPr lang="en-US" dirty="0"/>
              <a:t>Expressed </a:t>
            </a:r>
            <a:r>
              <a:rPr lang="en-US" dirty="0" err="1"/>
              <a:t>behaviourally</a:t>
            </a:r>
            <a:r>
              <a:rPr lang="en-US" dirty="0"/>
              <a:t>, especially through facial expressions</a:t>
            </a:r>
          </a:p>
          <a:p>
            <a:pPr lvl="2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8" name="Picture 7" descr="A diagram of different emotions&#10;&#10;AI-generated content may be incorrect.">
            <a:extLst>
              <a:ext uri="{FF2B5EF4-FFF2-40B4-BE49-F238E27FC236}">
                <a16:creationId xmlns:a16="http://schemas.microsoft.com/office/drawing/2014/main" id="{CBC994C8-FE7B-DDF8-E96B-4FB579F7B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322" y="782196"/>
            <a:ext cx="3084862" cy="585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DB7E-618C-72FB-879F-BD65E2574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EBB52-7868-F8F8-4B2D-A8E4D3B9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C81E-B63A-F873-3FDA-207BE9113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059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Emotions:</a:t>
            </a:r>
            <a:r>
              <a:rPr lang="en-US" dirty="0"/>
              <a:t> Feelings</a:t>
            </a:r>
            <a:r>
              <a:rPr lang="en-US" i="1" dirty="0"/>
              <a:t> </a:t>
            </a:r>
            <a:r>
              <a:rPr lang="en-US" dirty="0"/>
              <a:t>reflect an internal state</a:t>
            </a:r>
            <a:endParaRPr lang="en-US" i="1" dirty="0"/>
          </a:p>
          <a:p>
            <a:r>
              <a:rPr lang="en-US" dirty="0"/>
              <a:t>Expressed as </a:t>
            </a:r>
            <a:r>
              <a:rPr lang="en-US" i="1" dirty="0"/>
              <a:t>behaviours</a:t>
            </a:r>
          </a:p>
          <a:p>
            <a:pPr lvl="1"/>
            <a:r>
              <a:rPr lang="en-US" dirty="0"/>
              <a:t>Hugging, lashing out</a:t>
            </a:r>
          </a:p>
          <a:p>
            <a:r>
              <a:rPr lang="en-US" dirty="0"/>
              <a:t>Affected by </a:t>
            </a:r>
            <a:r>
              <a:rPr lang="en-US" i="1" dirty="0"/>
              <a:t>cognition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Memory, attention</a:t>
            </a:r>
          </a:p>
          <a:p>
            <a:r>
              <a:rPr lang="en-US" dirty="0"/>
              <a:t>Causes </a:t>
            </a:r>
            <a:r>
              <a:rPr lang="en-US" i="1" dirty="0"/>
              <a:t>physiological</a:t>
            </a:r>
            <a:r>
              <a:rPr lang="en-US" dirty="0"/>
              <a:t> changes</a:t>
            </a:r>
          </a:p>
          <a:p>
            <a:pPr lvl="1"/>
            <a:r>
              <a:rPr lang="en-US" dirty="0"/>
              <a:t>Heart rate, sweat</a:t>
            </a:r>
          </a:p>
        </p:txBody>
      </p:sp>
      <p:pic>
        <p:nvPicPr>
          <p:cNvPr id="6" name="Picture 5" descr="A collage of a person's face&#10;&#10;AI-generated content may be incorrect.">
            <a:extLst>
              <a:ext uri="{FF2B5EF4-FFF2-40B4-BE49-F238E27FC236}">
                <a16:creationId xmlns:a16="http://schemas.microsoft.com/office/drawing/2014/main" id="{158CED9E-7610-9A30-03ED-82B6D0285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795" y="922904"/>
            <a:ext cx="5012192" cy="501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14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3394F-3B7B-9A93-444A-7A763C80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4292-2D9B-B81A-B1D3-8409BB4E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9618-D36A-558B-06E3-E184C82AB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8059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Two-Factor Theory of Emotion</a:t>
            </a:r>
          </a:p>
          <a:p>
            <a:r>
              <a:rPr lang="en-US" dirty="0"/>
              <a:t>Emotions are caused by the combination of </a:t>
            </a:r>
          </a:p>
          <a:p>
            <a:pPr lvl="1"/>
            <a:r>
              <a:rPr lang="en-US" i="1" dirty="0"/>
              <a:t>physiological</a:t>
            </a:r>
            <a:r>
              <a:rPr lang="en-US" dirty="0"/>
              <a:t> arousal</a:t>
            </a:r>
          </a:p>
          <a:p>
            <a:pPr lvl="1"/>
            <a:r>
              <a:rPr lang="en-US" i="1" dirty="0"/>
              <a:t>cognitive</a:t>
            </a:r>
            <a:r>
              <a:rPr lang="en-US" dirty="0"/>
              <a:t> interpretation of the environment</a:t>
            </a:r>
          </a:p>
          <a:p>
            <a:pPr lvl="1"/>
            <a:endParaRPr lang="en-US" dirty="0"/>
          </a:p>
        </p:txBody>
      </p:sp>
      <p:pic>
        <p:nvPicPr>
          <p:cNvPr id="5" name="Picture 4" descr="A collage of a person's face&#10;&#10;AI-generated content may be incorrect.">
            <a:extLst>
              <a:ext uri="{FF2B5EF4-FFF2-40B4-BE49-F238E27FC236}">
                <a16:creationId xmlns:a16="http://schemas.microsoft.com/office/drawing/2014/main" id="{87A7CC68-500A-DE60-AFB6-15BBDD43A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795" y="922904"/>
            <a:ext cx="5012192" cy="501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15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2A01B-7A63-34D8-8730-416163AA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65740-8A6B-B84F-6B35-BB256EF5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B377B-C29F-B61D-3BB5-6F9AC7198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218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Emotions Across Species</a:t>
            </a:r>
          </a:p>
          <a:p>
            <a:r>
              <a:rPr lang="en-US" i="1" dirty="0"/>
              <a:t>Core</a:t>
            </a:r>
            <a:r>
              <a:rPr lang="en-US" dirty="0"/>
              <a:t> emotions have been observed in species beyond humans</a:t>
            </a:r>
          </a:p>
          <a:p>
            <a:pPr lvl="1"/>
            <a:r>
              <a:rPr lang="en-US" dirty="0"/>
              <a:t>Primates present facial expressions of grimace, tense mouth, and play face</a:t>
            </a:r>
          </a:p>
          <a:p>
            <a:pPr lvl="1"/>
            <a:r>
              <a:rPr lang="en-US" dirty="0"/>
              <a:t>Rats make ultrasonic noise akin to laughter</a:t>
            </a:r>
          </a:p>
          <a:p>
            <a:pPr lvl="1"/>
            <a:r>
              <a:rPr lang="en-US" dirty="0"/>
              <a:t>Rats also show facial expressions </a:t>
            </a:r>
          </a:p>
          <a:p>
            <a:pPr lvl="1"/>
            <a:endParaRPr lang="en-US" dirty="0"/>
          </a:p>
        </p:txBody>
      </p:sp>
      <p:pic>
        <p:nvPicPr>
          <p:cNvPr id="10" name="Picture 9" descr="A collage of monkeys&#10;&#10;AI-generated content may be incorrect.">
            <a:extLst>
              <a:ext uri="{FF2B5EF4-FFF2-40B4-BE49-F238E27FC236}">
                <a16:creationId xmlns:a16="http://schemas.microsoft.com/office/drawing/2014/main" id="{35BAEE19-7625-42DE-C824-36A7345CD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18"/>
          <a:stretch>
            <a:fillRect/>
          </a:stretch>
        </p:blipFill>
        <p:spPr>
          <a:xfrm>
            <a:off x="7732035" y="716097"/>
            <a:ext cx="3978895" cy="2797089"/>
          </a:xfrm>
          <a:prstGeom prst="rect">
            <a:avLst/>
          </a:prstGeom>
        </p:spPr>
      </p:pic>
      <p:pic>
        <p:nvPicPr>
          <p:cNvPr id="11" name="Picture 10" descr="A collage of monkeys&#10;&#10;AI-generated content may be incorrect.">
            <a:extLst>
              <a:ext uri="{FF2B5EF4-FFF2-40B4-BE49-F238E27FC236}">
                <a16:creationId xmlns:a16="http://schemas.microsoft.com/office/drawing/2014/main" id="{8B6349B8-3D0C-3CF8-EA43-B7B23DB6A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018"/>
          <a:stretch>
            <a:fillRect/>
          </a:stretch>
        </p:blipFill>
        <p:spPr>
          <a:xfrm>
            <a:off x="7698983" y="3695786"/>
            <a:ext cx="3978895" cy="279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3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C9B5B-7CEA-B37C-6790-BFCDA5432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6682-FF70-F617-82CA-897740E3C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8D8BA-B96E-4C79-CDD7-1420F304D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65327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Emotions Across Species</a:t>
            </a:r>
          </a:p>
          <a:p>
            <a:r>
              <a:rPr lang="en-US" dirty="0"/>
              <a:t>Hypothesized as a form of </a:t>
            </a:r>
            <a:r>
              <a:rPr lang="en-US" i="1" dirty="0"/>
              <a:t>quick</a:t>
            </a:r>
            <a:r>
              <a:rPr lang="en-US" dirty="0"/>
              <a:t> communication</a:t>
            </a:r>
          </a:p>
          <a:p>
            <a:pPr lvl="1"/>
            <a:r>
              <a:rPr lang="en-US" dirty="0"/>
              <a:t>Facilitates cooperations and mating</a:t>
            </a:r>
          </a:p>
          <a:p>
            <a:pPr lvl="1"/>
            <a:r>
              <a:rPr lang="en-US" dirty="0"/>
              <a:t>Warns of predators</a:t>
            </a:r>
          </a:p>
          <a:p>
            <a:pPr lvl="1"/>
            <a:r>
              <a:rPr lang="en-US" dirty="0"/>
              <a:t>Informs about food sources</a:t>
            </a:r>
          </a:p>
          <a:p>
            <a:pPr lvl="1"/>
            <a:r>
              <a:rPr lang="en-US" dirty="0"/>
              <a:t>Disgust of food warns of toxicity</a:t>
            </a:r>
          </a:p>
          <a:p>
            <a:pPr lvl="1"/>
            <a:endParaRPr lang="en-US" dirty="0"/>
          </a:p>
          <a:p>
            <a:r>
              <a:rPr lang="en-US" dirty="0"/>
              <a:t>Humans are quick to judge based on facial expressions </a:t>
            </a:r>
          </a:p>
          <a:p>
            <a:pPr lvl="1"/>
            <a:r>
              <a:rPr lang="en-US" dirty="0"/>
              <a:t>Face is highly visible and processed rapidly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Picture 9" descr="A collage of monkeys&#10;&#10;AI-generated content may be incorrect.">
            <a:extLst>
              <a:ext uri="{FF2B5EF4-FFF2-40B4-BE49-F238E27FC236}">
                <a16:creationId xmlns:a16="http://schemas.microsoft.com/office/drawing/2014/main" id="{C3A992CC-3161-3C3D-0772-64BC481B6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18"/>
          <a:stretch>
            <a:fillRect/>
          </a:stretch>
        </p:blipFill>
        <p:spPr>
          <a:xfrm>
            <a:off x="7732035" y="716097"/>
            <a:ext cx="3978895" cy="2797089"/>
          </a:xfrm>
          <a:prstGeom prst="rect">
            <a:avLst/>
          </a:prstGeom>
        </p:spPr>
      </p:pic>
      <p:pic>
        <p:nvPicPr>
          <p:cNvPr id="11" name="Picture 10" descr="A collage of monkeys&#10;&#10;AI-generated content may be incorrect.">
            <a:extLst>
              <a:ext uri="{FF2B5EF4-FFF2-40B4-BE49-F238E27FC236}">
                <a16:creationId xmlns:a16="http://schemas.microsoft.com/office/drawing/2014/main" id="{9E9248C1-CF5A-40C9-E423-488B8E8C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018"/>
          <a:stretch>
            <a:fillRect/>
          </a:stretch>
        </p:blipFill>
        <p:spPr>
          <a:xfrm>
            <a:off x="7698983" y="3695786"/>
            <a:ext cx="3978895" cy="279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3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8DF-A109-A6C8-8EFE-BCD6E059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64352B41-2703-6B75-6DFF-C457F6E25134}"/>
              </a:ext>
            </a:extLst>
          </p:cNvPr>
          <p:cNvSpPr txBox="1">
            <a:spLocks/>
          </p:cNvSpPr>
          <p:nvPr/>
        </p:nvSpPr>
        <p:spPr>
          <a:xfrm>
            <a:off x="6574665" y="602116"/>
            <a:ext cx="5702954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Emotions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Limbic System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Regions Beyond the Limbic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Stress</a:t>
            </a:r>
          </a:p>
        </p:txBody>
      </p:sp>
      <p:pic>
        <p:nvPicPr>
          <p:cNvPr id="2" name="Picture 1" descr="A colorful and black and white brain&#10;&#10;AI-generated content may be incorrect.">
            <a:extLst>
              <a:ext uri="{FF2B5EF4-FFF2-40B4-BE49-F238E27FC236}">
                <a16:creationId xmlns:a16="http://schemas.microsoft.com/office/drawing/2014/main" id="{147E60FC-E67A-35A5-663B-DC2ABF1A096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3" t="7044" r="23408" b="21998"/>
          <a:stretch>
            <a:fillRect/>
          </a:stretch>
        </p:blipFill>
        <p:spPr>
          <a:xfrm>
            <a:off x="1451809" y="-16931"/>
            <a:ext cx="4908331" cy="64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15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0FB2A-A6BD-6A6B-C51A-F48A6F5B9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71D61-D748-719A-86AD-8DCA4C910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5A75F-CCAC-D176-7F2D-800B6B21E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168528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Limbic System</a:t>
            </a:r>
          </a:p>
          <a:p>
            <a:r>
              <a:rPr lang="en-US" altLang="en-US" sz="2700" b="1" dirty="0"/>
              <a:t>Hypothalamus: </a:t>
            </a:r>
            <a:r>
              <a:rPr lang="en-US" altLang="en-US" sz="2700" dirty="0"/>
              <a:t>Autonomic and endocrine responses to emotion</a:t>
            </a:r>
          </a:p>
          <a:p>
            <a:pPr lvl="1"/>
            <a:r>
              <a:rPr lang="en-US" altLang="en-US" sz="2300" dirty="0"/>
              <a:t>controls heart rate, arousal, and stress hormones</a:t>
            </a:r>
          </a:p>
          <a:p>
            <a:pPr lvl="1"/>
            <a:endParaRPr lang="en-US" altLang="en-US" sz="2700" dirty="0"/>
          </a:p>
          <a:p>
            <a:r>
              <a:rPr lang="en-US" altLang="en-US" sz="2700" b="1" dirty="0"/>
              <a:t>Thalamus: </a:t>
            </a:r>
            <a:r>
              <a:rPr lang="en-US" altLang="en-US" sz="2700" dirty="0"/>
              <a:t>Relay between subcortical and cortical emotion areas; </a:t>
            </a:r>
          </a:p>
          <a:p>
            <a:pPr lvl="1"/>
            <a:r>
              <a:rPr lang="en-US" altLang="en-US" sz="2300" dirty="0"/>
              <a:t>Links memory and emotion </a:t>
            </a:r>
          </a:p>
          <a:p>
            <a:pPr lvl="1"/>
            <a:endParaRPr lang="en-US" altLang="en-US" sz="2300" dirty="0"/>
          </a:p>
          <a:p>
            <a:r>
              <a:rPr lang="en-US" altLang="en-US" sz="2700" b="1" dirty="0"/>
              <a:t>Cingulate Cortex: </a:t>
            </a:r>
            <a:r>
              <a:rPr lang="en-US" altLang="en-US" sz="2700" dirty="0"/>
              <a:t>Integrates emotional experience with attention and decision-making</a:t>
            </a:r>
          </a:p>
          <a:p>
            <a:pPr lvl="1"/>
            <a:r>
              <a:rPr lang="en-US" altLang="en-US" sz="2300" dirty="0"/>
              <a:t>Connects emotional states to purposeful behavior</a:t>
            </a:r>
          </a:p>
        </p:txBody>
      </p:sp>
      <p:pic>
        <p:nvPicPr>
          <p:cNvPr id="7" name="Picture 6" descr="A diagram of the brain&#10;&#10;AI-generated content may be incorrect.">
            <a:extLst>
              <a:ext uri="{FF2B5EF4-FFF2-40B4-BE49-F238E27FC236}">
                <a16:creationId xmlns:a16="http://schemas.microsoft.com/office/drawing/2014/main" id="{E2B5D28D-8730-E0BF-3830-74D87785B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795" y="1389522"/>
            <a:ext cx="4912100" cy="515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53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1121C-44BF-82FB-DC9F-F7314BD4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the brain&#10;&#10;AI-generated content may be incorrect.">
            <a:extLst>
              <a:ext uri="{FF2B5EF4-FFF2-40B4-BE49-F238E27FC236}">
                <a16:creationId xmlns:a16="http://schemas.microsoft.com/office/drawing/2014/main" id="{B570FDD7-9FDC-040A-5B22-87B63E8CF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795" y="1389522"/>
            <a:ext cx="4912100" cy="5156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DC18CD-FF96-BAB1-5AF4-296C22C0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029D6-DB0B-5D2B-3251-933B22C6B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9237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Limbic System</a:t>
            </a:r>
          </a:p>
          <a:p>
            <a:r>
              <a:rPr lang="en-US" altLang="en-US" sz="2700" b="1" dirty="0"/>
              <a:t>Hippocampus: </a:t>
            </a:r>
            <a:r>
              <a:rPr lang="en-US" altLang="en-US" sz="2700" dirty="0"/>
              <a:t>Memory formation and context</a:t>
            </a:r>
          </a:p>
          <a:p>
            <a:pPr lvl="1"/>
            <a:r>
              <a:rPr lang="en-US" altLang="en-US" sz="2300" dirty="0"/>
              <a:t>Gives emotional experiences a temporal and spatial background (where and when it happened)</a:t>
            </a:r>
          </a:p>
          <a:p>
            <a:endParaRPr lang="en-US" altLang="en-US" sz="2700" dirty="0"/>
          </a:p>
          <a:p>
            <a:r>
              <a:rPr lang="en-US" altLang="en-US" sz="2700" b="1" dirty="0"/>
              <a:t>Fornix: </a:t>
            </a:r>
            <a:r>
              <a:rPr lang="en-US" altLang="en-US" sz="2700" dirty="0"/>
              <a:t>Fiber tract connecting the hippocampus to the hypothalamus (especially the mammillary bodies)</a:t>
            </a:r>
          </a:p>
          <a:p>
            <a:pPr lvl="1"/>
            <a:r>
              <a:rPr lang="en-US" altLang="en-US" sz="2300" dirty="0"/>
              <a:t>Carries signals within the limbic circuit</a:t>
            </a:r>
          </a:p>
          <a:p>
            <a:endParaRPr lang="en-US" altLang="en-US" sz="2700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110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83B8-266A-9E67-EA1F-3B51E8E5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The Amygdala: Function &amp; Brain Location">
            <a:extLst>
              <a:ext uri="{FF2B5EF4-FFF2-40B4-BE49-F238E27FC236}">
                <a16:creationId xmlns:a16="http://schemas.microsoft.com/office/drawing/2014/main" id="{3FED55A7-BC2C-0799-A385-F950AE7164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32" t="34599" r="4968" b="8101"/>
          <a:stretch>
            <a:fillRect/>
          </a:stretch>
        </p:blipFill>
        <p:spPr bwMode="auto">
          <a:xfrm>
            <a:off x="9242384" y="202690"/>
            <a:ext cx="2567651" cy="2586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diagram of the brain&#10;&#10;AI-generated content may be incorrect.">
            <a:extLst>
              <a:ext uri="{FF2B5EF4-FFF2-40B4-BE49-F238E27FC236}">
                <a16:creationId xmlns:a16="http://schemas.microsoft.com/office/drawing/2014/main" id="{25EF23D9-8518-2D46-9465-DF8F197A18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795" y="1389522"/>
            <a:ext cx="4912100" cy="5156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2217BC-A4B5-0DA4-C947-77ADE574B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2F5CA-CDEB-8ED0-9FE9-BB260D45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9237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b="1" dirty="0"/>
              <a:t>The Limbic System</a:t>
            </a:r>
          </a:p>
          <a:p>
            <a:r>
              <a:rPr lang="en-US" altLang="en-US" sz="2700" b="1" dirty="0"/>
              <a:t>Amygdala: </a:t>
            </a:r>
            <a:r>
              <a:rPr lang="en-US" altLang="en-US" sz="2700" dirty="0"/>
              <a:t>Detects emotionally salient stimuli </a:t>
            </a:r>
          </a:p>
          <a:p>
            <a:pPr lvl="1"/>
            <a:r>
              <a:rPr lang="en-US" sz="2300" dirty="0"/>
              <a:t>Intense threatening or rewarding stimuli</a:t>
            </a:r>
          </a:p>
          <a:p>
            <a:pPr lvl="1"/>
            <a:r>
              <a:rPr lang="en-US" altLang="en-US" sz="2300" dirty="0"/>
              <a:t>Coordinates behavioral, autonomic, and hormonal emotional responses</a:t>
            </a:r>
          </a:p>
          <a:p>
            <a:pPr lvl="1"/>
            <a:r>
              <a:rPr lang="en-US" dirty="0"/>
              <a:t>Links sensory input to arousal states </a:t>
            </a:r>
          </a:p>
          <a:p>
            <a:pPr lvl="1"/>
            <a:r>
              <a:rPr lang="en-US" dirty="0"/>
              <a:t>Associates emotions to memories</a:t>
            </a:r>
          </a:p>
          <a:p>
            <a:endParaRPr lang="en-US" dirty="0"/>
          </a:p>
          <a:p>
            <a:pPr lvl="1"/>
            <a:endParaRPr lang="en-US" altLang="en-US" sz="2300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9952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3F4C-7778-95D6-69F3-C990DEEE5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9DF23-67FB-2C0B-F150-8C250F08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8FC4A-530C-A5BF-D16A-E7D65C494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38368" cy="47531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Nuclei of the Amygdala</a:t>
            </a:r>
          </a:p>
          <a:p>
            <a:r>
              <a:rPr lang="en-US" b="1" dirty="0"/>
              <a:t>Lateral Nucleus</a:t>
            </a:r>
          </a:p>
          <a:p>
            <a:pPr lvl="1"/>
            <a:r>
              <a:rPr lang="en-US" dirty="0"/>
              <a:t>Primary input (first region activated)</a:t>
            </a:r>
          </a:p>
          <a:p>
            <a:pPr lvl="1"/>
            <a:r>
              <a:rPr lang="en-US" dirty="0"/>
              <a:t>Associates stimuli with aversive events</a:t>
            </a:r>
          </a:p>
          <a:p>
            <a:pPr lvl="1"/>
            <a:r>
              <a:rPr lang="en-US" dirty="0"/>
              <a:t>Receives bottom-up and top-down information</a:t>
            </a:r>
          </a:p>
          <a:p>
            <a:pPr lvl="1"/>
            <a:endParaRPr lang="en-US" dirty="0"/>
          </a:p>
          <a:p>
            <a:r>
              <a:rPr lang="en-US" b="1" dirty="0"/>
              <a:t>Central Nucleus</a:t>
            </a:r>
          </a:p>
          <a:p>
            <a:pPr lvl="1"/>
            <a:r>
              <a:rPr lang="en-US" dirty="0"/>
              <a:t>Primary output (last region activated)</a:t>
            </a:r>
          </a:p>
          <a:p>
            <a:pPr lvl="1"/>
            <a:r>
              <a:rPr lang="en-US" dirty="0"/>
              <a:t>Coordinates three responses</a:t>
            </a:r>
          </a:p>
          <a:p>
            <a:pPr lvl="2"/>
            <a:r>
              <a:rPr lang="en-US" dirty="0"/>
              <a:t>Emotional </a:t>
            </a:r>
            <a:r>
              <a:rPr lang="en-US" dirty="0" err="1"/>
              <a:t>behaviours</a:t>
            </a:r>
            <a:r>
              <a:rPr lang="en-US" dirty="0"/>
              <a:t> (e.g., freezing)</a:t>
            </a:r>
          </a:p>
          <a:p>
            <a:pPr lvl="3"/>
            <a:r>
              <a:rPr lang="en-US" dirty="0"/>
              <a:t>Fast, immediate responses </a:t>
            </a:r>
          </a:p>
          <a:p>
            <a:pPr lvl="2"/>
            <a:r>
              <a:rPr lang="en-US" dirty="0"/>
              <a:t>Autonomic responses (e.g., increase heart rate)</a:t>
            </a:r>
          </a:p>
          <a:p>
            <a:pPr lvl="3"/>
            <a:r>
              <a:rPr lang="en-US" dirty="0"/>
              <a:t>Fast, immediate responses</a:t>
            </a:r>
          </a:p>
          <a:p>
            <a:pPr lvl="2"/>
            <a:r>
              <a:rPr lang="en-US" dirty="0"/>
              <a:t>Hormonal responses (e.g., release cortisol)</a:t>
            </a:r>
          </a:p>
          <a:p>
            <a:pPr lvl="3"/>
            <a:r>
              <a:rPr lang="en-US" dirty="0"/>
              <a:t>Slow, long-term response</a:t>
            </a:r>
          </a:p>
          <a:p>
            <a:pPr lvl="3"/>
            <a:endParaRPr lang="en-US" dirty="0"/>
          </a:p>
          <a:p>
            <a:endParaRPr lang="en-US" b="1" dirty="0"/>
          </a:p>
        </p:txBody>
      </p:sp>
      <p:pic>
        <p:nvPicPr>
          <p:cNvPr id="5" name="Picture 4" descr="A diagram of a mouse&#10;&#10;AI-generated content may be incorrect.">
            <a:extLst>
              <a:ext uri="{FF2B5EF4-FFF2-40B4-BE49-F238E27FC236}">
                <a16:creationId xmlns:a16="http://schemas.microsoft.com/office/drawing/2014/main" id="{ECC09239-25DA-B8F1-B77A-BC3E9EEA1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18" r="51752"/>
          <a:stretch>
            <a:fillRect/>
          </a:stretch>
        </p:blipFill>
        <p:spPr>
          <a:xfrm>
            <a:off x="8576569" y="365125"/>
            <a:ext cx="3134361" cy="3112265"/>
          </a:xfrm>
          <a:prstGeom prst="rect">
            <a:avLst/>
          </a:prstGeom>
        </p:spPr>
      </p:pic>
      <p:pic>
        <p:nvPicPr>
          <p:cNvPr id="6" name="Picture 5" descr="A diagram of a mouse&#10;&#10;AI-generated content may be incorrect.">
            <a:extLst>
              <a:ext uri="{FF2B5EF4-FFF2-40B4-BE49-F238E27FC236}">
                <a16:creationId xmlns:a16="http://schemas.microsoft.com/office/drawing/2014/main" id="{899D2D1F-2890-BE1B-6E2C-9A6554895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6" t="54618" r="-594"/>
          <a:stretch>
            <a:fillRect/>
          </a:stretch>
        </p:blipFill>
        <p:spPr>
          <a:xfrm>
            <a:off x="8576568" y="3759486"/>
            <a:ext cx="3134361" cy="311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1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DFAE-18FE-A232-EB1E-FC8047E32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0BEE2-2703-1AF8-9263-86836A35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F264-7341-791F-E67A-43B3957B3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803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Pathways to the Amygdala</a:t>
            </a:r>
          </a:p>
          <a:p>
            <a:r>
              <a:rPr lang="en-US" b="1" dirty="0"/>
              <a:t>Low Road: </a:t>
            </a:r>
          </a:p>
          <a:p>
            <a:pPr lvl="1"/>
            <a:r>
              <a:rPr lang="en-US" dirty="0"/>
              <a:t>Thalamus -&gt; Amygdala</a:t>
            </a:r>
          </a:p>
          <a:p>
            <a:pPr lvl="1"/>
            <a:r>
              <a:rPr lang="en-US" dirty="0"/>
              <a:t>Bottom-up processing of emotions</a:t>
            </a:r>
          </a:p>
          <a:p>
            <a:pPr lvl="1"/>
            <a:r>
              <a:rPr lang="en-US" dirty="0"/>
              <a:t>Immediate emotional reactions</a:t>
            </a:r>
          </a:p>
          <a:p>
            <a:pPr lvl="1"/>
            <a:r>
              <a:rPr lang="en-US" dirty="0"/>
              <a:t>Fight-or-flight</a:t>
            </a:r>
          </a:p>
          <a:p>
            <a:pPr lvl="1"/>
            <a:endParaRPr lang="en-US" dirty="0"/>
          </a:p>
          <a:p>
            <a:r>
              <a:rPr lang="en-US" b="1" dirty="0"/>
              <a:t>High Road: </a:t>
            </a:r>
          </a:p>
          <a:p>
            <a:pPr lvl="1"/>
            <a:r>
              <a:rPr lang="en-US" dirty="0"/>
              <a:t>Cortex &amp; Hippocampus -&gt; Amygdala</a:t>
            </a:r>
          </a:p>
          <a:p>
            <a:pPr lvl="1"/>
            <a:r>
              <a:rPr lang="en-US" dirty="0"/>
              <a:t>Top-down processing of emotions</a:t>
            </a:r>
          </a:p>
          <a:p>
            <a:pPr lvl="1"/>
            <a:r>
              <a:rPr lang="en-US" dirty="0"/>
              <a:t>Detailed, memory-informed, conscious processing</a:t>
            </a:r>
          </a:p>
        </p:txBody>
      </p:sp>
      <p:pic>
        <p:nvPicPr>
          <p:cNvPr id="5" name="Picture 4" descr="A diagram of a mouse&#10;&#10;AI-generated content may be incorrect.">
            <a:extLst>
              <a:ext uri="{FF2B5EF4-FFF2-40B4-BE49-F238E27FC236}">
                <a16:creationId xmlns:a16="http://schemas.microsoft.com/office/drawing/2014/main" id="{ED149027-9F57-55BE-2FFA-D0BA0B923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18" r="51752"/>
          <a:stretch>
            <a:fillRect/>
          </a:stretch>
        </p:blipFill>
        <p:spPr>
          <a:xfrm>
            <a:off x="8576569" y="365125"/>
            <a:ext cx="3134361" cy="3112265"/>
          </a:xfrm>
          <a:prstGeom prst="rect">
            <a:avLst/>
          </a:prstGeom>
        </p:spPr>
      </p:pic>
      <p:pic>
        <p:nvPicPr>
          <p:cNvPr id="6" name="Picture 5" descr="A diagram of a mouse&#10;&#10;AI-generated content may be incorrect.">
            <a:extLst>
              <a:ext uri="{FF2B5EF4-FFF2-40B4-BE49-F238E27FC236}">
                <a16:creationId xmlns:a16="http://schemas.microsoft.com/office/drawing/2014/main" id="{86ADC47C-52C4-16D2-FDF5-5923C0B80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6" t="54618" r="-594"/>
          <a:stretch>
            <a:fillRect/>
          </a:stretch>
        </p:blipFill>
        <p:spPr>
          <a:xfrm>
            <a:off x="8576568" y="3759486"/>
            <a:ext cx="3134361" cy="311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6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8925-2416-1CFD-4A5B-1374C182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ouse&#10;&#10;AI-generated content may be incorrect.">
            <a:extLst>
              <a:ext uri="{FF2B5EF4-FFF2-40B4-BE49-F238E27FC236}">
                <a16:creationId xmlns:a16="http://schemas.microsoft.com/office/drawing/2014/main" id="{01D4580B-C513-BA80-DAA2-36A068644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31" t="6878" r="32566" b="45824"/>
          <a:stretch>
            <a:fillRect/>
          </a:stretch>
        </p:blipFill>
        <p:spPr>
          <a:xfrm>
            <a:off x="8258476" y="885524"/>
            <a:ext cx="3782728" cy="5901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A4D587-3B78-CD92-F2DF-A8B2DEF8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A5D9-4BF2-8135-2F77-82EC4628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803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LeDoux, 1994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Research Question: </a:t>
            </a:r>
            <a:r>
              <a:rPr lang="en-US" dirty="0"/>
              <a:t>Is the amygdala involved in producing a fear response?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Methods: </a:t>
            </a:r>
            <a:endParaRPr lang="en-US" dirty="0"/>
          </a:p>
          <a:p>
            <a:r>
              <a:rPr lang="en-US" dirty="0"/>
              <a:t>Fear-conditioning associated a tone with an electrical shock in rats</a:t>
            </a:r>
          </a:p>
          <a:p>
            <a:r>
              <a:rPr lang="en-US" dirty="0"/>
              <a:t>Lesioned amygdala to see if fear response persisted</a:t>
            </a:r>
          </a:p>
        </p:txBody>
      </p:sp>
    </p:spTree>
    <p:extLst>
      <p:ext uri="{BB962C8B-B14F-4D97-AF65-F5344CB8AC3E}">
        <p14:creationId xmlns:p14="http://schemas.microsoft.com/office/powerpoint/2010/main" val="177291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43E65-2792-F97A-FBEA-E23A0EF75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ouse&#10;&#10;AI-generated content may be incorrect.">
            <a:extLst>
              <a:ext uri="{FF2B5EF4-FFF2-40B4-BE49-F238E27FC236}">
                <a16:creationId xmlns:a16="http://schemas.microsoft.com/office/drawing/2014/main" id="{E3B40ADA-622A-CF58-7F7C-836070EFF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31" t="6878" r="32566" b="45824"/>
          <a:stretch>
            <a:fillRect/>
          </a:stretch>
        </p:blipFill>
        <p:spPr>
          <a:xfrm>
            <a:off x="8258476" y="885524"/>
            <a:ext cx="3782728" cy="5901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4C9C0-3684-5430-81D8-42245F82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2EA6B-1FBB-C7EA-C3E3-06D9B51DA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803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LeDoux, 1994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Independent Variable:</a:t>
            </a:r>
            <a:r>
              <a:rPr lang="en-US" dirty="0"/>
              <a:t> Pre and post lesioning the amygdala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Dependent Variable: </a:t>
            </a:r>
            <a:r>
              <a:rPr lang="en-US" dirty="0"/>
              <a:t>Blood pressure and freezing duration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778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988C-55F6-B715-239B-BF59453B0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ouse&#10;&#10;AI-generated content may be incorrect.">
            <a:extLst>
              <a:ext uri="{FF2B5EF4-FFF2-40B4-BE49-F238E27FC236}">
                <a16:creationId xmlns:a16="http://schemas.microsoft.com/office/drawing/2014/main" id="{1EE22893-3AD0-FB6C-7236-07C80481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63" t="6662" r="-1166" b="46040"/>
          <a:stretch>
            <a:fillRect/>
          </a:stretch>
        </p:blipFill>
        <p:spPr>
          <a:xfrm>
            <a:off x="8258476" y="885524"/>
            <a:ext cx="3782728" cy="5901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FD4E68-D406-03C3-AEA3-4842E4C5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CE47-A016-499C-85D0-BA7229C98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803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LeDoux, 1994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Results:</a:t>
            </a:r>
          </a:p>
          <a:p>
            <a:r>
              <a:rPr lang="en-US" dirty="0"/>
              <a:t>Fear responses to the tone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7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5B0B-2EB6-917E-55E2-AA879D3F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2692-1FA3-5977-4955-01EEB3163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34F75-C2DB-214B-D34B-11289735D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803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LeDoux, 1994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Results:</a:t>
            </a:r>
          </a:p>
          <a:p>
            <a:r>
              <a:rPr lang="en-US" dirty="0"/>
              <a:t>Fear responses to the tone</a:t>
            </a:r>
          </a:p>
          <a:p>
            <a:r>
              <a:rPr lang="en-US" dirty="0"/>
              <a:t>Lesioning the amygdala removed this fear response to the tone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4B66E5-BBBD-C2F9-6C55-9216A78B75E4}"/>
              </a:ext>
            </a:extLst>
          </p:cNvPr>
          <p:cNvGrpSpPr/>
          <p:nvPr/>
        </p:nvGrpSpPr>
        <p:grpSpPr>
          <a:xfrm>
            <a:off x="8318991" y="956144"/>
            <a:ext cx="3933524" cy="5901856"/>
            <a:chOff x="8258476" y="885524"/>
            <a:chExt cx="2998954" cy="4499628"/>
          </a:xfrm>
        </p:grpSpPr>
        <p:pic>
          <p:nvPicPr>
            <p:cNvPr id="4" name="Picture 3" descr="A diagram of a mouse&#10;&#10;AI-generated content may be incorrect.">
              <a:extLst>
                <a:ext uri="{FF2B5EF4-FFF2-40B4-BE49-F238E27FC236}">
                  <a16:creationId xmlns:a16="http://schemas.microsoft.com/office/drawing/2014/main" id="{7FA8363A-E60D-1230-DE4C-2579082A6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75" t="6878" r="-2857" b="68271"/>
            <a:stretch>
              <a:fillRect/>
            </a:stretch>
          </p:blipFill>
          <p:spPr>
            <a:xfrm>
              <a:off x="8474908" y="885524"/>
              <a:ext cx="2782522" cy="2311396"/>
            </a:xfrm>
            <a:prstGeom prst="rect">
              <a:avLst/>
            </a:prstGeom>
          </p:spPr>
        </p:pic>
        <p:pic>
          <p:nvPicPr>
            <p:cNvPr id="6" name="Picture 5" descr="A diagram of a mouse&#10;&#10;AI-generated content may be incorrect.">
              <a:extLst>
                <a:ext uri="{FF2B5EF4-FFF2-40B4-BE49-F238E27FC236}">
                  <a16:creationId xmlns:a16="http://schemas.microsoft.com/office/drawing/2014/main" id="{442EDCC4-33E6-6987-C3AA-91C396AE6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" t="31497" r="68151" b="44976"/>
            <a:stretch>
              <a:fillRect/>
            </a:stretch>
          </p:blipFill>
          <p:spPr>
            <a:xfrm>
              <a:off x="8258476" y="3196920"/>
              <a:ext cx="2782522" cy="2188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6469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C219-ED2A-E88D-50A0-A6E0C085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7D701B4-9660-4509-AFB6-8FA904860277}"/>
              </a:ext>
            </a:extLst>
          </p:cNvPr>
          <p:cNvGrpSpPr/>
          <p:nvPr/>
        </p:nvGrpSpPr>
        <p:grpSpPr>
          <a:xfrm>
            <a:off x="226078" y="1357161"/>
            <a:ext cx="11965922" cy="4499628"/>
            <a:chOff x="-423511" y="606391"/>
            <a:chExt cx="16053334" cy="6036646"/>
          </a:xfrm>
        </p:grpSpPr>
        <p:pic>
          <p:nvPicPr>
            <p:cNvPr id="5" name="Picture 4" descr="A diagram of a mouse&#10;&#10;AI-generated content may be incorrect.">
              <a:extLst>
                <a:ext uri="{FF2B5EF4-FFF2-40B4-BE49-F238E27FC236}">
                  <a16:creationId xmlns:a16="http://schemas.microsoft.com/office/drawing/2014/main" id="{E5B56E3B-D305-BBC5-4BB9-7F212A75C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" t="7407" r="-2857" b="45824"/>
            <a:stretch>
              <a:fillRect/>
            </a:stretch>
          </p:blipFill>
          <p:spPr>
            <a:xfrm>
              <a:off x="-423511" y="672432"/>
              <a:ext cx="12147081" cy="5835715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959F4-A845-20A5-D1FC-48B7DB89714D}"/>
                </a:ext>
              </a:extLst>
            </p:cNvPr>
            <p:cNvGrpSpPr/>
            <p:nvPr/>
          </p:nvGrpSpPr>
          <p:grpSpPr>
            <a:xfrm>
              <a:off x="11606463" y="606391"/>
              <a:ext cx="4023360" cy="6036646"/>
              <a:chOff x="11606463" y="606391"/>
              <a:chExt cx="4023360" cy="6036646"/>
            </a:xfrm>
          </p:grpSpPr>
          <p:pic>
            <p:nvPicPr>
              <p:cNvPr id="9" name="Picture 8" descr="A diagram of a mouse&#10;&#10;AI-generated content may be incorrect.">
                <a:extLst>
                  <a:ext uri="{FF2B5EF4-FFF2-40B4-BE49-F238E27FC236}">
                    <a16:creationId xmlns:a16="http://schemas.microsoft.com/office/drawing/2014/main" id="{FC6641E1-114D-EBB0-2964-8C7E8C7B6A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275" t="6878" r="-2857" b="68271"/>
              <a:stretch>
                <a:fillRect/>
              </a:stretch>
            </p:blipFill>
            <p:spPr>
              <a:xfrm>
                <a:off x="11896825" y="606391"/>
                <a:ext cx="3732998" cy="3100940"/>
              </a:xfrm>
              <a:prstGeom prst="rect">
                <a:avLst/>
              </a:prstGeom>
            </p:spPr>
          </p:pic>
          <p:pic>
            <p:nvPicPr>
              <p:cNvPr id="10" name="Picture 9" descr="A diagram of a mouse&#10;&#10;AI-generated content may be incorrect.">
                <a:extLst>
                  <a:ext uri="{FF2B5EF4-FFF2-40B4-BE49-F238E27FC236}">
                    <a16:creationId xmlns:a16="http://schemas.microsoft.com/office/drawing/2014/main" id="{3AB20301-1712-E655-A3AD-9C5C4BDD5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7" t="31497" r="68151" b="44976"/>
              <a:stretch>
                <a:fillRect/>
              </a:stretch>
            </p:blipFill>
            <p:spPr>
              <a:xfrm>
                <a:off x="11606463" y="3707331"/>
                <a:ext cx="3732998" cy="2935706"/>
              </a:xfrm>
              <a:prstGeom prst="rect">
                <a:avLst/>
              </a:prstGeom>
            </p:spPr>
          </p:pic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BB8FF4B-35D0-861A-BC33-984B8300F577}"/>
              </a:ext>
            </a:extLst>
          </p:cNvPr>
          <p:cNvSpPr txBox="1"/>
          <p:nvPr/>
        </p:nvSpPr>
        <p:spPr>
          <a:xfrm>
            <a:off x="755110" y="710830"/>
            <a:ext cx="2072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Before </a:t>
            </a:r>
          </a:p>
          <a:p>
            <a:pPr algn="ctr"/>
            <a:r>
              <a:rPr lang="en-US" b="1" dirty="0"/>
              <a:t>Fear-Conditioning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187931-7EC8-30C4-C057-84883E19358B}"/>
              </a:ext>
            </a:extLst>
          </p:cNvPr>
          <p:cNvSpPr txBox="1"/>
          <p:nvPr/>
        </p:nvSpPr>
        <p:spPr>
          <a:xfrm>
            <a:off x="3716993" y="710830"/>
            <a:ext cx="2072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Fear-Conditioning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47A6C-080B-5798-A882-88D8B9264F3A}"/>
              </a:ext>
            </a:extLst>
          </p:cNvPr>
          <p:cNvSpPr txBox="1"/>
          <p:nvPr/>
        </p:nvSpPr>
        <p:spPr>
          <a:xfrm>
            <a:off x="6678876" y="710829"/>
            <a:ext cx="2072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After </a:t>
            </a:r>
          </a:p>
          <a:p>
            <a:pPr algn="ctr"/>
            <a:r>
              <a:rPr lang="en-US" b="1" dirty="0"/>
              <a:t>Fear-Conditioning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CF7A0-AC75-6C23-B027-10EAA2942800}"/>
              </a:ext>
            </a:extLst>
          </p:cNvPr>
          <p:cNvSpPr txBox="1"/>
          <p:nvPr/>
        </p:nvSpPr>
        <p:spPr>
          <a:xfrm>
            <a:off x="9447556" y="710828"/>
            <a:ext cx="2273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After </a:t>
            </a:r>
          </a:p>
          <a:p>
            <a:pPr algn="ctr"/>
            <a:r>
              <a:rPr lang="en-US" b="1" dirty="0"/>
              <a:t>Amygdala Lesioning</a:t>
            </a:r>
          </a:p>
        </p:txBody>
      </p:sp>
    </p:spTree>
    <p:extLst>
      <p:ext uri="{BB962C8B-B14F-4D97-AF65-F5344CB8AC3E}">
        <p14:creationId xmlns:p14="http://schemas.microsoft.com/office/powerpoint/2010/main" val="3403312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3B15-FC69-ACCA-F684-B8BA7F39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961A-2F88-167B-1A02-AABCF0A50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Limbic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44858-BCD3-BF7B-16D2-C9861327C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080393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LeDoux, 1994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Conclusion</a:t>
            </a:r>
            <a:r>
              <a:rPr lang="en-US" dirty="0"/>
              <a:t>: Amygdala is a necessary component for associated fear responses</a:t>
            </a:r>
          </a:p>
          <a:p>
            <a:r>
              <a:rPr lang="en-US" dirty="0"/>
              <a:t>Other research has shows that amygdala lesioning prior to conditioning also prevents the formation of new fear associations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5EDD981-2879-828C-D3EC-3EF7643EA32C}"/>
              </a:ext>
            </a:extLst>
          </p:cNvPr>
          <p:cNvGrpSpPr/>
          <p:nvPr/>
        </p:nvGrpSpPr>
        <p:grpSpPr>
          <a:xfrm>
            <a:off x="8318991" y="956144"/>
            <a:ext cx="3933524" cy="5901856"/>
            <a:chOff x="8258476" y="885524"/>
            <a:chExt cx="2998954" cy="4499628"/>
          </a:xfrm>
        </p:grpSpPr>
        <p:pic>
          <p:nvPicPr>
            <p:cNvPr id="4" name="Picture 3" descr="A diagram of a mouse&#10;&#10;AI-generated content may be incorrect.">
              <a:extLst>
                <a:ext uri="{FF2B5EF4-FFF2-40B4-BE49-F238E27FC236}">
                  <a16:creationId xmlns:a16="http://schemas.microsoft.com/office/drawing/2014/main" id="{E9119F45-2069-7017-DCA3-3E2510391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275" t="6878" r="-2857" b="68271"/>
            <a:stretch>
              <a:fillRect/>
            </a:stretch>
          </p:blipFill>
          <p:spPr>
            <a:xfrm>
              <a:off x="8474908" y="885524"/>
              <a:ext cx="2782522" cy="2311396"/>
            </a:xfrm>
            <a:prstGeom prst="rect">
              <a:avLst/>
            </a:prstGeom>
          </p:spPr>
        </p:pic>
        <p:pic>
          <p:nvPicPr>
            <p:cNvPr id="6" name="Picture 5" descr="A diagram of a mouse&#10;&#10;AI-generated content may be incorrect.">
              <a:extLst>
                <a:ext uri="{FF2B5EF4-FFF2-40B4-BE49-F238E27FC236}">
                  <a16:creationId xmlns:a16="http://schemas.microsoft.com/office/drawing/2014/main" id="{0E63AAF1-06AD-7B30-DA15-6E26A33A9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7" t="31497" r="68151" b="44976"/>
            <a:stretch>
              <a:fillRect/>
            </a:stretch>
          </p:blipFill>
          <p:spPr>
            <a:xfrm>
              <a:off x="8258476" y="3196920"/>
              <a:ext cx="2782522" cy="2188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1071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F1D20-672C-E04F-8C00-98BE891F7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0CA0E287-255F-8ED6-588A-7A8A2CF970E0}"/>
              </a:ext>
            </a:extLst>
          </p:cNvPr>
          <p:cNvSpPr txBox="1">
            <a:spLocks/>
          </p:cNvSpPr>
          <p:nvPr/>
        </p:nvSpPr>
        <p:spPr>
          <a:xfrm>
            <a:off x="6574665" y="602116"/>
            <a:ext cx="5702954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Emotions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Limbic System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Regions Beyond the Limbic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Stress</a:t>
            </a:r>
          </a:p>
        </p:txBody>
      </p:sp>
      <p:pic>
        <p:nvPicPr>
          <p:cNvPr id="2" name="Picture 1" descr="A colorful and black and white brain&#10;&#10;AI-generated content may be incorrect.">
            <a:extLst>
              <a:ext uri="{FF2B5EF4-FFF2-40B4-BE49-F238E27FC236}">
                <a16:creationId xmlns:a16="http://schemas.microsoft.com/office/drawing/2014/main" id="{B7FD1BA4-9498-8F4B-E77B-6E7E980869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3" t="7044" r="23408" b="21998"/>
          <a:stretch>
            <a:fillRect/>
          </a:stretch>
        </p:blipFill>
        <p:spPr>
          <a:xfrm>
            <a:off x="1451809" y="-16931"/>
            <a:ext cx="4908331" cy="64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16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BD1E-1FA8-FF87-D783-061776F3D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01A9-768C-A862-7EFE-89D6E1BBE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Beyond the Limbic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B7279-C2C4-E09E-35AA-739D0878C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03828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Insula</a:t>
            </a:r>
          </a:p>
          <a:p>
            <a:r>
              <a:rPr lang="en-US" dirty="0"/>
              <a:t>Monitors internal bodily states (</a:t>
            </a:r>
            <a:r>
              <a:rPr lang="en-US" i="1" dirty="0"/>
              <a:t>interoception</a:t>
            </a:r>
            <a:r>
              <a:rPr lang="en-US" dirty="0"/>
              <a:t>)</a:t>
            </a:r>
          </a:p>
          <a:p>
            <a:r>
              <a:rPr lang="en-US" dirty="0"/>
              <a:t>Generates the subjective </a:t>
            </a:r>
            <a:r>
              <a:rPr lang="en-US" i="1" dirty="0"/>
              <a:t>feeling</a:t>
            </a:r>
            <a:r>
              <a:rPr lang="en-US" dirty="0"/>
              <a:t> component of emotion</a:t>
            </a:r>
          </a:p>
          <a:p>
            <a:r>
              <a:rPr lang="en-US" dirty="0"/>
              <a:t>Integrates physical sensations with emotional awareness</a:t>
            </a:r>
          </a:p>
          <a:p>
            <a:r>
              <a:rPr lang="en-US" dirty="0"/>
              <a:t>Especially associated with disgust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42F028-0AAB-94AB-9050-32E6DD6FD02B}"/>
              </a:ext>
            </a:extLst>
          </p:cNvPr>
          <p:cNvGrpSpPr/>
          <p:nvPr/>
        </p:nvGrpSpPr>
        <p:grpSpPr>
          <a:xfrm>
            <a:off x="7191153" y="1610059"/>
            <a:ext cx="4937052" cy="4351262"/>
            <a:chOff x="7191153" y="1610059"/>
            <a:chExt cx="4937052" cy="4351262"/>
          </a:xfrm>
        </p:grpSpPr>
        <p:pic>
          <p:nvPicPr>
            <p:cNvPr id="2050" name="Picture 2" descr="Insula: Anatomy, function, connections, clinical points | Kenhub">
              <a:extLst>
                <a:ext uri="{FF2B5EF4-FFF2-40B4-BE49-F238E27FC236}">
                  <a16:creationId xmlns:a16="http://schemas.microsoft.com/office/drawing/2014/main" id="{0BA79EA2-5078-F526-AE16-A45C774024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1153" y="1610059"/>
              <a:ext cx="4875812" cy="4223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9DE27CE-39EB-6E36-872B-909375E16CCC}"/>
                </a:ext>
              </a:extLst>
            </p:cNvPr>
            <p:cNvSpPr/>
            <p:nvPr/>
          </p:nvSpPr>
          <p:spPr>
            <a:xfrm>
              <a:off x="10653823" y="5380074"/>
              <a:ext cx="1474382" cy="5812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7EB7E-D632-45E8-3D4C-4FBB600A7D1C}"/>
              </a:ext>
            </a:extLst>
          </p:cNvPr>
          <p:cNvCxnSpPr>
            <a:cxnSpLocks/>
          </p:cNvCxnSpPr>
          <p:nvPr/>
        </p:nvCxnSpPr>
        <p:spPr>
          <a:xfrm flipH="1">
            <a:off x="8309138" y="3586716"/>
            <a:ext cx="643476" cy="109161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2E0D73-6362-B780-BD70-34BF183DD49C}"/>
              </a:ext>
            </a:extLst>
          </p:cNvPr>
          <p:cNvSpPr txBox="1"/>
          <p:nvPr/>
        </p:nvSpPr>
        <p:spPr>
          <a:xfrm>
            <a:off x="7796993" y="4636462"/>
            <a:ext cx="864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Insula</a:t>
            </a:r>
          </a:p>
        </p:txBody>
      </p:sp>
    </p:spTree>
    <p:extLst>
      <p:ext uri="{BB962C8B-B14F-4D97-AF65-F5344CB8AC3E}">
        <p14:creationId xmlns:p14="http://schemas.microsoft.com/office/powerpoint/2010/main" val="100159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E0306-50FD-2454-FBC2-AEFDE6FC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8D42-E504-D282-7195-654C9C7C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Beyond the Limbic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79A50-6D2E-A77D-49FC-12F9B7A85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83850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Anterior Cingulate Cortex (ACC)</a:t>
            </a:r>
          </a:p>
          <a:p>
            <a:r>
              <a:rPr lang="en-US" dirty="0"/>
              <a:t>Integrates emotion, attention, and motivation</a:t>
            </a:r>
          </a:p>
          <a:p>
            <a:r>
              <a:rPr lang="en-US" dirty="0"/>
              <a:t>Detects emotional conflict and regulates behavior</a:t>
            </a:r>
          </a:p>
          <a:p>
            <a:r>
              <a:rPr lang="en-US" dirty="0"/>
              <a:t>Connects emotional experience to action</a:t>
            </a:r>
          </a:p>
          <a:p>
            <a:r>
              <a:rPr lang="en-US" dirty="0"/>
              <a:t>Strongly active in social and moral emotions</a:t>
            </a:r>
          </a:p>
          <a:p>
            <a:pPr lvl="1"/>
            <a:endParaRPr lang="en-US" dirty="0"/>
          </a:p>
          <a:p>
            <a:endParaRPr lang="en-US" b="1" dirty="0"/>
          </a:p>
        </p:txBody>
      </p:sp>
      <p:pic>
        <p:nvPicPr>
          <p:cNvPr id="4" name="Picture 2" descr="Prefrontal Cortex: What It Is, Function, Location &amp; Damage">
            <a:extLst>
              <a:ext uri="{FF2B5EF4-FFF2-40B4-BE49-F238E27FC236}">
                <a16:creationId xmlns:a16="http://schemas.microsoft.com/office/drawing/2014/main" id="{F5AA9ACF-07B5-DD52-8CA3-02F16936C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6"/>
          <a:stretch>
            <a:fillRect/>
          </a:stretch>
        </p:blipFill>
        <p:spPr bwMode="auto">
          <a:xfrm>
            <a:off x="7817111" y="1360967"/>
            <a:ext cx="4303265" cy="524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27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B68C-0360-B401-9F26-51AEE3D85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5172-D477-D590-6BD6-F4C1DD98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Beyond the Limbic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0466F-EC33-12BE-2EC5-F71F64010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70898" cy="4902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Prefrontal Cortex (PFC)</a:t>
            </a:r>
          </a:p>
          <a:p>
            <a:r>
              <a:rPr lang="en-US" dirty="0"/>
              <a:t>Evaluates emotional meaning and context (appraisal)</a:t>
            </a:r>
          </a:p>
          <a:p>
            <a:r>
              <a:rPr lang="en-US" dirty="0"/>
              <a:t>Regulates or suppresses inappropriate emotional reactions</a:t>
            </a:r>
          </a:p>
          <a:p>
            <a:r>
              <a:rPr lang="en-US" dirty="0"/>
              <a:t>Supports decision-making influenced by emotion</a:t>
            </a:r>
          </a:p>
          <a:p>
            <a:endParaRPr lang="en-US" b="1" dirty="0"/>
          </a:p>
        </p:txBody>
      </p:sp>
      <p:pic>
        <p:nvPicPr>
          <p:cNvPr id="4098" name="Picture 2" descr="Prefrontal Cortex: What It Is, Function, Location &amp; Damage">
            <a:extLst>
              <a:ext uri="{FF2B5EF4-FFF2-40B4-BE49-F238E27FC236}">
                <a16:creationId xmlns:a16="http://schemas.microsoft.com/office/drawing/2014/main" id="{BF05FE00-1006-5ECE-2E44-FA1BE2152C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6"/>
          <a:stretch>
            <a:fillRect/>
          </a:stretch>
        </p:blipFill>
        <p:spPr bwMode="auto">
          <a:xfrm>
            <a:off x="7817111" y="1360967"/>
            <a:ext cx="4303265" cy="524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58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795E-7B34-E158-8C3E-270394CE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D727-A585-CDD9-A84C-B5A6DB78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Beyond the Limbic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D22D6-AF25-1155-DB49-7D5966C7A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70898" cy="4902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Prefrontal Cortex (PFC)</a:t>
            </a:r>
          </a:p>
          <a:p>
            <a:r>
              <a:rPr lang="en-US" b="1" dirty="0"/>
              <a:t>Orbitofrontal cortex (OFC):</a:t>
            </a:r>
            <a:r>
              <a:rPr lang="en-US" dirty="0"/>
              <a:t> Evaluates reward and punishment value of stimuli</a:t>
            </a:r>
          </a:p>
          <a:p>
            <a:pPr lvl="1"/>
            <a:r>
              <a:rPr lang="en-US" dirty="0"/>
              <a:t>Especially associated with regret and reward</a:t>
            </a:r>
          </a:p>
          <a:p>
            <a:endParaRPr lang="en-US" b="1" dirty="0"/>
          </a:p>
          <a:p>
            <a:r>
              <a:rPr lang="en-US" b="1" dirty="0"/>
              <a:t>Ventromedial PFC (</a:t>
            </a:r>
            <a:r>
              <a:rPr lang="en-US" b="1" dirty="0" err="1"/>
              <a:t>vmPFC</a:t>
            </a:r>
            <a:r>
              <a:rPr lang="en-US" b="1" dirty="0"/>
              <a:t>):</a:t>
            </a:r>
            <a:r>
              <a:rPr lang="en-US" dirty="0"/>
              <a:t> Involved in self-referential processing</a:t>
            </a:r>
          </a:p>
          <a:p>
            <a:pPr lvl="1"/>
            <a:r>
              <a:rPr lang="en-US" b="1" dirty="0"/>
              <a:t>Self-reflection</a:t>
            </a:r>
            <a:r>
              <a:rPr lang="en-US" dirty="0"/>
              <a:t>: Understanding own emotions</a:t>
            </a:r>
          </a:p>
          <a:p>
            <a:pPr lvl="1"/>
            <a:r>
              <a:rPr lang="en-US" b="1" dirty="0"/>
              <a:t>Empathy</a:t>
            </a:r>
            <a:r>
              <a:rPr lang="en-US" dirty="0"/>
              <a:t>: Understanding emotions of others</a:t>
            </a:r>
          </a:p>
          <a:p>
            <a:endParaRPr lang="en-US" b="1" dirty="0"/>
          </a:p>
        </p:txBody>
      </p:sp>
      <p:pic>
        <p:nvPicPr>
          <p:cNvPr id="4098" name="Picture 2" descr="Prefrontal Cortex: What It Is, Function, Location &amp; Damage">
            <a:extLst>
              <a:ext uri="{FF2B5EF4-FFF2-40B4-BE49-F238E27FC236}">
                <a16:creationId xmlns:a16="http://schemas.microsoft.com/office/drawing/2014/main" id="{4E7279EA-C390-74D4-F380-1D2C014767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6"/>
          <a:stretch>
            <a:fillRect/>
          </a:stretch>
        </p:blipFill>
        <p:spPr bwMode="auto">
          <a:xfrm>
            <a:off x="7817111" y="1360967"/>
            <a:ext cx="4303265" cy="524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862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DCBC-0F27-FB3B-2F62-CE131EC0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2BB0F0-D1F4-4904-698D-4D322829F3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96"/>
          <a:stretch>
            <a:fillRect/>
          </a:stretch>
        </p:blipFill>
        <p:spPr>
          <a:xfrm>
            <a:off x="7855855" y="2523897"/>
            <a:ext cx="4637315" cy="3635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B90876-6CFC-8B1A-1BE0-4E584505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 Beyond the Limbic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91B3D-E523-8628-A179-3D18799CE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32864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Basal Ganglia</a:t>
            </a:r>
          </a:p>
          <a:p>
            <a:r>
              <a:rPr lang="en-US" dirty="0"/>
              <a:t>Processes reward, motivation, and goal-directed emotion</a:t>
            </a:r>
          </a:p>
          <a:p>
            <a:r>
              <a:rPr lang="en-US" dirty="0"/>
              <a:t>Reinforces pleasurable or socially rewarding experiences</a:t>
            </a:r>
          </a:p>
          <a:p>
            <a:r>
              <a:rPr lang="en-US" dirty="0"/>
              <a:t>Supports reward-based learning of emotional behavior</a:t>
            </a:r>
          </a:p>
        </p:txBody>
      </p:sp>
    </p:spTree>
    <p:extLst>
      <p:ext uri="{BB962C8B-B14F-4D97-AF65-F5344CB8AC3E}">
        <p14:creationId xmlns:p14="http://schemas.microsoft.com/office/powerpoint/2010/main" val="71040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7960-15FB-7732-B722-DFDF8E46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4BB308E1-919E-B13B-3D98-15BDD1BB3F15}"/>
              </a:ext>
            </a:extLst>
          </p:cNvPr>
          <p:cNvSpPr txBox="1">
            <a:spLocks/>
          </p:cNvSpPr>
          <p:nvPr/>
        </p:nvSpPr>
        <p:spPr>
          <a:xfrm>
            <a:off x="6574665" y="602116"/>
            <a:ext cx="5702954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Emotions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The Limbic System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Regions Beyond the Limbic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Stress</a:t>
            </a:r>
          </a:p>
        </p:txBody>
      </p:sp>
      <p:pic>
        <p:nvPicPr>
          <p:cNvPr id="2" name="Picture 1" descr="A colorful and black and white brain&#10;&#10;AI-generated content may be incorrect.">
            <a:extLst>
              <a:ext uri="{FF2B5EF4-FFF2-40B4-BE49-F238E27FC236}">
                <a16:creationId xmlns:a16="http://schemas.microsoft.com/office/drawing/2014/main" id="{1B32AAB5-E86D-1CAD-0780-2A16C402B6F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7"/>
              </a:clrFrom>
              <a:clrTo>
                <a:srgbClr val="F9F9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53" t="7044" r="23408" b="21998"/>
          <a:stretch>
            <a:fillRect/>
          </a:stretch>
        </p:blipFill>
        <p:spPr>
          <a:xfrm>
            <a:off x="1451809" y="-16931"/>
            <a:ext cx="4908331" cy="64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3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B6EF-3649-E00E-FF6D-AC815628A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761D7-1496-FBC6-A9E5-DBC6C5EB8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883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Stress</a:t>
            </a:r>
            <a:r>
              <a:rPr lang="en-US" dirty="0"/>
              <a:t>: A physiological and psychological state of tension in response to demands or threats </a:t>
            </a:r>
          </a:p>
          <a:p>
            <a:r>
              <a:rPr lang="en-US" dirty="0"/>
              <a:t>Initiated by stressful stimuli or events</a:t>
            </a:r>
          </a:p>
          <a:p>
            <a:r>
              <a:rPr lang="en-US" dirty="0"/>
              <a:t>Activates stress-processing system</a:t>
            </a:r>
          </a:p>
          <a:p>
            <a:r>
              <a:rPr lang="en-US" dirty="0"/>
              <a:t>Results in an acute stress response</a:t>
            </a:r>
          </a:p>
          <a:p>
            <a:r>
              <a:rPr lang="en-US" b="1" dirty="0"/>
              <a:t>Allostasis</a:t>
            </a:r>
            <a:r>
              <a:rPr lang="en-US" dirty="0"/>
              <a:t>: Physiological regulation in response to a stressor</a:t>
            </a:r>
          </a:p>
          <a:p>
            <a:pPr lvl="1"/>
            <a:r>
              <a:rPr lang="en-US" dirty="0"/>
              <a:t>Involves physiological adjustments to maintain internal balance</a:t>
            </a:r>
          </a:p>
          <a:p>
            <a:pPr lvl="1"/>
            <a:r>
              <a:rPr lang="en-US" dirty="0"/>
              <a:t>Has a cost: energy expenditure, tissue damage, vulnerability to illness and disease</a:t>
            </a:r>
          </a:p>
          <a:p>
            <a:endParaRPr lang="en-US" dirty="0"/>
          </a:p>
        </p:txBody>
      </p:sp>
      <p:pic>
        <p:nvPicPr>
          <p:cNvPr id="5" name="Picture 4" descr="A person sitting in a chair with a tangled line above his head&#10;&#10;AI-generated content may be incorrect.">
            <a:extLst>
              <a:ext uri="{FF2B5EF4-FFF2-40B4-BE49-F238E27FC236}">
                <a16:creationId xmlns:a16="http://schemas.microsoft.com/office/drawing/2014/main" id="{0F66E38F-677C-D2B2-FF4E-BD73847236C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0E5"/>
              </a:clrFrom>
              <a:clrTo>
                <a:srgbClr val="F4F0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7" r="32326"/>
          <a:stretch>
            <a:fillRect/>
          </a:stretch>
        </p:blipFill>
        <p:spPr>
          <a:xfrm>
            <a:off x="7678530" y="0"/>
            <a:ext cx="4125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8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9F2E-72BE-243C-6C33-0F2D3F7B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8E72-80DD-DBCB-6274-70C169C0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1FA14-DA83-3D14-4E39-49AB07FE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234646" cy="47946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Stress</a:t>
            </a:r>
          </a:p>
          <a:p>
            <a:r>
              <a:rPr lang="en-US" b="1" dirty="0"/>
              <a:t>Medical Consequences of Childhood Stress</a:t>
            </a:r>
          </a:p>
          <a:p>
            <a:pPr lvl="1"/>
            <a:r>
              <a:rPr lang="en-US" dirty="0"/>
              <a:t>More responsive adrenal system (stress-response)</a:t>
            </a:r>
          </a:p>
          <a:p>
            <a:pPr lvl="1"/>
            <a:r>
              <a:rPr lang="en-US" dirty="0"/>
              <a:t>Increased asthma symptoms</a:t>
            </a:r>
          </a:p>
          <a:p>
            <a:pPr lvl="1"/>
            <a:r>
              <a:rPr lang="en-US" dirty="0"/>
              <a:t>Impaired expression of anti-inflammatory genes</a:t>
            </a:r>
          </a:p>
          <a:p>
            <a:pPr lvl="1"/>
            <a:endParaRPr lang="en-US" dirty="0"/>
          </a:p>
          <a:p>
            <a:r>
              <a:rPr lang="en-US" b="1" dirty="0"/>
              <a:t>Enduring Effects of Childhood Stress</a:t>
            </a:r>
          </a:p>
          <a:p>
            <a:pPr lvl="1"/>
            <a:r>
              <a:rPr lang="en-US" dirty="0"/>
              <a:t>Impaired neural development</a:t>
            </a:r>
          </a:p>
          <a:p>
            <a:pPr lvl="2"/>
            <a:r>
              <a:rPr lang="en-US" dirty="0"/>
              <a:t>Especially in PFC, hippocampus, and amygdala</a:t>
            </a:r>
          </a:p>
          <a:p>
            <a:pPr lvl="1"/>
            <a:r>
              <a:rPr lang="en-US" dirty="0"/>
              <a:t>Impaired cognitive development</a:t>
            </a:r>
          </a:p>
          <a:p>
            <a:pPr lvl="2"/>
            <a:r>
              <a:rPr lang="en-US" dirty="0"/>
              <a:t>Attention, memory, executive functioning</a:t>
            </a:r>
          </a:p>
          <a:p>
            <a:pPr lvl="1"/>
            <a:r>
              <a:rPr lang="en-US" dirty="0"/>
              <a:t>Impaired emotional regulation</a:t>
            </a:r>
          </a:p>
          <a:p>
            <a:pPr lvl="1"/>
            <a:r>
              <a:rPr lang="en-US" dirty="0"/>
              <a:t>Impaired measures of lifetime achievement</a:t>
            </a:r>
          </a:p>
        </p:txBody>
      </p:sp>
      <p:pic>
        <p:nvPicPr>
          <p:cNvPr id="5" name="Picture 4" descr="A person sitting in a chair with a tangled line above his head&#10;&#10;AI-generated content may be incorrect.">
            <a:extLst>
              <a:ext uri="{FF2B5EF4-FFF2-40B4-BE49-F238E27FC236}">
                <a16:creationId xmlns:a16="http://schemas.microsoft.com/office/drawing/2014/main" id="{97045062-6752-D72E-7695-8E1D2348142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0E5"/>
              </a:clrFrom>
              <a:clrTo>
                <a:srgbClr val="F4F0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7" r="32326"/>
          <a:stretch>
            <a:fillRect/>
          </a:stretch>
        </p:blipFill>
        <p:spPr>
          <a:xfrm>
            <a:off x="7678530" y="0"/>
            <a:ext cx="4125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3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3885-CCD2-D99F-E8EC-5F52DCF4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FF3B-03CC-CB89-8A7E-B7C6B224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DFCCA-449E-304B-A5B6-86346B689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05600" cy="47793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Stress-Related Risk Factors</a:t>
            </a:r>
          </a:p>
          <a:p>
            <a:r>
              <a:rPr lang="en-US" b="1" dirty="0"/>
              <a:t>Psychological</a:t>
            </a:r>
            <a:endParaRPr lang="en-US" dirty="0"/>
          </a:p>
          <a:p>
            <a:pPr lvl="1"/>
            <a:r>
              <a:rPr lang="en-US" dirty="0"/>
              <a:t>Depression </a:t>
            </a:r>
          </a:p>
          <a:p>
            <a:pPr lvl="1"/>
            <a:r>
              <a:rPr lang="en-US" dirty="0"/>
              <a:t>Anxiety</a:t>
            </a:r>
          </a:p>
          <a:p>
            <a:r>
              <a:rPr lang="en-US" b="1" dirty="0"/>
              <a:t>Social</a:t>
            </a:r>
            <a:endParaRPr lang="en-US" dirty="0"/>
          </a:p>
          <a:p>
            <a:pPr lvl="1"/>
            <a:r>
              <a:rPr lang="en-US" dirty="0"/>
              <a:t>Social isolation</a:t>
            </a:r>
          </a:p>
          <a:p>
            <a:pPr lvl="1"/>
            <a:r>
              <a:rPr lang="en-US" dirty="0"/>
              <a:t>Conflictual relationships</a:t>
            </a:r>
          </a:p>
          <a:p>
            <a:pPr lvl="1"/>
            <a:r>
              <a:rPr lang="en-US" dirty="0"/>
              <a:t>Lack of support</a:t>
            </a:r>
          </a:p>
          <a:p>
            <a:r>
              <a:rPr lang="en-US" b="1" dirty="0"/>
              <a:t>Lifestyle</a:t>
            </a:r>
            <a:endParaRPr lang="en-US" dirty="0"/>
          </a:p>
          <a:p>
            <a:pPr lvl="1"/>
            <a:r>
              <a:rPr lang="en-US" dirty="0"/>
              <a:t>Poor sleep</a:t>
            </a:r>
          </a:p>
          <a:p>
            <a:pPr lvl="1"/>
            <a:r>
              <a:rPr lang="en-US" dirty="0"/>
              <a:t>Physical inactivity</a:t>
            </a:r>
          </a:p>
          <a:p>
            <a:pPr lvl="1"/>
            <a:r>
              <a:rPr lang="en-US" dirty="0"/>
              <a:t>Poor nutrition</a:t>
            </a:r>
          </a:p>
          <a:p>
            <a:r>
              <a:rPr lang="en-US" b="1" dirty="0"/>
              <a:t>Environmental</a:t>
            </a:r>
            <a:endParaRPr lang="en-US" dirty="0"/>
          </a:p>
          <a:p>
            <a:pPr lvl="1"/>
            <a:r>
              <a:rPr lang="en-US" dirty="0"/>
              <a:t>High-stress job</a:t>
            </a:r>
          </a:p>
          <a:p>
            <a:pPr lvl="1"/>
            <a:r>
              <a:rPr lang="en-US" dirty="0"/>
              <a:t>Financial insecurity</a:t>
            </a:r>
          </a:p>
          <a:p>
            <a:pPr lvl="1"/>
            <a:r>
              <a:rPr lang="en-US" dirty="0"/>
              <a:t>Chronic illness</a:t>
            </a:r>
          </a:p>
        </p:txBody>
      </p:sp>
      <p:pic>
        <p:nvPicPr>
          <p:cNvPr id="4" name="Picture 3" descr="A person sitting in a chair with a tangled line above his head&#10;&#10;AI-generated content may be incorrect.">
            <a:extLst>
              <a:ext uri="{FF2B5EF4-FFF2-40B4-BE49-F238E27FC236}">
                <a16:creationId xmlns:a16="http://schemas.microsoft.com/office/drawing/2014/main" id="{8BB62373-FE1F-5202-9FEB-2654C1E8BA5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0E5"/>
              </a:clrFrom>
              <a:clrTo>
                <a:srgbClr val="F4F0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7" r="32326"/>
          <a:stretch>
            <a:fillRect/>
          </a:stretch>
        </p:blipFill>
        <p:spPr>
          <a:xfrm>
            <a:off x="7678530" y="0"/>
            <a:ext cx="4125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3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FC11-7832-1965-C308-911C55635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7CC2-8948-2266-FA0C-2721AD2F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0B263-C8B8-37DF-E88C-BE6D288DE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31599" cy="477936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Stress-Related Protective Factors</a:t>
            </a:r>
          </a:p>
          <a:p>
            <a:r>
              <a:rPr lang="en-US" b="1" dirty="0"/>
              <a:t>Psychological</a:t>
            </a:r>
            <a:endParaRPr lang="en-US" dirty="0"/>
          </a:p>
          <a:p>
            <a:pPr lvl="1"/>
            <a:r>
              <a:rPr lang="en-US" dirty="0"/>
              <a:t>Resilience and coping skills</a:t>
            </a:r>
          </a:p>
          <a:p>
            <a:pPr lvl="1"/>
            <a:r>
              <a:rPr lang="en-US" dirty="0"/>
              <a:t>Sense of purpose</a:t>
            </a:r>
          </a:p>
          <a:p>
            <a:pPr lvl="1"/>
            <a:r>
              <a:rPr lang="en-US" dirty="0"/>
              <a:t>Optimism</a:t>
            </a:r>
          </a:p>
          <a:p>
            <a:r>
              <a:rPr lang="en-US" b="1" dirty="0"/>
              <a:t>Social</a:t>
            </a:r>
            <a:endParaRPr lang="en-US" dirty="0"/>
          </a:p>
          <a:p>
            <a:pPr lvl="1"/>
            <a:r>
              <a:rPr lang="en-US" dirty="0"/>
              <a:t>Strong social support networks</a:t>
            </a:r>
          </a:p>
          <a:p>
            <a:pPr lvl="1"/>
            <a:r>
              <a:rPr lang="en-US" dirty="0"/>
              <a:t>Meaningful relationships</a:t>
            </a:r>
          </a:p>
          <a:p>
            <a:pPr lvl="1"/>
            <a:r>
              <a:rPr lang="en-US" dirty="0"/>
              <a:t>Community connection</a:t>
            </a:r>
          </a:p>
          <a:p>
            <a:r>
              <a:rPr lang="en-US" b="1" dirty="0"/>
              <a:t>Lifestyle</a:t>
            </a:r>
            <a:endParaRPr lang="en-US" dirty="0"/>
          </a:p>
          <a:p>
            <a:pPr lvl="1"/>
            <a:r>
              <a:rPr lang="en-US" dirty="0"/>
              <a:t>Regular physical exercise</a:t>
            </a:r>
          </a:p>
          <a:p>
            <a:pPr lvl="1"/>
            <a:r>
              <a:rPr lang="en-US" dirty="0"/>
              <a:t>Quality Sleep</a:t>
            </a:r>
          </a:p>
          <a:p>
            <a:pPr lvl="1"/>
            <a:r>
              <a:rPr lang="en-US" dirty="0"/>
              <a:t>Healthy nutrition</a:t>
            </a:r>
          </a:p>
          <a:p>
            <a:r>
              <a:rPr lang="en-US" b="1" dirty="0"/>
              <a:t>Environmental</a:t>
            </a:r>
            <a:endParaRPr lang="en-US" dirty="0"/>
          </a:p>
          <a:p>
            <a:pPr lvl="1"/>
            <a:r>
              <a:rPr lang="en-US" dirty="0"/>
              <a:t>Job satisfaction</a:t>
            </a:r>
          </a:p>
          <a:p>
            <a:pPr lvl="1"/>
            <a:r>
              <a:rPr lang="en-US" dirty="0"/>
              <a:t>Financial stability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person sitting in a chair with a tangled line above his head&#10;&#10;AI-generated content may be incorrect.">
            <a:extLst>
              <a:ext uri="{FF2B5EF4-FFF2-40B4-BE49-F238E27FC236}">
                <a16:creationId xmlns:a16="http://schemas.microsoft.com/office/drawing/2014/main" id="{BDFFD1DB-90CD-F98D-471C-8FC9380DAD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0E5"/>
              </a:clrFrom>
              <a:clrTo>
                <a:srgbClr val="F4F0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37" r="32326"/>
          <a:stretch>
            <a:fillRect/>
          </a:stretch>
        </p:blipFill>
        <p:spPr>
          <a:xfrm>
            <a:off x="7678530" y="0"/>
            <a:ext cx="4125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8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B4E22-72D6-0D2B-26B8-436C17C9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30175531-0D1F-E941-1F04-5525FE636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270" y="2194560"/>
            <a:ext cx="5379086" cy="3903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E34236-81DA-1C88-8201-4B274641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89CA0-7A0F-A763-7FE8-F90AC6414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76291" cy="48604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The Stress Response</a:t>
            </a:r>
            <a:endParaRPr lang="en-US" dirty="0"/>
          </a:p>
          <a:p>
            <a:r>
              <a:rPr lang="en-US" b="1" dirty="0"/>
              <a:t>Adrenal Medulla</a:t>
            </a:r>
            <a:r>
              <a:rPr lang="en-US" dirty="0"/>
              <a:t>: Releases hormones epinephrine and norepinephrine</a:t>
            </a:r>
          </a:p>
          <a:p>
            <a:pPr lvl="1"/>
            <a:r>
              <a:rPr lang="en-US" b="1" dirty="0"/>
              <a:t>Function</a:t>
            </a:r>
            <a:r>
              <a:rPr lang="en-US" dirty="0"/>
              <a:t>: Prepares body for action</a:t>
            </a:r>
          </a:p>
          <a:p>
            <a:pPr lvl="1"/>
            <a:r>
              <a:rPr lang="en-US" b="1" dirty="0"/>
              <a:t>Pathway</a:t>
            </a:r>
            <a:r>
              <a:rPr lang="en-US" dirty="0"/>
              <a:t>: Part of the sympathetic nervous system</a:t>
            </a:r>
          </a:p>
          <a:p>
            <a:pPr lvl="2"/>
            <a:r>
              <a:rPr lang="en-US" dirty="0"/>
              <a:t>Hypothalamus → Brainstem → Adrenal medulla</a:t>
            </a:r>
          </a:p>
          <a:p>
            <a:pPr lvl="1"/>
            <a:r>
              <a:rPr lang="en-US" b="1" dirty="0"/>
              <a:t>Timing</a:t>
            </a:r>
            <a:r>
              <a:rPr lang="en-US" dirty="0"/>
              <a:t>: Fast acting (seconds to minutes)</a:t>
            </a:r>
          </a:p>
          <a:p>
            <a:pPr lvl="1"/>
            <a:r>
              <a:rPr lang="en-US" b="1" dirty="0"/>
              <a:t>Effect</a:t>
            </a:r>
            <a:r>
              <a:rPr lang="en-US" dirty="0"/>
              <a:t>: Increases heart rate, breathing rate, blood pressure, and blood glucose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5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D345-C186-EE82-FBA4-E0B26851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person's body&#10;&#10;AI-generated content may be incorrect.">
            <a:extLst>
              <a:ext uri="{FF2B5EF4-FFF2-40B4-BE49-F238E27FC236}">
                <a16:creationId xmlns:a16="http://schemas.microsoft.com/office/drawing/2014/main" id="{D7CF6FF9-5B19-7764-C583-94FCFE596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270" y="2194560"/>
            <a:ext cx="5379086" cy="3903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1BE66E-381D-5EBB-C6D1-9C34589EC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DC1BF-2C7C-65F7-4360-BAC332BF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4664" cy="48604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Stress Response</a:t>
            </a:r>
            <a:endParaRPr lang="en-US" dirty="0"/>
          </a:p>
          <a:p>
            <a:r>
              <a:rPr lang="en-US" b="1" dirty="0"/>
              <a:t>Adrenal Cortex</a:t>
            </a:r>
            <a:r>
              <a:rPr lang="en-US" dirty="0"/>
              <a:t>: Releases adrenal hormone cortisol</a:t>
            </a:r>
          </a:p>
          <a:p>
            <a:pPr lvl="1"/>
            <a:r>
              <a:rPr lang="en-US" b="1" dirty="0"/>
              <a:t>Function</a:t>
            </a:r>
            <a:r>
              <a:rPr lang="en-US" dirty="0"/>
              <a:t>: Sustain the stress response and manage prolonged stress</a:t>
            </a:r>
          </a:p>
          <a:p>
            <a:pPr lvl="1"/>
            <a:r>
              <a:rPr lang="en-US" b="1" dirty="0"/>
              <a:t>Pathway</a:t>
            </a:r>
            <a:r>
              <a:rPr lang="en-US" dirty="0"/>
              <a:t>: Part of the hypothalamic-pituitary-adrenal axis (HPA)</a:t>
            </a:r>
          </a:p>
          <a:p>
            <a:pPr lvl="2"/>
            <a:r>
              <a:rPr lang="en-US" dirty="0"/>
              <a:t>Hypothalamus → Anterior pituitary gland → Adrenal cortex</a:t>
            </a:r>
          </a:p>
          <a:p>
            <a:pPr lvl="1"/>
            <a:r>
              <a:rPr lang="en-US" b="1" dirty="0"/>
              <a:t>Timing</a:t>
            </a:r>
            <a:r>
              <a:rPr lang="en-US" dirty="0"/>
              <a:t>: Slow acting (minutes to hours)</a:t>
            </a:r>
          </a:p>
          <a:p>
            <a:pPr lvl="1"/>
            <a:r>
              <a:rPr lang="en-US" b="1" dirty="0"/>
              <a:t>Effect</a:t>
            </a:r>
            <a:r>
              <a:rPr lang="en-US" dirty="0"/>
              <a:t>: Releases stored energy, suppresses immune function, maintains high blood pressure</a:t>
            </a:r>
          </a:p>
          <a:p>
            <a:pPr lvl="2"/>
            <a:r>
              <a:rPr lang="en-US" dirty="0"/>
              <a:t>HPA has a negative feedback loop</a:t>
            </a:r>
          </a:p>
        </p:txBody>
      </p:sp>
    </p:spTree>
    <p:extLst>
      <p:ext uri="{BB962C8B-B14F-4D97-AF65-F5344CB8AC3E}">
        <p14:creationId xmlns:p14="http://schemas.microsoft.com/office/powerpoint/2010/main" val="14156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6B82-82E8-0564-FABF-448D2B29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0706E-DDD2-F65C-229B-F13E2F5A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25C9-EACE-BD5D-5EC6-44348FAD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250940" cy="489477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Levine, 1967</a:t>
            </a:r>
          </a:p>
          <a:p>
            <a:r>
              <a:rPr lang="en-US" b="1" dirty="0"/>
              <a:t>Research Question: </a:t>
            </a:r>
            <a:r>
              <a:rPr lang="en-US" dirty="0"/>
              <a:t>How does early-life stress impact the adult stress response?</a:t>
            </a:r>
          </a:p>
          <a:p>
            <a:endParaRPr lang="en-US" dirty="0"/>
          </a:p>
          <a:p>
            <a:r>
              <a:rPr lang="en-US" b="1" dirty="0"/>
              <a:t>Methods/Task: </a:t>
            </a:r>
            <a:r>
              <a:rPr lang="en-US" dirty="0"/>
              <a:t>Rat pups were either briefly handled or left undisturbed</a:t>
            </a:r>
          </a:p>
          <a:p>
            <a:pPr lvl="1"/>
            <a:r>
              <a:rPr lang="en-US" dirty="0"/>
              <a:t>Then their cortisol was measured in response to a stressful novel environment</a:t>
            </a:r>
          </a:p>
          <a:p>
            <a:endParaRPr lang="en-US" dirty="0"/>
          </a:p>
          <a:p>
            <a:r>
              <a:rPr lang="en-US" b="1" dirty="0"/>
              <a:t>Independent Variable: </a:t>
            </a:r>
            <a:r>
              <a:rPr lang="en-US" dirty="0"/>
              <a:t>Early handling (handled vs. not handled)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 descr="A diagram of a computer test&#10;&#10;AI-generated content may be incorrect.">
            <a:extLst>
              <a:ext uri="{FF2B5EF4-FFF2-40B4-BE49-F238E27FC236}">
                <a16:creationId xmlns:a16="http://schemas.microsoft.com/office/drawing/2014/main" id="{4FF48F9B-56EE-A39B-452D-D3DDD35D4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1" t="31068" r="46965" b="31502"/>
          <a:stretch>
            <a:fillRect/>
          </a:stretch>
        </p:blipFill>
        <p:spPr>
          <a:xfrm>
            <a:off x="7643673" y="533923"/>
            <a:ext cx="3826277" cy="382501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CBDE4F0-D312-B929-8CB7-D48F24B5D44C}"/>
              </a:ext>
            </a:extLst>
          </p:cNvPr>
          <p:cNvGrpSpPr/>
          <p:nvPr/>
        </p:nvGrpSpPr>
        <p:grpSpPr>
          <a:xfrm>
            <a:off x="7354617" y="4358936"/>
            <a:ext cx="4456803" cy="2237296"/>
            <a:chOff x="6383045" y="4119239"/>
            <a:chExt cx="5641438" cy="2831978"/>
          </a:xfrm>
        </p:grpSpPr>
        <p:pic>
          <p:nvPicPr>
            <p:cNvPr id="9" name="Picture 8" descr="A diagram of a computer test&#10;&#10;AI-generated content may be incorrect.">
              <a:extLst>
                <a:ext uri="{FF2B5EF4-FFF2-40B4-BE49-F238E27FC236}">
                  <a16:creationId xmlns:a16="http://schemas.microsoft.com/office/drawing/2014/main" id="{DA53A64E-C04D-47C0-B81A-58474550A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847" t="17856" r="6328" b="54431"/>
            <a:stretch>
              <a:fillRect/>
            </a:stretch>
          </p:blipFill>
          <p:spPr>
            <a:xfrm>
              <a:off x="6383045" y="4119239"/>
              <a:ext cx="2814221" cy="2831978"/>
            </a:xfrm>
            <a:prstGeom prst="rect">
              <a:avLst/>
            </a:prstGeom>
          </p:spPr>
        </p:pic>
        <p:pic>
          <p:nvPicPr>
            <p:cNvPr id="10" name="Picture 9" descr="A diagram of a computer test&#10;&#10;AI-generated content may be incorrect.">
              <a:extLst>
                <a:ext uri="{FF2B5EF4-FFF2-40B4-BE49-F238E27FC236}">
                  <a16:creationId xmlns:a16="http://schemas.microsoft.com/office/drawing/2014/main" id="{131B252E-5DCF-B56A-F994-F2B70644E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434" t="53735" r="6741" b="18552"/>
            <a:stretch>
              <a:fillRect/>
            </a:stretch>
          </p:blipFill>
          <p:spPr>
            <a:xfrm>
              <a:off x="9210262" y="4119239"/>
              <a:ext cx="2814221" cy="2831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510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97B60-9F2B-BA56-E7AD-777B6CF09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6397-0BA8-2D04-1DDC-A90FA50D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4A057-5060-ABA6-FC14-203A05F55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43835" cy="4779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Levine, 1967</a:t>
            </a:r>
          </a:p>
          <a:p>
            <a:r>
              <a:rPr lang="en-US" b="1" dirty="0"/>
              <a:t>Dependent Variable: </a:t>
            </a:r>
            <a:r>
              <a:rPr lang="en-US" dirty="0"/>
              <a:t>Cortisol (plasma corticosterone)</a:t>
            </a:r>
          </a:p>
          <a:p>
            <a:endParaRPr lang="en-US" dirty="0"/>
          </a:p>
          <a:p>
            <a:r>
              <a:rPr lang="en-US" b="1" dirty="0"/>
              <a:t>Results: </a:t>
            </a:r>
            <a:r>
              <a:rPr lang="en-US" dirty="0"/>
              <a:t>Handled rats had lower cortisol levels than unhandled rats</a:t>
            </a:r>
          </a:p>
          <a:p>
            <a:endParaRPr lang="en-US" dirty="0"/>
          </a:p>
        </p:txBody>
      </p:sp>
      <p:pic>
        <p:nvPicPr>
          <p:cNvPr id="4" name="Picture 3" descr="A graph of a bar chart&#10;&#10;AI-generated content may be incorrect.">
            <a:extLst>
              <a:ext uri="{FF2B5EF4-FFF2-40B4-BE49-F238E27FC236}">
                <a16:creationId xmlns:a16="http://schemas.microsoft.com/office/drawing/2014/main" id="{9FBA0F36-8575-DFB3-E32A-29478D5A9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3"/>
          <a:stretch>
            <a:fillRect/>
          </a:stretch>
        </p:blipFill>
        <p:spPr>
          <a:xfrm>
            <a:off x="7089140" y="1899820"/>
            <a:ext cx="4956058" cy="450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5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62613-BB62-F2C0-5E3E-31EAF68B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DA34-63A4-C70F-224B-22AB875C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8003-F674-1025-6BCB-AA2384109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43835" cy="4779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Levine, 1967</a:t>
            </a:r>
          </a:p>
          <a:p>
            <a:r>
              <a:rPr lang="en-US" b="1" dirty="0"/>
              <a:t>Conclusion: </a:t>
            </a:r>
            <a:r>
              <a:rPr lang="en-US" dirty="0"/>
              <a:t>Brief early handling produces long-term </a:t>
            </a:r>
            <a:r>
              <a:rPr lang="en-US" i="1" dirty="0"/>
              <a:t>stress resilience</a:t>
            </a:r>
          </a:p>
          <a:p>
            <a:pPr lvl="1"/>
            <a:r>
              <a:rPr lang="en-US" b="1" dirty="0"/>
              <a:t>Liu et al., 1997: </a:t>
            </a:r>
            <a:r>
              <a:rPr lang="en-US" dirty="0"/>
              <a:t>Stress resilience only when pups receive maternal licking and grooming</a:t>
            </a:r>
            <a:r>
              <a:rPr lang="en-US" b="1" i="1" dirty="0"/>
              <a:t> </a:t>
            </a:r>
            <a:r>
              <a:rPr lang="en-US" dirty="0"/>
              <a:t>after stress</a:t>
            </a:r>
          </a:p>
          <a:p>
            <a:pPr lvl="1"/>
            <a:r>
              <a:rPr lang="en-US" dirty="0"/>
              <a:t>It is early caregiving, not the stress itself, that buffers the stress response</a:t>
            </a:r>
          </a:p>
        </p:txBody>
      </p:sp>
      <p:pic>
        <p:nvPicPr>
          <p:cNvPr id="4" name="Picture 3" descr="A graph of a bar chart&#10;&#10;AI-generated content may be incorrect.">
            <a:extLst>
              <a:ext uri="{FF2B5EF4-FFF2-40B4-BE49-F238E27FC236}">
                <a16:creationId xmlns:a16="http://schemas.microsoft.com/office/drawing/2014/main" id="{6E039C74-1899-7B1D-3264-0E2A5062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3"/>
          <a:stretch>
            <a:fillRect/>
          </a:stretch>
        </p:blipFill>
        <p:spPr>
          <a:xfrm>
            <a:off x="7089140" y="1899820"/>
            <a:ext cx="4956058" cy="450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1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A505-2EF0-55BC-9C30-3D67C4E8B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DA67-8D40-3261-D25A-6F516CFB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8503-27CA-FF71-448A-7196E0FEC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21388" cy="47793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Acute Stress and the Immune System</a:t>
            </a:r>
          </a:p>
          <a:p>
            <a:r>
              <a:rPr lang="en-US" b="1" dirty="0"/>
              <a:t>Timeline</a:t>
            </a:r>
            <a:r>
              <a:rPr lang="en-US" dirty="0"/>
              <a:t>: Minutes to hours</a:t>
            </a:r>
          </a:p>
          <a:p>
            <a:r>
              <a:rPr lang="en-US" b="1" dirty="0"/>
              <a:t>Hormones</a:t>
            </a:r>
            <a:r>
              <a:rPr lang="en-US" dirty="0"/>
              <a:t>: Cortisol rises rapidly</a:t>
            </a:r>
          </a:p>
          <a:p>
            <a:r>
              <a:rPr lang="en-US" b="1" dirty="0"/>
              <a:t>Immune System</a:t>
            </a:r>
            <a:r>
              <a:rPr lang="en-US" dirty="0"/>
              <a:t>: Suppressed by cortisol </a:t>
            </a:r>
          </a:p>
          <a:p>
            <a:pPr lvl="1"/>
            <a:r>
              <a:rPr lang="en-US" dirty="0"/>
              <a:t>Blood flow prioritized to muscles and brain rather than immune and digestive systems</a:t>
            </a:r>
          </a:p>
          <a:p>
            <a:pPr lvl="1"/>
            <a:r>
              <a:rPr lang="en-US" dirty="0"/>
              <a:t>Antibody production decreases</a:t>
            </a:r>
          </a:p>
          <a:p>
            <a:pPr lvl="1"/>
            <a:r>
              <a:rPr lang="en-US" dirty="0"/>
              <a:t>White blood cell activity reduced</a:t>
            </a:r>
          </a:p>
          <a:p>
            <a:r>
              <a:rPr lang="en-US" b="1" dirty="0"/>
              <a:t>Effects</a:t>
            </a:r>
          </a:p>
          <a:p>
            <a:pPr lvl="1"/>
            <a:r>
              <a:rPr lang="en-US" dirty="0"/>
              <a:t>Prioritizes immediate survival over fighting infection</a:t>
            </a:r>
          </a:p>
          <a:p>
            <a:pPr lvl="1"/>
            <a:r>
              <a:rPr lang="en-US" dirty="0"/>
              <a:t>Conserves energy for fight-or-flight response</a:t>
            </a:r>
          </a:p>
          <a:p>
            <a:pPr lvl="1"/>
            <a:endParaRPr lang="en-US" dirty="0"/>
          </a:p>
        </p:txBody>
      </p:sp>
      <p:pic>
        <p:nvPicPr>
          <p:cNvPr id="7170" name="Picture 2" descr="Is it true that … you're more likely to get sick when you're stressed? |  Health | The Guardian">
            <a:extLst>
              <a:ext uri="{FF2B5EF4-FFF2-40B4-BE49-F238E27FC236}">
                <a16:creationId xmlns:a16="http://schemas.microsoft.com/office/drawing/2014/main" id="{5DA97CA5-61C2-4629-3BE8-E781D7F4F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59588" y="2074660"/>
            <a:ext cx="4429125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32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387E-766A-AFA3-E9F0-101FD22E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9C6D-AAB2-8316-6CF0-BEEAED5E6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5F471-49D2-2C35-0CE3-1FE49805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21388" cy="47793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Chronic Stress and the Immune System</a:t>
            </a:r>
          </a:p>
          <a:p>
            <a:r>
              <a:rPr lang="en-US" b="1" dirty="0"/>
              <a:t>Timeline</a:t>
            </a:r>
            <a:r>
              <a:rPr lang="en-US" dirty="0"/>
              <a:t>: Weeks to years</a:t>
            </a:r>
          </a:p>
          <a:p>
            <a:r>
              <a:rPr lang="en-US" b="1" dirty="0"/>
              <a:t>Hormones</a:t>
            </a:r>
            <a:r>
              <a:rPr lang="en-US" dirty="0"/>
              <a:t>: Cortisol chronically elevated</a:t>
            </a:r>
          </a:p>
          <a:p>
            <a:pPr lvl="1"/>
            <a:r>
              <a:rPr lang="en-US" dirty="0"/>
              <a:t>Does not return to baseline</a:t>
            </a:r>
          </a:p>
          <a:p>
            <a:r>
              <a:rPr lang="en-US" b="1" dirty="0"/>
              <a:t>Immune System</a:t>
            </a:r>
            <a:r>
              <a:rPr lang="en-US" dirty="0"/>
              <a:t>: Chronic suppression by cortisol </a:t>
            </a:r>
          </a:p>
          <a:p>
            <a:pPr lvl="1"/>
            <a:r>
              <a:rPr lang="en-US" dirty="0"/>
              <a:t>Blood flow changes, decreased antibody production, decreased white blood cell activity</a:t>
            </a:r>
          </a:p>
          <a:p>
            <a:r>
              <a:rPr lang="en-US" b="1" dirty="0"/>
              <a:t>Effects</a:t>
            </a:r>
          </a:p>
          <a:p>
            <a:pPr lvl="1"/>
            <a:r>
              <a:rPr lang="en-US" dirty="0"/>
              <a:t>Increased infection rates</a:t>
            </a:r>
          </a:p>
          <a:p>
            <a:pPr lvl="1"/>
            <a:r>
              <a:rPr lang="en-US" dirty="0"/>
              <a:t>Slower wound healing</a:t>
            </a:r>
          </a:p>
          <a:p>
            <a:pPr lvl="1"/>
            <a:r>
              <a:rPr lang="en-US" dirty="0"/>
              <a:t>Increased inflammation and risk of autoimmune-related symptoms</a:t>
            </a:r>
          </a:p>
          <a:p>
            <a:pPr lvl="1"/>
            <a:endParaRPr lang="en-US" dirty="0"/>
          </a:p>
        </p:txBody>
      </p:sp>
      <p:pic>
        <p:nvPicPr>
          <p:cNvPr id="4" name="Picture 2" descr="Is it true that … you're more likely to get sick when you're stressed? |  Health | The Guardian">
            <a:extLst>
              <a:ext uri="{FF2B5EF4-FFF2-40B4-BE49-F238E27FC236}">
                <a16:creationId xmlns:a16="http://schemas.microsoft.com/office/drawing/2014/main" id="{DCC0A1E9-2582-D8D5-E013-6425FD02D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59588" y="2074660"/>
            <a:ext cx="4429125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1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F840-2CD7-896D-66A1-C9454B6D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ECB0-5922-4F0B-4630-30BEDEC5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545E2-0641-E4A6-9E73-BB776BC92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521388" cy="4779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Chronic Stress and Oxytocin</a:t>
            </a:r>
          </a:p>
          <a:p>
            <a:r>
              <a:rPr lang="en-US" dirty="0"/>
              <a:t>Oxytocin is released during chronic stress</a:t>
            </a:r>
          </a:p>
          <a:p>
            <a:r>
              <a:rPr lang="en-US" dirty="0"/>
              <a:t>It is a protective hormone that counteracts some effects of cortisol</a:t>
            </a:r>
          </a:p>
          <a:p>
            <a:r>
              <a:rPr lang="en-US" dirty="0"/>
              <a:t>It promotes seeking social support to help cope with stress</a:t>
            </a:r>
          </a:p>
          <a:p>
            <a:pPr lvl="1"/>
            <a:r>
              <a:rPr lang="en-US" dirty="0"/>
              <a:t>Social support can reduce perceived stress and physiological stress responses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4" name="Picture 2" descr="Is it true that … you're more likely to get sick when you're stressed? |  Health | The Guardian">
            <a:extLst>
              <a:ext uri="{FF2B5EF4-FFF2-40B4-BE49-F238E27FC236}">
                <a16:creationId xmlns:a16="http://schemas.microsoft.com/office/drawing/2014/main" id="{9F5F571E-1421-D495-1346-1FE0DEA93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59588" y="2074660"/>
            <a:ext cx="4429125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331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76176F-5A0E-0080-99AE-1BF8FD574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4"/>
          <a:stretch>
            <a:fillRect/>
          </a:stretch>
        </p:blipFill>
        <p:spPr>
          <a:xfrm>
            <a:off x="7737231" y="0"/>
            <a:ext cx="445476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416ADD-E773-4270-74A4-6EEDDBBC9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Testable Figures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D16DB-37E6-F1F5-7348-E2153B7BC2FD}"/>
              </a:ext>
            </a:extLst>
          </p:cNvPr>
          <p:cNvSpPr txBox="1"/>
          <p:nvPr/>
        </p:nvSpPr>
        <p:spPr>
          <a:xfrm>
            <a:off x="0" y="6492875"/>
            <a:ext cx="7212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All figures corresponding to the results of a study are testable material.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F61BB8-1FC1-AFE2-DABD-CEF63125C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 13</a:t>
            </a:r>
          </a:p>
          <a:p>
            <a:pPr marL="0" indent="0">
              <a:buNone/>
            </a:pPr>
            <a:r>
              <a:rPr lang="en-US" dirty="0"/>
              <a:t>Slide 24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489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c61d377-9894-427c-b13b-1d6a51662b4e}" enabled="0" method="" siteId="{9c61d377-9894-427c-b13b-1d6a51662b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8895</TotalTime>
  <Words>1425</Words>
  <Application>Microsoft Office PowerPoint</Application>
  <PresentationFormat>Widescreen</PresentationFormat>
  <Paragraphs>343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Office Theme</vt:lpstr>
      <vt:lpstr>Emotion</vt:lpstr>
      <vt:lpstr>PowerPoint Presentation</vt:lpstr>
      <vt:lpstr>PowerPoint Presentation</vt:lpstr>
      <vt:lpstr>Emotions</vt:lpstr>
      <vt:lpstr>Emotions</vt:lpstr>
      <vt:lpstr>Emotions</vt:lpstr>
      <vt:lpstr>Emotions</vt:lpstr>
      <vt:lpstr>Emotions</vt:lpstr>
      <vt:lpstr>Emotions</vt:lpstr>
      <vt:lpstr>PowerPoint Presentation</vt:lpstr>
      <vt:lpstr>The Limbic System</vt:lpstr>
      <vt:lpstr>The Limbic System</vt:lpstr>
      <vt:lpstr>The Limbic System</vt:lpstr>
      <vt:lpstr>The Limbic System</vt:lpstr>
      <vt:lpstr>The Limbic System</vt:lpstr>
      <vt:lpstr>The Limbic System</vt:lpstr>
      <vt:lpstr>The Limbic System</vt:lpstr>
      <vt:lpstr>The Limbic System</vt:lpstr>
      <vt:lpstr>The Limbic System</vt:lpstr>
      <vt:lpstr>PowerPoint Presentation</vt:lpstr>
      <vt:lpstr>The Limbic System</vt:lpstr>
      <vt:lpstr>PowerPoint Presentation</vt:lpstr>
      <vt:lpstr>Regions Beyond the Limbic</vt:lpstr>
      <vt:lpstr>Regions Beyond the Limbic</vt:lpstr>
      <vt:lpstr>Regions Beyond the Limbic</vt:lpstr>
      <vt:lpstr>Regions Beyond the Limbic</vt:lpstr>
      <vt:lpstr>Regions Beyond the Limbic</vt:lpstr>
      <vt:lpstr>PowerPoint Presentation</vt:lpstr>
      <vt:lpstr>Stress</vt:lpstr>
      <vt:lpstr>Stress</vt:lpstr>
      <vt:lpstr>Stress</vt:lpstr>
      <vt:lpstr>Stress</vt:lpstr>
      <vt:lpstr>Stress</vt:lpstr>
      <vt:lpstr>Stress</vt:lpstr>
      <vt:lpstr>Stress</vt:lpstr>
      <vt:lpstr>Stress</vt:lpstr>
      <vt:lpstr>Stress</vt:lpstr>
      <vt:lpstr>Stress</vt:lpstr>
      <vt:lpstr>Stress</vt:lpstr>
      <vt:lpstr>Stress</vt:lpstr>
      <vt:lpstr>Testable Figures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Williams</dc:creator>
  <cp:lastModifiedBy>Chad Williams</cp:lastModifiedBy>
  <cp:revision>2</cp:revision>
  <dcterms:created xsi:type="dcterms:W3CDTF">2025-08-11T14:51:42Z</dcterms:created>
  <dcterms:modified xsi:type="dcterms:W3CDTF">2026-07-28T21:53:42Z</dcterms:modified>
</cp:coreProperties>
</file>