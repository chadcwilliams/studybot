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2"/>
  </p:notesMasterIdLst>
  <p:sldIdLst>
    <p:sldId id="257" r:id="rId2"/>
    <p:sldId id="323" r:id="rId3"/>
    <p:sldId id="429" r:id="rId4"/>
    <p:sldId id="436" r:id="rId5"/>
    <p:sldId id="324" r:id="rId6"/>
    <p:sldId id="325" r:id="rId7"/>
    <p:sldId id="435" r:id="rId8"/>
    <p:sldId id="328" r:id="rId9"/>
    <p:sldId id="437" r:id="rId10"/>
    <p:sldId id="329" r:id="rId11"/>
    <p:sldId id="438" r:id="rId12"/>
    <p:sldId id="330" r:id="rId13"/>
    <p:sldId id="331" r:id="rId14"/>
    <p:sldId id="439" r:id="rId15"/>
    <p:sldId id="430" r:id="rId16"/>
    <p:sldId id="260" r:id="rId17"/>
    <p:sldId id="261" r:id="rId18"/>
    <p:sldId id="545" r:id="rId19"/>
    <p:sldId id="546" r:id="rId20"/>
    <p:sldId id="334" r:id="rId21"/>
    <p:sldId id="336" r:id="rId22"/>
    <p:sldId id="337" r:id="rId23"/>
    <p:sldId id="338" r:id="rId24"/>
    <p:sldId id="339" r:id="rId25"/>
    <p:sldId id="340" r:id="rId26"/>
    <p:sldId id="341" r:id="rId27"/>
    <p:sldId id="342" r:id="rId28"/>
    <p:sldId id="332" r:id="rId29"/>
    <p:sldId id="343" r:id="rId30"/>
    <p:sldId id="344" r:id="rId31"/>
    <p:sldId id="345" r:id="rId32"/>
    <p:sldId id="333" r:id="rId33"/>
    <p:sldId id="346" r:id="rId34"/>
    <p:sldId id="348" r:id="rId35"/>
    <p:sldId id="349" r:id="rId36"/>
    <p:sldId id="350" r:id="rId37"/>
    <p:sldId id="527" r:id="rId38"/>
    <p:sldId id="528" r:id="rId39"/>
    <p:sldId id="352" r:id="rId40"/>
    <p:sldId id="353" r:id="rId41"/>
    <p:sldId id="354" r:id="rId42"/>
    <p:sldId id="355" r:id="rId43"/>
    <p:sldId id="356" r:id="rId44"/>
    <p:sldId id="357" r:id="rId45"/>
    <p:sldId id="399" r:id="rId46"/>
    <p:sldId id="529" r:id="rId47"/>
    <p:sldId id="526" r:id="rId48"/>
    <p:sldId id="431" r:id="rId49"/>
    <p:sldId id="547" r:id="rId50"/>
    <p:sldId id="400" r:id="rId51"/>
    <p:sldId id="403" r:id="rId52"/>
    <p:sldId id="404" r:id="rId53"/>
    <p:sldId id="402" r:id="rId54"/>
    <p:sldId id="532" r:id="rId55"/>
    <p:sldId id="548" r:id="rId56"/>
    <p:sldId id="432" r:id="rId57"/>
    <p:sldId id="412" r:id="rId58"/>
    <p:sldId id="534" r:id="rId59"/>
    <p:sldId id="415" r:id="rId60"/>
    <p:sldId id="416" r:id="rId61"/>
    <p:sldId id="417" r:id="rId62"/>
    <p:sldId id="418" r:id="rId63"/>
    <p:sldId id="419" r:id="rId64"/>
    <p:sldId id="535" r:id="rId65"/>
    <p:sldId id="422" r:id="rId66"/>
    <p:sldId id="420" r:id="rId67"/>
    <p:sldId id="421" r:id="rId68"/>
    <p:sldId id="541" r:id="rId69"/>
    <p:sldId id="423" r:id="rId70"/>
    <p:sldId id="542" r:id="rId71"/>
    <p:sldId id="424" r:id="rId72"/>
    <p:sldId id="433" r:id="rId73"/>
    <p:sldId id="413" r:id="rId74"/>
    <p:sldId id="543" r:id="rId75"/>
    <p:sldId id="525" r:id="rId76"/>
    <p:sldId id="447" r:id="rId77"/>
    <p:sldId id="448" r:id="rId78"/>
    <p:sldId id="444" r:id="rId79"/>
    <p:sldId id="549" r:id="rId80"/>
    <p:sldId id="446" r:id="rId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A4B"/>
    <a:srgbClr val="EAF2F7"/>
    <a:srgbClr val="E8871E"/>
    <a:srgbClr val="B85F0F"/>
    <a:srgbClr val="2C5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CB1587-600D-43BE-88FC-56B6565095C5}" v="1193" dt="2026-08-17T19:30:32.3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713" autoAdjust="0"/>
    <p:restoredTop sz="96327"/>
  </p:normalViewPr>
  <p:slideViewPr>
    <p:cSldViewPr snapToGrid="0" snapToObjects="1">
      <p:cViewPr varScale="1">
        <p:scale>
          <a:sx n="108" d="100"/>
          <a:sy n="108" d="100"/>
        </p:scale>
        <p:origin x="52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88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d Williams" userId="618f96a3-8672-4e43-ae03-eeed93bb7387" providerId="ADAL" clId="{DFF2BB08-185E-495B-B2A0-BE0942C7B81E}"/>
    <pc:docChg chg="undo custSel addSld delSld modSld sldOrd">
      <pc:chgData name="Chad Williams" userId="618f96a3-8672-4e43-ae03-eeed93bb7387" providerId="ADAL" clId="{DFF2BB08-185E-495B-B2A0-BE0942C7B81E}" dt="2026-08-17T19:30:35.832" v="2195" actId="47"/>
      <pc:docMkLst>
        <pc:docMk/>
      </pc:docMkLst>
      <pc:sldChg chg="add setBg modAnim">
        <pc:chgData name="Chad Williams" userId="618f96a3-8672-4e43-ae03-eeed93bb7387" providerId="ADAL" clId="{DFF2BB08-185E-495B-B2A0-BE0942C7B81E}" dt="2026-07-23T22:21:15.589" v="1853"/>
        <pc:sldMkLst>
          <pc:docMk/>
          <pc:sldMk cId="0" sldId="260"/>
        </pc:sldMkLst>
      </pc:sldChg>
      <pc:sldChg chg="addSp delSp modSp add mod delAnim modAnim">
        <pc:chgData name="Chad Williams" userId="618f96a3-8672-4e43-ae03-eeed93bb7387" providerId="ADAL" clId="{DFF2BB08-185E-495B-B2A0-BE0942C7B81E}" dt="2026-07-23T22:25:43.621" v="1902"/>
        <pc:sldMkLst>
          <pc:docMk/>
          <pc:sldMk cId="211761156" sldId="261"/>
        </pc:sldMkLst>
        <pc:spChg chg="mod">
          <ac:chgData name="Chad Williams" userId="618f96a3-8672-4e43-ae03-eeed93bb7387" providerId="ADAL" clId="{DFF2BB08-185E-495B-B2A0-BE0942C7B81E}" dt="2026-07-23T22:14:54.448" v="1705" actId="1036"/>
          <ac:spMkLst>
            <pc:docMk/>
            <pc:sldMk cId="211761156" sldId="261"/>
            <ac:spMk id="3" creationId="{7C2AC06E-CEE1-A6C7-FDBF-3FAEA7F1979B}"/>
          </ac:spMkLst>
        </pc:spChg>
        <pc:spChg chg="mod">
          <ac:chgData name="Chad Williams" userId="618f96a3-8672-4e43-ae03-eeed93bb7387" providerId="ADAL" clId="{DFF2BB08-185E-495B-B2A0-BE0942C7B81E}" dt="2026-07-23T22:22:31.772" v="1861" actId="692"/>
          <ac:spMkLst>
            <pc:docMk/>
            <pc:sldMk cId="211761156" sldId="261"/>
            <ac:spMk id="70" creationId="{3D37126E-207E-FC3C-D793-4A648CB234CC}"/>
          </ac:spMkLst>
        </pc:spChg>
        <pc:spChg chg="mod">
          <ac:chgData name="Chad Williams" userId="618f96a3-8672-4e43-ae03-eeed93bb7387" providerId="ADAL" clId="{DFF2BB08-185E-495B-B2A0-BE0942C7B81E}" dt="2026-07-23T22:20:23.741" v="1841" actId="207"/>
          <ac:spMkLst>
            <pc:docMk/>
            <pc:sldMk cId="211761156" sldId="261"/>
            <ac:spMk id="86" creationId="{EA14648C-B0D9-276E-FF0D-ACE11F4D5A12}"/>
          </ac:spMkLst>
        </pc:spChg>
        <pc:spChg chg="mod">
          <ac:chgData name="Chad Williams" userId="618f96a3-8672-4e43-ae03-eeed93bb7387" providerId="ADAL" clId="{DFF2BB08-185E-495B-B2A0-BE0942C7B81E}" dt="2026-07-23T22:20:38.116" v="1842" actId="207"/>
          <ac:spMkLst>
            <pc:docMk/>
            <pc:sldMk cId="211761156" sldId="261"/>
            <ac:spMk id="88" creationId="{D9EEC30F-1929-B6C3-78C2-0EEA0F0BB822}"/>
          </ac:spMkLst>
        </pc:spChg>
        <pc:spChg chg="mod">
          <ac:chgData name="Chad Williams" userId="618f96a3-8672-4e43-ae03-eeed93bb7387" providerId="ADAL" clId="{DFF2BB08-185E-495B-B2A0-BE0942C7B81E}" dt="2026-07-23T22:23:59.669" v="1891" actId="1035"/>
          <ac:spMkLst>
            <pc:docMk/>
            <pc:sldMk cId="211761156" sldId="261"/>
            <ac:spMk id="102" creationId="{B57CCEBC-6E70-4E0A-92CF-98E17486764A}"/>
          </ac:spMkLst>
        </pc:spChg>
        <pc:spChg chg="mod">
          <ac:chgData name="Chad Williams" userId="618f96a3-8672-4e43-ae03-eeed93bb7387" providerId="ADAL" clId="{DFF2BB08-185E-495B-B2A0-BE0942C7B81E}" dt="2026-07-23T22:23:29.846" v="1867" actId="1076"/>
          <ac:spMkLst>
            <pc:docMk/>
            <pc:sldMk cId="211761156" sldId="261"/>
            <ac:spMk id="104" creationId="{66197E20-A8FB-7C26-A843-E67B93BB2C81}"/>
          </ac:spMkLst>
        </pc:spChg>
      </pc:sldChg>
      <pc:sldChg chg="modSp mod modAnim">
        <pc:chgData name="Chad Williams" userId="618f96a3-8672-4e43-ae03-eeed93bb7387" providerId="ADAL" clId="{DFF2BB08-185E-495B-B2A0-BE0942C7B81E}" dt="2026-08-17T19:30:32.379" v="2194" actId="27636"/>
        <pc:sldMkLst>
          <pc:docMk/>
          <pc:sldMk cId="3237057146" sldId="437"/>
        </pc:sldMkLst>
        <pc:spChg chg="mod">
          <ac:chgData name="Chad Williams" userId="618f96a3-8672-4e43-ae03-eeed93bb7387" providerId="ADAL" clId="{DFF2BB08-185E-495B-B2A0-BE0942C7B81E}" dt="2026-08-17T19:30:32.379" v="2194" actId="27636"/>
          <ac:spMkLst>
            <pc:docMk/>
            <pc:sldMk cId="3237057146" sldId="437"/>
            <ac:spMk id="3" creationId="{411EBA04-EB09-97EC-EDD1-9B5793D393A0}"/>
          </ac:spMkLst>
        </pc:spChg>
      </pc:sldChg>
      <pc:sldChg chg="del">
        <pc:chgData name="Chad Williams" userId="618f96a3-8672-4e43-ae03-eeed93bb7387" providerId="ADAL" clId="{DFF2BB08-185E-495B-B2A0-BE0942C7B81E}" dt="2026-08-17T19:30:35.832" v="2195" actId="47"/>
        <pc:sldMkLst>
          <pc:docMk/>
          <pc:sldMk cId="2014181835" sldId="445"/>
        </pc:sldMkLst>
      </pc:sldChg>
      <pc:sldChg chg="addSp delSp modSp add mod delAnim modAnim">
        <pc:chgData name="Chad Williams" userId="618f96a3-8672-4e43-ae03-eeed93bb7387" providerId="ADAL" clId="{DFF2BB08-185E-495B-B2A0-BE0942C7B81E}" dt="2026-07-23T22:26:32.838" v="2000" actId="1036"/>
        <pc:sldMkLst>
          <pc:docMk/>
          <pc:sldMk cId="3154131018" sldId="545"/>
        </pc:sldMkLst>
        <pc:spChg chg="add mod">
          <ac:chgData name="Chad Williams" userId="618f96a3-8672-4e43-ae03-eeed93bb7387" providerId="ADAL" clId="{DFF2BB08-185E-495B-B2A0-BE0942C7B81E}" dt="2026-07-23T22:23:48.230" v="1871"/>
          <ac:spMkLst>
            <pc:docMk/>
            <pc:sldMk cId="3154131018" sldId="545"/>
            <ac:spMk id="20" creationId="{296312DC-07BC-815C-E78D-CCD10503C421}"/>
          </ac:spMkLst>
        </pc:spChg>
        <pc:spChg chg="add mod">
          <ac:chgData name="Chad Williams" userId="618f96a3-8672-4e43-ae03-eeed93bb7387" providerId="ADAL" clId="{DFF2BB08-185E-495B-B2A0-BE0942C7B81E}" dt="2026-07-23T22:24:03.385" v="1893"/>
          <ac:spMkLst>
            <pc:docMk/>
            <pc:sldMk cId="3154131018" sldId="545"/>
            <ac:spMk id="33" creationId="{3690742E-88BC-BFC7-4A83-4CB15D343DB6}"/>
          </ac:spMkLst>
        </pc:spChg>
        <pc:spChg chg="mod">
          <ac:chgData name="Chad Williams" userId="618f96a3-8672-4e43-ae03-eeed93bb7387" providerId="ADAL" clId="{DFF2BB08-185E-495B-B2A0-BE0942C7B81E}" dt="2026-07-23T22:22:41.615" v="1863" actId="692"/>
          <ac:spMkLst>
            <pc:docMk/>
            <pc:sldMk cId="3154131018" sldId="545"/>
            <ac:spMk id="70" creationId="{9B8A0469-FAF9-EB5F-26EB-13F3B6A996A8}"/>
          </ac:spMkLst>
        </pc:spChg>
        <pc:spChg chg="mod">
          <ac:chgData name="Chad Williams" userId="618f96a3-8672-4e43-ae03-eeed93bb7387" providerId="ADAL" clId="{DFF2BB08-185E-495B-B2A0-BE0942C7B81E}" dt="2026-07-23T22:20:56.046" v="1849" actId="207"/>
          <ac:spMkLst>
            <pc:docMk/>
            <pc:sldMk cId="3154131018" sldId="545"/>
            <ac:spMk id="90" creationId="{4C38FEC6-C06B-C3A1-7947-73E7A18FEA5C}"/>
          </ac:spMkLst>
        </pc:spChg>
        <pc:spChg chg="mod">
          <ac:chgData name="Chad Williams" userId="618f96a3-8672-4e43-ae03-eeed93bb7387" providerId="ADAL" clId="{DFF2BB08-185E-495B-B2A0-BE0942C7B81E}" dt="2026-07-23T22:21:09.124" v="1852" actId="207"/>
          <ac:spMkLst>
            <pc:docMk/>
            <pc:sldMk cId="3154131018" sldId="545"/>
            <ac:spMk id="92" creationId="{B3815B49-7486-5B43-C43C-1739686C2E13}"/>
          </ac:spMkLst>
        </pc:spChg>
        <pc:spChg chg="mod">
          <ac:chgData name="Chad Williams" userId="618f96a3-8672-4e43-ae03-eeed93bb7387" providerId="ADAL" clId="{DFF2BB08-185E-495B-B2A0-BE0942C7B81E}" dt="2026-07-23T22:26:25.331" v="1976" actId="1035"/>
          <ac:spMkLst>
            <pc:docMk/>
            <pc:sldMk cId="3154131018" sldId="545"/>
            <ac:spMk id="106" creationId="{47F52BE0-DF5F-6CDD-9EBA-30AB76E276C6}"/>
          </ac:spMkLst>
        </pc:spChg>
        <pc:spChg chg="mod">
          <ac:chgData name="Chad Williams" userId="618f96a3-8672-4e43-ae03-eeed93bb7387" providerId="ADAL" clId="{DFF2BB08-185E-495B-B2A0-BE0942C7B81E}" dt="2026-07-23T22:26:32.838" v="2000" actId="1036"/>
          <ac:spMkLst>
            <pc:docMk/>
            <pc:sldMk cId="3154131018" sldId="545"/>
            <ac:spMk id="108" creationId="{051509C4-1ABF-BFC3-277C-B86A1F0EC949}"/>
          </ac:spMkLst>
        </pc:spChg>
      </pc:sldChg>
      <pc:sldChg chg="addSp delSp modSp add mod modAnim">
        <pc:chgData name="Chad Williams" userId="618f96a3-8672-4e43-ae03-eeed93bb7387" providerId="ADAL" clId="{DFF2BB08-185E-495B-B2A0-BE0942C7B81E}" dt="2026-07-23T22:26:58.220" v="2004" actId="1035"/>
        <pc:sldMkLst>
          <pc:docMk/>
          <pc:sldMk cId="3287004870" sldId="546"/>
        </pc:sldMkLst>
        <pc:spChg chg="add">
          <ac:chgData name="Chad Williams" userId="618f96a3-8672-4e43-ae03-eeed93bb7387" providerId="ADAL" clId="{DFF2BB08-185E-495B-B2A0-BE0942C7B81E}" dt="2026-07-23T22:24:57.428" v="1899" actId="22"/>
          <ac:spMkLst>
            <pc:docMk/>
            <pc:sldMk cId="3287004870" sldId="546"/>
            <ac:spMk id="4" creationId="{BB303760-D639-26C9-47AD-50E56463C11D}"/>
          </ac:spMkLst>
        </pc:spChg>
        <pc:spChg chg="add">
          <ac:chgData name="Chad Williams" userId="618f96a3-8672-4e43-ae03-eeed93bb7387" providerId="ADAL" clId="{DFF2BB08-185E-495B-B2A0-BE0942C7B81E}" dt="2026-07-23T22:24:57.428" v="1899" actId="22"/>
          <ac:spMkLst>
            <pc:docMk/>
            <pc:sldMk cId="3287004870" sldId="546"/>
            <ac:spMk id="20" creationId="{881CDC0C-F01E-239D-B214-03CE3E27CCDD}"/>
          </ac:spMkLst>
        </pc:spChg>
        <pc:spChg chg="mod">
          <ac:chgData name="Chad Williams" userId="618f96a3-8672-4e43-ae03-eeed93bb7387" providerId="ADAL" clId="{DFF2BB08-185E-495B-B2A0-BE0942C7B81E}" dt="2026-07-23T22:22:48.179" v="1865" actId="692"/>
          <ac:spMkLst>
            <pc:docMk/>
            <pc:sldMk cId="3287004870" sldId="546"/>
            <ac:spMk id="70" creationId="{B164E4BE-4324-60AA-F6FF-758DB2AF3AD1}"/>
          </ac:spMkLst>
        </pc:spChg>
        <pc:spChg chg="mod">
          <ac:chgData name="Chad Williams" userId="618f96a3-8672-4e43-ae03-eeed93bb7387" providerId="ADAL" clId="{DFF2BB08-185E-495B-B2A0-BE0942C7B81E}" dt="2026-07-23T22:21:46.156" v="1858" actId="207"/>
          <ac:spMkLst>
            <pc:docMk/>
            <pc:sldMk cId="3287004870" sldId="546"/>
            <ac:spMk id="90" creationId="{EAFB2BA6-D714-F3BF-C02D-2BEB99C88FDD}"/>
          </ac:spMkLst>
        </pc:spChg>
        <pc:spChg chg="mod">
          <ac:chgData name="Chad Williams" userId="618f96a3-8672-4e43-ae03-eeed93bb7387" providerId="ADAL" clId="{DFF2BB08-185E-495B-B2A0-BE0942C7B81E}" dt="2026-07-23T22:21:53.073" v="1859" actId="207"/>
          <ac:spMkLst>
            <pc:docMk/>
            <pc:sldMk cId="3287004870" sldId="546"/>
            <ac:spMk id="92" creationId="{C1378F0B-263A-AA74-7402-9F7D53841DAC}"/>
          </ac:spMkLst>
        </pc:spChg>
        <pc:spChg chg="mod">
          <ac:chgData name="Chad Williams" userId="618f96a3-8672-4e43-ae03-eeed93bb7387" providerId="ADAL" clId="{DFF2BB08-185E-495B-B2A0-BE0942C7B81E}" dt="2026-07-23T22:26:44.147" v="2003" actId="1036"/>
          <ac:spMkLst>
            <pc:docMk/>
            <pc:sldMk cId="3287004870" sldId="546"/>
            <ac:spMk id="106" creationId="{3232E3A9-CB0E-D314-35A9-AFCC1125C393}"/>
          </ac:spMkLst>
        </pc:spChg>
        <pc:spChg chg="mod">
          <ac:chgData name="Chad Williams" userId="618f96a3-8672-4e43-ae03-eeed93bb7387" providerId="ADAL" clId="{DFF2BB08-185E-495B-B2A0-BE0942C7B81E}" dt="2026-07-23T22:26:58.220" v="2004" actId="1035"/>
          <ac:spMkLst>
            <pc:docMk/>
            <pc:sldMk cId="3287004870" sldId="546"/>
            <ac:spMk id="108" creationId="{2E9CB911-DBB8-BE5E-574A-FDFB2C02274A}"/>
          </ac:spMkLst>
        </pc:spChg>
      </pc:sldChg>
      <pc:sldChg chg="addSp delSp modSp add mod modAnim">
        <pc:chgData name="Chad Williams" userId="618f96a3-8672-4e43-ae03-eeed93bb7387" providerId="ADAL" clId="{DFF2BB08-185E-495B-B2A0-BE0942C7B81E}" dt="2026-07-23T22:34:15.960" v="2184"/>
        <pc:sldMkLst>
          <pc:docMk/>
          <pc:sldMk cId="217099847" sldId="547"/>
        </pc:sldMkLst>
        <pc:spChg chg="add mod">
          <ac:chgData name="Chad Williams" userId="618f96a3-8672-4e43-ae03-eeed93bb7387" providerId="ADAL" clId="{DFF2BB08-185E-495B-B2A0-BE0942C7B81E}" dt="2026-07-23T22:30:01.851" v="2012" actId="1076"/>
          <ac:spMkLst>
            <pc:docMk/>
            <pc:sldMk cId="217099847" sldId="547"/>
            <ac:spMk id="10" creationId="{38CFA6C9-B971-7AC3-6ECE-723FF02168C6}"/>
          </ac:spMkLst>
        </pc:spChg>
        <pc:spChg chg="mod topLvl">
          <ac:chgData name="Chad Williams" userId="618f96a3-8672-4e43-ae03-eeed93bb7387" providerId="ADAL" clId="{DFF2BB08-185E-495B-B2A0-BE0942C7B81E}" dt="2026-07-23T22:30:12.578" v="2013" actId="165"/>
          <ac:spMkLst>
            <pc:docMk/>
            <pc:sldMk cId="217099847" sldId="547"/>
            <ac:spMk id="19" creationId="{C49016F5-BEB4-97A1-0051-581BE00A5183}"/>
          </ac:spMkLst>
        </pc:spChg>
        <pc:spChg chg="mod topLvl">
          <ac:chgData name="Chad Williams" userId="618f96a3-8672-4e43-ae03-eeed93bb7387" providerId="ADAL" clId="{DFF2BB08-185E-495B-B2A0-BE0942C7B81E}" dt="2026-07-23T22:30:12.578" v="2013" actId="165"/>
          <ac:spMkLst>
            <pc:docMk/>
            <pc:sldMk cId="217099847" sldId="547"/>
            <ac:spMk id="30" creationId="{2B84B959-E10D-2D80-36D0-FC395B5480F4}"/>
          </ac:spMkLst>
        </pc:spChg>
        <pc:spChg chg="add mod">
          <ac:chgData name="Chad Williams" userId="618f96a3-8672-4e43-ae03-eeed93bb7387" providerId="ADAL" clId="{DFF2BB08-185E-495B-B2A0-BE0942C7B81E}" dt="2026-07-23T22:30:01.851" v="2012" actId="1076"/>
          <ac:spMkLst>
            <pc:docMk/>
            <pc:sldMk cId="217099847" sldId="547"/>
            <ac:spMk id="31" creationId="{354886E7-9FDC-5057-105C-C62CAF0D65CF}"/>
          </ac:spMkLst>
        </pc:spChg>
        <pc:spChg chg="mod topLvl">
          <ac:chgData name="Chad Williams" userId="618f96a3-8672-4e43-ae03-eeed93bb7387" providerId="ADAL" clId="{DFF2BB08-185E-495B-B2A0-BE0942C7B81E}" dt="2026-07-23T22:30:12.578" v="2013" actId="165"/>
          <ac:spMkLst>
            <pc:docMk/>
            <pc:sldMk cId="217099847" sldId="547"/>
            <ac:spMk id="35" creationId="{977F4E71-8A18-82CD-2817-8E301FC5ECD9}"/>
          </ac:spMkLst>
        </pc:spChg>
        <pc:spChg chg="mod topLvl">
          <ac:chgData name="Chad Williams" userId="618f96a3-8672-4e43-ae03-eeed93bb7387" providerId="ADAL" clId="{DFF2BB08-185E-495B-B2A0-BE0942C7B81E}" dt="2026-07-23T22:30:12.578" v="2013" actId="165"/>
          <ac:spMkLst>
            <pc:docMk/>
            <pc:sldMk cId="217099847" sldId="547"/>
            <ac:spMk id="38" creationId="{7214E74E-C696-7E5D-F474-1DA447B42015}"/>
          </ac:spMkLst>
        </pc:spChg>
        <pc:spChg chg="mod topLvl">
          <ac:chgData name="Chad Williams" userId="618f96a3-8672-4e43-ae03-eeed93bb7387" providerId="ADAL" clId="{DFF2BB08-185E-495B-B2A0-BE0942C7B81E}" dt="2026-07-23T22:30:12.578" v="2013" actId="165"/>
          <ac:spMkLst>
            <pc:docMk/>
            <pc:sldMk cId="217099847" sldId="547"/>
            <ac:spMk id="46" creationId="{EA1E654D-B201-D526-F9B3-97CA0BEBCCFD}"/>
          </ac:spMkLst>
        </pc:spChg>
        <pc:spChg chg="mod topLvl">
          <ac:chgData name="Chad Williams" userId="618f96a3-8672-4e43-ae03-eeed93bb7387" providerId="ADAL" clId="{DFF2BB08-185E-495B-B2A0-BE0942C7B81E}" dt="2026-07-23T22:30:12.578" v="2013" actId="165"/>
          <ac:spMkLst>
            <pc:docMk/>
            <pc:sldMk cId="217099847" sldId="547"/>
            <ac:spMk id="67" creationId="{6D30A83B-16C7-C5AF-8E98-BB1E843C559A}"/>
          </ac:spMkLst>
        </pc:spChg>
        <pc:spChg chg="add mod">
          <ac:chgData name="Chad Williams" userId="618f96a3-8672-4e43-ae03-eeed93bb7387" providerId="ADAL" clId="{DFF2BB08-185E-495B-B2A0-BE0942C7B81E}" dt="2026-07-23T22:31:50.351" v="2072" actId="313"/>
          <ac:spMkLst>
            <pc:docMk/>
            <pc:sldMk cId="217099847" sldId="547"/>
            <ac:spMk id="72" creationId="{B28D1BD9-87F8-C926-BA8F-B64BC672562E}"/>
          </ac:spMkLst>
        </pc:spChg>
        <pc:spChg chg="mod topLvl">
          <ac:chgData name="Chad Williams" userId="618f96a3-8672-4e43-ae03-eeed93bb7387" providerId="ADAL" clId="{DFF2BB08-185E-495B-B2A0-BE0942C7B81E}" dt="2026-07-23T22:30:12.578" v="2013" actId="165"/>
          <ac:spMkLst>
            <pc:docMk/>
            <pc:sldMk cId="217099847" sldId="547"/>
            <ac:spMk id="75" creationId="{A8CFC97C-C693-3878-02FA-359F801ED9D2}"/>
          </ac:spMkLst>
        </pc:spChg>
        <pc:spChg chg="mod topLvl">
          <ac:chgData name="Chad Williams" userId="618f96a3-8672-4e43-ae03-eeed93bb7387" providerId="ADAL" clId="{DFF2BB08-185E-495B-B2A0-BE0942C7B81E}" dt="2026-07-23T22:30:12.578" v="2013" actId="165"/>
          <ac:spMkLst>
            <pc:docMk/>
            <pc:sldMk cId="217099847" sldId="547"/>
            <ac:spMk id="76" creationId="{B0D39D12-8BF7-43C3-84CB-6A97660B0470}"/>
          </ac:spMkLst>
        </pc:spChg>
        <pc:spChg chg="add mod">
          <ac:chgData name="Chad Williams" userId="618f96a3-8672-4e43-ae03-eeed93bb7387" providerId="ADAL" clId="{DFF2BB08-185E-495B-B2A0-BE0942C7B81E}" dt="2026-07-23T22:33:15.422" v="2099" actId="114"/>
          <ac:spMkLst>
            <pc:docMk/>
            <pc:sldMk cId="217099847" sldId="547"/>
            <ac:spMk id="77" creationId="{7FB18674-21C1-D11C-EA93-F9672399EFD4}"/>
          </ac:spMkLst>
        </pc:spChg>
        <pc:spChg chg="add mod">
          <ac:chgData name="Chad Williams" userId="618f96a3-8672-4e43-ae03-eeed93bb7387" providerId="ADAL" clId="{DFF2BB08-185E-495B-B2A0-BE0942C7B81E}" dt="2026-07-23T22:33:44.304" v="2180" actId="114"/>
          <ac:spMkLst>
            <pc:docMk/>
            <pc:sldMk cId="217099847" sldId="547"/>
            <ac:spMk id="81" creationId="{D4ABE3FE-86ED-CB87-3102-915B9BE8F7ED}"/>
          </ac:spMkLst>
        </pc:spChg>
        <pc:spChg chg="mod topLvl">
          <ac:chgData name="Chad Williams" userId="618f96a3-8672-4e43-ae03-eeed93bb7387" providerId="ADAL" clId="{DFF2BB08-185E-495B-B2A0-BE0942C7B81E}" dt="2026-07-23T22:30:12.578" v="2013" actId="165"/>
          <ac:spMkLst>
            <pc:docMk/>
            <pc:sldMk cId="217099847" sldId="547"/>
            <ac:spMk id="84" creationId="{505500B3-7E57-3140-A447-287E8880C453}"/>
          </ac:spMkLst>
        </pc:spChg>
        <pc:spChg chg="mod topLvl">
          <ac:chgData name="Chad Williams" userId="618f96a3-8672-4e43-ae03-eeed93bb7387" providerId="ADAL" clId="{DFF2BB08-185E-495B-B2A0-BE0942C7B81E}" dt="2026-07-23T22:30:42.550" v="2017" actId="692"/>
          <ac:spMkLst>
            <pc:docMk/>
            <pc:sldMk cId="217099847" sldId="547"/>
            <ac:spMk id="86" creationId="{9A8FF8C2-0645-072C-7F91-EB70C3C0C2EF}"/>
          </ac:spMkLst>
        </pc:spChg>
        <pc:spChg chg="mod">
          <ac:chgData name="Chad Williams" userId="618f96a3-8672-4e43-ae03-eeed93bb7387" providerId="ADAL" clId="{DFF2BB08-185E-495B-B2A0-BE0942C7B81E}" dt="2026-07-23T22:30:42.550" v="2017" actId="692"/>
          <ac:spMkLst>
            <pc:docMk/>
            <pc:sldMk cId="217099847" sldId="547"/>
            <ac:spMk id="90" creationId="{9AC89C7F-6976-613E-C8A5-9AD344D27C26}"/>
          </ac:spMkLst>
        </pc:spChg>
        <pc:spChg chg="mod">
          <ac:chgData name="Chad Williams" userId="618f96a3-8672-4e43-ae03-eeed93bb7387" providerId="ADAL" clId="{DFF2BB08-185E-495B-B2A0-BE0942C7B81E}" dt="2026-07-23T22:33:01.804" v="2097" actId="404"/>
          <ac:spMkLst>
            <pc:docMk/>
            <pc:sldMk cId="217099847" sldId="547"/>
            <ac:spMk id="106" creationId="{732539FA-65FC-5B0A-C416-F7B2D15198A7}"/>
          </ac:spMkLst>
        </pc:spChg>
        <pc:spChg chg="mod">
          <ac:chgData name="Chad Williams" userId="618f96a3-8672-4e43-ae03-eeed93bb7387" providerId="ADAL" clId="{DFF2BB08-185E-495B-B2A0-BE0942C7B81E}" dt="2026-07-23T22:33:01.804" v="2097" actId="404"/>
          <ac:spMkLst>
            <pc:docMk/>
            <pc:sldMk cId="217099847" sldId="547"/>
            <ac:spMk id="108" creationId="{B122A876-522C-0F31-4DDA-589D83AD4BB0}"/>
          </ac:spMkLst>
        </pc:spChg>
      </pc:sldChg>
      <pc:sldChg chg="add modAnim">
        <pc:chgData name="Chad Williams" userId="618f96a3-8672-4e43-ae03-eeed93bb7387" providerId="ADAL" clId="{DFF2BB08-185E-495B-B2A0-BE0942C7B81E}" dt="2026-07-24T16:53:47.779" v="2192"/>
        <pc:sldMkLst>
          <pc:docMk/>
          <pc:sldMk cId="588328854" sldId="548"/>
        </pc:sldMkLst>
      </pc:sldChg>
      <pc:sldChg chg="add">
        <pc:chgData name="Chad Williams" userId="618f96a3-8672-4e43-ae03-eeed93bb7387" providerId="ADAL" clId="{DFF2BB08-185E-495B-B2A0-BE0942C7B81E}" dt="2026-08-17T19:30:32.312" v="2193"/>
        <pc:sldMkLst>
          <pc:docMk/>
          <pc:sldMk cId="3973819098" sldId="54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5A4F3E-268F-4646-ABBF-B9FFC185A1E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677A91-4357-45F5-9FD1-A82A5F3EC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392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E66B4-DF30-E010-A092-FB04D9DE9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0BE403-C6A9-8330-8EE9-4A55B33D50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5073F6-4C00-085E-A7A3-3A9719A6A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F3791-FC95-5BA4-2833-7594705D0C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57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F4877-9193-9F24-3C8C-C543510A5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300022-EE7A-509B-D89C-F9F763F90B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B7D3C5-7BAA-0374-3E84-3EB46229A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C608E-4CED-3607-8F41-7D7BED88F4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80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6F247-EFC3-FAAD-CE89-369E3B4BE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F1F6D-1E6F-589C-F75E-EB0BFE7E2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AC2BC-F1C4-A23A-B5AD-8A91884A3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46FA9-00A8-8565-082B-F15E518AFC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434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70F2F-5F10-9FBB-0DE2-DB4A8A498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84E3C-04F9-324B-277D-4433133BE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1791D5-5600-BA86-112C-3CB69D360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18236-B851-F176-3091-27818CBC0B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89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5FFCD-8C4D-6828-4DFB-355FAD5D3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B06E6-8B41-8F01-2086-11C18D5B2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4EA6B5-679A-5817-51AB-75505A48C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5B692-64A1-9295-CDEE-3D6866E4FF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02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CCB75-5067-4345-AB24-4A6E827500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FFD8AF-B558-1C43-8E17-E795E667C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589EE-B7EA-3940-836D-E92094EDA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2131-EFD4-8646-A1EE-509881E526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5878B-D5EC-3243-A591-0F39BD382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7FA1F-A963-A545-B029-6B4F836FF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E9DA9-3ACF-3D42-AA50-D59768CB5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756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D3E7D-CD37-6143-A349-0528F52C5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7F245-9645-E940-B968-C20220B35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2C67D-9D20-A94C-B7B2-6623F5650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2131-EFD4-8646-A1EE-509881E526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5B2B2-CA11-A246-BF54-0E736450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CBDC6-F4A8-8748-8FCF-01F96743D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E9DA9-3ACF-3D42-AA50-D59768CB5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91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04929-7053-A54B-9301-660511AEA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4DADA-41B0-0344-A248-9B6B34D28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549F7-43A2-2740-9A8D-88915A493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2131-EFD4-8646-A1EE-509881E526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50C5D-8D4D-FF4D-A61A-D5C9D2344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E84E8-F8D6-9F42-A26B-32BBA315F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E9DA9-3ACF-3D42-AA50-D59768CB5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50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5E1FE-6BDD-2442-8B73-BF7151DFA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CE70C-D05A-3E4D-B628-7905001AD1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EAAFE9-FAF8-BF4A-AAE5-83D2C1C81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E0D9F-14D8-1347-8DC4-23293ABF7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2131-EFD4-8646-A1EE-509881E526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34B54-6990-E848-B517-24A93D875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2E08F-29E2-3B4D-AAFC-9DCBD899F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E9DA9-3ACF-3D42-AA50-D59768CB5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985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9184B-0371-2E4E-9B5C-4CB4F3550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5C77C-9041-5C42-A19D-AEA0103A7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47006-B45B-4C4E-96B5-091CF6090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2C3E19-0221-674F-A0B6-315BDE3FE2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3CB98-0A33-A54E-8791-9BDC3D51C5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392547-B3F1-A944-8E53-07507F43B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2131-EFD4-8646-A1EE-509881E526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2443D-8F1D-DC4A-BB74-34BC0E629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F9AB9C-D942-6043-918B-65675C7A4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E9DA9-3ACF-3D42-AA50-D59768CB5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050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810C2-3800-3841-9B25-BF513E92A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71950D-B947-BC40-AA69-F15E58FE9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2131-EFD4-8646-A1EE-509881E526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53E2A6-C44F-154E-A448-468953707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1614D1-B797-0A4D-AFF4-C423AA994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E9DA9-3ACF-3D42-AA50-D59768CB5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96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4DBA7C-6E0D-0642-9FE2-C32C0C997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2131-EFD4-8646-A1EE-509881E526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761EBA-A447-8543-AD83-43BFE2977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185D8-679D-3244-A791-15B962546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E9DA9-3ACF-3D42-AA50-D59768CB5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219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A0D0C-D69F-5946-ACD4-7468545AB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EB7F8-D861-144E-965E-498D92FE4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8509D4-412D-3844-ADBA-F65BE8639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B1EF5-FCB5-AA49-9CE8-895805C28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2131-EFD4-8646-A1EE-509881E526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863CF-0297-4A44-91F1-D4B7FB846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458F03-6714-3E4B-9284-1BAC74D7A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E9DA9-3ACF-3D42-AA50-D59768CB5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857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E58FA-447D-DF42-9623-8FE27C5D7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883B55-18C2-2743-A8DD-077101AA87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D9DCF-06F9-D446-9E20-714736B60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08A79-66B8-B840-A5E4-425C5BDFD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2131-EFD4-8646-A1EE-509881E526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5108A-EF79-104E-AA7B-FC2558A79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F4B0A-33B8-0743-A7A5-40242826F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E9DA9-3ACF-3D42-AA50-D59768CB5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51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8405D-DCB6-F84B-892E-AB331C7B2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0969F-CE87-4045-9564-C664501C9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46316-863F-FF4A-BBF5-3F3C05C0C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2131-EFD4-8646-A1EE-509881E526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7612E-FD05-6E4D-8A0C-6904D6DF2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7FEA0-781E-3C4E-9349-88B3F0FB3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E9DA9-3ACF-3D42-AA50-D59768CB5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032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A2DE19-D907-E04F-90E7-0AC974F5F1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168836-A3DA-F645-8D04-3346C83F0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9B7BB-E8F1-964C-A442-029BABD74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2131-EFD4-8646-A1EE-509881E526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D37CA-CA09-E845-9C5F-B2B1D1396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6EAA3-2EAE-3545-B432-29AA97ED9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E9DA9-3ACF-3D42-AA50-D59768CB5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30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604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E5DA0A-5952-B743-8CAD-837ECAA56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6CFFC-15D7-C248-AE01-5F83A0F19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17D61-E973-1D45-846A-0BB2AE0A6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02131-EFD4-8646-A1EE-509881E526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EA2B2-EA87-1741-8291-0E3981655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52BFA-060A-9C4E-A609-3AB2CED8C0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E9DA9-3ACF-3D42-AA50-D59768CB5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5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8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8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33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33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hyperlink" Target="https://youtu.be/Q-TtIPF0fCU?si=HCElvM6MIHLeH52V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4505-984A-784F-B784-AEBB8FD00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2805" y="1122363"/>
            <a:ext cx="6197089" cy="2387600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BDEC7-4CE5-0C42-AD2E-FA8453064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2805" y="3602038"/>
            <a:ext cx="6197089" cy="1655762"/>
          </a:xfrm>
        </p:spPr>
        <p:txBody>
          <a:bodyPr>
            <a:normAutofit/>
          </a:bodyPr>
          <a:lstStyle/>
          <a:p>
            <a:r>
              <a:rPr lang="en-US" sz="3600" dirty="0"/>
              <a:t>Chad Williams</a:t>
            </a:r>
          </a:p>
          <a:p>
            <a:r>
              <a:rPr lang="en-US" sz="2800" dirty="0"/>
              <a:t>University of Victoria</a:t>
            </a:r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93A07B0-5ED5-F74E-A1D2-DB896138B20F}"/>
              </a:ext>
            </a:extLst>
          </p:cNvPr>
          <p:cNvGrpSpPr/>
          <p:nvPr/>
        </p:nvGrpSpPr>
        <p:grpSpPr>
          <a:xfrm>
            <a:off x="1462829" y="602117"/>
            <a:ext cx="5458932" cy="5307690"/>
            <a:chOff x="1462829" y="602117"/>
            <a:chExt cx="5458932" cy="530769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1367C81-ADE9-1F41-8FEA-4AF5AD77BDCE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57A84D5C-C387-1D47-9772-854B66FD33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1AE5A16A-F773-0646-9683-42DD8F3889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6E9A222-DCDE-EB4E-839F-B23FEDA593F5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419066EF-2FB6-1F47-B4D8-42A849FE2AD4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0448620-62B4-4F4D-946A-BF7ACA620963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D410515-89AE-9540-8E50-AA444F8EC47A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09B93DB-C642-8A4B-85C0-D6AE3FB6D3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9158FB07-577C-1C48-BE6C-59B0CA0BB524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3095749-45C8-8A4A-979E-7C4B025D4FDF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1A4B310-E851-814F-9BAA-0DD6B54C5EB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DBCC1C8-A7F4-9D45-B58E-21EF51AE8B3F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E602794-B522-FC44-BC63-545173E3DBFC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76F9C99-A770-9E43-955D-38F4554386A4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5704A3B-D9E0-7D4E-B43D-C5BABAB8D583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9529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269830"/>
            <a:ext cx="6468542" cy="65881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Regression Conceptually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Computing Regression Lines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Standard Error of the Regression Line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Explained Variability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Formal Report</a:t>
            </a:r>
          </a:p>
        </p:txBody>
      </p:sp>
    </p:spTree>
    <p:extLst>
      <p:ext uri="{BB962C8B-B14F-4D97-AF65-F5344CB8AC3E}">
        <p14:creationId xmlns:p14="http://schemas.microsoft.com/office/powerpoint/2010/main" val="242364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269830"/>
            <a:ext cx="6468542" cy="65881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Regression Conceptually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Computing Regression Lines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Standard Error of the Regression Line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Explained Variability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Formal Report</a:t>
            </a:r>
          </a:p>
        </p:txBody>
      </p:sp>
    </p:spTree>
    <p:extLst>
      <p:ext uri="{BB962C8B-B14F-4D97-AF65-F5344CB8AC3E}">
        <p14:creationId xmlns:p14="http://schemas.microsoft.com/office/powerpoint/2010/main" val="3531907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FC220-3A52-6D0C-63AD-6B0FE908A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B228ED52-D98C-7EFD-E2AD-6761AEA55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700" y="1825625"/>
            <a:ext cx="5904575" cy="42421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82E2B5-FF44-270B-A4C9-A8E630917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Conceptually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C510C-12B6-6A99-D9A9-B5D57BED8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217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Regression allows us to </a:t>
            </a:r>
            <a:r>
              <a:rPr lang="en-US" i="1" dirty="0"/>
              <a:t>predict</a:t>
            </a:r>
            <a:r>
              <a:rPr lang="en-US" dirty="0"/>
              <a:t> a variables score (e.g., a y-value) from a score on another variable (e.g., an x-value)</a:t>
            </a:r>
          </a:p>
          <a:p>
            <a:r>
              <a:rPr lang="en-US" sz="2400" dirty="0"/>
              <a:t>A mathematically defined line that best represents the bivariate relationship</a:t>
            </a:r>
          </a:p>
          <a:p>
            <a:pPr lvl="1"/>
            <a:endParaRPr lang="en-US" sz="2000" b="1" dirty="0"/>
          </a:p>
          <a:p>
            <a:pPr lvl="1"/>
            <a:endParaRPr lang="en-US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321AAD-82DC-16A4-3C71-ADBCE16E8690}"/>
              </a:ext>
            </a:extLst>
          </p:cNvPr>
          <p:cNvCxnSpPr>
            <a:cxnSpLocks/>
          </p:cNvCxnSpPr>
          <p:nvPr/>
        </p:nvCxnSpPr>
        <p:spPr>
          <a:xfrm flipV="1">
            <a:off x="6867939" y="2017643"/>
            <a:ext cx="5009322" cy="353833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199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Conceptually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One dollar gets you two apples </a:t>
            </a:r>
          </a:p>
          <a:p>
            <a:r>
              <a:rPr lang="en-US" dirty="0"/>
              <a:t>How many apples does five dollars get you?</a:t>
            </a:r>
          </a:p>
          <a:p>
            <a:r>
              <a:rPr lang="en-US" dirty="0"/>
              <a:t>How many apples does zero dollars get you?</a:t>
            </a:r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79B9D391-DEEE-954B-9C5F-8882C64E1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700" y="1825625"/>
            <a:ext cx="5904575" cy="4242122"/>
          </a:xfrm>
          <a:prstGeom prst="rect">
            <a:avLst/>
          </a:prstGeo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89F92768-A106-DB49-9FC4-516CD4C0C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913" y="1825625"/>
            <a:ext cx="5889362" cy="424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769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Conceptually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Slope</a:t>
            </a:r>
            <a:r>
              <a:rPr lang="en-US" dirty="0"/>
              <a:t>: How much one variable changes when another variable increases by 1</a:t>
            </a:r>
          </a:p>
          <a:p>
            <a:r>
              <a:rPr lang="en-US" dirty="0"/>
              <a:t>1 dollar (x) gets you 2 apples (y)</a:t>
            </a:r>
          </a:p>
          <a:p>
            <a:pPr lvl="1"/>
            <a:r>
              <a:rPr lang="en-US" dirty="0"/>
              <a:t>So, the slope is 2</a:t>
            </a:r>
          </a:p>
          <a:p>
            <a:r>
              <a:rPr lang="en-US" dirty="0"/>
              <a:t>How many apples does five dollars get you?</a:t>
            </a:r>
          </a:p>
          <a:p>
            <a:pPr lvl="1"/>
            <a:r>
              <a:rPr lang="en-US" dirty="0"/>
              <a:t>2 apples per dollar (slope) means we would have 10 apples</a:t>
            </a:r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79B9D391-DEEE-954B-9C5F-8882C64E1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700" y="1825625"/>
            <a:ext cx="5904575" cy="4242122"/>
          </a:xfrm>
          <a:prstGeom prst="rect">
            <a:avLst/>
          </a:prstGeo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89F92768-A106-DB49-9FC4-516CD4C0C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913" y="1825625"/>
            <a:ext cx="5889362" cy="424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75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7B5A7-34EA-8D00-9077-0CDBE64E2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A848E-14D4-2343-5C73-3D6C9D0D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Conceptually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53D54-C15E-DE6E-6EAD-B6596F0A7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Y-Intercept</a:t>
            </a:r>
            <a:r>
              <a:rPr lang="en-US" dirty="0"/>
              <a:t>: How much of one variable do you have in the absence of the other</a:t>
            </a:r>
          </a:p>
          <a:p>
            <a:r>
              <a:rPr lang="en-US" dirty="0"/>
              <a:t>How many apples does zero dollars get you?</a:t>
            </a:r>
          </a:p>
          <a:p>
            <a:pPr lvl="1"/>
            <a:r>
              <a:rPr lang="en-US" dirty="0"/>
              <a:t>Without any dollars, you can’t buy any apples</a:t>
            </a:r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3FD3DF02-4FBB-FDCC-232A-4C46E34EE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700" y="1825625"/>
            <a:ext cx="5904575" cy="4242122"/>
          </a:xfrm>
          <a:prstGeom prst="rect">
            <a:avLst/>
          </a:prstGeo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C9FC65CF-D430-4ADC-6D93-502F94F04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913" y="1825625"/>
            <a:ext cx="5889362" cy="424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57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Conceptually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46337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Error in Regression: </a:t>
            </a:r>
            <a:r>
              <a:rPr lang="en-US" dirty="0"/>
              <a:t>Although we can come up with a very good prediction of Y from X, variability in our data makes it unlikely that we will find a perfect prediction</a:t>
            </a:r>
          </a:p>
          <a:p>
            <a:r>
              <a:rPr lang="en-US" dirty="0"/>
              <a:t>E.g., the price of apples change depending on the day, store, type of apple, etc.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79B9D391-DEEE-954B-9C5F-8882C64E1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700" y="1825625"/>
            <a:ext cx="5904575" cy="4242122"/>
          </a:xfrm>
          <a:prstGeom prst="rect">
            <a:avLst/>
          </a:prstGeo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89F92768-A106-DB49-9FC4-516CD4C0C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913" y="1825625"/>
            <a:ext cx="5889362" cy="4242122"/>
          </a:xfrm>
          <a:prstGeom prst="rect">
            <a:avLst/>
          </a:prstGeom>
        </p:spPr>
      </p:pic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2B84CA1B-EA6B-6E4A-975F-745A0C445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996" y="1825625"/>
            <a:ext cx="5883003" cy="4242122"/>
          </a:xfrm>
          <a:prstGeom prst="rect">
            <a:avLst/>
          </a:prstGeom>
        </p:spPr>
      </p:pic>
      <p:pic>
        <p:nvPicPr>
          <p:cNvPr id="11" name="Picture 10" descr="Chart, scatter chart&#10;&#10;Description automatically generated">
            <a:extLst>
              <a:ext uri="{FF2B5EF4-FFF2-40B4-BE49-F238E27FC236}">
                <a16:creationId xmlns:a16="http://schemas.microsoft.com/office/drawing/2014/main" id="{C4E7498C-59C9-F444-B781-77A53D37B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6329" y="1825623"/>
            <a:ext cx="5910946" cy="424212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D8AF3E-170D-4746-BCF2-F31B4CDFB4DB}"/>
              </a:ext>
            </a:extLst>
          </p:cNvPr>
          <p:cNvCxnSpPr/>
          <p:nvPr/>
        </p:nvCxnSpPr>
        <p:spPr>
          <a:xfrm flipV="1">
            <a:off x="6881361" y="5392958"/>
            <a:ext cx="0" cy="113465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E31E29-321D-F647-AD9C-3B9465DAAA97}"/>
              </a:ext>
            </a:extLst>
          </p:cNvPr>
          <p:cNvCxnSpPr>
            <a:cxnSpLocks/>
          </p:cNvCxnSpPr>
          <p:nvPr/>
        </p:nvCxnSpPr>
        <p:spPr>
          <a:xfrm flipV="1">
            <a:off x="7369041" y="4740687"/>
            <a:ext cx="0" cy="306801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4EB61F-1C07-CD4D-9A37-4C8C10CBE18D}"/>
              </a:ext>
            </a:extLst>
          </p:cNvPr>
          <p:cNvCxnSpPr>
            <a:cxnSpLocks/>
          </p:cNvCxnSpPr>
          <p:nvPr/>
        </p:nvCxnSpPr>
        <p:spPr>
          <a:xfrm flipV="1">
            <a:off x="7875009" y="4740687"/>
            <a:ext cx="0" cy="239746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367C38B-B2C9-2544-9E28-3106C7084E09}"/>
              </a:ext>
            </a:extLst>
          </p:cNvPr>
          <p:cNvCxnSpPr>
            <a:cxnSpLocks/>
          </p:cNvCxnSpPr>
          <p:nvPr/>
        </p:nvCxnSpPr>
        <p:spPr>
          <a:xfrm flipV="1">
            <a:off x="8868657" y="3936016"/>
            <a:ext cx="0" cy="105632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717E35-529D-804E-ADEB-443834D862CD}"/>
              </a:ext>
            </a:extLst>
          </p:cNvPr>
          <p:cNvCxnSpPr>
            <a:cxnSpLocks/>
          </p:cNvCxnSpPr>
          <p:nvPr/>
        </p:nvCxnSpPr>
        <p:spPr>
          <a:xfrm flipV="1">
            <a:off x="9368529" y="3704368"/>
            <a:ext cx="0" cy="81248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B3D56D4-2728-FA4A-95A9-7CAA53BAA373}"/>
              </a:ext>
            </a:extLst>
          </p:cNvPr>
          <p:cNvCxnSpPr>
            <a:cxnSpLocks/>
          </p:cNvCxnSpPr>
          <p:nvPr/>
        </p:nvCxnSpPr>
        <p:spPr>
          <a:xfrm flipV="1">
            <a:off x="9868401" y="3113056"/>
            <a:ext cx="0" cy="270224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F87E64D-9244-2145-80C0-192E6C5C51C6}"/>
              </a:ext>
            </a:extLst>
          </p:cNvPr>
          <p:cNvCxnSpPr>
            <a:cxnSpLocks/>
          </p:cNvCxnSpPr>
          <p:nvPr/>
        </p:nvCxnSpPr>
        <p:spPr>
          <a:xfrm flipV="1">
            <a:off x="10368273" y="3007424"/>
            <a:ext cx="0" cy="15640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0BE55B6-E0C1-1440-8DFE-41310788D689}"/>
              </a:ext>
            </a:extLst>
          </p:cNvPr>
          <p:cNvCxnSpPr>
            <a:cxnSpLocks/>
          </p:cNvCxnSpPr>
          <p:nvPr/>
        </p:nvCxnSpPr>
        <p:spPr>
          <a:xfrm flipV="1">
            <a:off x="10868145" y="2688432"/>
            <a:ext cx="0" cy="134016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362A7AB-89DC-A049-8356-9925E408DF54}"/>
              </a:ext>
            </a:extLst>
          </p:cNvPr>
          <p:cNvCxnSpPr>
            <a:cxnSpLocks/>
          </p:cNvCxnSpPr>
          <p:nvPr/>
        </p:nvCxnSpPr>
        <p:spPr>
          <a:xfrm flipV="1">
            <a:off x="11371065" y="2107216"/>
            <a:ext cx="0" cy="258032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0475F68-9010-7A40-A860-26B1DAB790D4}"/>
              </a:ext>
            </a:extLst>
          </p:cNvPr>
          <p:cNvCxnSpPr>
            <a:cxnSpLocks/>
          </p:cNvCxnSpPr>
          <p:nvPr/>
        </p:nvCxnSpPr>
        <p:spPr>
          <a:xfrm flipV="1">
            <a:off x="11867889" y="2003584"/>
            <a:ext cx="0" cy="160496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0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D5B62-CF84-63D5-FE91-0E51A7B6D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C8C35-D8EA-3DF7-37DD-1AD358533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Conceptually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EBA04-EB09-97EC-EDD1-9B5793D39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46337" cy="466725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Explained Variability: </a:t>
            </a:r>
            <a:r>
              <a:rPr lang="en-US" dirty="0"/>
              <a:t>How close our predictions are from the actual value</a:t>
            </a:r>
          </a:p>
          <a:p>
            <a:r>
              <a:rPr lang="en-US" dirty="0"/>
              <a:t>In other words, how well have we predicted one variable from the other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Unexplained Variability</a:t>
            </a:r>
            <a:r>
              <a:rPr lang="en-US" dirty="0"/>
              <a:t>: How far our predictions are from the actual value</a:t>
            </a:r>
          </a:p>
          <a:p>
            <a:r>
              <a:rPr lang="en-US" dirty="0"/>
              <a:t>In other words, how poorly we predicted one variable from the other</a:t>
            </a:r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2E18A5FE-092B-9F7B-D2A2-DBDB007AA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700" y="1825625"/>
            <a:ext cx="5904575" cy="4242122"/>
          </a:xfrm>
          <a:prstGeom prst="rect">
            <a:avLst/>
          </a:prstGeo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2F417D0F-C7A6-CDDA-6D76-38EFFDC1F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913" y="1825625"/>
            <a:ext cx="5889362" cy="4242122"/>
          </a:xfrm>
          <a:prstGeom prst="rect">
            <a:avLst/>
          </a:prstGeom>
        </p:spPr>
      </p:pic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B81ACBD3-23D9-7AE2-F110-618C37394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996" y="1825625"/>
            <a:ext cx="5883003" cy="4242122"/>
          </a:xfrm>
          <a:prstGeom prst="rect">
            <a:avLst/>
          </a:prstGeom>
        </p:spPr>
      </p:pic>
      <p:pic>
        <p:nvPicPr>
          <p:cNvPr id="11" name="Picture 10" descr="Chart, scatter chart&#10;&#10;Description automatically generated">
            <a:extLst>
              <a:ext uri="{FF2B5EF4-FFF2-40B4-BE49-F238E27FC236}">
                <a16:creationId xmlns:a16="http://schemas.microsoft.com/office/drawing/2014/main" id="{B55D7571-11CA-A0B5-58DE-2FABBC930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6329" y="1825623"/>
            <a:ext cx="5910946" cy="424212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8A5928-F8A5-FDE5-CE83-95E47058C085}"/>
              </a:ext>
            </a:extLst>
          </p:cNvPr>
          <p:cNvCxnSpPr/>
          <p:nvPr/>
        </p:nvCxnSpPr>
        <p:spPr>
          <a:xfrm flipV="1">
            <a:off x="6881361" y="5392958"/>
            <a:ext cx="0" cy="113465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F62212-7F39-A18A-7490-C5D18A036A80}"/>
              </a:ext>
            </a:extLst>
          </p:cNvPr>
          <p:cNvCxnSpPr>
            <a:cxnSpLocks/>
          </p:cNvCxnSpPr>
          <p:nvPr/>
        </p:nvCxnSpPr>
        <p:spPr>
          <a:xfrm flipV="1">
            <a:off x="7369041" y="4740687"/>
            <a:ext cx="0" cy="306801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0B52D27-4580-2087-B8FA-38703D0091A3}"/>
              </a:ext>
            </a:extLst>
          </p:cNvPr>
          <p:cNvCxnSpPr>
            <a:cxnSpLocks/>
          </p:cNvCxnSpPr>
          <p:nvPr/>
        </p:nvCxnSpPr>
        <p:spPr>
          <a:xfrm flipV="1">
            <a:off x="7875009" y="4740687"/>
            <a:ext cx="0" cy="239746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2540A3A-ACA2-14CF-5879-47BECFFBEA2C}"/>
              </a:ext>
            </a:extLst>
          </p:cNvPr>
          <p:cNvCxnSpPr>
            <a:cxnSpLocks/>
          </p:cNvCxnSpPr>
          <p:nvPr/>
        </p:nvCxnSpPr>
        <p:spPr>
          <a:xfrm flipV="1">
            <a:off x="8868657" y="3936016"/>
            <a:ext cx="0" cy="105632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8C214F-8D51-17AE-E22D-19C39980782C}"/>
              </a:ext>
            </a:extLst>
          </p:cNvPr>
          <p:cNvCxnSpPr>
            <a:cxnSpLocks/>
          </p:cNvCxnSpPr>
          <p:nvPr/>
        </p:nvCxnSpPr>
        <p:spPr>
          <a:xfrm flipV="1">
            <a:off x="9368529" y="3704368"/>
            <a:ext cx="0" cy="81248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A07E441-2A25-8FD5-C5FB-A5E5B1F32DE4}"/>
              </a:ext>
            </a:extLst>
          </p:cNvPr>
          <p:cNvCxnSpPr>
            <a:cxnSpLocks/>
          </p:cNvCxnSpPr>
          <p:nvPr/>
        </p:nvCxnSpPr>
        <p:spPr>
          <a:xfrm flipV="1">
            <a:off x="9868401" y="3113056"/>
            <a:ext cx="0" cy="270224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0BC7A8E-3A2F-A88B-50B9-37CB16E887A0}"/>
              </a:ext>
            </a:extLst>
          </p:cNvPr>
          <p:cNvCxnSpPr>
            <a:cxnSpLocks/>
          </p:cNvCxnSpPr>
          <p:nvPr/>
        </p:nvCxnSpPr>
        <p:spPr>
          <a:xfrm flipV="1">
            <a:off x="10368273" y="3007424"/>
            <a:ext cx="0" cy="15640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4E7663F-C286-18B1-86F6-8AF5CE6446A7}"/>
              </a:ext>
            </a:extLst>
          </p:cNvPr>
          <p:cNvCxnSpPr>
            <a:cxnSpLocks/>
          </p:cNvCxnSpPr>
          <p:nvPr/>
        </p:nvCxnSpPr>
        <p:spPr>
          <a:xfrm flipV="1">
            <a:off x="10868145" y="2688432"/>
            <a:ext cx="0" cy="134016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02D3F3E-774A-9D76-C045-4E985BCB4712}"/>
              </a:ext>
            </a:extLst>
          </p:cNvPr>
          <p:cNvCxnSpPr>
            <a:cxnSpLocks/>
          </p:cNvCxnSpPr>
          <p:nvPr/>
        </p:nvCxnSpPr>
        <p:spPr>
          <a:xfrm flipV="1">
            <a:off x="11371065" y="2107216"/>
            <a:ext cx="0" cy="258032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1912FCE-BD07-7C71-9C06-71CB2D024144}"/>
              </a:ext>
            </a:extLst>
          </p:cNvPr>
          <p:cNvCxnSpPr>
            <a:cxnSpLocks/>
          </p:cNvCxnSpPr>
          <p:nvPr/>
        </p:nvCxnSpPr>
        <p:spPr>
          <a:xfrm flipV="1">
            <a:off x="11867889" y="2003584"/>
            <a:ext cx="0" cy="160496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057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Conceptually</a:t>
            </a:r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79B9D391-DEEE-954B-9C5F-8882C64E1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700" y="1825625"/>
            <a:ext cx="5904575" cy="4242122"/>
          </a:xfrm>
          <a:prstGeom prst="rect">
            <a:avLst/>
          </a:prstGeo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89F92768-A106-DB49-9FC4-516CD4C0C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913" y="1825625"/>
            <a:ext cx="5889362" cy="4242122"/>
          </a:xfrm>
          <a:prstGeom prst="rect">
            <a:avLst/>
          </a:prstGeom>
        </p:spPr>
      </p:pic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2B84CA1B-EA6B-6E4A-975F-745A0C445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996" y="1825625"/>
            <a:ext cx="5883003" cy="4242122"/>
          </a:xfrm>
          <a:prstGeom prst="rect">
            <a:avLst/>
          </a:prstGeom>
        </p:spPr>
      </p:pic>
      <p:pic>
        <p:nvPicPr>
          <p:cNvPr id="11" name="Picture 10" descr="Chart, scatter chart&#10;&#10;Description automatically generated">
            <a:extLst>
              <a:ext uri="{FF2B5EF4-FFF2-40B4-BE49-F238E27FC236}">
                <a16:creationId xmlns:a16="http://schemas.microsoft.com/office/drawing/2014/main" id="{C4E7498C-59C9-F444-B781-77A53D37B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6329" y="1825623"/>
            <a:ext cx="5910946" cy="424212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69395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regression line is denoted as       Y’ and X’</a:t>
            </a:r>
          </a:p>
          <a:p>
            <a:r>
              <a:rPr lang="en-US" b="1" dirty="0"/>
              <a:t>Y’ = a</a:t>
            </a:r>
            <a:r>
              <a:rPr lang="en-US" b="1" baseline="-25000" dirty="0"/>
              <a:t>y</a:t>
            </a:r>
            <a:r>
              <a:rPr lang="en-US" b="1" dirty="0"/>
              <a:t> + </a:t>
            </a:r>
            <a:r>
              <a:rPr lang="en-US" b="1" dirty="0" err="1"/>
              <a:t>b</a:t>
            </a:r>
            <a:r>
              <a:rPr lang="en-US" b="1" baseline="-25000" dirty="0" err="1"/>
              <a:t>y</a:t>
            </a:r>
            <a:r>
              <a:rPr lang="en-US" b="1" dirty="0" err="1"/>
              <a:t>X</a:t>
            </a:r>
            <a:endParaRPr lang="en-US" b="1" dirty="0"/>
          </a:p>
          <a:p>
            <a:r>
              <a:rPr lang="en-US" b="1" dirty="0"/>
              <a:t>X’ = a</a:t>
            </a:r>
            <a:r>
              <a:rPr lang="en-US" b="1" baseline="-25000" dirty="0"/>
              <a:t>x</a:t>
            </a:r>
            <a:r>
              <a:rPr lang="en-US" b="1" dirty="0"/>
              <a:t> + </a:t>
            </a:r>
            <a:r>
              <a:rPr lang="en-US" b="1" dirty="0" err="1"/>
              <a:t>b</a:t>
            </a:r>
            <a:r>
              <a:rPr lang="en-US" b="1" baseline="-25000" dirty="0" err="1"/>
              <a:t>x</a:t>
            </a:r>
            <a:r>
              <a:rPr lang="en-US" b="1" dirty="0" err="1"/>
              <a:t>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052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C3A1F-32CB-66FA-D782-E626C7AA2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2269A-0681-586C-8288-0991A1968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Conceptually</a:t>
            </a:r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9C45E56E-339A-B2E8-0E56-445925F50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700" y="1825625"/>
            <a:ext cx="5904575" cy="4242122"/>
          </a:xfrm>
          <a:prstGeom prst="rect">
            <a:avLst/>
          </a:prstGeo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99F35634-A9F7-BDFB-F026-9E008A2FB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913" y="1825625"/>
            <a:ext cx="5889362" cy="4242122"/>
          </a:xfrm>
          <a:prstGeom prst="rect">
            <a:avLst/>
          </a:prstGeom>
        </p:spPr>
      </p:pic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7B1DCF93-E1FB-5406-32CF-64AD4733E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996" y="1825625"/>
            <a:ext cx="5883003" cy="4242122"/>
          </a:xfrm>
          <a:prstGeom prst="rect">
            <a:avLst/>
          </a:prstGeom>
        </p:spPr>
      </p:pic>
      <p:pic>
        <p:nvPicPr>
          <p:cNvPr id="11" name="Picture 10" descr="Chart, scatter chart&#10;&#10;Description automatically generated">
            <a:extLst>
              <a:ext uri="{FF2B5EF4-FFF2-40B4-BE49-F238E27FC236}">
                <a16:creationId xmlns:a16="http://schemas.microsoft.com/office/drawing/2014/main" id="{81BF4F8B-1575-FE11-3B15-B66009B967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6329" y="1825623"/>
            <a:ext cx="5910946" cy="4242123"/>
          </a:xfrm>
          <a:prstGeom prst="rect">
            <a:avLst/>
          </a:prstGeom>
        </p:spPr>
      </p:pic>
      <p:pic>
        <p:nvPicPr>
          <p:cNvPr id="18" name="Picture 17" descr="Chart, scatter chart&#10;&#10;Description automatically generated">
            <a:extLst>
              <a:ext uri="{FF2B5EF4-FFF2-40B4-BE49-F238E27FC236}">
                <a16:creationId xmlns:a16="http://schemas.microsoft.com/office/drawing/2014/main" id="{820EFF5F-A662-DB7F-B1FF-86023A5D2C7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9245" b="10222"/>
          <a:stretch/>
        </p:blipFill>
        <p:spPr>
          <a:xfrm>
            <a:off x="6868599" y="-196627"/>
            <a:ext cx="5364483" cy="380850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079E9-F4F9-79E8-5C6A-76ABB0BC1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80298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Y’ = a</a:t>
            </a:r>
            <a:r>
              <a:rPr lang="en-US" b="1" baseline="-25000" dirty="0"/>
              <a:t>y</a:t>
            </a:r>
            <a:r>
              <a:rPr lang="en-US" b="1" dirty="0"/>
              <a:t> + </a:t>
            </a:r>
            <a:r>
              <a:rPr lang="en-US" b="1" dirty="0" err="1"/>
              <a:t>b</a:t>
            </a:r>
            <a:r>
              <a:rPr lang="en-US" b="1" baseline="-25000" dirty="0" err="1"/>
              <a:t>y</a:t>
            </a:r>
            <a:r>
              <a:rPr lang="en-US" b="1" dirty="0" err="1"/>
              <a:t>X</a:t>
            </a:r>
            <a:endParaRPr lang="en-US" b="1" dirty="0"/>
          </a:p>
          <a:p>
            <a:r>
              <a:rPr lang="en-US" b="1" dirty="0"/>
              <a:t>Y’ </a:t>
            </a:r>
            <a:r>
              <a:rPr lang="en-US" dirty="0"/>
              <a:t>= Predicted y-values from the regression line</a:t>
            </a:r>
          </a:p>
          <a:p>
            <a:pPr lvl="1"/>
            <a:r>
              <a:rPr lang="en-US" dirty="0"/>
              <a:t>How many apples do you get based on how many dollars you have</a:t>
            </a:r>
          </a:p>
          <a:p>
            <a:pPr lvl="1"/>
            <a:endParaRPr lang="en-US" dirty="0"/>
          </a:p>
          <a:p>
            <a:r>
              <a:rPr lang="en-US" b="1" dirty="0"/>
              <a:t>a</a:t>
            </a:r>
            <a:r>
              <a:rPr lang="en-US" b="1" baseline="-25000" dirty="0"/>
              <a:t>y</a:t>
            </a:r>
            <a:r>
              <a:rPr lang="en-US" b="1" dirty="0"/>
              <a:t> </a:t>
            </a:r>
            <a:r>
              <a:rPr lang="en-US" dirty="0"/>
              <a:t>= Y-intercept</a:t>
            </a:r>
          </a:p>
          <a:p>
            <a:pPr lvl="1"/>
            <a:r>
              <a:rPr lang="en-US" dirty="0"/>
              <a:t>How much of Y when there is an absence of X</a:t>
            </a:r>
          </a:p>
          <a:p>
            <a:pPr lvl="1"/>
            <a:r>
              <a:rPr lang="en-US" dirty="0"/>
              <a:t>The y-value when X = 0</a:t>
            </a:r>
          </a:p>
          <a:p>
            <a:pPr lvl="1"/>
            <a:r>
              <a:rPr lang="en-US" dirty="0"/>
              <a:t>A constant in the equation that shifts the regression </a:t>
            </a:r>
            <a:r>
              <a:rPr lang="en-US" i="1" dirty="0"/>
              <a:t>up or down</a:t>
            </a:r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0DD80C41-3833-D207-E92E-AF43EDA84B0B}"/>
              </a:ext>
            </a:extLst>
          </p:cNvPr>
          <p:cNvSpPr/>
          <p:nvPr/>
        </p:nvSpPr>
        <p:spPr>
          <a:xfrm>
            <a:off x="9099274" y="2370483"/>
            <a:ext cx="258417" cy="113306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6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Conceptually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62600" cy="50323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Y’ = a</a:t>
            </a:r>
            <a:r>
              <a:rPr lang="en-US" b="1" baseline="-25000" dirty="0"/>
              <a:t>y</a:t>
            </a:r>
            <a:r>
              <a:rPr lang="en-US" b="1" dirty="0"/>
              <a:t> + </a:t>
            </a:r>
            <a:r>
              <a:rPr lang="en-US" b="1" dirty="0" err="1"/>
              <a:t>b</a:t>
            </a:r>
            <a:r>
              <a:rPr lang="en-US" b="1" baseline="-25000" dirty="0" err="1"/>
              <a:t>y</a:t>
            </a:r>
            <a:r>
              <a:rPr lang="en-US" b="1" dirty="0" err="1"/>
              <a:t>X</a:t>
            </a:r>
            <a:endParaRPr lang="en-US" b="1" dirty="0"/>
          </a:p>
          <a:p>
            <a:r>
              <a:rPr lang="en-US" b="1" dirty="0"/>
              <a:t>b</a:t>
            </a:r>
            <a:r>
              <a:rPr lang="en-US" b="1" baseline="-25000" dirty="0"/>
              <a:t>y</a:t>
            </a:r>
            <a:r>
              <a:rPr lang="en-US" b="1" dirty="0"/>
              <a:t> </a:t>
            </a:r>
            <a:r>
              <a:rPr lang="en-US" dirty="0"/>
              <a:t>= Slope</a:t>
            </a:r>
          </a:p>
          <a:p>
            <a:pPr lvl="1"/>
            <a:r>
              <a:rPr lang="en-US" dirty="0"/>
              <a:t>How much Y-scores change across X-scores</a:t>
            </a:r>
          </a:p>
          <a:p>
            <a:pPr lvl="1"/>
            <a:r>
              <a:rPr lang="en-US" dirty="0"/>
              <a:t>How much Y changes for a single increase in X</a:t>
            </a:r>
          </a:p>
          <a:p>
            <a:pPr lvl="1"/>
            <a:r>
              <a:rPr lang="en-US" dirty="0"/>
              <a:t>A coefficient in the equation that changes the steepness of the relationship</a:t>
            </a:r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79B9D391-DEEE-954B-9C5F-8882C64E1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700" y="1825625"/>
            <a:ext cx="5904575" cy="4242122"/>
          </a:xfrm>
          <a:prstGeom prst="rect">
            <a:avLst/>
          </a:prstGeo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89F92768-A106-DB49-9FC4-516CD4C0C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913" y="1825625"/>
            <a:ext cx="5889362" cy="4242122"/>
          </a:xfrm>
          <a:prstGeom prst="rect">
            <a:avLst/>
          </a:prstGeom>
        </p:spPr>
      </p:pic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2B84CA1B-EA6B-6E4A-975F-745A0C445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996" y="1825625"/>
            <a:ext cx="5883003" cy="4242122"/>
          </a:xfrm>
          <a:prstGeom prst="rect">
            <a:avLst/>
          </a:prstGeom>
        </p:spPr>
      </p:pic>
      <p:pic>
        <p:nvPicPr>
          <p:cNvPr id="11" name="Picture 10" descr="Chart, scatter chart&#10;&#10;Description automatically generated">
            <a:extLst>
              <a:ext uri="{FF2B5EF4-FFF2-40B4-BE49-F238E27FC236}">
                <a16:creationId xmlns:a16="http://schemas.microsoft.com/office/drawing/2014/main" id="{C4E7498C-59C9-F444-B781-77A53D37B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6329" y="1825623"/>
            <a:ext cx="5910946" cy="4242123"/>
          </a:xfrm>
          <a:prstGeom prst="rect">
            <a:avLst/>
          </a:prstGeom>
        </p:spPr>
      </p:pic>
      <p:pic>
        <p:nvPicPr>
          <p:cNvPr id="18" name="Picture 17" descr="Chart, scatter chart&#10;&#10;Description automatically generated">
            <a:extLst>
              <a:ext uri="{FF2B5EF4-FFF2-40B4-BE49-F238E27FC236}">
                <a16:creationId xmlns:a16="http://schemas.microsoft.com/office/drawing/2014/main" id="{B041F955-08E7-C94D-9621-0F09E3AA610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9245" b="10222"/>
          <a:stretch/>
        </p:blipFill>
        <p:spPr>
          <a:xfrm rot="1179673">
            <a:off x="7223867" y="2792274"/>
            <a:ext cx="5364483" cy="380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46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Conceptually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62600" cy="50323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X’ = a</a:t>
            </a:r>
            <a:r>
              <a:rPr lang="en-US" b="1" baseline="-25000" dirty="0"/>
              <a:t>x</a:t>
            </a:r>
            <a:r>
              <a:rPr lang="en-US" b="1" dirty="0"/>
              <a:t> + </a:t>
            </a:r>
            <a:r>
              <a:rPr lang="en-US" b="1" dirty="0" err="1"/>
              <a:t>b</a:t>
            </a:r>
            <a:r>
              <a:rPr lang="en-US" b="1" baseline="-25000" dirty="0" err="1"/>
              <a:t>x</a:t>
            </a:r>
            <a:r>
              <a:rPr lang="en-US" b="1" dirty="0" err="1"/>
              <a:t>Y</a:t>
            </a:r>
            <a:endParaRPr lang="en-US" b="1" dirty="0"/>
          </a:p>
          <a:p>
            <a:r>
              <a:rPr lang="en-US" b="1" dirty="0"/>
              <a:t>X’ </a:t>
            </a:r>
            <a:r>
              <a:rPr lang="en-US" dirty="0"/>
              <a:t>= Predicted X-values from the regression line</a:t>
            </a:r>
          </a:p>
          <a:p>
            <a:pPr lvl="1"/>
            <a:r>
              <a:rPr lang="en-US" dirty="0"/>
              <a:t>E.g., how many dollars do you get if you sell one apple?</a:t>
            </a:r>
          </a:p>
          <a:p>
            <a:pPr lvl="1"/>
            <a:endParaRPr lang="en-US" dirty="0"/>
          </a:p>
          <a:p>
            <a:r>
              <a:rPr lang="en-US" b="1" dirty="0"/>
              <a:t>a</a:t>
            </a:r>
            <a:r>
              <a:rPr lang="en-US" b="1" baseline="-25000" dirty="0"/>
              <a:t>x</a:t>
            </a:r>
            <a:r>
              <a:rPr lang="en-US" b="1" dirty="0"/>
              <a:t> </a:t>
            </a:r>
            <a:r>
              <a:rPr lang="en-US" dirty="0"/>
              <a:t>= X-intercept</a:t>
            </a:r>
          </a:p>
          <a:p>
            <a:pPr lvl="1"/>
            <a:r>
              <a:rPr lang="en-US" dirty="0"/>
              <a:t>How much of X when there is an absence of Y</a:t>
            </a:r>
          </a:p>
          <a:p>
            <a:pPr lvl="1"/>
            <a:r>
              <a:rPr lang="en-US" dirty="0"/>
              <a:t>The x-value when Y = 0</a:t>
            </a:r>
          </a:p>
          <a:p>
            <a:pPr lvl="1"/>
            <a:r>
              <a:rPr lang="en-US" dirty="0"/>
              <a:t>A constant in the equation that shifts the regression </a:t>
            </a:r>
            <a:r>
              <a:rPr lang="en-US" i="1" dirty="0"/>
              <a:t>left or right</a:t>
            </a:r>
          </a:p>
          <a:p>
            <a:endParaRPr lang="en-US" dirty="0"/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79B9D391-DEEE-954B-9C5F-8882C64E1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700" y="1825625"/>
            <a:ext cx="5904575" cy="4242122"/>
          </a:xfrm>
          <a:prstGeom prst="rect">
            <a:avLst/>
          </a:prstGeo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89F92768-A106-DB49-9FC4-516CD4C0C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913" y="1825625"/>
            <a:ext cx="5889362" cy="4242122"/>
          </a:xfrm>
          <a:prstGeom prst="rect">
            <a:avLst/>
          </a:prstGeom>
        </p:spPr>
      </p:pic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2B84CA1B-EA6B-6E4A-975F-745A0C445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996" y="1825625"/>
            <a:ext cx="5883003" cy="4242122"/>
          </a:xfrm>
          <a:prstGeom prst="rect">
            <a:avLst/>
          </a:prstGeom>
        </p:spPr>
      </p:pic>
      <p:pic>
        <p:nvPicPr>
          <p:cNvPr id="11" name="Picture 10" descr="Chart, scatter chart&#10;&#10;Description automatically generated">
            <a:extLst>
              <a:ext uri="{FF2B5EF4-FFF2-40B4-BE49-F238E27FC236}">
                <a16:creationId xmlns:a16="http://schemas.microsoft.com/office/drawing/2014/main" id="{C4E7498C-59C9-F444-B781-77A53D37B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6329" y="1825623"/>
            <a:ext cx="5910946" cy="4242123"/>
          </a:xfrm>
          <a:prstGeom prst="rect">
            <a:avLst/>
          </a:prstGeom>
        </p:spPr>
      </p:pic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53787AC5-A81B-2208-23ED-F40F6AE9F42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9245" b="10222"/>
          <a:stretch/>
        </p:blipFill>
        <p:spPr>
          <a:xfrm>
            <a:off x="8983711" y="1897644"/>
            <a:ext cx="5364483" cy="3808509"/>
          </a:xfrm>
          <a:prstGeom prst="rect">
            <a:avLst/>
          </a:prstGeom>
        </p:spPr>
      </p:pic>
      <p:sp>
        <p:nvSpPr>
          <p:cNvPr id="6" name="Arrow: Up 5">
            <a:extLst>
              <a:ext uri="{FF2B5EF4-FFF2-40B4-BE49-F238E27FC236}">
                <a16:creationId xmlns:a16="http://schemas.microsoft.com/office/drawing/2014/main" id="{FF4C9D27-13F9-5FB2-984D-DA12F1DCD2A7}"/>
              </a:ext>
            </a:extLst>
          </p:cNvPr>
          <p:cNvSpPr/>
          <p:nvPr/>
        </p:nvSpPr>
        <p:spPr>
          <a:xfrm rot="5400000">
            <a:off x="9559761" y="3580845"/>
            <a:ext cx="258416" cy="126351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083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D12EB-F9ED-3E13-1159-0E496C89B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CCAE4-7F34-22A4-1207-6DE6C26C9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Conceptually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E6926-A6AA-81EB-1868-0A23D0AD9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62600" cy="50323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X’ = a</a:t>
            </a:r>
            <a:r>
              <a:rPr lang="en-US" b="1" baseline="-25000" dirty="0"/>
              <a:t>x</a:t>
            </a:r>
            <a:r>
              <a:rPr lang="en-US" b="1" dirty="0"/>
              <a:t> + </a:t>
            </a:r>
            <a:r>
              <a:rPr lang="en-US" b="1" dirty="0" err="1"/>
              <a:t>b</a:t>
            </a:r>
            <a:r>
              <a:rPr lang="en-US" b="1" baseline="-25000" dirty="0" err="1"/>
              <a:t>x</a:t>
            </a:r>
            <a:r>
              <a:rPr lang="en-US" b="1" dirty="0" err="1"/>
              <a:t>Y</a:t>
            </a:r>
            <a:endParaRPr lang="en-US" b="1" dirty="0"/>
          </a:p>
          <a:p>
            <a:r>
              <a:rPr lang="en-US" b="1" dirty="0"/>
              <a:t>b</a:t>
            </a:r>
            <a:r>
              <a:rPr lang="en-US" b="1" baseline="-25000" dirty="0"/>
              <a:t>x</a:t>
            </a:r>
            <a:r>
              <a:rPr lang="en-US" b="1" dirty="0"/>
              <a:t> </a:t>
            </a:r>
            <a:r>
              <a:rPr lang="en-US" dirty="0"/>
              <a:t>= Slope</a:t>
            </a:r>
          </a:p>
          <a:p>
            <a:pPr lvl="1"/>
            <a:r>
              <a:rPr lang="en-US" dirty="0"/>
              <a:t>How much X-scores change across Y scores</a:t>
            </a:r>
          </a:p>
          <a:p>
            <a:pPr lvl="1"/>
            <a:r>
              <a:rPr lang="en-US" dirty="0"/>
              <a:t>How much X changes for a single increase in Y</a:t>
            </a:r>
          </a:p>
          <a:p>
            <a:pPr lvl="1"/>
            <a:r>
              <a:rPr lang="en-US" dirty="0"/>
              <a:t>A coefficient in the equation that changes the steepness of the relationship</a:t>
            </a:r>
          </a:p>
          <a:p>
            <a:pPr lvl="1"/>
            <a:endParaRPr lang="en-US" dirty="0"/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B651847E-1A78-1F91-142F-B470C52A3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700" y="1825625"/>
            <a:ext cx="5904575" cy="4242122"/>
          </a:xfrm>
          <a:prstGeom prst="rect">
            <a:avLst/>
          </a:prstGeo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9B10BFCE-0D21-A303-2C95-96834AE8B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913" y="1825625"/>
            <a:ext cx="5889362" cy="4242122"/>
          </a:xfrm>
          <a:prstGeom prst="rect">
            <a:avLst/>
          </a:prstGeom>
        </p:spPr>
      </p:pic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870B6228-99E5-4558-6197-A671B9EFC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996" y="1825625"/>
            <a:ext cx="5883003" cy="4242122"/>
          </a:xfrm>
          <a:prstGeom prst="rect">
            <a:avLst/>
          </a:prstGeom>
        </p:spPr>
      </p:pic>
      <p:pic>
        <p:nvPicPr>
          <p:cNvPr id="11" name="Picture 10" descr="Chart, scatter chart&#10;&#10;Description automatically generated">
            <a:extLst>
              <a:ext uri="{FF2B5EF4-FFF2-40B4-BE49-F238E27FC236}">
                <a16:creationId xmlns:a16="http://schemas.microsoft.com/office/drawing/2014/main" id="{1CBAA1E1-523B-0033-788D-04066BEF0A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6329" y="1825623"/>
            <a:ext cx="5910946" cy="4242123"/>
          </a:xfrm>
          <a:prstGeom prst="rect">
            <a:avLst/>
          </a:prstGeom>
        </p:spPr>
      </p:pic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3F26C0BF-81DA-22BD-5DA9-F3386DB0948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9245" b="10222"/>
          <a:stretch/>
        </p:blipFill>
        <p:spPr>
          <a:xfrm rot="1179673">
            <a:off x="7223867" y="2792274"/>
            <a:ext cx="5364483" cy="380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163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269830"/>
            <a:ext cx="6468542" cy="65881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Regression Conceptually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Computing Regression Lines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Standard Error of the Regression Line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Explained Variability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Formal Report</a:t>
            </a:r>
          </a:p>
        </p:txBody>
      </p:sp>
    </p:spTree>
    <p:extLst>
      <p:ext uri="{BB962C8B-B14F-4D97-AF65-F5344CB8AC3E}">
        <p14:creationId xmlns:p14="http://schemas.microsoft.com/office/powerpoint/2010/main" val="4012727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0058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24231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9776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235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708660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10058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b="-48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24231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9776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235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/>
              <p:cNvSpPr/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/>
          <p:cNvSpPr/>
          <p:nvPr/>
        </p:nvSpPr>
        <p:spPr>
          <a:xfrm>
            <a:off x="708660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/>
              <p:cNvSpPr/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/>
          <p:cNvSpPr/>
          <p:nvPr/>
        </p:nvSpPr>
        <p:spPr>
          <a:xfrm>
            <a:off x="1851660" y="2011020"/>
            <a:ext cx="9144" cy="55778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51660" y="25688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108960" y="2568804"/>
            <a:ext cx="9144" cy="667512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V="1">
            <a:off x="1851660" y="4397604"/>
            <a:ext cx="9144" cy="65836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51660" y="43976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flipV="1">
            <a:off x="3108960" y="3894684"/>
            <a:ext cx="9144" cy="50292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88620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53212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33"/>
              <p:cNvSpPr/>
              <p:nvPr/>
            </p:nvSpPr>
            <p:spPr>
              <a:xfrm>
                <a:off x="466344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2660244"/>
                <a:ext cx="2011680" cy="502920"/>
              </a:xfrm>
              <a:prstGeom prst="rect">
                <a:avLst/>
              </a:prstGeom>
              <a:blipFill>
                <a:blip r:embed="rId9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Shape 34"/>
          <p:cNvSpPr/>
          <p:nvPr/>
        </p:nvSpPr>
        <p:spPr>
          <a:xfrm>
            <a:off x="708660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35"/>
              <p:cNvSpPr/>
              <p:nvPr/>
            </p:nvSpPr>
            <p:spPr>
              <a:xfrm>
                <a:off x="621792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𝐶𝑂𝑉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2660244"/>
                <a:ext cx="2011680" cy="502920"/>
              </a:xfrm>
              <a:prstGeom prst="rect">
                <a:avLst/>
              </a:prstGeom>
              <a:blipFill>
                <a:blip r:embed="rId10"/>
                <a:stretch>
                  <a:fillRect t="-2168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Shape 36"/>
          <p:cNvSpPr/>
          <p:nvPr/>
        </p:nvSpPr>
        <p:spPr>
          <a:xfrm>
            <a:off x="8092440" y="2011020"/>
            <a:ext cx="9144" cy="1225296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 flipV="1">
            <a:off x="8092440" y="3894684"/>
            <a:ext cx="9144" cy="116128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11480" y="135265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11480" y="135265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280160" y="135265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280160" y="135265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697480" y="135265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697480" y="135265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251960" y="135265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251960" y="135265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897880" y="135265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897880" y="135265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360920" y="135265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360920" y="135265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(SDₓ)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11480" y="505597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11480" y="505597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280160" y="505597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280160" y="505597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697480" y="505597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697480" y="505597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251960" y="505597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251960" y="505597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897880" y="505597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897880" y="505597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7360920" y="505597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360920" y="505597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(SDᵧ)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331720" y="3236316"/>
            <a:ext cx="155448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331720" y="3236316"/>
            <a:ext cx="15544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160520" y="3236316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160520" y="3236316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Products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(SP)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806440" y="3236316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806440" y="3236316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(COV)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7360920" y="3236316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360920" y="3236316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(r)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 8">
                <a:extLst>
                  <a:ext uri="{FF2B5EF4-FFF2-40B4-BE49-F238E27FC236}">
                    <a16:creationId xmlns:a16="http://schemas.microsoft.com/office/drawing/2014/main" id="{E2381C03-3E13-BA02-1CC0-DA063F5DAE21}"/>
                  </a:ext>
                </a:extLst>
              </p:cNvPr>
              <p:cNvSpPr/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4" name="Text 8">
                <a:extLst>
                  <a:ext uri="{FF2B5EF4-FFF2-40B4-BE49-F238E27FC236}">
                    <a16:creationId xmlns:a16="http://schemas.microsoft.com/office/drawing/2014/main" id="{E2381C03-3E13-BA02-1CC0-DA063F5DAE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blipFill>
                <a:blip r:embed="rId11"/>
                <a:stretch>
                  <a:fillRect l="-2424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 8">
                <a:extLst>
                  <a:ext uri="{FF2B5EF4-FFF2-40B4-BE49-F238E27FC236}">
                    <a16:creationId xmlns:a16="http://schemas.microsoft.com/office/drawing/2014/main" id="{9B410020-3995-69FE-1948-BC4DD23F6321}"/>
                  </a:ext>
                </a:extLst>
              </p:cNvPr>
              <p:cNvSpPr/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6" name="Text 8">
                <a:extLst>
                  <a:ext uri="{FF2B5EF4-FFF2-40B4-BE49-F238E27FC236}">
                    <a16:creationId xmlns:a16="http://schemas.microsoft.com/office/drawing/2014/main" id="{9B410020-3995-69FE-1948-BC4DD23F63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blipFill>
                <a:blip r:embed="rId12"/>
                <a:stretch>
                  <a:fillRect l="-2424" t="-114634" b="-16219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 29">
                <a:extLst>
                  <a:ext uri="{FF2B5EF4-FFF2-40B4-BE49-F238E27FC236}">
                    <a16:creationId xmlns:a16="http://schemas.microsoft.com/office/drawing/2014/main" id="{498092C2-CFC0-6D76-5956-A73488CCE8F1}"/>
                  </a:ext>
                </a:extLst>
              </p:cNvPr>
              <p:cNvSpPr/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 29">
                <a:extLst>
                  <a:ext uri="{FF2B5EF4-FFF2-40B4-BE49-F238E27FC236}">
                    <a16:creationId xmlns:a16="http://schemas.microsoft.com/office/drawing/2014/main" id="{498092C2-CFC0-6D76-5956-A73488CCE8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blipFill>
                <a:blip r:embed="rId13"/>
                <a:stretch>
                  <a:fillRect b="-79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 6">
                <a:extLst>
                  <a:ext uri="{FF2B5EF4-FFF2-40B4-BE49-F238E27FC236}">
                    <a16:creationId xmlns:a16="http://schemas.microsoft.com/office/drawing/2014/main" id="{E54FA57B-0EE0-E66F-7732-C98965067EBD}"/>
                  </a:ext>
                </a:extLst>
              </p:cNvPr>
              <p:cNvSpPr/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0" name="Text 6">
                <a:extLst>
                  <a:ext uri="{FF2B5EF4-FFF2-40B4-BE49-F238E27FC236}">
                    <a16:creationId xmlns:a16="http://schemas.microsoft.com/office/drawing/2014/main" id="{E54FA57B-0EE0-E66F-7732-C98965067E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 6">
                <a:extLst>
                  <a:ext uri="{FF2B5EF4-FFF2-40B4-BE49-F238E27FC236}">
                    <a16:creationId xmlns:a16="http://schemas.microsoft.com/office/drawing/2014/main" id="{12E8993F-56F4-83F8-4D0D-15E99FDFBEA3}"/>
                  </a:ext>
                </a:extLst>
              </p:cNvPr>
              <p:cNvSpPr/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2" name="Text 6">
                <a:extLst>
                  <a:ext uri="{FF2B5EF4-FFF2-40B4-BE49-F238E27FC236}">
                    <a16:creationId xmlns:a16="http://schemas.microsoft.com/office/drawing/2014/main" id="{12E8993F-56F4-83F8-4D0D-15E99FDFBE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 31">
                <a:extLst>
                  <a:ext uri="{FF2B5EF4-FFF2-40B4-BE49-F238E27FC236}">
                    <a16:creationId xmlns:a16="http://schemas.microsoft.com/office/drawing/2014/main" id="{0FC955BD-C767-D52C-9AA7-F2846FEEBF4E}"/>
                  </a:ext>
                </a:extLst>
              </p:cNvPr>
              <p:cNvSpPr/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𝑃𝑟𝑜𝑑𝑢𝑐𝑡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84" name="Text 31">
                <a:extLst>
                  <a:ext uri="{FF2B5EF4-FFF2-40B4-BE49-F238E27FC236}">
                    <a16:creationId xmlns:a16="http://schemas.microsoft.com/office/drawing/2014/main" id="{0FC955BD-C767-D52C-9AA7-F2846FEEBF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blipFill>
                <a:blip r:embed="rId16"/>
                <a:stretch>
                  <a:fillRect l="-3636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5A00B-B29D-B69F-7DEA-3BC88A4BC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9E942F0A-0154-C61C-24B7-56208238564C}"/>
              </a:ext>
            </a:extLst>
          </p:cNvPr>
          <p:cNvSpPr/>
          <p:nvPr/>
        </p:nvSpPr>
        <p:spPr>
          <a:xfrm>
            <a:off x="10058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DACEBBEE-3661-E714-FF72-C5DDB6863269}"/>
                  </a:ext>
                </a:extLst>
              </p:cNvPr>
              <p:cNvSpPr/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DACEBBEE-3661-E714-FF72-C5DDB68632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>
            <a:extLst>
              <a:ext uri="{FF2B5EF4-FFF2-40B4-BE49-F238E27FC236}">
                <a16:creationId xmlns:a16="http://schemas.microsoft.com/office/drawing/2014/main" id="{2CB21FFB-D217-058B-9DD6-0815362C2B47}"/>
              </a:ext>
            </a:extLst>
          </p:cNvPr>
          <p:cNvSpPr/>
          <p:nvPr/>
        </p:nvSpPr>
        <p:spPr>
          <a:xfrm>
            <a:off x="24231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F05C125-DC53-5366-3728-B151F3215680}"/>
              </a:ext>
            </a:extLst>
          </p:cNvPr>
          <p:cNvSpPr/>
          <p:nvPr/>
        </p:nvSpPr>
        <p:spPr>
          <a:xfrm>
            <a:off x="39776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4BA86E0-7EA7-4FFD-3F70-9D265E468A1B}"/>
              </a:ext>
            </a:extLst>
          </p:cNvPr>
          <p:cNvSpPr/>
          <p:nvPr/>
        </p:nvSpPr>
        <p:spPr>
          <a:xfrm>
            <a:off x="56235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0F11C890-3F93-BDBC-7F83-C34CA3ABB028}"/>
                  </a:ext>
                </a:extLst>
              </p:cNvPr>
              <p:cNvSpPr/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0F11C890-3F93-BDBC-7F83-C34CA3ABB0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>
            <a:extLst>
              <a:ext uri="{FF2B5EF4-FFF2-40B4-BE49-F238E27FC236}">
                <a16:creationId xmlns:a16="http://schemas.microsoft.com/office/drawing/2014/main" id="{919C8DF0-C491-CB62-C19E-9B28793D7880}"/>
              </a:ext>
            </a:extLst>
          </p:cNvPr>
          <p:cNvSpPr/>
          <p:nvPr/>
        </p:nvSpPr>
        <p:spPr>
          <a:xfrm>
            <a:off x="708660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B856DDB3-40B8-71B4-08DF-05635BB4ABA5}"/>
                  </a:ext>
                </a:extLst>
              </p:cNvPr>
              <p:cNvSpPr/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B856DDB3-40B8-71B4-08DF-05635BB4AB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>
            <a:extLst>
              <a:ext uri="{FF2B5EF4-FFF2-40B4-BE49-F238E27FC236}">
                <a16:creationId xmlns:a16="http://schemas.microsoft.com/office/drawing/2014/main" id="{07ECA703-BE2D-58AF-3D44-6031F17B2200}"/>
              </a:ext>
            </a:extLst>
          </p:cNvPr>
          <p:cNvSpPr/>
          <p:nvPr/>
        </p:nvSpPr>
        <p:spPr>
          <a:xfrm>
            <a:off x="10058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DD72A531-5349-936D-6065-3734C1424422}"/>
                  </a:ext>
                </a:extLst>
              </p:cNvPr>
              <p:cNvSpPr/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DD72A531-5349-936D-6065-3734C14244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b="-48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>
            <a:extLst>
              <a:ext uri="{FF2B5EF4-FFF2-40B4-BE49-F238E27FC236}">
                <a16:creationId xmlns:a16="http://schemas.microsoft.com/office/drawing/2014/main" id="{7A173AC2-726E-F729-8337-C614CBF88103}"/>
              </a:ext>
            </a:extLst>
          </p:cNvPr>
          <p:cNvSpPr/>
          <p:nvPr/>
        </p:nvSpPr>
        <p:spPr>
          <a:xfrm>
            <a:off x="24231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C8175FC-E96D-9686-F136-96424BBE20BB}"/>
              </a:ext>
            </a:extLst>
          </p:cNvPr>
          <p:cNvSpPr/>
          <p:nvPr/>
        </p:nvSpPr>
        <p:spPr>
          <a:xfrm>
            <a:off x="39776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C960F94-1823-5438-CCB6-3F773DBB38AA}"/>
              </a:ext>
            </a:extLst>
          </p:cNvPr>
          <p:cNvSpPr/>
          <p:nvPr/>
        </p:nvSpPr>
        <p:spPr>
          <a:xfrm>
            <a:off x="56235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DAF7840F-C4B2-FC9B-3BE4-C72FDAD8B0FF}"/>
                  </a:ext>
                </a:extLst>
              </p:cNvPr>
              <p:cNvSpPr/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DAF7840F-C4B2-FC9B-3BE4-C72FDAD8B0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>
            <a:extLst>
              <a:ext uri="{FF2B5EF4-FFF2-40B4-BE49-F238E27FC236}">
                <a16:creationId xmlns:a16="http://schemas.microsoft.com/office/drawing/2014/main" id="{57DC7F62-1EA6-6506-F6E7-068C7A89B5E3}"/>
              </a:ext>
            </a:extLst>
          </p:cNvPr>
          <p:cNvSpPr/>
          <p:nvPr/>
        </p:nvSpPr>
        <p:spPr>
          <a:xfrm>
            <a:off x="708660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C1F58C98-54F5-32AC-8CE1-AF60E78DB803}"/>
                  </a:ext>
                </a:extLst>
              </p:cNvPr>
              <p:cNvSpPr/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C1F58C98-54F5-32AC-8CE1-AF60E78DB8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>
            <a:extLst>
              <a:ext uri="{FF2B5EF4-FFF2-40B4-BE49-F238E27FC236}">
                <a16:creationId xmlns:a16="http://schemas.microsoft.com/office/drawing/2014/main" id="{0387D126-0A4C-76B9-65F6-150CE73077F8}"/>
              </a:ext>
            </a:extLst>
          </p:cNvPr>
          <p:cNvSpPr/>
          <p:nvPr/>
        </p:nvSpPr>
        <p:spPr>
          <a:xfrm>
            <a:off x="1851660" y="2011020"/>
            <a:ext cx="9144" cy="55778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A91B190-8A63-BF45-881A-9E3E23752B21}"/>
              </a:ext>
            </a:extLst>
          </p:cNvPr>
          <p:cNvSpPr/>
          <p:nvPr/>
        </p:nvSpPr>
        <p:spPr>
          <a:xfrm>
            <a:off x="1851660" y="25688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5DF8AE3A-7298-D511-188F-C74F1B50E53B}"/>
              </a:ext>
            </a:extLst>
          </p:cNvPr>
          <p:cNvSpPr/>
          <p:nvPr/>
        </p:nvSpPr>
        <p:spPr>
          <a:xfrm>
            <a:off x="3108960" y="2568804"/>
            <a:ext cx="9144" cy="667512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D875874-B9DE-38B8-A08C-4881D3DFF7FC}"/>
              </a:ext>
            </a:extLst>
          </p:cNvPr>
          <p:cNvSpPr/>
          <p:nvPr/>
        </p:nvSpPr>
        <p:spPr>
          <a:xfrm flipV="1">
            <a:off x="1851660" y="4397604"/>
            <a:ext cx="9144" cy="65836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59BE1E8-91B9-7077-71BF-75A6777220CF}"/>
              </a:ext>
            </a:extLst>
          </p:cNvPr>
          <p:cNvSpPr/>
          <p:nvPr/>
        </p:nvSpPr>
        <p:spPr>
          <a:xfrm>
            <a:off x="1851660" y="43976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E3D48106-A603-1835-A09F-A29042F50F35}"/>
              </a:ext>
            </a:extLst>
          </p:cNvPr>
          <p:cNvSpPr/>
          <p:nvPr/>
        </p:nvSpPr>
        <p:spPr>
          <a:xfrm flipV="1">
            <a:off x="3108960" y="3894684"/>
            <a:ext cx="9144" cy="50292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B78C08D-5724-82D5-7475-2CC228010BDB}"/>
              </a:ext>
            </a:extLst>
          </p:cNvPr>
          <p:cNvSpPr/>
          <p:nvPr/>
        </p:nvSpPr>
        <p:spPr>
          <a:xfrm>
            <a:off x="388620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CAC3067-1A45-62C0-B73F-7AE0A1DC8FBA}"/>
              </a:ext>
            </a:extLst>
          </p:cNvPr>
          <p:cNvSpPr/>
          <p:nvPr/>
        </p:nvSpPr>
        <p:spPr>
          <a:xfrm>
            <a:off x="553212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ED6BB5AE-6EF6-E032-78AD-2ADC5253311A}"/>
                  </a:ext>
                </a:extLst>
              </p:cNvPr>
              <p:cNvSpPr/>
              <p:nvPr/>
            </p:nvSpPr>
            <p:spPr>
              <a:xfrm>
                <a:off x="466344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ED6BB5AE-6EF6-E032-78AD-2ADC525331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2660244"/>
                <a:ext cx="2011680" cy="502920"/>
              </a:xfrm>
              <a:prstGeom prst="rect">
                <a:avLst/>
              </a:prstGeom>
              <a:blipFill>
                <a:blip r:embed="rId9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Shape 34">
            <a:extLst>
              <a:ext uri="{FF2B5EF4-FFF2-40B4-BE49-F238E27FC236}">
                <a16:creationId xmlns:a16="http://schemas.microsoft.com/office/drawing/2014/main" id="{BD7BA273-B988-6748-ECAA-F96EB1CB2EEF}"/>
              </a:ext>
            </a:extLst>
          </p:cNvPr>
          <p:cNvSpPr/>
          <p:nvPr/>
        </p:nvSpPr>
        <p:spPr>
          <a:xfrm>
            <a:off x="708660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35">
                <a:extLst>
                  <a:ext uri="{FF2B5EF4-FFF2-40B4-BE49-F238E27FC236}">
                    <a16:creationId xmlns:a16="http://schemas.microsoft.com/office/drawing/2014/main" id="{4EDA2AD3-0727-2C1D-F3BF-98B5A8DFF0E2}"/>
                  </a:ext>
                </a:extLst>
              </p:cNvPr>
              <p:cNvSpPr/>
              <p:nvPr/>
            </p:nvSpPr>
            <p:spPr>
              <a:xfrm>
                <a:off x="621792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𝐶𝑂𝑉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 35">
                <a:extLst>
                  <a:ext uri="{FF2B5EF4-FFF2-40B4-BE49-F238E27FC236}">
                    <a16:creationId xmlns:a16="http://schemas.microsoft.com/office/drawing/2014/main" id="{4EDA2AD3-0727-2C1D-F3BF-98B5A8DFF0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2660244"/>
                <a:ext cx="2011680" cy="502920"/>
              </a:xfrm>
              <a:prstGeom prst="rect">
                <a:avLst/>
              </a:prstGeom>
              <a:blipFill>
                <a:blip r:embed="rId10"/>
                <a:stretch>
                  <a:fillRect t="-2168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Shape 36">
            <a:extLst>
              <a:ext uri="{FF2B5EF4-FFF2-40B4-BE49-F238E27FC236}">
                <a16:creationId xmlns:a16="http://schemas.microsoft.com/office/drawing/2014/main" id="{74C1F190-381D-A462-9BBE-89DE20537883}"/>
              </a:ext>
            </a:extLst>
          </p:cNvPr>
          <p:cNvSpPr/>
          <p:nvPr/>
        </p:nvSpPr>
        <p:spPr>
          <a:xfrm>
            <a:off x="8092440" y="2011020"/>
            <a:ext cx="9144" cy="1225296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491D2DBC-86C1-9438-AF08-0D33FA04499D}"/>
              </a:ext>
            </a:extLst>
          </p:cNvPr>
          <p:cNvSpPr/>
          <p:nvPr/>
        </p:nvSpPr>
        <p:spPr>
          <a:xfrm flipV="1">
            <a:off x="8092440" y="3894684"/>
            <a:ext cx="9144" cy="116128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E55215FF-8F00-70FE-0153-A0F5F4050FF0}"/>
              </a:ext>
            </a:extLst>
          </p:cNvPr>
          <p:cNvSpPr/>
          <p:nvPr/>
        </p:nvSpPr>
        <p:spPr>
          <a:xfrm>
            <a:off x="411480" y="135265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FABCF1E-E3F5-0906-8F4A-7483D23AA9B9}"/>
              </a:ext>
            </a:extLst>
          </p:cNvPr>
          <p:cNvSpPr/>
          <p:nvPr/>
        </p:nvSpPr>
        <p:spPr>
          <a:xfrm>
            <a:off x="411480" y="135265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A9AAF462-B397-F047-A4A5-02BC15D45985}"/>
              </a:ext>
            </a:extLst>
          </p:cNvPr>
          <p:cNvSpPr/>
          <p:nvPr/>
        </p:nvSpPr>
        <p:spPr>
          <a:xfrm>
            <a:off x="1280160" y="135265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EA74F824-D956-077F-7AB6-54EB348BBF1F}"/>
              </a:ext>
            </a:extLst>
          </p:cNvPr>
          <p:cNvSpPr/>
          <p:nvPr/>
        </p:nvSpPr>
        <p:spPr>
          <a:xfrm>
            <a:off x="1280160" y="135265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C961B745-22A1-0240-F70E-4F4DD07506EA}"/>
              </a:ext>
            </a:extLst>
          </p:cNvPr>
          <p:cNvSpPr/>
          <p:nvPr/>
        </p:nvSpPr>
        <p:spPr>
          <a:xfrm>
            <a:off x="2697480" y="135265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B6444628-C328-2874-7AF7-C6686FA82FCD}"/>
              </a:ext>
            </a:extLst>
          </p:cNvPr>
          <p:cNvSpPr/>
          <p:nvPr/>
        </p:nvSpPr>
        <p:spPr>
          <a:xfrm>
            <a:off x="2697480" y="135265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464AF602-2F15-E586-CB35-2331D469F867}"/>
              </a:ext>
            </a:extLst>
          </p:cNvPr>
          <p:cNvSpPr/>
          <p:nvPr/>
        </p:nvSpPr>
        <p:spPr>
          <a:xfrm>
            <a:off x="4251960" y="135265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3E6BC77A-CCE7-B29D-93B0-8883D5E69E51}"/>
              </a:ext>
            </a:extLst>
          </p:cNvPr>
          <p:cNvSpPr/>
          <p:nvPr/>
        </p:nvSpPr>
        <p:spPr>
          <a:xfrm>
            <a:off x="4251960" y="135265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2272B69D-0E48-C777-1961-B5C20178CDBC}"/>
              </a:ext>
            </a:extLst>
          </p:cNvPr>
          <p:cNvSpPr/>
          <p:nvPr/>
        </p:nvSpPr>
        <p:spPr>
          <a:xfrm>
            <a:off x="5897880" y="135265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20F72210-44E0-5167-0A22-059DD62027B6}"/>
              </a:ext>
            </a:extLst>
          </p:cNvPr>
          <p:cNvSpPr/>
          <p:nvPr/>
        </p:nvSpPr>
        <p:spPr>
          <a:xfrm>
            <a:off x="5897880" y="135265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DE3354A6-4E37-1550-672E-AA56E407670E}"/>
              </a:ext>
            </a:extLst>
          </p:cNvPr>
          <p:cNvSpPr/>
          <p:nvPr/>
        </p:nvSpPr>
        <p:spPr>
          <a:xfrm>
            <a:off x="7360920" y="135265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5A974030-247B-943E-C87F-C1ADFBF9EE57}"/>
              </a:ext>
            </a:extLst>
          </p:cNvPr>
          <p:cNvSpPr/>
          <p:nvPr/>
        </p:nvSpPr>
        <p:spPr>
          <a:xfrm>
            <a:off x="7360920" y="135265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(SDₓ)</a:t>
            </a:r>
            <a:endParaRPr lang="en-US" sz="105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C633A6E8-1B13-CC1C-10F3-29B2AB1D9F45}"/>
              </a:ext>
            </a:extLst>
          </p:cNvPr>
          <p:cNvSpPr/>
          <p:nvPr/>
        </p:nvSpPr>
        <p:spPr>
          <a:xfrm>
            <a:off x="411480" y="505597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ACC8013D-75CE-7613-9364-9FE020CB323E}"/>
              </a:ext>
            </a:extLst>
          </p:cNvPr>
          <p:cNvSpPr/>
          <p:nvPr/>
        </p:nvSpPr>
        <p:spPr>
          <a:xfrm>
            <a:off x="411480" y="505597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41ACBF38-4586-2CBC-0266-F452A8356485}"/>
              </a:ext>
            </a:extLst>
          </p:cNvPr>
          <p:cNvSpPr/>
          <p:nvPr/>
        </p:nvSpPr>
        <p:spPr>
          <a:xfrm>
            <a:off x="1280160" y="505597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488C41AC-050B-0906-FA0D-1CCD62B65655}"/>
              </a:ext>
            </a:extLst>
          </p:cNvPr>
          <p:cNvSpPr/>
          <p:nvPr/>
        </p:nvSpPr>
        <p:spPr>
          <a:xfrm>
            <a:off x="1280160" y="505597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DDB53AB0-86CF-DC87-28C2-D86650BB994C}"/>
              </a:ext>
            </a:extLst>
          </p:cNvPr>
          <p:cNvSpPr/>
          <p:nvPr/>
        </p:nvSpPr>
        <p:spPr>
          <a:xfrm>
            <a:off x="2697480" y="505597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B704D218-88D8-D77B-CBB8-C3C5F81C8EF8}"/>
              </a:ext>
            </a:extLst>
          </p:cNvPr>
          <p:cNvSpPr/>
          <p:nvPr/>
        </p:nvSpPr>
        <p:spPr>
          <a:xfrm>
            <a:off x="2697480" y="505597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6B10DB04-FAC2-AEA9-9192-3596B6E03E93}"/>
              </a:ext>
            </a:extLst>
          </p:cNvPr>
          <p:cNvSpPr/>
          <p:nvPr/>
        </p:nvSpPr>
        <p:spPr>
          <a:xfrm>
            <a:off x="4251960" y="505597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EF984DF3-939D-8B65-65C2-0C5F91386BFC}"/>
              </a:ext>
            </a:extLst>
          </p:cNvPr>
          <p:cNvSpPr/>
          <p:nvPr/>
        </p:nvSpPr>
        <p:spPr>
          <a:xfrm>
            <a:off x="4251960" y="505597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A1BDE3B0-171A-F580-254F-076ECC750CA4}"/>
              </a:ext>
            </a:extLst>
          </p:cNvPr>
          <p:cNvSpPr/>
          <p:nvPr/>
        </p:nvSpPr>
        <p:spPr>
          <a:xfrm>
            <a:off x="5897880" y="505597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B96D0C34-329C-36D1-49F8-01B420713FDC}"/>
              </a:ext>
            </a:extLst>
          </p:cNvPr>
          <p:cNvSpPr/>
          <p:nvPr/>
        </p:nvSpPr>
        <p:spPr>
          <a:xfrm>
            <a:off x="5897880" y="505597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70516237-7778-0EFC-36A1-FE11528AAA63}"/>
              </a:ext>
            </a:extLst>
          </p:cNvPr>
          <p:cNvSpPr/>
          <p:nvPr/>
        </p:nvSpPr>
        <p:spPr>
          <a:xfrm>
            <a:off x="7360920" y="505597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54EDBDA9-E044-D088-DE3F-A45D234D87D1}"/>
              </a:ext>
            </a:extLst>
          </p:cNvPr>
          <p:cNvSpPr/>
          <p:nvPr/>
        </p:nvSpPr>
        <p:spPr>
          <a:xfrm>
            <a:off x="7360920" y="505597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(SDᵧ)</a:t>
            </a:r>
            <a:endParaRPr lang="en-US" sz="105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2AFF18BA-BAD3-40DD-2617-497CD37FA12E}"/>
              </a:ext>
            </a:extLst>
          </p:cNvPr>
          <p:cNvSpPr/>
          <p:nvPr/>
        </p:nvSpPr>
        <p:spPr>
          <a:xfrm>
            <a:off x="2331720" y="3236316"/>
            <a:ext cx="155448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903D185E-6684-71F5-5581-7279ABD95ABF}"/>
              </a:ext>
            </a:extLst>
          </p:cNvPr>
          <p:cNvSpPr/>
          <p:nvPr/>
        </p:nvSpPr>
        <p:spPr>
          <a:xfrm>
            <a:off x="2331720" y="3236316"/>
            <a:ext cx="15544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05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ADCF5767-049C-8E80-5B80-9C390EB5A2C9}"/>
              </a:ext>
            </a:extLst>
          </p:cNvPr>
          <p:cNvSpPr/>
          <p:nvPr/>
        </p:nvSpPr>
        <p:spPr>
          <a:xfrm>
            <a:off x="4160520" y="3236316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D51DF36E-A73A-77C5-74AC-E5F9D8E34119}"/>
              </a:ext>
            </a:extLst>
          </p:cNvPr>
          <p:cNvSpPr/>
          <p:nvPr/>
        </p:nvSpPr>
        <p:spPr>
          <a:xfrm>
            <a:off x="4160520" y="3236316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Products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(SP)</a:t>
            </a:r>
            <a:endParaRPr lang="en-US" sz="105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F8C00DDE-F9C6-B67C-B76E-FFE8A26B6E60}"/>
              </a:ext>
            </a:extLst>
          </p:cNvPr>
          <p:cNvSpPr/>
          <p:nvPr/>
        </p:nvSpPr>
        <p:spPr>
          <a:xfrm>
            <a:off x="5806440" y="3236316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27BE4794-AEED-EAB4-2C11-6BFEB50D28F3}"/>
              </a:ext>
            </a:extLst>
          </p:cNvPr>
          <p:cNvSpPr/>
          <p:nvPr/>
        </p:nvSpPr>
        <p:spPr>
          <a:xfrm>
            <a:off x="5806440" y="3236316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(COV)</a:t>
            </a:r>
            <a:endParaRPr lang="en-US" sz="115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3D37126E-207E-FC3C-D793-4A648CB234CC}"/>
              </a:ext>
            </a:extLst>
          </p:cNvPr>
          <p:cNvSpPr/>
          <p:nvPr/>
        </p:nvSpPr>
        <p:spPr>
          <a:xfrm>
            <a:off x="7360920" y="3236316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7D1F2D00-6376-5BD4-B219-E2E94C8C8179}"/>
              </a:ext>
            </a:extLst>
          </p:cNvPr>
          <p:cNvSpPr/>
          <p:nvPr/>
        </p:nvSpPr>
        <p:spPr>
          <a:xfrm>
            <a:off x="7360920" y="3357782"/>
            <a:ext cx="1463040" cy="415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50" dirty="0">
              <a:solidFill>
                <a:srgbClr val="1B3A4B"/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(r)</a:t>
            </a:r>
            <a:endParaRPr lang="en-US" sz="1150" dirty="0">
              <a:solidFill>
                <a:srgbClr val="1B3A4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 8">
                <a:extLst>
                  <a:ext uri="{FF2B5EF4-FFF2-40B4-BE49-F238E27FC236}">
                    <a16:creationId xmlns:a16="http://schemas.microsoft.com/office/drawing/2014/main" id="{B7BD02AC-643A-778E-604E-B6CE82279129}"/>
                  </a:ext>
                </a:extLst>
              </p:cNvPr>
              <p:cNvSpPr/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4" name="Text 8">
                <a:extLst>
                  <a:ext uri="{FF2B5EF4-FFF2-40B4-BE49-F238E27FC236}">
                    <a16:creationId xmlns:a16="http://schemas.microsoft.com/office/drawing/2014/main" id="{B7BD02AC-643A-778E-604E-B6CE822791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blipFill>
                <a:blip r:embed="rId11"/>
                <a:stretch>
                  <a:fillRect l="-2424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 8">
                <a:extLst>
                  <a:ext uri="{FF2B5EF4-FFF2-40B4-BE49-F238E27FC236}">
                    <a16:creationId xmlns:a16="http://schemas.microsoft.com/office/drawing/2014/main" id="{7FDC5900-807D-F378-2B05-67492B536082}"/>
                  </a:ext>
                </a:extLst>
              </p:cNvPr>
              <p:cNvSpPr/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6" name="Text 8">
                <a:extLst>
                  <a:ext uri="{FF2B5EF4-FFF2-40B4-BE49-F238E27FC236}">
                    <a16:creationId xmlns:a16="http://schemas.microsoft.com/office/drawing/2014/main" id="{7FDC5900-807D-F378-2B05-67492B5360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blipFill>
                <a:blip r:embed="rId12"/>
                <a:stretch>
                  <a:fillRect l="-2424" t="-114634" b="-16219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 29">
                <a:extLst>
                  <a:ext uri="{FF2B5EF4-FFF2-40B4-BE49-F238E27FC236}">
                    <a16:creationId xmlns:a16="http://schemas.microsoft.com/office/drawing/2014/main" id="{DFC16C21-1E03-CCE0-65D2-9FD710B8AF1C}"/>
                  </a:ext>
                </a:extLst>
              </p:cNvPr>
              <p:cNvSpPr/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 29">
                <a:extLst>
                  <a:ext uri="{FF2B5EF4-FFF2-40B4-BE49-F238E27FC236}">
                    <a16:creationId xmlns:a16="http://schemas.microsoft.com/office/drawing/2014/main" id="{DFC16C21-1E03-CCE0-65D2-9FD710B8AF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blipFill>
                <a:blip r:embed="rId13"/>
                <a:stretch>
                  <a:fillRect b="-79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 6">
                <a:extLst>
                  <a:ext uri="{FF2B5EF4-FFF2-40B4-BE49-F238E27FC236}">
                    <a16:creationId xmlns:a16="http://schemas.microsoft.com/office/drawing/2014/main" id="{CB4FB991-4CFC-7A54-C8C0-2B862FD76322}"/>
                  </a:ext>
                </a:extLst>
              </p:cNvPr>
              <p:cNvSpPr/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0" name="Text 6">
                <a:extLst>
                  <a:ext uri="{FF2B5EF4-FFF2-40B4-BE49-F238E27FC236}">
                    <a16:creationId xmlns:a16="http://schemas.microsoft.com/office/drawing/2014/main" id="{CB4FB991-4CFC-7A54-C8C0-2B862FD763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 6">
                <a:extLst>
                  <a:ext uri="{FF2B5EF4-FFF2-40B4-BE49-F238E27FC236}">
                    <a16:creationId xmlns:a16="http://schemas.microsoft.com/office/drawing/2014/main" id="{0775210A-B1BD-A033-35CC-DC5AF6206B19}"/>
                  </a:ext>
                </a:extLst>
              </p:cNvPr>
              <p:cNvSpPr/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2" name="Text 6">
                <a:extLst>
                  <a:ext uri="{FF2B5EF4-FFF2-40B4-BE49-F238E27FC236}">
                    <a16:creationId xmlns:a16="http://schemas.microsoft.com/office/drawing/2014/main" id="{0775210A-B1BD-A033-35CC-DC5AF6206B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 31">
                <a:extLst>
                  <a:ext uri="{FF2B5EF4-FFF2-40B4-BE49-F238E27FC236}">
                    <a16:creationId xmlns:a16="http://schemas.microsoft.com/office/drawing/2014/main" id="{F4F3E142-07F3-8577-790A-7F952807D27F}"/>
                  </a:ext>
                </a:extLst>
              </p:cNvPr>
              <p:cNvSpPr/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𝑃𝑟𝑜𝑑𝑢𝑐𝑡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84" name="Text 31">
                <a:extLst>
                  <a:ext uri="{FF2B5EF4-FFF2-40B4-BE49-F238E27FC236}">
                    <a16:creationId xmlns:a16="http://schemas.microsoft.com/office/drawing/2014/main" id="{F4F3E142-07F3-8577-790A-7F952807D2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blipFill>
                <a:blip r:embed="rId16"/>
                <a:stretch>
                  <a:fillRect l="-3636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hape 38">
            <a:extLst>
              <a:ext uri="{FF2B5EF4-FFF2-40B4-BE49-F238E27FC236}">
                <a16:creationId xmlns:a16="http://schemas.microsoft.com/office/drawing/2014/main" id="{7C2AC06E-CEE1-A6C7-FDBF-3FAEA7F1979B}"/>
              </a:ext>
            </a:extLst>
          </p:cNvPr>
          <p:cNvSpPr/>
          <p:nvPr/>
        </p:nvSpPr>
        <p:spPr>
          <a:xfrm>
            <a:off x="8823960" y="3590171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2">
            <a:extLst>
              <a:ext uri="{FF2B5EF4-FFF2-40B4-BE49-F238E27FC236}">
                <a16:creationId xmlns:a16="http://schemas.microsoft.com/office/drawing/2014/main" id="{EA14648C-B0D9-276E-FF0D-ACE11F4D5A12}"/>
              </a:ext>
            </a:extLst>
          </p:cNvPr>
          <p:cNvSpPr/>
          <p:nvPr/>
        </p:nvSpPr>
        <p:spPr>
          <a:xfrm>
            <a:off x="9107424" y="3236316"/>
            <a:ext cx="123444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8575">
            <a:solidFill>
              <a:srgbClr val="B85F0F"/>
            </a:solidFill>
            <a:prstDash val="solid"/>
          </a:ln>
          <a:effectLst>
            <a:outerShdw blurRad="76200" dist="25400" dir="5400000" algn="ctr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8" name="Text 83">
            <a:extLst>
              <a:ext uri="{FF2B5EF4-FFF2-40B4-BE49-F238E27FC236}">
                <a16:creationId xmlns:a16="http://schemas.microsoft.com/office/drawing/2014/main" id="{D9EEC30F-1929-B6C3-78C2-0EEA0F0BB822}"/>
              </a:ext>
            </a:extLst>
          </p:cNvPr>
          <p:cNvSpPr/>
          <p:nvPr/>
        </p:nvSpPr>
        <p:spPr>
          <a:xfrm>
            <a:off x="9107424" y="3357782"/>
            <a:ext cx="1234440" cy="415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endParaRPr lang="en-US" sz="1150" dirty="0">
              <a:solidFill>
                <a:schemeClr val="bg1"/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(bᵧ, bₓ)</a:t>
            </a:r>
            <a:endParaRPr lang="en-US" sz="115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 39">
                <a:extLst>
                  <a:ext uri="{FF2B5EF4-FFF2-40B4-BE49-F238E27FC236}">
                    <a16:creationId xmlns:a16="http://schemas.microsoft.com/office/drawing/2014/main" id="{B57CCEBC-6E70-4E0A-92CF-98E17486764A}"/>
                  </a:ext>
                </a:extLst>
              </p:cNvPr>
              <p:cNvSpPr/>
              <p:nvPr/>
            </p:nvSpPr>
            <p:spPr>
              <a:xfrm>
                <a:off x="7818120" y="2364932"/>
                <a:ext cx="2011680" cy="685800"/>
              </a:xfrm>
              <a:prstGeom prst="rect">
                <a:avLst/>
              </a:prstGeom>
              <a:noFill/>
              <a:ln/>
            </p:spPr>
            <p:txBody>
              <a:bodyPr wrap="non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×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" name="Text 39">
                <a:extLst>
                  <a:ext uri="{FF2B5EF4-FFF2-40B4-BE49-F238E27FC236}">
                    <a16:creationId xmlns:a16="http://schemas.microsoft.com/office/drawing/2014/main" id="{B57CCEBC-6E70-4E0A-92CF-98E1748676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120" y="2364932"/>
                <a:ext cx="2011680" cy="685800"/>
              </a:xfrm>
              <a:prstGeom prst="rect">
                <a:avLst/>
              </a:prstGeom>
              <a:blipFill>
                <a:blip r:embed="rId17"/>
                <a:stretch>
                  <a:fillRect b="-446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 39">
                <a:extLst>
                  <a:ext uri="{FF2B5EF4-FFF2-40B4-BE49-F238E27FC236}">
                    <a16:creationId xmlns:a16="http://schemas.microsoft.com/office/drawing/2014/main" id="{66197E20-A8FB-7C26-A843-E67B93BB2C81}"/>
                  </a:ext>
                </a:extLst>
              </p:cNvPr>
              <p:cNvSpPr/>
              <p:nvPr/>
            </p:nvSpPr>
            <p:spPr>
              <a:xfrm>
                <a:off x="7863840" y="3905639"/>
                <a:ext cx="2011680" cy="685800"/>
              </a:xfrm>
              <a:prstGeom prst="rect">
                <a:avLst/>
              </a:prstGeom>
              <a:noFill/>
              <a:ln/>
            </p:spPr>
            <p:txBody>
              <a:bodyPr wrap="non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×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4" name="Text 39">
                <a:extLst>
                  <a:ext uri="{FF2B5EF4-FFF2-40B4-BE49-F238E27FC236}">
                    <a16:creationId xmlns:a16="http://schemas.microsoft.com/office/drawing/2014/main" id="{66197E20-A8FB-7C26-A843-E67B93BB2C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840" y="3905639"/>
                <a:ext cx="2011680" cy="685800"/>
              </a:xfrm>
              <a:prstGeom prst="rect">
                <a:avLst/>
              </a:prstGeom>
              <a:blipFill>
                <a:blip r:embed="rId18"/>
                <a:stretch>
                  <a:fillRect b="-625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761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6" grpId="0" animBg="1"/>
      <p:bldP spid="88" grpId="0" animBg="1"/>
      <p:bldP spid="102" grpId="0" animBg="1"/>
      <p:bldP spid="10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9F382-23DE-8607-3F91-B98603AC6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9AFD436F-F748-2615-1DAF-8A75D12BC070}"/>
              </a:ext>
            </a:extLst>
          </p:cNvPr>
          <p:cNvSpPr/>
          <p:nvPr/>
        </p:nvSpPr>
        <p:spPr>
          <a:xfrm>
            <a:off x="10058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9E9EBF17-C9C1-F7E7-34EB-E9BE50495DF1}"/>
                  </a:ext>
                </a:extLst>
              </p:cNvPr>
              <p:cNvSpPr/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9E9EBF17-C9C1-F7E7-34EB-E9BE50495D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>
            <a:extLst>
              <a:ext uri="{FF2B5EF4-FFF2-40B4-BE49-F238E27FC236}">
                <a16:creationId xmlns:a16="http://schemas.microsoft.com/office/drawing/2014/main" id="{D574BF6E-ED98-2D63-00AC-E26D157F8CCD}"/>
              </a:ext>
            </a:extLst>
          </p:cNvPr>
          <p:cNvSpPr/>
          <p:nvPr/>
        </p:nvSpPr>
        <p:spPr>
          <a:xfrm>
            <a:off x="24231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C4E9E9F-CB5D-54CE-BEAD-28229D5A1CB2}"/>
              </a:ext>
            </a:extLst>
          </p:cNvPr>
          <p:cNvSpPr/>
          <p:nvPr/>
        </p:nvSpPr>
        <p:spPr>
          <a:xfrm>
            <a:off x="39776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1CC384B-B3FC-C3DA-F28C-41FC11AB0C53}"/>
              </a:ext>
            </a:extLst>
          </p:cNvPr>
          <p:cNvSpPr/>
          <p:nvPr/>
        </p:nvSpPr>
        <p:spPr>
          <a:xfrm>
            <a:off x="56235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AE38A016-CE1E-AB97-7434-128377B16EFB}"/>
                  </a:ext>
                </a:extLst>
              </p:cNvPr>
              <p:cNvSpPr/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AE38A016-CE1E-AB97-7434-128377B16E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>
            <a:extLst>
              <a:ext uri="{FF2B5EF4-FFF2-40B4-BE49-F238E27FC236}">
                <a16:creationId xmlns:a16="http://schemas.microsoft.com/office/drawing/2014/main" id="{AE4E1933-E346-4475-8D6A-D2917D21087A}"/>
              </a:ext>
            </a:extLst>
          </p:cNvPr>
          <p:cNvSpPr/>
          <p:nvPr/>
        </p:nvSpPr>
        <p:spPr>
          <a:xfrm>
            <a:off x="708660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F493F8EE-DD92-0016-6B93-1A5CA440C5A3}"/>
                  </a:ext>
                </a:extLst>
              </p:cNvPr>
              <p:cNvSpPr/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F493F8EE-DD92-0016-6B93-1A5CA440C5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>
            <a:extLst>
              <a:ext uri="{FF2B5EF4-FFF2-40B4-BE49-F238E27FC236}">
                <a16:creationId xmlns:a16="http://schemas.microsoft.com/office/drawing/2014/main" id="{75501C6B-9449-AB45-B7A1-F8479AB93021}"/>
              </a:ext>
            </a:extLst>
          </p:cNvPr>
          <p:cNvSpPr/>
          <p:nvPr/>
        </p:nvSpPr>
        <p:spPr>
          <a:xfrm>
            <a:off x="10058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4B22F492-B542-EB91-0AC1-69450F289093}"/>
                  </a:ext>
                </a:extLst>
              </p:cNvPr>
              <p:cNvSpPr/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4B22F492-B542-EB91-0AC1-69450F289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b="-48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>
            <a:extLst>
              <a:ext uri="{FF2B5EF4-FFF2-40B4-BE49-F238E27FC236}">
                <a16:creationId xmlns:a16="http://schemas.microsoft.com/office/drawing/2014/main" id="{FC76C0F9-F3F8-2D11-F5DF-69582B0F9EE7}"/>
              </a:ext>
            </a:extLst>
          </p:cNvPr>
          <p:cNvSpPr/>
          <p:nvPr/>
        </p:nvSpPr>
        <p:spPr>
          <a:xfrm>
            <a:off x="24231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8036934-02CE-E075-510E-EB9C5B7B13BB}"/>
              </a:ext>
            </a:extLst>
          </p:cNvPr>
          <p:cNvSpPr/>
          <p:nvPr/>
        </p:nvSpPr>
        <p:spPr>
          <a:xfrm>
            <a:off x="39776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A3578AE-8536-3C9E-C218-79D714396E73}"/>
              </a:ext>
            </a:extLst>
          </p:cNvPr>
          <p:cNvSpPr/>
          <p:nvPr/>
        </p:nvSpPr>
        <p:spPr>
          <a:xfrm>
            <a:off x="56235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62D0A6E0-4841-9A5D-FFAB-FC0EEE301AC5}"/>
                  </a:ext>
                </a:extLst>
              </p:cNvPr>
              <p:cNvSpPr/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62D0A6E0-4841-9A5D-FFAB-FC0EEE301A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>
            <a:extLst>
              <a:ext uri="{FF2B5EF4-FFF2-40B4-BE49-F238E27FC236}">
                <a16:creationId xmlns:a16="http://schemas.microsoft.com/office/drawing/2014/main" id="{0D2AC7CF-9219-BB8A-E6D0-284B42213EBC}"/>
              </a:ext>
            </a:extLst>
          </p:cNvPr>
          <p:cNvSpPr/>
          <p:nvPr/>
        </p:nvSpPr>
        <p:spPr>
          <a:xfrm>
            <a:off x="708660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929B613F-D5C9-E453-9B0E-8175402925FA}"/>
                  </a:ext>
                </a:extLst>
              </p:cNvPr>
              <p:cNvSpPr/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929B613F-D5C9-E453-9B0E-8175402925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>
            <a:extLst>
              <a:ext uri="{FF2B5EF4-FFF2-40B4-BE49-F238E27FC236}">
                <a16:creationId xmlns:a16="http://schemas.microsoft.com/office/drawing/2014/main" id="{0C9CE226-5B71-A8ED-0934-FF5FA76E31F4}"/>
              </a:ext>
            </a:extLst>
          </p:cNvPr>
          <p:cNvSpPr/>
          <p:nvPr/>
        </p:nvSpPr>
        <p:spPr>
          <a:xfrm>
            <a:off x="1851660" y="2011020"/>
            <a:ext cx="9144" cy="55778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42CE3E3-8D54-F3B7-2C7F-1658A7187FB1}"/>
              </a:ext>
            </a:extLst>
          </p:cNvPr>
          <p:cNvSpPr/>
          <p:nvPr/>
        </p:nvSpPr>
        <p:spPr>
          <a:xfrm>
            <a:off x="1851660" y="25688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DD541E6-51A7-68A0-5442-D9447035EB82}"/>
              </a:ext>
            </a:extLst>
          </p:cNvPr>
          <p:cNvSpPr/>
          <p:nvPr/>
        </p:nvSpPr>
        <p:spPr>
          <a:xfrm>
            <a:off x="3108960" y="2568804"/>
            <a:ext cx="9144" cy="667512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954F435-C867-554E-325A-0F7A0FE96C37}"/>
              </a:ext>
            </a:extLst>
          </p:cNvPr>
          <p:cNvSpPr/>
          <p:nvPr/>
        </p:nvSpPr>
        <p:spPr>
          <a:xfrm flipV="1">
            <a:off x="1851660" y="4397604"/>
            <a:ext cx="9144" cy="65836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CAF6000-EC83-F896-6910-3CA88078F645}"/>
              </a:ext>
            </a:extLst>
          </p:cNvPr>
          <p:cNvSpPr/>
          <p:nvPr/>
        </p:nvSpPr>
        <p:spPr>
          <a:xfrm>
            <a:off x="1851660" y="43976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F8242BB-861C-8057-6CAB-B5A3ACDF1B46}"/>
              </a:ext>
            </a:extLst>
          </p:cNvPr>
          <p:cNvSpPr/>
          <p:nvPr/>
        </p:nvSpPr>
        <p:spPr>
          <a:xfrm flipV="1">
            <a:off x="3108960" y="3894684"/>
            <a:ext cx="9144" cy="50292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A7CF239-6389-4E76-557C-99EE4F98FA1C}"/>
              </a:ext>
            </a:extLst>
          </p:cNvPr>
          <p:cNvSpPr/>
          <p:nvPr/>
        </p:nvSpPr>
        <p:spPr>
          <a:xfrm>
            <a:off x="388620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090604E-8D63-3452-0E29-35441F84CBB1}"/>
              </a:ext>
            </a:extLst>
          </p:cNvPr>
          <p:cNvSpPr/>
          <p:nvPr/>
        </p:nvSpPr>
        <p:spPr>
          <a:xfrm>
            <a:off x="553212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6CB09D70-27F4-0573-1937-542AD21ED52E}"/>
                  </a:ext>
                </a:extLst>
              </p:cNvPr>
              <p:cNvSpPr/>
              <p:nvPr/>
            </p:nvSpPr>
            <p:spPr>
              <a:xfrm>
                <a:off x="466344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6CB09D70-27F4-0573-1937-542AD21ED5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2660244"/>
                <a:ext cx="2011680" cy="502920"/>
              </a:xfrm>
              <a:prstGeom prst="rect">
                <a:avLst/>
              </a:prstGeom>
              <a:blipFill>
                <a:blip r:embed="rId9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Shape 34">
            <a:extLst>
              <a:ext uri="{FF2B5EF4-FFF2-40B4-BE49-F238E27FC236}">
                <a16:creationId xmlns:a16="http://schemas.microsoft.com/office/drawing/2014/main" id="{F6C419CB-2713-E1C5-20E3-CCACAB382CA5}"/>
              </a:ext>
            </a:extLst>
          </p:cNvPr>
          <p:cNvSpPr/>
          <p:nvPr/>
        </p:nvSpPr>
        <p:spPr>
          <a:xfrm>
            <a:off x="708660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35">
                <a:extLst>
                  <a:ext uri="{FF2B5EF4-FFF2-40B4-BE49-F238E27FC236}">
                    <a16:creationId xmlns:a16="http://schemas.microsoft.com/office/drawing/2014/main" id="{1C1BE325-77AE-6E6B-B697-71F2680A0F73}"/>
                  </a:ext>
                </a:extLst>
              </p:cNvPr>
              <p:cNvSpPr/>
              <p:nvPr/>
            </p:nvSpPr>
            <p:spPr>
              <a:xfrm>
                <a:off x="621792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𝐶𝑂𝑉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 35">
                <a:extLst>
                  <a:ext uri="{FF2B5EF4-FFF2-40B4-BE49-F238E27FC236}">
                    <a16:creationId xmlns:a16="http://schemas.microsoft.com/office/drawing/2014/main" id="{1C1BE325-77AE-6E6B-B697-71F2680A0F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2660244"/>
                <a:ext cx="2011680" cy="502920"/>
              </a:xfrm>
              <a:prstGeom prst="rect">
                <a:avLst/>
              </a:prstGeom>
              <a:blipFill>
                <a:blip r:embed="rId10"/>
                <a:stretch>
                  <a:fillRect t="-2168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Shape 36">
            <a:extLst>
              <a:ext uri="{FF2B5EF4-FFF2-40B4-BE49-F238E27FC236}">
                <a16:creationId xmlns:a16="http://schemas.microsoft.com/office/drawing/2014/main" id="{81CB3404-223D-C454-1BCA-5A1E02148B59}"/>
              </a:ext>
            </a:extLst>
          </p:cNvPr>
          <p:cNvSpPr/>
          <p:nvPr/>
        </p:nvSpPr>
        <p:spPr>
          <a:xfrm>
            <a:off x="8092440" y="2011020"/>
            <a:ext cx="9144" cy="1225296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7BB75184-B9DD-1AAF-A960-F061D19D58AF}"/>
              </a:ext>
            </a:extLst>
          </p:cNvPr>
          <p:cNvSpPr/>
          <p:nvPr/>
        </p:nvSpPr>
        <p:spPr>
          <a:xfrm flipV="1">
            <a:off x="8092440" y="3894684"/>
            <a:ext cx="9144" cy="116128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E9B7E81-A399-8559-8E78-9382787FB41D}"/>
              </a:ext>
            </a:extLst>
          </p:cNvPr>
          <p:cNvSpPr/>
          <p:nvPr/>
        </p:nvSpPr>
        <p:spPr>
          <a:xfrm>
            <a:off x="411480" y="135265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DDD04A5D-28CE-F851-0BA8-F045C53FA11C}"/>
              </a:ext>
            </a:extLst>
          </p:cNvPr>
          <p:cNvSpPr/>
          <p:nvPr/>
        </p:nvSpPr>
        <p:spPr>
          <a:xfrm>
            <a:off x="411480" y="135265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C2199895-2ED9-EBA4-521A-7A84EEC176E5}"/>
              </a:ext>
            </a:extLst>
          </p:cNvPr>
          <p:cNvSpPr/>
          <p:nvPr/>
        </p:nvSpPr>
        <p:spPr>
          <a:xfrm>
            <a:off x="1280160" y="135265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207DD030-9AD8-0578-BF89-073F7F15BBEC}"/>
              </a:ext>
            </a:extLst>
          </p:cNvPr>
          <p:cNvSpPr/>
          <p:nvPr/>
        </p:nvSpPr>
        <p:spPr>
          <a:xfrm>
            <a:off x="1280160" y="135265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F3B41306-B2D8-559D-98BE-FD193E8FD819}"/>
              </a:ext>
            </a:extLst>
          </p:cNvPr>
          <p:cNvSpPr/>
          <p:nvPr/>
        </p:nvSpPr>
        <p:spPr>
          <a:xfrm>
            <a:off x="2697480" y="135265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2746F95B-F2FF-A715-7D1F-139F4444E38E}"/>
              </a:ext>
            </a:extLst>
          </p:cNvPr>
          <p:cNvSpPr/>
          <p:nvPr/>
        </p:nvSpPr>
        <p:spPr>
          <a:xfrm>
            <a:off x="2697480" y="135265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67F5651C-E6E0-9F87-6BF2-4E4531F628D8}"/>
              </a:ext>
            </a:extLst>
          </p:cNvPr>
          <p:cNvSpPr/>
          <p:nvPr/>
        </p:nvSpPr>
        <p:spPr>
          <a:xfrm>
            <a:off x="4251960" y="135265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C1E4E4CC-9E39-D30F-BFE3-958EB720E5D1}"/>
              </a:ext>
            </a:extLst>
          </p:cNvPr>
          <p:cNvSpPr/>
          <p:nvPr/>
        </p:nvSpPr>
        <p:spPr>
          <a:xfrm>
            <a:off x="4251960" y="135265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F305A0E8-D0A4-C6DA-1147-88CC30FA3AC6}"/>
              </a:ext>
            </a:extLst>
          </p:cNvPr>
          <p:cNvSpPr/>
          <p:nvPr/>
        </p:nvSpPr>
        <p:spPr>
          <a:xfrm>
            <a:off x="5897880" y="135265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29931868-DF73-8FD2-E19A-C58B8AAFD6E4}"/>
              </a:ext>
            </a:extLst>
          </p:cNvPr>
          <p:cNvSpPr/>
          <p:nvPr/>
        </p:nvSpPr>
        <p:spPr>
          <a:xfrm>
            <a:off x="5897880" y="135265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95C8C476-AEFD-2759-CE2F-DFF0A01DA65A}"/>
              </a:ext>
            </a:extLst>
          </p:cNvPr>
          <p:cNvSpPr/>
          <p:nvPr/>
        </p:nvSpPr>
        <p:spPr>
          <a:xfrm>
            <a:off x="7360920" y="135265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B5448612-1B47-BB7A-D728-8EAB3601C580}"/>
              </a:ext>
            </a:extLst>
          </p:cNvPr>
          <p:cNvSpPr/>
          <p:nvPr/>
        </p:nvSpPr>
        <p:spPr>
          <a:xfrm>
            <a:off x="7360920" y="135265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(SDₓ)</a:t>
            </a:r>
            <a:endParaRPr lang="en-US" sz="105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5BE19247-69C7-5CFB-9A07-FB818E7AFAD6}"/>
              </a:ext>
            </a:extLst>
          </p:cNvPr>
          <p:cNvSpPr/>
          <p:nvPr/>
        </p:nvSpPr>
        <p:spPr>
          <a:xfrm>
            <a:off x="411480" y="505597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1644762F-8FD1-AD55-1457-3EB119C5ACB0}"/>
              </a:ext>
            </a:extLst>
          </p:cNvPr>
          <p:cNvSpPr/>
          <p:nvPr/>
        </p:nvSpPr>
        <p:spPr>
          <a:xfrm>
            <a:off x="411480" y="505597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752EA1BB-D544-AEF7-AA12-885ED2AF6AF2}"/>
              </a:ext>
            </a:extLst>
          </p:cNvPr>
          <p:cNvSpPr/>
          <p:nvPr/>
        </p:nvSpPr>
        <p:spPr>
          <a:xfrm>
            <a:off x="1280160" y="505597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6E05127D-0DF7-2431-C79B-BF74DDBE179E}"/>
              </a:ext>
            </a:extLst>
          </p:cNvPr>
          <p:cNvSpPr/>
          <p:nvPr/>
        </p:nvSpPr>
        <p:spPr>
          <a:xfrm>
            <a:off x="1280160" y="505597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7B862083-72E3-1CDB-33AE-991C435E3161}"/>
              </a:ext>
            </a:extLst>
          </p:cNvPr>
          <p:cNvSpPr/>
          <p:nvPr/>
        </p:nvSpPr>
        <p:spPr>
          <a:xfrm>
            <a:off x="2697480" y="505597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93ACACD-5FFF-45F5-7D78-4095E76C3265}"/>
              </a:ext>
            </a:extLst>
          </p:cNvPr>
          <p:cNvSpPr/>
          <p:nvPr/>
        </p:nvSpPr>
        <p:spPr>
          <a:xfrm>
            <a:off x="2697480" y="505597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5979ECC9-8697-D3AB-094D-7E509121E274}"/>
              </a:ext>
            </a:extLst>
          </p:cNvPr>
          <p:cNvSpPr/>
          <p:nvPr/>
        </p:nvSpPr>
        <p:spPr>
          <a:xfrm>
            <a:off x="4251960" y="505597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FC6E827A-55AC-8865-EB88-73111ABADEAF}"/>
              </a:ext>
            </a:extLst>
          </p:cNvPr>
          <p:cNvSpPr/>
          <p:nvPr/>
        </p:nvSpPr>
        <p:spPr>
          <a:xfrm>
            <a:off x="4251960" y="505597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A30A5B02-9C06-49F3-3C7F-BC353C6E537E}"/>
              </a:ext>
            </a:extLst>
          </p:cNvPr>
          <p:cNvSpPr/>
          <p:nvPr/>
        </p:nvSpPr>
        <p:spPr>
          <a:xfrm>
            <a:off x="5897880" y="505597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B13EA3C3-E9A9-6D3B-84C7-0BBE70A2AB9E}"/>
              </a:ext>
            </a:extLst>
          </p:cNvPr>
          <p:cNvSpPr/>
          <p:nvPr/>
        </p:nvSpPr>
        <p:spPr>
          <a:xfrm>
            <a:off x="5897880" y="505597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7549F52A-19D7-3548-77E9-E2F2D0BAD971}"/>
              </a:ext>
            </a:extLst>
          </p:cNvPr>
          <p:cNvSpPr/>
          <p:nvPr/>
        </p:nvSpPr>
        <p:spPr>
          <a:xfrm>
            <a:off x="7360920" y="505597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2428C834-1CEB-33B4-87C1-93B8F1D58F1D}"/>
              </a:ext>
            </a:extLst>
          </p:cNvPr>
          <p:cNvSpPr/>
          <p:nvPr/>
        </p:nvSpPr>
        <p:spPr>
          <a:xfrm>
            <a:off x="7360920" y="505597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(SDᵧ)</a:t>
            </a:r>
            <a:endParaRPr lang="en-US" sz="105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33A6CEAB-566D-6FA2-147A-53D180B15147}"/>
              </a:ext>
            </a:extLst>
          </p:cNvPr>
          <p:cNvSpPr/>
          <p:nvPr/>
        </p:nvSpPr>
        <p:spPr>
          <a:xfrm>
            <a:off x="2331720" y="3236316"/>
            <a:ext cx="155448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5DBB8A84-F191-4CD3-5099-147704E5C70C}"/>
              </a:ext>
            </a:extLst>
          </p:cNvPr>
          <p:cNvSpPr/>
          <p:nvPr/>
        </p:nvSpPr>
        <p:spPr>
          <a:xfrm>
            <a:off x="2331720" y="3236316"/>
            <a:ext cx="15544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05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F84FD43A-0899-E30E-939B-51CEDD6D0353}"/>
              </a:ext>
            </a:extLst>
          </p:cNvPr>
          <p:cNvSpPr/>
          <p:nvPr/>
        </p:nvSpPr>
        <p:spPr>
          <a:xfrm>
            <a:off x="4160520" y="3236316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B8CF7393-2B6F-B357-2D77-56F346B7A779}"/>
              </a:ext>
            </a:extLst>
          </p:cNvPr>
          <p:cNvSpPr/>
          <p:nvPr/>
        </p:nvSpPr>
        <p:spPr>
          <a:xfrm>
            <a:off x="4160520" y="3236316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Products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(SP)</a:t>
            </a:r>
            <a:endParaRPr lang="en-US" sz="105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00D3EB2A-010B-0176-BE3F-DA14F9B1D1C3}"/>
              </a:ext>
            </a:extLst>
          </p:cNvPr>
          <p:cNvSpPr/>
          <p:nvPr/>
        </p:nvSpPr>
        <p:spPr>
          <a:xfrm>
            <a:off x="5806440" y="3236316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B761BF79-13AB-1576-5716-11B28E4B2F7F}"/>
              </a:ext>
            </a:extLst>
          </p:cNvPr>
          <p:cNvSpPr/>
          <p:nvPr/>
        </p:nvSpPr>
        <p:spPr>
          <a:xfrm>
            <a:off x="5806440" y="3236316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(COV)</a:t>
            </a:r>
            <a:endParaRPr lang="en-US" sz="115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9B8A0469-FAF9-EB5F-26EB-13F3B6A996A8}"/>
              </a:ext>
            </a:extLst>
          </p:cNvPr>
          <p:cNvSpPr/>
          <p:nvPr/>
        </p:nvSpPr>
        <p:spPr>
          <a:xfrm>
            <a:off x="7360920" y="3236316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0D8626E4-BDFB-E9E1-2CF6-D57BA80230A4}"/>
              </a:ext>
            </a:extLst>
          </p:cNvPr>
          <p:cNvSpPr/>
          <p:nvPr/>
        </p:nvSpPr>
        <p:spPr>
          <a:xfrm>
            <a:off x="7360920" y="3357782"/>
            <a:ext cx="1463040" cy="415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50" dirty="0">
              <a:solidFill>
                <a:srgbClr val="1B3A4B"/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(r)</a:t>
            </a:r>
            <a:endParaRPr lang="en-US" sz="1150" dirty="0">
              <a:solidFill>
                <a:srgbClr val="1B3A4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 8">
                <a:extLst>
                  <a:ext uri="{FF2B5EF4-FFF2-40B4-BE49-F238E27FC236}">
                    <a16:creationId xmlns:a16="http://schemas.microsoft.com/office/drawing/2014/main" id="{D372033E-8A7A-A183-CC86-DAE322975818}"/>
                  </a:ext>
                </a:extLst>
              </p:cNvPr>
              <p:cNvSpPr/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4" name="Text 8">
                <a:extLst>
                  <a:ext uri="{FF2B5EF4-FFF2-40B4-BE49-F238E27FC236}">
                    <a16:creationId xmlns:a16="http://schemas.microsoft.com/office/drawing/2014/main" id="{D372033E-8A7A-A183-CC86-DAE3229758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blipFill>
                <a:blip r:embed="rId11"/>
                <a:stretch>
                  <a:fillRect l="-2424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 8">
                <a:extLst>
                  <a:ext uri="{FF2B5EF4-FFF2-40B4-BE49-F238E27FC236}">
                    <a16:creationId xmlns:a16="http://schemas.microsoft.com/office/drawing/2014/main" id="{267BDFF0-BD6D-0ED7-F906-03C0CDC79BF7}"/>
                  </a:ext>
                </a:extLst>
              </p:cNvPr>
              <p:cNvSpPr/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6" name="Text 8">
                <a:extLst>
                  <a:ext uri="{FF2B5EF4-FFF2-40B4-BE49-F238E27FC236}">
                    <a16:creationId xmlns:a16="http://schemas.microsoft.com/office/drawing/2014/main" id="{267BDFF0-BD6D-0ED7-F906-03C0CDC79B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blipFill>
                <a:blip r:embed="rId12"/>
                <a:stretch>
                  <a:fillRect l="-2424" t="-114634" b="-16219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 29">
                <a:extLst>
                  <a:ext uri="{FF2B5EF4-FFF2-40B4-BE49-F238E27FC236}">
                    <a16:creationId xmlns:a16="http://schemas.microsoft.com/office/drawing/2014/main" id="{63E1B8DD-8E03-55A4-A995-273CCF4CFB1B}"/>
                  </a:ext>
                </a:extLst>
              </p:cNvPr>
              <p:cNvSpPr/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 29">
                <a:extLst>
                  <a:ext uri="{FF2B5EF4-FFF2-40B4-BE49-F238E27FC236}">
                    <a16:creationId xmlns:a16="http://schemas.microsoft.com/office/drawing/2014/main" id="{63E1B8DD-8E03-55A4-A995-273CCF4CFB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blipFill>
                <a:blip r:embed="rId13"/>
                <a:stretch>
                  <a:fillRect b="-79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 6">
                <a:extLst>
                  <a:ext uri="{FF2B5EF4-FFF2-40B4-BE49-F238E27FC236}">
                    <a16:creationId xmlns:a16="http://schemas.microsoft.com/office/drawing/2014/main" id="{7746F6B5-5D06-A79D-35B9-C902E4245AE1}"/>
                  </a:ext>
                </a:extLst>
              </p:cNvPr>
              <p:cNvSpPr/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0" name="Text 6">
                <a:extLst>
                  <a:ext uri="{FF2B5EF4-FFF2-40B4-BE49-F238E27FC236}">
                    <a16:creationId xmlns:a16="http://schemas.microsoft.com/office/drawing/2014/main" id="{7746F6B5-5D06-A79D-35B9-C902E4245A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 6">
                <a:extLst>
                  <a:ext uri="{FF2B5EF4-FFF2-40B4-BE49-F238E27FC236}">
                    <a16:creationId xmlns:a16="http://schemas.microsoft.com/office/drawing/2014/main" id="{0F705AF8-F2E5-C623-A6BC-B8722D37B0A4}"/>
                  </a:ext>
                </a:extLst>
              </p:cNvPr>
              <p:cNvSpPr/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2" name="Text 6">
                <a:extLst>
                  <a:ext uri="{FF2B5EF4-FFF2-40B4-BE49-F238E27FC236}">
                    <a16:creationId xmlns:a16="http://schemas.microsoft.com/office/drawing/2014/main" id="{0F705AF8-F2E5-C623-A6BC-B8722D37B0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 31">
                <a:extLst>
                  <a:ext uri="{FF2B5EF4-FFF2-40B4-BE49-F238E27FC236}">
                    <a16:creationId xmlns:a16="http://schemas.microsoft.com/office/drawing/2014/main" id="{24FB9383-333C-29E6-A0D0-22F6CAE1EFA3}"/>
                  </a:ext>
                </a:extLst>
              </p:cNvPr>
              <p:cNvSpPr/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𝑃𝑟𝑜𝑑𝑢𝑐𝑡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84" name="Text 31">
                <a:extLst>
                  <a:ext uri="{FF2B5EF4-FFF2-40B4-BE49-F238E27FC236}">
                    <a16:creationId xmlns:a16="http://schemas.microsoft.com/office/drawing/2014/main" id="{24FB9383-333C-29E6-A0D0-22F6CAE1EF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blipFill>
                <a:blip r:embed="rId16"/>
                <a:stretch>
                  <a:fillRect l="-3636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hape 38">
            <a:extLst>
              <a:ext uri="{FF2B5EF4-FFF2-40B4-BE49-F238E27FC236}">
                <a16:creationId xmlns:a16="http://schemas.microsoft.com/office/drawing/2014/main" id="{B0018D7E-49DA-33DA-C6E2-AA6E277150F9}"/>
              </a:ext>
            </a:extLst>
          </p:cNvPr>
          <p:cNvSpPr/>
          <p:nvPr/>
        </p:nvSpPr>
        <p:spPr>
          <a:xfrm>
            <a:off x="8823960" y="3590171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46">
            <a:extLst>
              <a:ext uri="{FF2B5EF4-FFF2-40B4-BE49-F238E27FC236}">
                <a16:creationId xmlns:a16="http://schemas.microsoft.com/office/drawing/2014/main" id="{055092B8-78E2-E0FB-32CD-AD7C0E32748F}"/>
              </a:ext>
            </a:extLst>
          </p:cNvPr>
          <p:cNvSpPr/>
          <p:nvPr/>
        </p:nvSpPr>
        <p:spPr>
          <a:xfrm>
            <a:off x="10332720" y="3590171"/>
            <a:ext cx="2286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2">
            <a:extLst>
              <a:ext uri="{FF2B5EF4-FFF2-40B4-BE49-F238E27FC236}">
                <a16:creationId xmlns:a16="http://schemas.microsoft.com/office/drawing/2014/main" id="{952F5BF1-7C9F-3BC6-F6E4-15121E203F4E}"/>
              </a:ext>
            </a:extLst>
          </p:cNvPr>
          <p:cNvSpPr/>
          <p:nvPr/>
        </p:nvSpPr>
        <p:spPr>
          <a:xfrm>
            <a:off x="9107424" y="3236316"/>
            <a:ext cx="12344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28575">
            <a:solidFill>
              <a:srgbClr val="2C5F7C"/>
            </a:solidFill>
            <a:prstDash val="solid"/>
          </a:ln>
          <a:effectLst>
            <a:outerShdw blurRad="76200" dist="25400" dir="5400000" algn="ctr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8" name="Text 83">
            <a:extLst>
              <a:ext uri="{FF2B5EF4-FFF2-40B4-BE49-F238E27FC236}">
                <a16:creationId xmlns:a16="http://schemas.microsoft.com/office/drawing/2014/main" id="{DE0C59EC-51C2-D6A9-55A2-CF008BEBD34D}"/>
              </a:ext>
            </a:extLst>
          </p:cNvPr>
          <p:cNvSpPr/>
          <p:nvPr/>
        </p:nvSpPr>
        <p:spPr>
          <a:xfrm>
            <a:off x="9107424" y="3236316"/>
            <a:ext cx="12344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(bᵧ, bₓ)</a:t>
            </a:r>
            <a:endParaRPr lang="en-US" sz="1150" dirty="0"/>
          </a:p>
        </p:txBody>
      </p:sp>
      <p:sp>
        <p:nvSpPr>
          <p:cNvPr id="90" name="Shape 84">
            <a:extLst>
              <a:ext uri="{FF2B5EF4-FFF2-40B4-BE49-F238E27FC236}">
                <a16:creationId xmlns:a16="http://schemas.microsoft.com/office/drawing/2014/main" id="{4C38FEC6-C06B-C3A1-7947-73E7A18FEA5C}"/>
              </a:ext>
            </a:extLst>
          </p:cNvPr>
          <p:cNvSpPr/>
          <p:nvPr/>
        </p:nvSpPr>
        <p:spPr>
          <a:xfrm>
            <a:off x="10570464" y="3236316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2" name="Text 85">
            <a:extLst>
              <a:ext uri="{FF2B5EF4-FFF2-40B4-BE49-F238E27FC236}">
                <a16:creationId xmlns:a16="http://schemas.microsoft.com/office/drawing/2014/main" id="{B3815B49-7486-5B43-C43C-1739686C2E13}"/>
              </a:ext>
            </a:extLst>
          </p:cNvPr>
          <p:cNvSpPr/>
          <p:nvPr/>
        </p:nvSpPr>
        <p:spPr>
          <a:xfrm>
            <a:off x="10570464" y="3357782"/>
            <a:ext cx="1188720" cy="415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1150" dirty="0">
              <a:solidFill>
                <a:schemeClr val="bg1"/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(aᵧ, aₓ)</a:t>
            </a:r>
            <a:endParaRPr lang="en-US" sz="115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 47">
                <a:extLst>
                  <a:ext uri="{FF2B5EF4-FFF2-40B4-BE49-F238E27FC236}">
                    <a16:creationId xmlns:a16="http://schemas.microsoft.com/office/drawing/2014/main" id="{47F52BE0-DF5F-6CDD-9EBA-30AB76E276C6}"/>
                  </a:ext>
                </a:extLst>
              </p:cNvPr>
              <p:cNvSpPr/>
              <p:nvPr/>
            </p:nvSpPr>
            <p:spPr>
              <a:xfrm>
                <a:off x="9564624" y="2489458"/>
                <a:ext cx="2011680" cy="685800"/>
              </a:xfrm>
              <a:prstGeom prst="rect">
                <a:avLst/>
              </a:prstGeom>
              <a:noFill/>
              <a:ln/>
            </p:spPr>
            <p:txBody>
              <a:bodyPr wrap="non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6" name="Text 47">
                <a:extLst>
                  <a:ext uri="{FF2B5EF4-FFF2-40B4-BE49-F238E27FC236}">
                    <a16:creationId xmlns:a16="http://schemas.microsoft.com/office/drawing/2014/main" id="{47F52BE0-DF5F-6CDD-9EBA-30AB76E276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4624" y="2489458"/>
                <a:ext cx="2011680" cy="6858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 47">
                <a:extLst>
                  <a:ext uri="{FF2B5EF4-FFF2-40B4-BE49-F238E27FC236}">
                    <a16:creationId xmlns:a16="http://schemas.microsoft.com/office/drawing/2014/main" id="{051509C4-1ABF-BFC3-277C-B86A1F0EC949}"/>
                  </a:ext>
                </a:extLst>
              </p:cNvPr>
              <p:cNvSpPr/>
              <p:nvPr/>
            </p:nvSpPr>
            <p:spPr>
              <a:xfrm>
                <a:off x="9564624" y="3931996"/>
                <a:ext cx="2011680" cy="685800"/>
              </a:xfrm>
              <a:prstGeom prst="rect">
                <a:avLst/>
              </a:prstGeom>
              <a:noFill/>
              <a:ln/>
            </p:spPr>
            <p:txBody>
              <a:bodyPr wrap="non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8" name="Text 47">
                <a:extLst>
                  <a:ext uri="{FF2B5EF4-FFF2-40B4-BE49-F238E27FC236}">
                    <a16:creationId xmlns:a16="http://schemas.microsoft.com/office/drawing/2014/main" id="{051509C4-1ABF-BFC3-277C-B86A1F0EC9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4624" y="3931996"/>
                <a:ext cx="2011680" cy="6858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39">
                <a:extLst>
                  <a:ext uri="{FF2B5EF4-FFF2-40B4-BE49-F238E27FC236}">
                    <a16:creationId xmlns:a16="http://schemas.microsoft.com/office/drawing/2014/main" id="{296312DC-07BC-815C-E78D-CCD10503C421}"/>
                  </a:ext>
                </a:extLst>
              </p:cNvPr>
              <p:cNvSpPr/>
              <p:nvPr/>
            </p:nvSpPr>
            <p:spPr>
              <a:xfrm>
                <a:off x="7863840" y="3905639"/>
                <a:ext cx="2011680" cy="685800"/>
              </a:xfrm>
              <a:prstGeom prst="rect">
                <a:avLst/>
              </a:prstGeom>
              <a:noFill/>
              <a:ln/>
            </p:spPr>
            <p:txBody>
              <a:bodyPr wrap="non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×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 39">
                <a:extLst>
                  <a:ext uri="{FF2B5EF4-FFF2-40B4-BE49-F238E27FC236}">
                    <a16:creationId xmlns:a16="http://schemas.microsoft.com/office/drawing/2014/main" id="{296312DC-07BC-815C-E78D-CCD10503C4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840" y="3905639"/>
                <a:ext cx="2011680" cy="685800"/>
              </a:xfrm>
              <a:prstGeom prst="rect">
                <a:avLst/>
              </a:prstGeom>
              <a:blipFill>
                <a:blip r:embed="rId19"/>
                <a:stretch>
                  <a:fillRect b="-625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39">
                <a:extLst>
                  <a:ext uri="{FF2B5EF4-FFF2-40B4-BE49-F238E27FC236}">
                    <a16:creationId xmlns:a16="http://schemas.microsoft.com/office/drawing/2014/main" id="{3690742E-88BC-BFC7-4A83-4CB15D343DB6}"/>
                  </a:ext>
                </a:extLst>
              </p:cNvPr>
              <p:cNvSpPr/>
              <p:nvPr/>
            </p:nvSpPr>
            <p:spPr>
              <a:xfrm>
                <a:off x="7818120" y="2364932"/>
                <a:ext cx="2011680" cy="685800"/>
              </a:xfrm>
              <a:prstGeom prst="rect">
                <a:avLst/>
              </a:prstGeom>
              <a:noFill/>
              <a:ln/>
            </p:spPr>
            <p:txBody>
              <a:bodyPr wrap="non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×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 39">
                <a:extLst>
                  <a:ext uri="{FF2B5EF4-FFF2-40B4-BE49-F238E27FC236}">
                    <a16:creationId xmlns:a16="http://schemas.microsoft.com/office/drawing/2014/main" id="{3690742E-88BC-BFC7-4A83-4CB15D343D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120" y="2364932"/>
                <a:ext cx="2011680" cy="685800"/>
              </a:xfrm>
              <a:prstGeom prst="rect">
                <a:avLst/>
              </a:prstGeom>
              <a:blipFill>
                <a:blip r:embed="rId20"/>
                <a:stretch>
                  <a:fillRect b="-446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4131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90" grpId="0" animBg="1"/>
      <p:bldP spid="92" grpId="0" animBg="1"/>
      <p:bldP spid="106" grpId="0" animBg="1"/>
      <p:bldP spid="10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E5A7D-1B65-313D-9AD6-59D595FD9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33097BFA-D9DA-954C-CEF2-C8BCC0039EC0}"/>
              </a:ext>
            </a:extLst>
          </p:cNvPr>
          <p:cNvSpPr/>
          <p:nvPr/>
        </p:nvSpPr>
        <p:spPr>
          <a:xfrm>
            <a:off x="10058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10C545DD-BE01-BAD4-6243-4AABC3F75DBB}"/>
                  </a:ext>
                </a:extLst>
              </p:cNvPr>
              <p:cNvSpPr/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10C545DD-BE01-BAD4-6243-4AABC3F75D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785724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>
            <a:extLst>
              <a:ext uri="{FF2B5EF4-FFF2-40B4-BE49-F238E27FC236}">
                <a16:creationId xmlns:a16="http://schemas.microsoft.com/office/drawing/2014/main" id="{73782010-68B5-3551-2458-3A04BE921538}"/>
              </a:ext>
            </a:extLst>
          </p:cNvPr>
          <p:cNvSpPr/>
          <p:nvPr/>
        </p:nvSpPr>
        <p:spPr>
          <a:xfrm>
            <a:off x="24231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25DC836-945B-2313-6425-433CCBC4FCF2}"/>
              </a:ext>
            </a:extLst>
          </p:cNvPr>
          <p:cNvSpPr/>
          <p:nvPr/>
        </p:nvSpPr>
        <p:spPr>
          <a:xfrm>
            <a:off x="397764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FAB95E2-ED6F-DAD0-01E7-51E93CA62A9C}"/>
              </a:ext>
            </a:extLst>
          </p:cNvPr>
          <p:cNvSpPr/>
          <p:nvPr/>
        </p:nvSpPr>
        <p:spPr>
          <a:xfrm>
            <a:off x="562356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72B12252-7A98-3062-537A-B73D9CA6D64B}"/>
                  </a:ext>
                </a:extLst>
              </p:cNvPr>
              <p:cNvSpPr/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72B12252-7A98-3062-537A-B73D9CA6D6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785724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>
            <a:extLst>
              <a:ext uri="{FF2B5EF4-FFF2-40B4-BE49-F238E27FC236}">
                <a16:creationId xmlns:a16="http://schemas.microsoft.com/office/drawing/2014/main" id="{B3AE6AB9-55BC-B374-7E80-BDDCCCD97B88}"/>
              </a:ext>
            </a:extLst>
          </p:cNvPr>
          <p:cNvSpPr/>
          <p:nvPr/>
        </p:nvSpPr>
        <p:spPr>
          <a:xfrm>
            <a:off x="7086600" y="168183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F4EBCCB4-498E-BC88-B92D-2570A37881D2}"/>
                  </a:ext>
                </a:extLst>
              </p:cNvPr>
              <p:cNvSpPr/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F4EBCCB4-498E-BC88-B92D-2570A37881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785724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>
            <a:extLst>
              <a:ext uri="{FF2B5EF4-FFF2-40B4-BE49-F238E27FC236}">
                <a16:creationId xmlns:a16="http://schemas.microsoft.com/office/drawing/2014/main" id="{77366410-D0B9-650A-3551-2C996F2CE621}"/>
              </a:ext>
            </a:extLst>
          </p:cNvPr>
          <p:cNvSpPr/>
          <p:nvPr/>
        </p:nvSpPr>
        <p:spPr>
          <a:xfrm>
            <a:off x="10058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FCA50A5F-11C1-22F1-068E-FCAB4C3C8A42}"/>
                  </a:ext>
                </a:extLst>
              </p:cNvPr>
              <p:cNvSpPr/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FCA50A5F-11C1-22F1-068E-FCAB4C3C8A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4489044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b="-48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>
            <a:extLst>
              <a:ext uri="{FF2B5EF4-FFF2-40B4-BE49-F238E27FC236}">
                <a16:creationId xmlns:a16="http://schemas.microsoft.com/office/drawing/2014/main" id="{CF4164B2-5D41-D2B0-0546-380011E664F0}"/>
              </a:ext>
            </a:extLst>
          </p:cNvPr>
          <p:cNvSpPr/>
          <p:nvPr/>
        </p:nvSpPr>
        <p:spPr>
          <a:xfrm>
            <a:off x="24231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298DF19-87EA-4D7E-DB3E-FD9F37A41CD0}"/>
              </a:ext>
            </a:extLst>
          </p:cNvPr>
          <p:cNvSpPr/>
          <p:nvPr/>
        </p:nvSpPr>
        <p:spPr>
          <a:xfrm>
            <a:off x="397764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5FA7EF2-B58F-2AA4-D7C8-55383A24E25D}"/>
              </a:ext>
            </a:extLst>
          </p:cNvPr>
          <p:cNvSpPr/>
          <p:nvPr/>
        </p:nvSpPr>
        <p:spPr>
          <a:xfrm>
            <a:off x="562356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79206E9D-518E-9F0C-5B03-09CC866F5F71}"/>
                  </a:ext>
                </a:extLst>
              </p:cNvPr>
              <p:cNvSpPr/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79206E9D-518E-9F0C-5B03-09CC866F5F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4489044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>
            <a:extLst>
              <a:ext uri="{FF2B5EF4-FFF2-40B4-BE49-F238E27FC236}">
                <a16:creationId xmlns:a16="http://schemas.microsoft.com/office/drawing/2014/main" id="{99F0A932-80DF-17FB-91AF-624702D18FE9}"/>
              </a:ext>
            </a:extLst>
          </p:cNvPr>
          <p:cNvSpPr/>
          <p:nvPr/>
        </p:nvSpPr>
        <p:spPr>
          <a:xfrm>
            <a:off x="7086600" y="5385156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918C808F-26D9-CCBC-CAA6-118898407C46}"/>
                  </a:ext>
                </a:extLst>
              </p:cNvPr>
              <p:cNvSpPr/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918C808F-26D9-CCBC-CAA6-118898407C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4489044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>
            <a:extLst>
              <a:ext uri="{FF2B5EF4-FFF2-40B4-BE49-F238E27FC236}">
                <a16:creationId xmlns:a16="http://schemas.microsoft.com/office/drawing/2014/main" id="{9E009842-7FB8-AF84-7A07-32269A82E200}"/>
              </a:ext>
            </a:extLst>
          </p:cNvPr>
          <p:cNvSpPr/>
          <p:nvPr/>
        </p:nvSpPr>
        <p:spPr>
          <a:xfrm>
            <a:off x="1851660" y="2011020"/>
            <a:ext cx="9144" cy="55778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C6B9C62-82C9-3DA6-36F9-A7420C59FC02}"/>
              </a:ext>
            </a:extLst>
          </p:cNvPr>
          <p:cNvSpPr/>
          <p:nvPr/>
        </p:nvSpPr>
        <p:spPr>
          <a:xfrm>
            <a:off x="1851660" y="25688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C08C807-D1FB-4CC9-86D9-7FA69D5EC04E}"/>
              </a:ext>
            </a:extLst>
          </p:cNvPr>
          <p:cNvSpPr/>
          <p:nvPr/>
        </p:nvSpPr>
        <p:spPr>
          <a:xfrm>
            <a:off x="3108960" y="2568804"/>
            <a:ext cx="9144" cy="667512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27A5DB9-57EE-C8A4-E7E4-12B40FC1303E}"/>
              </a:ext>
            </a:extLst>
          </p:cNvPr>
          <p:cNvSpPr/>
          <p:nvPr/>
        </p:nvSpPr>
        <p:spPr>
          <a:xfrm flipV="1">
            <a:off x="1851660" y="4397604"/>
            <a:ext cx="9144" cy="65836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8A1E672-B1FC-91F1-6F01-114F7E0951F5}"/>
              </a:ext>
            </a:extLst>
          </p:cNvPr>
          <p:cNvSpPr/>
          <p:nvPr/>
        </p:nvSpPr>
        <p:spPr>
          <a:xfrm>
            <a:off x="1851660" y="4397604"/>
            <a:ext cx="12573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85AEFA2-0EA3-BA0E-26C7-00A15B75381E}"/>
              </a:ext>
            </a:extLst>
          </p:cNvPr>
          <p:cNvSpPr/>
          <p:nvPr/>
        </p:nvSpPr>
        <p:spPr>
          <a:xfrm flipV="1">
            <a:off x="3108960" y="3894684"/>
            <a:ext cx="9144" cy="50292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BCBD38A-552E-788D-CA7A-5D82C5FCF295}"/>
              </a:ext>
            </a:extLst>
          </p:cNvPr>
          <p:cNvSpPr/>
          <p:nvPr/>
        </p:nvSpPr>
        <p:spPr>
          <a:xfrm>
            <a:off x="388620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C6CAB2EE-F035-5C97-12CE-9324081B1A62}"/>
              </a:ext>
            </a:extLst>
          </p:cNvPr>
          <p:cNvSpPr/>
          <p:nvPr/>
        </p:nvSpPr>
        <p:spPr>
          <a:xfrm>
            <a:off x="553212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81ABFEBD-6818-DA11-C5E9-E69840006029}"/>
                  </a:ext>
                </a:extLst>
              </p:cNvPr>
              <p:cNvSpPr/>
              <p:nvPr/>
            </p:nvSpPr>
            <p:spPr>
              <a:xfrm>
                <a:off x="466344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81ABFEBD-6818-DA11-C5E9-E698400060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2660244"/>
                <a:ext cx="2011680" cy="502920"/>
              </a:xfrm>
              <a:prstGeom prst="rect">
                <a:avLst/>
              </a:prstGeom>
              <a:blipFill>
                <a:blip r:embed="rId9"/>
                <a:stretch>
                  <a:fillRect t="-60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Shape 34">
            <a:extLst>
              <a:ext uri="{FF2B5EF4-FFF2-40B4-BE49-F238E27FC236}">
                <a16:creationId xmlns:a16="http://schemas.microsoft.com/office/drawing/2014/main" id="{5AE4A975-CA05-7F4E-E5B1-4BB789FB350A}"/>
              </a:ext>
            </a:extLst>
          </p:cNvPr>
          <p:cNvSpPr/>
          <p:nvPr/>
        </p:nvSpPr>
        <p:spPr>
          <a:xfrm>
            <a:off x="7086600" y="3565500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35">
                <a:extLst>
                  <a:ext uri="{FF2B5EF4-FFF2-40B4-BE49-F238E27FC236}">
                    <a16:creationId xmlns:a16="http://schemas.microsoft.com/office/drawing/2014/main" id="{98001660-F8B7-B4A5-B64D-13921141595E}"/>
                  </a:ext>
                </a:extLst>
              </p:cNvPr>
              <p:cNvSpPr/>
              <p:nvPr/>
            </p:nvSpPr>
            <p:spPr>
              <a:xfrm>
                <a:off x="621792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𝐶𝑂𝑉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 35">
                <a:extLst>
                  <a:ext uri="{FF2B5EF4-FFF2-40B4-BE49-F238E27FC236}">
                    <a16:creationId xmlns:a16="http://schemas.microsoft.com/office/drawing/2014/main" id="{98001660-F8B7-B4A5-B64D-1392114159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2660244"/>
                <a:ext cx="2011680" cy="502920"/>
              </a:xfrm>
              <a:prstGeom prst="rect">
                <a:avLst/>
              </a:prstGeom>
              <a:blipFill>
                <a:blip r:embed="rId10"/>
                <a:stretch>
                  <a:fillRect t="-2168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Shape 36">
            <a:extLst>
              <a:ext uri="{FF2B5EF4-FFF2-40B4-BE49-F238E27FC236}">
                <a16:creationId xmlns:a16="http://schemas.microsoft.com/office/drawing/2014/main" id="{32586D3F-6973-725B-7A18-54A020DB0F49}"/>
              </a:ext>
            </a:extLst>
          </p:cNvPr>
          <p:cNvSpPr/>
          <p:nvPr/>
        </p:nvSpPr>
        <p:spPr>
          <a:xfrm>
            <a:off x="8092440" y="2011020"/>
            <a:ext cx="9144" cy="1225296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C40361CA-3CD0-1FC7-9107-BCCE96114DE1}"/>
              </a:ext>
            </a:extLst>
          </p:cNvPr>
          <p:cNvSpPr/>
          <p:nvPr/>
        </p:nvSpPr>
        <p:spPr>
          <a:xfrm flipV="1">
            <a:off x="8092440" y="3894684"/>
            <a:ext cx="9144" cy="116128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669590B3-A181-ADBE-FB72-50443197EE2C}"/>
              </a:ext>
            </a:extLst>
          </p:cNvPr>
          <p:cNvSpPr/>
          <p:nvPr/>
        </p:nvSpPr>
        <p:spPr>
          <a:xfrm>
            <a:off x="411480" y="135265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2B90E753-3E5A-DCB9-B7C7-231307A762A7}"/>
              </a:ext>
            </a:extLst>
          </p:cNvPr>
          <p:cNvSpPr/>
          <p:nvPr/>
        </p:nvSpPr>
        <p:spPr>
          <a:xfrm>
            <a:off x="411480" y="135265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0593B1B2-0282-6274-1A10-7ABD9C1C3D0A}"/>
              </a:ext>
            </a:extLst>
          </p:cNvPr>
          <p:cNvSpPr/>
          <p:nvPr/>
        </p:nvSpPr>
        <p:spPr>
          <a:xfrm>
            <a:off x="1280160" y="135265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AB9052F1-8F72-3D06-49D1-98EDE1EED29D}"/>
              </a:ext>
            </a:extLst>
          </p:cNvPr>
          <p:cNvSpPr/>
          <p:nvPr/>
        </p:nvSpPr>
        <p:spPr>
          <a:xfrm>
            <a:off x="1280160" y="135265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7373AA32-4127-EE17-49CF-2A1479E50EF5}"/>
              </a:ext>
            </a:extLst>
          </p:cNvPr>
          <p:cNvSpPr/>
          <p:nvPr/>
        </p:nvSpPr>
        <p:spPr>
          <a:xfrm>
            <a:off x="2697480" y="135265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F9B5992-142B-6E29-FF25-4A0E2E19D9C2}"/>
              </a:ext>
            </a:extLst>
          </p:cNvPr>
          <p:cNvSpPr/>
          <p:nvPr/>
        </p:nvSpPr>
        <p:spPr>
          <a:xfrm>
            <a:off x="2697480" y="135265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41EE7434-C92E-C67D-12DE-3C5798CDD642}"/>
              </a:ext>
            </a:extLst>
          </p:cNvPr>
          <p:cNvSpPr/>
          <p:nvPr/>
        </p:nvSpPr>
        <p:spPr>
          <a:xfrm>
            <a:off x="4251960" y="135265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564A6A6F-EAC0-DF01-76A7-F0BDF1329988}"/>
              </a:ext>
            </a:extLst>
          </p:cNvPr>
          <p:cNvSpPr/>
          <p:nvPr/>
        </p:nvSpPr>
        <p:spPr>
          <a:xfrm>
            <a:off x="4251960" y="135265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0C5B5023-4741-C0F4-6C82-B27D4FD16438}"/>
              </a:ext>
            </a:extLst>
          </p:cNvPr>
          <p:cNvSpPr/>
          <p:nvPr/>
        </p:nvSpPr>
        <p:spPr>
          <a:xfrm>
            <a:off x="5897880" y="135265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E8710C60-58D4-1F35-E575-6A0720CAA9B9}"/>
              </a:ext>
            </a:extLst>
          </p:cNvPr>
          <p:cNvSpPr/>
          <p:nvPr/>
        </p:nvSpPr>
        <p:spPr>
          <a:xfrm>
            <a:off x="5897880" y="135265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84F30E97-18B7-9D0C-C980-8013549E4FDC}"/>
              </a:ext>
            </a:extLst>
          </p:cNvPr>
          <p:cNvSpPr/>
          <p:nvPr/>
        </p:nvSpPr>
        <p:spPr>
          <a:xfrm>
            <a:off x="7360920" y="135265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F6C7A1D8-4E61-D268-7DBA-FAC57AA5BABC}"/>
              </a:ext>
            </a:extLst>
          </p:cNvPr>
          <p:cNvSpPr/>
          <p:nvPr/>
        </p:nvSpPr>
        <p:spPr>
          <a:xfrm>
            <a:off x="7360920" y="135265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(SDₓ)</a:t>
            </a:r>
            <a:endParaRPr lang="en-US" sz="105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F6B93096-50F8-2C4E-6721-BFA7647ECDFC}"/>
              </a:ext>
            </a:extLst>
          </p:cNvPr>
          <p:cNvSpPr/>
          <p:nvPr/>
        </p:nvSpPr>
        <p:spPr>
          <a:xfrm>
            <a:off x="411480" y="5055972"/>
            <a:ext cx="594360" cy="658368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95EBE8FC-8749-157B-F998-2CD82FAC84CC}"/>
              </a:ext>
            </a:extLst>
          </p:cNvPr>
          <p:cNvSpPr/>
          <p:nvPr/>
        </p:nvSpPr>
        <p:spPr>
          <a:xfrm>
            <a:off x="411480" y="5055972"/>
            <a:ext cx="594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8187375E-CE06-01E3-1681-F24B529C563D}"/>
              </a:ext>
            </a:extLst>
          </p:cNvPr>
          <p:cNvSpPr/>
          <p:nvPr/>
        </p:nvSpPr>
        <p:spPr>
          <a:xfrm>
            <a:off x="1280160" y="505597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DB14B03F-392E-F592-B262-B9DECBFF03B2}"/>
              </a:ext>
            </a:extLst>
          </p:cNvPr>
          <p:cNvSpPr/>
          <p:nvPr/>
        </p:nvSpPr>
        <p:spPr>
          <a:xfrm>
            <a:off x="1280160" y="505597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317DE2C8-B314-1314-0B83-608DA9BEA633}"/>
              </a:ext>
            </a:extLst>
          </p:cNvPr>
          <p:cNvSpPr/>
          <p:nvPr/>
        </p:nvSpPr>
        <p:spPr>
          <a:xfrm>
            <a:off x="2697480" y="505597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3F042831-EEBE-548A-EACC-B4DE5209EC2A}"/>
              </a:ext>
            </a:extLst>
          </p:cNvPr>
          <p:cNvSpPr/>
          <p:nvPr/>
        </p:nvSpPr>
        <p:spPr>
          <a:xfrm>
            <a:off x="2697480" y="505597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AFDB628A-7FB1-68D0-BF76-81EED5AC11D3}"/>
              </a:ext>
            </a:extLst>
          </p:cNvPr>
          <p:cNvSpPr/>
          <p:nvPr/>
        </p:nvSpPr>
        <p:spPr>
          <a:xfrm>
            <a:off x="4251960" y="505597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5F252043-FE69-3CDB-7CFD-55D6A64ABE53}"/>
              </a:ext>
            </a:extLst>
          </p:cNvPr>
          <p:cNvSpPr/>
          <p:nvPr/>
        </p:nvSpPr>
        <p:spPr>
          <a:xfrm>
            <a:off x="4251960" y="505597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4B23ACF8-1D6B-4083-EFC3-D13027B2359D}"/>
              </a:ext>
            </a:extLst>
          </p:cNvPr>
          <p:cNvSpPr/>
          <p:nvPr/>
        </p:nvSpPr>
        <p:spPr>
          <a:xfrm>
            <a:off x="5897880" y="505597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BB958381-09FB-DDF1-F1E3-CFB56380B4ED}"/>
              </a:ext>
            </a:extLst>
          </p:cNvPr>
          <p:cNvSpPr/>
          <p:nvPr/>
        </p:nvSpPr>
        <p:spPr>
          <a:xfrm>
            <a:off x="5897880" y="505597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D5EE7DC9-9551-E3E7-DAFE-630F52DD4DCF}"/>
              </a:ext>
            </a:extLst>
          </p:cNvPr>
          <p:cNvSpPr/>
          <p:nvPr/>
        </p:nvSpPr>
        <p:spPr>
          <a:xfrm>
            <a:off x="7360920" y="5055972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762AA218-3EA6-FEF5-69D4-05BD2C7A4401}"/>
              </a:ext>
            </a:extLst>
          </p:cNvPr>
          <p:cNvSpPr/>
          <p:nvPr/>
        </p:nvSpPr>
        <p:spPr>
          <a:xfrm>
            <a:off x="7360920" y="505597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(SDᵧ)</a:t>
            </a:r>
            <a:endParaRPr lang="en-US" sz="105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08251D10-E6F1-0855-7F5D-989524B0AB9E}"/>
              </a:ext>
            </a:extLst>
          </p:cNvPr>
          <p:cNvSpPr/>
          <p:nvPr/>
        </p:nvSpPr>
        <p:spPr>
          <a:xfrm>
            <a:off x="2331720" y="3236316"/>
            <a:ext cx="155448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BFBD74D5-5416-8F24-CE4A-C3CF6F014C3B}"/>
              </a:ext>
            </a:extLst>
          </p:cNvPr>
          <p:cNvSpPr/>
          <p:nvPr/>
        </p:nvSpPr>
        <p:spPr>
          <a:xfrm>
            <a:off x="2331720" y="3236316"/>
            <a:ext cx="15544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05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01BC109A-3C93-6C47-1DC2-FB184C45E2E1}"/>
              </a:ext>
            </a:extLst>
          </p:cNvPr>
          <p:cNvSpPr/>
          <p:nvPr/>
        </p:nvSpPr>
        <p:spPr>
          <a:xfrm>
            <a:off x="4160520" y="3236316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36E05A07-9812-6C13-AD38-E3E89FA0EB16}"/>
              </a:ext>
            </a:extLst>
          </p:cNvPr>
          <p:cNvSpPr/>
          <p:nvPr/>
        </p:nvSpPr>
        <p:spPr>
          <a:xfrm>
            <a:off x="4160520" y="3236316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Products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(SP)</a:t>
            </a:r>
            <a:endParaRPr lang="en-US" sz="105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BA04C3EC-77E5-EF67-5328-3892E31C6362}"/>
              </a:ext>
            </a:extLst>
          </p:cNvPr>
          <p:cNvSpPr/>
          <p:nvPr/>
        </p:nvSpPr>
        <p:spPr>
          <a:xfrm>
            <a:off x="5806440" y="3236316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63701B16-231F-F56B-419D-CFA05CDEC29A}"/>
              </a:ext>
            </a:extLst>
          </p:cNvPr>
          <p:cNvSpPr/>
          <p:nvPr/>
        </p:nvSpPr>
        <p:spPr>
          <a:xfrm>
            <a:off x="5806440" y="3236316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(COV)</a:t>
            </a:r>
            <a:endParaRPr lang="en-US" sz="115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B164E4BE-4324-60AA-F6FF-758DB2AF3AD1}"/>
              </a:ext>
            </a:extLst>
          </p:cNvPr>
          <p:cNvSpPr/>
          <p:nvPr/>
        </p:nvSpPr>
        <p:spPr>
          <a:xfrm>
            <a:off x="7360920" y="3236316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004F81D5-2BAE-4426-D04E-136BB203474C}"/>
              </a:ext>
            </a:extLst>
          </p:cNvPr>
          <p:cNvSpPr/>
          <p:nvPr/>
        </p:nvSpPr>
        <p:spPr>
          <a:xfrm>
            <a:off x="7360920" y="3357782"/>
            <a:ext cx="1463040" cy="415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50" dirty="0">
              <a:solidFill>
                <a:srgbClr val="1B3A4B"/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(r)</a:t>
            </a:r>
            <a:endParaRPr lang="en-US" sz="1150" dirty="0">
              <a:solidFill>
                <a:srgbClr val="1B3A4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 8">
                <a:extLst>
                  <a:ext uri="{FF2B5EF4-FFF2-40B4-BE49-F238E27FC236}">
                    <a16:creationId xmlns:a16="http://schemas.microsoft.com/office/drawing/2014/main" id="{FA1F8413-B383-1CEC-C84B-51820B2418D1}"/>
                  </a:ext>
                </a:extLst>
              </p:cNvPr>
              <p:cNvSpPr/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4" name="Text 8">
                <a:extLst>
                  <a:ext uri="{FF2B5EF4-FFF2-40B4-BE49-F238E27FC236}">
                    <a16:creationId xmlns:a16="http://schemas.microsoft.com/office/drawing/2014/main" id="{FA1F8413-B383-1CEC-C84B-51820B2418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680" y="843636"/>
                <a:ext cx="2011680" cy="502920"/>
              </a:xfrm>
              <a:prstGeom prst="rect">
                <a:avLst/>
              </a:prstGeom>
              <a:blipFill>
                <a:blip r:embed="rId11"/>
                <a:stretch>
                  <a:fillRect l="-2424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 8">
                <a:extLst>
                  <a:ext uri="{FF2B5EF4-FFF2-40B4-BE49-F238E27FC236}">
                    <a16:creationId xmlns:a16="http://schemas.microsoft.com/office/drawing/2014/main" id="{AE3E7339-BA28-5B57-A2F1-D5302D909B5D}"/>
                  </a:ext>
                </a:extLst>
              </p:cNvPr>
              <p:cNvSpPr/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6" name="Text 8">
                <a:extLst>
                  <a:ext uri="{FF2B5EF4-FFF2-40B4-BE49-F238E27FC236}">
                    <a16:creationId xmlns:a16="http://schemas.microsoft.com/office/drawing/2014/main" id="{AE3E7339-BA28-5B57-A2F1-D5302D909B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120" y="4553052"/>
                <a:ext cx="2011680" cy="502920"/>
              </a:xfrm>
              <a:prstGeom prst="rect">
                <a:avLst/>
              </a:prstGeom>
              <a:blipFill>
                <a:blip r:embed="rId12"/>
                <a:stretch>
                  <a:fillRect l="-2424" t="-114634" b="-16219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 29">
                <a:extLst>
                  <a:ext uri="{FF2B5EF4-FFF2-40B4-BE49-F238E27FC236}">
                    <a16:creationId xmlns:a16="http://schemas.microsoft.com/office/drawing/2014/main" id="{7DCFBF73-D5D2-7E48-1289-99B082B4B199}"/>
                  </a:ext>
                </a:extLst>
              </p:cNvPr>
              <p:cNvSpPr/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 29">
                <a:extLst>
                  <a:ext uri="{FF2B5EF4-FFF2-40B4-BE49-F238E27FC236}">
                    <a16:creationId xmlns:a16="http://schemas.microsoft.com/office/drawing/2014/main" id="{7DCFBF73-D5D2-7E48-1289-99B082B4B1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24" y="3355188"/>
                <a:ext cx="2011680" cy="384048"/>
              </a:xfrm>
              <a:prstGeom prst="rect">
                <a:avLst/>
              </a:prstGeom>
              <a:blipFill>
                <a:blip r:embed="rId13"/>
                <a:stretch>
                  <a:fillRect b="-79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 6">
                <a:extLst>
                  <a:ext uri="{FF2B5EF4-FFF2-40B4-BE49-F238E27FC236}">
                    <a16:creationId xmlns:a16="http://schemas.microsoft.com/office/drawing/2014/main" id="{366603C9-6236-8276-82D5-500BEB25BBDC}"/>
                  </a:ext>
                </a:extLst>
              </p:cNvPr>
              <p:cNvSpPr/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0" name="Text 6">
                <a:extLst>
                  <a:ext uri="{FF2B5EF4-FFF2-40B4-BE49-F238E27FC236}">
                    <a16:creationId xmlns:a16="http://schemas.microsoft.com/office/drawing/2014/main" id="{366603C9-6236-8276-82D5-500BEB25BB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785724"/>
                <a:ext cx="2011680" cy="5029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 6">
                <a:extLst>
                  <a:ext uri="{FF2B5EF4-FFF2-40B4-BE49-F238E27FC236}">
                    <a16:creationId xmlns:a16="http://schemas.microsoft.com/office/drawing/2014/main" id="{33C46965-1BCE-9E18-E85C-FD6FDA421EE7}"/>
                  </a:ext>
                </a:extLst>
              </p:cNvPr>
              <p:cNvSpPr/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2" name="Text 6">
                <a:extLst>
                  <a:ext uri="{FF2B5EF4-FFF2-40B4-BE49-F238E27FC236}">
                    <a16:creationId xmlns:a16="http://schemas.microsoft.com/office/drawing/2014/main" id="{33C46965-1BCE-9E18-E85C-FD6FDA421E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4504171"/>
                <a:ext cx="2011680" cy="5029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 31">
                <a:extLst>
                  <a:ext uri="{FF2B5EF4-FFF2-40B4-BE49-F238E27FC236}">
                    <a16:creationId xmlns:a16="http://schemas.microsoft.com/office/drawing/2014/main" id="{EFF61B92-7875-14AC-0B15-DB59B28E45F5}"/>
                  </a:ext>
                </a:extLst>
              </p:cNvPr>
              <p:cNvSpPr/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𝑃𝑟𝑜𝑑𝑢𝑐𝑡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84" name="Text 31">
                <a:extLst>
                  <a:ext uri="{FF2B5EF4-FFF2-40B4-BE49-F238E27FC236}">
                    <a16:creationId xmlns:a16="http://schemas.microsoft.com/office/drawing/2014/main" id="{EFF61B92-7875-14AC-0B15-DB59B28E45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0" y="2660244"/>
                <a:ext cx="2011680" cy="502920"/>
              </a:xfrm>
              <a:prstGeom prst="rect">
                <a:avLst/>
              </a:prstGeom>
              <a:blipFill>
                <a:blip r:embed="rId16"/>
                <a:stretch>
                  <a:fillRect l="-3636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hape 38">
            <a:extLst>
              <a:ext uri="{FF2B5EF4-FFF2-40B4-BE49-F238E27FC236}">
                <a16:creationId xmlns:a16="http://schemas.microsoft.com/office/drawing/2014/main" id="{C7B7AD38-8238-8679-E59E-7F740C7CADA5}"/>
              </a:ext>
            </a:extLst>
          </p:cNvPr>
          <p:cNvSpPr/>
          <p:nvPr/>
        </p:nvSpPr>
        <p:spPr>
          <a:xfrm>
            <a:off x="8823960" y="3590171"/>
            <a:ext cx="2743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46">
            <a:extLst>
              <a:ext uri="{FF2B5EF4-FFF2-40B4-BE49-F238E27FC236}">
                <a16:creationId xmlns:a16="http://schemas.microsoft.com/office/drawing/2014/main" id="{ACDD5D07-505A-2C8E-BA9A-F57B7967BCB3}"/>
              </a:ext>
            </a:extLst>
          </p:cNvPr>
          <p:cNvSpPr/>
          <p:nvPr/>
        </p:nvSpPr>
        <p:spPr>
          <a:xfrm>
            <a:off x="10332720" y="3590171"/>
            <a:ext cx="22860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2">
            <a:extLst>
              <a:ext uri="{FF2B5EF4-FFF2-40B4-BE49-F238E27FC236}">
                <a16:creationId xmlns:a16="http://schemas.microsoft.com/office/drawing/2014/main" id="{345D48BB-E271-947F-C64F-E0E3C697C8AA}"/>
              </a:ext>
            </a:extLst>
          </p:cNvPr>
          <p:cNvSpPr/>
          <p:nvPr/>
        </p:nvSpPr>
        <p:spPr>
          <a:xfrm>
            <a:off x="9107424" y="3236316"/>
            <a:ext cx="12344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28575">
            <a:solidFill>
              <a:srgbClr val="2C5F7C"/>
            </a:solidFill>
            <a:prstDash val="solid"/>
          </a:ln>
          <a:effectLst>
            <a:outerShdw blurRad="76200" dist="25400" dir="5400000" algn="ctr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8" name="Text 83">
            <a:extLst>
              <a:ext uri="{FF2B5EF4-FFF2-40B4-BE49-F238E27FC236}">
                <a16:creationId xmlns:a16="http://schemas.microsoft.com/office/drawing/2014/main" id="{938C85C7-7696-BE5D-A31A-92BAE2DD8D4B}"/>
              </a:ext>
            </a:extLst>
          </p:cNvPr>
          <p:cNvSpPr/>
          <p:nvPr/>
        </p:nvSpPr>
        <p:spPr>
          <a:xfrm>
            <a:off x="9107424" y="3236316"/>
            <a:ext cx="12344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(bᵧ, bₓ)</a:t>
            </a:r>
            <a:endParaRPr lang="en-US" sz="1150" dirty="0"/>
          </a:p>
        </p:txBody>
      </p:sp>
      <p:sp>
        <p:nvSpPr>
          <p:cNvPr id="90" name="Shape 84">
            <a:extLst>
              <a:ext uri="{FF2B5EF4-FFF2-40B4-BE49-F238E27FC236}">
                <a16:creationId xmlns:a16="http://schemas.microsoft.com/office/drawing/2014/main" id="{EAFB2BA6-D714-F3BF-C02D-2BEB99C88FDD}"/>
              </a:ext>
            </a:extLst>
          </p:cNvPr>
          <p:cNvSpPr/>
          <p:nvPr/>
        </p:nvSpPr>
        <p:spPr>
          <a:xfrm>
            <a:off x="10570464" y="3236316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25400">
            <a:solidFill>
              <a:srgbClr val="1B3A4B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2" name="Text 85">
            <a:extLst>
              <a:ext uri="{FF2B5EF4-FFF2-40B4-BE49-F238E27FC236}">
                <a16:creationId xmlns:a16="http://schemas.microsoft.com/office/drawing/2014/main" id="{C1378F0B-263A-AA74-7402-9F7D53841DAC}"/>
              </a:ext>
            </a:extLst>
          </p:cNvPr>
          <p:cNvSpPr/>
          <p:nvPr/>
        </p:nvSpPr>
        <p:spPr>
          <a:xfrm>
            <a:off x="10570464" y="3357782"/>
            <a:ext cx="1188720" cy="415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1150" dirty="0">
              <a:solidFill>
                <a:srgbClr val="1B3A4B"/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(aᵧ, aₓ)</a:t>
            </a:r>
            <a:endParaRPr lang="en-US" sz="1150" dirty="0">
              <a:solidFill>
                <a:srgbClr val="1B3A4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 47">
                <a:extLst>
                  <a:ext uri="{FF2B5EF4-FFF2-40B4-BE49-F238E27FC236}">
                    <a16:creationId xmlns:a16="http://schemas.microsoft.com/office/drawing/2014/main" id="{3232E3A9-CB0E-D314-35A9-AFCC1125C393}"/>
                  </a:ext>
                </a:extLst>
              </p:cNvPr>
              <p:cNvSpPr/>
              <p:nvPr/>
            </p:nvSpPr>
            <p:spPr>
              <a:xfrm>
                <a:off x="9564624" y="2489458"/>
                <a:ext cx="2011680" cy="685800"/>
              </a:xfrm>
              <a:prstGeom prst="rect">
                <a:avLst/>
              </a:prstGeom>
              <a:noFill/>
              <a:ln/>
            </p:spPr>
            <p:txBody>
              <a:bodyPr wrap="non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6" name="Text 47">
                <a:extLst>
                  <a:ext uri="{FF2B5EF4-FFF2-40B4-BE49-F238E27FC236}">
                    <a16:creationId xmlns:a16="http://schemas.microsoft.com/office/drawing/2014/main" id="{3232E3A9-CB0E-D314-35A9-AFCC1125C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4624" y="2489458"/>
                <a:ext cx="2011680" cy="6858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 47">
                <a:extLst>
                  <a:ext uri="{FF2B5EF4-FFF2-40B4-BE49-F238E27FC236}">
                    <a16:creationId xmlns:a16="http://schemas.microsoft.com/office/drawing/2014/main" id="{2E9CB911-DBB8-BE5E-574A-FDFB2C02274A}"/>
                  </a:ext>
                </a:extLst>
              </p:cNvPr>
              <p:cNvSpPr/>
              <p:nvPr/>
            </p:nvSpPr>
            <p:spPr>
              <a:xfrm>
                <a:off x="9564624" y="3931996"/>
                <a:ext cx="2011680" cy="685800"/>
              </a:xfrm>
              <a:prstGeom prst="rect">
                <a:avLst/>
              </a:prstGeom>
              <a:noFill/>
              <a:ln/>
            </p:spPr>
            <p:txBody>
              <a:bodyPr wrap="non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8" name="Text 47">
                <a:extLst>
                  <a:ext uri="{FF2B5EF4-FFF2-40B4-BE49-F238E27FC236}">
                    <a16:creationId xmlns:a16="http://schemas.microsoft.com/office/drawing/2014/main" id="{2E9CB911-DBB8-BE5E-574A-FDFB2C0227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4624" y="3931996"/>
                <a:ext cx="2011680" cy="6858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39">
                <a:extLst>
                  <a:ext uri="{FF2B5EF4-FFF2-40B4-BE49-F238E27FC236}">
                    <a16:creationId xmlns:a16="http://schemas.microsoft.com/office/drawing/2014/main" id="{BB303760-D639-26C9-47AD-50E56463C11D}"/>
                  </a:ext>
                </a:extLst>
              </p:cNvPr>
              <p:cNvSpPr/>
              <p:nvPr/>
            </p:nvSpPr>
            <p:spPr>
              <a:xfrm>
                <a:off x="7863840" y="3905639"/>
                <a:ext cx="2011680" cy="685800"/>
              </a:xfrm>
              <a:prstGeom prst="rect">
                <a:avLst/>
              </a:prstGeom>
              <a:noFill/>
              <a:ln/>
            </p:spPr>
            <p:txBody>
              <a:bodyPr wrap="non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×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 39">
                <a:extLst>
                  <a:ext uri="{FF2B5EF4-FFF2-40B4-BE49-F238E27FC236}">
                    <a16:creationId xmlns:a16="http://schemas.microsoft.com/office/drawing/2014/main" id="{BB303760-D639-26C9-47AD-50E56463C1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840" y="3905639"/>
                <a:ext cx="2011680" cy="685800"/>
              </a:xfrm>
              <a:prstGeom prst="rect">
                <a:avLst/>
              </a:prstGeom>
              <a:blipFill>
                <a:blip r:embed="rId19"/>
                <a:stretch>
                  <a:fillRect b="-625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39">
                <a:extLst>
                  <a:ext uri="{FF2B5EF4-FFF2-40B4-BE49-F238E27FC236}">
                    <a16:creationId xmlns:a16="http://schemas.microsoft.com/office/drawing/2014/main" id="{881CDC0C-F01E-239D-B214-03CE3E27CCDD}"/>
                  </a:ext>
                </a:extLst>
              </p:cNvPr>
              <p:cNvSpPr/>
              <p:nvPr/>
            </p:nvSpPr>
            <p:spPr>
              <a:xfrm>
                <a:off x="7818120" y="2364932"/>
                <a:ext cx="2011680" cy="685800"/>
              </a:xfrm>
              <a:prstGeom prst="rect">
                <a:avLst/>
              </a:prstGeom>
              <a:noFill/>
              <a:ln/>
            </p:spPr>
            <p:txBody>
              <a:bodyPr wrap="non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×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 39">
                <a:extLst>
                  <a:ext uri="{FF2B5EF4-FFF2-40B4-BE49-F238E27FC236}">
                    <a16:creationId xmlns:a16="http://schemas.microsoft.com/office/drawing/2014/main" id="{881CDC0C-F01E-239D-B214-03CE3E27CC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120" y="2364932"/>
                <a:ext cx="2011680" cy="685800"/>
              </a:xfrm>
              <a:prstGeom prst="rect">
                <a:avLst/>
              </a:prstGeom>
              <a:blipFill>
                <a:blip r:embed="rId20"/>
                <a:stretch>
                  <a:fillRect b="-446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7004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rt, scatter chart&#10;&#10;Description automatically generated">
            <a:extLst>
              <a:ext uri="{FF2B5EF4-FFF2-40B4-BE49-F238E27FC236}">
                <a16:creationId xmlns:a16="http://schemas.microsoft.com/office/drawing/2014/main" id="{5BB55CFE-195D-5643-AAB2-4A7F2388A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0688"/>
            <a:ext cx="6000424" cy="4608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the Regression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62600" cy="5032375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Steps for Computing Regression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Plot your data!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Determine mean and SD for X and Y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Pearson </a:t>
            </a:r>
            <a:r>
              <a:rPr lang="en-CA" sz="2400" i="1" dirty="0"/>
              <a:t>r</a:t>
            </a:r>
            <a:endParaRPr lang="en-CA" sz="2400" dirty="0"/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slopes (</a:t>
            </a:r>
            <a:r>
              <a:rPr lang="en-CA" sz="2400" i="1" dirty="0"/>
              <a:t>b</a:t>
            </a:r>
            <a:r>
              <a:rPr lang="en-CA" sz="2400" i="1" baseline="-25000" dirty="0"/>
              <a:t>y</a:t>
            </a:r>
            <a:r>
              <a:rPr lang="en-CA" sz="2400" dirty="0"/>
              <a:t> &amp; </a:t>
            </a:r>
            <a:r>
              <a:rPr lang="en-CA" sz="2400" i="1" dirty="0"/>
              <a:t>b</a:t>
            </a:r>
            <a:r>
              <a:rPr lang="en-CA" sz="2400" i="1" baseline="-25000" dirty="0"/>
              <a:t>x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intercepts (</a:t>
            </a:r>
            <a:r>
              <a:rPr lang="en-CA" sz="2400" i="1" dirty="0"/>
              <a:t>a</a:t>
            </a:r>
            <a:r>
              <a:rPr lang="en-CA" sz="2400" i="1" baseline="-25000" dirty="0"/>
              <a:t>y</a:t>
            </a:r>
            <a:r>
              <a:rPr lang="en-CA" sz="2400" dirty="0"/>
              <a:t> &amp; </a:t>
            </a:r>
            <a:r>
              <a:rPr lang="en-CA" sz="2400" i="1" dirty="0"/>
              <a:t>a</a:t>
            </a:r>
            <a:r>
              <a:rPr lang="en-CA" sz="2400" i="1" baseline="-25000" dirty="0"/>
              <a:t>x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Define the regression lines (</a:t>
            </a:r>
            <a:r>
              <a:rPr lang="en-CA" sz="2400" i="1" dirty="0"/>
              <a:t>Y’</a:t>
            </a:r>
            <a:r>
              <a:rPr lang="en-CA" sz="2400" dirty="0"/>
              <a:t> &amp; </a:t>
            </a:r>
            <a:r>
              <a:rPr lang="en-CA" sz="2400" i="1" dirty="0"/>
              <a:t>X’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Plot the regression lines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standard error</a:t>
            </a:r>
            <a:endParaRPr lang="en-US" sz="2400" dirty="0"/>
          </a:p>
          <a:p>
            <a:endParaRPr lang="en-US" b="1" i="1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823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the Regression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62600" cy="5032375"/>
          </a:xfrm>
        </p:spPr>
        <p:txBody>
          <a:bodyPr/>
          <a:lstStyle/>
          <a:p>
            <a:pPr marL="0" indent="0">
              <a:buNone/>
            </a:pPr>
            <a:endParaRPr lang="en-US" b="1" i="1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A2A3D3FE-6AF7-024A-8533-5E73B8942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630737"/>
              </p:ext>
            </p:extLst>
          </p:nvPr>
        </p:nvGraphicFramePr>
        <p:xfrm>
          <a:off x="2442954" y="1690688"/>
          <a:ext cx="73060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3046">
                  <a:extLst>
                    <a:ext uri="{9D8B030D-6E8A-4147-A177-3AD203B41FA5}">
                      <a16:colId xmlns:a16="http://schemas.microsoft.com/office/drawing/2014/main" val="1386690989"/>
                    </a:ext>
                  </a:extLst>
                </a:gridCol>
                <a:gridCol w="3653046">
                  <a:extLst>
                    <a:ext uri="{9D8B030D-6E8A-4147-A177-3AD203B41FA5}">
                      <a16:colId xmlns:a16="http://schemas.microsoft.com/office/drawing/2014/main" val="258445613"/>
                    </a:ext>
                  </a:extLst>
                </a:gridCol>
              </a:tblGrid>
              <a:tr h="45523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Hours Exercising (X)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Wellness Score (Y)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384127"/>
                  </a:ext>
                </a:extLst>
              </a:tr>
              <a:tr h="45523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084006"/>
                  </a:ext>
                </a:extLst>
              </a:tr>
              <a:tr h="45523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879789"/>
                  </a:ext>
                </a:extLst>
              </a:tr>
              <a:tr h="45523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245199"/>
                  </a:ext>
                </a:extLst>
              </a:tr>
              <a:tr h="45523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858175"/>
                  </a:ext>
                </a:extLst>
              </a:tr>
              <a:tr h="45523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111120"/>
                  </a:ext>
                </a:extLst>
              </a:tr>
              <a:tr h="45523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698400"/>
                  </a:ext>
                </a:extLst>
              </a:tr>
              <a:tr h="45523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076168"/>
                  </a:ext>
                </a:extLst>
              </a:tr>
              <a:tr h="45523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722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7334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the Regression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62600" cy="5032375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Steps for Computing Regression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>
                <a:solidFill>
                  <a:srgbClr val="FF0000"/>
                </a:solidFill>
              </a:rPr>
              <a:t>Plot your data!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Determine mean and SD for X and Y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Pearson </a:t>
            </a:r>
            <a:r>
              <a:rPr lang="en-CA" sz="2400" i="1" dirty="0"/>
              <a:t>r</a:t>
            </a:r>
            <a:endParaRPr lang="en-CA" sz="2400" dirty="0"/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slopes (</a:t>
            </a:r>
            <a:r>
              <a:rPr lang="en-CA" sz="2400" i="1" dirty="0"/>
              <a:t>b</a:t>
            </a:r>
            <a:r>
              <a:rPr lang="en-CA" sz="2400" i="1" baseline="-25000" dirty="0"/>
              <a:t>y</a:t>
            </a:r>
            <a:r>
              <a:rPr lang="en-CA" sz="2400" dirty="0"/>
              <a:t> &amp; </a:t>
            </a:r>
            <a:r>
              <a:rPr lang="en-CA" sz="2400" i="1" dirty="0"/>
              <a:t>b</a:t>
            </a:r>
            <a:r>
              <a:rPr lang="en-CA" sz="2400" i="1" baseline="-25000" dirty="0"/>
              <a:t>x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intercepts (</a:t>
            </a:r>
            <a:r>
              <a:rPr lang="en-CA" sz="2400" i="1" dirty="0"/>
              <a:t>a</a:t>
            </a:r>
            <a:r>
              <a:rPr lang="en-CA" sz="2400" i="1" baseline="-25000" dirty="0"/>
              <a:t>y</a:t>
            </a:r>
            <a:r>
              <a:rPr lang="en-CA" sz="2400" dirty="0"/>
              <a:t> &amp; </a:t>
            </a:r>
            <a:r>
              <a:rPr lang="en-CA" sz="2400" i="1" dirty="0"/>
              <a:t>a</a:t>
            </a:r>
            <a:r>
              <a:rPr lang="en-CA" sz="2400" i="1" baseline="-25000" dirty="0"/>
              <a:t>x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Define the regression lines (</a:t>
            </a:r>
            <a:r>
              <a:rPr lang="en-CA" sz="2400" i="1" dirty="0"/>
              <a:t>Y’</a:t>
            </a:r>
            <a:r>
              <a:rPr lang="en-CA" sz="2400" dirty="0"/>
              <a:t> &amp; </a:t>
            </a:r>
            <a:r>
              <a:rPr lang="en-CA" sz="2400" i="1" dirty="0"/>
              <a:t>X’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Plot the regression lines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standard error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b="1" i="1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274F174C-0914-4E44-A0FF-A0226E4781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873" b="10995"/>
          <a:stretch/>
        </p:blipFill>
        <p:spPr>
          <a:xfrm>
            <a:off x="7058826" y="1690688"/>
            <a:ext cx="4884261" cy="43170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FE9B5D-FB0F-7441-86D3-1A4B749A9310}"/>
              </a:ext>
            </a:extLst>
          </p:cNvPr>
          <p:cNvSpPr txBox="1"/>
          <p:nvPr/>
        </p:nvSpPr>
        <p:spPr>
          <a:xfrm>
            <a:off x="8657303" y="6007693"/>
            <a:ext cx="1970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Hours Exercising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2CF1F-296D-2246-BA95-37CF0251AF90}"/>
              </a:ext>
            </a:extLst>
          </p:cNvPr>
          <p:cNvSpPr txBox="1"/>
          <p:nvPr/>
        </p:nvSpPr>
        <p:spPr>
          <a:xfrm rot="16200000">
            <a:off x="5984015" y="3491578"/>
            <a:ext cx="17495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Wellness Score</a:t>
            </a:r>
          </a:p>
        </p:txBody>
      </p:sp>
    </p:spTree>
    <p:extLst>
      <p:ext uri="{BB962C8B-B14F-4D97-AF65-F5344CB8AC3E}">
        <p14:creationId xmlns:p14="http://schemas.microsoft.com/office/powerpoint/2010/main" val="226184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the Regression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62600" cy="5032375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Steps for Computing Regression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Plot your data!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>
                <a:solidFill>
                  <a:srgbClr val="FF0000"/>
                </a:solidFill>
              </a:rPr>
              <a:t>Determine mean and SD for X and Y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Pearson </a:t>
            </a:r>
            <a:r>
              <a:rPr lang="en-CA" sz="2400" i="1" dirty="0"/>
              <a:t>r</a:t>
            </a:r>
            <a:endParaRPr lang="en-CA" sz="2400" dirty="0"/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slopes (</a:t>
            </a:r>
            <a:r>
              <a:rPr lang="en-CA" sz="2400" i="1" dirty="0"/>
              <a:t>b</a:t>
            </a:r>
            <a:r>
              <a:rPr lang="en-CA" sz="2400" i="1" baseline="-25000" dirty="0"/>
              <a:t>y</a:t>
            </a:r>
            <a:r>
              <a:rPr lang="en-CA" sz="2400" dirty="0"/>
              <a:t> &amp; </a:t>
            </a:r>
            <a:r>
              <a:rPr lang="en-CA" sz="2400" i="1" dirty="0"/>
              <a:t>b</a:t>
            </a:r>
            <a:r>
              <a:rPr lang="en-CA" sz="2400" i="1" baseline="-25000" dirty="0"/>
              <a:t>x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intercepts (</a:t>
            </a:r>
            <a:r>
              <a:rPr lang="en-CA" sz="2400" i="1" dirty="0"/>
              <a:t>a</a:t>
            </a:r>
            <a:r>
              <a:rPr lang="en-CA" sz="2400" i="1" baseline="-25000" dirty="0"/>
              <a:t>y</a:t>
            </a:r>
            <a:r>
              <a:rPr lang="en-CA" sz="2400" dirty="0"/>
              <a:t> &amp; </a:t>
            </a:r>
            <a:r>
              <a:rPr lang="en-CA" sz="2400" i="1" dirty="0"/>
              <a:t>a</a:t>
            </a:r>
            <a:r>
              <a:rPr lang="en-CA" sz="2400" i="1" baseline="-25000" dirty="0"/>
              <a:t>x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Define the regression lines (</a:t>
            </a:r>
            <a:r>
              <a:rPr lang="en-CA" sz="2400" i="1" dirty="0"/>
              <a:t>Y’</a:t>
            </a:r>
            <a:r>
              <a:rPr lang="en-CA" sz="2400" dirty="0"/>
              <a:t> &amp; </a:t>
            </a:r>
            <a:r>
              <a:rPr lang="en-CA" sz="2400" i="1" dirty="0"/>
              <a:t>X’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Plot the regression lines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standard error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endParaRPr lang="en-US" b="1" i="1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274F174C-0914-4E44-A0FF-A0226E4781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873" b="10995"/>
          <a:stretch/>
        </p:blipFill>
        <p:spPr>
          <a:xfrm>
            <a:off x="7058826" y="1690688"/>
            <a:ext cx="4884261" cy="43170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BBE6C5-5C78-D24E-8013-398B523365E9}"/>
              </a:ext>
            </a:extLst>
          </p:cNvPr>
          <p:cNvSpPr txBox="1"/>
          <p:nvPr/>
        </p:nvSpPr>
        <p:spPr>
          <a:xfrm>
            <a:off x="8657303" y="6007693"/>
            <a:ext cx="1970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Hours Exercising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078D18-0878-8144-A183-CD32B4588279}"/>
              </a:ext>
            </a:extLst>
          </p:cNvPr>
          <p:cNvSpPr txBox="1"/>
          <p:nvPr/>
        </p:nvSpPr>
        <p:spPr>
          <a:xfrm rot="16200000">
            <a:off x="5984015" y="3491578"/>
            <a:ext cx="17495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Wellness Score</a:t>
            </a:r>
          </a:p>
        </p:txBody>
      </p:sp>
    </p:spTree>
    <p:extLst>
      <p:ext uri="{BB962C8B-B14F-4D97-AF65-F5344CB8AC3E}">
        <p14:creationId xmlns:p14="http://schemas.microsoft.com/office/powerpoint/2010/main" val="39437767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the Regression Line</a:t>
            </a:r>
          </a:p>
        </p:txBody>
      </p:sp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32340E42-38DF-084B-A207-8F05058D7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69" y="1690688"/>
            <a:ext cx="11039061" cy="4816270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8AD0845-CB12-7F4A-8311-DE3BADEFAAF7}"/>
              </a:ext>
            </a:extLst>
          </p:cNvPr>
          <p:cNvSpPr/>
          <p:nvPr/>
        </p:nvSpPr>
        <p:spPr>
          <a:xfrm>
            <a:off x="427703" y="5560142"/>
            <a:ext cx="9763432" cy="94681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6A56AC-9E47-8E44-8615-20CF79938BF3}"/>
              </a:ext>
            </a:extLst>
          </p:cNvPr>
          <p:cNvSpPr txBox="1"/>
          <p:nvPr/>
        </p:nvSpPr>
        <p:spPr>
          <a:xfrm>
            <a:off x="123986" y="6488668"/>
            <a:ext cx="5404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x̅ = 5.0000, Ȳ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</a:t>
            </a:r>
          </a:p>
        </p:txBody>
      </p:sp>
    </p:spTree>
    <p:extLst>
      <p:ext uri="{BB962C8B-B14F-4D97-AF65-F5344CB8AC3E}">
        <p14:creationId xmlns:p14="http://schemas.microsoft.com/office/powerpoint/2010/main" val="2201604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the Regression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62600" cy="5032375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Steps for Computing Regression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Plot your data!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Determine mean and SD for X and Y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>
                <a:solidFill>
                  <a:srgbClr val="FF0000"/>
                </a:solidFill>
              </a:rPr>
              <a:t>Compute Pearson </a:t>
            </a:r>
            <a:r>
              <a:rPr lang="en-CA" sz="2400" i="1" dirty="0">
                <a:solidFill>
                  <a:srgbClr val="FF0000"/>
                </a:solidFill>
              </a:rPr>
              <a:t>r</a:t>
            </a:r>
            <a:endParaRPr lang="en-CA" sz="240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slopes (</a:t>
            </a:r>
            <a:r>
              <a:rPr lang="en-CA" sz="2400" i="1" dirty="0"/>
              <a:t>b</a:t>
            </a:r>
            <a:r>
              <a:rPr lang="en-CA" sz="2400" i="1" baseline="-25000" dirty="0"/>
              <a:t>y</a:t>
            </a:r>
            <a:r>
              <a:rPr lang="en-CA" sz="2400" dirty="0"/>
              <a:t> &amp; </a:t>
            </a:r>
            <a:r>
              <a:rPr lang="en-CA" sz="2400" i="1" dirty="0"/>
              <a:t>b</a:t>
            </a:r>
            <a:r>
              <a:rPr lang="en-CA" sz="2400" i="1" baseline="-25000" dirty="0"/>
              <a:t>x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intercepts (</a:t>
            </a:r>
            <a:r>
              <a:rPr lang="en-CA" sz="2400" i="1" dirty="0"/>
              <a:t>a</a:t>
            </a:r>
            <a:r>
              <a:rPr lang="en-CA" sz="2400" i="1" baseline="-25000" dirty="0"/>
              <a:t>y</a:t>
            </a:r>
            <a:r>
              <a:rPr lang="en-CA" sz="2400" dirty="0"/>
              <a:t> &amp; </a:t>
            </a:r>
            <a:r>
              <a:rPr lang="en-CA" sz="2400" i="1" dirty="0"/>
              <a:t>a</a:t>
            </a:r>
            <a:r>
              <a:rPr lang="en-CA" sz="2400" i="1" baseline="-25000" dirty="0"/>
              <a:t>x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Define the regression lines (</a:t>
            </a:r>
            <a:r>
              <a:rPr lang="en-CA" sz="2400" i="1" dirty="0"/>
              <a:t>Y’</a:t>
            </a:r>
            <a:r>
              <a:rPr lang="en-CA" sz="2400" dirty="0"/>
              <a:t> &amp; </a:t>
            </a:r>
            <a:r>
              <a:rPr lang="en-CA" sz="2400" i="1" dirty="0"/>
              <a:t>X’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Plot the regression lines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standard error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endParaRPr lang="en-US" b="1" i="1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274F174C-0914-4E44-A0FF-A0226E4781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873" b="10995"/>
          <a:stretch/>
        </p:blipFill>
        <p:spPr>
          <a:xfrm>
            <a:off x="7058826" y="1690688"/>
            <a:ext cx="4884261" cy="43170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BDE3FF-C8DF-1746-AAB1-EA4D64EA4466}"/>
              </a:ext>
            </a:extLst>
          </p:cNvPr>
          <p:cNvSpPr txBox="1"/>
          <p:nvPr/>
        </p:nvSpPr>
        <p:spPr>
          <a:xfrm>
            <a:off x="8657303" y="6007693"/>
            <a:ext cx="1970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Hours Exercising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227B43-DF8E-EA48-B023-9F780DED4BAF}"/>
              </a:ext>
            </a:extLst>
          </p:cNvPr>
          <p:cNvSpPr txBox="1"/>
          <p:nvPr/>
        </p:nvSpPr>
        <p:spPr>
          <a:xfrm rot="16200000">
            <a:off x="5984015" y="3491578"/>
            <a:ext cx="17495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Wellness Score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CAF22-E257-D041-A9BC-976489B2F831}"/>
              </a:ext>
            </a:extLst>
          </p:cNvPr>
          <p:cNvSpPr txBox="1"/>
          <p:nvPr/>
        </p:nvSpPr>
        <p:spPr>
          <a:xfrm>
            <a:off x="123986" y="6488668"/>
            <a:ext cx="5404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</a:t>
            </a:r>
          </a:p>
        </p:txBody>
      </p:sp>
    </p:spTree>
    <p:extLst>
      <p:ext uri="{BB962C8B-B14F-4D97-AF65-F5344CB8AC3E}">
        <p14:creationId xmlns:p14="http://schemas.microsoft.com/office/powerpoint/2010/main" val="1677258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the Regression Line</a:t>
            </a:r>
          </a:p>
        </p:txBody>
      </p:sp>
      <p:pic>
        <p:nvPicPr>
          <p:cNvPr id="4" name="Picture 3" descr="Graphical user interface, table&#10;&#10;Description automatically generated">
            <a:extLst>
              <a:ext uri="{FF2B5EF4-FFF2-40B4-BE49-F238E27FC236}">
                <a16:creationId xmlns:a16="http://schemas.microsoft.com/office/drawing/2014/main" id="{2037454F-3060-8A46-B67B-3451BDB7E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93" y="2053921"/>
            <a:ext cx="11159613" cy="4438954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088BB67-FAF7-1A49-93D4-0EA736CDF783}"/>
              </a:ext>
            </a:extLst>
          </p:cNvPr>
          <p:cNvSpPr/>
          <p:nvPr/>
        </p:nvSpPr>
        <p:spPr>
          <a:xfrm>
            <a:off x="3421625" y="5737122"/>
            <a:ext cx="4793227" cy="75575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0F8B9B-98E8-804F-9724-AA0A89C55E13}"/>
              </a:ext>
            </a:extLst>
          </p:cNvPr>
          <p:cNvSpPr txBox="1"/>
          <p:nvPr/>
        </p:nvSpPr>
        <p:spPr>
          <a:xfrm>
            <a:off x="123986" y="6488668"/>
            <a:ext cx="65806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</a:t>
            </a:r>
          </a:p>
        </p:txBody>
      </p:sp>
    </p:spTree>
    <p:extLst>
      <p:ext uri="{BB962C8B-B14F-4D97-AF65-F5344CB8AC3E}">
        <p14:creationId xmlns:p14="http://schemas.microsoft.com/office/powerpoint/2010/main" val="422486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the Regression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62600" cy="5032375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Steps for Computing Regression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Plot your data!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Determine mean and SD for X and Y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Pearson </a:t>
            </a:r>
            <a:r>
              <a:rPr lang="en-CA" sz="2400" i="1" dirty="0"/>
              <a:t>r</a:t>
            </a:r>
            <a:endParaRPr lang="en-CA" sz="2400" dirty="0"/>
          </a:p>
          <a:p>
            <a:pPr marL="514350" indent="-514350">
              <a:buFont typeface="+mj-lt"/>
              <a:buAutoNum type="arabicPeriod"/>
            </a:pPr>
            <a:r>
              <a:rPr lang="en-CA" sz="2400" dirty="0">
                <a:solidFill>
                  <a:srgbClr val="FF0000"/>
                </a:solidFill>
              </a:rPr>
              <a:t>Compute the slopes (</a:t>
            </a:r>
            <a:r>
              <a:rPr lang="en-CA" sz="2400" i="1" dirty="0">
                <a:solidFill>
                  <a:srgbClr val="FF0000"/>
                </a:solidFill>
              </a:rPr>
              <a:t>b</a:t>
            </a:r>
            <a:r>
              <a:rPr lang="en-CA" sz="2400" i="1" baseline="-25000" dirty="0">
                <a:solidFill>
                  <a:srgbClr val="FF0000"/>
                </a:solidFill>
              </a:rPr>
              <a:t>y</a:t>
            </a:r>
            <a:r>
              <a:rPr lang="en-CA" sz="2400" dirty="0">
                <a:solidFill>
                  <a:srgbClr val="FF0000"/>
                </a:solidFill>
              </a:rPr>
              <a:t> &amp; </a:t>
            </a:r>
            <a:r>
              <a:rPr lang="en-CA" sz="2400" i="1" dirty="0">
                <a:solidFill>
                  <a:srgbClr val="FF0000"/>
                </a:solidFill>
              </a:rPr>
              <a:t>b</a:t>
            </a:r>
            <a:r>
              <a:rPr lang="en-CA" sz="2400" i="1" baseline="-25000" dirty="0">
                <a:solidFill>
                  <a:srgbClr val="FF0000"/>
                </a:solidFill>
              </a:rPr>
              <a:t>x</a:t>
            </a:r>
            <a:r>
              <a:rPr lang="en-CA" sz="2400" dirty="0">
                <a:solidFill>
                  <a:srgbClr val="FF0000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intercepts (</a:t>
            </a:r>
            <a:r>
              <a:rPr lang="en-CA" sz="2400" i="1" dirty="0"/>
              <a:t>a</a:t>
            </a:r>
            <a:r>
              <a:rPr lang="en-CA" sz="2400" i="1" baseline="-25000" dirty="0"/>
              <a:t>y</a:t>
            </a:r>
            <a:r>
              <a:rPr lang="en-CA" sz="2400" dirty="0"/>
              <a:t> &amp; </a:t>
            </a:r>
            <a:r>
              <a:rPr lang="en-CA" sz="2400" i="1" dirty="0"/>
              <a:t>a</a:t>
            </a:r>
            <a:r>
              <a:rPr lang="en-CA" sz="2400" i="1" baseline="-25000" dirty="0"/>
              <a:t>x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Define the regression lines (</a:t>
            </a:r>
            <a:r>
              <a:rPr lang="en-CA" sz="2400" i="1" dirty="0"/>
              <a:t>Y’</a:t>
            </a:r>
            <a:r>
              <a:rPr lang="en-CA" sz="2400" dirty="0"/>
              <a:t> &amp; </a:t>
            </a:r>
            <a:r>
              <a:rPr lang="en-CA" sz="2400" i="1" dirty="0"/>
              <a:t>X’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Plot the regression lines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standard error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endParaRPr lang="en-US" b="1" i="1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274F174C-0914-4E44-A0FF-A0226E4781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873" b="10995"/>
          <a:stretch/>
        </p:blipFill>
        <p:spPr>
          <a:xfrm>
            <a:off x="7058826" y="1690688"/>
            <a:ext cx="4884261" cy="43170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E40DD4-5060-874E-9DBB-AE939E6660A8}"/>
              </a:ext>
            </a:extLst>
          </p:cNvPr>
          <p:cNvSpPr txBox="1"/>
          <p:nvPr/>
        </p:nvSpPr>
        <p:spPr>
          <a:xfrm>
            <a:off x="8657303" y="6007693"/>
            <a:ext cx="1970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Hours Exercising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FB2A3D-A3EE-234F-8D1D-5B7EE08FA58D}"/>
              </a:ext>
            </a:extLst>
          </p:cNvPr>
          <p:cNvSpPr txBox="1"/>
          <p:nvPr/>
        </p:nvSpPr>
        <p:spPr>
          <a:xfrm rot="16200000">
            <a:off x="5984015" y="3491578"/>
            <a:ext cx="17495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Wellness Score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236242-9006-9346-8BC1-8FF2B0E16369}"/>
              </a:ext>
            </a:extLst>
          </p:cNvPr>
          <p:cNvSpPr txBox="1"/>
          <p:nvPr/>
        </p:nvSpPr>
        <p:spPr>
          <a:xfrm>
            <a:off x="123986" y="6488668"/>
            <a:ext cx="65806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</a:t>
            </a:r>
          </a:p>
        </p:txBody>
      </p:sp>
    </p:spTree>
    <p:extLst>
      <p:ext uri="{BB962C8B-B14F-4D97-AF65-F5344CB8AC3E}">
        <p14:creationId xmlns:p14="http://schemas.microsoft.com/office/powerpoint/2010/main" val="38965374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Slope (</a:t>
            </a:r>
            <a:r>
              <a:rPr lang="en-US" i="1" dirty="0"/>
              <a:t>b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6E7B72-9D02-6541-B3B5-8648651E8A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5562600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Computation:</a:t>
                </a:r>
              </a:p>
              <a:p>
                <a:r>
                  <a:rPr lang="en-US" dirty="0"/>
                  <a:t>When predicting Y from X</a:t>
                </a:r>
              </a:p>
              <a:p>
                <a:pPr lvl="1"/>
                <a:r>
                  <a:rPr lang="en-US" dirty="0"/>
                  <a:t>For: Y’ = a</a:t>
                </a:r>
                <a:r>
                  <a:rPr lang="en-US" baseline="-25000" dirty="0"/>
                  <a:t>y</a:t>
                </a:r>
                <a:r>
                  <a:rPr lang="en-US" dirty="0"/>
                  <a:t> + </a:t>
                </a:r>
                <a:r>
                  <a:rPr lang="en-US" dirty="0" err="1">
                    <a:solidFill>
                      <a:srgbClr val="FF0000"/>
                    </a:solidFill>
                  </a:rPr>
                  <a:t>b</a:t>
                </a:r>
                <a:r>
                  <a:rPr lang="en-US" baseline="-25000" dirty="0" err="1">
                    <a:solidFill>
                      <a:srgbClr val="FF0000"/>
                    </a:solidFill>
                  </a:rPr>
                  <a:t>y</a:t>
                </a:r>
                <a:r>
                  <a:rPr lang="en-US" dirty="0" err="1"/>
                  <a:t>X</a:t>
                </a:r>
                <a:endParaRPr lang="en-US" i="1" dirty="0"/>
              </a:p>
              <a:p>
                <a:pPr lvl="1"/>
                <a:r>
                  <a:rPr lang="en-US" sz="2800" b="1" i="1" dirty="0"/>
                  <a:t>b</a:t>
                </a:r>
                <a:r>
                  <a:rPr lang="en-US" sz="2800" b="1" i="1" baseline="-25000" dirty="0"/>
                  <a:t>y</a:t>
                </a:r>
                <a:r>
                  <a:rPr lang="en-US" sz="2800" b="1" dirty="0"/>
                  <a:t> = </a:t>
                </a:r>
                <a14:m>
                  <m:oMath xmlns:m="http://schemas.openxmlformats.org/officeDocument/2006/math"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𝑟</m:t>
                    </m:r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𝑆𝐷</m:t>
                        </m:r>
                        <m:r>
                          <a:rPr lang="en-CA" sz="2800" b="0" i="1" baseline="-25000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𝑆𝐷</m:t>
                        </m:r>
                        <m:r>
                          <a:rPr lang="en-CA" sz="2800" b="0" i="1" baseline="-2500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b="1" i="1" dirty="0"/>
              </a:p>
              <a:p>
                <a:pPr lvl="1"/>
                <a:endParaRPr lang="en-US" b="1" i="1" dirty="0"/>
              </a:p>
              <a:p>
                <a:r>
                  <a:rPr lang="en-US" dirty="0"/>
                  <a:t>When predicting X from Y</a:t>
                </a:r>
              </a:p>
              <a:p>
                <a:pPr lvl="1"/>
                <a:r>
                  <a:rPr lang="en-US" dirty="0"/>
                  <a:t>For: X’ = a</a:t>
                </a:r>
                <a:r>
                  <a:rPr lang="en-US" baseline="-25000" dirty="0"/>
                  <a:t>x</a:t>
                </a:r>
                <a:r>
                  <a:rPr lang="en-US" dirty="0"/>
                  <a:t> + </a:t>
                </a:r>
                <a:r>
                  <a:rPr lang="en-US" dirty="0" err="1">
                    <a:solidFill>
                      <a:srgbClr val="FF0000"/>
                    </a:solidFill>
                  </a:rPr>
                  <a:t>b</a:t>
                </a:r>
                <a:r>
                  <a:rPr lang="en-US" baseline="-25000" dirty="0" err="1">
                    <a:solidFill>
                      <a:srgbClr val="FF0000"/>
                    </a:solidFill>
                  </a:rPr>
                  <a:t>x</a:t>
                </a:r>
                <a:r>
                  <a:rPr lang="en-US" dirty="0" err="1"/>
                  <a:t>Y</a:t>
                </a:r>
                <a:endParaRPr lang="en-US" b="1" i="1" dirty="0"/>
              </a:p>
              <a:p>
                <a:pPr lvl="1"/>
                <a:r>
                  <a:rPr lang="en-US" sz="2800" b="1" i="1" dirty="0"/>
                  <a:t>b</a:t>
                </a:r>
                <a:r>
                  <a:rPr lang="en-US" sz="2800" b="1" i="1" baseline="-25000" dirty="0"/>
                  <a:t>x</a:t>
                </a:r>
                <a:r>
                  <a:rPr lang="en-US" sz="2800" b="1" dirty="0"/>
                  <a:t> = </a:t>
                </a:r>
                <a14:m>
                  <m:oMath xmlns:m="http://schemas.openxmlformats.org/officeDocument/2006/math"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𝑟</m:t>
                    </m:r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𝑆𝐷</m:t>
                        </m:r>
                        <m:r>
                          <a:rPr lang="en-CA" sz="2800" b="0" i="1" baseline="-25000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𝑆𝐷</m:t>
                        </m:r>
                        <m:r>
                          <a:rPr lang="en-CA" sz="2800" b="0" i="1" baseline="-2500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6E7B72-9D02-6541-B3B5-8648651E8A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5562600" cy="5032375"/>
              </a:xfrm>
              <a:blipFill>
                <a:blip r:embed="rId2"/>
                <a:stretch>
                  <a:fillRect l="-2278" t="-2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Chart, scatter chart&#10;&#10;Description automatically generated">
            <a:extLst>
              <a:ext uri="{FF2B5EF4-FFF2-40B4-BE49-F238E27FC236}">
                <a16:creationId xmlns:a16="http://schemas.microsoft.com/office/drawing/2014/main" id="{50F3908D-C2C5-184B-9C60-A1A06635C2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873" b="10995"/>
          <a:stretch/>
        </p:blipFill>
        <p:spPr>
          <a:xfrm>
            <a:off x="7058826" y="1690688"/>
            <a:ext cx="4884261" cy="43170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3E3641-3283-5545-839B-79D64F9777F2}"/>
              </a:ext>
            </a:extLst>
          </p:cNvPr>
          <p:cNvSpPr txBox="1"/>
          <p:nvPr/>
        </p:nvSpPr>
        <p:spPr>
          <a:xfrm>
            <a:off x="8657303" y="6007693"/>
            <a:ext cx="1970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Hours Exercising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932440-3F0C-6843-B8C3-CD3B01F52039}"/>
              </a:ext>
            </a:extLst>
          </p:cNvPr>
          <p:cNvSpPr txBox="1"/>
          <p:nvPr/>
        </p:nvSpPr>
        <p:spPr>
          <a:xfrm rot="16200000">
            <a:off x="5984015" y="3491578"/>
            <a:ext cx="17495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Wellness Score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F876F7-154E-3E44-AED6-477A088768CA}"/>
              </a:ext>
            </a:extLst>
          </p:cNvPr>
          <p:cNvSpPr txBox="1"/>
          <p:nvPr/>
        </p:nvSpPr>
        <p:spPr>
          <a:xfrm>
            <a:off x="123986" y="6488668"/>
            <a:ext cx="6646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</a:t>
            </a:r>
          </a:p>
        </p:txBody>
      </p:sp>
    </p:spTree>
    <p:extLst>
      <p:ext uri="{BB962C8B-B14F-4D97-AF65-F5344CB8AC3E}">
        <p14:creationId xmlns:p14="http://schemas.microsoft.com/office/powerpoint/2010/main" val="236148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Slope (</a:t>
            </a:r>
            <a:r>
              <a:rPr lang="en-US" i="1" dirty="0"/>
              <a:t>b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6E7B72-9D02-6541-B3B5-8648651E8A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5562600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Computation:</a:t>
                </a:r>
              </a:p>
              <a:p>
                <a:r>
                  <a:rPr lang="en-US" dirty="0"/>
                  <a:t>When predicting Y from X</a:t>
                </a:r>
              </a:p>
              <a:p>
                <a:pPr lvl="1"/>
                <a:r>
                  <a:rPr lang="en-US" dirty="0"/>
                  <a:t>For: Y’ = a</a:t>
                </a:r>
                <a:r>
                  <a:rPr lang="en-US" baseline="-25000" dirty="0"/>
                  <a:t>y</a:t>
                </a:r>
                <a:r>
                  <a:rPr lang="en-US" dirty="0"/>
                  <a:t> + </a:t>
                </a:r>
                <a:r>
                  <a:rPr lang="en-US" dirty="0" err="1">
                    <a:solidFill>
                      <a:srgbClr val="FF0000"/>
                    </a:solidFill>
                  </a:rPr>
                  <a:t>b</a:t>
                </a:r>
                <a:r>
                  <a:rPr lang="en-US" baseline="-25000" dirty="0" err="1">
                    <a:solidFill>
                      <a:srgbClr val="FF0000"/>
                    </a:solidFill>
                  </a:rPr>
                  <a:t>y</a:t>
                </a:r>
                <a:r>
                  <a:rPr lang="en-US" dirty="0" err="1"/>
                  <a:t>X</a:t>
                </a:r>
                <a:endParaRPr lang="en-US" i="1" dirty="0"/>
              </a:p>
              <a:p>
                <a:pPr lvl="1"/>
                <a:r>
                  <a:rPr lang="en-US" sz="2800" b="1" i="1" dirty="0"/>
                  <a:t>b</a:t>
                </a:r>
                <a:r>
                  <a:rPr lang="en-US" sz="2800" b="1" i="1" baseline="-25000" dirty="0"/>
                  <a:t>y</a:t>
                </a:r>
                <a:r>
                  <a:rPr lang="en-US" sz="2800" b="1" dirty="0"/>
                  <a:t> = </a:t>
                </a:r>
                <a14:m>
                  <m:oMath xmlns:m="http://schemas.openxmlformats.org/officeDocument/2006/math"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𝑟</m:t>
                    </m:r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𝑆𝐷</m:t>
                        </m:r>
                        <m:r>
                          <a:rPr lang="en-CA" sz="2800" b="0" i="1" baseline="-25000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𝑆𝐷</m:t>
                        </m:r>
                        <m:r>
                          <a:rPr lang="en-CA" sz="2800" b="0" i="1" baseline="-2500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b="1" i="1" dirty="0"/>
                  <a:t> 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sz="2800" b="1" i="1" dirty="0"/>
                  <a:t>b</a:t>
                </a:r>
                <a:r>
                  <a:rPr lang="en-US" sz="2800" b="1" i="1" baseline="-25000" dirty="0"/>
                  <a:t>y</a:t>
                </a:r>
                <a:r>
                  <a:rPr lang="en-US" sz="2800" dirty="0"/>
                  <a:t> </a:t>
                </a:r>
                <a:r>
                  <a:rPr lang="en-US" sz="2800" b="1" dirty="0"/>
                  <a:t>=</a:t>
                </a:r>
                <a:r>
                  <a:rPr lang="en-US" sz="2800" dirty="0"/>
                  <a:t> </a:t>
                </a:r>
                <a:r>
                  <a:rPr lang="en-US" sz="2000" dirty="0"/>
                  <a:t>0.7500</a:t>
                </a:r>
                <a:r>
                  <a:rPr lang="en-US" dirty="0"/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000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sz="2800" b="1" i="1" dirty="0"/>
                  <a:t>b</a:t>
                </a:r>
                <a:r>
                  <a:rPr lang="en-US" sz="2800" b="1" i="1" baseline="-25000" dirty="0"/>
                  <a:t>y</a:t>
                </a:r>
                <a:r>
                  <a:rPr lang="en-US" sz="2800" b="1" dirty="0"/>
                  <a:t> =</a:t>
                </a:r>
                <a:r>
                  <a:rPr lang="en-US" sz="2800" dirty="0"/>
                  <a:t> </a:t>
                </a:r>
                <a:r>
                  <a:rPr lang="en-US" dirty="0"/>
                  <a:t>0.5000</a:t>
                </a:r>
              </a:p>
              <a:p>
                <a:pPr lvl="1"/>
                <a:endParaRPr lang="en-US" b="1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6E7B72-9D02-6541-B3B5-8648651E8A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5562600" cy="5032375"/>
              </a:xfrm>
              <a:blipFill>
                <a:blip r:embed="rId2"/>
                <a:stretch>
                  <a:fillRect l="-2278" t="-2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Chart, scatter chart&#10;&#10;Description automatically generated">
            <a:extLst>
              <a:ext uri="{FF2B5EF4-FFF2-40B4-BE49-F238E27FC236}">
                <a16:creationId xmlns:a16="http://schemas.microsoft.com/office/drawing/2014/main" id="{50F3908D-C2C5-184B-9C60-A1A06635C2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873" b="10995"/>
          <a:stretch/>
        </p:blipFill>
        <p:spPr>
          <a:xfrm>
            <a:off x="7058826" y="1690688"/>
            <a:ext cx="4884261" cy="43170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3E3641-3283-5545-839B-79D64F9777F2}"/>
              </a:ext>
            </a:extLst>
          </p:cNvPr>
          <p:cNvSpPr txBox="1"/>
          <p:nvPr/>
        </p:nvSpPr>
        <p:spPr>
          <a:xfrm>
            <a:off x="8657303" y="6007693"/>
            <a:ext cx="1970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Hours Exercising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932440-3F0C-6843-B8C3-CD3B01F52039}"/>
              </a:ext>
            </a:extLst>
          </p:cNvPr>
          <p:cNvSpPr txBox="1"/>
          <p:nvPr/>
        </p:nvSpPr>
        <p:spPr>
          <a:xfrm rot="16200000">
            <a:off x="5984015" y="3491578"/>
            <a:ext cx="17495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Wellness Score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28C963-DA88-B948-BDC7-E942D8035646}"/>
              </a:ext>
            </a:extLst>
          </p:cNvPr>
          <p:cNvSpPr txBox="1"/>
          <p:nvPr/>
        </p:nvSpPr>
        <p:spPr>
          <a:xfrm>
            <a:off x="123986" y="6488668"/>
            <a:ext cx="79239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0.7500, b</a:t>
            </a:r>
            <a:r>
              <a:rPr lang="en-US" sz="2000" i="1" baseline="-25000" dirty="0"/>
              <a:t>y</a:t>
            </a:r>
            <a:r>
              <a:rPr lang="en-US" sz="2000" i="1" dirty="0"/>
              <a:t> = 0.5000</a:t>
            </a:r>
          </a:p>
        </p:txBody>
      </p:sp>
    </p:spTree>
    <p:extLst>
      <p:ext uri="{BB962C8B-B14F-4D97-AF65-F5344CB8AC3E}">
        <p14:creationId xmlns:p14="http://schemas.microsoft.com/office/powerpoint/2010/main" val="331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Slope (</a:t>
            </a:r>
            <a:r>
              <a:rPr lang="en-US" i="1" dirty="0"/>
              <a:t>b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6E7B72-9D02-6541-B3B5-8648651E8A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5562600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Computation:</a:t>
                </a:r>
              </a:p>
              <a:p>
                <a:r>
                  <a:rPr lang="en-US" dirty="0"/>
                  <a:t>When predicting Y from X</a:t>
                </a:r>
              </a:p>
              <a:p>
                <a:pPr lvl="1"/>
                <a:r>
                  <a:rPr lang="en-US" dirty="0"/>
                  <a:t>For: Y’ = a</a:t>
                </a:r>
                <a:r>
                  <a:rPr lang="en-US" baseline="-25000" dirty="0"/>
                  <a:t>y</a:t>
                </a:r>
                <a:r>
                  <a:rPr lang="en-US" dirty="0"/>
                  <a:t> + </a:t>
                </a:r>
                <a:r>
                  <a:rPr lang="en-US" dirty="0" err="1">
                    <a:solidFill>
                      <a:srgbClr val="FF0000"/>
                    </a:solidFill>
                  </a:rPr>
                  <a:t>b</a:t>
                </a:r>
                <a:r>
                  <a:rPr lang="en-US" baseline="-25000" dirty="0" err="1">
                    <a:solidFill>
                      <a:srgbClr val="FF0000"/>
                    </a:solidFill>
                  </a:rPr>
                  <a:t>y</a:t>
                </a:r>
                <a:r>
                  <a:rPr lang="en-US" dirty="0" err="1"/>
                  <a:t>X</a:t>
                </a:r>
                <a:endParaRPr lang="en-US" i="1" dirty="0"/>
              </a:p>
              <a:p>
                <a:pPr lvl="1"/>
                <a:r>
                  <a:rPr lang="en-US" sz="2800" b="1" i="1" dirty="0"/>
                  <a:t>b</a:t>
                </a:r>
                <a:r>
                  <a:rPr lang="en-US" sz="2800" b="1" i="1" baseline="-25000" dirty="0"/>
                  <a:t>y</a:t>
                </a:r>
                <a:r>
                  <a:rPr lang="en-US" sz="2800" b="1" dirty="0"/>
                  <a:t> = </a:t>
                </a:r>
                <a14:m>
                  <m:oMath xmlns:m="http://schemas.openxmlformats.org/officeDocument/2006/math"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𝑟</m:t>
                    </m:r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𝑆𝐷</m:t>
                        </m:r>
                        <m:r>
                          <a:rPr lang="en-CA" sz="2800" b="0" i="1" baseline="-25000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𝑆𝐷</m:t>
                        </m:r>
                        <m:r>
                          <a:rPr lang="en-CA" sz="2800" b="0" i="1" baseline="-2500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b="1" i="1" dirty="0"/>
                  <a:t> </a:t>
                </a:r>
                <a:r>
                  <a:rPr lang="en-US" dirty="0"/>
                  <a:t>= </a:t>
                </a:r>
                <a:r>
                  <a:rPr lang="en-US" sz="2000" dirty="0"/>
                  <a:t>0.7500</a:t>
                </a:r>
                <a:r>
                  <a:rPr lang="en-US" dirty="0"/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CA" b="0" i="0" smtClean="0">
                            <a:latin typeface="Cambria Math" panose="02040503050406030204" pitchFamily="18" charset="0"/>
                          </a:rPr>
                          <m:t>000</m:t>
                        </m:r>
                      </m:den>
                    </m:f>
                  </m:oMath>
                </a14:m>
                <a:r>
                  <a:rPr lang="en-US" dirty="0"/>
                  <a:t> = 0.5000</a:t>
                </a:r>
              </a:p>
              <a:p>
                <a:pPr lvl="1"/>
                <a:endParaRPr lang="en-US" b="1" i="1" dirty="0"/>
              </a:p>
              <a:p>
                <a:r>
                  <a:rPr lang="en-US" dirty="0"/>
                  <a:t>When predicting X from Y</a:t>
                </a:r>
              </a:p>
              <a:p>
                <a:pPr lvl="1"/>
                <a:r>
                  <a:rPr lang="en-US" dirty="0"/>
                  <a:t>For: X’ = a</a:t>
                </a:r>
                <a:r>
                  <a:rPr lang="en-US" baseline="-25000" dirty="0"/>
                  <a:t>x</a:t>
                </a:r>
                <a:r>
                  <a:rPr lang="en-US" dirty="0"/>
                  <a:t> + </a:t>
                </a:r>
                <a:r>
                  <a:rPr lang="en-US" dirty="0" err="1">
                    <a:solidFill>
                      <a:srgbClr val="FF0000"/>
                    </a:solidFill>
                  </a:rPr>
                  <a:t>b</a:t>
                </a:r>
                <a:r>
                  <a:rPr lang="en-US" baseline="-25000" dirty="0" err="1">
                    <a:solidFill>
                      <a:srgbClr val="FF0000"/>
                    </a:solidFill>
                  </a:rPr>
                  <a:t>x</a:t>
                </a:r>
                <a:r>
                  <a:rPr lang="en-US" dirty="0" err="1"/>
                  <a:t>Y</a:t>
                </a:r>
                <a:endParaRPr lang="en-US" b="1" i="1" dirty="0"/>
              </a:p>
              <a:p>
                <a:pPr lvl="1"/>
                <a:r>
                  <a:rPr lang="en-US" sz="2800" b="1" i="1" dirty="0"/>
                  <a:t>b</a:t>
                </a:r>
                <a:r>
                  <a:rPr lang="en-US" sz="2800" b="1" i="1" baseline="-25000" dirty="0"/>
                  <a:t>x</a:t>
                </a:r>
                <a:r>
                  <a:rPr lang="en-US" sz="2800" b="1" dirty="0"/>
                  <a:t> = </a:t>
                </a:r>
                <a14:m>
                  <m:oMath xmlns:m="http://schemas.openxmlformats.org/officeDocument/2006/math"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𝑟</m:t>
                    </m:r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𝑆𝐷</m:t>
                        </m:r>
                        <m:r>
                          <a:rPr lang="en-CA" sz="2800" b="0" i="1" baseline="-25000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𝑆𝐷</m:t>
                        </m:r>
                        <m:r>
                          <a:rPr lang="en-CA" sz="2800" b="0" i="1" baseline="-2500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sz="2800" dirty="0"/>
                  <a:t>  </a:t>
                </a:r>
              </a:p>
              <a:p>
                <a:pPr lvl="1"/>
                <a:r>
                  <a:rPr lang="en-US" sz="2800" b="1" i="1" dirty="0"/>
                  <a:t>b</a:t>
                </a:r>
                <a:r>
                  <a:rPr lang="en-US" sz="2800" b="1" i="1" baseline="-25000" dirty="0"/>
                  <a:t>x  </a:t>
                </a:r>
                <a:r>
                  <a:rPr lang="en-US" sz="2800" b="1" dirty="0"/>
                  <a:t>=</a:t>
                </a:r>
                <a:r>
                  <a:rPr lang="en-US" sz="2800" b="1" i="1" dirty="0"/>
                  <a:t> </a:t>
                </a:r>
                <a:r>
                  <a:rPr lang="en-US" sz="2000" dirty="0"/>
                  <a:t>0.7500</a:t>
                </a:r>
                <a:r>
                  <a:rPr lang="en-US" sz="2800" dirty="0"/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800" b="0" i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CA" sz="2800" b="0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CA" sz="2800" b="0" i="0" smtClean="0"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r>
                          <a:rPr lang="en-CA" sz="2800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sz="2800" b="0" i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CA" sz="2800" b="0" i="0" smtClean="0">
                            <a:latin typeface="Cambria Math" panose="02040503050406030204" pitchFamily="18" charset="0"/>
                          </a:rPr>
                          <m:t>000</m:t>
                        </m:r>
                      </m:den>
                    </m:f>
                    <m:r>
                      <a:rPr lang="en-CA" sz="28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1" dirty="0"/>
                  <a:t>= </a:t>
                </a:r>
                <a:r>
                  <a:rPr lang="en-US" dirty="0"/>
                  <a:t>1.1250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6E7B72-9D02-6541-B3B5-8648651E8A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5562600" cy="5032375"/>
              </a:xfrm>
              <a:blipFill>
                <a:blip r:embed="rId2"/>
                <a:stretch>
                  <a:fillRect l="-2278" t="-2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2CAC765-4B15-FD4F-A540-A673443C6ADD}"/>
              </a:ext>
            </a:extLst>
          </p:cNvPr>
          <p:cNvSpPr txBox="1"/>
          <p:nvPr/>
        </p:nvSpPr>
        <p:spPr>
          <a:xfrm>
            <a:off x="123986" y="6488668"/>
            <a:ext cx="92223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0.7500, b</a:t>
            </a:r>
            <a:r>
              <a:rPr lang="en-US" sz="2000" i="1" baseline="-25000" dirty="0"/>
              <a:t>y</a:t>
            </a:r>
            <a:r>
              <a:rPr lang="en-US" sz="2000" i="1" dirty="0"/>
              <a:t> = 0.5000, b</a:t>
            </a:r>
            <a:r>
              <a:rPr lang="en-US" sz="2000" i="1" baseline="-25000" dirty="0"/>
              <a:t>x</a:t>
            </a:r>
            <a:r>
              <a:rPr lang="en-US" sz="2000" i="1" dirty="0"/>
              <a:t> = 1.1250</a:t>
            </a:r>
          </a:p>
        </p:txBody>
      </p:sp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D1536C4E-4D78-4F40-9DCB-2B7D26B47C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873" b="10995"/>
          <a:stretch/>
        </p:blipFill>
        <p:spPr>
          <a:xfrm>
            <a:off x="7058826" y="1690688"/>
            <a:ext cx="4884261" cy="431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10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the Regression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62600" cy="5032375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Steps for Computing Regression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Plot your data!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Determine mean and SD for X and Y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Pearson </a:t>
            </a:r>
            <a:r>
              <a:rPr lang="en-CA" sz="2400" i="1" dirty="0"/>
              <a:t>r</a:t>
            </a:r>
            <a:endParaRPr lang="en-CA" sz="2400" dirty="0"/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slopes (</a:t>
            </a:r>
            <a:r>
              <a:rPr lang="en-CA" sz="2400" i="1" dirty="0"/>
              <a:t>b</a:t>
            </a:r>
            <a:r>
              <a:rPr lang="en-CA" sz="2400" i="1" baseline="-25000" dirty="0"/>
              <a:t>y</a:t>
            </a:r>
            <a:r>
              <a:rPr lang="en-CA" sz="2400" dirty="0"/>
              <a:t> &amp; </a:t>
            </a:r>
            <a:r>
              <a:rPr lang="en-CA" sz="2400" i="1" dirty="0"/>
              <a:t>b</a:t>
            </a:r>
            <a:r>
              <a:rPr lang="en-CA" sz="2400" i="1" baseline="-25000" dirty="0"/>
              <a:t>x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>
                <a:solidFill>
                  <a:srgbClr val="FF0000"/>
                </a:solidFill>
              </a:rPr>
              <a:t>Compute the intercepts (</a:t>
            </a:r>
            <a:r>
              <a:rPr lang="en-CA" sz="2400" i="1" dirty="0">
                <a:solidFill>
                  <a:srgbClr val="FF0000"/>
                </a:solidFill>
              </a:rPr>
              <a:t>a</a:t>
            </a:r>
            <a:r>
              <a:rPr lang="en-CA" sz="2400" i="1" baseline="-25000" dirty="0">
                <a:solidFill>
                  <a:srgbClr val="FF0000"/>
                </a:solidFill>
              </a:rPr>
              <a:t>y</a:t>
            </a:r>
            <a:r>
              <a:rPr lang="en-CA" sz="2400" dirty="0">
                <a:solidFill>
                  <a:srgbClr val="FF0000"/>
                </a:solidFill>
              </a:rPr>
              <a:t> &amp; </a:t>
            </a:r>
            <a:r>
              <a:rPr lang="en-CA" sz="2400" i="1" dirty="0">
                <a:solidFill>
                  <a:srgbClr val="FF0000"/>
                </a:solidFill>
              </a:rPr>
              <a:t>a</a:t>
            </a:r>
            <a:r>
              <a:rPr lang="en-CA" sz="2400" i="1" baseline="-25000" dirty="0">
                <a:solidFill>
                  <a:srgbClr val="FF0000"/>
                </a:solidFill>
              </a:rPr>
              <a:t>x</a:t>
            </a:r>
            <a:r>
              <a:rPr lang="en-CA" sz="2400" dirty="0">
                <a:solidFill>
                  <a:srgbClr val="FF0000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Define the regression lines (</a:t>
            </a:r>
            <a:r>
              <a:rPr lang="en-CA" sz="2400" i="1" dirty="0"/>
              <a:t>Y’</a:t>
            </a:r>
            <a:r>
              <a:rPr lang="en-CA" sz="2400" dirty="0"/>
              <a:t> &amp; </a:t>
            </a:r>
            <a:r>
              <a:rPr lang="en-CA" sz="2400" i="1" dirty="0"/>
              <a:t>X’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Plot the regression lines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standard error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endParaRPr lang="en-US" b="1" i="1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52885DE-8A5C-9246-BAA0-524561B6FCFE}"/>
              </a:ext>
            </a:extLst>
          </p:cNvPr>
          <p:cNvGrpSpPr/>
          <p:nvPr/>
        </p:nvGrpSpPr>
        <p:grpSpPr>
          <a:xfrm>
            <a:off x="7574263" y="506545"/>
            <a:ext cx="3479047" cy="5844910"/>
            <a:chOff x="7574263" y="506545"/>
            <a:chExt cx="3479047" cy="58449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E7115DA-74D2-394C-B340-419C3399668F}"/>
                </a:ext>
              </a:extLst>
            </p:cNvPr>
            <p:cNvSpPr txBox="1"/>
            <p:nvPr/>
          </p:nvSpPr>
          <p:spPr>
            <a:xfrm>
              <a:off x="8776929" y="6012901"/>
              <a:ext cx="1617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680A627-F612-204A-BBE3-A0BE94F42A2D}"/>
                </a:ext>
              </a:extLst>
            </p:cNvPr>
            <p:cNvSpPr txBox="1"/>
            <p:nvPr/>
          </p:nvSpPr>
          <p:spPr>
            <a:xfrm rot="16200000">
              <a:off x="7022028" y="1550907"/>
              <a:ext cx="1443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  <p:pic>
          <p:nvPicPr>
            <p:cNvPr id="11" name="Picture 10" descr="Chart, scatter chart&#10;&#10;Description automatically generated">
              <a:extLst>
                <a:ext uri="{FF2B5EF4-FFF2-40B4-BE49-F238E27FC236}">
                  <a16:creationId xmlns:a16="http://schemas.microsoft.com/office/drawing/2014/main" id="{C26F6BFE-EE9F-0043-AC51-3EBFDDD2A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85488" y="506545"/>
              <a:ext cx="3067822" cy="550114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128FF6-99C4-7140-B876-1C80CB3CBAA4}"/>
                </a:ext>
              </a:extLst>
            </p:cNvPr>
            <p:cNvSpPr txBox="1"/>
            <p:nvPr/>
          </p:nvSpPr>
          <p:spPr>
            <a:xfrm>
              <a:off x="8776929" y="3090446"/>
              <a:ext cx="161775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E5A2E6-70E8-4C4E-AFB4-F62F139AE72A}"/>
                </a:ext>
              </a:extLst>
            </p:cNvPr>
            <p:cNvSpPr txBox="1"/>
            <p:nvPr/>
          </p:nvSpPr>
          <p:spPr>
            <a:xfrm rot="16200000">
              <a:off x="7022028" y="4549747"/>
              <a:ext cx="1443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F5FE08E-1F92-524B-83E7-6D6B368FDEBC}"/>
              </a:ext>
            </a:extLst>
          </p:cNvPr>
          <p:cNvSpPr txBox="1"/>
          <p:nvPr/>
        </p:nvSpPr>
        <p:spPr>
          <a:xfrm>
            <a:off x="123986" y="6488668"/>
            <a:ext cx="92223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0.7500, b</a:t>
            </a:r>
            <a:r>
              <a:rPr lang="en-US" sz="2000" i="1" baseline="-25000" dirty="0"/>
              <a:t>y</a:t>
            </a:r>
            <a:r>
              <a:rPr lang="en-US" sz="2000" i="1" dirty="0"/>
              <a:t> = 0.5000, b</a:t>
            </a:r>
            <a:r>
              <a:rPr lang="en-US" sz="2000" i="1" baseline="-25000" dirty="0"/>
              <a:t>x</a:t>
            </a:r>
            <a:r>
              <a:rPr lang="en-US" sz="2000" i="1" dirty="0"/>
              <a:t> = 1.1250</a:t>
            </a:r>
          </a:p>
        </p:txBody>
      </p:sp>
    </p:spTree>
    <p:extLst>
      <p:ext uri="{BB962C8B-B14F-4D97-AF65-F5344CB8AC3E}">
        <p14:creationId xmlns:p14="http://schemas.microsoft.com/office/powerpoint/2010/main" val="23026795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Intercept (</a:t>
            </a:r>
            <a:r>
              <a:rPr lang="en-US" i="1" dirty="0"/>
              <a:t>a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62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Computation:</a:t>
            </a:r>
          </a:p>
          <a:p>
            <a:r>
              <a:rPr lang="en-US" dirty="0"/>
              <a:t>When predicting Y from X</a:t>
            </a:r>
          </a:p>
          <a:p>
            <a:pPr lvl="1"/>
            <a:r>
              <a:rPr lang="en-US" sz="2800" dirty="0"/>
              <a:t>For: Y’ = </a:t>
            </a:r>
            <a:r>
              <a:rPr lang="en-US" sz="2800" dirty="0">
                <a:solidFill>
                  <a:srgbClr val="FF0000"/>
                </a:solidFill>
              </a:rPr>
              <a:t>a</a:t>
            </a:r>
            <a:r>
              <a:rPr lang="en-US" sz="2800" baseline="-25000" dirty="0">
                <a:solidFill>
                  <a:srgbClr val="FF0000"/>
                </a:solidFill>
              </a:rPr>
              <a:t>y</a:t>
            </a:r>
            <a:r>
              <a:rPr lang="en-US" sz="2800" dirty="0"/>
              <a:t> + </a:t>
            </a:r>
            <a:r>
              <a:rPr lang="en-US" sz="2800" dirty="0" err="1"/>
              <a:t>b</a:t>
            </a:r>
            <a:r>
              <a:rPr lang="en-US" sz="2800" baseline="-25000" dirty="0" err="1"/>
              <a:t>y</a:t>
            </a:r>
            <a:r>
              <a:rPr lang="en-US" sz="2800" dirty="0" err="1"/>
              <a:t>X</a:t>
            </a:r>
            <a:endParaRPr lang="en-US" sz="2800" i="1" dirty="0"/>
          </a:p>
          <a:p>
            <a:pPr lvl="1"/>
            <a:r>
              <a:rPr lang="en-US" sz="2800" b="1" dirty="0"/>
              <a:t>a</a:t>
            </a:r>
            <a:r>
              <a:rPr lang="en-US" sz="2800" b="1" baseline="-25000" dirty="0"/>
              <a:t>y</a:t>
            </a:r>
            <a:r>
              <a:rPr lang="en-US" sz="2800" dirty="0"/>
              <a:t> = y̅ - b</a:t>
            </a:r>
            <a:r>
              <a:rPr lang="en-US" sz="2800" baseline="-25000" dirty="0"/>
              <a:t>y</a:t>
            </a:r>
            <a:r>
              <a:rPr lang="en-US" sz="2800" dirty="0"/>
              <a:t>(</a:t>
            </a:r>
            <a:r>
              <a:rPr lang="en-CA" sz="2800" dirty="0"/>
              <a:t>x̅)</a:t>
            </a:r>
          </a:p>
          <a:p>
            <a:pPr lvl="2"/>
            <a:r>
              <a:rPr lang="en-US" sz="2400" i="1" dirty="0"/>
              <a:t>This is where the regression line hits the Y-axis</a:t>
            </a:r>
          </a:p>
          <a:p>
            <a:pPr marL="457200" lvl="1" indent="0">
              <a:buNone/>
            </a:pPr>
            <a:endParaRPr lang="en-US" b="1" i="1" dirty="0"/>
          </a:p>
          <a:p>
            <a:r>
              <a:rPr lang="en-US" dirty="0"/>
              <a:t>When predicting X from Y</a:t>
            </a:r>
          </a:p>
          <a:p>
            <a:pPr lvl="1"/>
            <a:r>
              <a:rPr lang="en-US" sz="2800" dirty="0"/>
              <a:t>For: X’ = </a:t>
            </a:r>
            <a:r>
              <a:rPr lang="en-US" sz="2800" dirty="0">
                <a:solidFill>
                  <a:srgbClr val="FF0000"/>
                </a:solidFill>
              </a:rPr>
              <a:t>a</a:t>
            </a:r>
            <a:r>
              <a:rPr lang="en-US" sz="2800" baseline="-25000" dirty="0">
                <a:solidFill>
                  <a:srgbClr val="FF0000"/>
                </a:solidFill>
              </a:rPr>
              <a:t>x</a:t>
            </a:r>
            <a:r>
              <a:rPr lang="en-US" sz="2800" dirty="0"/>
              <a:t> + </a:t>
            </a:r>
            <a:r>
              <a:rPr lang="en-US" sz="2800" dirty="0" err="1"/>
              <a:t>b</a:t>
            </a:r>
            <a:r>
              <a:rPr lang="en-US" sz="2800" baseline="-25000" dirty="0" err="1"/>
              <a:t>x</a:t>
            </a:r>
            <a:r>
              <a:rPr lang="en-US" sz="2800" dirty="0" err="1"/>
              <a:t>Y</a:t>
            </a:r>
            <a:endParaRPr lang="en-US" sz="2800" b="1" i="1" dirty="0"/>
          </a:p>
          <a:p>
            <a:pPr lvl="1"/>
            <a:r>
              <a:rPr lang="en-US" sz="2800" b="1" dirty="0"/>
              <a:t>a</a:t>
            </a:r>
            <a:r>
              <a:rPr lang="en-US" sz="2800" b="1" baseline="-25000" dirty="0"/>
              <a:t>x</a:t>
            </a:r>
            <a:r>
              <a:rPr lang="en-US" sz="2800" dirty="0"/>
              <a:t> = x̅- b</a:t>
            </a:r>
            <a:r>
              <a:rPr lang="en-US" sz="2800" baseline="-25000" dirty="0"/>
              <a:t>x</a:t>
            </a:r>
            <a:r>
              <a:rPr lang="en-US" sz="2800" dirty="0"/>
              <a:t>(y̅)</a:t>
            </a:r>
          </a:p>
          <a:p>
            <a:pPr lvl="2"/>
            <a:r>
              <a:rPr lang="en-US" sz="2400" i="1" dirty="0"/>
              <a:t>This is where the regression line hits the X-axis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B4CA7F-C754-3D45-909D-B88A2B684ABC}"/>
              </a:ext>
            </a:extLst>
          </p:cNvPr>
          <p:cNvGrpSpPr/>
          <p:nvPr/>
        </p:nvGrpSpPr>
        <p:grpSpPr>
          <a:xfrm>
            <a:off x="7574263" y="506545"/>
            <a:ext cx="3479047" cy="5844910"/>
            <a:chOff x="7574263" y="506545"/>
            <a:chExt cx="3479047" cy="58449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8120294-5504-724C-B2B2-E375BE2460BB}"/>
                </a:ext>
              </a:extLst>
            </p:cNvPr>
            <p:cNvSpPr txBox="1"/>
            <p:nvPr/>
          </p:nvSpPr>
          <p:spPr>
            <a:xfrm>
              <a:off x="8776929" y="6012901"/>
              <a:ext cx="1617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6010695-172C-5E4B-8851-C82476E9F2C6}"/>
                </a:ext>
              </a:extLst>
            </p:cNvPr>
            <p:cNvSpPr txBox="1"/>
            <p:nvPr/>
          </p:nvSpPr>
          <p:spPr>
            <a:xfrm rot="16200000">
              <a:off x="7022028" y="1550907"/>
              <a:ext cx="1443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  <p:pic>
          <p:nvPicPr>
            <p:cNvPr id="12" name="Picture 11" descr="Chart, scatter chart&#10;&#10;Description automatically generated">
              <a:extLst>
                <a:ext uri="{FF2B5EF4-FFF2-40B4-BE49-F238E27FC236}">
                  <a16:creationId xmlns:a16="http://schemas.microsoft.com/office/drawing/2014/main" id="{6F61F65F-0823-BA49-8E32-D4A4F8B2A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85488" y="506545"/>
              <a:ext cx="3067822" cy="550114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D2B4938-1F1E-D445-BB49-7E0EF11B1ACE}"/>
                </a:ext>
              </a:extLst>
            </p:cNvPr>
            <p:cNvSpPr txBox="1"/>
            <p:nvPr/>
          </p:nvSpPr>
          <p:spPr>
            <a:xfrm>
              <a:off x="8776929" y="3090446"/>
              <a:ext cx="161775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21D3E49-6A11-C540-AE35-D262616F8A94}"/>
                </a:ext>
              </a:extLst>
            </p:cNvPr>
            <p:cNvSpPr txBox="1"/>
            <p:nvPr/>
          </p:nvSpPr>
          <p:spPr>
            <a:xfrm rot="16200000">
              <a:off x="7022028" y="4549747"/>
              <a:ext cx="1443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C9907AD-B042-F54B-953D-091F1268505A}"/>
              </a:ext>
            </a:extLst>
          </p:cNvPr>
          <p:cNvSpPr txBox="1"/>
          <p:nvPr/>
        </p:nvSpPr>
        <p:spPr>
          <a:xfrm>
            <a:off x="123986" y="6488668"/>
            <a:ext cx="92223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0.7500, b</a:t>
            </a:r>
            <a:r>
              <a:rPr lang="en-US" sz="2000" i="1" baseline="-25000" dirty="0"/>
              <a:t>y</a:t>
            </a:r>
            <a:r>
              <a:rPr lang="en-US" sz="2000" i="1" dirty="0"/>
              <a:t> = 0.5000, b</a:t>
            </a:r>
            <a:r>
              <a:rPr lang="en-US" sz="2000" i="1" baseline="-25000" dirty="0"/>
              <a:t>x</a:t>
            </a:r>
            <a:r>
              <a:rPr lang="en-US" sz="2000" i="1" dirty="0"/>
              <a:t> = 1.1250</a:t>
            </a:r>
          </a:p>
        </p:txBody>
      </p:sp>
    </p:spTree>
    <p:extLst>
      <p:ext uri="{BB962C8B-B14F-4D97-AF65-F5344CB8AC3E}">
        <p14:creationId xmlns:p14="http://schemas.microsoft.com/office/powerpoint/2010/main" val="823320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Intercept (</a:t>
            </a:r>
            <a:r>
              <a:rPr lang="en-US" i="1" dirty="0"/>
              <a:t>a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62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Computation:</a:t>
            </a:r>
          </a:p>
          <a:p>
            <a:r>
              <a:rPr lang="en-US" dirty="0"/>
              <a:t>When predicting Y from X</a:t>
            </a:r>
          </a:p>
          <a:p>
            <a:pPr lvl="1"/>
            <a:r>
              <a:rPr lang="en-US" sz="2800" dirty="0"/>
              <a:t>For: Y’ = </a:t>
            </a:r>
            <a:r>
              <a:rPr lang="en-US" sz="2800" dirty="0">
                <a:solidFill>
                  <a:srgbClr val="FF0000"/>
                </a:solidFill>
              </a:rPr>
              <a:t>a</a:t>
            </a:r>
            <a:r>
              <a:rPr lang="en-US" sz="2800" baseline="-25000" dirty="0">
                <a:solidFill>
                  <a:srgbClr val="FF0000"/>
                </a:solidFill>
              </a:rPr>
              <a:t>y</a:t>
            </a:r>
            <a:r>
              <a:rPr lang="en-US" sz="2800" dirty="0"/>
              <a:t> + </a:t>
            </a:r>
            <a:r>
              <a:rPr lang="en-US" sz="2800" dirty="0" err="1"/>
              <a:t>b</a:t>
            </a:r>
            <a:r>
              <a:rPr lang="en-US" sz="2800" baseline="-25000" dirty="0" err="1"/>
              <a:t>y</a:t>
            </a:r>
            <a:r>
              <a:rPr lang="en-US" sz="2800" dirty="0" err="1"/>
              <a:t>X</a:t>
            </a:r>
            <a:endParaRPr lang="en-US" sz="2800" i="1" dirty="0"/>
          </a:p>
          <a:p>
            <a:pPr lvl="1"/>
            <a:r>
              <a:rPr lang="en-US" sz="2800" b="1" dirty="0"/>
              <a:t>a</a:t>
            </a:r>
            <a:r>
              <a:rPr lang="en-US" sz="2800" b="1" baseline="-25000" dirty="0"/>
              <a:t>y</a:t>
            </a:r>
            <a:r>
              <a:rPr lang="en-US" sz="2800" dirty="0"/>
              <a:t> = y̅ - b</a:t>
            </a:r>
            <a:r>
              <a:rPr lang="en-US" sz="2800" baseline="-25000" dirty="0"/>
              <a:t>y</a:t>
            </a:r>
            <a:r>
              <a:rPr lang="en-US" sz="2800" dirty="0"/>
              <a:t>(x̅</a:t>
            </a:r>
            <a:r>
              <a:rPr lang="en-CA" sz="2800" dirty="0"/>
              <a:t>)</a:t>
            </a:r>
          </a:p>
          <a:p>
            <a:pPr lvl="1"/>
            <a:r>
              <a:rPr lang="en-US" sz="2800" b="1" dirty="0"/>
              <a:t>a</a:t>
            </a:r>
            <a:r>
              <a:rPr lang="en-US" sz="2800" b="1" baseline="-25000" dirty="0"/>
              <a:t>y</a:t>
            </a:r>
            <a:r>
              <a:rPr lang="en-US" sz="2800" dirty="0"/>
              <a:t> = 6.0000 – 0.5000(</a:t>
            </a:r>
            <a:r>
              <a:rPr lang="en-CA" sz="2800" dirty="0"/>
              <a:t>5.0000)</a:t>
            </a:r>
          </a:p>
          <a:p>
            <a:pPr lvl="1"/>
            <a:r>
              <a:rPr lang="en-US" sz="2800" b="1" dirty="0"/>
              <a:t>a</a:t>
            </a:r>
            <a:r>
              <a:rPr lang="en-US" sz="2800" b="1" baseline="-25000" dirty="0"/>
              <a:t>y</a:t>
            </a:r>
            <a:r>
              <a:rPr lang="en-US" sz="2800" dirty="0"/>
              <a:t> = 3.5000</a:t>
            </a:r>
            <a:endParaRPr lang="en-CA" sz="2800" dirty="0"/>
          </a:p>
          <a:p>
            <a:pPr marL="457200" lvl="1" indent="0">
              <a:buNone/>
            </a:pPr>
            <a:endParaRPr lang="en-US" b="1" i="1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EA8E817-72FD-4E47-A213-9FAA97E5104C}"/>
              </a:ext>
            </a:extLst>
          </p:cNvPr>
          <p:cNvGrpSpPr/>
          <p:nvPr/>
        </p:nvGrpSpPr>
        <p:grpSpPr>
          <a:xfrm>
            <a:off x="7574263" y="506545"/>
            <a:ext cx="3479047" cy="5844910"/>
            <a:chOff x="7574263" y="506545"/>
            <a:chExt cx="3479047" cy="58449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E7C83DD-1C4A-9D41-ABE9-EA6EC5DC37E8}"/>
                </a:ext>
              </a:extLst>
            </p:cNvPr>
            <p:cNvSpPr txBox="1"/>
            <p:nvPr/>
          </p:nvSpPr>
          <p:spPr>
            <a:xfrm>
              <a:off x="8776929" y="6012901"/>
              <a:ext cx="1617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3D10FB1-CBAD-5D42-BC14-30FEA2E67E38}"/>
                </a:ext>
              </a:extLst>
            </p:cNvPr>
            <p:cNvSpPr txBox="1"/>
            <p:nvPr/>
          </p:nvSpPr>
          <p:spPr>
            <a:xfrm rot="16200000">
              <a:off x="7022028" y="1550907"/>
              <a:ext cx="1443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  <p:pic>
          <p:nvPicPr>
            <p:cNvPr id="12" name="Picture 11" descr="Chart, scatter chart&#10;&#10;Description automatically generated">
              <a:extLst>
                <a:ext uri="{FF2B5EF4-FFF2-40B4-BE49-F238E27FC236}">
                  <a16:creationId xmlns:a16="http://schemas.microsoft.com/office/drawing/2014/main" id="{7AAEC31C-8704-8C4F-8091-7FFB22A3F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85488" y="506545"/>
              <a:ext cx="3067822" cy="550114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9483088-5A55-0941-9CAB-4C31D0079B29}"/>
                </a:ext>
              </a:extLst>
            </p:cNvPr>
            <p:cNvSpPr txBox="1"/>
            <p:nvPr/>
          </p:nvSpPr>
          <p:spPr>
            <a:xfrm>
              <a:off x="8776929" y="3090446"/>
              <a:ext cx="161775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3A81927-05DD-6940-A128-2623726D29DA}"/>
                </a:ext>
              </a:extLst>
            </p:cNvPr>
            <p:cNvSpPr txBox="1"/>
            <p:nvPr/>
          </p:nvSpPr>
          <p:spPr>
            <a:xfrm rot="16200000">
              <a:off x="7022028" y="4549747"/>
              <a:ext cx="1443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1052BA7-95CF-9846-9E4E-937B48576463}"/>
              </a:ext>
            </a:extLst>
          </p:cNvPr>
          <p:cNvSpPr txBox="1"/>
          <p:nvPr/>
        </p:nvSpPr>
        <p:spPr>
          <a:xfrm>
            <a:off x="123986" y="6488668"/>
            <a:ext cx="105160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0.7500, b</a:t>
            </a:r>
            <a:r>
              <a:rPr lang="en-US" sz="2000" i="1" baseline="-25000" dirty="0"/>
              <a:t>y</a:t>
            </a:r>
            <a:r>
              <a:rPr lang="en-US" sz="2000" i="1" dirty="0"/>
              <a:t> = 0.5000, b</a:t>
            </a:r>
            <a:r>
              <a:rPr lang="en-US" sz="2000" i="1" baseline="-25000" dirty="0"/>
              <a:t>x</a:t>
            </a:r>
            <a:r>
              <a:rPr lang="en-US" sz="2000" i="1" dirty="0"/>
              <a:t> = 1.1250, a</a:t>
            </a:r>
            <a:r>
              <a:rPr lang="en-US" sz="2000" i="1" baseline="-25000" dirty="0"/>
              <a:t>y</a:t>
            </a:r>
            <a:r>
              <a:rPr lang="en-US" sz="2000" i="1" dirty="0"/>
              <a:t> = 3.5000</a:t>
            </a:r>
          </a:p>
        </p:txBody>
      </p:sp>
    </p:spTree>
    <p:extLst>
      <p:ext uri="{BB962C8B-B14F-4D97-AF65-F5344CB8AC3E}">
        <p14:creationId xmlns:p14="http://schemas.microsoft.com/office/powerpoint/2010/main" val="3511713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Intercept (</a:t>
            </a:r>
            <a:r>
              <a:rPr lang="en-US" i="1" dirty="0"/>
              <a:t>a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714728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Computation:</a:t>
            </a:r>
          </a:p>
          <a:p>
            <a:r>
              <a:rPr lang="en-US" dirty="0"/>
              <a:t>When predicting Y from X</a:t>
            </a:r>
          </a:p>
          <a:p>
            <a:pPr lvl="1"/>
            <a:r>
              <a:rPr lang="en-US" sz="2800" dirty="0"/>
              <a:t>For: Y’ = </a:t>
            </a:r>
            <a:r>
              <a:rPr lang="en-US" sz="2800" dirty="0">
                <a:solidFill>
                  <a:srgbClr val="FF0000"/>
                </a:solidFill>
              </a:rPr>
              <a:t>a</a:t>
            </a:r>
            <a:r>
              <a:rPr lang="en-US" sz="2800" baseline="-25000" dirty="0">
                <a:solidFill>
                  <a:srgbClr val="FF0000"/>
                </a:solidFill>
              </a:rPr>
              <a:t>y</a:t>
            </a:r>
            <a:r>
              <a:rPr lang="en-US" sz="2800" dirty="0"/>
              <a:t> + </a:t>
            </a:r>
            <a:r>
              <a:rPr lang="en-US" sz="2800" dirty="0" err="1"/>
              <a:t>b</a:t>
            </a:r>
            <a:r>
              <a:rPr lang="en-US" sz="2800" baseline="-25000" dirty="0" err="1"/>
              <a:t>y</a:t>
            </a:r>
            <a:r>
              <a:rPr lang="en-US" sz="2800" dirty="0" err="1"/>
              <a:t>X</a:t>
            </a:r>
            <a:endParaRPr lang="en-US" sz="2800" i="1" dirty="0"/>
          </a:p>
          <a:p>
            <a:pPr lvl="1"/>
            <a:r>
              <a:rPr lang="en-US" sz="2800" b="1" dirty="0"/>
              <a:t>a</a:t>
            </a:r>
            <a:r>
              <a:rPr lang="en-US" sz="2800" b="1" baseline="-25000" dirty="0"/>
              <a:t>y</a:t>
            </a:r>
            <a:r>
              <a:rPr lang="en-US" sz="2800" dirty="0"/>
              <a:t> = y̅ - b</a:t>
            </a:r>
            <a:r>
              <a:rPr lang="en-US" sz="2800" baseline="-25000" dirty="0"/>
              <a:t>y</a:t>
            </a:r>
            <a:r>
              <a:rPr lang="en-US" sz="2800" dirty="0"/>
              <a:t>(</a:t>
            </a:r>
            <a:r>
              <a:rPr lang="en-CA" sz="2800" dirty="0"/>
              <a:t>x̅) = </a:t>
            </a:r>
            <a:r>
              <a:rPr lang="en-US" dirty="0"/>
              <a:t>6.0000 – 0.5000(</a:t>
            </a:r>
            <a:r>
              <a:rPr lang="en-CA" dirty="0"/>
              <a:t>5.0000) = </a:t>
            </a:r>
            <a:r>
              <a:rPr lang="en-US" dirty="0"/>
              <a:t>3.5000</a:t>
            </a:r>
            <a:endParaRPr lang="en-CA" sz="2000" dirty="0"/>
          </a:p>
          <a:p>
            <a:pPr marL="457200" lvl="1" indent="0">
              <a:buNone/>
            </a:pPr>
            <a:endParaRPr lang="en-US" b="1" i="1" dirty="0"/>
          </a:p>
          <a:p>
            <a:r>
              <a:rPr lang="en-US" dirty="0"/>
              <a:t>When predicting X from Y</a:t>
            </a:r>
          </a:p>
          <a:p>
            <a:pPr lvl="1"/>
            <a:r>
              <a:rPr lang="en-US" sz="2800" dirty="0"/>
              <a:t>For: X’ = </a:t>
            </a:r>
            <a:r>
              <a:rPr lang="en-US" sz="2800" dirty="0">
                <a:solidFill>
                  <a:srgbClr val="FF0000"/>
                </a:solidFill>
              </a:rPr>
              <a:t>a</a:t>
            </a:r>
            <a:r>
              <a:rPr lang="en-US" sz="2800" baseline="-25000" dirty="0">
                <a:solidFill>
                  <a:srgbClr val="FF0000"/>
                </a:solidFill>
              </a:rPr>
              <a:t>x</a:t>
            </a:r>
            <a:r>
              <a:rPr lang="en-US" sz="2800" dirty="0"/>
              <a:t> + </a:t>
            </a:r>
            <a:r>
              <a:rPr lang="en-US" sz="2800" dirty="0" err="1"/>
              <a:t>b</a:t>
            </a:r>
            <a:r>
              <a:rPr lang="en-US" sz="2800" baseline="-25000" dirty="0" err="1"/>
              <a:t>x</a:t>
            </a:r>
            <a:r>
              <a:rPr lang="en-US" sz="2800" dirty="0" err="1"/>
              <a:t>Y</a:t>
            </a:r>
            <a:endParaRPr lang="en-US" sz="2800" b="1" i="1" dirty="0"/>
          </a:p>
          <a:p>
            <a:pPr lvl="1"/>
            <a:r>
              <a:rPr lang="en-US" sz="2800" b="1" dirty="0"/>
              <a:t>a</a:t>
            </a:r>
            <a:r>
              <a:rPr lang="en-US" sz="2800" b="1" baseline="-25000" dirty="0"/>
              <a:t>x</a:t>
            </a:r>
            <a:r>
              <a:rPr lang="en-US" sz="2800" dirty="0"/>
              <a:t> = </a:t>
            </a:r>
            <a:r>
              <a:rPr lang="en-CA" sz="2800" dirty="0"/>
              <a:t>x̅</a:t>
            </a:r>
            <a:r>
              <a:rPr lang="en-US" sz="2800" dirty="0"/>
              <a:t> - b</a:t>
            </a:r>
            <a:r>
              <a:rPr lang="en-US" sz="2800" baseline="-25000" dirty="0"/>
              <a:t>x</a:t>
            </a:r>
            <a:r>
              <a:rPr lang="en-US" sz="2800" dirty="0"/>
              <a:t>(y̅)</a:t>
            </a:r>
          </a:p>
          <a:p>
            <a:pPr lvl="1"/>
            <a:r>
              <a:rPr lang="en-US" sz="2800" b="1" dirty="0"/>
              <a:t>a</a:t>
            </a:r>
            <a:r>
              <a:rPr lang="en-US" sz="2800" b="1" baseline="-25000" dirty="0"/>
              <a:t>x</a:t>
            </a:r>
            <a:r>
              <a:rPr lang="en-US" sz="2800" dirty="0"/>
              <a:t> = </a:t>
            </a:r>
            <a:r>
              <a:rPr lang="en-CA" sz="2800" dirty="0"/>
              <a:t>5.0000 – 1.1250(6.0000)</a:t>
            </a:r>
            <a:endParaRPr lang="en-US" sz="2800" dirty="0"/>
          </a:p>
          <a:p>
            <a:pPr lvl="1"/>
            <a:r>
              <a:rPr lang="en-US" sz="2800" b="1" dirty="0"/>
              <a:t>a</a:t>
            </a:r>
            <a:r>
              <a:rPr lang="en-US" sz="2800" b="1" baseline="-25000" dirty="0"/>
              <a:t>x</a:t>
            </a:r>
            <a:r>
              <a:rPr lang="en-US" sz="2800" dirty="0"/>
              <a:t> = </a:t>
            </a:r>
            <a:r>
              <a:rPr lang="en-CA" sz="2800" dirty="0"/>
              <a:t>-1.7500</a:t>
            </a:r>
            <a:endParaRPr lang="en-US" sz="2800" dirty="0"/>
          </a:p>
          <a:p>
            <a:pPr lvl="1"/>
            <a:endParaRPr lang="en-US" sz="28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8193C2B-91B1-2144-90BE-4F04659A435F}"/>
              </a:ext>
            </a:extLst>
          </p:cNvPr>
          <p:cNvGrpSpPr/>
          <p:nvPr/>
        </p:nvGrpSpPr>
        <p:grpSpPr>
          <a:xfrm>
            <a:off x="7574263" y="506545"/>
            <a:ext cx="3479047" cy="5844910"/>
            <a:chOff x="7574263" y="506545"/>
            <a:chExt cx="3479047" cy="58449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6D12CB9-0FD2-B242-A1B7-AD229AD7D69D}"/>
                </a:ext>
              </a:extLst>
            </p:cNvPr>
            <p:cNvSpPr txBox="1"/>
            <p:nvPr/>
          </p:nvSpPr>
          <p:spPr>
            <a:xfrm>
              <a:off x="8776929" y="6012901"/>
              <a:ext cx="1617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6EC4645-0757-4347-B123-E45C68BD0553}"/>
                </a:ext>
              </a:extLst>
            </p:cNvPr>
            <p:cNvSpPr txBox="1"/>
            <p:nvPr/>
          </p:nvSpPr>
          <p:spPr>
            <a:xfrm rot="16200000">
              <a:off x="7022028" y="1550907"/>
              <a:ext cx="1443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  <p:pic>
          <p:nvPicPr>
            <p:cNvPr id="12" name="Picture 11" descr="Chart, scatter chart&#10;&#10;Description automatically generated">
              <a:extLst>
                <a:ext uri="{FF2B5EF4-FFF2-40B4-BE49-F238E27FC236}">
                  <a16:creationId xmlns:a16="http://schemas.microsoft.com/office/drawing/2014/main" id="{24D83EB2-287C-C047-A746-C4B75BE61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85488" y="506545"/>
              <a:ext cx="3067822" cy="550114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CDC82AD-2009-1B4F-9AF4-EF943C9364BA}"/>
                </a:ext>
              </a:extLst>
            </p:cNvPr>
            <p:cNvSpPr txBox="1"/>
            <p:nvPr/>
          </p:nvSpPr>
          <p:spPr>
            <a:xfrm>
              <a:off x="8776929" y="3090446"/>
              <a:ext cx="161775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74540E-75E4-E945-BFAF-CF27A2A87F2D}"/>
                </a:ext>
              </a:extLst>
            </p:cNvPr>
            <p:cNvSpPr txBox="1"/>
            <p:nvPr/>
          </p:nvSpPr>
          <p:spPr>
            <a:xfrm rot="16200000">
              <a:off x="7022028" y="4549747"/>
              <a:ext cx="1443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6C9C9B3-98D3-9D4B-BDDF-0E81E646882D}"/>
              </a:ext>
            </a:extLst>
          </p:cNvPr>
          <p:cNvSpPr txBox="1"/>
          <p:nvPr/>
        </p:nvSpPr>
        <p:spPr>
          <a:xfrm>
            <a:off x="123986" y="6488668"/>
            <a:ext cx="11849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0.7500, b</a:t>
            </a:r>
            <a:r>
              <a:rPr lang="en-US" sz="2000" i="1" baseline="-25000" dirty="0"/>
              <a:t>y</a:t>
            </a:r>
            <a:r>
              <a:rPr lang="en-US" sz="2000" i="1" dirty="0"/>
              <a:t> = 0.5000, b</a:t>
            </a:r>
            <a:r>
              <a:rPr lang="en-US" sz="2000" i="1" baseline="-25000" dirty="0"/>
              <a:t>x</a:t>
            </a:r>
            <a:r>
              <a:rPr lang="en-US" sz="2000" i="1" dirty="0"/>
              <a:t> = 1.1250, a</a:t>
            </a:r>
            <a:r>
              <a:rPr lang="en-US" sz="2000" i="1" baseline="-25000" dirty="0"/>
              <a:t>y</a:t>
            </a:r>
            <a:r>
              <a:rPr lang="en-US" sz="2000" i="1" dirty="0"/>
              <a:t> = 3.5000, a</a:t>
            </a:r>
            <a:r>
              <a:rPr lang="en-US" sz="2000" i="1" baseline="-25000" dirty="0"/>
              <a:t>x</a:t>
            </a:r>
            <a:r>
              <a:rPr lang="en-US" sz="2000" i="1" dirty="0"/>
              <a:t> = -1.7500</a:t>
            </a:r>
          </a:p>
        </p:txBody>
      </p:sp>
    </p:spTree>
    <p:extLst>
      <p:ext uri="{BB962C8B-B14F-4D97-AF65-F5344CB8AC3E}">
        <p14:creationId xmlns:p14="http://schemas.microsoft.com/office/powerpoint/2010/main" val="35978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Intercept (</a:t>
            </a:r>
            <a:r>
              <a:rPr lang="en-US" i="1" dirty="0"/>
              <a:t>a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25638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Computation:</a:t>
            </a:r>
          </a:p>
          <a:p>
            <a:r>
              <a:rPr lang="en-US" dirty="0"/>
              <a:t>When predicting Y from X</a:t>
            </a:r>
          </a:p>
          <a:p>
            <a:pPr lvl="1"/>
            <a:r>
              <a:rPr lang="en-US" sz="2800" dirty="0"/>
              <a:t>For: Y’ = </a:t>
            </a:r>
            <a:r>
              <a:rPr lang="en-US" sz="2800" dirty="0">
                <a:solidFill>
                  <a:srgbClr val="FF0000"/>
                </a:solidFill>
              </a:rPr>
              <a:t>a</a:t>
            </a:r>
            <a:r>
              <a:rPr lang="en-US" sz="2800" baseline="-25000" dirty="0">
                <a:solidFill>
                  <a:srgbClr val="FF0000"/>
                </a:solidFill>
              </a:rPr>
              <a:t>y</a:t>
            </a:r>
            <a:r>
              <a:rPr lang="en-US" sz="2800" dirty="0"/>
              <a:t> + </a:t>
            </a:r>
            <a:r>
              <a:rPr lang="en-US" sz="2800" dirty="0" err="1"/>
              <a:t>b</a:t>
            </a:r>
            <a:r>
              <a:rPr lang="en-US" sz="2800" baseline="-25000" dirty="0" err="1"/>
              <a:t>y</a:t>
            </a:r>
            <a:r>
              <a:rPr lang="en-US" sz="2800" dirty="0" err="1"/>
              <a:t>X</a:t>
            </a:r>
            <a:endParaRPr lang="en-US" sz="2800" i="1" dirty="0"/>
          </a:p>
          <a:p>
            <a:pPr lvl="1"/>
            <a:r>
              <a:rPr lang="en-US" sz="2800" b="1" dirty="0"/>
              <a:t>a</a:t>
            </a:r>
            <a:r>
              <a:rPr lang="en-US" sz="2800" b="1" baseline="-25000" dirty="0"/>
              <a:t>y</a:t>
            </a:r>
            <a:r>
              <a:rPr lang="en-US" sz="2800" dirty="0"/>
              <a:t> = y̅ - b</a:t>
            </a:r>
            <a:r>
              <a:rPr lang="en-US" sz="2800" baseline="-25000" dirty="0"/>
              <a:t>y</a:t>
            </a:r>
            <a:r>
              <a:rPr lang="en-US" sz="2800" dirty="0"/>
              <a:t>(</a:t>
            </a:r>
            <a:r>
              <a:rPr lang="en-CA" sz="2800" dirty="0"/>
              <a:t>x̅) = </a:t>
            </a:r>
            <a:r>
              <a:rPr lang="en-US" dirty="0"/>
              <a:t>6.0000 – 0.5000(</a:t>
            </a:r>
            <a:r>
              <a:rPr lang="en-CA" dirty="0"/>
              <a:t>5.0000) = </a:t>
            </a:r>
            <a:r>
              <a:rPr lang="en-US" dirty="0"/>
              <a:t>3.5000</a:t>
            </a:r>
            <a:endParaRPr lang="en-CA" sz="1600" dirty="0"/>
          </a:p>
          <a:p>
            <a:pPr marL="457200" lvl="1" indent="0">
              <a:buNone/>
            </a:pPr>
            <a:endParaRPr lang="en-US" b="1" i="1" dirty="0"/>
          </a:p>
          <a:p>
            <a:r>
              <a:rPr lang="en-US" dirty="0"/>
              <a:t>When predicting X from Y</a:t>
            </a:r>
          </a:p>
          <a:p>
            <a:pPr lvl="1"/>
            <a:r>
              <a:rPr lang="en-US" sz="2800" dirty="0"/>
              <a:t>For: X’ = </a:t>
            </a:r>
            <a:r>
              <a:rPr lang="en-US" sz="2800" dirty="0">
                <a:solidFill>
                  <a:srgbClr val="FF0000"/>
                </a:solidFill>
              </a:rPr>
              <a:t>a</a:t>
            </a:r>
            <a:r>
              <a:rPr lang="en-US" sz="2800" baseline="-25000" dirty="0">
                <a:solidFill>
                  <a:srgbClr val="FF0000"/>
                </a:solidFill>
              </a:rPr>
              <a:t>x</a:t>
            </a:r>
            <a:r>
              <a:rPr lang="en-US" sz="2800" dirty="0"/>
              <a:t> + </a:t>
            </a:r>
            <a:r>
              <a:rPr lang="en-US" sz="2800" dirty="0" err="1"/>
              <a:t>b</a:t>
            </a:r>
            <a:r>
              <a:rPr lang="en-US" sz="2800" baseline="-25000" dirty="0" err="1"/>
              <a:t>x</a:t>
            </a:r>
            <a:r>
              <a:rPr lang="en-US" sz="2800" dirty="0" err="1"/>
              <a:t>Y</a:t>
            </a:r>
            <a:endParaRPr lang="en-US" sz="2800" b="1" i="1" dirty="0"/>
          </a:p>
          <a:p>
            <a:pPr lvl="1"/>
            <a:r>
              <a:rPr lang="en-US" sz="2800" b="1" dirty="0"/>
              <a:t>a</a:t>
            </a:r>
            <a:r>
              <a:rPr lang="en-US" sz="2800" b="1" baseline="-25000" dirty="0"/>
              <a:t>x</a:t>
            </a:r>
            <a:r>
              <a:rPr lang="en-US" sz="2800" dirty="0"/>
              <a:t> = </a:t>
            </a:r>
            <a:r>
              <a:rPr lang="en-CA" sz="2800" dirty="0"/>
              <a:t>x̅</a:t>
            </a:r>
            <a:r>
              <a:rPr lang="en-US" sz="2800" dirty="0"/>
              <a:t> - b</a:t>
            </a:r>
            <a:r>
              <a:rPr lang="en-US" sz="2800" baseline="-25000" dirty="0"/>
              <a:t>x</a:t>
            </a:r>
            <a:r>
              <a:rPr lang="en-US" sz="2800" dirty="0"/>
              <a:t>(y̅) = </a:t>
            </a:r>
            <a:r>
              <a:rPr lang="en-CA" dirty="0"/>
              <a:t>5.0000 – 1.1250(6.0000)</a:t>
            </a:r>
            <a:r>
              <a:rPr lang="en-US" dirty="0"/>
              <a:t> = </a:t>
            </a:r>
            <a:r>
              <a:rPr lang="en-CA" dirty="0"/>
              <a:t>-1.7500</a:t>
            </a:r>
            <a:endParaRPr lang="en-US" sz="1800" dirty="0"/>
          </a:p>
          <a:p>
            <a:pPr lvl="1"/>
            <a:endParaRPr lang="en-US" sz="2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5E45793-D63E-3F48-91C3-6109EC57787E}"/>
              </a:ext>
            </a:extLst>
          </p:cNvPr>
          <p:cNvGrpSpPr/>
          <p:nvPr/>
        </p:nvGrpSpPr>
        <p:grpSpPr>
          <a:xfrm>
            <a:off x="8094584" y="357906"/>
            <a:ext cx="3881106" cy="6069160"/>
            <a:chOff x="7990312" y="831172"/>
            <a:chExt cx="3304392" cy="5167312"/>
          </a:xfrm>
        </p:grpSpPr>
        <p:pic>
          <p:nvPicPr>
            <p:cNvPr id="6" name="Picture 5" descr="Chart, scatter chart&#10;&#10;Description automatically generated">
              <a:extLst>
                <a:ext uri="{FF2B5EF4-FFF2-40B4-BE49-F238E27FC236}">
                  <a16:creationId xmlns:a16="http://schemas.microsoft.com/office/drawing/2014/main" id="{7F6F15F5-3EB1-C24E-8399-26D28ED2A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90312" y="831172"/>
              <a:ext cx="3304392" cy="516731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CCF996F-7681-BA43-82A0-0FB1E70DE63E}"/>
                </a:ext>
              </a:extLst>
            </p:cNvPr>
            <p:cNvSpPr txBox="1"/>
            <p:nvPr/>
          </p:nvSpPr>
          <p:spPr>
            <a:xfrm rot="16200000">
              <a:off x="7542349" y="1837932"/>
              <a:ext cx="1443024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F02E59-EE5C-0948-BB29-3DBB097A71E3}"/>
                </a:ext>
              </a:extLst>
            </p:cNvPr>
            <p:cNvSpPr txBox="1"/>
            <p:nvPr/>
          </p:nvSpPr>
          <p:spPr>
            <a:xfrm rot="16200000">
              <a:off x="7542349" y="4390788"/>
              <a:ext cx="1443024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04EB8FE-05D4-474A-80B8-38BA383BB5C4}"/>
                </a:ext>
              </a:extLst>
            </p:cNvPr>
            <p:cNvSpPr txBox="1"/>
            <p:nvPr/>
          </p:nvSpPr>
          <p:spPr>
            <a:xfrm>
              <a:off x="9055509" y="3245551"/>
              <a:ext cx="161775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F22832B-0BAE-CB4E-A0A8-A1C3DF08884D}"/>
              </a:ext>
            </a:extLst>
          </p:cNvPr>
          <p:cNvSpPr txBox="1"/>
          <p:nvPr/>
        </p:nvSpPr>
        <p:spPr>
          <a:xfrm>
            <a:off x="123986" y="6488668"/>
            <a:ext cx="11849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0.7500, b</a:t>
            </a:r>
            <a:r>
              <a:rPr lang="en-US" sz="2000" i="1" baseline="-25000" dirty="0"/>
              <a:t>y</a:t>
            </a:r>
            <a:r>
              <a:rPr lang="en-US" sz="2000" i="1" dirty="0"/>
              <a:t> = 0.5000, b</a:t>
            </a:r>
            <a:r>
              <a:rPr lang="en-US" sz="2000" i="1" baseline="-25000" dirty="0"/>
              <a:t>x</a:t>
            </a:r>
            <a:r>
              <a:rPr lang="en-US" sz="2000" i="1" dirty="0"/>
              <a:t> = 1.1250, a</a:t>
            </a:r>
            <a:r>
              <a:rPr lang="en-US" sz="2000" i="1" baseline="-25000" dirty="0"/>
              <a:t>y</a:t>
            </a:r>
            <a:r>
              <a:rPr lang="en-US" sz="2000" i="1" dirty="0"/>
              <a:t> = 3.5000, a</a:t>
            </a:r>
            <a:r>
              <a:rPr lang="en-US" sz="2000" i="1" baseline="-25000" dirty="0"/>
              <a:t>x</a:t>
            </a:r>
            <a:r>
              <a:rPr lang="en-US" sz="2000" i="1" dirty="0"/>
              <a:t> = -1.7500</a:t>
            </a:r>
          </a:p>
        </p:txBody>
      </p:sp>
    </p:spTree>
    <p:extLst>
      <p:ext uri="{BB962C8B-B14F-4D97-AF65-F5344CB8AC3E}">
        <p14:creationId xmlns:p14="http://schemas.microsoft.com/office/powerpoint/2010/main" val="5556311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the Regression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62600" cy="5032375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Steps for Computing Regression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Plot your data!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Determine mean and SD for X and Y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Pearson </a:t>
            </a:r>
            <a:r>
              <a:rPr lang="en-CA" sz="2400" i="1" dirty="0"/>
              <a:t>r</a:t>
            </a:r>
            <a:endParaRPr lang="en-CA" sz="2400" dirty="0"/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slopes (</a:t>
            </a:r>
            <a:r>
              <a:rPr lang="en-CA" sz="2400" i="1" dirty="0"/>
              <a:t>b</a:t>
            </a:r>
            <a:r>
              <a:rPr lang="en-CA" sz="2400" i="1" baseline="-25000" dirty="0"/>
              <a:t>y</a:t>
            </a:r>
            <a:r>
              <a:rPr lang="en-CA" sz="2400" dirty="0"/>
              <a:t> &amp; </a:t>
            </a:r>
            <a:r>
              <a:rPr lang="en-CA" sz="2400" i="1" dirty="0"/>
              <a:t>b</a:t>
            </a:r>
            <a:r>
              <a:rPr lang="en-CA" sz="2400" i="1" baseline="-25000" dirty="0"/>
              <a:t>x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intercepts (</a:t>
            </a:r>
            <a:r>
              <a:rPr lang="en-CA" sz="2400" i="1" dirty="0"/>
              <a:t>a</a:t>
            </a:r>
            <a:r>
              <a:rPr lang="en-CA" sz="2400" i="1" baseline="-25000" dirty="0"/>
              <a:t>y</a:t>
            </a:r>
            <a:r>
              <a:rPr lang="en-CA" sz="2400" dirty="0"/>
              <a:t> &amp; </a:t>
            </a:r>
            <a:r>
              <a:rPr lang="en-CA" sz="2400" i="1" dirty="0"/>
              <a:t>a</a:t>
            </a:r>
            <a:r>
              <a:rPr lang="en-CA" sz="2400" i="1" baseline="-25000" dirty="0"/>
              <a:t>x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>
                <a:solidFill>
                  <a:srgbClr val="FF0000"/>
                </a:solidFill>
              </a:rPr>
              <a:t>Define the regression lines (</a:t>
            </a:r>
            <a:r>
              <a:rPr lang="en-CA" sz="2400" i="1" dirty="0">
                <a:solidFill>
                  <a:srgbClr val="FF0000"/>
                </a:solidFill>
              </a:rPr>
              <a:t>Y’</a:t>
            </a:r>
            <a:r>
              <a:rPr lang="en-CA" sz="2400" dirty="0">
                <a:solidFill>
                  <a:srgbClr val="FF0000"/>
                </a:solidFill>
              </a:rPr>
              <a:t> &amp; </a:t>
            </a:r>
            <a:r>
              <a:rPr lang="en-CA" sz="2400" i="1" dirty="0">
                <a:solidFill>
                  <a:srgbClr val="FF0000"/>
                </a:solidFill>
              </a:rPr>
              <a:t>X’</a:t>
            </a:r>
            <a:r>
              <a:rPr lang="en-CA" sz="2400" dirty="0">
                <a:solidFill>
                  <a:srgbClr val="FF0000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Plot the regression lines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standard error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endParaRPr lang="en-US" b="1" i="1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52885DE-8A5C-9246-BAA0-524561B6FCFE}"/>
              </a:ext>
            </a:extLst>
          </p:cNvPr>
          <p:cNvGrpSpPr/>
          <p:nvPr/>
        </p:nvGrpSpPr>
        <p:grpSpPr>
          <a:xfrm>
            <a:off x="7574263" y="506545"/>
            <a:ext cx="3479047" cy="5844910"/>
            <a:chOff x="7574263" y="506545"/>
            <a:chExt cx="3479047" cy="58449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E7115DA-74D2-394C-B340-419C3399668F}"/>
                </a:ext>
              </a:extLst>
            </p:cNvPr>
            <p:cNvSpPr txBox="1"/>
            <p:nvPr/>
          </p:nvSpPr>
          <p:spPr>
            <a:xfrm>
              <a:off x="8776929" y="6012901"/>
              <a:ext cx="1617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680A627-F612-204A-BBE3-A0BE94F42A2D}"/>
                </a:ext>
              </a:extLst>
            </p:cNvPr>
            <p:cNvSpPr txBox="1"/>
            <p:nvPr/>
          </p:nvSpPr>
          <p:spPr>
            <a:xfrm rot="16200000">
              <a:off x="7022028" y="1550907"/>
              <a:ext cx="1443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  <p:pic>
          <p:nvPicPr>
            <p:cNvPr id="11" name="Picture 10" descr="Chart, scatter chart&#10;&#10;Description automatically generated">
              <a:extLst>
                <a:ext uri="{FF2B5EF4-FFF2-40B4-BE49-F238E27FC236}">
                  <a16:creationId xmlns:a16="http://schemas.microsoft.com/office/drawing/2014/main" id="{C26F6BFE-EE9F-0043-AC51-3EBFDDD2A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85488" y="506545"/>
              <a:ext cx="3067822" cy="550114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128FF6-99C4-7140-B876-1C80CB3CBAA4}"/>
                </a:ext>
              </a:extLst>
            </p:cNvPr>
            <p:cNvSpPr txBox="1"/>
            <p:nvPr/>
          </p:nvSpPr>
          <p:spPr>
            <a:xfrm>
              <a:off x="8776929" y="3090446"/>
              <a:ext cx="161775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E5A2E6-70E8-4C4E-AFB4-F62F139AE72A}"/>
                </a:ext>
              </a:extLst>
            </p:cNvPr>
            <p:cNvSpPr txBox="1"/>
            <p:nvPr/>
          </p:nvSpPr>
          <p:spPr>
            <a:xfrm rot="16200000">
              <a:off x="7022028" y="4549747"/>
              <a:ext cx="1443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DF3A1D0-C712-A242-BB31-F6D642810F5E}"/>
              </a:ext>
            </a:extLst>
          </p:cNvPr>
          <p:cNvSpPr txBox="1"/>
          <p:nvPr/>
        </p:nvSpPr>
        <p:spPr>
          <a:xfrm>
            <a:off x="123986" y="6488668"/>
            <a:ext cx="11849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0.7500, b</a:t>
            </a:r>
            <a:r>
              <a:rPr lang="en-US" sz="2000" i="1" baseline="-25000" dirty="0"/>
              <a:t>y</a:t>
            </a:r>
            <a:r>
              <a:rPr lang="en-US" sz="2000" i="1" dirty="0"/>
              <a:t> = 0.5000, b</a:t>
            </a:r>
            <a:r>
              <a:rPr lang="en-US" sz="2000" i="1" baseline="-25000" dirty="0"/>
              <a:t>x</a:t>
            </a:r>
            <a:r>
              <a:rPr lang="en-US" sz="2000" i="1" dirty="0"/>
              <a:t> = 1.1250, a</a:t>
            </a:r>
            <a:r>
              <a:rPr lang="en-US" sz="2000" i="1" baseline="-25000" dirty="0"/>
              <a:t>y</a:t>
            </a:r>
            <a:r>
              <a:rPr lang="en-US" sz="2000" i="1" dirty="0"/>
              <a:t> = 3.5000, a</a:t>
            </a:r>
            <a:r>
              <a:rPr lang="en-US" sz="2000" i="1" baseline="-25000" dirty="0"/>
              <a:t>x</a:t>
            </a:r>
            <a:r>
              <a:rPr lang="en-US" sz="2000" i="1" dirty="0"/>
              <a:t> = -1.7500</a:t>
            </a:r>
          </a:p>
        </p:txBody>
      </p:sp>
    </p:spTree>
    <p:extLst>
      <p:ext uri="{BB962C8B-B14F-4D97-AF65-F5344CB8AC3E}">
        <p14:creationId xmlns:p14="http://schemas.microsoft.com/office/powerpoint/2010/main" val="2209748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22C26-D8FD-08C3-2454-46921494A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08F51-1C40-F2EC-B4BB-B61C8EFBF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the Regression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300A0-D35D-079C-56D2-EF40FCA0E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62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Defining the regression line is to write out the equation with the computed coefficients (slope and intercept)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Defining Y’</a:t>
            </a:r>
          </a:p>
          <a:p>
            <a:r>
              <a:rPr lang="en-US" sz="2400" dirty="0"/>
              <a:t>Y’ = a</a:t>
            </a:r>
            <a:r>
              <a:rPr lang="en-US" sz="2400" baseline="-25000" dirty="0"/>
              <a:t>y</a:t>
            </a:r>
            <a:r>
              <a:rPr lang="en-US" sz="2400" dirty="0"/>
              <a:t> + </a:t>
            </a:r>
            <a:r>
              <a:rPr lang="en-US" sz="2400" dirty="0" err="1"/>
              <a:t>b</a:t>
            </a:r>
            <a:r>
              <a:rPr lang="en-US" sz="2400" baseline="-25000" dirty="0" err="1"/>
              <a:t>y</a:t>
            </a:r>
            <a:r>
              <a:rPr lang="en-US" sz="2400" dirty="0" err="1"/>
              <a:t>X</a:t>
            </a:r>
            <a:endParaRPr lang="en-US" sz="2400" dirty="0"/>
          </a:p>
          <a:p>
            <a:pPr lvl="1"/>
            <a:r>
              <a:rPr lang="en-US" sz="2000" dirty="0"/>
              <a:t>a</a:t>
            </a:r>
            <a:r>
              <a:rPr lang="en-US" sz="2000" baseline="-25000" dirty="0"/>
              <a:t>y</a:t>
            </a:r>
            <a:r>
              <a:rPr lang="en-US" sz="2000" dirty="0"/>
              <a:t> &amp; b</a:t>
            </a:r>
            <a:r>
              <a:rPr lang="en-US" sz="2000" baseline="-25000" dirty="0"/>
              <a:t>y</a:t>
            </a:r>
            <a:r>
              <a:rPr lang="en-US" sz="2000" dirty="0"/>
              <a:t> are </a:t>
            </a:r>
            <a:r>
              <a:rPr lang="en-US" sz="2000" i="1" dirty="0"/>
              <a:t>coefficients</a:t>
            </a:r>
            <a:endParaRPr lang="en-US" sz="2400" dirty="0"/>
          </a:p>
          <a:p>
            <a:r>
              <a:rPr lang="en-US" sz="2400" dirty="0"/>
              <a:t>Y’ = 3.50 + 0.50(X)</a:t>
            </a:r>
          </a:p>
          <a:p>
            <a:pPr lvl="1"/>
            <a:r>
              <a:rPr lang="en-US" sz="2000" dirty="0"/>
              <a:t>Using it, </a:t>
            </a:r>
            <a:r>
              <a:rPr lang="en-US" sz="2000" dirty="0">
                <a:solidFill>
                  <a:srgbClr val="FF0000"/>
                </a:solidFill>
              </a:rPr>
              <a:t>X = 4</a:t>
            </a:r>
            <a:r>
              <a:rPr lang="en-US" sz="2000" dirty="0"/>
              <a:t>: Y’ = 3.5000 + 0.5000(</a:t>
            </a:r>
            <a:r>
              <a:rPr lang="en-US" sz="2000" dirty="0">
                <a:solidFill>
                  <a:srgbClr val="FF0000"/>
                </a:solidFill>
              </a:rPr>
              <a:t>4</a:t>
            </a:r>
            <a:r>
              <a:rPr lang="en-US" sz="2000" dirty="0"/>
              <a:t>) = 5.50</a:t>
            </a:r>
          </a:p>
          <a:p>
            <a:pPr marL="0" indent="0">
              <a:buNone/>
            </a:pPr>
            <a:endParaRPr lang="en-US" sz="2400" dirty="0"/>
          </a:p>
          <a:p>
            <a:endParaRPr lang="en-US" b="1" i="1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4B8889E-A381-2CB5-C717-AB1EB52487D1}"/>
              </a:ext>
            </a:extLst>
          </p:cNvPr>
          <p:cNvGrpSpPr/>
          <p:nvPr/>
        </p:nvGrpSpPr>
        <p:grpSpPr>
          <a:xfrm>
            <a:off x="7574263" y="506545"/>
            <a:ext cx="3479047" cy="5844910"/>
            <a:chOff x="7574263" y="506545"/>
            <a:chExt cx="3479047" cy="58449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8A32822-C70B-4AB6-676F-58737B25FFA8}"/>
                </a:ext>
              </a:extLst>
            </p:cNvPr>
            <p:cNvSpPr txBox="1"/>
            <p:nvPr/>
          </p:nvSpPr>
          <p:spPr>
            <a:xfrm>
              <a:off x="8776929" y="6012901"/>
              <a:ext cx="1617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FAEFFEC-C17B-D2E2-B934-EBD4505E1E8B}"/>
                </a:ext>
              </a:extLst>
            </p:cNvPr>
            <p:cNvSpPr txBox="1"/>
            <p:nvPr/>
          </p:nvSpPr>
          <p:spPr>
            <a:xfrm rot="16200000">
              <a:off x="7022028" y="1550907"/>
              <a:ext cx="1443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  <p:pic>
          <p:nvPicPr>
            <p:cNvPr id="11" name="Picture 10" descr="Chart, scatter chart&#10;&#10;Description automatically generated">
              <a:extLst>
                <a:ext uri="{FF2B5EF4-FFF2-40B4-BE49-F238E27FC236}">
                  <a16:creationId xmlns:a16="http://schemas.microsoft.com/office/drawing/2014/main" id="{D7654299-CF59-6F00-63FE-B59A4B4C1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85488" y="506545"/>
              <a:ext cx="3067822" cy="550114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24C02C5-C740-7473-D006-AAF324CAFD98}"/>
                </a:ext>
              </a:extLst>
            </p:cNvPr>
            <p:cNvSpPr txBox="1"/>
            <p:nvPr/>
          </p:nvSpPr>
          <p:spPr>
            <a:xfrm>
              <a:off x="8776929" y="3090446"/>
              <a:ext cx="161775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859E6AB-DC9A-92B6-5F1B-E184F8EE63E2}"/>
                </a:ext>
              </a:extLst>
            </p:cNvPr>
            <p:cNvSpPr txBox="1"/>
            <p:nvPr/>
          </p:nvSpPr>
          <p:spPr>
            <a:xfrm rot="16200000">
              <a:off x="7022028" y="4549747"/>
              <a:ext cx="1443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6712CB5-87F3-11DF-E4F3-DF395AF9CB4C}"/>
              </a:ext>
            </a:extLst>
          </p:cNvPr>
          <p:cNvSpPr txBox="1"/>
          <p:nvPr/>
        </p:nvSpPr>
        <p:spPr>
          <a:xfrm>
            <a:off x="123986" y="6488668"/>
            <a:ext cx="11849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0.7500, b</a:t>
            </a:r>
            <a:r>
              <a:rPr lang="en-US" sz="2000" i="1" baseline="-25000" dirty="0"/>
              <a:t>y</a:t>
            </a:r>
            <a:r>
              <a:rPr lang="en-US" sz="2000" i="1" dirty="0"/>
              <a:t> = 0.5000, b</a:t>
            </a:r>
            <a:r>
              <a:rPr lang="en-US" sz="2000" i="1" baseline="-25000" dirty="0"/>
              <a:t>x</a:t>
            </a:r>
            <a:r>
              <a:rPr lang="en-US" sz="2000" i="1" dirty="0"/>
              <a:t> = 1.1250, a</a:t>
            </a:r>
            <a:r>
              <a:rPr lang="en-US" sz="2000" i="1" baseline="-25000" dirty="0"/>
              <a:t>y</a:t>
            </a:r>
            <a:r>
              <a:rPr lang="en-US" sz="2000" i="1" dirty="0"/>
              <a:t> = 3.5000, a</a:t>
            </a:r>
            <a:r>
              <a:rPr lang="en-US" sz="2000" i="1" baseline="-25000" dirty="0"/>
              <a:t>x</a:t>
            </a:r>
            <a:r>
              <a:rPr lang="en-US" sz="2000" i="1" dirty="0"/>
              <a:t> = -1.7500</a:t>
            </a:r>
          </a:p>
        </p:txBody>
      </p:sp>
      <p:sp>
        <p:nvSpPr>
          <p:cNvPr id="4" name="Arrow: Left 3">
            <a:extLst>
              <a:ext uri="{FF2B5EF4-FFF2-40B4-BE49-F238E27FC236}">
                <a16:creationId xmlns:a16="http://schemas.microsoft.com/office/drawing/2014/main" id="{F9D160BF-9C55-F182-AE3F-45F620CEF5E7}"/>
              </a:ext>
            </a:extLst>
          </p:cNvPr>
          <p:cNvSpPr/>
          <p:nvPr/>
        </p:nvSpPr>
        <p:spPr>
          <a:xfrm rot="20177654">
            <a:off x="3641162" y="5096649"/>
            <a:ext cx="1154412" cy="350043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A93E5F-8DD9-9C25-AB9D-41ACB84BFDDA}"/>
              </a:ext>
            </a:extLst>
          </p:cNvPr>
          <p:cNvSpPr txBox="1"/>
          <p:nvPr/>
        </p:nvSpPr>
        <p:spPr>
          <a:xfrm>
            <a:off x="4817237" y="4459328"/>
            <a:ext cx="29551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This is the defined regression line!</a:t>
            </a:r>
          </a:p>
        </p:txBody>
      </p:sp>
    </p:spTree>
    <p:extLst>
      <p:ext uri="{BB962C8B-B14F-4D97-AF65-F5344CB8AC3E}">
        <p14:creationId xmlns:p14="http://schemas.microsoft.com/office/powerpoint/2010/main" val="136838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AA515-88BB-D3E0-D001-F10865AE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188A6-E659-5D89-8C38-E542FCACF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the Regression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5B0F9-75AA-EB25-41C9-0302EB691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62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Defining the regression line is to write out the equation with the computed coefficients (slope and intercept)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CA" b="1" dirty="0"/>
              <a:t>Defining X’</a:t>
            </a:r>
          </a:p>
          <a:p>
            <a:r>
              <a:rPr lang="en-US" sz="2400" dirty="0"/>
              <a:t>X’ = a</a:t>
            </a:r>
            <a:r>
              <a:rPr lang="en-US" sz="2400" baseline="-25000" dirty="0"/>
              <a:t>x</a:t>
            </a:r>
            <a:r>
              <a:rPr lang="en-US" sz="2400" dirty="0"/>
              <a:t> + </a:t>
            </a:r>
            <a:r>
              <a:rPr lang="en-US" sz="2400" dirty="0" err="1"/>
              <a:t>b</a:t>
            </a:r>
            <a:r>
              <a:rPr lang="en-US" sz="2400" baseline="-25000" dirty="0" err="1"/>
              <a:t>x</a:t>
            </a:r>
            <a:r>
              <a:rPr lang="en-US" sz="2400" dirty="0" err="1"/>
              <a:t>Y</a:t>
            </a:r>
            <a:endParaRPr lang="en-US" sz="2400" dirty="0"/>
          </a:p>
          <a:p>
            <a:pPr lvl="1"/>
            <a:r>
              <a:rPr lang="en-US" sz="2000" dirty="0"/>
              <a:t>a</a:t>
            </a:r>
            <a:r>
              <a:rPr lang="en-US" sz="2000" baseline="-25000" dirty="0"/>
              <a:t>x</a:t>
            </a:r>
            <a:r>
              <a:rPr lang="en-US" sz="2000" dirty="0"/>
              <a:t> &amp; b</a:t>
            </a:r>
            <a:r>
              <a:rPr lang="en-US" sz="2000" baseline="-25000" dirty="0"/>
              <a:t>x</a:t>
            </a:r>
            <a:r>
              <a:rPr lang="en-US" sz="2000" dirty="0"/>
              <a:t> are </a:t>
            </a:r>
            <a:r>
              <a:rPr lang="en-US" sz="2000" i="1" dirty="0"/>
              <a:t>coefficients</a:t>
            </a:r>
            <a:endParaRPr lang="en-US" sz="2000" dirty="0"/>
          </a:p>
          <a:p>
            <a:r>
              <a:rPr lang="en-US" sz="2400" dirty="0"/>
              <a:t>X’ = -1.75 + 1.13(Y)</a:t>
            </a:r>
          </a:p>
          <a:p>
            <a:pPr lvl="1"/>
            <a:r>
              <a:rPr lang="en-US" sz="2000" dirty="0"/>
              <a:t>Using it, </a:t>
            </a:r>
            <a:r>
              <a:rPr lang="en-US" sz="2000" dirty="0">
                <a:solidFill>
                  <a:srgbClr val="FF0000"/>
                </a:solidFill>
              </a:rPr>
              <a:t>Y = 8</a:t>
            </a:r>
            <a:r>
              <a:rPr lang="en-US" sz="2000" dirty="0"/>
              <a:t>: X’ = -1.7500 + 1.1250(</a:t>
            </a:r>
            <a:r>
              <a:rPr lang="en-US" sz="2000" dirty="0">
                <a:solidFill>
                  <a:srgbClr val="FF0000"/>
                </a:solidFill>
              </a:rPr>
              <a:t>8</a:t>
            </a:r>
            <a:r>
              <a:rPr lang="en-US" sz="2000" dirty="0"/>
              <a:t>) = 7.25</a:t>
            </a:r>
          </a:p>
          <a:p>
            <a:endParaRPr lang="en-US" b="1" i="1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19B3A10-F591-94A2-2AC5-F9CF3E359303}"/>
              </a:ext>
            </a:extLst>
          </p:cNvPr>
          <p:cNvGrpSpPr/>
          <p:nvPr/>
        </p:nvGrpSpPr>
        <p:grpSpPr>
          <a:xfrm>
            <a:off x="7574263" y="506545"/>
            <a:ext cx="3479047" cy="5844910"/>
            <a:chOff x="7574263" y="506545"/>
            <a:chExt cx="3479047" cy="58449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66B2919-99CF-3958-F4AA-C4C3D5E9F86E}"/>
                </a:ext>
              </a:extLst>
            </p:cNvPr>
            <p:cNvSpPr txBox="1"/>
            <p:nvPr/>
          </p:nvSpPr>
          <p:spPr>
            <a:xfrm>
              <a:off x="8776929" y="6012901"/>
              <a:ext cx="1617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47C804-477C-CF82-E123-B4613E481171}"/>
                </a:ext>
              </a:extLst>
            </p:cNvPr>
            <p:cNvSpPr txBox="1"/>
            <p:nvPr/>
          </p:nvSpPr>
          <p:spPr>
            <a:xfrm rot="16200000">
              <a:off x="7022028" y="1550907"/>
              <a:ext cx="1443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  <p:pic>
          <p:nvPicPr>
            <p:cNvPr id="11" name="Picture 10" descr="Chart, scatter chart&#10;&#10;Description automatically generated">
              <a:extLst>
                <a:ext uri="{FF2B5EF4-FFF2-40B4-BE49-F238E27FC236}">
                  <a16:creationId xmlns:a16="http://schemas.microsoft.com/office/drawing/2014/main" id="{88E62BD0-76D9-A3AB-950E-5449F7216B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85488" y="506545"/>
              <a:ext cx="3067822" cy="550114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CA668B4-78AC-6439-CE2C-727E73714030}"/>
                </a:ext>
              </a:extLst>
            </p:cNvPr>
            <p:cNvSpPr txBox="1"/>
            <p:nvPr/>
          </p:nvSpPr>
          <p:spPr>
            <a:xfrm>
              <a:off x="8776929" y="3090446"/>
              <a:ext cx="161775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3C3857-08A8-7BE3-0D7A-1778CC3D323B}"/>
                </a:ext>
              </a:extLst>
            </p:cNvPr>
            <p:cNvSpPr txBox="1"/>
            <p:nvPr/>
          </p:nvSpPr>
          <p:spPr>
            <a:xfrm rot="16200000">
              <a:off x="7022028" y="4549747"/>
              <a:ext cx="1443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E65B349-ED89-F916-39E2-F9A86DA00857}"/>
              </a:ext>
            </a:extLst>
          </p:cNvPr>
          <p:cNvSpPr txBox="1"/>
          <p:nvPr/>
        </p:nvSpPr>
        <p:spPr>
          <a:xfrm>
            <a:off x="123986" y="6488668"/>
            <a:ext cx="11849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0.7500, b</a:t>
            </a:r>
            <a:r>
              <a:rPr lang="en-US" sz="2000" i="1" baseline="-25000" dirty="0"/>
              <a:t>y</a:t>
            </a:r>
            <a:r>
              <a:rPr lang="en-US" sz="2000" i="1" dirty="0"/>
              <a:t> = 0.5000, b</a:t>
            </a:r>
            <a:r>
              <a:rPr lang="en-US" sz="2000" i="1" baseline="-25000" dirty="0"/>
              <a:t>x</a:t>
            </a:r>
            <a:r>
              <a:rPr lang="en-US" sz="2000" i="1" dirty="0"/>
              <a:t> = 1.1250, a</a:t>
            </a:r>
            <a:r>
              <a:rPr lang="en-US" sz="2000" i="1" baseline="-25000" dirty="0"/>
              <a:t>y</a:t>
            </a:r>
            <a:r>
              <a:rPr lang="en-US" sz="2000" i="1" dirty="0"/>
              <a:t> = 3.5000, a</a:t>
            </a:r>
            <a:r>
              <a:rPr lang="en-US" sz="2000" i="1" baseline="-25000" dirty="0"/>
              <a:t>x</a:t>
            </a:r>
            <a:r>
              <a:rPr lang="en-US" sz="2000" i="1" dirty="0"/>
              <a:t> = -1.7500</a:t>
            </a:r>
          </a:p>
        </p:txBody>
      </p:sp>
      <p:sp>
        <p:nvSpPr>
          <p:cNvPr id="4" name="Arrow: Left 3">
            <a:extLst>
              <a:ext uri="{FF2B5EF4-FFF2-40B4-BE49-F238E27FC236}">
                <a16:creationId xmlns:a16="http://schemas.microsoft.com/office/drawing/2014/main" id="{0A429454-4831-AF38-8759-F9487ABF9C4F}"/>
              </a:ext>
            </a:extLst>
          </p:cNvPr>
          <p:cNvSpPr/>
          <p:nvPr/>
        </p:nvSpPr>
        <p:spPr>
          <a:xfrm rot="20177654">
            <a:off x="3641162" y="5096649"/>
            <a:ext cx="1154412" cy="350043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3C4A53-F478-08E6-05F1-6E5B9AC8F8EC}"/>
              </a:ext>
            </a:extLst>
          </p:cNvPr>
          <p:cNvSpPr txBox="1"/>
          <p:nvPr/>
        </p:nvSpPr>
        <p:spPr>
          <a:xfrm>
            <a:off x="4817237" y="4459328"/>
            <a:ext cx="29551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This is the defined regression line!</a:t>
            </a:r>
          </a:p>
        </p:txBody>
      </p:sp>
    </p:spTree>
    <p:extLst>
      <p:ext uri="{BB962C8B-B14F-4D97-AF65-F5344CB8AC3E}">
        <p14:creationId xmlns:p14="http://schemas.microsoft.com/office/powerpoint/2010/main" val="200461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the Regression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62600" cy="5032375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Steps for Computing Regression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Plot your data!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Determine mean and SD for X and Y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Pearson </a:t>
            </a:r>
            <a:r>
              <a:rPr lang="en-CA" sz="2400" i="1" dirty="0"/>
              <a:t>r</a:t>
            </a:r>
            <a:endParaRPr lang="en-CA" sz="2400" dirty="0"/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slopes (</a:t>
            </a:r>
            <a:r>
              <a:rPr lang="en-CA" sz="2400" i="1" dirty="0"/>
              <a:t>b</a:t>
            </a:r>
            <a:r>
              <a:rPr lang="en-CA" sz="2400" i="1" baseline="-25000" dirty="0"/>
              <a:t>y</a:t>
            </a:r>
            <a:r>
              <a:rPr lang="en-CA" sz="2400" dirty="0"/>
              <a:t> &amp; </a:t>
            </a:r>
            <a:r>
              <a:rPr lang="en-CA" sz="2400" i="1" dirty="0"/>
              <a:t>b</a:t>
            </a:r>
            <a:r>
              <a:rPr lang="en-CA" sz="2400" i="1" baseline="-25000" dirty="0"/>
              <a:t>x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intercepts (</a:t>
            </a:r>
            <a:r>
              <a:rPr lang="en-CA" sz="2400" i="1" dirty="0"/>
              <a:t>a</a:t>
            </a:r>
            <a:r>
              <a:rPr lang="en-CA" sz="2400" i="1" baseline="-25000" dirty="0"/>
              <a:t>y</a:t>
            </a:r>
            <a:r>
              <a:rPr lang="en-CA" sz="2400" dirty="0"/>
              <a:t> &amp; </a:t>
            </a:r>
            <a:r>
              <a:rPr lang="en-CA" sz="2400" i="1" dirty="0"/>
              <a:t>a</a:t>
            </a:r>
            <a:r>
              <a:rPr lang="en-CA" sz="2400" i="1" baseline="-25000" dirty="0"/>
              <a:t>x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Define the regression lines (</a:t>
            </a:r>
            <a:r>
              <a:rPr lang="en-CA" sz="2400" i="1" dirty="0"/>
              <a:t>Y’</a:t>
            </a:r>
            <a:r>
              <a:rPr lang="en-CA" sz="2400" dirty="0"/>
              <a:t> &amp; </a:t>
            </a:r>
            <a:r>
              <a:rPr lang="en-CA" sz="2400" i="1" dirty="0"/>
              <a:t>X’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>
                <a:solidFill>
                  <a:srgbClr val="FF0000"/>
                </a:solidFill>
              </a:rPr>
              <a:t>Plot the regression lines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standard error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>
              <a:solidFill>
                <a:srgbClr val="FF0000"/>
              </a:solidFill>
            </a:endParaRPr>
          </a:p>
          <a:p>
            <a:endParaRPr lang="en-US" b="1" i="1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52885DE-8A5C-9246-BAA0-524561B6FCFE}"/>
              </a:ext>
            </a:extLst>
          </p:cNvPr>
          <p:cNvGrpSpPr/>
          <p:nvPr/>
        </p:nvGrpSpPr>
        <p:grpSpPr>
          <a:xfrm>
            <a:off x="7574263" y="506545"/>
            <a:ext cx="3479047" cy="5844910"/>
            <a:chOff x="7574263" y="506545"/>
            <a:chExt cx="3479047" cy="58449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E7115DA-74D2-394C-B340-419C3399668F}"/>
                </a:ext>
              </a:extLst>
            </p:cNvPr>
            <p:cNvSpPr txBox="1"/>
            <p:nvPr/>
          </p:nvSpPr>
          <p:spPr>
            <a:xfrm>
              <a:off x="8776929" y="6012901"/>
              <a:ext cx="1617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680A627-F612-204A-BBE3-A0BE94F42A2D}"/>
                </a:ext>
              </a:extLst>
            </p:cNvPr>
            <p:cNvSpPr txBox="1"/>
            <p:nvPr/>
          </p:nvSpPr>
          <p:spPr>
            <a:xfrm rot="16200000">
              <a:off x="7022028" y="1550907"/>
              <a:ext cx="1443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  <p:pic>
          <p:nvPicPr>
            <p:cNvPr id="11" name="Picture 10" descr="Chart, scatter chart&#10;&#10;Description automatically generated">
              <a:extLst>
                <a:ext uri="{FF2B5EF4-FFF2-40B4-BE49-F238E27FC236}">
                  <a16:creationId xmlns:a16="http://schemas.microsoft.com/office/drawing/2014/main" id="{C26F6BFE-EE9F-0043-AC51-3EBFDDD2A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85488" y="506545"/>
              <a:ext cx="3067822" cy="550114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128FF6-99C4-7140-B876-1C80CB3CBAA4}"/>
                </a:ext>
              </a:extLst>
            </p:cNvPr>
            <p:cNvSpPr txBox="1"/>
            <p:nvPr/>
          </p:nvSpPr>
          <p:spPr>
            <a:xfrm>
              <a:off x="8776929" y="3090446"/>
              <a:ext cx="161775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E5A2E6-70E8-4C4E-AFB4-F62F139AE72A}"/>
                </a:ext>
              </a:extLst>
            </p:cNvPr>
            <p:cNvSpPr txBox="1"/>
            <p:nvPr/>
          </p:nvSpPr>
          <p:spPr>
            <a:xfrm rot="16200000">
              <a:off x="7022028" y="4549747"/>
              <a:ext cx="1443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E97CD0E-5ED4-B545-9192-53A75F915BC5}"/>
              </a:ext>
            </a:extLst>
          </p:cNvPr>
          <p:cNvSpPr txBox="1"/>
          <p:nvPr/>
        </p:nvSpPr>
        <p:spPr>
          <a:xfrm>
            <a:off x="123986" y="6488668"/>
            <a:ext cx="11849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0.7500, b</a:t>
            </a:r>
            <a:r>
              <a:rPr lang="en-US" sz="2000" i="1" baseline="-25000" dirty="0"/>
              <a:t>y</a:t>
            </a:r>
            <a:r>
              <a:rPr lang="en-US" sz="2000" i="1" dirty="0"/>
              <a:t> = 0.5000, b</a:t>
            </a:r>
            <a:r>
              <a:rPr lang="en-US" sz="2000" i="1" baseline="-25000" dirty="0"/>
              <a:t>x</a:t>
            </a:r>
            <a:r>
              <a:rPr lang="en-US" sz="2000" i="1" dirty="0"/>
              <a:t> = 1.1250, a</a:t>
            </a:r>
            <a:r>
              <a:rPr lang="en-US" sz="2000" i="1" baseline="-25000" dirty="0"/>
              <a:t>y</a:t>
            </a:r>
            <a:r>
              <a:rPr lang="en-US" sz="2000" i="1" dirty="0"/>
              <a:t> = 3.5000, a</a:t>
            </a:r>
            <a:r>
              <a:rPr lang="en-US" sz="2000" i="1" baseline="-25000" dirty="0"/>
              <a:t>x</a:t>
            </a:r>
            <a:r>
              <a:rPr lang="en-US" sz="2000" i="1" dirty="0"/>
              <a:t> = -1.7500</a:t>
            </a:r>
          </a:p>
        </p:txBody>
      </p:sp>
    </p:spTree>
    <p:extLst>
      <p:ext uri="{BB962C8B-B14F-4D97-AF65-F5344CB8AC3E}">
        <p14:creationId xmlns:p14="http://schemas.microsoft.com/office/powerpoint/2010/main" val="26463865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the Regression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62600" cy="5032375"/>
          </a:xfrm>
        </p:spPr>
        <p:txBody>
          <a:bodyPr/>
          <a:lstStyle/>
          <a:p>
            <a:pPr marL="0" indent="0">
              <a:buNone/>
            </a:pPr>
            <a:r>
              <a:rPr lang="en-CA" sz="2000" dirty="0"/>
              <a:t>Plotting a regression line means we need to know different points on that regression line</a:t>
            </a:r>
          </a:p>
          <a:p>
            <a:r>
              <a:rPr lang="en-CA" sz="2000" dirty="0"/>
              <a:t>We already know the intercepts</a:t>
            </a:r>
          </a:p>
          <a:p>
            <a:r>
              <a:rPr lang="en-CA" sz="2000" dirty="0"/>
              <a:t>The regression lines also converge where the mean of X and Y meet</a:t>
            </a:r>
          </a:p>
          <a:p>
            <a:r>
              <a:rPr lang="en-CA" sz="2000" dirty="0"/>
              <a:t>We can also calculate any point on the regression lines using the equation just defined</a:t>
            </a:r>
          </a:p>
          <a:p>
            <a:pPr lvl="1"/>
            <a:r>
              <a:rPr lang="en-US" sz="2000" dirty="0"/>
              <a:t>Y’ = 3.50 + 0.50(X)</a:t>
            </a:r>
          </a:p>
          <a:p>
            <a:pPr lvl="2"/>
            <a:r>
              <a:rPr lang="en-US" sz="1600" dirty="0"/>
              <a:t>For </a:t>
            </a:r>
            <a:r>
              <a:rPr lang="en-US" sz="1600" dirty="0">
                <a:solidFill>
                  <a:srgbClr val="FF0000"/>
                </a:solidFill>
              </a:rPr>
              <a:t>X = 4</a:t>
            </a:r>
            <a:r>
              <a:rPr lang="en-US" sz="1600" dirty="0"/>
              <a:t>: Y’ = 3.5000 + 0.5000(</a:t>
            </a:r>
            <a:r>
              <a:rPr lang="en-US" sz="1600" dirty="0">
                <a:solidFill>
                  <a:srgbClr val="FF0000"/>
                </a:solidFill>
              </a:rPr>
              <a:t>4</a:t>
            </a:r>
            <a:r>
              <a:rPr lang="en-US" sz="1600" dirty="0"/>
              <a:t>) = 5.50</a:t>
            </a:r>
          </a:p>
          <a:p>
            <a:pPr lvl="1"/>
            <a:endParaRPr lang="en-US" sz="2000" dirty="0"/>
          </a:p>
          <a:p>
            <a:pPr lvl="1"/>
            <a:endParaRPr lang="en-US" sz="1600" dirty="0"/>
          </a:p>
          <a:p>
            <a:endParaRPr lang="en-US" b="1" i="1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6E128D8E-6FFB-4E45-AA19-870398094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873" y="1690688"/>
            <a:ext cx="5195365" cy="45242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C0DC93-DD18-324F-84B4-8CF7E1620F15}"/>
              </a:ext>
            </a:extLst>
          </p:cNvPr>
          <p:cNvSpPr txBox="1"/>
          <p:nvPr/>
        </p:nvSpPr>
        <p:spPr>
          <a:xfrm>
            <a:off x="123986" y="6488668"/>
            <a:ext cx="11849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0.7500, b</a:t>
            </a:r>
            <a:r>
              <a:rPr lang="en-US" sz="2000" i="1" baseline="-25000" dirty="0"/>
              <a:t>y</a:t>
            </a:r>
            <a:r>
              <a:rPr lang="en-US" sz="2000" i="1" dirty="0"/>
              <a:t> = 0.5000, b</a:t>
            </a:r>
            <a:r>
              <a:rPr lang="en-US" sz="2000" i="1" baseline="-25000" dirty="0"/>
              <a:t>x</a:t>
            </a:r>
            <a:r>
              <a:rPr lang="en-US" sz="2000" i="1" dirty="0"/>
              <a:t> = 1.1250, a</a:t>
            </a:r>
            <a:r>
              <a:rPr lang="en-US" sz="2000" i="1" baseline="-25000" dirty="0"/>
              <a:t>y</a:t>
            </a:r>
            <a:r>
              <a:rPr lang="en-US" sz="2000" i="1" dirty="0"/>
              <a:t> = 3.5000, a</a:t>
            </a:r>
            <a:r>
              <a:rPr lang="en-US" sz="2000" i="1" baseline="-25000" dirty="0"/>
              <a:t>x</a:t>
            </a:r>
            <a:r>
              <a:rPr lang="en-US" sz="2000" i="1" dirty="0"/>
              <a:t> = -1.7500</a:t>
            </a:r>
          </a:p>
        </p:txBody>
      </p:sp>
    </p:spTree>
    <p:extLst>
      <p:ext uri="{BB962C8B-B14F-4D97-AF65-F5344CB8AC3E}">
        <p14:creationId xmlns:p14="http://schemas.microsoft.com/office/powerpoint/2010/main" val="345830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the Regression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62600" cy="5032375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i="1" dirty="0"/>
              <a:t>start</a:t>
            </a:r>
            <a:r>
              <a:rPr lang="en-US" sz="2400" dirty="0"/>
              <a:t> and </a:t>
            </a:r>
            <a:r>
              <a:rPr lang="en-US" sz="2400" i="1" dirty="0"/>
              <a:t>end </a:t>
            </a:r>
            <a:r>
              <a:rPr lang="en-US" sz="2400" dirty="0"/>
              <a:t>of each regression line can be computed using the </a:t>
            </a:r>
            <a:r>
              <a:rPr lang="en-US" sz="2400" i="1" dirty="0"/>
              <a:t>lowest </a:t>
            </a:r>
            <a:r>
              <a:rPr lang="en-US" sz="2400" dirty="0"/>
              <a:t>and highest score (of the other variable)</a:t>
            </a:r>
          </a:p>
          <a:p>
            <a:r>
              <a:rPr lang="en-US" sz="2400" dirty="0"/>
              <a:t>Y’ = 3.50 + 0.50(</a:t>
            </a:r>
            <a:r>
              <a:rPr lang="en-US" sz="2400" dirty="0">
                <a:solidFill>
                  <a:srgbClr val="FF0000"/>
                </a:solidFill>
              </a:rPr>
              <a:t>X</a:t>
            </a:r>
            <a:r>
              <a:rPr lang="en-US" sz="2400" dirty="0"/>
              <a:t>)</a:t>
            </a:r>
          </a:p>
          <a:p>
            <a:pPr lvl="1"/>
            <a:r>
              <a:rPr lang="en-US" sz="2000" dirty="0"/>
              <a:t>Lowest: Y’ = 3.50 + 0.50(</a:t>
            </a:r>
            <a:r>
              <a:rPr lang="en-US" sz="2000" dirty="0">
                <a:solidFill>
                  <a:srgbClr val="FF0000"/>
                </a:solidFill>
              </a:rPr>
              <a:t>1</a:t>
            </a:r>
            <a:r>
              <a:rPr lang="en-US" sz="2000" dirty="0"/>
              <a:t>) = 4.0000</a:t>
            </a:r>
          </a:p>
          <a:p>
            <a:pPr lvl="1"/>
            <a:r>
              <a:rPr lang="en-US" sz="2000" dirty="0"/>
              <a:t>Highest: Y’ = 3.50 + 0.50(</a:t>
            </a:r>
            <a:r>
              <a:rPr lang="en-US" sz="2000" dirty="0">
                <a:solidFill>
                  <a:srgbClr val="FF0000"/>
                </a:solidFill>
              </a:rPr>
              <a:t>11</a:t>
            </a:r>
            <a:r>
              <a:rPr lang="en-US" sz="2000" dirty="0"/>
              <a:t>) = 9.0000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1600" dirty="0"/>
          </a:p>
          <a:p>
            <a:endParaRPr lang="en-US" b="1" i="1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12" name="Picture 11" descr="Table&#10;&#10;Description automatically generated">
            <a:extLst>
              <a:ext uri="{FF2B5EF4-FFF2-40B4-BE49-F238E27FC236}">
                <a16:creationId xmlns:a16="http://schemas.microsoft.com/office/drawing/2014/main" id="{64F3AA6B-4EA4-5240-90E5-E3E2AF376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079" y="4138493"/>
            <a:ext cx="3573323" cy="2270065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6984D5A-69B4-8942-835F-14F9CD0520EB}"/>
              </a:ext>
            </a:extLst>
          </p:cNvPr>
          <p:cNvSpPr/>
          <p:nvPr/>
        </p:nvSpPr>
        <p:spPr>
          <a:xfrm>
            <a:off x="3830150" y="5353415"/>
            <a:ext cx="312193" cy="31219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F983F59-24A0-FC4C-9FB0-4640F3500037}"/>
              </a:ext>
            </a:extLst>
          </p:cNvPr>
          <p:cNvSpPr/>
          <p:nvPr/>
        </p:nvSpPr>
        <p:spPr>
          <a:xfrm>
            <a:off x="3830149" y="6082076"/>
            <a:ext cx="312193" cy="31219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F9A34DD-64F9-AA49-9A46-70706630301C}"/>
              </a:ext>
            </a:extLst>
          </p:cNvPr>
          <p:cNvGrpSpPr/>
          <p:nvPr/>
        </p:nvGrpSpPr>
        <p:grpSpPr>
          <a:xfrm>
            <a:off x="6605966" y="1544605"/>
            <a:ext cx="5668105" cy="4921200"/>
            <a:chOff x="6562286" y="1941604"/>
            <a:chExt cx="5180750" cy="4564024"/>
          </a:xfrm>
        </p:grpSpPr>
        <p:pic>
          <p:nvPicPr>
            <p:cNvPr id="22" name="Picture 21" descr="Chart, scatter chart&#10;&#10;Description automatically generated">
              <a:extLst>
                <a:ext uri="{FF2B5EF4-FFF2-40B4-BE49-F238E27FC236}">
                  <a16:creationId xmlns:a16="http://schemas.microsoft.com/office/drawing/2014/main" id="{4CA65956-2135-AC47-AD95-C966B5D125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232" b="10995"/>
            <a:stretch/>
          </p:blipFill>
          <p:spPr>
            <a:xfrm>
              <a:off x="6767855" y="1941604"/>
              <a:ext cx="4975181" cy="431700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D3DA0BB-1304-0D45-BBD7-E56ADABB0FB9}"/>
                </a:ext>
              </a:extLst>
            </p:cNvPr>
            <p:cNvSpPr txBox="1"/>
            <p:nvPr/>
          </p:nvSpPr>
          <p:spPr>
            <a:xfrm>
              <a:off x="8657303" y="6105518"/>
              <a:ext cx="19704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2D5B5C7-D398-DB4D-819D-0F08BADE5708}"/>
                </a:ext>
              </a:extLst>
            </p:cNvPr>
            <p:cNvSpPr txBox="1"/>
            <p:nvPr/>
          </p:nvSpPr>
          <p:spPr>
            <a:xfrm rot="16200000">
              <a:off x="5887582" y="3491578"/>
              <a:ext cx="17495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83BDCED-918E-D342-BE51-1275C7D39FCC}"/>
              </a:ext>
            </a:extLst>
          </p:cNvPr>
          <p:cNvCxnSpPr>
            <a:cxnSpLocks/>
          </p:cNvCxnSpPr>
          <p:nvPr/>
        </p:nvCxnSpPr>
        <p:spPr>
          <a:xfrm>
            <a:off x="7759342" y="4590203"/>
            <a:ext cx="0" cy="1036874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3F5B294-12E6-9543-BC4C-C19F5CD79798}"/>
              </a:ext>
            </a:extLst>
          </p:cNvPr>
          <p:cNvCxnSpPr>
            <a:cxnSpLocks/>
          </p:cNvCxnSpPr>
          <p:nvPr/>
        </p:nvCxnSpPr>
        <p:spPr>
          <a:xfrm>
            <a:off x="11530490" y="2328454"/>
            <a:ext cx="0" cy="3373488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133FE848-BCDC-E243-9BAE-103FC72936B9}"/>
              </a:ext>
            </a:extLst>
          </p:cNvPr>
          <p:cNvSpPr/>
          <p:nvPr/>
        </p:nvSpPr>
        <p:spPr>
          <a:xfrm>
            <a:off x="7710984" y="4140926"/>
            <a:ext cx="96715" cy="967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53A5297-EC0A-934D-B1C9-43CAF02A7F74}"/>
              </a:ext>
            </a:extLst>
          </p:cNvPr>
          <p:cNvSpPr/>
          <p:nvPr/>
        </p:nvSpPr>
        <p:spPr>
          <a:xfrm>
            <a:off x="11490924" y="2231739"/>
            <a:ext cx="96715" cy="967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C80D6C-B95F-0447-829A-381E91A63439}"/>
              </a:ext>
            </a:extLst>
          </p:cNvPr>
          <p:cNvCxnSpPr>
            <a:cxnSpLocks/>
            <a:stCxn id="28" idx="3"/>
          </p:cNvCxnSpPr>
          <p:nvPr/>
        </p:nvCxnSpPr>
        <p:spPr>
          <a:xfrm flipH="1">
            <a:off x="7759344" y="2314290"/>
            <a:ext cx="3745744" cy="187499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6383D9F-E32D-C34B-B973-EABC2C81A81B}"/>
              </a:ext>
            </a:extLst>
          </p:cNvPr>
          <p:cNvSpPr txBox="1"/>
          <p:nvPr/>
        </p:nvSpPr>
        <p:spPr>
          <a:xfrm>
            <a:off x="123986" y="6488668"/>
            <a:ext cx="11849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0.7500, b</a:t>
            </a:r>
            <a:r>
              <a:rPr lang="en-US" sz="2000" i="1" baseline="-25000" dirty="0"/>
              <a:t>y</a:t>
            </a:r>
            <a:r>
              <a:rPr lang="en-US" sz="2000" i="1" dirty="0"/>
              <a:t> = 0.5000, b</a:t>
            </a:r>
            <a:r>
              <a:rPr lang="en-US" sz="2000" i="1" baseline="-25000" dirty="0"/>
              <a:t>x</a:t>
            </a:r>
            <a:r>
              <a:rPr lang="en-US" sz="2000" i="1" dirty="0"/>
              <a:t> = 1.1250, a</a:t>
            </a:r>
            <a:r>
              <a:rPr lang="en-US" sz="2000" i="1" baseline="-25000" dirty="0"/>
              <a:t>y</a:t>
            </a:r>
            <a:r>
              <a:rPr lang="en-US" sz="2000" i="1" dirty="0"/>
              <a:t> = 3.5000, a</a:t>
            </a:r>
            <a:r>
              <a:rPr lang="en-US" sz="2000" i="1" baseline="-25000" dirty="0"/>
              <a:t>x</a:t>
            </a:r>
            <a:r>
              <a:rPr lang="en-US" sz="2000" i="1" dirty="0"/>
              <a:t> = -1.7500</a:t>
            </a:r>
          </a:p>
        </p:txBody>
      </p:sp>
    </p:spTree>
    <p:extLst>
      <p:ext uri="{BB962C8B-B14F-4D97-AF65-F5344CB8AC3E}">
        <p14:creationId xmlns:p14="http://schemas.microsoft.com/office/powerpoint/2010/main" val="1219552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37F1A27A-8A94-144A-A2AB-C4801F4CFBF3}"/>
              </a:ext>
            </a:extLst>
          </p:cNvPr>
          <p:cNvGrpSpPr/>
          <p:nvPr/>
        </p:nvGrpSpPr>
        <p:grpSpPr>
          <a:xfrm>
            <a:off x="6605966" y="1544605"/>
            <a:ext cx="5668105" cy="4921888"/>
            <a:chOff x="6562286" y="1941604"/>
            <a:chExt cx="5180750" cy="4564024"/>
          </a:xfrm>
        </p:grpSpPr>
        <p:pic>
          <p:nvPicPr>
            <p:cNvPr id="19" name="Picture 18" descr="Chart, scatter chart&#10;&#10;Description automatically generated">
              <a:extLst>
                <a:ext uri="{FF2B5EF4-FFF2-40B4-BE49-F238E27FC236}">
                  <a16:creationId xmlns:a16="http://schemas.microsoft.com/office/drawing/2014/main" id="{1E353569-01B1-A84F-A33F-E65ACA51C6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0232" b="10995"/>
            <a:stretch/>
          </p:blipFill>
          <p:spPr>
            <a:xfrm>
              <a:off x="6767855" y="1941604"/>
              <a:ext cx="4975181" cy="4317005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43B12B4-C8A2-9840-8D06-EE689236CAA9}"/>
                </a:ext>
              </a:extLst>
            </p:cNvPr>
            <p:cNvSpPr txBox="1"/>
            <p:nvPr/>
          </p:nvSpPr>
          <p:spPr>
            <a:xfrm>
              <a:off x="8657303" y="6105518"/>
              <a:ext cx="19704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3002F5-34C4-6345-B617-6FC8036E57B2}"/>
                </a:ext>
              </a:extLst>
            </p:cNvPr>
            <p:cNvSpPr txBox="1"/>
            <p:nvPr/>
          </p:nvSpPr>
          <p:spPr>
            <a:xfrm rot="16200000">
              <a:off x="5887582" y="3491578"/>
              <a:ext cx="17495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the Regression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62600" cy="5032375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i="1" dirty="0"/>
              <a:t>start</a:t>
            </a:r>
            <a:r>
              <a:rPr lang="en-US" sz="2400" dirty="0"/>
              <a:t> and </a:t>
            </a:r>
            <a:r>
              <a:rPr lang="en-US" sz="2400" i="1" dirty="0"/>
              <a:t>end </a:t>
            </a:r>
            <a:r>
              <a:rPr lang="en-US" sz="2400" dirty="0"/>
              <a:t>of each regression line can be computed using the </a:t>
            </a:r>
            <a:r>
              <a:rPr lang="en-US" sz="2400" i="1" dirty="0"/>
              <a:t>lowest </a:t>
            </a:r>
            <a:r>
              <a:rPr lang="en-US" sz="2400" dirty="0"/>
              <a:t>and highest score (of the other variable)</a:t>
            </a:r>
          </a:p>
          <a:p>
            <a:r>
              <a:rPr lang="en-US" sz="2400" dirty="0"/>
              <a:t>X’ = -1.75 + 1.13(</a:t>
            </a:r>
            <a:r>
              <a:rPr lang="en-US" sz="2400" dirty="0">
                <a:solidFill>
                  <a:srgbClr val="FF0000"/>
                </a:solidFill>
              </a:rPr>
              <a:t>Y</a:t>
            </a:r>
            <a:r>
              <a:rPr lang="en-US" sz="2400" dirty="0"/>
              <a:t>)</a:t>
            </a:r>
          </a:p>
          <a:p>
            <a:pPr lvl="1"/>
            <a:r>
              <a:rPr lang="en-US" sz="2000" dirty="0"/>
              <a:t>Lowest: X’ = -1.75 + 1.13(</a:t>
            </a:r>
            <a:r>
              <a:rPr lang="en-US" sz="2000" dirty="0">
                <a:solidFill>
                  <a:srgbClr val="FF0000"/>
                </a:solidFill>
              </a:rPr>
              <a:t>3</a:t>
            </a:r>
            <a:r>
              <a:rPr lang="en-US" sz="2000" dirty="0"/>
              <a:t>) = 1.6400</a:t>
            </a:r>
          </a:p>
          <a:p>
            <a:pPr lvl="1"/>
            <a:r>
              <a:rPr lang="en-US" sz="2000" dirty="0"/>
              <a:t>Highest: X’ = -1.75 + 1.13(</a:t>
            </a:r>
            <a:r>
              <a:rPr lang="en-US" sz="2000" dirty="0">
                <a:solidFill>
                  <a:srgbClr val="FF0000"/>
                </a:solidFill>
              </a:rPr>
              <a:t>9</a:t>
            </a:r>
            <a:r>
              <a:rPr lang="en-US" sz="2000" dirty="0"/>
              <a:t>) = 8.4200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1600" dirty="0"/>
          </a:p>
          <a:p>
            <a:endParaRPr lang="en-US" b="1" i="1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12" name="Picture 11" descr="Table&#10;&#10;Description automatically generated">
            <a:extLst>
              <a:ext uri="{FF2B5EF4-FFF2-40B4-BE49-F238E27FC236}">
                <a16:creationId xmlns:a16="http://schemas.microsoft.com/office/drawing/2014/main" id="{64F3AA6B-4EA4-5240-90E5-E3E2AF376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079" y="4153991"/>
            <a:ext cx="3573323" cy="2270065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6984D5A-69B4-8942-835F-14F9CD0520EB}"/>
              </a:ext>
            </a:extLst>
          </p:cNvPr>
          <p:cNvSpPr/>
          <p:nvPr/>
        </p:nvSpPr>
        <p:spPr>
          <a:xfrm>
            <a:off x="5519340" y="5339922"/>
            <a:ext cx="312193" cy="31219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F983F59-24A0-FC4C-9FB0-4640F3500037}"/>
              </a:ext>
            </a:extLst>
          </p:cNvPr>
          <p:cNvSpPr/>
          <p:nvPr/>
        </p:nvSpPr>
        <p:spPr>
          <a:xfrm>
            <a:off x="5519339" y="6081854"/>
            <a:ext cx="312193" cy="31219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52FF3C2-93BA-484B-8EB5-832337B44A34}"/>
              </a:ext>
            </a:extLst>
          </p:cNvPr>
          <p:cNvSpPr/>
          <p:nvPr/>
        </p:nvSpPr>
        <p:spPr>
          <a:xfrm>
            <a:off x="7710984" y="4140926"/>
            <a:ext cx="96715" cy="9671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E96D624-0BFA-2741-8209-ADBE5163F0C3}"/>
              </a:ext>
            </a:extLst>
          </p:cNvPr>
          <p:cNvSpPr/>
          <p:nvPr/>
        </p:nvSpPr>
        <p:spPr>
          <a:xfrm>
            <a:off x="11490924" y="2231739"/>
            <a:ext cx="96715" cy="9671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AD516C2-4C16-6D44-8B6C-D4DE473E0EAD}"/>
              </a:ext>
            </a:extLst>
          </p:cNvPr>
          <p:cNvCxnSpPr>
            <a:cxnSpLocks/>
            <a:stCxn id="16" idx="3"/>
          </p:cNvCxnSpPr>
          <p:nvPr/>
        </p:nvCxnSpPr>
        <p:spPr>
          <a:xfrm flipH="1">
            <a:off x="7759344" y="2314290"/>
            <a:ext cx="3745744" cy="1874994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DD3789-841D-2545-8E94-BF2C28DACD26}"/>
              </a:ext>
            </a:extLst>
          </p:cNvPr>
          <p:cNvCxnSpPr>
            <a:cxnSpLocks/>
          </p:cNvCxnSpPr>
          <p:nvPr/>
        </p:nvCxnSpPr>
        <p:spPr>
          <a:xfrm flipH="1">
            <a:off x="7417312" y="4520755"/>
            <a:ext cx="270522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FE06C6-5385-2C43-B3B5-A46B1AE8E4AC}"/>
              </a:ext>
            </a:extLst>
          </p:cNvPr>
          <p:cNvCxnSpPr>
            <a:cxnSpLocks/>
          </p:cNvCxnSpPr>
          <p:nvPr/>
        </p:nvCxnSpPr>
        <p:spPr>
          <a:xfrm flipH="1">
            <a:off x="7417312" y="2280096"/>
            <a:ext cx="4073612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E5180AC1-2928-8940-800E-E318ECF3CEEC}"/>
              </a:ext>
            </a:extLst>
          </p:cNvPr>
          <p:cNvSpPr/>
          <p:nvPr/>
        </p:nvSpPr>
        <p:spPr>
          <a:xfrm>
            <a:off x="7807699" y="4483175"/>
            <a:ext cx="96715" cy="967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AE4DE34-5AFE-614C-AA2D-553CE0E1ADA2}"/>
              </a:ext>
            </a:extLst>
          </p:cNvPr>
          <p:cNvSpPr/>
          <p:nvPr/>
        </p:nvSpPr>
        <p:spPr>
          <a:xfrm>
            <a:off x="10603008" y="2231738"/>
            <a:ext cx="96715" cy="967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5B9D2A0-C700-734E-BC76-E208661923B7}"/>
              </a:ext>
            </a:extLst>
          </p:cNvPr>
          <p:cNvCxnSpPr>
            <a:cxnSpLocks/>
            <a:stCxn id="26" idx="3"/>
            <a:endCxn id="24" idx="7"/>
          </p:cNvCxnSpPr>
          <p:nvPr/>
        </p:nvCxnSpPr>
        <p:spPr>
          <a:xfrm flipH="1">
            <a:off x="7890250" y="2314289"/>
            <a:ext cx="2726922" cy="21830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DA76BC6-A178-A642-8A45-79A54949A673}"/>
              </a:ext>
            </a:extLst>
          </p:cNvPr>
          <p:cNvSpPr txBox="1"/>
          <p:nvPr/>
        </p:nvSpPr>
        <p:spPr>
          <a:xfrm>
            <a:off x="123986" y="6488668"/>
            <a:ext cx="11849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0.7500, b</a:t>
            </a:r>
            <a:r>
              <a:rPr lang="en-US" sz="2000" i="1" baseline="-25000" dirty="0"/>
              <a:t>y</a:t>
            </a:r>
            <a:r>
              <a:rPr lang="en-US" sz="2000" i="1" dirty="0"/>
              <a:t> = 0.5000, b</a:t>
            </a:r>
            <a:r>
              <a:rPr lang="en-US" sz="2000" i="1" baseline="-25000" dirty="0"/>
              <a:t>x</a:t>
            </a:r>
            <a:r>
              <a:rPr lang="en-US" sz="2000" i="1" dirty="0"/>
              <a:t> = 1.1250, a</a:t>
            </a:r>
            <a:r>
              <a:rPr lang="en-US" sz="2000" i="1" baseline="-25000" dirty="0"/>
              <a:t>y</a:t>
            </a:r>
            <a:r>
              <a:rPr lang="en-US" sz="2000" i="1" dirty="0"/>
              <a:t> = 3.5000, a</a:t>
            </a:r>
            <a:r>
              <a:rPr lang="en-US" sz="2000" i="1" baseline="-25000" dirty="0"/>
              <a:t>x</a:t>
            </a:r>
            <a:r>
              <a:rPr lang="en-US" sz="2000" i="1" dirty="0"/>
              <a:t> = -1.7500</a:t>
            </a:r>
          </a:p>
        </p:txBody>
      </p:sp>
    </p:spTree>
    <p:extLst>
      <p:ext uri="{BB962C8B-B14F-4D97-AF65-F5344CB8AC3E}">
        <p14:creationId xmlns:p14="http://schemas.microsoft.com/office/powerpoint/2010/main" val="310027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24" grpId="0" animBg="1"/>
      <p:bldP spid="2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37F1A27A-8A94-144A-A2AB-C4801F4CFBF3}"/>
              </a:ext>
            </a:extLst>
          </p:cNvPr>
          <p:cNvGrpSpPr/>
          <p:nvPr/>
        </p:nvGrpSpPr>
        <p:grpSpPr>
          <a:xfrm>
            <a:off x="6605966" y="1544605"/>
            <a:ext cx="5668105" cy="4921888"/>
            <a:chOff x="6562286" y="1941604"/>
            <a:chExt cx="5180750" cy="4564024"/>
          </a:xfrm>
        </p:grpSpPr>
        <p:pic>
          <p:nvPicPr>
            <p:cNvPr id="19" name="Picture 18" descr="Chart, scatter chart&#10;&#10;Description automatically generated">
              <a:extLst>
                <a:ext uri="{FF2B5EF4-FFF2-40B4-BE49-F238E27FC236}">
                  <a16:creationId xmlns:a16="http://schemas.microsoft.com/office/drawing/2014/main" id="{1E353569-01B1-A84F-A33F-E65ACA51C6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0915" b="10995"/>
            <a:stretch/>
          </p:blipFill>
          <p:spPr>
            <a:xfrm>
              <a:off x="6805710" y="1941604"/>
              <a:ext cx="4937326" cy="4317005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43B12B4-C8A2-9840-8D06-EE689236CAA9}"/>
                </a:ext>
              </a:extLst>
            </p:cNvPr>
            <p:cNvSpPr txBox="1"/>
            <p:nvPr/>
          </p:nvSpPr>
          <p:spPr>
            <a:xfrm>
              <a:off x="8657303" y="6105518"/>
              <a:ext cx="19704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3002F5-34C4-6345-B617-6FC8036E57B2}"/>
                </a:ext>
              </a:extLst>
            </p:cNvPr>
            <p:cNvSpPr txBox="1"/>
            <p:nvPr/>
          </p:nvSpPr>
          <p:spPr>
            <a:xfrm rot="16200000">
              <a:off x="5887582" y="3491578"/>
              <a:ext cx="17495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the Regression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62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i="1" dirty="0"/>
              <a:t>start</a:t>
            </a:r>
            <a:r>
              <a:rPr lang="en-US" sz="2400" dirty="0"/>
              <a:t> and </a:t>
            </a:r>
            <a:r>
              <a:rPr lang="en-US" sz="2400" i="1" dirty="0"/>
              <a:t>end </a:t>
            </a:r>
            <a:r>
              <a:rPr lang="en-US" sz="2400" dirty="0"/>
              <a:t>of each regression line can be computed using the </a:t>
            </a:r>
            <a:r>
              <a:rPr lang="en-US" sz="2400" i="1" dirty="0"/>
              <a:t>lowest </a:t>
            </a:r>
            <a:r>
              <a:rPr lang="en-US" sz="2400" dirty="0"/>
              <a:t>and highest score (of the other variable)</a:t>
            </a:r>
          </a:p>
          <a:p>
            <a:r>
              <a:rPr lang="en-US" sz="2400" dirty="0">
                <a:solidFill>
                  <a:srgbClr val="FF0000"/>
                </a:solidFill>
              </a:rPr>
              <a:t>Y’ = 3.50 + 0.50(X)</a:t>
            </a:r>
          </a:p>
          <a:p>
            <a:pPr lvl="1"/>
            <a:r>
              <a:rPr lang="en-US" sz="2000" dirty="0"/>
              <a:t>Lowest: Y’ = 3.50 + 0.50(</a:t>
            </a:r>
            <a:r>
              <a:rPr lang="en-US" sz="2000" dirty="0">
                <a:solidFill>
                  <a:srgbClr val="FF0000"/>
                </a:solidFill>
              </a:rPr>
              <a:t>1</a:t>
            </a:r>
            <a:r>
              <a:rPr lang="en-US" sz="2000" dirty="0"/>
              <a:t>) = 4.0000</a:t>
            </a:r>
          </a:p>
          <a:p>
            <a:pPr lvl="1"/>
            <a:r>
              <a:rPr lang="en-US" sz="2000" dirty="0"/>
              <a:t>Highest: Y’ = 3.50 + 0.50(</a:t>
            </a:r>
            <a:r>
              <a:rPr lang="en-US" sz="2000" dirty="0">
                <a:solidFill>
                  <a:srgbClr val="FF0000"/>
                </a:solidFill>
              </a:rPr>
              <a:t>11</a:t>
            </a:r>
            <a:r>
              <a:rPr lang="en-US" sz="2000" dirty="0"/>
              <a:t>) = 9.0000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>
                <a:solidFill>
                  <a:srgbClr val="0070C0"/>
                </a:solidFill>
              </a:rPr>
              <a:t>X’ = -1.75 + 1.13(Y)</a:t>
            </a:r>
          </a:p>
          <a:p>
            <a:pPr lvl="1"/>
            <a:r>
              <a:rPr lang="en-US" sz="2000" dirty="0"/>
              <a:t>Lowest: X’ = -1.75 + 1.13(</a:t>
            </a:r>
            <a:r>
              <a:rPr lang="en-US" sz="2000" dirty="0">
                <a:solidFill>
                  <a:srgbClr val="0070C0"/>
                </a:solidFill>
              </a:rPr>
              <a:t>3</a:t>
            </a:r>
            <a:r>
              <a:rPr lang="en-US" sz="2000" dirty="0"/>
              <a:t>) = 1.6400</a:t>
            </a:r>
          </a:p>
          <a:p>
            <a:pPr lvl="1"/>
            <a:r>
              <a:rPr lang="en-US" sz="2000" dirty="0"/>
              <a:t>Highest: X’ = -1.75 + 1.13(</a:t>
            </a:r>
            <a:r>
              <a:rPr lang="en-US" sz="2000" dirty="0">
                <a:solidFill>
                  <a:srgbClr val="0070C0"/>
                </a:solidFill>
              </a:rPr>
              <a:t>9</a:t>
            </a:r>
            <a:r>
              <a:rPr lang="en-US" sz="2000" dirty="0"/>
              <a:t>) = 8.4200</a:t>
            </a:r>
          </a:p>
          <a:p>
            <a:pPr marL="457200" lvl="1" indent="0">
              <a:buNone/>
            </a:pPr>
            <a:endParaRPr lang="en-US" sz="2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52FF3C2-93BA-484B-8EB5-832337B44A34}"/>
              </a:ext>
            </a:extLst>
          </p:cNvPr>
          <p:cNvSpPr/>
          <p:nvPr/>
        </p:nvSpPr>
        <p:spPr>
          <a:xfrm>
            <a:off x="7710984" y="4140926"/>
            <a:ext cx="96715" cy="967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E96D624-0BFA-2741-8209-ADBE5163F0C3}"/>
              </a:ext>
            </a:extLst>
          </p:cNvPr>
          <p:cNvSpPr/>
          <p:nvPr/>
        </p:nvSpPr>
        <p:spPr>
          <a:xfrm>
            <a:off x="11490924" y="2231739"/>
            <a:ext cx="96715" cy="967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AD516C2-4C16-6D44-8B6C-D4DE473E0EAD}"/>
              </a:ext>
            </a:extLst>
          </p:cNvPr>
          <p:cNvCxnSpPr>
            <a:cxnSpLocks/>
            <a:stCxn id="16" idx="3"/>
          </p:cNvCxnSpPr>
          <p:nvPr/>
        </p:nvCxnSpPr>
        <p:spPr>
          <a:xfrm flipH="1">
            <a:off x="7759344" y="2314290"/>
            <a:ext cx="3745744" cy="187499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E5180AC1-2928-8940-800E-E318ECF3CEEC}"/>
              </a:ext>
            </a:extLst>
          </p:cNvPr>
          <p:cNvSpPr/>
          <p:nvPr/>
        </p:nvSpPr>
        <p:spPr>
          <a:xfrm>
            <a:off x="7807699" y="4483175"/>
            <a:ext cx="96715" cy="9671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AE4DE34-5AFE-614C-AA2D-553CE0E1ADA2}"/>
              </a:ext>
            </a:extLst>
          </p:cNvPr>
          <p:cNvSpPr/>
          <p:nvPr/>
        </p:nvSpPr>
        <p:spPr>
          <a:xfrm>
            <a:off x="10603008" y="2231738"/>
            <a:ext cx="96715" cy="9671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5B9D2A0-C700-734E-BC76-E208661923B7}"/>
              </a:ext>
            </a:extLst>
          </p:cNvPr>
          <p:cNvCxnSpPr>
            <a:cxnSpLocks/>
            <a:stCxn id="26" idx="3"/>
            <a:endCxn id="24" idx="7"/>
          </p:cNvCxnSpPr>
          <p:nvPr/>
        </p:nvCxnSpPr>
        <p:spPr>
          <a:xfrm flipH="1">
            <a:off x="7890250" y="2314289"/>
            <a:ext cx="2726922" cy="218305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648D3D3-2B04-5C43-8D73-0EAF6614E1D3}"/>
              </a:ext>
            </a:extLst>
          </p:cNvPr>
          <p:cNvSpPr txBox="1"/>
          <p:nvPr/>
        </p:nvSpPr>
        <p:spPr>
          <a:xfrm>
            <a:off x="123986" y="6488668"/>
            <a:ext cx="11849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0.7500, b</a:t>
            </a:r>
            <a:r>
              <a:rPr lang="en-US" sz="2000" i="1" baseline="-25000" dirty="0"/>
              <a:t>y</a:t>
            </a:r>
            <a:r>
              <a:rPr lang="en-US" sz="2000" i="1" dirty="0"/>
              <a:t> = 0.5000, b</a:t>
            </a:r>
            <a:r>
              <a:rPr lang="en-US" sz="2000" i="1" baseline="-25000" dirty="0"/>
              <a:t>x</a:t>
            </a:r>
            <a:r>
              <a:rPr lang="en-US" sz="2000" i="1" dirty="0"/>
              <a:t> = 1.1250, a</a:t>
            </a:r>
            <a:r>
              <a:rPr lang="en-US" sz="2000" i="1" baseline="-25000" dirty="0"/>
              <a:t>y</a:t>
            </a:r>
            <a:r>
              <a:rPr lang="en-US" sz="2000" i="1" dirty="0"/>
              <a:t> = 3.5000, a</a:t>
            </a:r>
            <a:r>
              <a:rPr lang="en-US" sz="2000" i="1" baseline="-25000" dirty="0"/>
              <a:t>x</a:t>
            </a:r>
            <a:r>
              <a:rPr lang="en-US" sz="2000" i="1" dirty="0"/>
              <a:t> = -1.7500</a:t>
            </a:r>
          </a:p>
        </p:txBody>
      </p:sp>
    </p:spTree>
    <p:extLst>
      <p:ext uri="{BB962C8B-B14F-4D97-AF65-F5344CB8AC3E}">
        <p14:creationId xmlns:p14="http://schemas.microsoft.com/office/powerpoint/2010/main" val="10841735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500-C91B-5342-AD07-C2AA7459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the Regression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7B72-9D02-6541-B3B5-8648651E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62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Important note</a:t>
            </a:r>
            <a:r>
              <a:rPr lang="en-US" sz="2400" dirty="0"/>
              <a:t>: The regression lines DO NOT go past the data</a:t>
            </a:r>
          </a:p>
          <a:p>
            <a:r>
              <a:rPr lang="en-US" sz="2400" dirty="0"/>
              <a:t>Because we can only predict scores within our observed data</a:t>
            </a:r>
          </a:p>
          <a:p>
            <a:r>
              <a:rPr lang="en-US" sz="2400" dirty="0"/>
              <a:t>Interpolation, not extrapolation</a:t>
            </a:r>
          </a:p>
          <a:p>
            <a:pPr lvl="1"/>
            <a:r>
              <a:rPr lang="en-US" sz="2000" dirty="0"/>
              <a:t>Interpolation: Estimating unknown values within known data points</a:t>
            </a:r>
          </a:p>
          <a:p>
            <a:pPr lvl="1"/>
            <a:r>
              <a:rPr lang="en-US" sz="2000" dirty="0"/>
              <a:t>Extrapolation: Estimating unknown values outside of known data points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1600" dirty="0"/>
          </a:p>
          <a:p>
            <a:endParaRPr lang="en-US" b="1" i="1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C5B366-829C-E04D-AFC5-2200ADB08A7A}"/>
              </a:ext>
            </a:extLst>
          </p:cNvPr>
          <p:cNvGrpSpPr/>
          <p:nvPr/>
        </p:nvGrpSpPr>
        <p:grpSpPr>
          <a:xfrm>
            <a:off x="6605966" y="1544605"/>
            <a:ext cx="5668105" cy="4921888"/>
            <a:chOff x="6605966" y="1544605"/>
            <a:chExt cx="5668105" cy="492188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7F1A27A-8A94-144A-A2AB-C4801F4CFBF3}"/>
                </a:ext>
              </a:extLst>
            </p:cNvPr>
            <p:cNvGrpSpPr/>
            <p:nvPr/>
          </p:nvGrpSpPr>
          <p:grpSpPr>
            <a:xfrm>
              <a:off x="6605966" y="1544605"/>
              <a:ext cx="5668105" cy="4921888"/>
              <a:chOff x="6562286" y="1941604"/>
              <a:chExt cx="5180750" cy="4564024"/>
            </a:xfrm>
          </p:grpSpPr>
          <p:pic>
            <p:nvPicPr>
              <p:cNvPr id="19" name="Picture 18" descr="Chart, scatter chart&#10;&#10;Description automatically generated">
                <a:extLst>
                  <a:ext uri="{FF2B5EF4-FFF2-40B4-BE49-F238E27FC236}">
                    <a16:creationId xmlns:a16="http://schemas.microsoft.com/office/drawing/2014/main" id="{1E353569-01B1-A84F-A33F-E65ACA51C63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0915" b="10995"/>
              <a:stretch/>
            </p:blipFill>
            <p:spPr>
              <a:xfrm>
                <a:off x="6805710" y="1941604"/>
                <a:ext cx="4937326" cy="4317005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43B12B4-C8A2-9840-8D06-EE689236CAA9}"/>
                  </a:ext>
                </a:extLst>
              </p:cNvPr>
              <p:cNvSpPr txBox="1"/>
              <p:nvPr/>
            </p:nvSpPr>
            <p:spPr>
              <a:xfrm>
                <a:off x="8657303" y="6105518"/>
                <a:ext cx="19704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Hours Exercising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33002F5-34C4-6345-B617-6FC8036E57B2}"/>
                  </a:ext>
                </a:extLst>
              </p:cNvPr>
              <p:cNvSpPr txBox="1"/>
              <p:nvPr/>
            </p:nvSpPr>
            <p:spPr>
              <a:xfrm rot="16200000">
                <a:off x="5887582" y="3491578"/>
                <a:ext cx="174951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Wellness Score</a:t>
                </a:r>
              </a:p>
            </p:txBody>
          </p:sp>
        </p:grp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52FF3C2-93BA-484B-8EB5-832337B44A34}"/>
                </a:ext>
              </a:extLst>
            </p:cNvPr>
            <p:cNvSpPr/>
            <p:nvPr/>
          </p:nvSpPr>
          <p:spPr>
            <a:xfrm>
              <a:off x="7710984" y="4140926"/>
              <a:ext cx="96715" cy="9671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E96D624-0BFA-2741-8209-ADBE5163F0C3}"/>
                </a:ext>
              </a:extLst>
            </p:cNvPr>
            <p:cNvSpPr/>
            <p:nvPr/>
          </p:nvSpPr>
          <p:spPr>
            <a:xfrm>
              <a:off x="11490924" y="2231739"/>
              <a:ext cx="96715" cy="9671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AD516C2-4C16-6D44-8B6C-D4DE473E0EAD}"/>
                </a:ext>
              </a:extLst>
            </p:cNvPr>
            <p:cNvCxnSpPr>
              <a:cxnSpLocks/>
              <a:stCxn id="16" idx="3"/>
            </p:cNvCxnSpPr>
            <p:nvPr/>
          </p:nvCxnSpPr>
          <p:spPr>
            <a:xfrm flipH="1">
              <a:off x="7759344" y="2314290"/>
              <a:ext cx="3745744" cy="187499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5180AC1-2928-8940-800E-E318ECF3CEEC}"/>
                </a:ext>
              </a:extLst>
            </p:cNvPr>
            <p:cNvSpPr/>
            <p:nvPr/>
          </p:nvSpPr>
          <p:spPr>
            <a:xfrm>
              <a:off x="7807699" y="4483175"/>
              <a:ext cx="96715" cy="9671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AE4DE34-5AFE-614C-AA2D-553CE0E1ADA2}"/>
                </a:ext>
              </a:extLst>
            </p:cNvPr>
            <p:cNvSpPr/>
            <p:nvPr/>
          </p:nvSpPr>
          <p:spPr>
            <a:xfrm>
              <a:off x="10603008" y="2231738"/>
              <a:ext cx="96715" cy="9671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5B9D2A0-C700-734E-BC76-E208661923B7}"/>
                </a:ext>
              </a:extLst>
            </p:cNvPr>
            <p:cNvCxnSpPr>
              <a:cxnSpLocks/>
              <a:stCxn id="26" idx="3"/>
              <a:endCxn id="24" idx="7"/>
            </p:cNvCxnSpPr>
            <p:nvPr/>
          </p:nvCxnSpPr>
          <p:spPr>
            <a:xfrm flipH="1">
              <a:off x="7890250" y="2314289"/>
              <a:ext cx="2726922" cy="218305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1975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F7599EFA-5EDA-4F40-982D-9BB1F5245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962" y="1690688"/>
            <a:ext cx="5397499" cy="48021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A8734-8F82-844F-B488-0BC31A587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and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50F9A-56C7-C24F-BC31-4A84919D9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389077" cy="5032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</a:t>
            </a:r>
            <a:r>
              <a:rPr lang="en-US" i="1" dirty="0"/>
              <a:t>r</a:t>
            </a:r>
            <a:r>
              <a:rPr lang="en-US" dirty="0"/>
              <a:t> = 0 then slopes (</a:t>
            </a:r>
            <a:r>
              <a:rPr lang="en-US" i="1" dirty="0"/>
              <a:t>b</a:t>
            </a:r>
            <a:r>
              <a:rPr lang="en-US" i="1" baseline="-25000" dirty="0"/>
              <a:t>y</a:t>
            </a:r>
            <a:r>
              <a:rPr lang="en-US" dirty="0"/>
              <a:t> &amp; </a:t>
            </a:r>
            <a:r>
              <a:rPr lang="en-US" i="1" dirty="0"/>
              <a:t>b</a:t>
            </a:r>
            <a:r>
              <a:rPr lang="en-US" i="1" baseline="-25000" dirty="0"/>
              <a:t>x</a:t>
            </a:r>
            <a:r>
              <a:rPr lang="en-US" dirty="0"/>
              <a:t>) = 0</a:t>
            </a:r>
          </a:p>
          <a:p>
            <a:r>
              <a:rPr lang="en-US" dirty="0"/>
              <a:t>Regression line is parallel to the axes</a:t>
            </a:r>
          </a:p>
          <a:p>
            <a:r>
              <a:rPr lang="en-US" dirty="0"/>
              <a:t>The regression lines then simply becomes the mean of Y and X</a:t>
            </a:r>
          </a:p>
          <a:p>
            <a:pPr lvl="1"/>
            <a:r>
              <a:rPr lang="en-US" i="1" dirty="0"/>
              <a:t>a</a:t>
            </a:r>
            <a:r>
              <a:rPr lang="en-US" i="1" baseline="-25000" dirty="0"/>
              <a:t>y</a:t>
            </a:r>
            <a:r>
              <a:rPr lang="en-US" dirty="0"/>
              <a:t> =</a:t>
            </a:r>
            <a:r>
              <a:rPr lang="en-US" i="1" dirty="0"/>
              <a:t> </a:t>
            </a:r>
            <a:r>
              <a:rPr lang="en-US" dirty="0"/>
              <a:t>y̅</a:t>
            </a:r>
            <a:r>
              <a:rPr lang="en-US" i="1" dirty="0"/>
              <a:t>, a</a:t>
            </a:r>
            <a:r>
              <a:rPr lang="en-US" i="1" baseline="-25000" dirty="0"/>
              <a:t>x</a:t>
            </a:r>
            <a:r>
              <a:rPr lang="en-US" dirty="0"/>
              <a:t> =</a:t>
            </a:r>
            <a:r>
              <a:rPr lang="en-US" i="1" dirty="0"/>
              <a:t> </a:t>
            </a:r>
            <a:r>
              <a:rPr lang="en-CA" i="1" dirty="0"/>
              <a:t>x̅</a:t>
            </a:r>
          </a:p>
          <a:p>
            <a:pPr lvl="1"/>
            <a:endParaRPr lang="en-CA" i="1" dirty="0"/>
          </a:p>
          <a:p>
            <a:pPr lvl="1"/>
            <a:r>
              <a:rPr lang="en-US" dirty="0"/>
              <a:t>Y’ = a</a:t>
            </a:r>
            <a:r>
              <a:rPr lang="en-US" baseline="-25000" dirty="0"/>
              <a:t>y</a:t>
            </a:r>
            <a:r>
              <a:rPr lang="en-US" dirty="0"/>
              <a:t> + </a:t>
            </a:r>
            <a:r>
              <a:rPr lang="en-US" dirty="0" err="1"/>
              <a:t>b</a:t>
            </a:r>
            <a:r>
              <a:rPr lang="en-US" baseline="-25000" dirty="0" err="1"/>
              <a:t>y</a:t>
            </a:r>
            <a:r>
              <a:rPr lang="en-US" dirty="0" err="1"/>
              <a:t>X</a:t>
            </a:r>
            <a:endParaRPr lang="en-US" dirty="0"/>
          </a:p>
          <a:p>
            <a:pPr lvl="1"/>
            <a:r>
              <a:rPr lang="en-US" dirty="0"/>
              <a:t>Y’ = a</a:t>
            </a:r>
            <a:r>
              <a:rPr lang="en-US" baseline="-25000" dirty="0"/>
              <a:t>y</a:t>
            </a:r>
            <a:r>
              <a:rPr lang="en-US" dirty="0"/>
              <a:t> + 0X</a:t>
            </a:r>
          </a:p>
          <a:p>
            <a:pPr lvl="1"/>
            <a:r>
              <a:rPr lang="en-US" dirty="0"/>
              <a:t>Y’ = a</a:t>
            </a:r>
            <a:r>
              <a:rPr lang="en-US" baseline="-25000" dirty="0"/>
              <a:t>y </a:t>
            </a:r>
            <a:r>
              <a:rPr lang="en-US" dirty="0"/>
              <a:t>= </a:t>
            </a:r>
            <a:r>
              <a:rPr lang="en-US" i="1" dirty="0"/>
              <a:t> </a:t>
            </a:r>
            <a:r>
              <a:rPr lang="en-US" dirty="0"/>
              <a:t>y̅</a:t>
            </a:r>
            <a:endParaRPr lang="en-US" i="1" dirty="0"/>
          </a:p>
          <a:p>
            <a:pPr lvl="1"/>
            <a:r>
              <a:rPr lang="en-US" dirty="0"/>
              <a:t>Y’ = y̅</a:t>
            </a:r>
            <a:endParaRPr lang="en-US" i="1" dirty="0"/>
          </a:p>
          <a:p>
            <a:pPr lvl="1"/>
            <a:endParaRPr lang="en-US" i="1" dirty="0"/>
          </a:p>
          <a:p>
            <a:pPr lvl="1"/>
            <a:endParaRPr lang="en-CA" i="1" dirty="0"/>
          </a:p>
          <a:p>
            <a:endParaRPr lang="en-CA" i="1" dirty="0"/>
          </a:p>
          <a:p>
            <a:pPr lvl="1"/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261765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17F4A-B32A-F7E2-C284-9F9878808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16B7A0A0-7FBD-31CF-18BB-4B7280076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962" y="1690688"/>
            <a:ext cx="5397499" cy="4802187"/>
          </a:xfrm>
          <a:prstGeom prst="rect">
            <a:avLst/>
          </a:prstGeom>
        </p:spPr>
      </p:pic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CBF19DC2-1DE9-D692-B87D-115F02A43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089" y="1690687"/>
            <a:ext cx="5495372" cy="48612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4C6EF4-DD2A-07F4-D384-D32CD80BF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and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175BB-49BE-E468-EA8A-D23E03514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389077" cy="5032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As </a:t>
            </a:r>
            <a:r>
              <a:rPr lang="en-CA" i="1" dirty="0"/>
              <a:t>r</a:t>
            </a:r>
            <a:r>
              <a:rPr lang="en-CA" dirty="0"/>
              <a:t> increases, the slope increases</a:t>
            </a:r>
          </a:p>
          <a:p>
            <a:r>
              <a:rPr lang="en-CA" dirty="0"/>
              <a:t>The two regression lines converge towards becoming the same</a:t>
            </a:r>
          </a:p>
          <a:p>
            <a:pPr lvl="1"/>
            <a:r>
              <a:rPr lang="en-CA" dirty="0"/>
              <a:t>At r = ± 1, they completely overlap</a:t>
            </a:r>
            <a:endParaRPr lang="en-US" dirty="0"/>
          </a:p>
          <a:p>
            <a:pPr lvl="1"/>
            <a:endParaRPr lang="en-US" i="1" dirty="0"/>
          </a:p>
          <a:p>
            <a:pPr lvl="1"/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6365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C9449-CB1B-EFF9-6A10-5580DA61E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8E7E-0D10-AD37-988D-239FE24D4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the Regression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5F292-4398-26C6-62E9-7A6FB14B9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62600" cy="5032375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Steps for Computing Regression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Plot your data!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Determine mean and SD for X and Y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Pearson </a:t>
            </a:r>
            <a:r>
              <a:rPr lang="en-CA" sz="2400" i="1" dirty="0"/>
              <a:t>r</a:t>
            </a:r>
            <a:endParaRPr lang="en-CA" sz="2400" dirty="0"/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slopes (</a:t>
            </a:r>
            <a:r>
              <a:rPr lang="en-CA" sz="2400" i="1" dirty="0"/>
              <a:t>b</a:t>
            </a:r>
            <a:r>
              <a:rPr lang="en-CA" sz="2400" i="1" baseline="-25000" dirty="0"/>
              <a:t>y</a:t>
            </a:r>
            <a:r>
              <a:rPr lang="en-CA" sz="2400" dirty="0"/>
              <a:t> &amp; </a:t>
            </a:r>
            <a:r>
              <a:rPr lang="en-CA" sz="2400" i="1" dirty="0"/>
              <a:t>b</a:t>
            </a:r>
            <a:r>
              <a:rPr lang="en-CA" sz="2400" i="1" baseline="-25000" dirty="0"/>
              <a:t>x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Compute the intercepts (</a:t>
            </a:r>
            <a:r>
              <a:rPr lang="en-CA" sz="2400" i="1" dirty="0"/>
              <a:t>a</a:t>
            </a:r>
            <a:r>
              <a:rPr lang="en-CA" sz="2400" i="1" baseline="-25000" dirty="0"/>
              <a:t>y</a:t>
            </a:r>
            <a:r>
              <a:rPr lang="en-CA" sz="2400" dirty="0"/>
              <a:t> &amp; </a:t>
            </a:r>
            <a:r>
              <a:rPr lang="en-CA" sz="2400" i="1" dirty="0"/>
              <a:t>a</a:t>
            </a:r>
            <a:r>
              <a:rPr lang="en-CA" sz="2400" i="1" baseline="-25000" dirty="0"/>
              <a:t>x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Define the regression lines (</a:t>
            </a:r>
            <a:r>
              <a:rPr lang="en-CA" sz="2400" i="1" dirty="0"/>
              <a:t>Y’</a:t>
            </a:r>
            <a:r>
              <a:rPr lang="en-CA" sz="2400" dirty="0"/>
              <a:t> &amp; </a:t>
            </a:r>
            <a:r>
              <a:rPr lang="en-CA" sz="2400" i="1" dirty="0"/>
              <a:t>X’</a:t>
            </a:r>
            <a:r>
              <a:rPr lang="en-CA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/>
              <a:t>Plot the regression lines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400" dirty="0">
                <a:solidFill>
                  <a:srgbClr val="FF0000"/>
                </a:solidFill>
              </a:rPr>
              <a:t>Compute the standard error</a:t>
            </a:r>
            <a:endParaRPr lang="en-US" sz="240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sz="2400" dirty="0">
              <a:solidFill>
                <a:srgbClr val="FF0000"/>
              </a:solidFill>
            </a:endParaRPr>
          </a:p>
          <a:p>
            <a:endParaRPr lang="en-US" b="1" i="1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E3103EA-5C79-F823-7C0C-C6AB819A7C3D}"/>
              </a:ext>
            </a:extLst>
          </p:cNvPr>
          <p:cNvGrpSpPr/>
          <p:nvPr/>
        </p:nvGrpSpPr>
        <p:grpSpPr>
          <a:xfrm>
            <a:off x="7574263" y="506545"/>
            <a:ext cx="3479047" cy="5844910"/>
            <a:chOff x="7574263" y="506545"/>
            <a:chExt cx="3479047" cy="58449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C6EE65-D3D2-4CC0-230A-3F2F85AED888}"/>
                </a:ext>
              </a:extLst>
            </p:cNvPr>
            <p:cNvSpPr txBox="1"/>
            <p:nvPr/>
          </p:nvSpPr>
          <p:spPr>
            <a:xfrm>
              <a:off x="8776929" y="6012901"/>
              <a:ext cx="1617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3F58059-B7E0-977B-1D0C-9B585067D024}"/>
                </a:ext>
              </a:extLst>
            </p:cNvPr>
            <p:cNvSpPr txBox="1"/>
            <p:nvPr/>
          </p:nvSpPr>
          <p:spPr>
            <a:xfrm rot="16200000">
              <a:off x="7022028" y="1550907"/>
              <a:ext cx="1443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  <p:pic>
          <p:nvPicPr>
            <p:cNvPr id="11" name="Picture 10" descr="Chart, scatter chart&#10;&#10;Description automatically generated">
              <a:extLst>
                <a:ext uri="{FF2B5EF4-FFF2-40B4-BE49-F238E27FC236}">
                  <a16:creationId xmlns:a16="http://schemas.microsoft.com/office/drawing/2014/main" id="{2BB1C893-D04F-C6D5-A926-7A1C15F15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85488" y="506545"/>
              <a:ext cx="3067822" cy="550114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A9F6FA4-A2E3-AE2B-605D-64F6C0663D5A}"/>
                </a:ext>
              </a:extLst>
            </p:cNvPr>
            <p:cNvSpPr txBox="1"/>
            <p:nvPr/>
          </p:nvSpPr>
          <p:spPr>
            <a:xfrm>
              <a:off x="8776929" y="3090446"/>
              <a:ext cx="161775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A75F0BE-530E-4751-5502-BC8EA72DE08B}"/>
                </a:ext>
              </a:extLst>
            </p:cNvPr>
            <p:cNvSpPr txBox="1"/>
            <p:nvPr/>
          </p:nvSpPr>
          <p:spPr>
            <a:xfrm rot="16200000">
              <a:off x="7022028" y="4549747"/>
              <a:ext cx="1443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3E3455B-3289-5629-EACB-6CFBB5F6A2D7}"/>
              </a:ext>
            </a:extLst>
          </p:cNvPr>
          <p:cNvSpPr txBox="1"/>
          <p:nvPr/>
        </p:nvSpPr>
        <p:spPr>
          <a:xfrm>
            <a:off x="123986" y="6488668"/>
            <a:ext cx="11849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0.7500, b</a:t>
            </a:r>
            <a:r>
              <a:rPr lang="en-US" sz="2000" i="1" baseline="-25000" dirty="0"/>
              <a:t>y</a:t>
            </a:r>
            <a:r>
              <a:rPr lang="en-US" sz="2000" i="1" dirty="0"/>
              <a:t> = 0.5000, b</a:t>
            </a:r>
            <a:r>
              <a:rPr lang="en-US" sz="2000" i="1" baseline="-25000" dirty="0"/>
              <a:t>x</a:t>
            </a:r>
            <a:r>
              <a:rPr lang="en-US" sz="2000" i="1" dirty="0"/>
              <a:t> = 1.1250, a</a:t>
            </a:r>
            <a:r>
              <a:rPr lang="en-US" sz="2000" i="1" baseline="-25000" dirty="0"/>
              <a:t>y</a:t>
            </a:r>
            <a:r>
              <a:rPr lang="en-US" sz="2000" i="1" dirty="0"/>
              <a:t> = 3.5000, a</a:t>
            </a:r>
            <a:r>
              <a:rPr lang="en-US" sz="2000" i="1" baseline="-25000" dirty="0"/>
              <a:t>x</a:t>
            </a:r>
            <a:r>
              <a:rPr lang="en-US" sz="2000" i="1" dirty="0"/>
              <a:t> = -1.7500</a:t>
            </a:r>
          </a:p>
        </p:txBody>
      </p:sp>
    </p:spTree>
    <p:extLst>
      <p:ext uri="{BB962C8B-B14F-4D97-AF65-F5344CB8AC3E}">
        <p14:creationId xmlns:p14="http://schemas.microsoft.com/office/powerpoint/2010/main" val="22490647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269830"/>
            <a:ext cx="6468542" cy="65881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Regression Conceptually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Computing Regression Lines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Standard Error of the Regression Line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Explained Variability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Formal Report</a:t>
            </a:r>
          </a:p>
        </p:txBody>
      </p:sp>
    </p:spTree>
    <p:extLst>
      <p:ext uri="{BB962C8B-B14F-4D97-AF65-F5344CB8AC3E}">
        <p14:creationId xmlns:p14="http://schemas.microsoft.com/office/powerpoint/2010/main" val="1965875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E44FB-4329-EE10-4E24-213C99620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7F4B90B5-7BE7-8F1C-57A0-BA280D2E3FE7}"/>
              </a:ext>
            </a:extLst>
          </p:cNvPr>
          <p:cNvSpPr/>
          <p:nvPr/>
        </p:nvSpPr>
        <p:spPr>
          <a:xfrm>
            <a:off x="779830" y="1755721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7E846B63-15ED-2873-0915-C4A58AC0332C}"/>
                  </a:ext>
                </a:extLst>
              </p:cNvPr>
              <p:cNvSpPr/>
              <p:nvPr/>
            </p:nvSpPr>
            <p:spPr>
              <a:xfrm>
                <a:off x="0" y="951265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7E846B63-15ED-2873-0915-C4A58AC033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51265"/>
                <a:ext cx="1805922" cy="4514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>
            <a:extLst>
              <a:ext uri="{FF2B5EF4-FFF2-40B4-BE49-F238E27FC236}">
                <a16:creationId xmlns:a16="http://schemas.microsoft.com/office/drawing/2014/main" id="{E67A6482-B80E-3439-6DA8-D251D40C77C2}"/>
              </a:ext>
            </a:extLst>
          </p:cNvPr>
          <p:cNvSpPr/>
          <p:nvPr/>
        </p:nvSpPr>
        <p:spPr>
          <a:xfrm>
            <a:off x="2052184" y="1755721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4A27590-8CCC-AE4E-CEC2-EC0441776F40}"/>
              </a:ext>
            </a:extLst>
          </p:cNvPr>
          <p:cNvSpPr/>
          <p:nvPr/>
        </p:nvSpPr>
        <p:spPr>
          <a:xfrm>
            <a:off x="3447669" y="1755721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570DCD0-541C-A405-6AFF-1522D09C7927}"/>
              </a:ext>
            </a:extLst>
          </p:cNvPr>
          <p:cNvSpPr/>
          <p:nvPr/>
        </p:nvSpPr>
        <p:spPr>
          <a:xfrm>
            <a:off x="4925242" y="1755721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CA2B6D01-047D-A89C-AEE0-889516CD581B}"/>
                  </a:ext>
                </a:extLst>
              </p:cNvPr>
              <p:cNvSpPr/>
              <p:nvPr/>
            </p:nvSpPr>
            <p:spPr>
              <a:xfrm>
                <a:off x="4145412" y="951265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CA2B6D01-047D-A89C-AEE0-889516CD58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412" y="951265"/>
                <a:ext cx="1805922" cy="451481"/>
              </a:xfrm>
              <a:prstGeom prst="rect">
                <a:avLst/>
              </a:prstGeom>
              <a:blipFill>
                <a:blip r:embed="rId4"/>
                <a:stretch>
                  <a:fillRect t="-189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>
            <a:extLst>
              <a:ext uri="{FF2B5EF4-FFF2-40B4-BE49-F238E27FC236}">
                <a16:creationId xmlns:a16="http://schemas.microsoft.com/office/drawing/2014/main" id="{E03471E9-3C58-9025-D522-9F373A852663}"/>
              </a:ext>
            </a:extLst>
          </p:cNvPr>
          <p:cNvSpPr/>
          <p:nvPr/>
        </p:nvSpPr>
        <p:spPr>
          <a:xfrm>
            <a:off x="6238640" y="1755721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DFD32761-336D-FD1C-1D9B-34BC658A975A}"/>
                  </a:ext>
                </a:extLst>
              </p:cNvPr>
              <p:cNvSpPr/>
              <p:nvPr/>
            </p:nvSpPr>
            <p:spPr>
              <a:xfrm>
                <a:off x="5458810" y="951265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DFD32761-336D-FD1C-1D9B-34BC658A97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810" y="951265"/>
                <a:ext cx="1805922" cy="4514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>
            <a:extLst>
              <a:ext uri="{FF2B5EF4-FFF2-40B4-BE49-F238E27FC236}">
                <a16:creationId xmlns:a16="http://schemas.microsoft.com/office/drawing/2014/main" id="{F5E4FB74-E5DE-823E-2A8E-D7B34EFF0B6A}"/>
              </a:ext>
            </a:extLst>
          </p:cNvPr>
          <p:cNvSpPr/>
          <p:nvPr/>
        </p:nvSpPr>
        <p:spPr>
          <a:xfrm>
            <a:off x="779830" y="5080259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C420C11B-946D-741C-194D-2E218CA3F13D}"/>
                  </a:ext>
                </a:extLst>
              </p:cNvPr>
              <p:cNvSpPr/>
              <p:nvPr/>
            </p:nvSpPr>
            <p:spPr>
              <a:xfrm>
                <a:off x="0" y="4275803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C420C11B-946D-741C-194D-2E218CA3F1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75803"/>
                <a:ext cx="1805922" cy="451481"/>
              </a:xfrm>
              <a:prstGeom prst="rect">
                <a:avLst/>
              </a:prstGeom>
              <a:blipFill>
                <a:blip r:embed="rId6"/>
                <a:stretch>
                  <a:fillRect b="-675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>
            <a:extLst>
              <a:ext uri="{FF2B5EF4-FFF2-40B4-BE49-F238E27FC236}">
                <a16:creationId xmlns:a16="http://schemas.microsoft.com/office/drawing/2014/main" id="{8FA355CE-E9F7-C052-D5F3-9DF2C6DE9104}"/>
              </a:ext>
            </a:extLst>
          </p:cNvPr>
          <p:cNvSpPr/>
          <p:nvPr/>
        </p:nvSpPr>
        <p:spPr>
          <a:xfrm>
            <a:off x="2052184" y="5080259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49016F5-BEB4-97A1-0051-581BE00A5183}"/>
              </a:ext>
            </a:extLst>
          </p:cNvPr>
          <p:cNvSpPr/>
          <p:nvPr/>
        </p:nvSpPr>
        <p:spPr>
          <a:xfrm>
            <a:off x="3447669" y="5080259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75515A6-EDA8-3817-D442-5EF1A7331EBC}"/>
              </a:ext>
            </a:extLst>
          </p:cNvPr>
          <p:cNvSpPr/>
          <p:nvPr/>
        </p:nvSpPr>
        <p:spPr>
          <a:xfrm>
            <a:off x="4925242" y="5080259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3E4F6875-D049-7C1F-20AF-B3CE53FA9777}"/>
                  </a:ext>
                </a:extLst>
              </p:cNvPr>
              <p:cNvSpPr/>
              <p:nvPr/>
            </p:nvSpPr>
            <p:spPr>
              <a:xfrm>
                <a:off x="4145412" y="4275803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3E4F6875-D049-7C1F-20AF-B3CE53FA97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412" y="4275803"/>
                <a:ext cx="1805922" cy="451481"/>
              </a:xfrm>
              <a:prstGeom prst="rect">
                <a:avLst/>
              </a:prstGeom>
              <a:blipFill>
                <a:blip r:embed="rId7"/>
                <a:stretch>
                  <a:fillRect t="-189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>
            <a:extLst>
              <a:ext uri="{FF2B5EF4-FFF2-40B4-BE49-F238E27FC236}">
                <a16:creationId xmlns:a16="http://schemas.microsoft.com/office/drawing/2014/main" id="{FB47BCEF-D088-273F-86DF-7C03EA5D966C}"/>
              </a:ext>
            </a:extLst>
          </p:cNvPr>
          <p:cNvSpPr/>
          <p:nvPr/>
        </p:nvSpPr>
        <p:spPr>
          <a:xfrm>
            <a:off x="6238640" y="5080259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2D177571-068C-6B48-6EB3-A0ABDA0EFEB9}"/>
                  </a:ext>
                </a:extLst>
              </p:cNvPr>
              <p:cNvSpPr/>
              <p:nvPr/>
            </p:nvSpPr>
            <p:spPr>
              <a:xfrm>
                <a:off x="5458810" y="4275803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2D177571-068C-6B48-6EB3-A0ABDA0EFE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810" y="4275803"/>
                <a:ext cx="1805922" cy="4514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>
            <a:extLst>
              <a:ext uri="{FF2B5EF4-FFF2-40B4-BE49-F238E27FC236}">
                <a16:creationId xmlns:a16="http://schemas.microsoft.com/office/drawing/2014/main" id="{4B94186D-E2F8-F5E2-7B48-F54C0FBA17B3}"/>
              </a:ext>
            </a:extLst>
          </p:cNvPr>
          <p:cNvSpPr/>
          <p:nvPr/>
        </p:nvSpPr>
        <p:spPr>
          <a:xfrm>
            <a:off x="1539138" y="2051236"/>
            <a:ext cx="8209" cy="500733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0D3CF8B-F703-B6C0-9E1C-89C0ACFA2CCD}"/>
              </a:ext>
            </a:extLst>
          </p:cNvPr>
          <p:cNvSpPr/>
          <p:nvPr/>
        </p:nvSpPr>
        <p:spPr>
          <a:xfrm>
            <a:off x="1539138" y="2551969"/>
            <a:ext cx="1128701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BB1B316-94EB-0D1D-06E0-571CFD547DB0}"/>
              </a:ext>
            </a:extLst>
          </p:cNvPr>
          <p:cNvSpPr/>
          <p:nvPr/>
        </p:nvSpPr>
        <p:spPr>
          <a:xfrm>
            <a:off x="2667839" y="2551969"/>
            <a:ext cx="8209" cy="59923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4D9515AD-7CA2-68DE-ACC5-1E202BA09894}"/>
              </a:ext>
            </a:extLst>
          </p:cNvPr>
          <p:cNvSpPr/>
          <p:nvPr/>
        </p:nvSpPr>
        <p:spPr>
          <a:xfrm flipV="1">
            <a:off x="1539138" y="4193716"/>
            <a:ext cx="8209" cy="59102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6CBDC70-2732-3DB9-F024-096CD6B0FD62}"/>
              </a:ext>
            </a:extLst>
          </p:cNvPr>
          <p:cNvSpPr/>
          <p:nvPr/>
        </p:nvSpPr>
        <p:spPr>
          <a:xfrm>
            <a:off x="1539138" y="4193716"/>
            <a:ext cx="1128701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B84B959-E10D-2D80-36D0-FC395B5480F4}"/>
              </a:ext>
            </a:extLst>
          </p:cNvPr>
          <p:cNvSpPr/>
          <p:nvPr/>
        </p:nvSpPr>
        <p:spPr>
          <a:xfrm flipV="1">
            <a:off x="2667839" y="3742235"/>
            <a:ext cx="8209" cy="451481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F2C4172-7242-4758-28A3-C59DADC137F6}"/>
              </a:ext>
            </a:extLst>
          </p:cNvPr>
          <p:cNvSpPr/>
          <p:nvPr/>
        </p:nvSpPr>
        <p:spPr>
          <a:xfrm>
            <a:off x="3365582" y="3446721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D62DF576-4D4A-BA2A-C290-A1B307504CD1}"/>
              </a:ext>
            </a:extLst>
          </p:cNvPr>
          <p:cNvSpPr/>
          <p:nvPr/>
        </p:nvSpPr>
        <p:spPr>
          <a:xfrm>
            <a:off x="4843154" y="3446721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977F4E71-8A18-82CD-2817-8E301FC5ECD9}"/>
                  </a:ext>
                </a:extLst>
              </p:cNvPr>
              <p:cNvSpPr/>
              <p:nvPr/>
            </p:nvSpPr>
            <p:spPr>
              <a:xfrm>
                <a:off x="4063325" y="2634056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977F4E71-8A18-82CD-2817-8E301FC5EC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325" y="2634056"/>
                <a:ext cx="1805922" cy="451481"/>
              </a:xfrm>
              <a:prstGeom prst="rect">
                <a:avLst/>
              </a:prstGeom>
              <a:blipFill>
                <a:blip r:embed="rId9"/>
                <a:stretch>
                  <a:fillRect t="-189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Shape 34">
            <a:extLst>
              <a:ext uri="{FF2B5EF4-FFF2-40B4-BE49-F238E27FC236}">
                <a16:creationId xmlns:a16="http://schemas.microsoft.com/office/drawing/2014/main" id="{53221476-67A9-B410-C36A-C3135D80C9FE}"/>
              </a:ext>
            </a:extLst>
          </p:cNvPr>
          <p:cNvSpPr/>
          <p:nvPr/>
        </p:nvSpPr>
        <p:spPr>
          <a:xfrm>
            <a:off x="6238640" y="3446721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35">
                <a:extLst>
                  <a:ext uri="{FF2B5EF4-FFF2-40B4-BE49-F238E27FC236}">
                    <a16:creationId xmlns:a16="http://schemas.microsoft.com/office/drawing/2014/main" id="{100B23CE-F544-CEFA-EC68-B8FA43496E74}"/>
                  </a:ext>
                </a:extLst>
              </p:cNvPr>
              <p:cNvSpPr/>
              <p:nvPr/>
            </p:nvSpPr>
            <p:spPr>
              <a:xfrm>
                <a:off x="5458810" y="2634056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𝐶𝑂𝑉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 35">
                <a:extLst>
                  <a:ext uri="{FF2B5EF4-FFF2-40B4-BE49-F238E27FC236}">
                    <a16:creationId xmlns:a16="http://schemas.microsoft.com/office/drawing/2014/main" id="{100B23CE-F544-CEFA-EC68-B8FA43496E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810" y="2634056"/>
                <a:ext cx="1805922" cy="451481"/>
              </a:xfrm>
              <a:prstGeom prst="rect">
                <a:avLst/>
              </a:prstGeom>
              <a:blipFill>
                <a:blip r:embed="rId10"/>
                <a:stretch>
                  <a:fillRect t="-3648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Shape 36">
            <a:extLst>
              <a:ext uri="{FF2B5EF4-FFF2-40B4-BE49-F238E27FC236}">
                <a16:creationId xmlns:a16="http://schemas.microsoft.com/office/drawing/2014/main" id="{7214E74E-C696-7E5D-F474-1DA447B42015}"/>
              </a:ext>
            </a:extLst>
          </p:cNvPr>
          <p:cNvSpPr/>
          <p:nvPr/>
        </p:nvSpPr>
        <p:spPr>
          <a:xfrm>
            <a:off x="7141601" y="2051236"/>
            <a:ext cx="8209" cy="1099971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45B9C996-81A5-0D97-717B-D47211324652}"/>
              </a:ext>
            </a:extLst>
          </p:cNvPr>
          <p:cNvSpPr/>
          <p:nvPr/>
        </p:nvSpPr>
        <p:spPr>
          <a:xfrm flipV="1">
            <a:off x="7141601" y="3742235"/>
            <a:ext cx="8209" cy="104251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AB99B5E5-1A1A-0D49-34C5-90F6BF75B05F}"/>
              </a:ext>
            </a:extLst>
          </p:cNvPr>
          <p:cNvSpPr/>
          <p:nvPr/>
        </p:nvSpPr>
        <p:spPr>
          <a:xfrm>
            <a:off x="246262" y="1460207"/>
            <a:ext cx="533568" cy="591029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D439CFF-A607-1F8D-5DE0-744768E531F9}"/>
              </a:ext>
            </a:extLst>
          </p:cNvPr>
          <p:cNvSpPr/>
          <p:nvPr/>
        </p:nvSpPr>
        <p:spPr>
          <a:xfrm>
            <a:off x="246262" y="1460207"/>
            <a:ext cx="533568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F1B99B4C-72AB-5540-8AA0-84113BF9EC50}"/>
              </a:ext>
            </a:extLst>
          </p:cNvPr>
          <p:cNvSpPr/>
          <p:nvPr/>
        </p:nvSpPr>
        <p:spPr>
          <a:xfrm>
            <a:off x="1026092" y="1460207"/>
            <a:ext cx="1026092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1D1C4C30-322D-ABFF-8724-70D553922E80}"/>
              </a:ext>
            </a:extLst>
          </p:cNvPr>
          <p:cNvSpPr/>
          <p:nvPr/>
        </p:nvSpPr>
        <p:spPr>
          <a:xfrm>
            <a:off x="1026092" y="1460207"/>
            <a:ext cx="1026092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17409C96-D323-A1C9-00A2-540E84C4C392}"/>
              </a:ext>
            </a:extLst>
          </p:cNvPr>
          <p:cNvSpPr/>
          <p:nvPr/>
        </p:nvSpPr>
        <p:spPr>
          <a:xfrm>
            <a:off x="2298446" y="1460207"/>
            <a:ext cx="1149223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7F087C04-6F78-FABF-7551-396FB49E13AB}"/>
              </a:ext>
            </a:extLst>
          </p:cNvPr>
          <p:cNvSpPr/>
          <p:nvPr/>
        </p:nvSpPr>
        <p:spPr>
          <a:xfrm>
            <a:off x="2298446" y="1460207"/>
            <a:ext cx="1149223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EA1E654D-B201-D526-F9B3-97CA0BEBCCFD}"/>
              </a:ext>
            </a:extLst>
          </p:cNvPr>
          <p:cNvSpPr/>
          <p:nvPr/>
        </p:nvSpPr>
        <p:spPr>
          <a:xfrm>
            <a:off x="3693931" y="1460207"/>
            <a:ext cx="1231310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7F8DA337-9D1D-709C-7048-C7A4B2EE504A}"/>
              </a:ext>
            </a:extLst>
          </p:cNvPr>
          <p:cNvSpPr/>
          <p:nvPr/>
        </p:nvSpPr>
        <p:spPr>
          <a:xfrm>
            <a:off x="3693931" y="1460207"/>
            <a:ext cx="1231310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D2867DC1-BD4F-BB89-35F3-D7223640B56C}"/>
              </a:ext>
            </a:extLst>
          </p:cNvPr>
          <p:cNvSpPr/>
          <p:nvPr/>
        </p:nvSpPr>
        <p:spPr>
          <a:xfrm>
            <a:off x="5171504" y="1460207"/>
            <a:ext cx="1067136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626B4A8A-7C03-1D5C-959F-DB90E1637C83}"/>
              </a:ext>
            </a:extLst>
          </p:cNvPr>
          <p:cNvSpPr/>
          <p:nvPr/>
        </p:nvSpPr>
        <p:spPr>
          <a:xfrm>
            <a:off x="5171504" y="1460207"/>
            <a:ext cx="1067136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09663045-A69A-124C-0103-425EA29DF02E}"/>
              </a:ext>
            </a:extLst>
          </p:cNvPr>
          <p:cNvSpPr/>
          <p:nvPr/>
        </p:nvSpPr>
        <p:spPr>
          <a:xfrm>
            <a:off x="6484902" y="1460207"/>
            <a:ext cx="1313398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9411799F-31CB-D6B9-3185-FFBF9ADC68F8}"/>
              </a:ext>
            </a:extLst>
          </p:cNvPr>
          <p:cNvSpPr/>
          <p:nvPr/>
        </p:nvSpPr>
        <p:spPr>
          <a:xfrm>
            <a:off x="6484902" y="1460207"/>
            <a:ext cx="1313398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(SDₓ)</a:t>
            </a:r>
            <a:endParaRPr lang="en-US" sz="105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0312E783-EF44-01D8-95BC-AFCDA0887B72}"/>
              </a:ext>
            </a:extLst>
          </p:cNvPr>
          <p:cNvSpPr/>
          <p:nvPr/>
        </p:nvSpPr>
        <p:spPr>
          <a:xfrm>
            <a:off x="246262" y="4784745"/>
            <a:ext cx="533568" cy="591029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928C9975-79CE-5281-C55B-86717B9D7159}"/>
              </a:ext>
            </a:extLst>
          </p:cNvPr>
          <p:cNvSpPr/>
          <p:nvPr/>
        </p:nvSpPr>
        <p:spPr>
          <a:xfrm>
            <a:off x="246262" y="4784745"/>
            <a:ext cx="533568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F8DD8401-D09D-1B73-52CE-37CE2E31A667}"/>
              </a:ext>
            </a:extLst>
          </p:cNvPr>
          <p:cNvSpPr/>
          <p:nvPr/>
        </p:nvSpPr>
        <p:spPr>
          <a:xfrm>
            <a:off x="1026092" y="4784745"/>
            <a:ext cx="1026092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F8D1E6C4-143F-3CC8-AF31-F4701A2A1AF0}"/>
              </a:ext>
            </a:extLst>
          </p:cNvPr>
          <p:cNvSpPr/>
          <p:nvPr/>
        </p:nvSpPr>
        <p:spPr>
          <a:xfrm>
            <a:off x="1026092" y="4784745"/>
            <a:ext cx="1026092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37EFB6E6-C4F7-0148-2A29-A23A46B23C9D}"/>
              </a:ext>
            </a:extLst>
          </p:cNvPr>
          <p:cNvSpPr/>
          <p:nvPr/>
        </p:nvSpPr>
        <p:spPr>
          <a:xfrm>
            <a:off x="2298446" y="4784745"/>
            <a:ext cx="1149223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8B8C733B-9E51-71F5-ACE7-1D8AD260D981}"/>
              </a:ext>
            </a:extLst>
          </p:cNvPr>
          <p:cNvSpPr/>
          <p:nvPr/>
        </p:nvSpPr>
        <p:spPr>
          <a:xfrm>
            <a:off x="2298446" y="4784745"/>
            <a:ext cx="1149223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1C727F6D-903C-8217-866D-360E3E5A8B91}"/>
              </a:ext>
            </a:extLst>
          </p:cNvPr>
          <p:cNvSpPr/>
          <p:nvPr/>
        </p:nvSpPr>
        <p:spPr>
          <a:xfrm>
            <a:off x="3693931" y="4784745"/>
            <a:ext cx="1231310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E0AD8E1F-0E5E-3EA2-43CD-2863E1DBB3BB}"/>
              </a:ext>
            </a:extLst>
          </p:cNvPr>
          <p:cNvSpPr/>
          <p:nvPr/>
        </p:nvSpPr>
        <p:spPr>
          <a:xfrm>
            <a:off x="3693931" y="4784745"/>
            <a:ext cx="1231310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2E519DA1-BAC9-6F88-92F9-92A1E15C52C3}"/>
              </a:ext>
            </a:extLst>
          </p:cNvPr>
          <p:cNvSpPr/>
          <p:nvPr/>
        </p:nvSpPr>
        <p:spPr>
          <a:xfrm>
            <a:off x="5171504" y="4784745"/>
            <a:ext cx="1067136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1EDD5E48-831A-558D-0D97-44362A67B0A4}"/>
              </a:ext>
            </a:extLst>
          </p:cNvPr>
          <p:cNvSpPr/>
          <p:nvPr/>
        </p:nvSpPr>
        <p:spPr>
          <a:xfrm>
            <a:off x="5171504" y="4784745"/>
            <a:ext cx="1067136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71F8D179-3A9F-0C35-8AE5-E17E2D26420B}"/>
              </a:ext>
            </a:extLst>
          </p:cNvPr>
          <p:cNvSpPr/>
          <p:nvPr/>
        </p:nvSpPr>
        <p:spPr>
          <a:xfrm>
            <a:off x="6484902" y="4784745"/>
            <a:ext cx="1313398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DF7C726B-09BB-0D2C-718B-4E67A845E359}"/>
              </a:ext>
            </a:extLst>
          </p:cNvPr>
          <p:cNvSpPr/>
          <p:nvPr/>
        </p:nvSpPr>
        <p:spPr>
          <a:xfrm>
            <a:off x="6484902" y="4784745"/>
            <a:ext cx="1313398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(SDᵧ)</a:t>
            </a:r>
            <a:endParaRPr lang="en-US" sz="105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7D42A2BA-C07C-2D06-AD55-E669527BC571}"/>
              </a:ext>
            </a:extLst>
          </p:cNvPr>
          <p:cNvSpPr/>
          <p:nvPr/>
        </p:nvSpPr>
        <p:spPr>
          <a:xfrm>
            <a:off x="1970097" y="3151206"/>
            <a:ext cx="1395485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2A670FAB-13D5-4141-5AD4-C924259C447F}"/>
              </a:ext>
            </a:extLst>
          </p:cNvPr>
          <p:cNvSpPr/>
          <p:nvPr/>
        </p:nvSpPr>
        <p:spPr>
          <a:xfrm>
            <a:off x="1970097" y="3151206"/>
            <a:ext cx="1395485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05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CB07204C-D5CA-F96C-6102-7F5609ED1500}"/>
              </a:ext>
            </a:extLst>
          </p:cNvPr>
          <p:cNvSpPr/>
          <p:nvPr/>
        </p:nvSpPr>
        <p:spPr>
          <a:xfrm>
            <a:off x="3611844" y="3151206"/>
            <a:ext cx="1231310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6D30A83B-16C7-C5AF-8E98-BB1E843C559A}"/>
              </a:ext>
            </a:extLst>
          </p:cNvPr>
          <p:cNvSpPr/>
          <p:nvPr/>
        </p:nvSpPr>
        <p:spPr>
          <a:xfrm>
            <a:off x="3611844" y="3151206"/>
            <a:ext cx="1231310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Products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(SP)</a:t>
            </a:r>
            <a:endParaRPr lang="en-US" sz="105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80E5D123-7441-18D8-EA8A-8D1D270E5A35}"/>
              </a:ext>
            </a:extLst>
          </p:cNvPr>
          <p:cNvSpPr/>
          <p:nvPr/>
        </p:nvSpPr>
        <p:spPr>
          <a:xfrm>
            <a:off x="5089417" y="3151206"/>
            <a:ext cx="1149223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51C8E109-D77B-52A6-5ADE-09E431493CBC}"/>
              </a:ext>
            </a:extLst>
          </p:cNvPr>
          <p:cNvSpPr/>
          <p:nvPr/>
        </p:nvSpPr>
        <p:spPr>
          <a:xfrm>
            <a:off x="5089417" y="3151206"/>
            <a:ext cx="1149223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(COV)</a:t>
            </a:r>
            <a:endParaRPr lang="en-US" sz="115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8377B111-6076-82EC-3E29-960BCB7EE3F7}"/>
              </a:ext>
            </a:extLst>
          </p:cNvPr>
          <p:cNvSpPr/>
          <p:nvPr/>
        </p:nvSpPr>
        <p:spPr>
          <a:xfrm>
            <a:off x="6484902" y="3151206"/>
            <a:ext cx="1313398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085AB987-EBB2-4BA0-9CBB-0EC1604E899A}"/>
              </a:ext>
            </a:extLst>
          </p:cNvPr>
          <p:cNvSpPr/>
          <p:nvPr/>
        </p:nvSpPr>
        <p:spPr>
          <a:xfrm>
            <a:off x="6484902" y="3260249"/>
            <a:ext cx="1313398" cy="37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50" dirty="0">
              <a:solidFill>
                <a:srgbClr val="1B3A4B"/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(r)</a:t>
            </a:r>
            <a:endParaRPr lang="en-US" sz="1150" dirty="0">
              <a:solidFill>
                <a:srgbClr val="1B3A4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 8">
                <a:extLst>
                  <a:ext uri="{FF2B5EF4-FFF2-40B4-BE49-F238E27FC236}">
                    <a16:creationId xmlns:a16="http://schemas.microsoft.com/office/drawing/2014/main" id="{4DB125D2-D9DA-EFAD-8627-312343444218}"/>
                  </a:ext>
                </a:extLst>
              </p:cNvPr>
              <p:cNvSpPr/>
              <p:nvPr/>
            </p:nvSpPr>
            <p:spPr>
              <a:xfrm>
                <a:off x="2708883" y="1003254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4" name="Text 8">
                <a:extLst>
                  <a:ext uri="{FF2B5EF4-FFF2-40B4-BE49-F238E27FC236}">
                    <a16:creationId xmlns:a16="http://schemas.microsoft.com/office/drawing/2014/main" id="{4DB125D2-D9DA-EFAD-8627-3123434442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883" y="1003254"/>
                <a:ext cx="1805922" cy="451481"/>
              </a:xfrm>
              <a:prstGeom prst="rect">
                <a:avLst/>
              </a:prstGeom>
              <a:blipFill>
                <a:blip r:embed="rId11"/>
                <a:stretch>
                  <a:fillRect l="-7744" t="-139189" b="-17837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 8">
                <a:extLst>
                  <a:ext uri="{FF2B5EF4-FFF2-40B4-BE49-F238E27FC236}">
                    <a16:creationId xmlns:a16="http://schemas.microsoft.com/office/drawing/2014/main" id="{B0D39D12-8BF7-43C3-84CB-6A97660B0470}"/>
                  </a:ext>
                </a:extLst>
              </p:cNvPr>
              <p:cNvSpPr/>
              <p:nvPr/>
            </p:nvSpPr>
            <p:spPr>
              <a:xfrm>
                <a:off x="2790970" y="4333264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6" name="Text 8">
                <a:extLst>
                  <a:ext uri="{FF2B5EF4-FFF2-40B4-BE49-F238E27FC236}">
                    <a16:creationId xmlns:a16="http://schemas.microsoft.com/office/drawing/2014/main" id="{B0D39D12-8BF7-43C3-84CB-6A97660B04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970" y="4333264"/>
                <a:ext cx="1805922" cy="451481"/>
              </a:xfrm>
              <a:prstGeom prst="rect">
                <a:avLst/>
              </a:prstGeom>
              <a:blipFill>
                <a:blip r:embed="rId12"/>
                <a:stretch>
                  <a:fillRect l="-7770" t="-139189" b="-17837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 29">
                <a:extLst>
                  <a:ext uri="{FF2B5EF4-FFF2-40B4-BE49-F238E27FC236}">
                    <a16:creationId xmlns:a16="http://schemas.microsoft.com/office/drawing/2014/main" id="{8F3FF0DE-5A2C-46AC-57EE-C1430416648E}"/>
                  </a:ext>
                </a:extLst>
              </p:cNvPr>
              <p:cNvSpPr/>
              <p:nvPr/>
            </p:nvSpPr>
            <p:spPr>
              <a:xfrm>
                <a:off x="228527" y="3257920"/>
                <a:ext cx="1805922" cy="344767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 29">
                <a:extLst>
                  <a:ext uri="{FF2B5EF4-FFF2-40B4-BE49-F238E27FC236}">
                    <a16:creationId xmlns:a16="http://schemas.microsoft.com/office/drawing/2014/main" id="{8F3FF0DE-5A2C-46AC-57EE-C143041664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27" y="3257920"/>
                <a:ext cx="1805922" cy="344767"/>
              </a:xfrm>
              <a:prstGeom prst="rect">
                <a:avLst/>
              </a:prstGeom>
              <a:blipFill>
                <a:blip r:embed="rId13"/>
                <a:stretch>
                  <a:fillRect r="-2694" b="-701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 6">
                <a:extLst>
                  <a:ext uri="{FF2B5EF4-FFF2-40B4-BE49-F238E27FC236}">
                    <a16:creationId xmlns:a16="http://schemas.microsoft.com/office/drawing/2014/main" id="{F1B5F27A-A751-19B9-48FB-0578AFCE7B9B}"/>
                  </a:ext>
                </a:extLst>
              </p:cNvPr>
              <p:cNvSpPr/>
              <p:nvPr/>
            </p:nvSpPr>
            <p:spPr>
              <a:xfrm>
                <a:off x="1272354" y="951265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0" name="Text 6">
                <a:extLst>
                  <a:ext uri="{FF2B5EF4-FFF2-40B4-BE49-F238E27FC236}">
                    <a16:creationId xmlns:a16="http://schemas.microsoft.com/office/drawing/2014/main" id="{F1B5F27A-A751-19B9-48FB-0578AFCE7B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354" y="951265"/>
                <a:ext cx="1805922" cy="45148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 6">
                <a:extLst>
                  <a:ext uri="{FF2B5EF4-FFF2-40B4-BE49-F238E27FC236}">
                    <a16:creationId xmlns:a16="http://schemas.microsoft.com/office/drawing/2014/main" id="{9441E446-3C76-1DEA-836C-2302E40420B9}"/>
                  </a:ext>
                </a:extLst>
              </p:cNvPr>
              <p:cNvSpPr/>
              <p:nvPr/>
            </p:nvSpPr>
            <p:spPr>
              <a:xfrm>
                <a:off x="1272354" y="4289383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2" name="Text 6">
                <a:extLst>
                  <a:ext uri="{FF2B5EF4-FFF2-40B4-BE49-F238E27FC236}">
                    <a16:creationId xmlns:a16="http://schemas.microsoft.com/office/drawing/2014/main" id="{9441E446-3C76-1DEA-836C-2302E40420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354" y="4289383"/>
                <a:ext cx="1805922" cy="45148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 31">
                <a:extLst>
                  <a:ext uri="{FF2B5EF4-FFF2-40B4-BE49-F238E27FC236}">
                    <a16:creationId xmlns:a16="http://schemas.microsoft.com/office/drawing/2014/main" id="{505500B3-7E57-3140-A447-287E8880C453}"/>
                  </a:ext>
                </a:extLst>
              </p:cNvPr>
              <p:cNvSpPr/>
              <p:nvPr/>
            </p:nvSpPr>
            <p:spPr>
              <a:xfrm>
                <a:off x="2585752" y="2634056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𝑃𝑟𝑜𝑑𝑢𝑐𝑡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84" name="Text 31">
                <a:extLst>
                  <a:ext uri="{FF2B5EF4-FFF2-40B4-BE49-F238E27FC236}">
                    <a16:creationId xmlns:a16="http://schemas.microsoft.com/office/drawing/2014/main" id="{505500B3-7E57-3140-A447-287E8880C4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52" y="2634056"/>
                <a:ext cx="1805922" cy="451481"/>
              </a:xfrm>
              <a:prstGeom prst="rect">
                <a:avLst/>
              </a:prstGeom>
              <a:blipFill>
                <a:blip r:embed="rId16"/>
                <a:stretch>
                  <a:fillRect l="-9459" t="-137838" b="-17973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hape 38">
            <a:extLst>
              <a:ext uri="{FF2B5EF4-FFF2-40B4-BE49-F238E27FC236}">
                <a16:creationId xmlns:a16="http://schemas.microsoft.com/office/drawing/2014/main" id="{B17B7150-BA06-6B70-2B28-839929740252}"/>
              </a:ext>
            </a:extLst>
          </p:cNvPr>
          <p:cNvSpPr/>
          <p:nvPr/>
        </p:nvSpPr>
        <p:spPr>
          <a:xfrm>
            <a:off x="7798300" y="3468869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46">
            <a:extLst>
              <a:ext uri="{FF2B5EF4-FFF2-40B4-BE49-F238E27FC236}">
                <a16:creationId xmlns:a16="http://schemas.microsoft.com/office/drawing/2014/main" id="{A8CFC97C-C693-3878-02FA-359F801ED9D2}"/>
              </a:ext>
            </a:extLst>
          </p:cNvPr>
          <p:cNvSpPr/>
          <p:nvPr/>
        </p:nvSpPr>
        <p:spPr>
          <a:xfrm>
            <a:off x="9152741" y="3468869"/>
            <a:ext cx="205218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2">
            <a:extLst>
              <a:ext uri="{FF2B5EF4-FFF2-40B4-BE49-F238E27FC236}">
                <a16:creationId xmlns:a16="http://schemas.microsoft.com/office/drawing/2014/main" id="{9A8FF8C2-0645-072C-7F91-EB70C3C0C2EF}"/>
              </a:ext>
            </a:extLst>
          </p:cNvPr>
          <p:cNvSpPr/>
          <p:nvPr/>
        </p:nvSpPr>
        <p:spPr>
          <a:xfrm>
            <a:off x="8052770" y="3151206"/>
            <a:ext cx="1108179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8" name="Text 83">
            <a:extLst>
              <a:ext uri="{FF2B5EF4-FFF2-40B4-BE49-F238E27FC236}">
                <a16:creationId xmlns:a16="http://schemas.microsoft.com/office/drawing/2014/main" id="{92539224-6C37-99BA-A908-8640FFD0648F}"/>
              </a:ext>
            </a:extLst>
          </p:cNvPr>
          <p:cNvSpPr/>
          <p:nvPr/>
        </p:nvSpPr>
        <p:spPr>
          <a:xfrm>
            <a:off x="8052770" y="3151206"/>
            <a:ext cx="1108179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(bᵧ, bₓ)</a:t>
            </a:r>
            <a:endParaRPr lang="en-US" sz="1150" dirty="0"/>
          </a:p>
        </p:txBody>
      </p:sp>
      <p:sp>
        <p:nvSpPr>
          <p:cNvPr id="90" name="Shape 84">
            <a:extLst>
              <a:ext uri="{FF2B5EF4-FFF2-40B4-BE49-F238E27FC236}">
                <a16:creationId xmlns:a16="http://schemas.microsoft.com/office/drawing/2014/main" id="{9AC89C7F-6976-613E-C8A5-9AD344D27C26}"/>
              </a:ext>
            </a:extLst>
          </p:cNvPr>
          <p:cNvSpPr/>
          <p:nvPr/>
        </p:nvSpPr>
        <p:spPr>
          <a:xfrm>
            <a:off x="9366168" y="3151206"/>
            <a:ext cx="1067136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1B3A4B"/>
            </a:solidFill>
            <a:prstDash val="soli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92" name="Text 85">
            <a:extLst>
              <a:ext uri="{FF2B5EF4-FFF2-40B4-BE49-F238E27FC236}">
                <a16:creationId xmlns:a16="http://schemas.microsoft.com/office/drawing/2014/main" id="{2253CAF9-5E89-FFD4-1DB7-DD78BD6E6065}"/>
              </a:ext>
            </a:extLst>
          </p:cNvPr>
          <p:cNvSpPr/>
          <p:nvPr/>
        </p:nvSpPr>
        <p:spPr>
          <a:xfrm>
            <a:off x="9366168" y="3260249"/>
            <a:ext cx="1067136" cy="37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1150" dirty="0">
              <a:solidFill>
                <a:srgbClr val="1B3A4B"/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(aᵧ, aₓ)</a:t>
            </a:r>
            <a:endParaRPr lang="en-US" sz="1150" dirty="0">
              <a:solidFill>
                <a:srgbClr val="1B3A4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 47">
                <a:extLst>
                  <a:ext uri="{FF2B5EF4-FFF2-40B4-BE49-F238E27FC236}">
                    <a16:creationId xmlns:a16="http://schemas.microsoft.com/office/drawing/2014/main" id="{732539FA-65FC-5B0A-C416-F7B2D15198A7}"/>
                  </a:ext>
                </a:extLst>
              </p:cNvPr>
              <p:cNvSpPr/>
              <p:nvPr/>
            </p:nvSpPr>
            <p:spPr>
              <a:xfrm>
                <a:off x="8463207" y="2480738"/>
                <a:ext cx="1805922" cy="615655"/>
              </a:xfrm>
              <a:prstGeom prst="rect">
                <a:avLst/>
              </a:prstGeom>
              <a:noFill/>
              <a:ln/>
            </p:spPr>
            <p:txBody>
              <a:bodyPr wrap="non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sz="1600" i="1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̄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6" name="Text 47">
                <a:extLst>
                  <a:ext uri="{FF2B5EF4-FFF2-40B4-BE49-F238E27FC236}">
                    <a16:creationId xmlns:a16="http://schemas.microsoft.com/office/drawing/2014/main" id="{732539FA-65FC-5B0A-C416-F7B2D15198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3207" y="2480738"/>
                <a:ext cx="1805922" cy="61565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 47">
                <a:extLst>
                  <a:ext uri="{FF2B5EF4-FFF2-40B4-BE49-F238E27FC236}">
                    <a16:creationId xmlns:a16="http://schemas.microsoft.com/office/drawing/2014/main" id="{B122A876-522C-0F31-4DDA-589D83AD4BB0}"/>
                  </a:ext>
                </a:extLst>
              </p:cNvPr>
              <p:cNvSpPr/>
              <p:nvPr/>
            </p:nvSpPr>
            <p:spPr>
              <a:xfrm>
                <a:off x="8463207" y="3775731"/>
                <a:ext cx="1805922" cy="615655"/>
              </a:xfrm>
              <a:prstGeom prst="rect">
                <a:avLst/>
              </a:prstGeom>
              <a:noFill/>
              <a:ln/>
            </p:spPr>
            <p:txBody>
              <a:bodyPr wrap="non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sz="1600" i="1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̄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8" name="Text 47">
                <a:extLst>
                  <a:ext uri="{FF2B5EF4-FFF2-40B4-BE49-F238E27FC236}">
                    <a16:creationId xmlns:a16="http://schemas.microsoft.com/office/drawing/2014/main" id="{B122A876-522C-0F31-4DDA-589D83AD4B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3207" y="3775731"/>
                <a:ext cx="1805922" cy="61565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39">
                <a:extLst>
                  <a:ext uri="{FF2B5EF4-FFF2-40B4-BE49-F238E27FC236}">
                    <a16:creationId xmlns:a16="http://schemas.microsoft.com/office/drawing/2014/main" id="{DFD44C68-8575-042A-0B68-56801CD2E760}"/>
                  </a:ext>
                </a:extLst>
              </p:cNvPr>
              <p:cNvSpPr/>
              <p:nvPr/>
            </p:nvSpPr>
            <p:spPr>
              <a:xfrm>
                <a:off x="6936382" y="3752070"/>
                <a:ext cx="1805922" cy="615655"/>
              </a:xfrm>
              <a:prstGeom prst="rect">
                <a:avLst/>
              </a:prstGeom>
              <a:noFill/>
              <a:ln/>
            </p:spPr>
            <p:txBody>
              <a:bodyPr wrap="non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×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 39">
                <a:extLst>
                  <a:ext uri="{FF2B5EF4-FFF2-40B4-BE49-F238E27FC236}">
                    <a16:creationId xmlns:a16="http://schemas.microsoft.com/office/drawing/2014/main" id="{DFD44C68-8575-042A-0B68-56801CD2E7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382" y="3752070"/>
                <a:ext cx="1805922" cy="615655"/>
              </a:xfrm>
              <a:prstGeom prst="rect">
                <a:avLst/>
              </a:prstGeom>
              <a:blipFill>
                <a:blip r:embed="rId19"/>
                <a:stretch>
                  <a:fillRect b="-1386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39">
                <a:extLst>
                  <a:ext uri="{FF2B5EF4-FFF2-40B4-BE49-F238E27FC236}">
                    <a16:creationId xmlns:a16="http://schemas.microsoft.com/office/drawing/2014/main" id="{0E770EB0-B433-377E-AD3E-211ED7E791B1}"/>
                  </a:ext>
                </a:extLst>
              </p:cNvPr>
              <p:cNvSpPr/>
              <p:nvPr/>
            </p:nvSpPr>
            <p:spPr>
              <a:xfrm>
                <a:off x="6895339" y="2368949"/>
                <a:ext cx="1805922" cy="615655"/>
              </a:xfrm>
              <a:prstGeom prst="rect">
                <a:avLst/>
              </a:prstGeom>
              <a:noFill/>
              <a:ln/>
            </p:spPr>
            <p:txBody>
              <a:bodyPr wrap="non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×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 39">
                <a:extLst>
                  <a:ext uri="{FF2B5EF4-FFF2-40B4-BE49-F238E27FC236}">
                    <a16:creationId xmlns:a16="http://schemas.microsoft.com/office/drawing/2014/main" id="{0E770EB0-B433-377E-AD3E-211ED7E791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339" y="2368949"/>
                <a:ext cx="1805922" cy="615655"/>
              </a:xfrm>
              <a:prstGeom prst="rect">
                <a:avLst/>
              </a:prstGeom>
              <a:blipFill>
                <a:blip r:embed="rId20"/>
                <a:stretch>
                  <a:fillRect b="-990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46">
            <a:extLst>
              <a:ext uri="{FF2B5EF4-FFF2-40B4-BE49-F238E27FC236}">
                <a16:creationId xmlns:a16="http://schemas.microsoft.com/office/drawing/2014/main" id="{38CFA6C9-B971-7AC3-6ECE-723FF02168C6}"/>
              </a:ext>
            </a:extLst>
          </p:cNvPr>
          <p:cNvSpPr/>
          <p:nvPr/>
        </p:nvSpPr>
        <p:spPr>
          <a:xfrm>
            <a:off x="10441513" y="3471899"/>
            <a:ext cx="205218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84">
            <a:extLst>
              <a:ext uri="{FF2B5EF4-FFF2-40B4-BE49-F238E27FC236}">
                <a16:creationId xmlns:a16="http://schemas.microsoft.com/office/drawing/2014/main" id="{354886E7-9FDC-5057-105C-C62CAF0D65CF}"/>
              </a:ext>
            </a:extLst>
          </p:cNvPr>
          <p:cNvSpPr/>
          <p:nvPr/>
        </p:nvSpPr>
        <p:spPr>
          <a:xfrm>
            <a:off x="10654940" y="3154236"/>
            <a:ext cx="1067136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25400">
            <a:solidFill>
              <a:srgbClr val="1B3A4B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2" name="Text 85">
            <a:extLst>
              <a:ext uri="{FF2B5EF4-FFF2-40B4-BE49-F238E27FC236}">
                <a16:creationId xmlns:a16="http://schemas.microsoft.com/office/drawing/2014/main" id="{B28D1BD9-87F8-C926-BA8F-B64BC672562E}"/>
              </a:ext>
            </a:extLst>
          </p:cNvPr>
          <p:cNvSpPr/>
          <p:nvPr/>
        </p:nvSpPr>
        <p:spPr>
          <a:xfrm>
            <a:off x="10638523" y="3143764"/>
            <a:ext cx="1067136" cy="601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 of Regression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50" b="1" dirty="0" err="1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</a:t>
            </a:r>
            <a:r>
              <a:rPr lang="en-US" sz="1150" b="1" baseline="-25000" dirty="0" err="1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en-US" sz="1150" b="1" baseline="-25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</a:t>
            </a: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b="1" dirty="0" err="1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</a:t>
            </a:r>
            <a:r>
              <a:rPr lang="en-US" sz="1150" b="1" baseline="-25000" dirty="0" err="1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150" b="1" baseline="-25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</a:t>
            </a: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>
              <a:solidFill>
                <a:srgbClr val="1B3A4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 47">
                <a:extLst>
                  <a:ext uri="{FF2B5EF4-FFF2-40B4-BE49-F238E27FC236}">
                    <a16:creationId xmlns:a16="http://schemas.microsoft.com/office/drawing/2014/main" id="{7FB18674-21C1-D11C-EA93-F9672399EFD4}"/>
                  </a:ext>
                </a:extLst>
              </p:cNvPr>
              <p:cNvSpPr/>
              <p:nvPr/>
            </p:nvSpPr>
            <p:spPr>
              <a:xfrm>
                <a:off x="9851004" y="2469882"/>
                <a:ext cx="1805922" cy="615655"/>
              </a:xfrm>
              <a:prstGeom prst="rect">
                <a:avLst/>
              </a:prstGeom>
              <a:noFill/>
              <a:ln/>
            </p:spPr>
            <p:txBody>
              <a:bodyPr wrap="non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77" name="Text 47">
                <a:extLst>
                  <a:ext uri="{FF2B5EF4-FFF2-40B4-BE49-F238E27FC236}">
                    <a16:creationId xmlns:a16="http://schemas.microsoft.com/office/drawing/2014/main" id="{7FB18674-21C1-D11C-EA93-F9672399EF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1004" y="2469882"/>
                <a:ext cx="1805922" cy="61565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 47">
                <a:extLst>
                  <a:ext uri="{FF2B5EF4-FFF2-40B4-BE49-F238E27FC236}">
                    <a16:creationId xmlns:a16="http://schemas.microsoft.com/office/drawing/2014/main" id="{D4ABE3FE-86ED-CB87-3102-915B9BE8F7ED}"/>
                  </a:ext>
                </a:extLst>
              </p:cNvPr>
              <p:cNvSpPr/>
              <p:nvPr/>
            </p:nvSpPr>
            <p:spPr>
              <a:xfrm>
                <a:off x="9851004" y="3756907"/>
                <a:ext cx="1805922" cy="615655"/>
              </a:xfrm>
              <a:prstGeom prst="rect">
                <a:avLst/>
              </a:prstGeom>
              <a:noFill/>
              <a:ln/>
            </p:spPr>
            <p:txBody>
              <a:bodyPr wrap="non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1" name="Text 47">
                <a:extLst>
                  <a:ext uri="{FF2B5EF4-FFF2-40B4-BE49-F238E27FC236}">
                    <a16:creationId xmlns:a16="http://schemas.microsoft.com/office/drawing/2014/main" id="{D4ABE3FE-86ED-CB87-3102-915B9BE8F7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1004" y="3756907"/>
                <a:ext cx="1805922" cy="61565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099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1" grpId="0" animBg="1"/>
      <p:bldP spid="77" grpId="0" animBg="1"/>
      <p:bldP spid="8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DC8F3-A6D8-274E-9E8F-C5C4AF077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30948" cy="1325563"/>
          </a:xfrm>
        </p:spPr>
        <p:txBody>
          <a:bodyPr/>
          <a:lstStyle/>
          <a:p>
            <a:r>
              <a:rPr lang="en-US" dirty="0"/>
              <a:t>Standard Error of Regression (</a:t>
            </a:r>
            <a:r>
              <a:rPr lang="en-US" i="1" dirty="0"/>
              <a:t>SD</a:t>
            </a:r>
            <a:r>
              <a:rPr lang="en-US" i="1" baseline="-25000" dirty="0"/>
              <a:t>Y’ or </a:t>
            </a:r>
            <a:r>
              <a:rPr lang="en-US" i="1" dirty="0"/>
              <a:t>SD</a:t>
            </a:r>
            <a:r>
              <a:rPr lang="en-US" i="1" baseline="-25000" dirty="0"/>
              <a:t>Y-Y’ </a:t>
            </a:r>
            <a:r>
              <a:rPr lang="en-US" dirty="0"/>
              <a:t>)</a:t>
            </a:r>
            <a:endParaRPr lang="en-US" baseline="-2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3A27C-E278-3048-AD24-21FD6A843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40812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Residuals</a:t>
            </a:r>
            <a:r>
              <a:rPr lang="en-US" dirty="0"/>
              <a:t>: The </a:t>
            </a:r>
            <a:r>
              <a:rPr lang="en-US" i="1" dirty="0"/>
              <a:t>deviation</a:t>
            </a:r>
            <a:r>
              <a:rPr lang="en-US" dirty="0"/>
              <a:t> each score is from the predicted value of the regression line</a:t>
            </a:r>
          </a:p>
          <a:p>
            <a:r>
              <a:rPr lang="en-US" i="1" dirty="0"/>
              <a:t>Y-Y’</a:t>
            </a:r>
          </a:p>
          <a:p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B40E2E7-8273-8F4C-B4AD-55CF895D7EEA}"/>
              </a:ext>
            </a:extLst>
          </p:cNvPr>
          <p:cNvGrpSpPr/>
          <p:nvPr/>
        </p:nvGrpSpPr>
        <p:grpSpPr>
          <a:xfrm>
            <a:off x="6605966" y="1544605"/>
            <a:ext cx="5668105" cy="4921888"/>
            <a:chOff x="6562286" y="1941604"/>
            <a:chExt cx="5180750" cy="4564024"/>
          </a:xfrm>
        </p:grpSpPr>
        <p:pic>
          <p:nvPicPr>
            <p:cNvPr id="33" name="Picture 32" descr="Chart, scatter chart&#10;&#10;Description automatically generated">
              <a:extLst>
                <a:ext uri="{FF2B5EF4-FFF2-40B4-BE49-F238E27FC236}">
                  <a16:creationId xmlns:a16="http://schemas.microsoft.com/office/drawing/2014/main" id="{9E1C9DC7-EA68-5B43-8072-E498F2D74D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0915" b="10995"/>
            <a:stretch/>
          </p:blipFill>
          <p:spPr>
            <a:xfrm>
              <a:off x="6805710" y="1941604"/>
              <a:ext cx="4937326" cy="4317005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D64A251-4327-2149-A676-D87DE572CED6}"/>
                </a:ext>
              </a:extLst>
            </p:cNvPr>
            <p:cNvSpPr txBox="1"/>
            <p:nvPr/>
          </p:nvSpPr>
          <p:spPr>
            <a:xfrm>
              <a:off x="8657303" y="6105518"/>
              <a:ext cx="19704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C09B3FF-751F-7046-97D6-9C1BBA120DB6}"/>
                </a:ext>
              </a:extLst>
            </p:cNvPr>
            <p:cNvSpPr txBox="1"/>
            <p:nvPr/>
          </p:nvSpPr>
          <p:spPr>
            <a:xfrm rot="16200000">
              <a:off x="5887582" y="3491578"/>
              <a:ext cx="17495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3CFA446-880C-CF42-AD66-7999CC390197}"/>
              </a:ext>
            </a:extLst>
          </p:cNvPr>
          <p:cNvCxnSpPr>
            <a:cxnSpLocks/>
          </p:cNvCxnSpPr>
          <p:nvPr/>
        </p:nvCxnSpPr>
        <p:spPr>
          <a:xfrm flipH="1">
            <a:off x="7759344" y="2314290"/>
            <a:ext cx="3745744" cy="187499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31B2387-21FB-694D-8260-DB42F0D68B60}"/>
              </a:ext>
            </a:extLst>
          </p:cNvPr>
          <p:cNvCxnSpPr>
            <a:cxnSpLocks/>
          </p:cNvCxnSpPr>
          <p:nvPr/>
        </p:nvCxnSpPr>
        <p:spPr>
          <a:xfrm flipV="1">
            <a:off x="7759344" y="4189285"/>
            <a:ext cx="0" cy="308054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6FAE647-8815-0842-9521-A1A42F812C53}"/>
              </a:ext>
            </a:extLst>
          </p:cNvPr>
          <p:cNvCxnSpPr>
            <a:cxnSpLocks/>
          </p:cNvCxnSpPr>
          <p:nvPr/>
        </p:nvCxnSpPr>
        <p:spPr>
          <a:xfrm flipV="1">
            <a:off x="8145074" y="3830882"/>
            <a:ext cx="0" cy="160947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E587EB5-64DB-8845-9991-BE0C414B899C}"/>
              </a:ext>
            </a:extLst>
          </p:cNvPr>
          <p:cNvCxnSpPr>
            <a:cxnSpLocks/>
          </p:cNvCxnSpPr>
          <p:nvPr/>
        </p:nvCxnSpPr>
        <p:spPr>
          <a:xfrm flipV="1">
            <a:off x="8898062" y="2708378"/>
            <a:ext cx="0" cy="892466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FF912B0-FD0E-FF45-8373-7AAEFF33125E}"/>
              </a:ext>
            </a:extLst>
          </p:cNvPr>
          <p:cNvCxnSpPr>
            <a:cxnSpLocks/>
          </p:cNvCxnSpPr>
          <p:nvPr/>
        </p:nvCxnSpPr>
        <p:spPr>
          <a:xfrm flipV="1">
            <a:off x="9652257" y="2708378"/>
            <a:ext cx="0" cy="533012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9DA7187-D5B7-C849-A661-DAFC6C301997}"/>
              </a:ext>
            </a:extLst>
          </p:cNvPr>
          <p:cNvCxnSpPr>
            <a:cxnSpLocks/>
          </p:cNvCxnSpPr>
          <p:nvPr/>
        </p:nvCxnSpPr>
        <p:spPr>
          <a:xfrm flipV="1">
            <a:off x="9652257" y="3241390"/>
            <a:ext cx="0" cy="476746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31C5764-4B8A-404F-914B-54271CC8019A}"/>
              </a:ext>
            </a:extLst>
          </p:cNvPr>
          <p:cNvCxnSpPr>
            <a:cxnSpLocks/>
          </p:cNvCxnSpPr>
          <p:nvPr/>
        </p:nvCxnSpPr>
        <p:spPr>
          <a:xfrm flipV="1">
            <a:off x="10030630" y="3058510"/>
            <a:ext cx="0" cy="279538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924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DC8F3-A6D8-274E-9E8F-C5C4AF077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30948" cy="1325563"/>
          </a:xfrm>
        </p:spPr>
        <p:txBody>
          <a:bodyPr/>
          <a:lstStyle/>
          <a:p>
            <a:r>
              <a:rPr lang="en-US" dirty="0"/>
              <a:t>Standard Error of Regression (</a:t>
            </a:r>
            <a:r>
              <a:rPr lang="en-US" i="1" dirty="0"/>
              <a:t>SD</a:t>
            </a:r>
            <a:r>
              <a:rPr lang="en-US" i="1" baseline="-25000" dirty="0"/>
              <a:t>Y’ or </a:t>
            </a:r>
            <a:r>
              <a:rPr lang="en-US" i="1" dirty="0"/>
              <a:t>SD</a:t>
            </a:r>
            <a:r>
              <a:rPr lang="en-US" i="1" baseline="-25000" dirty="0"/>
              <a:t>Y-Y’ </a:t>
            </a:r>
            <a:r>
              <a:rPr lang="en-US" dirty="0"/>
              <a:t>)</a:t>
            </a:r>
            <a:endParaRPr lang="en-US" baseline="-2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3A27C-E278-3048-AD24-21FD6A843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40812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Residuals</a:t>
            </a:r>
            <a:r>
              <a:rPr lang="en-US" dirty="0"/>
              <a:t>: The deviation each score is from the predicted value of the regression line</a:t>
            </a:r>
          </a:p>
          <a:p>
            <a:r>
              <a:rPr lang="en-US" i="1" dirty="0"/>
              <a:t>X-X’</a:t>
            </a:r>
          </a:p>
          <a:p>
            <a:endParaRPr lang="en-US" i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B40E2E7-8273-8F4C-B4AD-55CF895D7EEA}"/>
              </a:ext>
            </a:extLst>
          </p:cNvPr>
          <p:cNvGrpSpPr/>
          <p:nvPr/>
        </p:nvGrpSpPr>
        <p:grpSpPr>
          <a:xfrm>
            <a:off x="6605966" y="1544605"/>
            <a:ext cx="5668105" cy="4921888"/>
            <a:chOff x="6562286" y="1941604"/>
            <a:chExt cx="5180750" cy="4564024"/>
          </a:xfrm>
        </p:grpSpPr>
        <p:pic>
          <p:nvPicPr>
            <p:cNvPr id="33" name="Picture 32" descr="Chart, scatter chart&#10;&#10;Description automatically generated">
              <a:extLst>
                <a:ext uri="{FF2B5EF4-FFF2-40B4-BE49-F238E27FC236}">
                  <a16:creationId xmlns:a16="http://schemas.microsoft.com/office/drawing/2014/main" id="{9E1C9DC7-EA68-5B43-8072-E498F2D74D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0915" b="10995"/>
            <a:stretch/>
          </p:blipFill>
          <p:spPr>
            <a:xfrm>
              <a:off x="6805710" y="1941604"/>
              <a:ext cx="4937326" cy="4317005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D64A251-4327-2149-A676-D87DE572CED6}"/>
                </a:ext>
              </a:extLst>
            </p:cNvPr>
            <p:cNvSpPr txBox="1"/>
            <p:nvPr/>
          </p:nvSpPr>
          <p:spPr>
            <a:xfrm>
              <a:off x="8657303" y="6105518"/>
              <a:ext cx="19704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Hours Exercising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C09B3FF-751F-7046-97D6-9C1BBA120DB6}"/>
                </a:ext>
              </a:extLst>
            </p:cNvPr>
            <p:cNvSpPr txBox="1"/>
            <p:nvPr/>
          </p:nvSpPr>
          <p:spPr>
            <a:xfrm rot="16200000">
              <a:off x="5887582" y="3491578"/>
              <a:ext cx="17495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Wellness Score</a:t>
              </a: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3CFA446-880C-CF42-AD66-7999CC390197}"/>
              </a:ext>
            </a:extLst>
          </p:cNvPr>
          <p:cNvCxnSpPr>
            <a:cxnSpLocks/>
          </p:cNvCxnSpPr>
          <p:nvPr/>
        </p:nvCxnSpPr>
        <p:spPr>
          <a:xfrm flipH="1">
            <a:off x="7759344" y="2314290"/>
            <a:ext cx="3745744" cy="187499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C076270-BFFD-AA45-B903-13153D8634ED}"/>
              </a:ext>
            </a:extLst>
          </p:cNvPr>
          <p:cNvCxnSpPr>
            <a:cxnSpLocks/>
          </p:cNvCxnSpPr>
          <p:nvPr/>
        </p:nvCxnSpPr>
        <p:spPr>
          <a:xfrm flipH="1">
            <a:off x="7890250" y="2264647"/>
            <a:ext cx="2790516" cy="224290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08FCFAE-E452-C542-8D6B-E2332F4CADE2}"/>
              </a:ext>
            </a:extLst>
          </p:cNvPr>
          <p:cNvCxnSpPr>
            <a:cxnSpLocks/>
          </p:cNvCxnSpPr>
          <p:nvPr/>
        </p:nvCxnSpPr>
        <p:spPr>
          <a:xfrm>
            <a:off x="7807085" y="4507555"/>
            <a:ext cx="83165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5B632EA-5C84-AC47-BED7-3ADD9CE6D802}"/>
              </a:ext>
            </a:extLst>
          </p:cNvPr>
          <p:cNvCxnSpPr>
            <a:cxnSpLocks/>
          </p:cNvCxnSpPr>
          <p:nvPr/>
        </p:nvCxnSpPr>
        <p:spPr>
          <a:xfrm>
            <a:off x="8356776" y="4142846"/>
            <a:ext cx="93541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423FBE9-6611-2A49-85C1-FA9517E25F5E}"/>
              </a:ext>
            </a:extLst>
          </p:cNvPr>
          <p:cNvCxnSpPr>
            <a:cxnSpLocks/>
          </p:cNvCxnSpPr>
          <p:nvPr/>
        </p:nvCxnSpPr>
        <p:spPr>
          <a:xfrm>
            <a:off x="8195050" y="3783392"/>
            <a:ext cx="576884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9B0AAAE-D2B9-BC42-B6CE-209DA8381098}"/>
              </a:ext>
            </a:extLst>
          </p:cNvPr>
          <p:cNvCxnSpPr>
            <a:cxnSpLocks/>
          </p:cNvCxnSpPr>
          <p:nvPr/>
        </p:nvCxnSpPr>
        <p:spPr>
          <a:xfrm>
            <a:off x="8816077" y="3783392"/>
            <a:ext cx="764103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4384F6F-9669-A54B-87A5-B9F6F536749E}"/>
              </a:ext>
            </a:extLst>
          </p:cNvPr>
          <p:cNvCxnSpPr>
            <a:cxnSpLocks/>
          </p:cNvCxnSpPr>
          <p:nvPr/>
        </p:nvCxnSpPr>
        <p:spPr>
          <a:xfrm flipV="1">
            <a:off x="9232287" y="3408133"/>
            <a:ext cx="736331" cy="20867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2F5FBAC-F0C6-FE4F-AC0C-799A0AB1F7BD}"/>
              </a:ext>
            </a:extLst>
          </p:cNvPr>
          <p:cNvCxnSpPr>
            <a:cxnSpLocks/>
          </p:cNvCxnSpPr>
          <p:nvPr/>
        </p:nvCxnSpPr>
        <p:spPr>
          <a:xfrm>
            <a:off x="8969069" y="2655631"/>
            <a:ext cx="611111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D59C08F-24EE-A749-B82C-C37DC94B50B3}"/>
              </a:ext>
            </a:extLst>
          </p:cNvPr>
          <p:cNvCxnSpPr>
            <a:cxnSpLocks/>
          </p:cNvCxnSpPr>
          <p:nvPr/>
        </p:nvCxnSpPr>
        <p:spPr>
          <a:xfrm>
            <a:off x="9725964" y="2655631"/>
            <a:ext cx="420723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E8104CA-7269-584A-8704-74C65883F569}"/>
              </a:ext>
            </a:extLst>
          </p:cNvPr>
          <p:cNvCxnSpPr>
            <a:cxnSpLocks/>
          </p:cNvCxnSpPr>
          <p:nvPr/>
        </p:nvCxnSpPr>
        <p:spPr>
          <a:xfrm>
            <a:off x="10680766" y="2264647"/>
            <a:ext cx="805404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510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DC8F3-A6D8-274E-9E8F-C5C4AF077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30948" cy="1325563"/>
          </a:xfrm>
        </p:spPr>
        <p:txBody>
          <a:bodyPr/>
          <a:lstStyle/>
          <a:p>
            <a:r>
              <a:rPr lang="en-US" dirty="0"/>
              <a:t>Standard Error of Regression (</a:t>
            </a:r>
            <a:r>
              <a:rPr lang="en-US" i="1" dirty="0"/>
              <a:t>SD</a:t>
            </a:r>
            <a:r>
              <a:rPr lang="en-US" i="1" baseline="-25000" dirty="0"/>
              <a:t>Y’ or </a:t>
            </a:r>
            <a:r>
              <a:rPr lang="en-US" i="1" dirty="0"/>
              <a:t>SD</a:t>
            </a:r>
            <a:r>
              <a:rPr lang="en-US" i="1" baseline="-25000" dirty="0"/>
              <a:t>Y-Y’ </a:t>
            </a:r>
            <a:r>
              <a:rPr lang="en-US" dirty="0"/>
              <a:t>)</a:t>
            </a:r>
            <a:endParaRPr lang="en-US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33A27C-E278-3048-AD24-21FD6A8432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6180985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Residuals</a:t>
                </a:r>
                <a:r>
                  <a:rPr lang="en-US" dirty="0"/>
                  <a:t>: The deviation each score        is from the predicted value of the regression line</a:t>
                </a:r>
              </a:p>
              <a:p>
                <a:r>
                  <a:rPr lang="en-US" i="1" dirty="0"/>
                  <a:t>Y-Y’ , X-X’</a:t>
                </a:r>
              </a:p>
              <a:p>
                <a:endParaRPr lang="en-US" i="1" dirty="0"/>
              </a:p>
              <a:p>
                <a:pPr marL="0" indent="0">
                  <a:buNone/>
                </a:pPr>
                <a:r>
                  <a:rPr lang="en-US" b="1" dirty="0"/>
                  <a:t>Computation: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𝑆𝐷</m:t>
                        </m:r>
                      </m:e>
                      <m:sub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∑(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y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ra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        </m:t>
                    </m:r>
                  </m:oMath>
                </a14:m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𝑆𝐷</m:t>
                        </m:r>
                      </m:e>
                      <m:sub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∑(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rad>
                  </m:oMath>
                </a14:m>
                <a:endParaRPr lang="en-US" i="1" dirty="0"/>
              </a:p>
              <a:p>
                <a:endParaRPr lang="en-US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𝑆𝐷</m:t>
                        </m:r>
                      </m:e>
                      <m:sub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2400" i="1" dirty="0"/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𝑆𝐷</m:t>
                        </m:r>
                      </m:e>
                      <m:sub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33A27C-E278-3048-AD24-21FD6A8432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6180985" cy="5032375"/>
              </a:xfrm>
              <a:blipFill>
                <a:blip r:embed="rId2"/>
                <a:stretch>
                  <a:fillRect l="-1972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77D4B878-B9D0-8D40-ADA4-56729C922455}"/>
              </a:ext>
            </a:extLst>
          </p:cNvPr>
          <p:cNvGrpSpPr/>
          <p:nvPr/>
        </p:nvGrpSpPr>
        <p:grpSpPr>
          <a:xfrm>
            <a:off x="6605966" y="1544605"/>
            <a:ext cx="5668105" cy="4921888"/>
            <a:chOff x="6605966" y="1544605"/>
            <a:chExt cx="5668105" cy="492188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B40E2E7-8273-8F4C-B4AD-55CF895D7EEA}"/>
                </a:ext>
              </a:extLst>
            </p:cNvPr>
            <p:cNvGrpSpPr/>
            <p:nvPr/>
          </p:nvGrpSpPr>
          <p:grpSpPr>
            <a:xfrm>
              <a:off x="6605966" y="1544605"/>
              <a:ext cx="5668105" cy="4921888"/>
              <a:chOff x="6562286" y="1941604"/>
              <a:chExt cx="5180750" cy="4564024"/>
            </a:xfrm>
          </p:grpSpPr>
          <p:pic>
            <p:nvPicPr>
              <p:cNvPr id="33" name="Picture 32" descr="Chart, scatter chart&#10;&#10;Description automatically generated">
                <a:extLst>
                  <a:ext uri="{FF2B5EF4-FFF2-40B4-BE49-F238E27FC236}">
                    <a16:creationId xmlns:a16="http://schemas.microsoft.com/office/drawing/2014/main" id="{9E1C9DC7-EA68-5B43-8072-E498F2D74DA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0915" b="10995"/>
              <a:stretch/>
            </p:blipFill>
            <p:spPr>
              <a:xfrm>
                <a:off x="6805710" y="1941604"/>
                <a:ext cx="4937326" cy="4317005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D64A251-4327-2149-A676-D87DE572CED6}"/>
                  </a:ext>
                </a:extLst>
              </p:cNvPr>
              <p:cNvSpPr txBox="1"/>
              <p:nvPr/>
            </p:nvSpPr>
            <p:spPr>
              <a:xfrm>
                <a:off x="8657303" y="6105518"/>
                <a:ext cx="19704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Hours Exercising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C09B3FF-751F-7046-97D6-9C1BBA120DB6}"/>
                  </a:ext>
                </a:extLst>
              </p:cNvPr>
              <p:cNvSpPr txBox="1"/>
              <p:nvPr/>
            </p:nvSpPr>
            <p:spPr>
              <a:xfrm rot="16200000">
                <a:off x="5887582" y="3491578"/>
                <a:ext cx="174951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Wellness Score</a:t>
                </a:r>
              </a:p>
            </p:txBody>
          </p:sp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3CFA446-880C-CF42-AD66-7999CC3901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59344" y="2314290"/>
              <a:ext cx="3745744" cy="187499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C076270-BFFD-AA45-B903-13153D8634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90250" y="2264647"/>
              <a:ext cx="2790516" cy="2242908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31B2387-21FB-694D-8260-DB42F0D68B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9344" y="4189285"/>
              <a:ext cx="0" cy="308054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6FAE647-8815-0842-9521-A1A42F812C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5074" y="3830882"/>
              <a:ext cx="0" cy="160947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E587EB5-64DB-8845-9991-BE0C414B89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8062" y="2708378"/>
              <a:ext cx="0" cy="892466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FF912B0-FD0E-FF45-8373-7AAEFF3312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52257" y="2708378"/>
              <a:ext cx="0" cy="533012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9DA7187-D5B7-C849-A661-DAFC6C3019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52257" y="3241390"/>
              <a:ext cx="0" cy="476746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31C5764-4B8A-404F-914B-54271CC801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30630" y="3058510"/>
              <a:ext cx="0" cy="279538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08FCFAE-E452-C542-8D6B-E2332F4CADE2}"/>
                </a:ext>
              </a:extLst>
            </p:cNvPr>
            <p:cNvCxnSpPr>
              <a:cxnSpLocks/>
            </p:cNvCxnSpPr>
            <p:nvPr/>
          </p:nvCxnSpPr>
          <p:spPr>
            <a:xfrm>
              <a:off x="7807085" y="4507555"/>
              <a:ext cx="83165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5B632EA-5C84-AC47-BED7-3ADD9CE6D802}"/>
                </a:ext>
              </a:extLst>
            </p:cNvPr>
            <p:cNvCxnSpPr>
              <a:cxnSpLocks/>
            </p:cNvCxnSpPr>
            <p:nvPr/>
          </p:nvCxnSpPr>
          <p:spPr>
            <a:xfrm>
              <a:off x="8356776" y="4142846"/>
              <a:ext cx="93541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423FBE9-6611-2A49-85C1-FA9517E25F5E}"/>
                </a:ext>
              </a:extLst>
            </p:cNvPr>
            <p:cNvCxnSpPr>
              <a:cxnSpLocks/>
            </p:cNvCxnSpPr>
            <p:nvPr/>
          </p:nvCxnSpPr>
          <p:spPr>
            <a:xfrm>
              <a:off x="8195050" y="3783392"/>
              <a:ext cx="576884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9B0AAAE-D2B9-BC42-B6CE-209DA8381098}"/>
                </a:ext>
              </a:extLst>
            </p:cNvPr>
            <p:cNvCxnSpPr>
              <a:cxnSpLocks/>
            </p:cNvCxnSpPr>
            <p:nvPr/>
          </p:nvCxnSpPr>
          <p:spPr>
            <a:xfrm>
              <a:off x="8816077" y="3783392"/>
              <a:ext cx="764103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4384F6F-9669-A54B-87A5-B9F6F53674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2287" y="3408133"/>
              <a:ext cx="736331" cy="20867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2F5FBAC-F0C6-FE4F-AC0C-799A0AB1F7BD}"/>
                </a:ext>
              </a:extLst>
            </p:cNvPr>
            <p:cNvCxnSpPr>
              <a:cxnSpLocks/>
            </p:cNvCxnSpPr>
            <p:nvPr/>
          </p:nvCxnSpPr>
          <p:spPr>
            <a:xfrm>
              <a:off x="8969069" y="2655631"/>
              <a:ext cx="611111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D59C08F-24EE-A749-B82C-C37DC94B50B3}"/>
                </a:ext>
              </a:extLst>
            </p:cNvPr>
            <p:cNvCxnSpPr>
              <a:cxnSpLocks/>
            </p:cNvCxnSpPr>
            <p:nvPr/>
          </p:nvCxnSpPr>
          <p:spPr>
            <a:xfrm>
              <a:off x="9725964" y="2655631"/>
              <a:ext cx="420723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E8104CA-7269-584A-8704-74C65883F569}"/>
                </a:ext>
              </a:extLst>
            </p:cNvPr>
            <p:cNvCxnSpPr>
              <a:cxnSpLocks/>
            </p:cNvCxnSpPr>
            <p:nvPr/>
          </p:nvCxnSpPr>
          <p:spPr>
            <a:xfrm>
              <a:off x="10680766" y="2264647"/>
              <a:ext cx="805404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C792F15-1389-19B5-5FD7-63C60F30606F}"/>
              </a:ext>
            </a:extLst>
          </p:cNvPr>
          <p:cNvSpPr txBox="1"/>
          <p:nvPr/>
        </p:nvSpPr>
        <p:spPr>
          <a:xfrm>
            <a:off x="3540895" y="5368772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OR</a:t>
            </a:r>
            <a:endParaRPr lang="en-US" b="1" dirty="0"/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937D2523-EE20-B2D0-A035-D43CC5C05603}"/>
              </a:ext>
            </a:extLst>
          </p:cNvPr>
          <p:cNvSpPr/>
          <p:nvPr/>
        </p:nvSpPr>
        <p:spPr>
          <a:xfrm>
            <a:off x="2050827" y="4056605"/>
            <a:ext cx="1835387" cy="1835387"/>
          </a:xfrm>
          <a:prstGeom prst="mathMultiply">
            <a:avLst>
              <a:gd name="adj1" fmla="val 8092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FE855E9C-349B-D129-9DE9-27CCD1100267}"/>
              </a:ext>
            </a:extLst>
          </p:cNvPr>
          <p:cNvSpPr/>
          <p:nvPr/>
        </p:nvSpPr>
        <p:spPr>
          <a:xfrm>
            <a:off x="5005463" y="4077295"/>
            <a:ext cx="1835387" cy="1835387"/>
          </a:xfrm>
          <a:prstGeom prst="mathMultiply">
            <a:avLst>
              <a:gd name="adj1" fmla="val 8092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43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E4921677-2A2B-FB40-9788-CABD98296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91191" cy="1325563"/>
          </a:xfrm>
        </p:spPr>
        <p:txBody>
          <a:bodyPr/>
          <a:lstStyle/>
          <a:p>
            <a:r>
              <a:rPr lang="en-US" dirty="0"/>
              <a:t>Standard Error of Regression (</a:t>
            </a:r>
            <a:r>
              <a:rPr lang="en-US" i="1" dirty="0"/>
              <a:t>SD</a:t>
            </a:r>
            <a:r>
              <a:rPr lang="en-US" i="1" baseline="-25000" dirty="0"/>
              <a:t>Y’ or </a:t>
            </a:r>
            <a:r>
              <a:rPr lang="en-US" i="1" dirty="0"/>
              <a:t>SD</a:t>
            </a:r>
            <a:r>
              <a:rPr lang="en-US" i="1" baseline="-25000" dirty="0"/>
              <a:t>Y-Y’ </a:t>
            </a:r>
            <a:r>
              <a:rPr lang="en-US" dirty="0"/>
              <a:t>)</a:t>
            </a:r>
            <a:endParaRPr lang="en-US" baseline="-250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7C978A3-71E5-C041-9043-6DD3B44C5707}"/>
              </a:ext>
            </a:extLst>
          </p:cNvPr>
          <p:cNvSpPr/>
          <p:nvPr/>
        </p:nvSpPr>
        <p:spPr>
          <a:xfrm>
            <a:off x="537329" y="4474705"/>
            <a:ext cx="11235572" cy="6063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A169618-EB90-8840-B903-BDCB8C0A7080}"/>
              </a:ext>
            </a:extLst>
          </p:cNvPr>
          <p:cNvSpPr txBox="1"/>
          <p:nvPr/>
        </p:nvSpPr>
        <p:spPr>
          <a:xfrm>
            <a:off x="2489884" y="2060129"/>
            <a:ext cx="72122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 err="1"/>
              <a:t>SD</a:t>
            </a:r>
            <a:r>
              <a:rPr lang="en-US" sz="3600" i="1" baseline="-25000" dirty="0" err="1"/>
              <a:t>x</a:t>
            </a:r>
            <a:r>
              <a:rPr lang="en-US" sz="3600" i="1" dirty="0"/>
              <a:t> = 3.0000, </a:t>
            </a:r>
            <a:r>
              <a:rPr lang="en-US" sz="3600" i="1" dirty="0" err="1"/>
              <a:t>SD</a:t>
            </a:r>
            <a:r>
              <a:rPr lang="en-US" sz="3600" i="1" baseline="-25000" dirty="0" err="1"/>
              <a:t>y</a:t>
            </a:r>
            <a:r>
              <a:rPr lang="en-US" sz="3600" i="1" dirty="0"/>
              <a:t> = 2.0000, r = 0.7500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ADA6474E-889E-6185-0000-B4FB0E6074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 fontScale="92500" lnSpcReduction="20000"/>
              </a:bodyPr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SD</a:t>
                </a:r>
                <a:r>
                  <a:rPr lang="en-US" i="1" baseline="-25000" dirty="0"/>
                  <a:t>Y’ 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0000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7500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0000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5625</m:t>
                          </m:r>
                        </m:e>
                      </m:rad>
                    </m:oMath>
                  </m:oMathPara>
                </a14:m>
                <a:endParaRPr lang="en-US" i="1" baseline="300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0000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4375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0000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6614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3229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i="1" dirty="0"/>
                  <a:t>SD</a:t>
                </a:r>
                <a:r>
                  <a:rPr lang="en-US" i="1" baseline="-25000" dirty="0"/>
                  <a:t>X’ 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0000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7500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0000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5625</m:t>
                          </m:r>
                        </m:e>
                      </m:rad>
                    </m:oMath>
                  </m:oMathPara>
                </a14:m>
                <a:endParaRPr lang="en-US" i="1" baseline="300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0000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4375</m:t>
                          </m:r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0000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6614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9843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ADA6474E-889E-6185-0000-B4FB0E6074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648512A7-C343-E418-2C6E-FAC342000AC9}"/>
              </a:ext>
            </a:extLst>
          </p:cNvPr>
          <p:cNvSpPr/>
          <p:nvPr/>
        </p:nvSpPr>
        <p:spPr>
          <a:xfrm>
            <a:off x="2991612" y="3337719"/>
            <a:ext cx="3037713" cy="5058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F4B5DC-338F-8C77-E337-6BFD579116DC}"/>
              </a:ext>
            </a:extLst>
          </p:cNvPr>
          <p:cNvSpPr/>
          <p:nvPr/>
        </p:nvSpPr>
        <p:spPr>
          <a:xfrm>
            <a:off x="6084448" y="3355821"/>
            <a:ext cx="3457880" cy="5058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C66924-5394-EAE0-CB69-2F54CCB2F9E6}"/>
              </a:ext>
            </a:extLst>
          </p:cNvPr>
          <p:cNvSpPr/>
          <p:nvPr/>
        </p:nvSpPr>
        <p:spPr>
          <a:xfrm>
            <a:off x="1939901" y="3833898"/>
            <a:ext cx="3457880" cy="5058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535E5D-929F-8675-961D-D2784D8468A6}"/>
              </a:ext>
            </a:extLst>
          </p:cNvPr>
          <p:cNvSpPr/>
          <p:nvPr/>
        </p:nvSpPr>
        <p:spPr>
          <a:xfrm>
            <a:off x="5397781" y="3806120"/>
            <a:ext cx="2642911" cy="5058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867F98-19D6-D9B0-F495-92C635BAB43E}"/>
              </a:ext>
            </a:extLst>
          </p:cNvPr>
          <p:cNvSpPr/>
          <p:nvPr/>
        </p:nvSpPr>
        <p:spPr>
          <a:xfrm>
            <a:off x="8105471" y="3806120"/>
            <a:ext cx="3457880" cy="5058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161495-4360-A1BA-552C-ECFA4642DE48}"/>
              </a:ext>
            </a:extLst>
          </p:cNvPr>
          <p:cNvSpPr/>
          <p:nvPr/>
        </p:nvSpPr>
        <p:spPr>
          <a:xfrm>
            <a:off x="838199" y="4598576"/>
            <a:ext cx="8618467" cy="14737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6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730E5-52E7-692E-B9F6-69215D08D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F06C6615-7C8D-5DE2-CBA8-2BDF1FCFB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91191" cy="1325563"/>
          </a:xfrm>
        </p:spPr>
        <p:txBody>
          <a:bodyPr/>
          <a:lstStyle/>
          <a:p>
            <a:r>
              <a:rPr lang="en-US" dirty="0"/>
              <a:t>Standard Error of Regression (</a:t>
            </a:r>
            <a:r>
              <a:rPr lang="en-US" i="1" dirty="0"/>
              <a:t>SD</a:t>
            </a:r>
            <a:r>
              <a:rPr lang="en-US" i="1" baseline="-25000" dirty="0"/>
              <a:t>Y’ or </a:t>
            </a:r>
            <a:r>
              <a:rPr lang="en-US" i="1" dirty="0"/>
              <a:t>SD</a:t>
            </a:r>
            <a:r>
              <a:rPr lang="en-US" i="1" baseline="-25000" dirty="0"/>
              <a:t>Y-Y’ </a:t>
            </a:r>
            <a:r>
              <a:rPr lang="en-US" dirty="0"/>
              <a:t>)</a:t>
            </a:r>
            <a:endParaRPr lang="en-US" baseline="-250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BDD7BD8-11FC-A6D7-9228-D77279E76AA3}"/>
              </a:ext>
            </a:extLst>
          </p:cNvPr>
          <p:cNvSpPr/>
          <p:nvPr/>
        </p:nvSpPr>
        <p:spPr>
          <a:xfrm>
            <a:off x="537329" y="4474705"/>
            <a:ext cx="11235572" cy="6063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615D836-7D25-4255-DE71-DD2EF688EF8E}"/>
              </a:ext>
            </a:extLst>
          </p:cNvPr>
          <p:cNvSpPr txBox="1"/>
          <p:nvPr/>
        </p:nvSpPr>
        <p:spPr>
          <a:xfrm>
            <a:off x="2489884" y="2060129"/>
            <a:ext cx="72122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 err="1"/>
              <a:t>SD</a:t>
            </a:r>
            <a:r>
              <a:rPr lang="en-US" sz="3600" i="1" baseline="-25000" dirty="0" err="1"/>
              <a:t>x</a:t>
            </a:r>
            <a:r>
              <a:rPr lang="en-US" sz="3600" i="1" dirty="0"/>
              <a:t> = 3.0000, </a:t>
            </a:r>
            <a:r>
              <a:rPr lang="en-US" sz="3600" i="1" dirty="0" err="1"/>
              <a:t>SD</a:t>
            </a:r>
            <a:r>
              <a:rPr lang="en-US" sz="3600" i="1" baseline="-25000" dirty="0" err="1"/>
              <a:t>y</a:t>
            </a:r>
            <a:r>
              <a:rPr lang="en-US" sz="3600" i="1" dirty="0"/>
              <a:t> = 2.0000, r = 0.7500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2812E8B9-3453-9C4B-3716-854827F0CC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 fontScale="92500" lnSpcReduction="20000"/>
              </a:bodyPr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SD</a:t>
                </a:r>
                <a:r>
                  <a:rPr lang="en-US" i="1" baseline="-25000" dirty="0"/>
                  <a:t>Y’ 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0000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7500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0000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5625</m:t>
                          </m:r>
                        </m:e>
                      </m:rad>
                    </m:oMath>
                  </m:oMathPara>
                </a14:m>
                <a:endParaRPr lang="en-US" i="1" baseline="300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0000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4375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0000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6614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3229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i="1" dirty="0"/>
                  <a:t>SD</a:t>
                </a:r>
                <a:r>
                  <a:rPr lang="en-US" i="1" baseline="-25000" dirty="0"/>
                  <a:t>X’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0000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7500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0000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5625</m:t>
                          </m:r>
                        </m:e>
                      </m:rad>
                    </m:oMath>
                  </m:oMathPara>
                </a14:m>
                <a:endParaRPr lang="en-US" i="1" baseline="300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0000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4375</m:t>
                          </m:r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0000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6614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9843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2812E8B9-3453-9C4B-3716-854827F0CC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01716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9DFEF-C250-3BBB-77BC-248586D7B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2C8A0337-30E9-8ECE-274E-F53D080BAFBB}"/>
              </a:ext>
            </a:extLst>
          </p:cNvPr>
          <p:cNvSpPr/>
          <p:nvPr/>
        </p:nvSpPr>
        <p:spPr>
          <a:xfrm>
            <a:off x="779830" y="1755721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09AF9E7C-D470-862F-C943-DA7FCA9D9FDB}"/>
                  </a:ext>
                </a:extLst>
              </p:cNvPr>
              <p:cNvSpPr/>
              <p:nvPr/>
            </p:nvSpPr>
            <p:spPr>
              <a:xfrm>
                <a:off x="0" y="951265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09AF9E7C-D470-862F-C943-DA7FCA9D9F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51265"/>
                <a:ext cx="1805922" cy="4514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>
            <a:extLst>
              <a:ext uri="{FF2B5EF4-FFF2-40B4-BE49-F238E27FC236}">
                <a16:creationId xmlns:a16="http://schemas.microsoft.com/office/drawing/2014/main" id="{B4713D13-1733-E3BA-BB1A-1C06A6D34682}"/>
              </a:ext>
            </a:extLst>
          </p:cNvPr>
          <p:cNvSpPr/>
          <p:nvPr/>
        </p:nvSpPr>
        <p:spPr>
          <a:xfrm>
            <a:off x="2052184" y="1755721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2D08600-A1E9-8163-1DDD-B4CC2DE64E8B}"/>
              </a:ext>
            </a:extLst>
          </p:cNvPr>
          <p:cNvSpPr/>
          <p:nvPr/>
        </p:nvSpPr>
        <p:spPr>
          <a:xfrm>
            <a:off x="3447669" y="1755721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8025CBA-C9FE-AEFA-82AB-2F4A94995686}"/>
              </a:ext>
            </a:extLst>
          </p:cNvPr>
          <p:cNvSpPr/>
          <p:nvPr/>
        </p:nvSpPr>
        <p:spPr>
          <a:xfrm>
            <a:off x="4925242" y="1755721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1B0F3A57-04EB-7877-C66C-9C5B46064DC0}"/>
                  </a:ext>
                </a:extLst>
              </p:cNvPr>
              <p:cNvSpPr/>
              <p:nvPr/>
            </p:nvSpPr>
            <p:spPr>
              <a:xfrm>
                <a:off x="4145412" y="951265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1B0F3A57-04EB-7877-C66C-9C5B46064D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412" y="951265"/>
                <a:ext cx="1805922" cy="451481"/>
              </a:xfrm>
              <a:prstGeom prst="rect">
                <a:avLst/>
              </a:prstGeom>
              <a:blipFill>
                <a:blip r:embed="rId4"/>
                <a:stretch>
                  <a:fillRect t="-189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>
            <a:extLst>
              <a:ext uri="{FF2B5EF4-FFF2-40B4-BE49-F238E27FC236}">
                <a16:creationId xmlns:a16="http://schemas.microsoft.com/office/drawing/2014/main" id="{42ED537B-7E75-90ED-C667-0DBF6C1D2A0F}"/>
              </a:ext>
            </a:extLst>
          </p:cNvPr>
          <p:cNvSpPr/>
          <p:nvPr/>
        </p:nvSpPr>
        <p:spPr>
          <a:xfrm>
            <a:off x="6238640" y="1755721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AD3A41C1-1AD6-09A1-BD68-41BF106CB2D4}"/>
                  </a:ext>
                </a:extLst>
              </p:cNvPr>
              <p:cNvSpPr/>
              <p:nvPr/>
            </p:nvSpPr>
            <p:spPr>
              <a:xfrm>
                <a:off x="5458810" y="951265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AD3A41C1-1AD6-09A1-BD68-41BF106CB2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810" y="951265"/>
                <a:ext cx="1805922" cy="4514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>
            <a:extLst>
              <a:ext uri="{FF2B5EF4-FFF2-40B4-BE49-F238E27FC236}">
                <a16:creationId xmlns:a16="http://schemas.microsoft.com/office/drawing/2014/main" id="{D0232638-B11C-0E6B-1BAF-FB0AD46ED70A}"/>
              </a:ext>
            </a:extLst>
          </p:cNvPr>
          <p:cNvSpPr/>
          <p:nvPr/>
        </p:nvSpPr>
        <p:spPr>
          <a:xfrm>
            <a:off x="779830" y="5080259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6AAC78F6-16A0-83D1-ACD6-1D875B2329C3}"/>
                  </a:ext>
                </a:extLst>
              </p:cNvPr>
              <p:cNvSpPr/>
              <p:nvPr/>
            </p:nvSpPr>
            <p:spPr>
              <a:xfrm>
                <a:off x="0" y="4275803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6AAC78F6-16A0-83D1-ACD6-1D875B2329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75803"/>
                <a:ext cx="1805922" cy="451481"/>
              </a:xfrm>
              <a:prstGeom prst="rect">
                <a:avLst/>
              </a:prstGeom>
              <a:blipFill>
                <a:blip r:embed="rId6"/>
                <a:stretch>
                  <a:fillRect b="-675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>
            <a:extLst>
              <a:ext uri="{FF2B5EF4-FFF2-40B4-BE49-F238E27FC236}">
                <a16:creationId xmlns:a16="http://schemas.microsoft.com/office/drawing/2014/main" id="{ED289D33-C9FA-476C-ACD0-45835CA36994}"/>
              </a:ext>
            </a:extLst>
          </p:cNvPr>
          <p:cNvSpPr/>
          <p:nvPr/>
        </p:nvSpPr>
        <p:spPr>
          <a:xfrm>
            <a:off x="2052184" y="5080259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3CFB84E-99DB-5219-8336-DA9FA8DC1442}"/>
              </a:ext>
            </a:extLst>
          </p:cNvPr>
          <p:cNvSpPr/>
          <p:nvPr/>
        </p:nvSpPr>
        <p:spPr>
          <a:xfrm>
            <a:off x="3447669" y="5080259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9E31CF2-483D-8FF7-7AA2-5A394BA474B5}"/>
              </a:ext>
            </a:extLst>
          </p:cNvPr>
          <p:cNvSpPr/>
          <p:nvPr/>
        </p:nvSpPr>
        <p:spPr>
          <a:xfrm>
            <a:off x="4925242" y="5080259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94A4CA24-D3A8-EE87-24AF-E87213DD4C2C}"/>
                  </a:ext>
                </a:extLst>
              </p:cNvPr>
              <p:cNvSpPr/>
              <p:nvPr/>
            </p:nvSpPr>
            <p:spPr>
              <a:xfrm>
                <a:off x="4145412" y="4275803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94A4CA24-D3A8-EE87-24AF-E87213DD4C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412" y="4275803"/>
                <a:ext cx="1805922" cy="451481"/>
              </a:xfrm>
              <a:prstGeom prst="rect">
                <a:avLst/>
              </a:prstGeom>
              <a:blipFill>
                <a:blip r:embed="rId7"/>
                <a:stretch>
                  <a:fillRect t="-189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>
            <a:extLst>
              <a:ext uri="{FF2B5EF4-FFF2-40B4-BE49-F238E27FC236}">
                <a16:creationId xmlns:a16="http://schemas.microsoft.com/office/drawing/2014/main" id="{2DBF33F7-87FD-1CC4-C4B2-EA6F64C2A6F6}"/>
              </a:ext>
            </a:extLst>
          </p:cNvPr>
          <p:cNvSpPr/>
          <p:nvPr/>
        </p:nvSpPr>
        <p:spPr>
          <a:xfrm>
            <a:off x="6238640" y="5080259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0F6F0057-52F3-83DA-8FCD-42F321C20313}"/>
                  </a:ext>
                </a:extLst>
              </p:cNvPr>
              <p:cNvSpPr/>
              <p:nvPr/>
            </p:nvSpPr>
            <p:spPr>
              <a:xfrm>
                <a:off x="5458810" y="4275803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0F6F0057-52F3-83DA-8FCD-42F321C203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810" y="4275803"/>
                <a:ext cx="1805922" cy="4514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>
            <a:extLst>
              <a:ext uri="{FF2B5EF4-FFF2-40B4-BE49-F238E27FC236}">
                <a16:creationId xmlns:a16="http://schemas.microsoft.com/office/drawing/2014/main" id="{9E7C7C4B-0BDC-9AC9-7411-05FB67607833}"/>
              </a:ext>
            </a:extLst>
          </p:cNvPr>
          <p:cNvSpPr/>
          <p:nvPr/>
        </p:nvSpPr>
        <p:spPr>
          <a:xfrm>
            <a:off x="1539138" y="2051236"/>
            <a:ext cx="8209" cy="500733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386FA88-5186-4C48-2FF9-B4EB5975E1CC}"/>
              </a:ext>
            </a:extLst>
          </p:cNvPr>
          <p:cNvSpPr/>
          <p:nvPr/>
        </p:nvSpPr>
        <p:spPr>
          <a:xfrm>
            <a:off x="1539138" y="2551969"/>
            <a:ext cx="1128701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3DB67A5-A3BE-A95D-B310-13DC36A1D93B}"/>
              </a:ext>
            </a:extLst>
          </p:cNvPr>
          <p:cNvSpPr/>
          <p:nvPr/>
        </p:nvSpPr>
        <p:spPr>
          <a:xfrm>
            <a:off x="2667839" y="2551969"/>
            <a:ext cx="8209" cy="599238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EE0EAF2-0B20-D66F-A827-39324619444B}"/>
              </a:ext>
            </a:extLst>
          </p:cNvPr>
          <p:cNvSpPr/>
          <p:nvPr/>
        </p:nvSpPr>
        <p:spPr>
          <a:xfrm flipV="1">
            <a:off x="1539138" y="4193716"/>
            <a:ext cx="8209" cy="59102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9E9FA08-BA37-835C-9B83-8A6FC53E039F}"/>
              </a:ext>
            </a:extLst>
          </p:cNvPr>
          <p:cNvSpPr/>
          <p:nvPr/>
        </p:nvSpPr>
        <p:spPr>
          <a:xfrm>
            <a:off x="1539138" y="4193716"/>
            <a:ext cx="1128701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8DC707B-B1D6-92E7-7CA7-86FE4B037F07}"/>
              </a:ext>
            </a:extLst>
          </p:cNvPr>
          <p:cNvSpPr/>
          <p:nvPr/>
        </p:nvSpPr>
        <p:spPr>
          <a:xfrm flipV="1">
            <a:off x="2667839" y="3742235"/>
            <a:ext cx="8209" cy="451481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2831EE94-E827-92E7-D6A4-CCA62ECBDC06}"/>
              </a:ext>
            </a:extLst>
          </p:cNvPr>
          <p:cNvSpPr/>
          <p:nvPr/>
        </p:nvSpPr>
        <p:spPr>
          <a:xfrm>
            <a:off x="3365582" y="3446721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87D4ED0-B1F1-5453-9CA6-8BB7C7581DD2}"/>
              </a:ext>
            </a:extLst>
          </p:cNvPr>
          <p:cNvSpPr/>
          <p:nvPr/>
        </p:nvSpPr>
        <p:spPr>
          <a:xfrm>
            <a:off x="4843154" y="3446721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8DBE8DC8-18E9-A6E3-1114-344363CC0F57}"/>
                  </a:ext>
                </a:extLst>
              </p:cNvPr>
              <p:cNvSpPr/>
              <p:nvPr/>
            </p:nvSpPr>
            <p:spPr>
              <a:xfrm>
                <a:off x="4063325" y="2634056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 33">
                <a:extLst>
                  <a:ext uri="{FF2B5EF4-FFF2-40B4-BE49-F238E27FC236}">
                    <a16:creationId xmlns:a16="http://schemas.microsoft.com/office/drawing/2014/main" id="{8DBE8DC8-18E9-A6E3-1114-344363CC0F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325" y="2634056"/>
                <a:ext cx="1805922" cy="451481"/>
              </a:xfrm>
              <a:prstGeom prst="rect">
                <a:avLst/>
              </a:prstGeom>
              <a:blipFill>
                <a:blip r:embed="rId9"/>
                <a:stretch>
                  <a:fillRect t="-1891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Shape 34">
            <a:extLst>
              <a:ext uri="{FF2B5EF4-FFF2-40B4-BE49-F238E27FC236}">
                <a16:creationId xmlns:a16="http://schemas.microsoft.com/office/drawing/2014/main" id="{B0113996-16EC-A77B-C743-FAE00AF77A05}"/>
              </a:ext>
            </a:extLst>
          </p:cNvPr>
          <p:cNvSpPr/>
          <p:nvPr/>
        </p:nvSpPr>
        <p:spPr>
          <a:xfrm>
            <a:off x="6238640" y="3446721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35">
                <a:extLst>
                  <a:ext uri="{FF2B5EF4-FFF2-40B4-BE49-F238E27FC236}">
                    <a16:creationId xmlns:a16="http://schemas.microsoft.com/office/drawing/2014/main" id="{6F98E4CA-83E9-3B80-BF2E-A19441D0A112}"/>
                  </a:ext>
                </a:extLst>
              </p:cNvPr>
              <p:cNvSpPr/>
              <p:nvPr/>
            </p:nvSpPr>
            <p:spPr>
              <a:xfrm>
                <a:off x="5458810" y="2634056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𝐶𝑂𝑉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 35">
                <a:extLst>
                  <a:ext uri="{FF2B5EF4-FFF2-40B4-BE49-F238E27FC236}">
                    <a16:creationId xmlns:a16="http://schemas.microsoft.com/office/drawing/2014/main" id="{6F98E4CA-83E9-3B80-BF2E-A19441D0A1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810" y="2634056"/>
                <a:ext cx="1805922" cy="451481"/>
              </a:xfrm>
              <a:prstGeom prst="rect">
                <a:avLst/>
              </a:prstGeom>
              <a:blipFill>
                <a:blip r:embed="rId10"/>
                <a:stretch>
                  <a:fillRect t="-3648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Shape 36">
            <a:extLst>
              <a:ext uri="{FF2B5EF4-FFF2-40B4-BE49-F238E27FC236}">
                <a16:creationId xmlns:a16="http://schemas.microsoft.com/office/drawing/2014/main" id="{F8C03513-D874-38AC-CDE0-0E77CED3616C}"/>
              </a:ext>
            </a:extLst>
          </p:cNvPr>
          <p:cNvSpPr/>
          <p:nvPr/>
        </p:nvSpPr>
        <p:spPr>
          <a:xfrm>
            <a:off x="7141601" y="2051236"/>
            <a:ext cx="8209" cy="1099971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B282D09A-9932-CC8D-9AEE-6D2F8B356F0C}"/>
              </a:ext>
            </a:extLst>
          </p:cNvPr>
          <p:cNvSpPr/>
          <p:nvPr/>
        </p:nvSpPr>
        <p:spPr>
          <a:xfrm flipV="1">
            <a:off x="7141601" y="3742235"/>
            <a:ext cx="8209" cy="104251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B1A765F6-5E01-FAD4-371E-7638A5D30640}"/>
              </a:ext>
            </a:extLst>
          </p:cNvPr>
          <p:cNvSpPr/>
          <p:nvPr/>
        </p:nvSpPr>
        <p:spPr>
          <a:xfrm>
            <a:off x="246262" y="1460207"/>
            <a:ext cx="533568" cy="591029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ED0F93FD-57B1-4B65-4715-B98DA1146529}"/>
              </a:ext>
            </a:extLst>
          </p:cNvPr>
          <p:cNvSpPr/>
          <p:nvPr/>
        </p:nvSpPr>
        <p:spPr>
          <a:xfrm>
            <a:off x="246262" y="1460207"/>
            <a:ext cx="533568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72FF4B96-8E40-B9F5-F65C-EAEF4D1F5085}"/>
              </a:ext>
            </a:extLst>
          </p:cNvPr>
          <p:cNvSpPr/>
          <p:nvPr/>
        </p:nvSpPr>
        <p:spPr>
          <a:xfrm>
            <a:off x="1026092" y="1460207"/>
            <a:ext cx="1026092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E3A0E100-163B-9F76-43BA-C3C025469459}"/>
              </a:ext>
            </a:extLst>
          </p:cNvPr>
          <p:cNvSpPr/>
          <p:nvPr/>
        </p:nvSpPr>
        <p:spPr>
          <a:xfrm>
            <a:off x="1026092" y="1460207"/>
            <a:ext cx="1026092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996FBAEA-F68B-BB96-9C2A-FD20752750D3}"/>
              </a:ext>
            </a:extLst>
          </p:cNvPr>
          <p:cNvSpPr/>
          <p:nvPr/>
        </p:nvSpPr>
        <p:spPr>
          <a:xfrm>
            <a:off x="2298446" y="1460207"/>
            <a:ext cx="1149223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C0536FEA-85B3-A1BF-6331-22896AEF504C}"/>
              </a:ext>
            </a:extLst>
          </p:cNvPr>
          <p:cNvSpPr/>
          <p:nvPr/>
        </p:nvSpPr>
        <p:spPr>
          <a:xfrm>
            <a:off x="2298446" y="1460207"/>
            <a:ext cx="1149223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9882D2C4-6C7B-6D10-AC56-4DA76995A1B7}"/>
              </a:ext>
            </a:extLst>
          </p:cNvPr>
          <p:cNvSpPr/>
          <p:nvPr/>
        </p:nvSpPr>
        <p:spPr>
          <a:xfrm>
            <a:off x="3693931" y="1460207"/>
            <a:ext cx="1231310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B4A73800-F766-4545-49E7-9415EA6A87DB}"/>
              </a:ext>
            </a:extLst>
          </p:cNvPr>
          <p:cNvSpPr/>
          <p:nvPr/>
        </p:nvSpPr>
        <p:spPr>
          <a:xfrm>
            <a:off x="3693931" y="1460207"/>
            <a:ext cx="1231310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331D242E-82B2-7854-6C0E-C7FEC92B81F1}"/>
              </a:ext>
            </a:extLst>
          </p:cNvPr>
          <p:cNvSpPr/>
          <p:nvPr/>
        </p:nvSpPr>
        <p:spPr>
          <a:xfrm>
            <a:off x="5171504" y="1460207"/>
            <a:ext cx="1067136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82876235-08BC-9F7A-319F-446B8D6B5377}"/>
              </a:ext>
            </a:extLst>
          </p:cNvPr>
          <p:cNvSpPr/>
          <p:nvPr/>
        </p:nvSpPr>
        <p:spPr>
          <a:xfrm>
            <a:off x="5171504" y="1460207"/>
            <a:ext cx="1067136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5A83BC69-4CC9-E4CA-2A9F-DACFD00C300A}"/>
              </a:ext>
            </a:extLst>
          </p:cNvPr>
          <p:cNvSpPr/>
          <p:nvPr/>
        </p:nvSpPr>
        <p:spPr>
          <a:xfrm>
            <a:off x="6484902" y="1460207"/>
            <a:ext cx="1313398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8974BA63-F1E5-1339-C9BD-F57F0FC45F9E}"/>
              </a:ext>
            </a:extLst>
          </p:cNvPr>
          <p:cNvSpPr/>
          <p:nvPr/>
        </p:nvSpPr>
        <p:spPr>
          <a:xfrm>
            <a:off x="6484902" y="1460207"/>
            <a:ext cx="1313398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(SDₓ)</a:t>
            </a:r>
            <a:endParaRPr lang="en-US" sz="105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50DBC60C-A4D1-C7CD-B092-A2D051CD29B3}"/>
              </a:ext>
            </a:extLst>
          </p:cNvPr>
          <p:cNvSpPr/>
          <p:nvPr/>
        </p:nvSpPr>
        <p:spPr>
          <a:xfrm>
            <a:off x="246262" y="4784745"/>
            <a:ext cx="533568" cy="591029"/>
          </a:xfrm>
          <a:prstGeom prst="roundRect">
            <a:avLst>
              <a:gd name="adj" fmla="val 13846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2A565023-0502-5750-B5FF-6022306D3630}"/>
              </a:ext>
            </a:extLst>
          </p:cNvPr>
          <p:cNvSpPr/>
          <p:nvPr/>
        </p:nvSpPr>
        <p:spPr>
          <a:xfrm>
            <a:off x="246262" y="4784745"/>
            <a:ext cx="533568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974204FC-9397-126D-C84C-D961ED4B2EB0}"/>
              </a:ext>
            </a:extLst>
          </p:cNvPr>
          <p:cNvSpPr/>
          <p:nvPr/>
        </p:nvSpPr>
        <p:spPr>
          <a:xfrm>
            <a:off x="1026092" y="4784745"/>
            <a:ext cx="1026092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554B20D7-9855-CE89-BD61-856758198669}"/>
              </a:ext>
            </a:extLst>
          </p:cNvPr>
          <p:cNvSpPr/>
          <p:nvPr/>
        </p:nvSpPr>
        <p:spPr>
          <a:xfrm>
            <a:off x="1026092" y="4784745"/>
            <a:ext cx="1026092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0046FD29-FCD5-C6DB-F53B-64C5C87CCBA0}"/>
              </a:ext>
            </a:extLst>
          </p:cNvPr>
          <p:cNvSpPr/>
          <p:nvPr/>
        </p:nvSpPr>
        <p:spPr>
          <a:xfrm>
            <a:off x="2298446" y="4784745"/>
            <a:ext cx="1149223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F1BB4DE8-3E46-DAD5-D130-C1EF27A43473}"/>
              </a:ext>
            </a:extLst>
          </p:cNvPr>
          <p:cNvSpPr/>
          <p:nvPr/>
        </p:nvSpPr>
        <p:spPr>
          <a:xfrm>
            <a:off x="2298446" y="4784745"/>
            <a:ext cx="1149223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89F08A48-2741-9E65-53CC-664604B47520}"/>
              </a:ext>
            </a:extLst>
          </p:cNvPr>
          <p:cNvSpPr/>
          <p:nvPr/>
        </p:nvSpPr>
        <p:spPr>
          <a:xfrm>
            <a:off x="3693931" y="4784745"/>
            <a:ext cx="1231310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500AA623-FF3E-51F8-E67F-984AE5C80A5D}"/>
              </a:ext>
            </a:extLst>
          </p:cNvPr>
          <p:cNvSpPr/>
          <p:nvPr/>
        </p:nvSpPr>
        <p:spPr>
          <a:xfrm>
            <a:off x="3693931" y="4784745"/>
            <a:ext cx="1231310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2B38F02C-EF35-C90B-952C-D992F794F1A8}"/>
              </a:ext>
            </a:extLst>
          </p:cNvPr>
          <p:cNvSpPr/>
          <p:nvPr/>
        </p:nvSpPr>
        <p:spPr>
          <a:xfrm>
            <a:off x="5171504" y="4784745"/>
            <a:ext cx="1067136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510E8ADF-8BCA-B410-677B-A6EF467DC9C2}"/>
              </a:ext>
            </a:extLst>
          </p:cNvPr>
          <p:cNvSpPr/>
          <p:nvPr/>
        </p:nvSpPr>
        <p:spPr>
          <a:xfrm>
            <a:off x="5171504" y="4784745"/>
            <a:ext cx="1067136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7410727E-92A6-AFB5-4735-CE79F5C4A206}"/>
              </a:ext>
            </a:extLst>
          </p:cNvPr>
          <p:cNvSpPr/>
          <p:nvPr/>
        </p:nvSpPr>
        <p:spPr>
          <a:xfrm>
            <a:off x="6484902" y="4784745"/>
            <a:ext cx="1313398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F91E6CD5-379D-DAAB-3D8F-3CF2EF2729C4}"/>
              </a:ext>
            </a:extLst>
          </p:cNvPr>
          <p:cNvSpPr/>
          <p:nvPr/>
        </p:nvSpPr>
        <p:spPr>
          <a:xfrm>
            <a:off x="6484902" y="4784745"/>
            <a:ext cx="1313398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(SDᵧ)</a:t>
            </a:r>
            <a:endParaRPr lang="en-US" sz="105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A2808196-3779-837D-D42B-3850D9041A3A}"/>
              </a:ext>
            </a:extLst>
          </p:cNvPr>
          <p:cNvSpPr/>
          <p:nvPr/>
        </p:nvSpPr>
        <p:spPr>
          <a:xfrm>
            <a:off x="1970097" y="3151206"/>
            <a:ext cx="1395485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4047AA7D-FC11-7E0F-3D9C-60782B99F044}"/>
              </a:ext>
            </a:extLst>
          </p:cNvPr>
          <p:cNvSpPr/>
          <p:nvPr/>
        </p:nvSpPr>
        <p:spPr>
          <a:xfrm>
            <a:off x="1970097" y="3151206"/>
            <a:ext cx="1395485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05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FE615523-79B2-43A3-3CAA-21CF0CD1BC13}"/>
              </a:ext>
            </a:extLst>
          </p:cNvPr>
          <p:cNvSpPr/>
          <p:nvPr/>
        </p:nvSpPr>
        <p:spPr>
          <a:xfrm>
            <a:off x="3611844" y="3151206"/>
            <a:ext cx="1231310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C3541D75-D82E-9F73-0CD8-55CCFA64A19D}"/>
              </a:ext>
            </a:extLst>
          </p:cNvPr>
          <p:cNvSpPr/>
          <p:nvPr/>
        </p:nvSpPr>
        <p:spPr>
          <a:xfrm>
            <a:off x="3611844" y="3151206"/>
            <a:ext cx="1231310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Products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(SP)</a:t>
            </a:r>
            <a:endParaRPr lang="en-US" sz="105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DB47F6CE-8550-678F-D511-AD83C53170F8}"/>
              </a:ext>
            </a:extLst>
          </p:cNvPr>
          <p:cNvSpPr/>
          <p:nvPr/>
        </p:nvSpPr>
        <p:spPr>
          <a:xfrm>
            <a:off x="5089417" y="3151206"/>
            <a:ext cx="1149223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7C0BC0C5-0001-2EB4-6D7D-4DC9421F91F7}"/>
              </a:ext>
            </a:extLst>
          </p:cNvPr>
          <p:cNvSpPr/>
          <p:nvPr/>
        </p:nvSpPr>
        <p:spPr>
          <a:xfrm>
            <a:off x="5089417" y="3151206"/>
            <a:ext cx="1149223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(COV)</a:t>
            </a:r>
            <a:endParaRPr lang="en-US" sz="115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8F4860E1-7ABA-1B54-B8C3-DC42F9DCD8D5}"/>
              </a:ext>
            </a:extLst>
          </p:cNvPr>
          <p:cNvSpPr/>
          <p:nvPr/>
        </p:nvSpPr>
        <p:spPr>
          <a:xfrm>
            <a:off x="6484902" y="3151206"/>
            <a:ext cx="1313398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8B17E30B-3A52-185A-7CD2-773374398569}"/>
              </a:ext>
            </a:extLst>
          </p:cNvPr>
          <p:cNvSpPr/>
          <p:nvPr/>
        </p:nvSpPr>
        <p:spPr>
          <a:xfrm>
            <a:off x="6484902" y="3260249"/>
            <a:ext cx="1313398" cy="37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50" dirty="0">
              <a:solidFill>
                <a:srgbClr val="1B3A4B"/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(r)</a:t>
            </a:r>
            <a:endParaRPr lang="en-US" sz="1150" dirty="0">
              <a:solidFill>
                <a:srgbClr val="1B3A4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 8">
                <a:extLst>
                  <a:ext uri="{FF2B5EF4-FFF2-40B4-BE49-F238E27FC236}">
                    <a16:creationId xmlns:a16="http://schemas.microsoft.com/office/drawing/2014/main" id="{2DC1409C-F198-4CF0-49FB-C97AA4572145}"/>
                  </a:ext>
                </a:extLst>
              </p:cNvPr>
              <p:cNvSpPr/>
              <p:nvPr/>
            </p:nvSpPr>
            <p:spPr>
              <a:xfrm>
                <a:off x="2708883" y="1003254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4" name="Text 8">
                <a:extLst>
                  <a:ext uri="{FF2B5EF4-FFF2-40B4-BE49-F238E27FC236}">
                    <a16:creationId xmlns:a16="http://schemas.microsoft.com/office/drawing/2014/main" id="{2DC1409C-F198-4CF0-49FB-C97AA45721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883" y="1003254"/>
                <a:ext cx="1805922" cy="451481"/>
              </a:xfrm>
              <a:prstGeom prst="rect">
                <a:avLst/>
              </a:prstGeom>
              <a:blipFill>
                <a:blip r:embed="rId11"/>
                <a:stretch>
                  <a:fillRect l="-7744" t="-139189" b="-17837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 8">
                <a:extLst>
                  <a:ext uri="{FF2B5EF4-FFF2-40B4-BE49-F238E27FC236}">
                    <a16:creationId xmlns:a16="http://schemas.microsoft.com/office/drawing/2014/main" id="{C4EB1E40-0041-FF8E-6BC0-1FB453A2F3CC}"/>
                  </a:ext>
                </a:extLst>
              </p:cNvPr>
              <p:cNvSpPr/>
              <p:nvPr/>
            </p:nvSpPr>
            <p:spPr>
              <a:xfrm>
                <a:off x="2790970" y="4333264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Squared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Deviations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6" name="Text 8">
                <a:extLst>
                  <a:ext uri="{FF2B5EF4-FFF2-40B4-BE49-F238E27FC236}">
                    <a16:creationId xmlns:a16="http://schemas.microsoft.com/office/drawing/2014/main" id="{C4EB1E40-0041-FF8E-6BC0-1FB453A2F3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970" y="4333264"/>
                <a:ext cx="1805922" cy="451481"/>
              </a:xfrm>
              <a:prstGeom prst="rect">
                <a:avLst/>
              </a:prstGeom>
              <a:blipFill>
                <a:blip r:embed="rId12"/>
                <a:stretch>
                  <a:fillRect l="-7770" t="-139189" b="-17837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 29">
                <a:extLst>
                  <a:ext uri="{FF2B5EF4-FFF2-40B4-BE49-F238E27FC236}">
                    <a16:creationId xmlns:a16="http://schemas.microsoft.com/office/drawing/2014/main" id="{BAB1D330-391C-42B5-0BC2-B3B8841E9333}"/>
                  </a:ext>
                </a:extLst>
              </p:cNvPr>
              <p:cNvSpPr/>
              <p:nvPr/>
            </p:nvSpPr>
            <p:spPr>
              <a:xfrm>
                <a:off x="228527" y="3257920"/>
                <a:ext cx="1805922" cy="344767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 29">
                <a:extLst>
                  <a:ext uri="{FF2B5EF4-FFF2-40B4-BE49-F238E27FC236}">
                    <a16:creationId xmlns:a16="http://schemas.microsoft.com/office/drawing/2014/main" id="{BAB1D330-391C-42B5-0BC2-B3B8841E93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27" y="3257920"/>
                <a:ext cx="1805922" cy="344767"/>
              </a:xfrm>
              <a:prstGeom prst="rect">
                <a:avLst/>
              </a:prstGeom>
              <a:blipFill>
                <a:blip r:embed="rId13"/>
                <a:stretch>
                  <a:fillRect r="-2694" b="-701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 6">
                <a:extLst>
                  <a:ext uri="{FF2B5EF4-FFF2-40B4-BE49-F238E27FC236}">
                    <a16:creationId xmlns:a16="http://schemas.microsoft.com/office/drawing/2014/main" id="{2817C28A-646D-53D7-A480-4C1F08512C83}"/>
                  </a:ext>
                </a:extLst>
              </p:cNvPr>
              <p:cNvSpPr/>
              <p:nvPr/>
            </p:nvSpPr>
            <p:spPr>
              <a:xfrm>
                <a:off x="1272354" y="951265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0" name="Text 6">
                <a:extLst>
                  <a:ext uri="{FF2B5EF4-FFF2-40B4-BE49-F238E27FC236}">
                    <a16:creationId xmlns:a16="http://schemas.microsoft.com/office/drawing/2014/main" id="{2817C28A-646D-53D7-A480-4C1F08512C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354" y="951265"/>
                <a:ext cx="1805922" cy="45148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 6">
                <a:extLst>
                  <a:ext uri="{FF2B5EF4-FFF2-40B4-BE49-F238E27FC236}">
                    <a16:creationId xmlns:a16="http://schemas.microsoft.com/office/drawing/2014/main" id="{3F387149-7D64-A5AB-83B4-22B4B489BE03}"/>
                  </a:ext>
                </a:extLst>
              </p:cNvPr>
              <p:cNvSpPr/>
              <p:nvPr/>
            </p:nvSpPr>
            <p:spPr>
              <a:xfrm>
                <a:off x="1272354" y="4289383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2" name="Text 6">
                <a:extLst>
                  <a:ext uri="{FF2B5EF4-FFF2-40B4-BE49-F238E27FC236}">
                    <a16:creationId xmlns:a16="http://schemas.microsoft.com/office/drawing/2014/main" id="{3F387149-7D64-A5AB-83B4-22B4B489BE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354" y="4289383"/>
                <a:ext cx="1805922" cy="45148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 31">
                <a:extLst>
                  <a:ext uri="{FF2B5EF4-FFF2-40B4-BE49-F238E27FC236}">
                    <a16:creationId xmlns:a16="http://schemas.microsoft.com/office/drawing/2014/main" id="{25E36AC4-5DB9-6E76-1ACD-C78A1ABBCF1E}"/>
                  </a:ext>
                </a:extLst>
              </p:cNvPr>
              <p:cNvSpPr/>
              <p:nvPr/>
            </p:nvSpPr>
            <p:spPr>
              <a:xfrm>
                <a:off x="2585752" y="2634056"/>
                <a:ext cx="1805922" cy="451481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𝑃𝑟𝑜𝑑𝑢𝑐𝑡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84" name="Text 31">
                <a:extLst>
                  <a:ext uri="{FF2B5EF4-FFF2-40B4-BE49-F238E27FC236}">
                    <a16:creationId xmlns:a16="http://schemas.microsoft.com/office/drawing/2014/main" id="{25E36AC4-5DB9-6E76-1ACD-C78A1ABBC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752" y="2634056"/>
                <a:ext cx="1805922" cy="451481"/>
              </a:xfrm>
              <a:prstGeom prst="rect">
                <a:avLst/>
              </a:prstGeom>
              <a:blipFill>
                <a:blip r:embed="rId16"/>
                <a:stretch>
                  <a:fillRect l="-9459" t="-137838" b="-17973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hape 38">
            <a:extLst>
              <a:ext uri="{FF2B5EF4-FFF2-40B4-BE49-F238E27FC236}">
                <a16:creationId xmlns:a16="http://schemas.microsoft.com/office/drawing/2014/main" id="{180E96C7-8ABA-6C4D-089D-16E2D6F2346E}"/>
              </a:ext>
            </a:extLst>
          </p:cNvPr>
          <p:cNvSpPr/>
          <p:nvPr/>
        </p:nvSpPr>
        <p:spPr>
          <a:xfrm>
            <a:off x="7798300" y="3468869"/>
            <a:ext cx="246262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46">
            <a:extLst>
              <a:ext uri="{FF2B5EF4-FFF2-40B4-BE49-F238E27FC236}">
                <a16:creationId xmlns:a16="http://schemas.microsoft.com/office/drawing/2014/main" id="{7D0ECDFA-69FE-637D-C80C-D70DF92040A2}"/>
              </a:ext>
            </a:extLst>
          </p:cNvPr>
          <p:cNvSpPr/>
          <p:nvPr/>
        </p:nvSpPr>
        <p:spPr>
          <a:xfrm>
            <a:off x="9152741" y="3468869"/>
            <a:ext cx="205218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2">
            <a:extLst>
              <a:ext uri="{FF2B5EF4-FFF2-40B4-BE49-F238E27FC236}">
                <a16:creationId xmlns:a16="http://schemas.microsoft.com/office/drawing/2014/main" id="{01A643CC-3DC9-83FE-841C-571FD0F51EA6}"/>
              </a:ext>
            </a:extLst>
          </p:cNvPr>
          <p:cNvSpPr/>
          <p:nvPr/>
        </p:nvSpPr>
        <p:spPr>
          <a:xfrm>
            <a:off x="8052770" y="3151206"/>
            <a:ext cx="1108179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8" name="Text 83">
            <a:extLst>
              <a:ext uri="{FF2B5EF4-FFF2-40B4-BE49-F238E27FC236}">
                <a16:creationId xmlns:a16="http://schemas.microsoft.com/office/drawing/2014/main" id="{8E3CA181-4DA3-88DD-AB9E-0992D5259F18}"/>
              </a:ext>
            </a:extLst>
          </p:cNvPr>
          <p:cNvSpPr/>
          <p:nvPr/>
        </p:nvSpPr>
        <p:spPr>
          <a:xfrm>
            <a:off x="8052770" y="3151206"/>
            <a:ext cx="1108179" cy="591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(bᵧ, bₓ)</a:t>
            </a:r>
            <a:endParaRPr lang="en-US" sz="1150" dirty="0"/>
          </a:p>
        </p:txBody>
      </p:sp>
      <p:sp>
        <p:nvSpPr>
          <p:cNvPr id="90" name="Shape 84">
            <a:extLst>
              <a:ext uri="{FF2B5EF4-FFF2-40B4-BE49-F238E27FC236}">
                <a16:creationId xmlns:a16="http://schemas.microsoft.com/office/drawing/2014/main" id="{6C2C62DE-E61B-CFB7-E44D-F509D0ECAB04}"/>
              </a:ext>
            </a:extLst>
          </p:cNvPr>
          <p:cNvSpPr/>
          <p:nvPr/>
        </p:nvSpPr>
        <p:spPr>
          <a:xfrm>
            <a:off x="9366168" y="3151206"/>
            <a:ext cx="1067136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1B3A4B"/>
            </a:solidFill>
            <a:prstDash val="soli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92" name="Text 85">
            <a:extLst>
              <a:ext uri="{FF2B5EF4-FFF2-40B4-BE49-F238E27FC236}">
                <a16:creationId xmlns:a16="http://schemas.microsoft.com/office/drawing/2014/main" id="{F8038A47-B0FF-42C1-9B5B-EEE42947271F}"/>
              </a:ext>
            </a:extLst>
          </p:cNvPr>
          <p:cNvSpPr/>
          <p:nvPr/>
        </p:nvSpPr>
        <p:spPr>
          <a:xfrm>
            <a:off x="9366168" y="3260249"/>
            <a:ext cx="1067136" cy="372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1150" dirty="0">
              <a:solidFill>
                <a:srgbClr val="1B3A4B"/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(aᵧ, aₓ)</a:t>
            </a:r>
            <a:endParaRPr lang="en-US" sz="1150" dirty="0">
              <a:solidFill>
                <a:srgbClr val="1B3A4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 47">
                <a:extLst>
                  <a:ext uri="{FF2B5EF4-FFF2-40B4-BE49-F238E27FC236}">
                    <a16:creationId xmlns:a16="http://schemas.microsoft.com/office/drawing/2014/main" id="{8A9CB49B-A0D8-5F05-8C59-3C39C15EEA3A}"/>
                  </a:ext>
                </a:extLst>
              </p:cNvPr>
              <p:cNvSpPr/>
              <p:nvPr/>
            </p:nvSpPr>
            <p:spPr>
              <a:xfrm>
                <a:off x="8463207" y="2480738"/>
                <a:ext cx="1805922" cy="615655"/>
              </a:xfrm>
              <a:prstGeom prst="rect">
                <a:avLst/>
              </a:prstGeom>
              <a:noFill/>
              <a:ln/>
            </p:spPr>
            <p:txBody>
              <a:bodyPr wrap="non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sz="1600" i="1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̄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6" name="Text 47">
                <a:extLst>
                  <a:ext uri="{FF2B5EF4-FFF2-40B4-BE49-F238E27FC236}">
                    <a16:creationId xmlns:a16="http://schemas.microsoft.com/office/drawing/2014/main" id="{8A9CB49B-A0D8-5F05-8C59-3C39C15EEA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3207" y="2480738"/>
                <a:ext cx="1805922" cy="61565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 47">
                <a:extLst>
                  <a:ext uri="{FF2B5EF4-FFF2-40B4-BE49-F238E27FC236}">
                    <a16:creationId xmlns:a16="http://schemas.microsoft.com/office/drawing/2014/main" id="{78CE3ABF-6D6F-21AE-7AFE-B676FC60418B}"/>
                  </a:ext>
                </a:extLst>
              </p:cNvPr>
              <p:cNvSpPr/>
              <p:nvPr/>
            </p:nvSpPr>
            <p:spPr>
              <a:xfrm>
                <a:off x="8463207" y="3775731"/>
                <a:ext cx="1805922" cy="615655"/>
              </a:xfrm>
              <a:prstGeom prst="rect">
                <a:avLst/>
              </a:prstGeom>
              <a:noFill/>
              <a:ln/>
            </p:spPr>
            <p:txBody>
              <a:bodyPr wrap="non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sz="1600" i="1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̄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8" name="Text 47">
                <a:extLst>
                  <a:ext uri="{FF2B5EF4-FFF2-40B4-BE49-F238E27FC236}">
                    <a16:creationId xmlns:a16="http://schemas.microsoft.com/office/drawing/2014/main" id="{78CE3ABF-6D6F-21AE-7AFE-B676FC6041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3207" y="3775731"/>
                <a:ext cx="1805922" cy="61565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39">
                <a:extLst>
                  <a:ext uri="{FF2B5EF4-FFF2-40B4-BE49-F238E27FC236}">
                    <a16:creationId xmlns:a16="http://schemas.microsoft.com/office/drawing/2014/main" id="{B2034D56-2F8B-7AD0-05A6-125046D3EC7C}"/>
                  </a:ext>
                </a:extLst>
              </p:cNvPr>
              <p:cNvSpPr/>
              <p:nvPr/>
            </p:nvSpPr>
            <p:spPr>
              <a:xfrm>
                <a:off x="6936382" y="3752070"/>
                <a:ext cx="1805922" cy="615655"/>
              </a:xfrm>
              <a:prstGeom prst="rect">
                <a:avLst/>
              </a:prstGeom>
              <a:noFill/>
              <a:ln/>
            </p:spPr>
            <p:txBody>
              <a:bodyPr wrap="non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×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 39">
                <a:extLst>
                  <a:ext uri="{FF2B5EF4-FFF2-40B4-BE49-F238E27FC236}">
                    <a16:creationId xmlns:a16="http://schemas.microsoft.com/office/drawing/2014/main" id="{B2034D56-2F8B-7AD0-05A6-125046D3EC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382" y="3752070"/>
                <a:ext cx="1805922" cy="615655"/>
              </a:xfrm>
              <a:prstGeom prst="rect">
                <a:avLst/>
              </a:prstGeom>
              <a:blipFill>
                <a:blip r:embed="rId19"/>
                <a:stretch>
                  <a:fillRect b="-1386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39">
                <a:extLst>
                  <a:ext uri="{FF2B5EF4-FFF2-40B4-BE49-F238E27FC236}">
                    <a16:creationId xmlns:a16="http://schemas.microsoft.com/office/drawing/2014/main" id="{F10B11A7-BC87-DA33-DE26-9BB849138948}"/>
                  </a:ext>
                </a:extLst>
              </p:cNvPr>
              <p:cNvSpPr/>
              <p:nvPr/>
            </p:nvSpPr>
            <p:spPr>
              <a:xfrm>
                <a:off x="6895339" y="2368949"/>
                <a:ext cx="1805922" cy="615655"/>
              </a:xfrm>
              <a:prstGeom prst="rect">
                <a:avLst/>
              </a:prstGeom>
              <a:noFill/>
              <a:ln/>
            </p:spPr>
            <p:txBody>
              <a:bodyPr wrap="non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×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 39">
                <a:extLst>
                  <a:ext uri="{FF2B5EF4-FFF2-40B4-BE49-F238E27FC236}">
                    <a16:creationId xmlns:a16="http://schemas.microsoft.com/office/drawing/2014/main" id="{F10B11A7-BC87-DA33-DE26-9BB8491389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339" y="2368949"/>
                <a:ext cx="1805922" cy="615655"/>
              </a:xfrm>
              <a:prstGeom prst="rect">
                <a:avLst/>
              </a:prstGeom>
              <a:blipFill>
                <a:blip r:embed="rId20"/>
                <a:stretch>
                  <a:fillRect b="-990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46">
            <a:extLst>
              <a:ext uri="{FF2B5EF4-FFF2-40B4-BE49-F238E27FC236}">
                <a16:creationId xmlns:a16="http://schemas.microsoft.com/office/drawing/2014/main" id="{B4A1B684-DD09-0561-92F0-10A564C1E855}"/>
              </a:ext>
            </a:extLst>
          </p:cNvPr>
          <p:cNvSpPr/>
          <p:nvPr/>
        </p:nvSpPr>
        <p:spPr>
          <a:xfrm>
            <a:off x="10441513" y="3471899"/>
            <a:ext cx="205218" cy="8209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84">
            <a:extLst>
              <a:ext uri="{FF2B5EF4-FFF2-40B4-BE49-F238E27FC236}">
                <a16:creationId xmlns:a16="http://schemas.microsoft.com/office/drawing/2014/main" id="{023D4E25-B35A-2E28-EF79-3CCE01B11E0A}"/>
              </a:ext>
            </a:extLst>
          </p:cNvPr>
          <p:cNvSpPr/>
          <p:nvPr/>
        </p:nvSpPr>
        <p:spPr>
          <a:xfrm>
            <a:off x="10654940" y="3154236"/>
            <a:ext cx="1067136" cy="591029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25400">
            <a:solidFill>
              <a:srgbClr val="1B3A4B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2" name="Text 85">
            <a:extLst>
              <a:ext uri="{FF2B5EF4-FFF2-40B4-BE49-F238E27FC236}">
                <a16:creationId xmlns:a16="http://schemas.microsoft.com/office/drawing/2014/main" id="{D66F2479-5B73-42D2-AF0B-A2DB16977443}"/>
              </a:ext>
            </a:extLst>
          </p:cNvPr>
          <p:cNvSpPr/>
          <p:nvPr/>
        </p:nvSpPr>
        <p:spPr>
          <a:xfrm>
            <a:off x="10638523" y="3143764"/>
            <a:ext cx="1067136" cy="601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 of Regression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50" b="1" dirty="0" err="1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</a:t>
            </a:r>
            <a:r>
              <a:rPr lang="en-US" sz="1150" b="1" baseline="-25000" dirty="0" err="1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en-US" sz="1150" b="1" baseline="-25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</a:t>
            </a: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b="1" dirty="0" err="1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</a:t>
            </a:r>
            <a:r>
              <a:rPr lang="en-US" sz="1150" b="1" baseline="-25000" dirty="0" err="1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150" b="1" baseline="-25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</a:t>
            </a: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>
              <a:solidFill>
                <a:srgbClr val="1B3A4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 47">
                <a:extLst>
                  <a:ext uri="{FF2B5EF4-FFF2-40B4-BE49-F238E27FC236}">
                    <a16:creationId xmlns:a16="http://schemas.microsoft.com/office/drawing/2014/main" id="{01C464F7-486B-2462-21B2-966EDFD2EEEB}"/>
                  </a:ext>
                </a:extLst>
              </p:cNvPr>
              <p:cNvSpPr/>
              <p:nvPr/>
            </p:nvSpPr>
            <p:spPr>
              <a:xfrm>
                <a:off x="9851004" y="2469882"/>
                <a:ext cx="1805922" cy="615655"/>
              </a:xfrm>
              <a:prstGeom prst="rect">
                <a:avLst/>
              </a:prstGeom>
              <a:noFill/>
              <a:ln/>
            </p:spPr>
            <p:txBody>
              <a:bodyPr wrap="non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77" name="Text 47">
                <a:extLst>
                  <a:ext uri="{FF2B5EF4-FFF2-40B4-BE49-F238E27FC236}">
                    <a16:creationId xmlns:a16="http://schemas.microsoft.com/office/drawing/2014/main" id="{01C464F7-486B-2462-21B2-966EDFD2EE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1004" y="2469882"/>
                <a:ext cx="1805922" cy="61565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 47">
                <a:extLst>
                  <a:ext uri="{FF2B5EF4-FFF2-40B4-BE49-F238E27FC236}">
                    <a16:creationId xmlns:a16="http://schemas.microsoft.com/office/drawing/2014/main" id="{6CF97D8D-1666-65FE-5BB0-76989BA5BA57}"/>
                  </a:ext>
                </a:extLst>
              </p:cNvPr>
              <p:cNvSpPr/>
              <p:nvPr/>
            </p:nvSpPr>
            <p:spPr>
              <a:xfrm>
                <a:off x="9851004" y="3756907"/>
                <a:ext cx="1805922" cy="615655"/>
              </a:xfrm>
              <a:prstGeom prst="rect">
                <a:avLst/>
              </a:prstGeom>
              <a:noFill/>
              <a:ln/>
            </p:spPr>
            <p:txBody>
              <a:bodyPr wrap="none" rtlCol="0" anchor="ctr"/>
              <a:lstStyle/>
              <a:p>
                <a:pPr marL="0" indent="0" algn="ctr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1" name="Text 47">
                <a:extLst>
                  <a:ext uri="{FF2B5EF4-FFF2-40B4-BE49-F238E27FC236}">
                    <a16:creationId xmlns:a16="http://schemas.microsoft.com/office/drawing/2014/main" id="{6CF97D8D-1666-65FE-5BB0-76989BA5BA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1004" y="3756907"/>
                <a:ext cx="1805922" cy="61565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8328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1" grpId="0" animBg="1"/>
      <p:bldP spid="72" grpId="0" animBg="1"/>
      <p:bldP spid="77" grpId="0" animBg="1"/>
      <p:bldP spid="8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269830"/>
            <a:ext cx="6468542" cy="65881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Regression Conceptually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Computing Regression Lines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Standard Error of the Regression Line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Explained Variability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Formal Report</a:t>
            </a:r>
          </a:p>
        </p:txBody>
      </p:sp>
    </p:spTree>
    <p:extLst>
      <p:ext uri="{BB962C8B-B14F-4D97-AF65-F5344CB8AC3E}">
        <p14:creationId xmlns:p14="http://schemas.microsoft.com/office/powerpoint/2010/main" val="36922305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98C72-F872-864E-B3AF-4EE12E6B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Variability Explained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B070D16A-EDF9-0A49-BB4C-DBE025A4B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12063"/>
              </p:ext>
            </p:extLst>
          </p:nvPr>
        </p:nvGraphicFramePr>
        <p:xfrm>
          <a:off x="838200" y="1508879"/>
          <a:ext cx="10983687" cy="4983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1229">
                  <a:extLst>
                    <a:ext uri="{9D8B030D-6E8A-4147-A177-3AD203B41FA5}">
                      <a16:colId xmlns:a16="http://schemas.microsoft.com/office/drawing/2014/main" val="3570557480"/>
                    </a:ext>
                  </a:extLst>
                </a:gridCol>
                <a:gridCol w="3661229">
                  <a:extLst>
                    <a:ext uri="{9D8B030D-6E8A-4147-A177-3AD203B41FA5}">
                      <a16:colId xmlns:a16="http://schemas.microsoft.com/office/drawing/2014/main" val="3765140243"/>
                    </a:ext>
                  </a:extLst>
                </a:gridCol>
                <a:gridCol w="3661229">
                  <a:extLst>
                    <a:ext uri="{9D8B030D-6E8A-4147-A177-3AD203B41FA5}">
                      <a16:colId xmlns:a16="http://schemas.microsoft.com/office/drawing/2014/main" val="1438898660"/>
                    </a:ext>
                  </a:extLst>
                </a:gridCol>
              </a:tblGrid>
              <a:tr h="1661332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Variability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Explained Variability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Unexplained Variability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72878"/>
                  </a:ext>
                </a:extLst>
              </a:tr>
              <a:tr h="1661332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3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3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3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3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430635"/>
                  </a:ext>
                </a:extLst>
              </a:tr>
              <a:tr h="1661332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3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Y-Ȳ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3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Y’-Ȳ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3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Y-Y’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4603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05D36F2-9E2C-C74F-BD4D-04A4F6C5BDE6}"/>
              </a:ext>
            </a:extLst>
          </p:cNvPr>
          <p:cNvSpPr/>
          <p:nvPr/>
        </p:nvSpPr>
        <p:spPr>
          <a:xfrm>
            <a:off x="1484243" y="5035826"/>
            <a:ext cx="9501809" cy="12324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139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6E403-8639-3E54-1B51-14C51BE37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9AB76-DE95-D3F4-15C5-EB7596D2D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Variability Explained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5A9500B8-A4D5-EB5C-225B-1BC49521D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094350"/>
              </p:ext>
            </p:extLst>
          </p:nvPr>
        </p:nvGraphicFramePr>
        <p:xfrm>
          <a:off x="838200" y="1508879"/>
          <a:ext cx="10983687" cy="4983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1229">
                  <a:extLst>
                    <a:ext uri="{9D8B030D-6E8A-4147-A177-3AD203B41FA5}">
                      <a16:colId xmlns:a16="http://schemas.microsoft.com/office/drawing/2014/main" val="3570557480"/>
                    </a:ext>
                  </a:extLst>
                </a:gridCol>
                <a:gridCol w="3661229">
                  <a:extLst>
                    <a:ext uri="{9D8B030D-6E8A-4147-A177-3AD203B41FA5}">
                      <a16:colId xmlns:a16="http://schemas.microsoft.com/office/drawing/2014/main" val="3765140243"/>
                    </a:ext>
                  </a:extLst>
                </a:gridCol>
                <a:gridCol w="3661229">
                  <a:extLst>
                    <a:ext uri="{9D8B030D-6E8A-4147-A177-3AD203B41FA5}">
                      <a16:colId xmlns:a16="http://schemas.microsoft.com/office/drawing/2014/main" val="1438898660"/>
                    </a:ext>
                  </a:extLst>
                </a:gridCol>
              </a:tblGrid>
              <a:tr h="1661332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Variability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Explained Variability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Unexplained Variability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72878"/>
                  </a:ext>
                </a:extLst>
              </a:tr>
              <a:tr h="1661332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3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36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3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36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430635"/>
                  </a:ext>
                </a:extLst>
              </a:tr>
              <a:tr h="1661332">
                <a:tc>
                  <a:txBody>
                    <a:bodyPr/>
                    <a:lstStyle/>
                    <a:p>
                      <a:pPr algn="ctr"/>
                      <a:r>
                        <a:rPr lang="en-US" sz="3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Y-Ȳ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Y’-Ȳ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Y-Y’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46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34073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98C72-F872-864E-B3AF-4EE12E6B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Variability Explained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0F0D2224-A9D8-4745-921E-F49B62830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11186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Total Variability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Y-Ȳ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Explained Variability</a:t>
            </a:r>
            <a:r>
              <a:rPr lang="en-US" dirty="0"/>
              <a:t>: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Y’-Ȳ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Unexplained Variability</a:t>
            </a:r>
            <a:r>
              <a:rPr lang="en-US" dirty="0"/>
              <a:t>: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Y-Y’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E3EC40C-44DD-B84C-BE5F-79298B47DDF8}"/>
              </a:ext>
            </a:extLst>
          </p:cNvPr>
          <p:cNvGrpSpPr/>
          <p:nvPr/>
        </p:nvGrpSpPr>
        <p:grpSpPr>
          <a:xfrm>
            <a:off x="6268508" y="1381321"/>
            <a:ext cx="5668105" cy="4921887"/>
            <a:chOff x="6268508" y="1381321"/>
            <a:chExt cx="5668105" cy="492188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D1E9926-27F0-7547-93C1-35C30727348D}"/>
                </a:ext>
              </a:extLst>
            </p:cNvPr>
            <p:cNvGrpSpPr/>
            <p:nvPr/>
          </p:nvGrpSpPr>
          <p:grpSpPr>
            <a:xfrm>
              <a:off x="6268508" y="1381321"/>
              <a:ext cx="5668105" cy="4921887"/>
              <a:chOff x="6605966" y="1544606"/>
              <a:chExt cx="5668105" cy="492188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CE2CE8EE-E5A1-1D42-A70D-A1E21615505A}"/>
                  </a:ext>
                </a:extLst>
              </p:cNvPr>
              <p:cNvGrpSpPr/>
              <p:nvPr/>
            </p:nvGrpSpPr>
            <p:grpSpPr>
              <a:xfrm>
                <a:off x="6605966" y="1544606"/>
                <a:ext cx="5668105" cy="4921887"/>
                <a:chOff x="6562286" y="1941605"/>
                <a:chExt cx="5180750" cy="4564023"/>
              </a:xfrm>
            </p:grpSpPr>
            <p:pic>
              <p:nvPicPr>
                <p:cNvPr id="22" name="Picture 21" descr="Chart, scatter chart&#10;&#10;Description automatically generated">
                  <a:extLst>
                    <a:ext uri="{FF2B5EF4-FFF2-40B4-BE49-F238E27FC236}">
                      <a16:creationId xmlns:a16="http://schemas.microsoft.com/office/drawing/2014/main" id="{F459F79E-DA24-074A-9DE7-C2082CC698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10915" b="10995"/>
                <a:stretch/>
              </p:blipFill>
              <p:spPr>
                <a:xfrm>
                  <a:off x="6805710" y="1941605"/>
                  <a:ext cx="4937326" cy="4317005"/>
                </a:xfrm>
                <a:prstGeom prst="rect">
                  <a:avLst/>
                </a:prstGeom>
              </p:spPr>
            </p:pic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1268308-5CB1-E44A-9A25-902FC763F340}"/>
                    </a:ext>
                  </a:extLst>
                </p:cNvPr>
                <p:cNvSpPr txBox="1"/>
                <p:nvPr/>
              </p:nvSpPr>
              <p:spPr>
                <a:xfrm>
                  <a:off x="8657303" y="6105518"/>
                  <a:ext cx="197041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Hours Exercising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5967EE0-F804-4341-B3FF-37E0CC474D35}"/>
                    </a:ext>
                  </a:extLst>
                </p:cNvPr>
                <p:cNvSpPr txBox="1"/>
                <p:nvPr/>
              </p:nvSpPr>
              <p:spPr>
                <a:xfrm rot="16200000">
                  <a:off x="5887582" y="3491578"/>
                  <a:ext cx="174951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Wellness Score</a:t>
                  </a:r>
                </a:p>
              </p:txBody>
            </p:sp>
          </p:grp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B776C546-970D-304A-A519-0E3C2F91A6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59344" y="2314290"/>
                <a:ext cx="3745744" cy="1874994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8C0802D-4A18-3D44-8E47-50CAFE6FFB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57008" y="3238958"/>
              <a:ext cx="4396067" cy="0"/>
            </a:xfrm>
            <a:prstGeom prst="line">
              <a:avLst/>
            </a:prstGeom>
            <a:ln w="158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4A1C44E-1D82-754E-9737-D1362D98EF54}"/>
                </a:ext>
              </a:extLst>
            </p:cNvPr>
            <p:cNvSpPr/>
            <p:nvPr/>
          </p:nvSpPr>
          <p:spPr>
            <a:xfrm>
              <a:off x="11167630" y="1819653"/>
              <a:ext cx="42672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Y’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8271A76-1367-324F-856A-190B41950AD0}"/>
                </a:ext>
              </a:extLst>
            </p:cNvPr>
            <p:cNvSpPr/>
            <p:nvPr/>
          </p:nvSpPr>
          <p:spPr>
            <a:xfrm>
              <a:off x="11428901" y="3039924"/>
              <a:ext cx="32733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Ȳ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47A65D3-0546-DA4C-B830-CC3557266E4F}"/>
                </a:ext>
              </a:extLst>
            </p:cNvPr>
            <p:cNvCxnSpPr>
              <a:cxnSpLocks/>
            </p:cNvCxnSpPr>
            <p:nvPr/>
          </p:nvCxnSpPr>
          <p:spPr>
            <a:xfrm>
              <a:off x="7421886" y="3238958"/>
              <a:ext cx="0" cy="1105312"/>
            </a:xfrm>
            <a:prstGeom prst="line">
              <a:avLst/>
            </a:prstGeom>
            <a:ln w="158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3DAB390-1CBA-7847-9C1B-070C1FA6B46E}"/>
                </a:ext>
              </a:extLst>
            </p:cNvPr>
            <p:cNvCxnSpPr>
              <a:cxnSpLocks/>
            </p:cNvCxnSpPr>
            <p:nvPr/>
          </p:nvCxnSpPr>
          <p:spPr>
            <a:xfrm>
              <a:off x="7802886" y="3238958"/>
              <a:ext cx="0" cy="320671"/>
            </a:xfrm>
            <a:prstGeom prst="line">
              <a:avLst/>
            </a:prstGeom>
            <a:ln w="158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A47DCF7-3F65-C644-886D-7841B0324E48}"/>
                </a:ext>
              </a:extLst>
            </p:cNvPr>
            <p:cNvCxnSpPr>
              <a:cxnSpLocks/>
            </p:cNvCxnSpPr>
            <p:nvPr/>
          </p:nvCxnSpPr>
          <p:spPr>
            <a:xfrm>
              <a:off x="8183886" y="3259014"/>
              <a:ext cx="0" cy="681615"/>
            </a:xfrm>
            <a:prstGeom prst="line">
              <a:avLst/>
            </a:prstGeom>
            <a:ln w="158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3794C4B-C94C-9B44-BB73-E18C64966446}"/>
                </a:ext>
              </a:extLst>
            </p:cNvPr>
            <p:cNvCxnSpPr>
              <a:cxnSpLocks/>
            </p:cNvCxnSpPr>
            <p:nvPr/>
          </p:nvCxnSpPr>
          <p:spPr>
            <a:xfrm>
              <a:off x="8558433" y="2545083"/>
              <a:ext cx="0" cy="713931"/>
            </a:xfrm>
            <a:prstGeom prst="line">
              <a:avLst/>
            </a:prstGeom>
            <a:ln w="158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5F2F4B2-BB16-3E45-9D4E-7512920E34D6}"/>
                </a:ext>
              </a:extLst>
            </p:cNvPr>
            <p:cNvCxnSpPr>
              <a:cxnSpLocks/>
            </p:cNvCxnSpPr>
            <p:nvPr/>
          </p:nvCxnSpPr>
          <p:spPr>
            <a:xfrm>
              <a:off x="9305115" y="2559059"/>
              <a:ext cx="0" cy="679899"/>
            </a:xfrm>
            <a:prstGeom prst="line">
              <a:avLst/>
            </a:prstGeom>
            <a:ln w="158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60A60E8-F1DD-DE48-87CD-42216DFA92CD}"/>
                </a:ext>
              </a:extLst>
            </p:cNvPr>
            <p:cNvCxnSpPr>
              <a:cxnSpLocks/>
            </p:cNvCxnSpPr>
            <p:nvPr/>
          </p:nvCxnSpPr>
          <p:spPr>
            <a:xfrm>
              <a:off x="9305115" y="3259014"/>
              <a:ext cx="0" cy="300615"/>
            </a:xfrm>
            <a:prstGeom prst="line">
              <a:avLst/>
            </a:prstGeom>
            <a:ln w="158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EFAECE9-EDE8-694E-A2B9-05232F2710D9}"/>
                </a:ext>
              </a:extLst>
            </p:cNvPr>
            <p:cNvCxnSpPr>
              <a:cxnSpLocks/>
            </p:cNvCxnSpPr>
            <p:nvPr/>
          </p:nvCxnSpPr>
          <p:spPr>
            <a:xfrm>
              <a:off x="11187231" y="2154447"/>
              <a:ext cx="0" cy="1084511"/>
            </a:xfrm>
            <a:prstGeom prst="line">
              <a:avLst/>
            </a:prstGeom>
            <a:ln w="158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434695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98C72-F872-864E-B3AF-4EE12E6B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Variability Explained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0F0D2224-A9D8-4745-921E-F49B62830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11186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Total Variability</a:t>
            </a:r>
            <a:r>
              <a:rPr lang="en-US" dirty="0"/>
              <a:t>: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Y-Ȳ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Explained Variability</a:t>
            </a:r>
            <a:r>
              <a:rPr lang="en-US" dirty="0"/>
              <a:t>: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Y’-Ȳ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FF0000"/>
                </a:solidFill>
              </a:rPr>
              <a:t>Unexplained Variability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Y-Y’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5A37D07-BD28-4A45-BE93-177E01A17170}"/>
              </a:ext>
            </a:extLst>
          </p:cNvPr>
          <p:cNvGrpSpPr/>
          <p:nvPr/>
        </p:nvGrpSpPr>
        <p:grpSpPr>
          <a:xfrm>
            <a:off x="6268508" y="1381321"/>
            <a:ext cx="5668105" cy="4921887"/>
            <a:chOff x="6268508" y="1381321"/>
            <a:chExt cx="5668105" cy="492188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B6342E1-6966-D240-ABED-31F00130022E}"/>
                </a:ext>
              </a:extLst>
            </p:cNvPr>
            <p:cNvGrpSpPr/>
            <p:nvPr/>
          </p:nvGrpSpPr>
          <p:grpSpPr>
            <a:xfrm>
              <a:off x="6268508" y="1381321"/>
              <a:ext cx="5668105" cy="4921887"/>
              <a:chOff x="3089880" y="1479292"/>
              <a:chExt cx="5668105" cy="4921887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4D1E9926-27F0-7547-93C1-35C30727348D}"/>
                  </a:ext>
                </a:extLst>
              </p:cNvPr>
              <p:cNvGrpSpPr/>
              <p:nvPr/>
            </p:nvGrpSpPr>
            <p:grpSpPr>
              <a:xfrm>
                <a:off x="3089880" y="1479292"/>
                <a:ext cx="5668105" cy="4921887"/>
                <a:chOff x="6605966" y="1544606"/>
                <a:chExt cx="5668105" cy="4921887"/>
              </a:xfrm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CE2CE8EE-E5A1-1D42-A70D-A1E21615505A}"/>
                    </a:ext>
                  </a:extLst>
                </p:cNvPr>
                <p:cNvGrpSpPr/>
                <p:nvPr/>
              </p:nvGrpSpPr>
              <p:grpSpPr>
                <a:xfrm>
                  <a:off x="6605966" y="1544606"/>
                  <a:ext cx="5668105" cy="4921887"/>
                  <a:chOff x="6562286" y="1941605"/>
                  <a:chExt cx="5180750" cy="4564023"/>
                </a:xfrm>
              </p:grpSpPr>
              <p:pic>
                <p:nvPicPr>
                  <p:cNvPr id="22" name="Picture 21" descr="Chart, scatter chart&#10;&#10;Description automatically generated">
                    <a:extLst>
                      <a:ext uri="{FF2B5EF4-FFF2-40B4-BE49-F238E27FC236}">
                        <a16:creationId xmlns:a16="http://schemas.microsoft.com/office/drawing/2014/main" id="{F459F79E-DA24-074A-9DE7-C2082CC698D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10915" b="10995"/>
                  <a:stretch/>
                </p:blipFill>
                <p:spPr>
                  <a:xfrm>
                    <a:off x="6805710" y="1941605"/>
                    <a:ext cx="4937326" cy="4317005"/>
                  </a:xfrm>
                  <a:prstGeom prst="rect">
                    <a:avLst/>
                  </a:prstGeom>
                </p:spPr>
              </p:pic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D1268308-5CB1-E44A-9A25-902FC763F340}"/>
                      </a:ext>
                    </a:extLst>
                  </p:cNvPr>
                  <p:cNvSpPr txBox="1"/>
                  <p:nvPr/>
                </p:nvSpPr>
                <p:spPr>
                  <a:xfrm>
                    <a:off x="8657303" y="6105518"/>
                    <a:ext cx="1970411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Hours Exercising</a:t>
                    </a: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55967EE0-F804-4341-B3FF-37E0CC474D35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5887582" y="3491578"/>
                    <a:ext cx="1749518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Wellness Score</a:t>
                    </a:r>
                  </a:p>
                </p:txBody>
              </p:sp>
            </p:grpSp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B776C546-970D-304A-A519-0E3C2F91A6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59344" y="2314290"/>
                  <a:ext cx="3745744" cy="1874994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76630B45-8AC2-5041-AB2B-B2F1399BB9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59344" y="4189285"/>
                  <a:ext cx="0" cy="308054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1FB7CCF2-57E1-3943-AD2F-3C9422CBB1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45074" y="3830882"/>
                  <a:ext cx="0" cy="160947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F07E673B-0A0E-AC42-AB92-7EA763A9DD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62" y="2708378"/>
                  <a:ext cx="0" cy="892466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A7FE89FD-8599-B84C-8591-91C3685D46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652257" y="2708378"/>
                  <a:ext cx="0" cy="533012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4B4F1B3B-7C20-464F-8B3A-418195D9A8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652257" y="3241390"/>
                  <a:ext cx="0" cy="476746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165C0BC1-3B70-D842-B377-6DF904083B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030630" y="3058510"/>
                  <a:ext cx="0" cy="279538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811438F2-2F9F-5949-9EB4-382534357F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04057" y="3765568"/>
                <a:ext cx="0" cy="246708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8C0802D-4A18-3D44-8E47-50CAFE6FFB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57008" y="3238958"/>
              <a:ext cx="4396067" cy="0"/>
            </a:xfrm>
            <a:prstGeom prst="line">
              <a:avLst/>
            </a:prstGeom>
            <a:ln w="158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4A1C44E-1D82-754E-9737-D1362D98EF54}"/>
                </a:ext>
              </a:extLst>
            </p:cNvPr>
            <p:cNvSpPr/>
            <p:nvPr/>
          </p:nvSpPr>
          <p:spPr>
            <a:xfrm>
              <a:off x="11167630" y="1819653"/>
              <a:ext cx="42672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Y’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8271A76-1367-324F-856A-190B41950AD0}"/>
                </a:ext>
              </a:extLst>
            </p:cNvPr>
            <p:cNvSpPr/>
            <p:nvPr/>
          </p:nvSpPr>
          <p:spPr>
            <a:xfrm>
              <a:off x="11428901" y="3039924"/>
              <a:ext cx="327334" cy="40011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Ȳ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09033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98C72-F872-864E-B3AF-4EE12E6B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Variability Explained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0F0D2224-A9D8-4745-921E-F49B62830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11186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Total Variability</a:t>
            </a:r>
            <a:r>
              <a:rPr lang="en-US" dirty="0"/>
              <a:t>: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Y-Ȳ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FF0000"/>
                </a:solidFill>
              </a:rPr>
              <a:t>Explained Variability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Y’-Ȳ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Unexplained Variability</a:t>
            </a:r>
            <a:r>
              <a:rPr lang="en-US" dirty="0"/>
              <a:t>: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Y-Y’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AE98CBE-A40B-234C-ABB4-9AF76EB21417}"/>
              </a:ext>
            </a:extLst>
          </p:cNvPr>
          <p:cNvGrpSpPr/>
          <p:nvPr/>
        </p:nvGrpSpPr>
        <p:grpSpPr>
          <a:xfrm>
            <a:off x="6268508" y="1381322"/>
            <a:ext cx="5668105" cy="4921886"/>
            <a:chOff x="6268508" y="1381322"/>
            <a:chExt cx="5668105" cy="492188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B6342E1-6966-D240-ABED-31F00130022E}"/>
                </a:ext>
              </a:extLst>
            </p:cNvPr>
            <p:cNvGrpSpPr/>
            <p:nvPr/>
          </p:nvGrpSpPr>
          <p:grpSpPr>
            <a:xfrm>
              <a:off x="6268508" y="1381322"/>
              <a:ext cx="5668105" cy="4921886"/>
              <a:chOff x="3089880" y="1479293"/>
              <a:chExt cx="5668105" cy="4921886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4D1E9926-27F0-7547-93C1-35C30727348D}"/>
                  </a:ext>
                </a:extLst>
              </p:cNvPr>
              <p:cNvGrpSpPr/>
              <p:nvPr/>
            </p:nvGrpSpPr>
            <p:grpSpPr>
              <a:xfrm>
                <a:off x="3089880" y="1479293"/>
                <a:ext cx="5668105" cy="4921886"/>
                <a:chOff x="6605966" y="1544607"/>
                <a:chExt cx="5668105" cy="4921886"/>
              </a:xfrm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CE2CE8EE-E5A1-1D42-A70D-A1E21615505A}"/>
                    </a:ext>
                  </a:extLst>
                </p:cNvPr>
                <p:cNvGrpSpPr/>
                <p:nvPr/>
              </p:nvGrpSpPr>
              <p:grpSpPr>
                <a:xfrm>
                  <a:off x="6605966" y="1544607"/>
                  <a:ext cx="5668105" cy="4921886"/>
                  <a:chOff x="6562286" y="1941606"/>
                  <a:chExt cx="5180750" cy="4564022"/>
                </a:xfrm>
              </p:grpSpPr>
              <p:pic>
                <p:nvPicPr>
                  <p:cNvPr id="22" name="Picture 21" descr="Chart, scatter chart&#10;&#10;Description automatically generated">
                    <a:extLst>
                      <a:ext uri="{FF2B5EF4-FFF2-40B4-BE49-F238E27FC236}">
                        <a16:creationId xmlns:a16="http://schemas.microsoft.com/office/drawing/2014/main" id="{F459F79E-DA24-074A-9DE7-C2082CC698D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10915" b="10995"/>
                  <a:stretch/>
                </p:blipFill>
                <p:spPr>
                  <a:xfrm>
                    <a:off x="6805710" y="1941606"/>
                    <a:ext cx="4937326" cy="4317005"/>
                  </a:xfrm>
                  <a:prstGeom prst="rect">
                    <a:avLst/>
                  </a:prstGeom>
                </p:spPr>
              </p:pic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D1268308-5CB1-E44A-9A25-902FC763F340}"/>
                      </a:ext>
                    </a:extLst>
                  </p:cNvPr>
                  <p:cNvSpPr txBox="1"/>
                  <p:nvPr/>
                </p:nvSpPr>
                <p:spPr>
                  <a:xfrm>
                    <a:off x="8657303" y="6105518"/>
                    <a:ext cx="1970411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Hours Exercising</a:t>
                    </a: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55967EE0-F804-4341-B3FF-37E0CC474D35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5887582" y="3491578"/>
                    <a:ext cx="1749518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Wellness Score</a:t>
                    </a:r>
                  </a:p>
                </p:txBody>
              </p:sp>
            </p:grpSp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B776C546-970D-304A-A519-0E3C2F91A6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59344" y="2314290"/>
                  <a:ext cx="3745744" cy="1874994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811438F2-2F9F-5949-9EB4-382534357F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20942" y="2259863"/>
                <a:ext cx="0" cy="1063133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8C0802D-4A18-3D44-8E47-50CAFE6FFB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57008" y="3238958"/>
              <a:ext cx="4396067" cy="0"/>
            </a:xfrm>
            <a:prstGeom prst="line">
              <a:avLst/>
            </a:prstGeom>
            <a:ln w="158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4A1C44E-1D82-754E-9737-D1362D98EF54}"/>
                </a:ext>
              </a:extLst>
            </p:cNvPr>
            <p:cNvSpPr/>
            <p:nvPr/>
          </p:nvSpPr>
          <p:spPr>
            <a:xfrm>
              <a:off x="11167630" y="1819653"/>
              <a:ext cx="42672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Y’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8271A76-1367-324F-856A-190B41950AD0}"/>
                </a:ext>
              </a:extLst>
            </p:cNvPr>
            <p:cNvSpPr/>
            <p:nvPr/>
          </p:nvSpPr>
          <p:spPr>
            <a:xfrm>
              <a:off x="11428901" y="3039924"/>
              <a:ext cx="32733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Ȳ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E99CCD2-92AE-4D46-8717-54734E4F21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9400" y="3238958"/>
              <a:ext cx="0" cy="762336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8F6D9C3-AA09-2648-85C9-D6CF620331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9515" y="3238958"/>
              <a:ext cx="0" cy="636356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AC234BC-E7E6-D74F-B775-CEB46CE6EA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0604" y="3225025"/>
              <a:ext cx="0" cy="215009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662DCDA-561A-9745-9F75-DFF9EDC1B7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91401" y="3225025"/>
              <a:ext cx="0" cy="395101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FBFE068-3BB8-3D42-BE95-6864015C65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6257" y="2325219"/>
              <a:ext cx="0" cy="90560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B9DD1D7-BAEB-3543-ADB4-83F843D4A4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63981" y="2503042"/>
              <a:ext cx="0" cy="721983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CC5C5C5-01C8-1E41-BE58-6A4E804741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26703" y="2693458"/>
              <a:ext cx="0" cy="54550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BFA9891-4AB4-7F4C-977E-E9FB797FF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9489" y="2937330"/>
              <a:ext cx="0" cy="287695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7BC3C0D-63C6-554B-83D3-7186733871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94758" y="3088502"/>
              <a:ext cx="5843" cy="142317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732955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98C72-F872-864E-B3AF-4EE12E6B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Variability Explained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B070D16A-EDF9-0A49-BB4C-DBE025A4B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735892"/>
              </p:ext>
            </p:extLst>
          </p:nvPr>
        </p:nvGraphicFramePr>
        <p:xfrm>
          <a:off x="838200" y="1508879"/>
          <a:ext cx="10983687" cy="2350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1229">
                  <a:extLst>
                    <a:ext uri="{9D8B030D-6E8A-4147-A177-3AD203B41FA5}">
                      <a16:colId xmlns:a16="http://schemas.microsoft.com/office/drawing/2014/main" val="3570557480"/>
                    </a:ext>
                  </a:extLst>
                </a:gridCol>
                <a:gridCol w="3661229">
                  <a:extLst>
                    <a:ext uri="{9D8B030D-6E8A-4147-A177-3AD203B41FA5}">
                      <a16:colId xmlns:a16="http://schemas.microsoft.com/office/drawing/2014/main" val="3765140243"/>
                    </a:ext>
                  </a:extLst>
                </a:gridCol>
                <a:gridCol w="3661229">
                  <a:extLst>
                    <a:ext uri="{9D8B030D-6E8A-4147-A177-3AD203B41FA5}">
                      <a16:colId xmlns:a16="http://schemas.microsoft.com/office/drawing/2014/main" val="1438898660"/>
                    </a:ext>
                  </a:extLst>
                </a:gridCol>
              </a:tblGrid>
              <a:tr h="1161446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Variability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Explained Variability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Unexplained Variability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72878"/>
                  </a:ext>
                </a:extLst>
              </a:tr>
              <a:tr h="1161446">
                <a:tc>
                  <a:txBody>
                    <a:bodyPr/>
                    <a:lstStyle/>
                    <a:p>
                      <a:pPr algn="ctr"/>
                      <a:r>
                        <a:rPr lang="en-US" sz="3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Y-Ȳ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Y’-Ȳ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Y-Y’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46035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92C3BF0E-8825-2C44-BE61-5F68D9E39947}"/>
              </a:ext>
            </a:extLst>
          </p:cNvPr>
          <p:cNvGrpSpPr/>
          <p:nvPr/>
        </p:nvGrpSpPr>
        <p:grpSpPr>
          <a:xfrm>
            <a:off x="846245" y="3723517"/>
            <a:ext cx="3343309" cy="2868956"/>
            <a:chOff x="6534831" y="1381321"/>
            <a:chExt cx="5425240" cy="46555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9723228-BA98-CB42-9C88-DFC8A8796BB7}"/>
                </a:ext>
              </a:extLst>
            </p:cNvPr>
            <p:cNvGrpSpPr/>
            <p:nvPr/>
          </p:nvGrpSpPr>
          <p:grpSpPr>
            <a:xfrm>
              <a:off x="6534831" y="1381321"/>
              <a:ext cx="5401782" cy="4655500"/>
              <a:chOff x="6872289" y="1544606"/>
              <a:chExt cx="5401782" cy="4655500"/>
            </a:xfrm>
          </p:grpSpPr>
          <p:pic>
            <p:nvPicPr>
              <p:cNvPr id="18" name="Picture 17" descr="Chart, scatter chart&#10;&#10;Description automatically generated">
                <a:extLst>
                  <a:ext uri="{FF2B5EF4-FFF2-40B4-BE49-F238E27FC236}">
                    <a16:creationId xmlns:a16="http://schemas.microsoft.com/office/drawing/2014/main" id="{E8D7F91D-A73E-7B4D-B5F9-D09FC0D780F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0915" b="10995"/>
              <a:stretch/>
            </p:blipFill>
            <p:spPr>
              <a:xfrm>
                <a:off x="6872289" y="1544606"/>
                <a:ext cx="5401782" cy="4655500"/>
              </a:xfrm>
              <a:prstGeom prst="rect">
                <a:avLst/>
              </a:prstGeom>
            </p:spPr>
          </p:pic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9851A6CE-D709-D64E-9940-630642BA7F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59344" y="2314290"/>
                <a:ext cx="3745744" cy="1874994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5EA29F4-3B87-1446-A039-8F1D9A17A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57008" y="3238958"/>
              <a:ext cx="4396067" cy="0"/>
            </a:xfrm>
            <a:prstGeom prst="line">
              <a:avLst/>
            </a:prstGeom>
            <a:ln w="158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E4BF956-49C2-794B-BC60-D875F2E55958}"/>
                </a:ext>
              </a:extLst>
            </p:cNvPr>
            <p:cNvSpPr/>
            <p:nvPr/>
          </p:nvSpPr>
          <p:spPr>
            <a:xfrm>
              <a:off x="11167630" y="1819653"/>
              <a:ext cx="42672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Y’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45DF489-B93C-504A-86FB-2099D426DB53}"/>
                </a:ext>
              </a:extLst>
            </p:cNvPr>
            <p:cNvSpPr/>
            <p:nvPr/>
          </p:nvSpPr>
          <p:spPr>
            <a:xfrm>
              <a:off x="11428901" y="3039925"/>
              <a:ext cx="531170" cy="6492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Ȳ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F35A382-B9D5-7E45-B1CE-CD0D7F64A479}"/>
                </a:ext>
              </a:extLst>
            </p:cNvPr>
            <p:cNvCxnSpPr>
              <a:cxnSpLocks/>
            </p:cNvCxnSpPr>
            <p:nvPr/>
          </p:nvCxnSpPr>
          <p:spPr>
            <a:xfrm>
              <a:off x="7421886" y="3238958"/>
              <a:ext cx="0" cy="1105312"/>
            </a:xfrm>
            <a:prstGeom prst="line">
              <a:avLst/>
            </a:prstGeom>
            <a:ln w="158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C7F88B6-BBC1-B149-BF6A-6AEFEDED7FCE}"/>
                </a:ext>
              </a:extLst>
            </p:cNvPr>
            <p:cNvCxnSpPr>
              <a:cxnSpLocks/>
            </p:cNvCxnSpPr>
            <p:nvPr/>
          </p:nvCxnSpPr>
          <p:spPr>
            <a:xfrm>
              <a:off x="7802886" y="3238958"/>
              <a:ext cx="0" cy="320671"/>
            </a:xfrm>
            <a:prstGeom prst="line">
              <a:avLst/>
            </a:prstGeom>
            <a:ln w="158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4444B53-6101-7B45-A3AB-2A1FE9391047}"/>
                </a:ext>
              </a:extLst>
            </p:cNvPr>
            <p:cNvCxnSpPr>
              <a:cxnSpLocks/>
            </p:cNvCxnSpPr>
            <p:nvPr/>
          </p:nvCxnSpPr>
          <p:spPr>
            <a:xfrm>
              <a:off x="8183886" y="3259014"/>
              <a:ext cx="0" cy="681615"/>
            </a:xfrm>
            <a:prstGeom prst="line">
              <a:avLst/>
            </a:prstGeom>
            <a:ln w="158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498E7CE-7714-4A43-AAC5-B4405A9639AE}"/>
                </a:ext>
              </a:extLst>
            </p:cNvPr>
            <p:cNvCxnSpPr>
              <a:cxnSpLocks/>
            </p:cNvCxnSpPr>
            <p:nvPr/>
          </p:nvCxnSpPr>
          <p:spPr>
            <a:xfrm>
              <a:off x="8558433" y="2545083"/>
              <a:ext cx="0" cy="713931"/>
            </a:xfrm>
            <a:prstGeom prst="line">
              <a:avLst/>
            </a:prstGeom>
            <a:ln w="158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DBD0569-F2C8-1445-ADE0-AD07D59324E2}"/>
                </a:ext>
              </a:extLst>
            </p:cNvPr>
            <p:cNvCxnSpPr>
              <a:cxnSpLocks/>
            </p:cNvCxnSpPr>
            <p:nvPr/>
          </p:nvCxnSpPr>
          <p:spPr>
            <a:xfrm>
              <a:off x="9305115" y="2559059"/>
              <a:ext cx="0" cy="679899"/>
            </a:xfrm>
            <a:prstGeom prst="line">
              <a:avLst/>
            </a:prstGeom>
            <a:ln w="158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50E9E0C-8CEF-2940-A293-BB7DEA898137}"/>
                </a:ext>
              </a:extLst>
            </p:cNvPr>
            <p:cNvCxnSpPr>
              <a:cxnSpLocks/>
            </p:cNvCxnSpPr>
            <p:nvPr/>
          </p:nvCxnSpPr>
          <p:spPr>
            <a:xfrm>
              <a:off x="9305115" y="3259014"/>
              <a:ext cx="0" cy="300615"/>
            </a:xfrm>
            <a:prstGeom prst="line">
              <a:avLst/>
            </a:prstGeom>
            <a:ln w="15875">
              <a:solidFill>
                <a:srgbClr val="0070C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F56C590-767F-AB49-A3BF-AB4500555DB7}"/>
                </a:ext>
              </a:extLst>
            </p:cNvPr>
            <p:cNvCxnSpPr>
              <a:cxnSpLocks/>
            </p:cNvCxnSpPr>
            <p:nvPr/>
          </p:nvCxnSpPr>
          <p:spPr>
            <a:xfrm>
              <a:off x="11187231" y="2154447"/>
              <a:ext cx="0" cy="1084511"/>
            </a:xfrm>
            <a:prstGeom prst="line">
              <a:avLst/>
            </a:prstGeom>
            <a:ln w="158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7C01C68-2A0D-564C-BC76-F1F54C42BFA5}"/>
              </a:ext>
            </a:extLst>
          </p:cNvPr>
          <p:cNvGrpSpPr/>
          <p:nvPr/>
        </p:nvGrpSpPr>
        <p:grpSpPr>
          <a:xfrm>
            <a:off x="7834532" y="3723517"/>
            <a:ext cx="3358933" cy="2883819"/>
            <a:chOff x="6534831" y="1381321"/>
            <a:chExt cx="5422502" cy="465550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E75CD21-E99C-314D-AB65-3A0211C6FA4C}"/>
                </a:ext>
              </a:extLst>
            </p:cNvPr>
            <p:cNvGrpSpPr/>
            <p:nvPr/>
          </p:nvGrpSpPr>
          <p:grpSpPr>
            <a:xfrm>
              <a:off x="6534831" y="1381321"/>
              <a:ext cx="5401782" cy="4655501"/>
              <a:chOff x="3356203" y="1479292"/>
              <a:chExt cx="5401782" cy="4655501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4C0698DD-8E76-8D4D-8D97-A8798F569287}"/>
                  </a:ext>
                </a:extLst>
              </p:cNvPr>
              <p:cNvGrpSpPr/>
              <p:nvPr/>
            </p:nvGrpSpPr>
            <p:grpSpPr>
              <a:xfrm>
                <a:off x="3356203" y="1479292"/>
                <a:ext cx="5401782" cy="4655501"/>
                <a:chOff x="6872289" y="1544606"/>
                <a:chExt cx="5401782" cy="4655501"/>
              </a:xfrm>
            </p:grpSpPr>
            <p:pic>
              <p:nvPicPr>
                <p:cNvPr id="36" name="Picture 35" descr="Chart, scatter chart&#10;&#10;Description automatically generated">
                  <a:extLst>
                    <a:ext uri="{FF2B5EF4-FFF2-40B4-BE49-F238E27FC236}">
                      <a16:creationId xmlns:a16="http://schemas.microsoft.com/office/drawing/2014/main" id="{4D708486-8C70-6A4C-8D84-74B2AE133F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10915" b="10995"/>
                <a:stretch/>
              </p:blipFill>
              <p:spPr>
                <a:xfrm>
                  <a:off x="6872289" y="1544606"/>
                  <a:ext cx="5401782" cy="4655501"/>
                </a:xfrm>
                <a:prstGeom prst="rect">
                  <a:avLst/>
                </a:prstGeom>
              </p:spPr>
            </p:pic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8FF57553-94BD-3340-8522-3EB3061B25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59344" y="2314290"/>
                  <a:ext cx="3745744" cy="1874994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D0DFB0CF-802D-474B-8CF1-F1BF3FAA35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59344" y="4189285"/>
                  <a:ext cx="0" cy="308054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D169D27E-CB14-D445-A41B-E4E45D0BF1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45074" y="3830882"/>
                  <a:ext cx="0" cy="160947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CFB7E4DA-EB57-9341-B3AF-69C8293119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62" y="2708378"/>
                  <a:ext cx="0" cy="892466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22025322-3C46-1348-8B7B-BA06C7BD11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652257" y="2708378"/>
                  <a:ext cx="0" cy="533012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535016CB-CDA0-4043-8B33-663E029F29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652257" y="3241390"/>
                  <a:ext cx="0" cy="476746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4D10B6F9-903F-F547-944E-7E5A94557A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030630" y="3058510"/>
                  <a:ext cx="0" cy="279538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EDEAE0AC-6877-2242-95FD-A22C28D730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04057" y="3765568"/>
                <a:ext cx="0" cy="246708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029A507-7CFA-AF47-BCF7-C4F9C80D4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57008" y="3238958"/>
              <a:ext cx="4396067" cy="0"/>
            </a:xfrm>
            <a:prstGeom prst="line">
              <a:avLst/>
            </a:prstGeom>
            <a:ln w="158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EC4B2E0-C397-EE40-A4BC-6FA9EEDABBA5}"/>
                </a:ext>
              </a:extLst>
            </p:cNvPr>
            <p:cNvSpPr/>
            <p:nvPr/>
          </p:nvSpPr>
          <p:spPr>
            <a:xfrm>
              <a:off x="11167630" y="1819653"/>
              <a:ext cx="42672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Y’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EC0EB28-8987-3546-A85A-6ABF00E34504}"/>
                </a:ext>
              </a:extLst>
            </p:cNvPr>
            <p:cNvSpPr/>
            <p:nvPr/>
          </p:nvSpPr>
          <p:spPr>
            <a:xfrm>
              <a:off x="11428901" y="3039925"/>
              <a:ext cx="528432" cy="6459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Ȳ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88C1C35-155E-B34F-84B3-AB3F0FD50ADB}"/>
              </a:ext>
            </a:extLst>
          </p:cNvPr>
          <p:cNvGrpSpPr/>
          <p:nvPr/>
        </p:nvGrpSpPr>
        <p:grpSpPr>
          <a:xfrm>
            <a:off x="4324026" y="3650952"/>
            <a:ext cx="3497246" cy="3014086"/>
            <a:chOff x="6534831" y="1381322"/>
            <a:chExt cx="5401782" cy="4655501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D74E217-6C26-1C49-95EC-017EBA551F5A}"/>
                </a:ext>
              </a:extLst>
            </p:cNvPr>
            <p:cNvGrpSpPr/>
            <p:nvPr/>
          </p:nvGrpSpPr>
          <p:grpSpPr>
            <a:xfrm>
              <a:off x="6534831" y="1381322"/>
              <a:ext cx="5401782" cy="4655501"/>
              <a:chOff x="3356203" y="1479293"/>
              <a:chExt cx="5401782" cy="4655501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90438C01-94D4-A343-AECD-901C55064D7A}"/>
                  </a:ext>
                </a:extLst>
              </p:cNvPr>
              <p:cNvGrpSpPr/>
              <p:nvPr/>
            </p:nvGrpSpPr>
            <p:grpSpPr>
              <a:xfrm>
                <a:off x="3356203" y="1479293"/>
                <a:ext cx="5401782" cy="4655501"/>
                <a:chOff x="6872289" y="1544607"/>
                <a:chExt cx="5401782" cy="4655501"/>
              </a:xfrm>
            </p:grpSpPr>
            <p:pic>
              <p:nvPicPr>
                <p:cNvPr id="57" name="Picture 56" descr="Chart, scatter chart&#10;&#10;Description automatically generated">
                  <a:extLst>
                    <a:ext uri="{FF2B5EF4-FFF2-40B4-BE49-F238E27FC236}">
                      <a16:creationId xmlns:a16="http://schemas.microsoft.com/office/drawing/2014/main" id="{F37C614A-4F62-7A4B-B065-4FE1237112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10915" b="10995"/>
                <a:stretch/>
              </p:blipFill>
              <p:spPr>
                <a:xfrm>
                  <a:off x="6872289" y="1544607"/>
                  <a:ext cx="5401782" cy="4655501"/>
                </a:xfrm>
                <a:prstGeom prst="rect">
                  <a:avLst/>
                </a:prstGeom>
              </p:spPr>
            </p:pic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35E216D4-DBA2-5A41-B1F6-708B4E6F33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59344" y="2314290"/>
                  <a:ext cx="3745744" cy="1874994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8AEC3853-E108-2047-8191-92169D6514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20942" y="2259863"/>
                <a:ext cx="0" cy="1063133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1625ED0-DE04-E043-9047-CC723A00FC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57008" y="3238958"/>
              <a:ext cx="4396067" cy="0"/>
            </a:xfrm>
            <a:prstGeom prst="line">
              <a:avLst/>
            </a:prstGeom>
            <a:ln w="158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E37D738-4B8E-8047-AF52-6C71E2C2306D}"/>
                </a:ext>
              </a:extLst>
            </p:cNvPr>
            <p:cNvSpPr/>
            <p:nvPr/>
          </p:nvSpPr>
          <p:spPr>
            <a:xfrm>
              <a:off x="11167630" y="1819653"/>
              <a:ext cx="42672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Y’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7BC78EF-1A8A-184F-8DD2-20DA6C528736}"/>
                </a:ext>
              </a:extLst>
            </p:cNvPr>
            <p:cNvSpPr/>
            <p:nvPr/>
          </p:nvSpPr>
          <p:spPr>
            <a:xfrm>
              <a:off x="11428901" y="3039924"/>
              <a:ext cx="505594" cy="6180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Ȳ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62D20D5-31B4-3740-B0BC-98081491CA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9400" y="3238958"/>
              <a:ext cx="0" cy="762336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130D4A8-A0CC-F947-ABF4-A1680C2B2F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9515" y="3238958"/>
              <a:ext cx="0" cy="636356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57CAD54-8A1B-E04E-8995-8BA16788BB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0604" y="3225025"/>
              <a:ext cx="0" cy="215009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D7C3FE4-85A3-E045-A932-4DEF857F6B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91401" y="3225025"/>
              <a:ext cx="0" cy="395101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2C363F5-073A-8242-8C36-EB2F4312C5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6257" y="2325219"/>
              <a:ext cx="0" cy="90560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F469E31-9F74-0B4D-A1C7-D7724ADE60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63981" y="2503042"/>
              <a:ext cx="0" cy="721983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92E2014-C5E9-484E-BB7B-B3944657E6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26703" y="2693458"/>
              <a:ext cx="0" cy="54550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D86B44A-FE75-6941-9B20-288EEEBF07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9489" y="2937330"/>
              <a:ext cx="0" cy="287695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58E5165-9095-1A47-870B-F8ADB91484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94758" y="3088502"/>
              <a:ext cx="5843" cy="142317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03190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AB991-709C-714D-86AB-AD9C69C5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Variability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9B46A-6A34-E143-92F4-84A45610E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44982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Explained Variability in Regression</a:t>
            </a:r>
            <a:r>
              <a:rPr lang="en-US" dirty="0"/>
              <a:t>: How much error is </a:t>
            </a:r>
            <a:r>
              <a:rPr lang="en-US" i="1" dirty="0"/>
              <a:t>reduced</a:t>
            </a:r>
            <a:r>
              <a:rPr lang="en-US" dirty="0"/>
              <a:t> because we are taking into account the correlation</a:t>
            </a:r>
          </a:p>
          <a:p>
            <a:r>
              <a:rPr lang="en-US" dirty="0"/>
              <a:t>We are not asking if a regression is good or not but instead asking if it’s </a:t>
            </a:r>
            <a:r>
              <a:rPr lang="en-US" i="1" dirty="0"/>
              <a:t>better</a:t>
            </a:r>
            <a:r>
              <a:rPr lang="en-US" dirty="0"/>
              <a:t> than the mean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C238B57-3508-284C-8D39-7365484F6F16}"/>
              </a:ext>
            </a:extLst>
          </p:cNvPr>
          <p:cNvGrpSpPr/>
          <p:nvPr/>
        </p:nvGrpSpPr>
        <p:grpSpPr>
          <a:xfrm>
            <a:off x="6268508" y="1381322"/>
            <a:ext cx="5668105" cy="4921886"/>
            <a:chOff x="6268508" y="1381322"/>
            <a:chExt cx="5668105" cy="492188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D87C89B-E8D4-F442-BF31-2916DD494D7E}"/>
                </a:ext>
              </a:extLst>
            </p:cNvPr>
            <p:cNvGrpSpPr/>
            <p:nvPr/>
          </p:nvGrpSpPr>
          <p:grpSpPr>
            <a:xfrm>
              <a:off x="6268508" y="1381322"/>
              <a:ext cx="5668105" cy="4921886"/>
              <a:chOff x="3089880" y="1479293"/>
              <a:chExt cx="5668105" cy="4921886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C4AC3656-37D6-A948-8514-35EE3AA36305}"/>
                  </a:ext>
                </a:extLst>
              </p:cNvPr>
              <p:cNvGrpSpPr/>
              <p:nvPr/>
            </p:nvGrpSpPr>
            <p:grpSpPr>
              <a:xfrm>
                <a:off x="3089880" y="1479293"/>
                <a:ext cx="5668105" cy="4921886"/>
                <a:chOff x="6605966" y="1544607"/>
                <a:chExt cx="5668105" cy="4921886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FF992CCE-071A-C74D-9015-6F85CFF36F61}"/>
                    </a:ext>
                  </a:extLst>
                </p:cNvPr>
                <p:cNvGrpSpPr/>
                <p:nvPr/>
              </p:nvGrpSpPr>
              <p:grpSpPr>
                <a:xfrm>
                  <a:off x="6605966" y="1544607"/>
                  <a:ext cx="5668105" cy="4921886"/>
                  <a:chOff x="6562286" y="1941606"/>
                  <a:chExt cx="5180750" cy="4564022"/>
                </a:xfrm>
              </p:grpSpPr>
              <p:pic>
                <p:nvPicPr>
                  <p:cNvPr id="22" name="Picture 21" descr="Chart, scatter chart&#10;&#10;Description automatically generated">
                    <a:extLst>
                      <a:ext uri="{FF2B5EF4-FFF2-40B4-BE49-F238E27FC236}">
                        <a16:creationId xmlns:a16="http://schemas.microsoft.com/office/drawing/2014/main" id="{45C3F856-197B-C048-8F9B-7639ABFCA05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10915" b="10995"/>
                  <a:stretch/>
                </p:blipFill>
                <p:spPr>
                  <a:xfrm>
                    <a:off x="6805710" y="1941606"/>
                    <a:ext cx="4937326" cy="4317005"/>
                  </a:xfrm>
                  <a:prstGeom prst="rect">
                    <a:avLst/>
                  </a:prstGeom>
                </p:spPr>
              </p:pic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9F3E5E8-DC73-F742-ADDE-BF82C6DA77A2}"/>
                      </a:ext>
                    </a:extLst>
                  </p:cNvPr>
                  <p:cNvSpPr txBox="1"/>
                  <p:nvPr/>
                </p:nvSpPr>
                <p:spPr>
                  <a:xfrm>
                    <a:off x="8657303" y="6105518"/>
                    <a:ext cx="1970411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Hours Exercising</a:t>
                    </a: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598FDDB6-D5B5-5741-A4BB-2614A0B4CC7C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5887582" y="3491578"/>
                    <a:ext cx="1749518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Wellness Score</a:t>
                    </a:r>
                  </a:p>
                </p:txBody>
              </p:sp>
            </p:grp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7700AD7C-BFF1-654C-928F-6BCDE72964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59344" y="2314290"/>
                  <a:ext cx="3745744" cy="1874994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40B89BE-28F5-2941-807E-BF9C8FCC47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20942" y="2259863"/>
                <a:ext cx="0" cy="1063133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DA6328A-9222-974F-B870-CE1204D90B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57008" y="3238958"/>
              <a:ext cx="4396067" cy="0"/>
            </a:xfrm>
            <a:prstGeom prst="line">
              <a:avLst/>
            </a:prstGeom>
            <a:ln w="158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64A52AB-2C7B-F94B-BB20-5DBBD2A99ADF}"/>
                </a:ext>
              </a:extLst>
            </p:cNvPr>
            <p:cNvSpPr/>
            <p:nvPr/>
          </p:nvSpPr>
          <p:spPr>
            <a:xfrm>
              <a:off x="11167630" y="1819653"/>
              <a:ext cx="42672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Y’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BC8E1E9-43DA-BE43-BE7E-1E5CB9454FA7}"/>
                </a:ext>
              </a:extLst>
            </p:cNvPr>
            <p:cNvSpPr/>
            <p:nvPr/>
          </p:nvSpPr>
          <p:spPr>
            <a:xfrm>
              <a:off x="11428901" y="3039924"/>
              <a:ext cx="32733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Ȳ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70D6E9F-8705-EC44-8A6C-8FE91D8206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9400" y="3238958"/>
              <a:ext cx="0" cy="762336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B8180AD-2483-9846-9B11-3A6DF90852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9515" y="3238958"/>
              <a:ext cx="0" cy="636356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FB4673B-195D-C241-B6E9-27709BB0D3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0604" y="3225025"/>
              <a:ext cx="0" cy="215009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121F32E-D643-CF4C-A124-A275BF1028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91401" y="3225025"/>
              <a:ext cx="0" cy="395101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370D85B-1DB5-A445-B3BA-A1E2025C29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6257" y="2325219"/>
              <a:ext cx="0" cy="90560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E5A43C7-306B-8545-9A25-EA3ABF9463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63981" y="2503042"/>
              <a:ext cx="0" cy="721983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ECEF6AC-D3CC-EC4D-86FF-CCD894EC11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26703" y="2693458"/>
              <a:ext cx="0" cy="54550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9DD59C1-57E4-6546-9495-6F7097AAB7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9489" y="2937330"/>
              <a:ext cx="0" cy="287695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D29EA7C-87E4-5043-8BD3-B13C58C7BA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94758" y="3088502"/>
              <a:ext cx="5843" cy="142317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447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74EBB-2AC6-DBCF-AD2D-87DFE055D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FCAAE-8233-DDE4-C89D-B37EB1595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Variability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0C535-3844-53CD-BC18-CC213320E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44982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Explained Variability in Regression</a:t>
            </a:r>
            <a:r>
              <a:rPr lang="en-US" dirty="0"/>
              <a:t>: How much error is </a:t>
            </a:r>
            <a:r>
              <a:rPr lang="en-US" i="1" dirty="0"/>
              <a:t>reduced</a:t>
            </a:r>
            <a:r>
              <a:rPr lang="en-US" dirty="0"/>
              <a:t> because we are taking into account the correlation.</a:t>
            </a:r>
          </a:p>
          <a:p>
            <a:r>
              <a:rPr lang="en-US" dirty="0"/>
              <a:t>We are not asking if a regression is good or not but instead asking if it’s </a:t>
            </a:r>
            <a:r>
              <a:rPr lang="en-US" i="1" dirty="0"/>
              <a:t>better</a:t>
            </a:r>
            <a:r>
              <a:rPr lang="en-US" dirty="0"/>
              <a:t> than the mean</a:t>
            </a:r>
          </a:p>
          <a:p>
            <a:r>
              <a:rPr lang="en-US" dirty="0"/>
              <a:t>It’s better if the scores are closer to the regression line than to the mean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360096-C4CD-EB25-8BFD-FAAE03B67623}"/>
              </a:ext>
            </a:extLst>
          </p:cNvPr>
          <p:cNvGrpSpPr/>
          <p:nvPr/>
        </p:nvGrpSpPr>
        <p:grpSpPr>
          <a:xfrm>
            <a:off x="6268508" y="1381322"/>
            <a:ext cx="5668105" cy="4921886"/>
            <a:chOff x="6268508" y="1381322"/>
            <a:chExt cx="5668105" cy="492188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ED3FDD3-A388-F7A5-8D26-D8BC7DD2C896}"/>
                </a:ext>
              </a:extLst>
            </p:cNvPr>
            <p:cNvGrpSpPr/>
            <p:nvPr/>
          </p:nvGrpSpPr>
          <p:grpSpPr>
            <a:xfrm>
              <a:off x="6268508" y="1381322"/>
              <a:ext cx="5668105" cy="4921886"/>
              <a:chOff x="6605966" y="1544607"/>
              <a:chExt cx="5668105" cy="4921886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E9417E1E-4D18-DA7D-893E-B35F3740DD0B}"/>
                  </a:ext>
                </a:extLst>
              </p:cNvPr>
              <p:cNvGrpSpPr/>
              <p:nvPr/>
            </p:nvGrpSpPr>
            <p:grpSpPr>
              <a:xfrm>
                <a:off x="6605966" y="1544607"/>
                <a:ext cx="5668105" cy="4921886"/>
                <a:chOff x="6562286" y="1941606"/>
                <a:chExt cx="5180750" cy="4564022"/>
              </a:xfrm>
            </p:grpSpPr>
            <p:pic>
              <p:nvPicPr>
                <p:cNvPr id="22" name="Picture 21" descr="Chart, scatter chart&#10;&#10;Description automatically generated">
                  <a:extLst>
                    <a:ext uri="{FF2B5EF4-FFF2-40B4-BE49-F238E27FC236}">
                      <a16:creationId xmlns:a16="http://schemas.microsoft.com/office/drawing/2014/main" id="{1A359DCB-0316-FD8C-ABB1-B26A103355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10915" b="10995"/>
                <a:stretch/>
              </p:blipFill>
              <p:spPr>
                <a:xfrm>
                  <a:off x="6805710" y="1941606"/>
                  <a:ext cx="4937326" cy="4317005"/>
                </a:xfrm>
                <a:prstGeom prst="rect">
                  <a:avLst/>
                </a:prstGeom>
              </p:spPr>
            </p:pic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3932300-14C3-4945-4658-91559E3E82E7}"/>
                    </a:ext>
                  </a:extLst>
                </p:cNvPr>
                <p:cNvSpPr txBox="1"/>
                <p:nvPr/>
              </p:nvSpPr>
              <p:spPr>
                <a:xfrm>
                  <a:off x="8657303" y="6105518"/>
                  <a:ext cx="197041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Hours Exercising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50C5ED9-D014-C5E8-6B56-4B292068C52A}"/>
                    </a:ext>
                  </a:extLst>
                </p:cNvPr>
                <p:cNvSpPr txBox="1"/>
                <p:nvPr/>
              </p:nvSpPr>
              <p:spPr>
                <a:xfrm rot="16200000">
                  <a:off x="5887582" y="3491578"/>
                  <a:ext cx="174951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Wellness Score</a:t>
                  </a:r>
                </a:p>
              </p:txBody>
            </p:sp>
          </p:grp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4E97F774-FA33-AF30-E53D-1C76365460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59344" y="2314290"/>
                <a:ext cx="3745744" cy="1874994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743AA53-D21F-3C68-0CFF-9FC7449C96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57008" y="3238958"/>
              <a:ext cx="4396067" cy="0"/>
            </a:xfrm>
            <a:prstGeom prst="line">
              <a:avLst/>
            </a:prstGeom>
            <a:ln w="1587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59A246A-0B9C-6663-76C9-05E89CBBFAD8}"/>
                </a:ext>
              </a:extLst>
            </p:cNvPr>
            <p:cNvSpPr/>
            <p:nvPr/>
          </p:nvSpPr>
          <p:spPr>
            <a:xfrm>
              <a:off x="11167630" y="1819653"/>
              <a:ext cx="42672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Y’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D3A49D4-321C-12DF-4523-3BF0CC66818C}"/>
                </a:ext>
              </a:extLst>
            </p:cNvPr>
            <p:cNvSpPr/>
            <p:nvPr/>
          </p:nvSpPr>
          <p:spPr>
            <a:xfrm>
              <a:off x="11428901" y="3039924"/>
              <a:ext cx="32733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i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Ȳ</a:t>
              </a:r>
              <a:endParaRPr lang="en-US" b="1" dirty="0">
                <a:solidFill>
                  <a:schemeClr val="accent1"/>
                </a:solidFill>
              </a:endParaRP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0467281-1331-6EE3-ABCF-7A0CA2221AAB}"/>
              </a:ext>
            </a:extLst>
          </p:cNvPr>
          <p:cNvCxnSpPr/>
          <p:nvPr/>
        </p:nvCxnSpPr>
        <p:spPr>
          <a:xfrm flipV="1">
            <a:off x="7421886" y="4025999"/>
            <a:ext cx="0" cy="2630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76B67AC-4176-9A46-BA44-48DB6534FD72}"/>
              </a:ext>
            </a:extLst>
          </p:cNvPr>
          <p:cNvCxnSpPr/>
          <p:nvPr/>
        </p:nvCxnSpPr>
        <p:spPr>
          <a:xfrm flipV="1">
            <a:off x="8175466" y="3658050"/>
            <a:ext cx="0" cy="2630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340A8CE-1D3D-0859-A204-C18759171965}"/>
              </a:ext>
            </a:extLst>
          </p:cNvPr>
          <p:cNvCxnSpPr>
            <a:cxnSpLocks/>
          </p:cNvCxnSpPr>
          <p:nvPr/>
        </p:nvCxnSpPr>
        <p:spPr>
          <a:xfrm>
            <a:off x="7795729" y="3658050"/>
            <a:ext cx="0" cy="166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A13E4D7-0848-251C-BE69-4122BE09D657}"/>
              </a:ext>
            </a:extLst>
          </p:cNvPr>
          <p:cNvCxnSpPr>
            <a:cxnSpLocks/>
          </p:cNvCxnSpPr>
          <p:nvPr/>
        </p:nvCxnSpPr>
        <p:spPr>
          <a:xfrm flipV="1">
            <a:off x="9318045" y="3238958"/>
            <a:ext cx="0" cy="30286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5F6E5F6-B591-5E76-04C5-AEF60124B995}"/>
              </a:ext>
            </a:extLst>
          </p:cNvPr>
          <p:cNvCxnSpPr>
            <a:cxnSpLocks/>
          </p:cNvCxnSpPr>
          <p:nvPr/>
        </p:nvCxnSpPr>
        <p:spPr>
          <a:xfrm>
            <a:off x="8560604" y="2566382"/>
            <a:ext cx="0" cy="67257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0F7AD30-B7A7-2356-9A54-FCDE35B961EC}"/>
              </a:ext>
            </a:extLst>
          </p:cNvPr>
          <p:cNvCxnSpPr>
            <a:cxnSpLocks/>
          </p:cNvCxnSpPr>
          <p:nvPr/>
        </p:nvCxnSpPr>
        <p:spPr>
          <a:xfrm>
            <a:off x="9318045" y="2566382"/>
            <a:ext cx="0" cy="4735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BC3E5023-0785-44AF-BD77-775EDB71F584}"/>
              </a:ext>
            </a:extLst>
          </p:cNvPr>
          <p:cNvSpPr/>
          <p:nvPr/>
        </p:nvSpPr>
        <p:spPr>
          <a:xfrm>
            <a:off x="7368745" y="4308379"/>
            <a:ext cx="111139" cy="11113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ED953D7-6906-DAC9-2BBE-E41E39238F18}"/>
              </a:ext>
            </a:extLst>
          </p:cNvPr>
          <p:cNvSpPr/>
          <p:nvPr/>
        </p:nvSpPr>
        <p:spPr>
          <a:xfrm>
            <a:off x="8129788" y="3935468"/>
            <a:ext cx="111139" cy="11113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1E76622-9803-D709-2DAB-53636D5D22F3}"/>
              </a:ext>
            </a:extLst>
          </p:cNvPr>
          <p:cNvSpPr/>
          <p:nvPr/>
        </p:nvSpPr>
        <p:spPr>
          <a:xfrm>
            <a:off x="7745683" y="3549487"/>
            <a:ext cx="111139" cy="11113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33CD383-2CCC-CE14-72F8-A0DB3C6F61E0}"/>
              </a:ext>
            </a:extLst>
          </p:cNvPr>
          <p:cNvSpPr/>
          <p:nvPr/>
        </p:nvSpPr>
        <p:spPr>
          <a:xfrm>
            <a:off x="9262475" y="2431310"/>
            <a:ext cx="111139" cy="11113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93E44A9-A429-6A93-3F6A-E9F2C5E1E25F}"/>
              </a:ext>
            </a:extLst>
          </p:cNvPr>
          <p:cNvSpPr/>
          <p:nvPr/>
        </p:nvSpPr>
        <p:spPr>
          <a:xfrm>
            <a:off x="11147013" y="2055503"/>
            <a:ext cx="111139" cy="11113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5ADF961-29B1-E15C-C9BC-00A34D895444}"/>
              </a:ext>
            </a:extLst>
          </p:cNvPr>
          <p:cNvSpPr/>
          <p:nvPr/>
        </p:nvSpPr>
        <p:spPr>
          <a:xfrm>
            <a:off x="8505034" y="2431309"/>
            <a:ext cx="111139" cy="111139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42104B0-DC8F-9244-6C58-A9B2CE7C4EF8}"/>
              </a:ext>
            </a:extLst>
          </p:cNvPr>
          <p:cNvSpPr/>
          <p:nvPr/>
        </p:nvSpPr>
        <p:spPr>
          <a:xfrm>
            <a:off x="9262474" y="3559195"/>
            <a:ext cx="111139" cy="111139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AE413C6-86E8-B04B-D078-F1473AAE239D}"/>
              </a:ext>
            </a:extLst>
          </p:cNvPr>
          <p:cNvSpPr/>
          <p:nvPr/>
        </p:nvSpPr>
        <p:spPr>
          <a:xfrm>
            <a:off x="9638488" y="3183388"/>
            <a:ext cx="111139" cy="111139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7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AB991-709C-714D-86AB-AD9C69C5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Variability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9B46A-6A34-E143-92F4-84A45610E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44982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Explained Variability in Regression</a:t>
            </a:r>
            <a:r>
              <a:rPr lang="en-US" dirty="0"/>
              <a:t>: How much error is </a:t>
            </a:r>
            <a:r>
              <a:rPr lang="en-US" i="1" dirty="0"/>
              <a:t>reduced</a:t>
            </a:r>
            <a:r>
              <a:rPr lang="en-US" dirty="0"/>
              <a:t> because we are taking into account the correlation</a:t>
            </a:r>
          </a:p>
          <a:p>
            <a:r>
              <a:rPr lang="en-US" dirty="0"/>
              <a:t>When </a:t>
            </a:r>
            <a:r>
              <a:rPr lang="en-US" i="1" dirty="0"/>
              <a:t>r</a:t>
            </a:r>
            <a:r>
              <a:rPr lang="en-US" dirty="0"/>
              <a:t> = 0, </a:t>
            </a:r>
            <a:r>
              <a:rPr lang="en-US" i="1" dirty="0"/>
              <a:t>SD</a:t>
            </a:r>
            <a:r>
              <a:rPr lang="en-US" i="1" baseline="-25000" dirty="0"/>
              <a:t>Y</a:t>
            </a:r>
            <a:r>
              <a:rPr lang="en-US" dirty="0"/>
              <a:t> = </a:t>
            </a:r>
            <a:r>
              <a:rPr lang="en-US" i="1" dirty="0"/>
              <a:t>SD</a:t>
            </a:r>
            <a:r>
              <a:rPr lang="en-US" i="1" baseline="-25000" dirty="0"/>
              <a:t>Y’</a:t>
            </a:r>
          </a:p>
          <a:p>
            <a:pPr lvl="1"/>
            <a:r>
              <a:rPr lang="en-US" dirty="0"/>
              <a:t>Everything is unexplained variability</a:t>
            </a:r>
          </a:p>
          <a:p>
            <a:pPr lvl="1"/>
            <a:r>
              <a:rPr lang="en-US" dirty="0"/>
              <a:t>Different scores of X predict same Y-values (i.e., the mean of Y)</a:t>
            </a:r>
          </a:p>
          <a:p>
            <a:r>
              <a:rPr lang="en-US" dirty="0"/>
              <a:t>When </a:t>
            </a:r>
            <a:r>
              <a:rPr lang="en-US" i="1" dirty="0"/>
              <a:t>r</a:t>
            </a:r>
            <a:r>
              <a:rPr lang="en-US" dirty="0"/>
              <a:t> = </a:t>
            </a:r>
            <a:r>
              <a:rPr lang="en-CA" dirty="0"/>
              <a:t>±</a:t>
            </a:r>
            <a:r>
              <a:rPr lang="en-US" dirty="0"/>
              <a:t> 1, </a:t>
            </a:r>
            <a:r>
              <a:rPr lang="en-US" i="1" dirty="0"/>
              <a:t>SD</a:t>
            </a:r>
            <a:r>
              <a:rPr lang="en-US" i="1" baseline="-25000" dirty="0"/>
              <a:t>Y’</a:t>
            </a:r>
            <a:r>
              <a:rPr lang="en-US" baseline="-25000" dirty="0"/>
              <a:t> </a:t>
            </a:r>
            <a:r>
              <a:rPr lang="en-US" dirty="0"/>
              <a:t>= 0</a:t>
            </a:r>
          </a:p>
          <a:p>
            <a:pPr lvl="1"/>
            <a:r>
              <a:rPr lang="en-US" dirty="0"/>
              <a:t>Everything is explained variability</a:t>
            </a:r>
          </a:p>
          <a:p>
            <a:pPr lvl="1"/>
            <a:r>
              <a:rPr lang="en-US" dirty="0"/>
              <a:t>Prediction is more accurate because we are accounting for two sources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C238B57-3508-284C-8D39-7365484F6F16}"/>
              </a:ext>
            </a:extLst>
          </p:cNvPr>
          <p:cNvGrpSpPr/>
          <p:nvPr/>
        </p:nvGrpSpPr>
        <p:grpSpPr>
          <a:xfrm>
            <a:off x="6268508" y="1381322"/>
            <a:ext cx="5668105" cy="4921886"/>
            <a:chOff x="6268508" y="1381322"/>
            <a:chExt cx="5668105" cy="492188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D87C89B-E8D4-F442-BF31-2916DD494D7E}"/>
                </a:ext>
              </a:extLst>
            </p:cNvPr>
            <p:cNvGrpSpPr/>
            <p:nvPr/>
          </p:nvGrpSpPr>
          <p:grpSpPr>
            <a:xfrm>
              <a:off x="6268508" y="1381322"/>
              <a:ext cx="5668105" cy="4921886"/>
              <a:chOff x="3089880" y="1479293"/>
              <a:chExt cx="5668105" cy="4921886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C4AC3656-37D6-A948-8514-35EE3AA36305}"/>
                  </a:ext>
                </a:extLst>
              </p:cNvPr>
              <p:cNvGrpSpPr/>
              <p:nvPr/>
            </p:nvGrpSpPr>
            <p:grpSpPr>
              <a:xfrm>
                <a:off x="3089880" y="1479293"/>
                <a:ext cx="5668105" cy="4921886"/>
                <a:chOff x="6605966" y="1544607"/>
                <a:chExt cx="5668105" cy="4921886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FF992CCE-071A-C74D-9015-6F85CFF36F61}"/>
                    </a:ext>
                  </a:extLst>
                </p:cNvPr>
                <p:cNvGrpSpPr/>
                <p:nvPr/>
              </p:nvGrpSpPr>
              <p:grpSpPr>
                <a:xfrm>
                  <a:off x="6605966" y="1544607"/>
                  <a:ext cx="5668105" cy="4921886"/>
                  <a:chOff x="6562286" y="1941606"/>
                  <a:chExt cx="5180750" cy="4564022"/>
                </a:xfrm>
              </p:grpSpPr>
              <p:pic>
                <p:nvPicPr>
                  <p:cNvPr id="22" name="Picture 21" descr="Chart, scatter chart&#10;&#10;Description automatically generated">
                    <a:extLst>
                      <a:ext uri="{FF2B5EF4-FFF2-40B4-BE49-F238E27FC236}">
                        <a16:creationId xmlns:a16="http://schemas.microsoft.com/office/drawing/2014/main" id="{45C3F856-197B-C048-8F9B-7639ABFCA05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10915" b="10995"/>
                  <a:stretch/>
                </p:blipFill>
                <p:spPr>
                  <a:xfrm>
                    <a:off x="6805710" y="1941606"/>
                    <a:ext cx="4937326" cy="4317005"/>
                  </a:xfrm>
                  <a:prstGeom prst="rect">
                    <a:avLst/>
                  </a:prstGeom>
                </p:spPr>
              </p:pic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9F3E5E8-DC73-F742-ADDE-BF82C6DA77A2}"/>
                      </a:ext>
                    </a:extLst>
                  </p:cNvPr>
                  <p:cNvSpPr txBox="1"/>
                  <p:nvPr/>
                </p:nvSpPr>
                <p:spPr>
                  <a:xfrm>
                    <a:off x="8657303" y="6105518"/>
                    <a:ext cx="1970411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Hours Exercising</a:t>
                    </a: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598FDDB6-D5B5-5741-A4BB-2614A0B4CC7C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5887582" y="3491578"/>
                    <a:ext cx="1749518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Wellness Score</a:t>
                    </a:r>
                  </a:p>
                </p:txBody>
              </p:sp>
            </p:grp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7700AD7C-BFF1-654C-928F-6BCDE72964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59344" y="2314290"/>
                  <a:ext cx="3745744" cy="1874994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40B89BE-28F5-2941-807E-BF9C8FCC47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20942" y="2259863"/>
                <a:ext cx="0" cy="1063133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DA6328A-9222-974F-B870-CE1204D90B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57008" y="3238958"/>
              <a:ext cx="4396067" cy="0"/>
            </a:xfrm>
            <a:prstGeom prst="line">
              <a:avLst/>
            </a:prstGeom>
            <a:ln w="158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64A52AB-2C7B-F94B-BB20-5DBBD2A99ADF}"/>
                </a:ext>
              </a:extLst>
            </p:cNvPr>
            <p:cNvSpPr/>
            <p:nvPr/>
          </p:nvSpPr>
          <p:spPr>
            <a:xfrm>
              <a:off x="11167630" y="1819653"/>
              <a:ext cx="42672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Y’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BC8E1E9-43DA-BE43-BE7E-1E5CB9454FA7}"/>
                </a:ext>
              </a:extLst>
            </p:cNvPr>
            <p:cNvSpPr/>
            <p:nvPr/>
          </p:nvSpPr>
          <p:spPr>
            <a:xfrm>
              <a:off x="11428901" y="3039924"/>
              <a:ext cx="32733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Ȳ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70D6E9F-8705-EC44-8A6C-8FE91D8206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9400" y="3238958"/>
              <a:ext cx="0" cy="762336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B8180AD-2483-9846-9B11-3A6DF90852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9515" y="3238958"/>
              <a:ext cx="0" cy="636356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FB4673B-195D-C241-B6E9-27709BB0D3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0604" y="3225025"/>
              <a:ext cx="0" cy="215009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121F32E-D643-CF4C-A124-A275BF1028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91401" y="3225025"/>
              <a:ext cx="0" cy="395101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370D85B-1DB5-A445-B3BA-A1E2025C29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6257" y="2325219"/>
              <a:ext cx="0" cy="90560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E5A43C7-306B-8545-9A25-EA3ABF9463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63981" y="2503042"/>
              <a:ext cx="0" cy="721983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ECEF6AC-D3CC-EC4D-86FF-CCD894EC11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26703" y="2693458"/>
              <a:ext cx="0" cy="54550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9DD59C1-57E4-6546-9495-6F7097AAB7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9489" y="2937330"/>
              <a:ext cx="0" cy="287695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D29EA7C-87E4-5043-8BD3-B13C58C7BA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94758" y="3088502"/>
              <a:ext cx="5843" cy="142317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4195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98C72-F872-864E-B3AF-4EE12E6B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Variability Explained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B070D16A-EDF9-0A49-BB4C-DBE025A4B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527120"/>
              </p:ext>
            </p:extLst>
          </p:nvPr>
        </p:nvGraphicFramePr>
        <p:xfrm>
          <a:off x="838200" y="1508879"/>
          <a:ext cx="10983687" cy="3322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1229">
                  <a:extLst>
                    <a:ext uri="{9D8B030D-6E8A-4147-A177-3AD203B41FA5}">
                      <a16:colId xmlns:a16="http://schemas.microsoft.com/office/drawing/2014/main" val="3570557480"/>
                    </a:ext>
                  </a:extLst>
                </a:gridCol>
                <a:gridCol w="3661229">
                  <a:extLst>
                    <a:ext uri="{9D8B030D-6E8A-4147-A177-3AD203B41FA5}">
                      <a16:colId xmlns:a16="http://schemas.microsoft.com/office/drawing/2014/main" val="3765140243"/>
                    </a:ext>
                  </a:extLst>
                </a:gridCol>
                <a:gridCol w="3661229">
                  <a:extLst>
                    <a:ext uri="{9D8B030D-6E8A-4147-A177-3AD203B41FA5}">
                      <a16:colId xmlns:a16="http://schemas.microsoft.com/office/drawing/2014/main" val="1438898660"/>
                    </a:ext>
                  </a:extLst>
                </a:gridCol>
              </a:tblGrid>
              <a:tr h="1661332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Variability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Explained Variability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Unexplained Variability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72878"/>
                  </a:ext>
                </a:extLst>
              </a:tr>
              <a:tr h="1661332">
                <a:tc>
                  <a:txBody>
                    <a:bodyPr/>
                    <a:lstStyle/>
                    <a:p>
                      <a:pPr algn="ctr"/>
                      <a:r>
                        <a:rPr lang="en-US" sz="3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Y-Ȳ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Y’-Ȳ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Y-Y’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430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99871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98C72-F872-864E-B3AF-4EE12E6B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Variability Explained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B070D16A-EDF9-0A49-BB4C-DBE025A4B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939507"/>
              </p:ext>
            </p:extLst>
          </p:nvPr>
        </p:nvGraphicFramePr>
        <p:xfrm>
          <a:off x="838200" y="1508879"/>
          <a:ext cx="10983687" cy="4979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1229">
                  <a:extLst>
                    <a:ext uri="{9D8B030D-6E8A-4147-A177-3AD203B41FA5}">
                      <a16:colId xmlns:a16="http://schemas.microsoft.com/office/drawing/2014/main" val="3570557480"/>
                    </a:ext>
                  </a:extLst>
                </a:gridCol>
                <a:gridCol w="3661229">
                  <a:extLst>
                    <a:ext uri="{9D8B030D-6E8A-4147-A177-3AD203B41FA5}">
                      <a16:colId xmlns:a16="http://schemas.microsoft.com/office/drawing/2014/main" val="3765140243"/>
                    </a:ext>
                  </a:extLst>
                </a:gridCol>
                <a:gridCol w="3661229">
                  <a:extLst>
                    <a:ext uri="{9D8B030D-6E8A-4147-A177-3AD203B41FA5}">
                      <a16:colId xmlns:a16="http://schemas.microsoft.com/office/drawing/2014/main" val="1438898660"/>
                    </a:ext>
                  </a:extLst>
                </a:gridCol>
              </a:tblGrid>
              <a:tr h="1244947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Variability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Explained Variability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Unexplained Variability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72878"/>
                  </a:ext>
                </a:extLst>
              </a:tr>
              <a:tr h="1244947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3600" i="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</a:t>
                      </a:r>
                      <a:r>
                        <a:rPr lang="en-US" sz="3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36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430635"/>
                  </a:ext>
                </a:extLst>
              </a:tr>
              <a:tr h="1244947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i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0.7500</a:t>
                      </a:r>
                      <a:r>
                        <a:rPr lang="en-US" sz="3600" i="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1-0.7500</a:t>
                      </a:r>
                      <a:r>
                        <a:rPr lang="en-US" sz="36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46035"/>
                  </a:ext>
                </a:extLst>
              </a:tr>
              <a:tr h="1244947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(100%)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i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0.5625 (56%)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0.4375 (44%)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0635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7AD18E7-7A12-C54D-AF11-550908D2EB18}"/>
              </a:ext>
            </a:extLst>
          </p:cNvPr>
          <p:cNvSpPr txBox="1"/>
          <p:nvPr/>
        </p:nvSpPr>
        <p:spPr>
          <a:xfrm>
            <a:off x="123986" y="6488668"/>
            <a:ext cx="11849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0.7500, b</a:t>
            </a:r>
            <a:r>
              <a:rPr lang="en-US" sz="2000" i="1" baseline="-25000" dirty="0"/>
              <a:t>y</a:t>
            </a:r>
            <a:r>
              <a:rPr lang="en-US" sz="2000" i="1" dirty="0"/>
              <a:t> = 0.5000, b</a:t>
            </a:r>
            <a:r>
              <a:rPr lang="en-US" sz="2000" i="1" baseline="-25000" dirty="0"/>
              <a:t>x</a:t>
            </a:r>
            <a:r>
              <a:rPr lang="en-US" sz="2000" i="1" dirty="0"/>
              <a:t> = 1.1250, a</a:t>
            </a:r>
            <a:r>
              <a:rPr lang="en-US" sz="2000" i="1" baseline="-25000" dirty="0"/>
              <a:t>y</a:t>
            </a:r>
            <a:r>
              <a:rPr lang="en-US" sz="2000" i="1" dirty="0"/>
              <a:t> = 3.5000, a</a:t>
            </a:r>
            <a:r>
              <a:rPr lang="en-US" sz="2000" i="1" baseline="-25000" dirty="0"/>
              <a:t>x</a:t>
            </a:r>
            <a:r>
              <a:rPr lang="en-US" sz="2000" i="1" dirty="0"/>
              <a:t> = -1.7500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65946A-954E-504F-835E-E7DC13FA8B78}"/>
              </a:ext>
            </a:extLst>
          </p:cNvPr>
          <p:cNvSpPr/>
          <p:nvPr/>
        </p:nvSpPr>
        <p:spPr>
          <a:xfrm>
            <a:off x="1488690" y="3813933"/>
            <a:ext cx="9501809" cy="12324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F2DE42-5BA1-A64B-9AC3-63FE0376A830}"/>
              </a:ext>
            </a:extLst>
          </p:cNvPr>
          <p:cNvSpPr/>
          <p:nvPr/>
        </p:nvSpPr>
        <p:spPr>
          <a:xfrm>
            <a:off x="1388165" y="5102088"/>
            <a:ext cx="9965635" cy="12324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61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D1CBD-1904-7AFD-1B66-C8DF933CC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EE1EB-4391-098C-49AD-D23D2887D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Variability Explained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417EFB24-894A-61D9-8E68-DB784B71111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08879"/>
          <a:ext cx="10983687" cy="4979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1229">
                  <a:extLst>
                    <a:ext uri="{9D8B030D-6E8A-4147-A177-3AD203B41FA5}">
                      <a16:colId xmlns:a16="http://schemas.microsoft.com/office/drawing/2014/main" val="3570557480"/>
                    </a:ext>
                  </a:extLst>
                </a:gridCol>
                <a:gridCol w="3661229">
                  <a:extLst>
                    <a:ext uri="{9D8B030D-6E8A-4147-A177-3AD203B41FA5}">
                      <a16:colId xmlns:a16="http://schemas.microsoft.com/office/drawing/2014/main" val="3765140243"/>
                    </a:ext>
                  </a:extLst>
                </a:gridCol>
                <a:gridCol w="3661229">
                  <a:extLst>
                    <a:ext uri="{9D8B030D-6E8A-4147-A177-3AD203B41FA5}">
                      <a16:colId xmlns:a16="http://schemas.microsoft.com/office/drawing/2014/main" val="1438898660"/>
                    </a:ext>
                  </a:extLst>
                </a:gridCol>
              </a:tblGrid>
              <a:tr h="1244947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Variability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Explained Variability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Unexplained Variability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72878"/>
                  </a:ext>
                </a:extLst>
              </a:tr>
              <a:tr h="1244947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3600" i="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</a:t>
                      </a:r>
                      <a:r>
                        <a:rPr lang="en-US" sz="3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36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430635"/>
                  </a:ext>
                </a:extLst>
              </a:tr>
              <a:tr h="1244947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i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0.7500</a:t>
                      </a:r>
                      <a:r>
                        <a:rPr lang="en-US" sz="3600" i="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1-0.7500</a:t>
                      </a:r>
                      <a:r>
                        <a:rPr lang="en-US" sz="36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46035"/>
                  </a:ext>
                </a:extLst>
              </a:tr>
              <a:tr h="1244947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(100%)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i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0.5625 (56%)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0.4375 (44%)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0635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3F8C4C0-C92C-991A-3E70-25B0A2B6E7DD}"/>
              </a:ext>
            </a:extLst>
          </p:cNvPr>
          <p:cNvSpPr txBox="1"/>
          <p:nvPr/>
        </p:nvSpPr>
        <p:spPr>
          <a:xfrm>
            <a:off x="123986" y="6488668"/>
            <a:ext cx="11849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0.7500, b</a:t>
            </a:r>
            <a:r>
              <a:rPr lang="en-US" sz="2000" i="1" baseline="-25000" dirty="0"/>
              <a:t>y</a:t>
            </a:r>
            <a:r>
              <a:rPr lang="en-US" sz="2000" i="1" dirty="0"/>
              <a:t> = 0.5000, b</a:t>
            </a:r>
            <a:r>
              <a:rPr lang="en-US" sz="2000" i="1" baseline="-25000" dirty="0"/>
              <a:t>x</a:t>
            </a:r>
            <a:r>
              <a:rPr lang="en-US" sz="2000" i="1" dirty="0"/>
              <a:t> = 1.1250, a</a:t>
            </a:r>
            <a:r>
              <a:rPr lang="en-US" sz="2000" i="1" baseline="-25000" dirty="0"/>
              <a:t>y</a:t>
            </a:r>
            <a:r>
              <a:rPr lang="en-US" sz="2000" i="1" dirty="0"/>
              <a:t> = 3.5000, a</a:t>
            </a:r>
            <a:r>
              <a:rPr lang="en-US" sz="2000" i="1" baseline="-25000" dirty="0"/>
              <a:t>x</a:t>
            </a:r>
            <a:r>
              <a:rPr lang="en-US" sz="2000" i="1" dirty="0"/>
              <a:t> = -1.7500</a:t>
            </a:r>
          </a:p>
        </p:txBody>
      </p:sp>
    </p:spTree>
    <p:extLst>
      <p:ext uri="{BB962C8B-B14F-4D97-AF65-F5344CB8AC3E}">
        <p14:creationId xmlns:p14="http://schemas.microsoft.com/office/powerpoint/2010/main" val="34336028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98C72-F872-864E-B3AF-4EE12E6B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Variability Explained w/ Sums of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5">
                <a:extLst>
                  <a:ext uri="{FF2B5EF4-FFF2-40B4-BE49-F238E27FC236}">
                    <a16:creationId xmlns:a16="http://schemas.microsoft.com/office/drawing/2014/main" id="{B070D16A-EDF9-0A49-BB4C-DBE025A4B5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0906322"/>
                  </p:ext>
                </p:extLst>
              </p:nvPr>
            </p:nvGraphicFramePr>
            <p:xfrm>
              <a:off x="838200" y="1508879"/>
              <a:ext cx="10983687" cy="50084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61229">
                      <a:extLst>
                        <a:ext uri="{9D8B030D-6E8A-4147-A177-3AD203B41FA5}">
                          <a16:colId xmlns:a16="http://schemas.microsoft.com/office/drawing/2014/main" val="3570557480"/>
                        </a:ext>
                      </a:extLst>
                    </a:gridCol>
                    <a:gridCol w="3661229">
                      <a:extLst>
                        <a:ext uri="{9D8B030D-6E8A-4147-A177-3AD203B41FA5}">
                          <a16:colId xmlns:a16="http://schemas.microsoft.com/office/drawing/2014/main" val="3765140243"/>
                        </a:ext>
                      </a:extLst>
                    </a:gridCol>
                    <a:gridCol w="3661229">
                      <a:extLst>
                        <a:ext uri="{9D8B030D-6E8A-4147-A177-3AD203B41FA5}">
                          <a16:colId xmlns:a16="http://schemas.microsoft.com/office/drawing/2014/main" val="1438898660"/>
                        </a:ext>
                      </a:extLst>
                    </a:gridCol>
                  </a:tblGrid>
                  <a:tr h="1244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Variability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Explained Variability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Unexplained Variability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8272878"/>
                      </a:ext>
                    </a:extLst>
                  </a:tr>
                  <a:tr h="1244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SS</a:t>
                          </a:r>
                          <a:r>
                            <a:rPr lang="en-US" sz="3600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SS</a:t>
                          </a:r>
                          <a:r>
                            <a:rPr lang="en-US" sz="3600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en-US" sz="3600" i="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SS</a:t>
                          </a:r>
                          <a:r>
                            <a:rPr lang="en-US" sz="3600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41430635"/>
                      </a:ext>
                    </a:extLst>
                  </a:tr>
                  <a:tr h="1244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∑(</a:t>
                          </a:r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Y-Ȳ</a:t>
                          </a:r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r>
                            <a:rPr lang="en-US" sz="36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∑(</a:t>
                          </a:r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Y’-Ȳ</a:t>
                          </a:r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r>
                            <a:rPr lang="en-US" sz="36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∑(</a:t>
                          </a:r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Y-Y’</a:t>
                          </a:r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r>
                            <a:rPr lang="en-US" sz="36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246035"/>
                      </a:ext>
                    </a:extLst>
                  </a:tr>
                  <a:tr h="124494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36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∑(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Y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−Ȳ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baseline="3000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2 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∑(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Y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−Ȳ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baseline="3000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3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36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∑(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Y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’−Ȳ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baseline="3000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2 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∑(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Y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−Ȳ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baseline="3000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3600" i="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36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∑(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Y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Y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’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baseline="3000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2 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∑(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Y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−Ȳ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baseline="3000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360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640635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5">
                <a:extLst>
                  <a:ext uri="{FF2B5EF4-FFF2-40B4-BE49-F238E27FC236}">
                    <a16:creationId xmlns:a16="http://schemas.microsoft.com/office/drawing/2014/main" id="{B070D16A-EDF9-0A49-BB4C-DBE025A4B5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0906322"/>
                  </p:ext>
                </p:extLst>
              </p:nvPr>
            </p:nvGraphicFramePr>
            <p:xfrm>
              <a:off x="838200" y="1508879"/>
              <a:ext cx="10983687" cy="50084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61229">
                      <a:extLst>
                        <a:ext uri="{9D8B030D-6E8A-4147-A177-3AD203B41FA5}">
                          <a16:colId xmlns:a16="http://schemas.microsoft.com/office/drawing/2014/main" val="3570557480"/>
                        </a:ext>
                      </a:extLst>
                    </a:gridCol>
                    <a:gridCol w="3661229">
                      <a:extLst>
                        <a:ext uri="{9D8B030D-6E8A-4147-A177-3AD203B41FA5}">
                          <a16:colId xmlns:a16="http://schemas.microsoft.com/office/drawing/2014/main" val="3765140243"/>
                        </a:ext>
                      </a:extLst>
                    </a:gridCol>
                    <a:gridCol w="3661229">
                      <a:extLst>
                        <a:ext uri="{9D8B030D-6E8A-4147-A177-3AD203B41FA5}">
                          <a16:colId xmlns:a16="http://schemas.microsoft.com/office/drawing/2014/main" val="1438898660"/>
                        </a:ext>
                      </a:extLst>
                    </a:gridCol>
                  </a:tblGrid>
                  <a:tr h="1244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Variability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Explained Variability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Unexplained Variability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8272878"/>
                      </a:ext>
                    </a:extLst>
                  </a:tr>
                  <a:tr h="1244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SS</a:t>
                          </a:r>
                          <a:r>
                            <a:rPr lang="en-US" sz="3600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SS</a:t>
                          </a:r>
                          <a:r>
                            <a:rPr lang="en-US" sz="3600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en-US" sz="3600" i="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SS</a:t>
                          </a:r>
                          <a:r>
                            <a:rPr lang="en-US" sz="3600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41430635"/>
                      </a:ext>
                    </a:extLst>
                  </a:tr>
                  <a:tr h="1244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∑(</a:t>
                          </a:r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Y-Ȳ</a:t>
                          </a:r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r>
                            <a:rPr lang="en-US" sz="36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∑(</a:t>
                          </a:r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Y’-Ȳ</a:t>
                          </a:r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r>
                            <a:rPr lang="en-US" sz="36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∑(</a:t>
                          </a:r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Y-Y’</a:t>
                          </a:r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r>
                            <a:rPr lang="en-US" sz="36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246035"/>
                      </a:ext>
                    </a:extLst>
                  </a:tr>
                  <a:tr h="12736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7" t="-297030" r="-201389" b="-128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297030" r="-100692" b="-128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694" t="-297030" r="-1042" b="-128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40635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7AD18E7-7A12-C54D-AF11-550908D2EB18}"/>
              </a:ext>
            </a:extLst>
          </p:cNvPr>
          <p:cNvSpPr txBox="1"/>
          <p:nvPr/>
        </p:nvSpPr>
        <p:spPr>
          <a:xfrm>
            <a:off x="123986" y="6488668"/>
            <a:ext cx="11849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0.7500, b</a:t>
            </a:r>
            <a:r>
              <a:rPr lang="en-US" sz="2000" i="1" baseline="-25000" dirty="0"/>
              <a:t>y</a:t>
            </a:r>
            <a:r>
              <a:rPr lang="en-US" sz="2000" i="1" dirty="0"/>
              <a:t> = 0.5000, b</a:t>
            </a:r>
            <a:r>
              <a:rPr lang="en-US" sz="2000" i="1" baseline="-25000" dirty="0"/>
              <a:t>x</a:t>
            </a:r>
            <a:r>
              <a:rPr lang="en-US" sz="2000" i="1" dirty="0"/>
              <a:t> = 1.1250, a</a:t>
            </a:r>
            <a:r>
              <a:rPr lang="en-US" sz="2000" i="1" baseline="-25000" dirty="0"/>
              <a:t>y</a:t>
            </a:r>
            <a:r>
              <a:rPr lang="en-US" sz="2000" i="1" dirty="0"/>
              <a:t> = 3.5000, a</a:t>
            </a:r>
            <a:r>
              <a:rPr lang="en-US" sz="2000" i="1" baseline="-25000" dirty="0"/>
              <a:t>x</a:t>
            </a:r>
            <a:r>
              <a:rPr lang="en-US" sz="2000" i="1" dirty="0"/>
              <a:t> = -1.7500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C692CB-A55F-3440-8C22-7EFEA66A26D9}"/>
              </a:ext>
            </a:extLst>
          </p:cNvPr>
          <p:cNvSpPr/>
          <p:nvPr/>
        </p:nvSpPr>
        <p:spPr>
          <a:xfrm>
            <a:off x="1470991" y="4013109"/>
            <a:ext cx="9501809" cy="12324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C4D206-DB1D-7C4B-B0FA-5FD5E145E8C0}"/>
              </a:ext>
            </a:extLst>
          </p:cNvPr>
          <p:cNvSpPr/>
          <p:nvPr/>
        </p:nvSpPr>
        <p:spPr>
          <a:xfrm>
            <a:off x="1470991" y="5335869"/>
            <a:ext cx="9501809" cy="12324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3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CDD1C-00B2-7BCA-DD47-F29F8913E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CD26C-8364-5727-01C6-9F0E1C170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Variability Explained w/ Sums of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5">
                <a:extLst>
                  <a:ext uri="{FF2B5EF4-FFF2-40B4-BE49-F238E27FC236}">
                    <a16:creationId xmlns:a16="http://schemas.microsoft.com/office/drawing/2014/main" id="{F1547E37-78A7-19A2-BAAB-10890A1094A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1508879"/>
              <a:ext cx="10983687" cy="50084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61229">
                      <a:extLst>
                        <a:ext uri="{9D8B030D-6E8A-4147-A177-3AD203B41FA5}">
                          <a16:colId xmlns:a16="http://schemas.microsoft.com/office/drawing/2014/main" val="3570557480"/>
                        </a:ext>
                      </a:extLst>
                    </a:gridCol>
                    <a:gridCol w="3661229">
                      <a:extLst>
                        <a:ext uri="{9D8B030D-6E8A-4147-A177-3AD203B41FA5}">
                          <a16:colId xmlns:a16="http://schemas.microsoft.com/office/drawing/2014/main" val="3765140243"/>
                        </a:ext>
                      </a:extLst>
                    </a:gridCol>
                    <a:gridCol w="3661229">
                      <a:extLst>
                        <a:ext uri="{9D8B030D-6E8A-4147-A177-3AD203B41FA5}">
                          <a16:colId xmlns:a16="http://schemas.microsoft.com/office/drawing/2014/main" val="1438898660"/>
                        </a:ext>
                      </a:extLst>
                    </a:gridCol>
                  </a:tblGrid>
                  <a:tr h="1244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Variability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Explained Variability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Unexplained Variability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8272878"/>
                      </a:ext>
                    </a:extLst>
                  </a:tr>
                  <a:tr h="1244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SS</a:t>
                          </a:r>
                          <a:r>
                            <a:rPr lang="en-US" sz="3600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SS</a:t>
                          </a:r>
                          <a:r>
                            <a:rPr lang="en-US" sz="3600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en-US" sz="3600" i="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SS</a:t>
                          </a:r>
                          <a:r>
                            <a:rPr lang="en-US" sz="3600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41430635"/>
                      </a:ext>
                    </a:extLst>
                  </a:tr>
                  <a:tr h="1244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∑(</a:t>
                          </a:r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Y-Ȳ</a:t>
                          </a:r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r>
                            <a:rPr lang="en-US" sz="36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∑(</a:t>
                          </a:r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Y’-Ȳ</a:t>
                          </a:r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r>
                            <a:rPr lang="en-US" sz="36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∑(</a:t>
                          </a:r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Y-Y’</a:t>
                          </a:r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r>
                            <a:rPr lang="en-US" sz="36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246035"/>
                      </a:ext>
                    </a:extLst>
                  </a:tr>
                  <a:tr h="124494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36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∑(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Y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−Ȳ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baseline="3000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2 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∑(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Y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−Ȳ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baseline="3000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3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36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∑(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Y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’−Ȳ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baseline="3000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2 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∑(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Y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−Ȳ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baseline="3000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3600" i="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36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∑(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Y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Y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’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baseline="3000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2 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∑(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Y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1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−Ȳ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3600" i="0" baseline="30000" dirty="0" smtClean="0">
                                        <a:latin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360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640635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5">
                <a:extLst>
                  <a:ext uri="{FF2B5EF4-FFF2-40B4-BE49-F238E27FC236}">
                    <a16:creationId xmlns:a16="http://schemas.microsoft.com/office/drawing/2014/main" id="{B070D16A-EDF9-0A49-BB4C-DBE025A4B5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0906322"/>
                  </p:ext>
                </p:extLst>
              </p:nvPr>
            </p:nvGraphicFramePr>
            <p:xfrm>
              <a:off x="838200" y="1508879"/>
              <a:ext cx="10983687" cy="50084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61229">
                      <a:extLst>
                        <a:ext uri="{9D8B030D-6E8A-4147-A177-3AD203B41FA5}">
                          <a16:colId xmlns:a16="http://schemas.microsoft.com/office/drawing/2014/main" val="3570557480"/>
                        </a:ext>
                      </a:extLst>
                    </a:gridCol>
                    <a:gridCol w="3661229">
                      <a:extLst>
                        <a:ext uri="{9D8B030D-6E8A-4147-A177-3AD203B41FA5}">
                          <a16:colId xmlns:a16="http://schemas.microsoft.com/office/drawing/2014/main" val="3765140243"/>
                        </a:ext>
                      </a:extLst>
                    </a:gridCol>
                    <a:gridCol w="3661229">
                      <a:extLst>
                        <a:ext uri="{9D8B030D-6E8A-4147-A177-3AD203B41FA5}">
                          <a16:colId xmlns:a16="http://schemas.microsoft.com/office/drawing/2014/main" val="1438898660"/>
                        </a:ext>
                      </a:extLst>
                    </a:gridCol>
                  </a:tblGrid>
                  <a:tr h="1244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Variability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Explained Variability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Unexplained Variability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8272878"/>
                      </a:ext>
                    </a:extLst>
                  </a:tr>
                  <a:tr h="1244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SS</a:t>
                          </a:r>
                          <a:r>
                            <a:rPr lang="en-US" sz="3600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SS</a:t>
                          </a:r>
                          <a:r>
                            <a:rPr lang="en-US" sz="3600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en-US" sz="3600" i="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SS</a:t>
                          </a:r>
                          <a:r>
                            <a:rPr lang="en-US" sz="3600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41430635"/>
                      </a:ext>
                    </a:extLst>
                  </a:tr>
                  <a:tr h="1244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∑(</a:t>
                          </a:r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Y-Ȳ</a:t>
                          </a:r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r>
                            <a:rPr lang="en-US" sz="36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∑(</a:t>
                          </a:r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Y’-Ȳ</a:t>
                          </a:r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r>
                            <a:rPr lang="en-US" sz="36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∑(</a:t>
                          </a:r>
                          <a:r>
                            <a:rPr lang="en-US" sz="36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Y-Y’</a:t>
                          </a:r>
                          <a:r>
                            <a:rPr lang="en-US" sz="3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r>
                            <a:rPr lang="en-US" sz="36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246035"/>
                      </a:ext>
                    </a:extLst>
                  </a:tr>
                  <a:tr h="12736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7" t="-297030" r="-201389" b="-128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297030" r="-100692" b="-128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694" t="-297030" r="-1042" b="-128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40635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CE242D8-AF12-3843-63BA-48FCA69D7F81}"/>
              </a:ext>
            </a:extLst>
          </p:cNvPr>
          <p:cNvSpPr txBox="1"/>
          <p:nvPr/>
        </p:nvSpPr>
        <p:spPr>
          <a:xfrm>
            <a:off x="123986" y="6488668"/>
            <a:ext cx="11849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i="1" dirty="0"/>
              <a:t>X̄</a:t>
            </a:r>
            <a:r>
              <a:rPr lang="en-US" sz="2000" i="1" dirty="0"/>
              <a:t> = 5.0000, </a:t>
            </a:r>
            <a:r>
              <a:rPr lang="en-US" sz="2000" i="1" dirty="0" err="1"/>
              <a:t>Ȳ</a:t>
            </a:r>
            <a:r>
              <a:rPr lang="en-US" sz="2000" i="1" dirty="0"/>
              <a:t> = 6.0000,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x</a:t>
            </a:r>
            <a:r>
              <a:rPr lang="en-US" sz="2000" i="1" dirty="0"/>
              <a:t> = 3.0000, </a:t>
            </a:r>
            <a:r>
              <a:rPr lang="en-US" sz="2000" i="1" dirty="0" err="1"/>
              <a:t>SD</a:t>
            </a:r>
            <a:r>
              <a:rPr lang="en-US" sz="2000" i="1" baseline="-25000" dirty="0" err="1"/>
              <a:t>y</a:t>
            </a:r>
            <a:r>
              <a:rPr lang="en-US" sz="2000" i="1" dirty="0"/>
              <a:t> = 2.0000, r = 0.7500, b</a:t>
            </a:r>
            <a:r>
              <a:rPr lang="en-US" sz="2000" i="1" baseline="-25000" dirty="0"/>
              <a:t>y</a:t>
            </a:r>
            <a:r>
              <a:rPr lang="en-US" sz="2000" i="1" dirty="0"/>
              <a:t> = 0.5000, b</a:t>
            </a:r>
            <a:r>
              <a:rPr lang="en-US" sz="2000" i="1" baseline="-25000" dirty="0"/>
              <a:t>x</a:t>
            </a:r>
            <a:r>
              <a:rPr lang="en-US" sz="2000" i="1" dirty="0"/>
              <a:t> = 1.1250, a</a:t>
            </a:r>
            <a:r>
              <a:rPr lang="en-US" sz="2000" i="1" baseline="-25000" dirty="0"/>
              <a:t>y</a:t>
            </a:r>
            <a:r>
              <a:rPr lang="en-US" sz="2000" i="1" dirty="0"/>
              <a:t> = 3.5000, a</a:t>
            </a:r>
            <a:r>
              <a:rPr lang="en-US" sz="2000" i="1" baseline="-25000" dirty="0"/>
              <a:t>x</a:t>
            </a:r>
            <a:r>
              <a:rPr lang="en-US" sz="2000" i="1" dirty="0"/>
              <a:t> = -1.7500</a:t>
            </a:r>
          </a:p>
        </p:txBody>
      </p:sp>
    </p:spTree>
    <p:extLst>
      <p:ext uri="{BB962C8B-B14F-4D97-AF65-F5344CB8AC3E}">
        <p14:creationId xmlns:p14="http://schemas.microsoft.com/office/powerpoint/2010/main" val="314319618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DC8F3-A6D8-274E-9E8F-C5C4AF077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30948" cy="1325563"/>
          </a:xfrm>
        </p:spPr>
        <p:txBody>
          <a:bodyPr/>
          <a:lstStyle/>
          <a:p>
            <a:r>
              <a:rPr lang="en-US" dirty="0"/>
              <a:t>Standard Error of Regression (</a:t>
            </a:r>
            <a:r>
              <a:rPr lang="en-US" i="1" dirty="0"/>
              <a:t>SD</a:t>
            </a:r>
            <a:r>
              <a:rPr lang="en-US" i="1" baseline="-25000" dirty="0"/>
              <a:t>Y’ or </a:t>
            </a:r>
            <a:r>
              <a:rPr lang="en-US" i="1" dirty="0"/>
              <a:t>SD</a:t>
            </a:r>
            <a:r>
              <a:rPr lang="en-US" i="1" baseline="-25000" dirty="0"/>
              <a:t>Y-Y’ </a:t>
            </a:r>
            <a:r>
              <a:rPr lang="en-US" dirty="0"/>
              <a:t>)</a:t>
            </a:r>
            <a:endParaRPr lang="en-US" baseline="-2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3A27C-E278-3048-AD24-21FD6A843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40812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/>
              <a:t>r</a:t>
            </a:r>
            <a:r>
              <a:rPr lang="en-US" b="1" dirty="0"/>
              <a:t>: </a:t>
            </a:r>
            <a:r>
              <a:rPr lang="en-US" dirty="0"/>
              <a:t>Standardized measure of association between X and 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dirty="0"/>
              <a:t>r</a:t>
            </a:r>
            <a:r>
              <a:rPr lang="en-US" b="1" baseline="30000" dirty="0"/>
              <a:t>2</a:t>
            </a:r>
            <a:r>
              <a:rPr lang="en-US" dirty="0"/>
              <a:t>: Proportion (or percent when x100) of variability accounted for in Y by variability in X</a:t>
            </a:r>
            <a:endParaRPr lang="en-US" i="1" dirty="0"/>
          </a:p>
          <a:p>
            <a:endParaRPr lang="en-US" i="1" baseline="300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D4B878-B9D0-8D40-ADA4-56729C922455}"/>
              </a:ext>
            </a:extLst>
          </p:cNvPr>
          <p:cNvGrpSpPr/>
          <p:nvPr/>
        </p:nvGrpSpPr>
        <p:grpSpPr>
          <a:xfrm>
            <a:off x="6605966" y="1544605"/>
            <a:ext cx="5668105" cy="4921888"/>
            <a:chOff x="6605966" y="1544605"/>
            <a:chExt cx="5668105" cy="492188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B40E2E7-8273-8F4C-B4AD-55CF895D7EEA}"/>
                </a:ext>
              </a:extLst>
            </p:cNvPr>
            <p:cNvGrpSpPr/>
            <p:nvPr/>
          </p:nvGrpSpPr>
          <p:grpSpPr>
            <a:xfrm>
              <a:off x="6605966" y="1544605"/>
              <a:ext cx="5668105" cy="4921888"/>
              <a:chOff x="6562286" y="1941604"/>
              <a:chExt cx="5180750" cy="4564024"/>
            </a:xfrm>
          </p:grpSpPr>
          <p:pic>
            <p:nvPicPr>
              <p:cNvPr id="33" name="Picture 32" descr="Chart, scatter chart&#10;&#10;Description automatically generated">
                <a:extLst>
                  <a:ext uri="{FF2B5EF4-FFF2-40B4-BE49-F238E27FC236}">
                    <a16:creationId xmlns:a16="http://schemas.microsoft.com/office/drawing/2014/main" id="{9E1C9DC7-EA68-5B43-8072-E498F2D74DA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0915" b="10995"/>
              <a:stretch/>
            </p:blipFill>
            <p:spPr>
              <a:xfrm>
                <a:off x="6805710" y="1941604"/>
                <a:ext cx="4937326" cy="4317005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D64A251-4327-2149-A676-D87DE572CED6}"/>
                  </a:ext>
                </a:extLst>
              </p:cNvPr>
              <p:cNvSpPr txBox="1"/>
              <p:nvPr/>
            </p:nvSpPr>
            <p:spPr>
              <a:xfrm>
                <a:off x="8657303" y="6105518"/>
                <a:ext cx="19704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Hours Exercising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C09B3FF-751F-7046-97D6-9C1BBA120DB6}"/>
                  </a:ext>
                </a:extLst>
              </p:cNvPr>
              <p:cNvSpPr txBox="1"/>
              <p:nvPr/>
            </p:nvSpPr>
            <p:spPr>
              <a:xfrm rot="16200000">
                <a:off x="5887582" y="3491578"/>
                <a:ext cx="174951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Wellness Score</a:t>
                </a:r>
              </a:p>
            </p:txBody>
          </p:sp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3CFA446-880C-CF42-AD66-7999CC3901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59344" y="2314290"/>
              <a:ext cx="3745744" cy="187499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C076270-BFFD-AA45-B903-13153D8634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90250" y="2264647"/>
              <a:ext cx="2790516" cy="2242908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31B2387-21FB-694D-8260-DB42F0D68B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9344" y="4189285"/>
              <a:ext cx="0" cy="308054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6FAE647-8815-0842-9521-A1A42F812C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5074" y="3830882"/>
              <a:ext cx="0" cy="160947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E587EB5-64DB-8845-9991-BE0C414B89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8062" y="2708378"/>
              <a:ext cx="0" cy="892466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FF912B0-FD0E-FF45-8373-7AAEFF3312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52257" y="2708378"/>
              <a:ext cx="0" cy="533012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9DA7187-D5B7-C849-A661-DAFC6C3019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52257" y="3241390"/>
              <a:ext cx="0" cy="476746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31C5764-4B8A-404F-914B-54271CC801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30630" y="3058510"/>
              <a:ext cx="0" cy="279538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08FCFAE-E452-C542-8D6B-E2332F4CADE2}"/>
                </a:ext>
              </a:extLst>
            </p:cNvPr>
            <p:cNvCxnSpPr>
              <a:cxnSpLocks/>
            </p:cNvCxnSpPr>
            <p:nvPr/>
          </p:nvCxnSpPr>
          <p:spPr>
            <a:xfrm>
              <a:off x="7807085" y="4507555"/>
              <a:ext cx="83165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5B632EA-5C84-AC47-BED7-3ADD9CE6D802}"/>
                </a:ext>
              </a:extLst>
            </p:cNvPr>
            <p:cNvCxnSpPr>
              <a:cxnSpLocks/>
            </p:cNvCxnSpPr>
            <p:nvPr/>
          </p:nvCxnSpPr>
          <p:spPr>
            <a:xfrm>
              <a:off x="8356776" y="4142846"/>
              <a:ext cx="93541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423FBE9-6611-2A49-85C1-FA9517E25F5E}"/>
                </a:ext>
              </a:extLst>
            </p:cNvPr>
            <p:cNvCxnSpPr>
              <a:cxnSpLocks/>
            </p:cNvCxnSpPr>
            <p:nvPr/>
          </p:nvCxnSpPr>
          <p:spPr>
            <a:xfrm>
              <a:off x="8195050" y="3783392"/>
              <a:ext cx="576884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9B0AAAE-D2B9-BC42-B6CE-209DA8381098}"/>
                </a:ext>
              </a:extLst>
            </p:cNvPr>
            <p:cNvCxnSpPr>
              <a:cxnSpLocks/>
            </p:cNvCxnSpPr>
            <p:nvPr/>
          </p:nvCxnSpPr>
          <p:spPr>
            <a:xfrm>
              <a:off x="8816077" y="3783392"/>
              <a:ext cx="764103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4384F6F-9669-A54B-87A5-B9F6F53674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2287" y="3408133"/>
              <a:ext cx="736331" cy="20867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2F5FBAC-F0C6-FE4F-AC0C-799A0AB1F7BD}"/>
                </a:ext>
              </a:extLst>
            </p:cNvPr>
            <p:cNvCxnSpPr>
              <a:cxnSpLocks/>
            </p:cNvCxnSpPr>
            <p:nvPr/>
          </p:nvCxnSpPr>
          <p:spPr>
            <a:xfrm>
              <a:off x="8969069" y="2655631"/>
              <a:ext cx="611111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D59C08F-24EE-A749-B82C-C37DC94B50B3}"/>
                </a:ext>
              </a:extLst>
            </p:cNvPr>
            <p:cNvCxnSpPr>
              <a:cxnSpLocks/>
            </p:cNvCxnSpPr>
            <p:nvPr/>
          </p:nvCxnSpPr>
          <p:spPr>
            <a:xfrm>
              <a:off x="9725964" y="2655631"/>
              <a:ext cx="420723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E8104CA-7269-584A-8704-74C65883F569}"/>
                </a:ext>
              </a:extLst>
            </p:cNvPr>
            <p:cNvCxnSpPr>
              <a:cxnSpLocks/>
            </p:cNvCxnSpPr>
            <p:nvPr/>
          </p:nvCxnSpPr>
          <p:spPr>
            <a:xfrm>
              <a:off x="10680766" y="2264647"/>
              <a:ext cx="805404" cy="0"/>
            </a:xfrm>
            <a:prstGeom prst="line">
              <a:avLst/>
            </a:prstGeom>
            <a:ln w="127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96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269830"/>
            <a:ext cx="6468542" cy="65881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Regression Conceptually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Computing Regression Lines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Standard Error of the Regression Line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Explained Variability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Formal Report</a:t>
            </a:r>
          </a:p>
        </p:txBody>
      </p:sp>
    </p:spTree>
    <p:extLst>
      <p:ext uri="{BB962C8B-B14F-4D97-AF65-F5344CB8AC3E}">
        <p14:creationId xmlns:p14="http://schemas.microsoft.com/office/powerpoint/2010/main" val="28364451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7B53-AA48-CA42-9757-69E2983D8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1249C-9655-784A-A086-61A0CFD5C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15" y="1825625"/>
            <a:ext cx="749678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investigated the relationship between </a:t>
            </a:r>
            <a:r>
              <a:rPr lang="en-US" b="1" dirty="0"/>
              <a:t>hours of exercise </a:t>
            </a:r>
            <a:r>
              <a:rPr lang="en-US" dirty="0"/>
              <a:t>(</a:t>
            </a:r>
            <a:r>
              <a:rPr lang="en-CA" b="1" i="1" dirty="0"/>
              <a:t>x</a:t>
            </a:r>
            <a:r>
              <a:rPr lang="en-CA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̅</a:t>
            </a:r>
            <a:r>
              <a:rPr lang="en-CA" b="1" i="1" dirty="0"/>
              <a:t> </a:t>
            </a:r>
            <a:r>
              <a:rPr lang="en-CA" b="1" dirty="0"/>
              <a:t>= 5.00, </a:t>
            </a:r>
            <a:r>
              <a:rPr lang="en-CA" b="1" i="1" dirty="0"/>
              <a:t>SD</a:t>
            </a:r>
            <a:r>
              <a:rPr lang="en-CA" b="1" i="1" baseline="-25000" dirty="0"/>
              <a:t>X</a:t>
            </a:r>
            <a:r>
              <a:rPr lang="en-CA" b="1" dirty="0"/>
              <a:t> = 3.00</a:t>
            </a:r>
            <a:r>
              <a:rPr lang="en-US" dirty="0"/>
              <a:t>) and a person’s </a:t>
            </a:r>
            <a:r>
              <a:rPr lang="en-US" b="1" dirty="0"/>
              <a:t>wellness</a:t>
            </a:r>
            <a:r>
              <a:rPr lang="en-US" dirty="0"/>
              <a:t> (</a:t>
            </a:r>
            <a:r>
              <a:rPr lang="en-US" b="1" i="1" dirty="0"/>
              <a:t>y</a:t>
            </a:r>
            <a:r>
              <a:rPr lang="en-U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̅</a:t>
            </a:r>
            <a:r>
              <a:rPr lang="en-US" b="1" i="1" dirty="0"/>
              <a:t> </a:t>
            </a:r>
            <a:r>
              <a:rPr lang="en-US" b="1" dirty="0"/>
              <a:t>= 6.00, </a:t>
            </a:r>
            <a:r>
              <a:rPr lang="en-US" b="1" i="1" dirty="0"/>
              <a:t>SD</a:t>
            </a:r>
            <a:r>
              <a:rPr lang="en-US" b="1" i="1" baseline="-25000" dirty="0"/>
              <a:t>Y</a:t>
            </a:r>
            <a:r>
              <a:rPr lang="en-US" b="1" dirty="0"/>
              <a:t> = 2.00</a:t>
            </a:r>
            <a:r>
              <a:rPr lang="en-US" dirty="0"/>
              <a:t>) in </a:t>
            </a:r>
            <a:r>
              <a:rPr lang="en-US" b="1" dirty="0"/>
              <a:t>eight</a:t>
            </a:r>
            <a:r>
              <a:rPr lang="en-US" dirty="0"/>
              <a:t> individuals, see Figure 1. There was a </a:t>
            </a:r>
            <a:r>
              <a:rPr lang="en-US" b="1" dirty="0"/>
              <a:t>strong</a:t>
            </a:r>
            <a:r>
              <a:rPr lang="en-US" dirty="0"/>
              <a:t>, </a:t>
            </a:r>
            <a:r>
              <a:rPr lang="en-US" b="1" dirty="0"/>
              <a:t>positive</a:t>
            </a:r>
            <a:r>
              <a:rPr lang="en-US" dirty="0"/>
              <a:t>, </a:t>
            </a:r>
            <a:r>
              <a:rPr lang="en-US" b="1" dirty="0"/>
              <a:t>linear</a:t>
            </a:r>
            <a:r>
              <a:rPr lang="en-US" dirty="0"/>
              <a:t> relationship between hours of exercise and wellness (</a:t>
            </a:r>
            <a:r>
              <a:rPr lang="en-US" b="1" i="1" dirty="0"/>
              <a:t>r</a:t>
            </a:r>
            <a:r>
              <a:rPr lang="en-US" b="1" dirty="0"/>
              <a:t> = 0.75, </a:t>
            </a:r>
            <a:r>
              <a:rPr lang="en-US" b="1" i="1" dirty="0"/>
              <a:t>b</a:t>
            </a:r>
            <a:r>
              <a:rPr lang="en-US" b="1" i="1" baseline="-25000" dirty="0"/>
              <a:t>y</a:t>
            </a:r>
            <a:r>
              <a:rPr lang="en-US" b="1" i="1" dirty="0"/>
              <a:t> </a:t>
            </a:r>
            <a:r>
              <a:rPr lang="en-US" b="1" dirty="0"/>
              <a:t>= 0.50</a:t>
            </a:r>
            <a:r>
              <a:rPr lang="en-US" b="1" i="1" dirty="0"/>
              <a:t>, a</a:t>
            </a:r>
            <a:r>
              <a:rPr lang="en-US" b="1" i="1" baseline="-25000" dirty="0"/>
              <a:t>y</a:t>
            </a:r>
            <a:r>
              <a:rPr lang="en-US" b="1" i="1" dirty="0"/>
              <a:t> </a:t>
            </a:r>
            <a:r>
              <a:rPr lang="en-US" b="1" dirty="0"/>
              <a:t>= 3.50</a:t>
            </a:r>
            <a:r>
              <a:rPr lang="en-US" b="1" i="1" dirty="0"/>
              <a:t>, SD</a:t>
            </a:r>
            <a:r>
              <a:rPr lang="en-US" b="1" i="1" baseline="-25000" dirty="0"/>
              <a:t>Y’</a:t>
            </a:r>
            <a:r>
              <a:rPr lang="en-US" b="1" dirty="0"/>
              <a:t> =1.32,</a:t>
            </a:r>
            <a:r>
              <a:rPr lang="en-US" b="1" i="1" dirty="0"/>
              <a:t> b</a:t>
            </a:r>
            <a:r>
              <a:rPr lang="en-US" b="1" i="1" baseline="-25000" dirty="0"/>
              <a:t>x</a:t>
            </a:r>
            <a:r>
              <a:rPr lang="en-US" b="1" dirty="0"/>
              <a:t> = 1.13, </a:t>
            </a:r>
            <a:r>
              <a:rPr lang="en-US" b="1" i="1" dirty="0"/>
              <a:t>a</a:t>
            </a:r>
            <a:r>
              <a:rPr lang="en-US" b="1" i="1" baseline="-25000" dirty="0"/>
              <a:t>x</a:t>
            </a:r>
            <a:r>
              <a:rPr lang="en-US" b="1" i="1" dirty="0"/>
              <a:t> </a:t>
            </a:r>
            <a:r>
              <a:rPr lang="en-US" b="1" dirty="0"/>
              <a:t>= -1.75, </a:t>
            </a:r>
            <a:r>
              <a:rPr lang="en-US" b="1" i="1" dirty="0"/>
              <a:t>SD</a:t>
            </a:r>
            <a:r>
              <a:rPr lang="en-US" b="1" i="1" baseline="-25000" dirty="0"/>
              <a:t>X’</a:t>
            </a:r>
            <a:r>
              <a:rPr lang="en-US" b="1" dirty="0"/>
              <a:t> = 1.98</a:t>
            </a:r>
            <a:r>
              <a:rPr lang="en-US" dirty="0"/>
              <a:t>), which explained </a:t>
            </a:r>
            <a:r>
              <a:rPr lang="en-US" b="1" dirty="0"/>
              <a:t>56% of variability </a:t>
            </a:r>
            <a:r>
              <a:rPr lang="en-US" dirty="0"/>
              <a:t>in our data. </a:t>
            </a:r>
            <a:r>
              <a:rPr lang="en-US" b="1" dirty="0"/>
              <a:t>In summary, increased hours of exercise was associated with increased wellness.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34A3232-E8BF-2942-954A-FFD9CC0EAD1E}"/>
              </a:ext>
            </a:extLst>
          </p:cNvPr>
          <p:cNvGrpSpPr/>
          <p:nvPr/>
        </p:nvGrpSpPr>
        <p:grpSpPr>
          <a:xfrm>
            <a:off x="7707797" y="1348775"/>
            <a:ext cx="4109062" cy="3567492"/>
            <a:chOff x="6373351" y="1544605"/>
            <a:chExt cx="5900719" cy="512301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A6A089C-FC3E-2648-A53E-F71313C15B37}"/>
                </a:ext>
              </a:extLst>
            </p:cNvPr>
            <p:cNvGrpSpPr/>
            <p:nvPr/>
          </p:nvGrpSpPr>
          <p:grpSpPr>
            <a:xfrm>
              <a:off x="6373351" y="1544605"/>
              <a:ext cx="5900719" cy="5123014"/>
              <a:chOff x="6349672" y="1941604"/>
              <a:chExt cx="5393364" cy="4750527"/>
            </a:xfrm>
          </p:grpSpPr>
          <p:pic>
            <p:nvPicPr>
              <p:cNvPr id="17" name="Picture 16" descr="Chart, scatter chart&#10;&#10;Description automatically generated">
                <a:extLst>
                  <a:ext uri="{FF2B5EF4-FFF2-40B4-BE49-F238E27FC236}">
                    <a16:creationId xmlns:a16="http://schemas.microsoft.com/office/drawing/2014/main" id="{3144E883-09F9-444E-B422-32B173C4A3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0915" b="10995"/>
              <a:stretch/>
            </p:blipFill>
            <p:spPr>
              <a:xfrm>
                <a:off x="6805710" y="1941604"/>
                <a:ext cx="4937326" cy="4317005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C8C567-F928-F848-BF97-FECD05E35E73}"/>
                  </a:ext>
                </a:extLst>
              </p:cNvPr>
              <p:cNvSpPr txBox="1"/>
              <p:nvPr/>
            </p:nvSpPr>
            <p:spPr>
              <a:xfrm>
                <a:off x="8150919" y="6200323"/>
                <a:ext cx="2354827" cy="49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Hours Exercising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971C3C0-F529-FA46-91AF-4E41750EC5DA}"/>
                  </a:ext>
                </a:extLst>
              </p:cNvPr>
              <p:cNvSpPr txBox="1"/>
              <p:nvPr/>
            </p:nvSpPr>
            <p:spPr>
              <a:xfrm rot="16200000">
                <a:off x="5529887" y="3857721"/>
                <a:ext cx="2124338" cy="4847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Wellness Score</a:t>
                </a:r>
              </a:p>
            </p:txBody>
          </p: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140B2BE-690C-FE40-94FA-7097D76A3C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59344" y="2314290"/>
              <a:ext cx="3745744" cy="187499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5DAB49E-D143-AD43-A132-0F08486C39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90250" y="2314289"/>
              <a:ext cx="2726922" cy="218305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A28B71F-2FA0-9E42-B15E-8F0E577D2CE1}"/>
              </a:ext>
            </a:extLst>
          </p:cNvPr>
          <p:cNvSpPr txBox="1"/>
          <p:nvPr/>
        </p:nvSpPr>
        <p:spPr>
          <a:xfrm>
            <a:off x="7707796" y="4976634"/>
            <a:ext cx="45799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 1</a:t>
            </a:r>
            <a:r>
              <a:rPr lang="en-US" dirty="0"/>
              <a:t>. Association between hours of exercise and wellness scores. Red line corresponds to a regression line for predicting wellness from hours of exercise and blue line corresponds to a regression line for predicting hours of exercise from wellness.</a:t>
            </a:r>
          </a:p>
        </p:txBody>
      </p:sp>
    </p:spTree>
    <p:extLst>
      <p:ext uri="{BB962C8B-B14F-4D97-AF65-F5344CB8AC3E}">
        <p14:creationId xmlns:p14="http://schemas.microsoft.com/office/powerpoint/2010/main" val="272247270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2C5F8-6A7B-38AE-5B6D-75917713C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47338-011C-9D50-3DF8-7C9844D83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EE06A-1348-268E-8CD1-F278D912B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15" y="1825625"/>
            <a:ext cx="749678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investigated the relationship between </a:t>
            </a:r>
            <a:r>
              <a:rPr lang="en-US" b="1" dirty="0"/>
              <a:t>hours of exercise </a:t>
            </a:r>
            <a:r>
              <a:rPr lang="en-US" dirty="0"/>
              <a:t>(</a:t>
            </a:r>
            <a:r>
              <a:rPr lang="en-CA" b="1" i="1" dirty="0"/>
              <a:t>x</a:t>
            </a:r>
            <a:r>
              <a:rPr lang="en-CA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̅</a:t>
            </a:r>
            <a:r>
              <a:rPr lang="en-CA" b="1" i="1" dirty="0"/>
              <a:t> </a:t>
            </a:r>
            <a:r>
              <a:rPr lang="en-CA" b="1" dirty="0"/>
              <a:t>= 5.00, </a:t>
            </a:r>
            <a:r>
              <a:rPr lang="en-CA" b="1" i="1" dirty="0"/>
              <a:t>SD</a:t>
            </a:r>
            <a:r>
              <a:rPr lang="en-CA" b="1" i="1" baseline="-25000" dirty="0"/>
              <a:t>X</a:t>
            </a:r>
            <a:r>
              <a:rPr lang="en-CA" b="1" dirty="0"/>
              <a:t> = 3.00</a:t>
            </a:r>
            <a:r>
              <a:rPr lang="en-US" dirty="0"/>
              <a:t>) and a person’s </a:t>
            </a:r>
            <a:r>
              <a:rPr lang="en-US" b="1" dirty="0"/>
              <a:t>wellness</a:t>
            </a:r>
            <a:r>
              <a:rPr lang="en-US" dirty="0"/>
              <a:t> (</a:t>
            </a:r>
            <a:r>
              <a:rPr lang="en-US" b="1" i="1" dirty="0"/>
              <a:t>y</a:t>
            </a:r>
            <a:r>
              <a:rPr lang="en-U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̅</a:t>
            </a:r>
            <a:r>
              <a:rPr lang="en-US" b="1" i="1" dirty="0"/>
              <a:t> </a:t>
            </a:r>
            <a:r>
              <a:rPr lang="en-US" b="1" dirty="0"/>
              <a:t>= 6.00, </a:t>
            </a:r>
            <a:r>
              <a:rPr lang="en-US" b="1" i="1" dirty="0"/>
              <a:t>SD</a:t>
            </a:r>
            <a:r>
              <a:rPr lang="en-US" b="1" i="1" baseline="-25000" dirty="0"/>
              <a:t>Y</a:t>
            </a:r>
            <a:r>
              <a:rPr lang="en-US" b="1" dirty="0"/>
              <a:t> = 2.00</a:t>
            </a:r>
            <a:r>
              <a:rPr lang="en-US" dirty="0"/>
              <a:t>) in </a:t>
            </a:r>
            <a:r>
              <a:rPr lang="en-US" b="1" dirty="0"/>
              <a:t>eight</a:t>
            </a:r>
            <a:r>
              <a:rPr lang="en-US" dirty="0"/>
              <a:t> individuals, see Figure 1. There was a </a:t>
            </a:r>
            <a:r>
              <a:rPr lang="en-US" b="1" dirty="0"/>
              <a:t>strong</a:t>
            </a:r>
            <a:r>
              <a:rPr lang="en-US" dirty="0"/>
              <a:t>, </a:t>
            </a:r>
            <a:r>
              <a:rPr lang="en-US" b="1" dirty="0"/>
              <a:t>positive</a:t>
            </a:r>
            <a:r>
              <a:rPr lang="en-US" dirty="0"/>
              <a:t>, </a:t>
            </a:r>
            <a:r>
              <a:rPr lang="en-US" b="1" dirty="0"/>
              <a:t>linear</a:t>
            </a:r>
            <a:r>
              <a:rPr lang="en-US" dirty="0"/>
              <a:t> relationship between hours of exercise and wellness (</a:t>
            </a:r>
            <a:r>
              <a:rPr lang="en-US" b="1" i="1" dirty="0">
                <a:solidFill>
                  <a:srgbClr val="FF0000"/>
                </a:solidFill>
              </a:rPr>
              <a:t>r</a:t>
            </a:r>
            <a:r>
              <a:rPr lang="en-US" b="1" dirty="0">
                <a:solidFill>
                  <a:srgbClr val="FF0000"/>
                </a:solidFill>
              </a:rPr>
              <a:t> = 0.75, </a:t>
            </a:r>
            <a:r>
              <a:rPr lang="en-US" b="1" i="1" dirty="0">
                <a:solidFill>
                  <a:srgbClr val="FF0000"/>
                </a:solidFill>
              </a:rPr>
              <a:t>Y’</a:t>
            </a:r>
            <a:r>
              <a:rPr lang="en-US" b="1" dirty="0">
                <a:solidFill>
                  <a:srgbClr val="FF0000"/>
                </a:solidFill>
              </a:rPr>
              <a:t> = 3.50 + 0.50(X), </a:t>
            </a:r>
            <a:r>
              <a:rPr lang="en-US" b="1" i="1" dirty="0">
                <a:solidFill>
                  <a:srgbClr val="FF0000"/>
                </a:solidFill>
              </a:rPr>
              <a:t>SD</a:t>
            </a:r>
            <a:r>
              <a:rPr lang="en-US" b="1" i="1" baseline="-25000" dirty="0">
                <a:solidFill>
                  <a:srgbClr val="FF0000"/>
                </a:solidFill>
              </a:rPr>
              <a:t>Y’</a:t>
            </a:r>
            <a:r>
              <a:rPr lang="en-US" b="1" dirty="0">
                <a:solidFill>
                  <a:srgbClr val="FF0000"/>
                </a:solidFill>
              </a:rPr>
              <a:t> =1.32, </a:t>
            </a:r>
            <a:r>
              <a:rPr lang="en-US" b="1" i="1" dirty="0">
                <a:solidFill>
                  <a:srgbClr val="FF0000"/>
                </a:solidFill>
              </a:rPr>
              <a:t>X’</a:t>
            </a:r>
            <a:r>
              <a:rPr lang="en-US" b="1" dirty="0">
                <a:solidFill>
                  <a:srgbClr val="FF0000"/>
                </a:solidFill>
              </a:rPr>
              <a:t> = -1.75 + 1.13(Y), </a:t>
            </a:r>
            <a:r>
              <a:rPr lang="en-US" b="1" i="1" dirty="0">
                <a:solidFill>
                  <a:srgbClr val="FF0000"/>
                </a:solidFill>
              </a:rPr>
              <a:t>SD</a:t>
            </a:r>
            <a:r>
              <a:rPr lang="en-US" b="1" i="1" baseline="-25000" dirty="0">
                <a:solidFill>
                  <a:srgbClr val="FF0000"/>
                </a:solidFill>
              </a:rPr>
              <a:t>X’</a:t>
            </a:r>
            <a:r>
              <a:rPr lang="en-US" b="1" dirty="0">
                <a:solidFill>
                  <a:srgbClr val="FF0000"/>
                </a:solidFill>
              </a:rPr>
              <a:t> = 1.98</a:t>
            </a:r>
            <a:r>
              <a:rPr lang="en-US" dirty="0"/>
              <a:t>), which explained </a:t>
            </a:r>
            <a:r>
              <a:rPr lang="en-US" b="1" dirty="0"/>
              <a:t>56% of variability </a:t>
            </a:r>
            <a:r>
              <a:rPr lang="en-US" dirty="0"/>
              <a:t>in our data. </a:t>
            </a:r>
            <a:r>
              <a:rPr lang="en-US" b="1" dirty="0"/>
              <a:t>In summary, increased hours of exercise was associated with increased wellness.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D5AB526-9598-4607-E86F-AAD93A8FCA53}"/>
              </a:ext>
            </a:extLst>
          </p:cNvPr>
          <p:cNvGrpSpPr/>
          <p:nvPr/>
        </p:nvGrpSpPr>
        <p:grpSpPr>
          <a:xfrm>
            <a:off x="7707797" y="1348775"/>
            <a:ext cx="4109062" cy="3567492"/>
            <a:chOff x="6373351" y="1544605"/>
            <a:chExt cx="5900719" cy="512301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19D84A9-4F59-00FD-432B-FB93539657E7}"/>
                </a:ext>
              </a:extLst>
            </p:cNvPr>
            <p:cNvGrpSpPr/>
            <p:nvPr/>
          </p:nvGrpSpPr>
          <p:grpSpPr>
            <a:xfrm>
              <a:off x="6373351" y="1544605"/>
              <a:ext cx="5900719" cy="5123014"/>
              <a:chOff x="6349672" y="1941604"/>
              <a:chExt cx="5393364" cy="4750527"/>
            </a:xfrm>
          </p:grpSpPr>
          <p:pic>
            <p:nvPicPr>
              <p:cNvPr id="17" name="Picture 16" descr="Chart, scatter chart&#10;&#10;Description automatically generated">
                <a:extLst>
                  <a:ext uri="{FF2B5EF4-FFF2-40B4-BE49-F238E27FC236}">
                    <a16:creationId xmlns:a16="http://schemas.microsoft.com/office/drawing/2014/main" id="{D537BC30-F5FA-76D3-1D5E-110C78D08D7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0915" b="10995"/>
              <a:stretch/>
            </p:blipFill>
            <p:spPr>
              <a:xfrm>
                <a:off x="6805710" y="1941604"/>
                <a:ext cx="4937326" cy="4317005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C3D145C-BC65-F0D1-904A-96E953CE5DCB}"/>
                  </a:ext>
                </a:extLst>
              </p:cNvPr>
              <p:cNvSpPr txBox="1"/>
              <p:nvPr/>
            </p:nvSpPr>
            <p:spPr>
              <a:xfrm>
                <a:off x="8150919" y="6200323"/>
                <a:ext cx="2354827" cy="491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Hours Exercising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277D629-F4D7-E965-6FFB-79D72A834EBF}"/>
                  </a:ext>
                </a:extLst>
              </p:cNvPr>
              <p:cNvSpPr txBox="1"/>
              <p:nvPr/>
            </p:nvSpPr>
            <p:spPr>
              <a:xfrm rot="16200000">
                <a:off x="5529887" y="3857721"/>
                <a:ext cx="2124338" cy="4847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Wellness Score</a:t>
                </a:r>
              </a:p>
            </p:txBody>
          </p: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67DFF71-AF6A-18DC-36FC-7DA053D315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59344" y="2314290"/>
              <a:ext cx="3745744" cy="187499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3D174C7-A50B-425C-0DF0-9649AECDB1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90250" y="2314289"/>
              <a:ext cx="2726922" cy="218305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2654798-D735-C844-35C5-84B10D769326}"/>
              </a:ext>
            </a:extLst>
          </p:cNvPr>
          <p:cNvSpPr txBox="1"/>
          <p:nvPr/>
        </p:nvSpPr>
        <p:spPr>
          <a:xfrm>
            <a:off x="7707796" y="4976634"/>
            <a:ext cx="45799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 1</a:t>
            </a:r>
            <a:r>
              <a:rPr lang="en-US" dirty="0"/>
              <a:t>. Association between hours of exercise and wellness scores. Red line corresponds to a regression line for predicting wellness from hours of exercise and blue line corresponds to a regression line for predicting hours of exercise from wellness.</a:t>
            </a:r>
          </a:p>
        </p:txBody>
      </p:sp>
    </p:spTree>
    <p:extLst>
      <p:ext uri="{BB962C8B-B14F-4D97-AF65-F5344CB8AC3E}">
        <p14:creationId xmlns:p14="http://schemas.microsoft.com/office/powerpoint/2010/main" val="297042844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4446E09C-DBAC-1476-8BD9-7EDE2807E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912" y="0"/>
            <a:ext cx="66921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7906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83FF4-D4F8-9875-6B27-9F213B2F0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Notes on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5CDD0-C2F8-D728-9C7F-A2DFD8DD5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Regression is a type of </a:t>
            </a:r>
            <a:r>
              <a:rPr lang="en-US" b="1" dirty="0"/>
              <a:t>machine learning (ML)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Predictive ML</a:t>
            </a:r>
            <a:r>
              <a:rPr lang="en-US" dirty="0"/>
              <a:t>: Model that predicts a continuous value</a:t>
            </a:r>
          </a:p>
          <a:p>
            <a:pPr lvl="1"/>
            <a:r>
              <a:rPr lang="en-US" dirty="0"/>
              <a:t>E.g., </a:t>
            </a:r>
            <a:r>
              <a:rPr lang="en-US" i="1" dirty="0"/>
              <a:t>predict</a:t>
            </a:r>
            <a:r>
              <a:rPr lang="en-US" dirty="0"/>
              <a:t> your final exam score based on your last midterm</a:t>
            </a:r>
          </a:p>
          <a:p>
            <a:pPr lvl="1"/>
            <a:r>
              <a:rPr lang="en-US" dirty="0"/>
              <a:t>This is what we did</a:t>
            </a:r>
          </a:p>
          <a:p>
            <a:pPr lvl="1"/>
            <a:endParaRPr lang="en-US" dirty="0"/>
          </a:p>
          <a:p>
            <a:r>
              <a:rPr lang="en-US" b="1" dirty="0"/>
              <a:t>Classification ML</a:t>
            </a:r>
            <a:r>
              <a:rPr lang="en-US" dirty="0"/>
              <a:t>: Model that predicts a categorical outcome</a:t>
            </a:r>
          </a:p>
          <a:p>
            <a:pPr lvl="1"/>
            <a:r>
              <a:rPr lang="en-US" dirty="0"/>
              <a:t>E.g., </a:t>
            </a:r>
            <a:r>
              <a:rPr lang="en-US" i="1" dirty="0"/>
              <a:t>classify</a:t>
            </a:r>
            <a:r>
              <a:rPr lang="en-US" dirty="0"/>
              <a:t> whether you have diabetes or not</a:t>
            </a:r>
          </a:p>
          <a:p>
            <a:pPr lvl="1"/>
            <a:r>
              <a:rPr lang="en-US" dirty="0"/>
              <a:t>Can be done with a logistic regression, which is a modified linear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BCB79D-BFAE-B2C4-2BB8-69F035C35576}"/>
              </a:ext>
            </a:extLst>
          </p:cNvPr>
          <p:cNvSpPr txBox="1"/>
          <p:nvPr/>
        </p:nvSpPr>
        <p:spPr>
          <a:xfrm>
            <a:off x="935135" y="1204159"/>
            <a:ext cx="3381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You will not be tested on this slide</a:t>
            </a:r>
          </a:p>
        </p:txBody>
      </p:sp>
    </p:spTree>
    <p:extLst>
      <p:ext uri="{BB962C8B-B14F-4D97-AF65-F5344CB8AC3E}">
        <p14:creationId xmlns:p14="http://schemas.microsoft.com/office/powerpoint/2010/main" val="2564515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18753-40F2-7BD4-FB71-B8797926E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43ADC-136D-014E-FB59-BA01AE6B4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Notes on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263A8-C9CF-AB49-45BA-165F0AB95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66846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Regression can handle any inferential test you will learn in </a:t>
            </a:r>
            <a:r>
              <a:rPr lang="en-US" dirty="0" err="1"/>
              <a:t>Psyc</a:t>
            </a:r>
            <a:r>
              <a:rPr lang="en-US" dirty="0"/>
              <a:t> 300A and </a:t>
            </a:r>
            <a:r>
              <a:rPr lang="en-US" dirty="0" err="1"/>
              <a:t>Psyc</a:t>
            </a:r>
            <a:r>
              <a:rPr lang="en-US" dirty="0"/>
              <a:t> 300B</a:t>
            </a:r>
          </a:p>
          <a:p>
            <a:r>
              <a:rPr lang="en-US" dirty="0"/>
              <a:t>E.g., T-Tests (300A), ANOVAs (300B)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can also handle very complex designs</a:t>
            </a:r>
          </a:p>
          <a:p>
            <a:r>
              <a:rPr lang="en-US" dirty="0"/>
              <a:t>E.g., linear mixed-effects models (not covered in </a:t>
            </a:r>
            <a:r>
              <a:rPr lang="en-US" dirty="0" err="1"/>
              <a:t>Psyc</a:t>
            </a:r>
            <a:r>
              <a:rPr lang="en-US" dirty="0"/>
              <a:t> 300A/B)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56A1F-550F-82AD-9559-4C1D6B62359C}"/>
              </a:ext>
            </a:extLst>
          </p:cNvPr>
          <p:cNvSpPr txBox="1"/>
          <p:nvPr/>
        </p:nvSpPr>
        <p:spPr>
          <a:xfrm>
            <a:off x="935135" y="1204159"/>
            <a:ext cx="3381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You will not be tested on this slide</a:t>
            </a:r>
          </a:p>
        </p:txBody>
      </p:sp>
      <p:pic>
        <p:nvPicPr>
          <p:cNvPr id="7" name="Picture 6" descr="A picture containing text, person, player, pressure suit&#10;&#10;Description automatically generated">
            <a:extLst>
              <a:ext uri="{FF2B5EF4-FFF2-40B4-BE49-F238E27FC236}">
                <a16:creationId xmlns:a16="http://schemas.microsoft.com/office/drawing/2014/main" id="{85930153-56D5-294D-A300-18273DA07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4047" y="1983886"/>
            <a:ext cx="6758147" cy="383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91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33129-C00B-120B-3925-17A6B35FB5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Extra Resources</a:t>
            </a:r>
          </a:p>
        </p:txBody>
      </p:sp>
    </p:spTree>
    <p:extLst>
      <p:ext uri="{BB962C8B-B14F-4D97-AF65-F5344CB8AC3E}">
        <p14:creationId xmlns:p14="http://schemas.microsoft.com/office/powerpoint/2010/main" val="51688107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9BF46D8-83F2-20C5-E5A0-BBE93B037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29" y="1354922"/>
            <a:ext cx="9558341" cy="54059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3FC71E-40EC-04AE-1ECB-C58B47DEA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Stats Problem Generator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CBF4CE-79C9-745B-666D-AD631F6E69F1}"/>
              </a:ext>
            </a:extLst>
          </p:cNvPr>
          <p:cNvSpPr txBox="1"/>
          <p:nvPr/>
        </p:nvSpPr>
        <p:spPr>
          <a:xfrm>
            <a:off x="6354792" y="63915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https://chadcwilliams.shinyapps.io/StatsProblemGenerator/</a:t>
            </a:r>
          </a:p>
        </p:txBody>
      </p:sp>
    </p:spTree>
    <p:extLst>
      <p:ext uri="{BB962C8B-B14F-4D97-AF65-F5344CB8AC3E}">
        <p14:creationId xmlns:p14="http://schemas.microsoft.com/office/powerpoint/2010/main" val="397381909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45057-EAA4-AB81-E2EF-A86049DFE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Resources</a:t>
            </a:r>
          </a:p>
        </p:txBody>
      </p:sp>
      <p:pic>
        <p:nvPicPr>
          <p:cNvPr id="11" name="Picture 10">
            <a:hlinkClick r:id="rId2"/>
            <a:extLst>
              <a:ext uri="{FF2B5EF4-FFF2-40B4-BE49-F238E27FC236}">
                <a16:creationId xmlns:a16="http://schemas.microsoft.com/office/drawing/2014/main" id="{A8708B6D-8724-E3F5-AA75-F551228C9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385" y="2204943"/>
            <a:ext cx="5515230" cy="31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64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9931</TotalTime>
  <Words>4822</Words>
  <Application>Microsoft Office PowerPoint</Application>
  <PresentationFormat>Widescreen</PresentationFormat>
  <Paragraphs>1024</Paragraphs>
  <Slides>80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7" baseType="lpstr">
      <vt:lpstr>Aptos</vt:lpstr>
      <vt:lpstr>Arial</vt:lpstr>
      <vt:lpstr>Calibri</vt:lpstr>
      <vt:lpstr>Calibri Light</vt:lpstr>
      <vt:lpstr>Cambria Math</vt:lpstr>
      <vt:lpstr>Times New Roman</vt:lpstr>
      <vt:lpstr>Office Theme</vt:lpstr>
      <vt:lpstr>Regression</vt:lpstr>
      <vt:lpstr>PowerPoint Presentation</vt:lpstr>
      <vt:lpstr>PowerPoint Presentation</vt:lpstr>
      <vt:lpstr>Regression Conceptually</vt:lpstr>
      <vt:lpstr>Regression Conceptually</vt:lpstr>
      <vt:lpstr>Regression Conceptually</vt:lpstr>
      <vt:lpstr>Regression Conceptually</vt:lpstr>
      <vt:lpstr>Regression Conceptually</vt:lpstr>
      <vt:lpstr>Regression Conceptually</vt:lpstr>
      <vt:lpstr>Regression Conceptually</vt:lpstr>
      <vt:lpstr>Regression Conceptually</vt:lpstr>
      <vt:lpstr>Regression Conceptually</vt:lpstr>
      <vt:lpstr>Regression Conceptually</vt:lpstr>
      <vt:lpstr>Regression Conceptually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Computing the Regression Line</vt:lpstr>
      <vt:lpstr>Computing the Regression Line</vt:lpstr>
      <vt:lpstr>Computing the Regression Line</vt:lpstr>
      <vt:lpstr>Computing the Regression Line</vt:lpstr>
      <vt:lpstr>Computing the Regression Line</vt:lpstr>
      <vt:lpstr>Computing the Regression Line</vt:lpstr>
      <vt:lpstr>Computing the Regression Line</vt:lpstr>
      <vt:lpstr>Computing the Regression Line</vt:lpstr>
      <vt:lpstr>Slope (b)</vt:lpstr>
      <vt:lpstr>Slope (b)</vt:lpstr>
      <vt:lpstr>Slope (b)</vt:lpstr>
      <vt:lpstr>Computing the Regression Line</vt:lpstr>
      <vt:lpstr>Intercept (a)</vt:lpstr>
      <vt:lpstr>Intercept (a)</vt:lpstr>
      <vt:lpstr>Intercept (a)</vt:lpstr>
      <vt:lpstr>Intercept (a)</vt:lpstr>
      <vt:lpstr>Computing the Regression Line</vt:lpstr>
      <vt:lpstr>Defining the Regression Line</vt:lpstr>
      <vt:lpstr>Defining the Regression Line</vt:lpstr>
      <vt:lpstr>Computing the Regression Line</vt:lpstr>
      <vt:lpstr>Plotting the Regression Line</vt:lpstr>
      <vt:lpstr>Plotting the Regression Line</vt:lpstr>
      <vt:lpstr>Plotting the Regression Line</vt:lpstr>
      <vt:lpstr>Plotting the Regression Line</vt:lpstr>
      <vt:lpstr>Plotting the Regression Line</vt:lpstr>
      <vt:lpstr>Regression and Correlation</vt:lpstr>
      <vt:lpstr>Regression and Correlation</vt:lpstr>
      <vt:lpstr>Computing the Regression Line</vt:lpstr>
      <vt:lpstr>PowerPoint Presentation</vt:lpstr>
      <vt:lpstr>PowerPoint Presentation</vt:lpstr>
      <vt:lpstr>Standard Error of Regression (SDY’ or SDY-Y’ )</vt:lpstr>
      <vt:lpstr>Standard Error of Regression (SDY’ or SDY-Y’ )</vt:lpstr>
      <vt:lpstr>Standard Error of Regression (SDY’ or SDY-Y’ )</vt:lpstr>
      <vt:lpstr>Standard Error of Regression (SDY’ or SDY-Y’ )</vt:lpstr>
      <vt:lpstr>Standard Error of Regression (SDY’ or SDY-Y’ )</vt:lpstr>
      <vt:lpstr>PowerPoint Presentation</vt:lpstr>
      <vt:lpstr>PowerPoint Presentation</vt:lpstr>
      <vt:lpstr>Variability Explained</vt:lpstr>
      <vt:lpstr>Variability Explained</vt:lpstr>
      <vt:lpstr>Variability Explained</vt:lpstr>
      <vt:lpstr>Variability Explained</vt:lpstr>
      <vt:lpstr>Variability Explained</vt:lpstr>
      <vt:lpstr>Variability Explained</vt:lpstr>
      <vt:lpstr>Variability Explained</vt:lpstr>
      <vt:lpstr>Variability Explained</vt:lpstr>
      <vt:lpstr>Variability Explained</vt:lpstr>
      <vt:lpstr>Variability Explained</vt:lpstr>
      <vt:lpstr>Variability Explained</vt:lpstr>
      <vt:lpstr>Variability Explained</vt:lpstr>
      <vt:lpstr>Variability Explained w/ Sums of Squares</vt:lpstr>
      <vt:lpstr>Variability Explained w/ Sums of Squares</vt:lpstr>
      <vt:lpstr>Standard Error of Regression (SDY’ or SDY-Y’ )</vt:lpstr>
      <vt:lpstr>PowerPoint Presentation</vt:lpstr>
      <vt:lpstr>Formal Report</vt:lpstr>
      <vt:lpstr>Formal Report</vt:lpstr>
      <vt:lpstr>PowerPoint Presentation</vt:lpstr>
      <vt:lpstr>Final Notes on Regression</vt:lpstr>
      <vt:lpstr>Final Notes on Regression</vt:lpstr>
      <vt:lpstr>Extra Resources</vt:lpstr>
      <vt:lpstr>Stats Problem Generator</vt:lpstr>
      <vt:lpstr>Extra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</dc:title>
  <dc:creator>Microsoft Office User</dc:creator>
  <cp:lastModifiedBy>Chad Williams</cp:lastModifiedBy>
  <cp:revision>282</cp:revision>
  <dcterms:created xsi:type="dcterms:W3CDTF">2021-06-02T00:02:23Z</dcterms:created>
  <dcterms:modified xsi:type="dcterms:W3CDTF">2026-08-17T19:30:40Z</dcterms:modified>
</cp:coreProperties>
</file>