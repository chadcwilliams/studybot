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7" r:id="rId2"/>
    <p:sldId id="323" r:id="rId3"/>
    <p:sldId id="431" r:id="rId4"/>
    <p:sldId id="464" r:id="rId5"/>
    <p:sldId id="370" r:id="rId6"/>
    <p:sldId id="256" r:id="rId7"/>
    <p:sldId id="474" r:id="rId8"/>
    <p:sldId id="476" r:id="rId9"/>
    <p:sldId id="475" r:id="rId10"/>
    <p:sldId id="432" r:id="rId11"/>
    <p:sldId id="452" r:id="rId12"/>
    <p:sldId id="451" r:id="rId13"/>
    <p:sldId id="376" r:id="rId14"/>
    <p:sldId id="447" r:id="rId15"/>
    <p:sldId id="377" r:id="rId16"/>
    <p:sldId id="448" r:id="rId17"/>
    <p:sldId id="378" r:id="rId18"/>
    <p:sldId id="449" r:id="rId19"/>
    <p:sldId id="465" r:id="rId20"/>
    <p:sldId id="433" r:id="rId21"/>
    <p:sldId id="379" r:id="rId22"/>
    <p:sldId id="380" r:id="rId23"/>
    <p:sldId id="453" r:id="rId24"/>
    <p:sldId id="381" r:id="rId25"/>
    <p:sldId id="454" r:id="rId26"/>
    <p:sldId id="382" r:id="rId27"/>
    <p:sldId id="455" r:id="rId28"/>
    <p:sldId id="385" r:id="rId29"/>
    <p:sldId id="477" r:id="rId30"/>
    <p:sldId id="461" r:id="rId31"/>
    <p:sldId id="456" r:id="rId32"/>
    <p:sldId id="386" r:id="rId33"/>
    <p:sldId id="387" r:id="rId34"/>
    <p:sldId id="457" r:id="rId35"/>
    <p:sldId id="388" r:id="rId36"/>
    <p:sldId id="389" r:id="rId37"/>
    <p:sldId id="444" r:id="rId38"/>
    <p:sldId id="462" r:id="rId39"/>
    <p:sldId id="463"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F2F7"/>
    <a:srgbClr val="2C5F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5846C2-5843-4CE0-9178-59DC91B7AE3C}" v="27" dt="2026-08-20T21:02:03.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28" autoAdjust="0"/>
    <p:restoredTop sz="96327"/>
  </p:normalViewPr>
  <p:slideViewPr>
    <p:cSldViewPr snapToGrid="0" snapToObjects="1">
      <p:cViewPr>
        <p:scale>
          <a:sx n="103" d="100"/>
          <a:sy n="103" d="100"/>
        </p:scale>
        <p:origin x="416" y="5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redo custSel addSld delSld modSld sldOrd">
      <pc:chgData name="Chad Williams" userId="618f96a3-8672-4e43-ae03-eeed93bb7387" providerId="ADAL" clId="{DFF2BB08-185E-495B-B2A0-BE0942C7B81E}" dt="2026-08-20T21:02:03.404" v="2966" actId="20577"/>
      <pc:docMkLst>
        <pc:docMk/>
      </pc:docMkLst>
      <pc:sldChg chg="add del">
        <pc:chgData name="Chad Williams" userId="618f96a3-8672-4e43-ae03-eeed93bb7387" providerId="ADAL" clId="{DFF2BB08-185E-495B-B2A0-BE0942C7B81E}" dt="2026-07-23T20:55:12.658" v="2755" actId="47"/>
        <pc:sldMkLst>
          <pc:docMk/>
          <pc:sldMk cId="0" sldId="256"/>
        </pc:sldMkLst>
      </pc:sldChg>
      <pc:sldChg chg="modSp mod">
        <pc:chgData name="Chad Williams" userId="618f96a3-8672-4e43-ae03-eeed93bb7387" providerId="ADAL" clId="{DFF2BB08-185E-495B-B2A0-BE0942C7B81E}" dt="2026-07-22T22:51:11.185" v="2701" actId="20577"/>
        <pc:sldMkLst>
          <pc:docMk/>
          <pc:sldMk cId="3639529187" sldId="257"/>
        </pc:sldMkLst>
        <pc:spChg chg="mod">
          <ac:chgData name="Chad Williams" userId="618f96a3-8672-4e43-ae03-eeed93bb7387" providerId="ADAL" clId="{DFF2BB08-185E-495B-B2A0-BE0942C7B81E}" dt="2026-07-22T22:51:11.185" v="2701" actId="20577"/>
          <ac:spMkLst>
            <pc:docMk/>
            <pc:sldMk cId="3639529187" sldId="257"/>
            <ac:spMk id="2" creationId="{85904505-984A-784F-B784-AEBB8FD005B0}"/>
          </ac:spMkLst>
        </pc:spChg>
      </pc:sldChg>
      <pc:sldChg chg="modSp ord">
        <pc:chgData name="Chad Williams" userId="618f96a3-8672-4e43-ae03-eeed93bb7387" providerId="ADAL" clId="{DFF2BB08-185E-495B-B2A0-BE0942C7B81E}" dt="2026-07-29T21:49:36.151" v="2907"/>
        <pc:sldMkLst>
          <pc:docMk/>
          <pc:sldMk cId="2423649610" sldId="323"/>
        </pc:sldMkLst>
        <pc:spChg chg="mod">
          <ac:chgData name="Chad Williams" userId="618f96a3-8672-4e43-ae03-eeed93bb7387" providerId="ADAL" clId="{DFF2BB08-185E-495B-B2A0-BE0942C7B81E}" dt="2026-07-29T21:49:36.151" v="2907"/>
          <ac:spMkLst>
            <pc:docMk/>
            <pc:sldMk cId="2423649610" sldId="323"/>
            <ac:spMk id="20" creationId="{7E4F8C96-B1F8-F340-9530-E0398316CFA5}"/>
          </ac:spMkLst>
        </pc:spChg>
      </pc:sldChg>
      <pc:sldChg chg="add del">
        <pc:chgData name="Chad Williams" userId="618f96a3-8672-4e43-ae03-eeed93bb7387" providerId="ADAL" clId="{DFF2BB08-185E-495B-B2A0-BE0942C7B81E}" dt="2026-08-20T21:00:20.513" v="2925"/>
        <pc:sldMkLst>
          <pc:docMk/>
          <pc:sldMk cId="3975050339" sldId="361"/>
        </pc:sldMkLst>
      </pc:sldChg>
      <pc:sldChg chg="add del">
        <pc:chgData name="Chad Williams" userId="618f96a3-8672-4e43-ae03-eeed93bb7387" providerId="ADAL" clId="{DFF2BB08-185E-495B-B2A0-BE0942C7B81E}" dt="2026-08-20T21:00:20.513" v="2925"/>
        <pc:sldMkLst>
          <pc:docMk/>
          <pc:sldMk cId="71922764" sldId="363"/>
        </pc:sldMkLst>
      </pc:sldChg>
      <pc:sldChg chg="modSp">
        <pc:chgData name="Chad Williams" userId="618f96a3-8672-4e43-ae03-eeed93bb7387" providerId="ADAL" clId="{DFF2BB08-185E-495B-B2A0-BE0942C7B81E}" dt="2026-07-22T19:30:42.329" v="1550" actId="114"/>
        <pc:sldMkLst>
          <pc:docMk/>
          <pc:sldMk cId="3060200846" sldId="370"/>
        </pc:sldMkLst>
        <pc:spChg chg="mod">
          <ac:chgData name="Chad Williams" userId="618f96a3-8672-4e43-ae03-eeed93bb7387" providerId="ADAL" clId="{DFF2BB08-185E-495B-B2A0-BE0942C7B81E}" dt="2026-07-22T19:30:42.329" v="1550" actId="114"/>
          <ac:spMkLst>
            <pc:docMk/>
            <pc:sldMk cId="3060200846" sldId="370"/>
            <ac:spMk id="3" creationId="{0AEDD9E7-2483-7A49-96F8-35144B7D539C}"/>
          </ac:spMkLst>
        </pc:spChg>
      </pc:sldChg>
      <pc:sldChg chg="modSp mod">
        <pc:chgData name="Chad Williams" userId="618f96a3-8672-4e43-ae03-eeed93bb7387" providerId="ADAL" clId="{DFF2BB08-185E-495B-B2A0-BE0942C7B81E}" dt="2026-07-22T19:47:29.663" v="1767" actId="2062"/>
        <pc:sldMkLst>
          <pc:docMk/>
          <pc:sldMk cId="3800346362" sldId="376"/>
        </pc:sldMkLst>
        <pc:graphicFrameChg chg="modGraphic">
          <ac:chgData name="Chad Williams" userId="618f96a3-8672-4e43-ae03-eeed93bb7387" providerId="ADAL" clId="{DFF2BB08-185E-495B-B2A0-BE0942C7B81E}" dt="2026-07-22T19:47:29.663" v="1767" actId="2062"/>
          <ac:graphicFrameMkLst>
            <pc:docMk/>
            <pc:sldMk cId="3800346362" sldId="376"/>
            <ac:graphicFrameMk id="6" creationId="{65847B1B-AABC-E341-8F28-A2D6CE0281FD}"/>
          </ac:graphicFrameMkLst>
        </pc:graphicFrameChg>
      </pc:sldChg>
      <pc:sldChg chg="modSp">
        <pc:chgData name="Chad Williams" userId="618f96a3-8672-4e43-ae03-eeed93bb7387" providerId="ADAL" clId="{DFF2BB08-185E-495B-B2A0-BE0942C7B81E}" dt="2026-07-22T19:53:21.668" v="1872" actId="114"/>
        <pc:sldMkLst>
          <pc:docMk/>
          <pc:sldMk cId="464839096" sldId="377"/>
        </pc:sldMkLst>
        <pc:graphicFrameChg chg="mod">
          <ac:chgData name="Chad Williams" userId="618f96a3-8672-4e43-ae03-eeed93bb7387" providerId="ADAL" clId="{DFF2BB08-185E-495B-B2A0-BE0942C7B81E}" dt="2026-07-22T19:53:21.668" v="1872" actId="114"/>
          <ac:graphicFrameMkLst>
            <pc:docMk/>
            <pc:sldMk cId="464839096" sldId="377"/>
            <ac:graphicFrameMk id="6" creationId="{65847B1B-AABC-E341-8F28-A2D6CE0281FD}"/>
          </ac:graphicFrameMkLst>
        </pc:graphicFrameChg>
      </pc:sldChg>
      <pc:sldChg chg="modSp mod">
        <pc:chgData name="Chad Williams" userId="618f96a3-8672-4e43-ae03-eeed93bb7387" providerId="ADAL" clId="{DFF2BB08-185E-495B-B2A0-BE0942C7B81E}" dt="2026-07-22T21:11:08.086" v="2699" actId="20577"/>
        <pc:sldMkLst>
          <pc:docMk/>
          <pc:sldMk cId="2972677329" sldId="378"/>
        </pc:sldMkLst>
        <pc:graphicFrameChg chg="modGraphic">
          <ac:chgData name="Chad Williams" userId="618f96a3-8672-4e43-ae03-eeed93bb7387" providerId="ADAL" clId="{DFF2BB08-185E-495B-B2A0-BE0942C7B81E}" dt="2026-07-22T21:11:08.086" v="2699" actId="20577"/>
          <ac:graphicFrameMkLst>
            <pc:docMk/>
            <pc:sldMk cId="2972677329" sldId="378"/>
            <ac:graphicFrameMk id="6" creationId="{65847B1B-AABC-E341-8F28-A2D6CE0281FD}"/>
          </ac:graphicFrameMkLst>
        </pc:graphicFrameChg>
      </pc:sldChg>
      <pc:sldChg chg="addSp delSp modSp mod">
        <pc:chgData name="Chad Williams" userId="618f96a3-8672-4e43-ae03-eeed93bb7387" providerId="ADAL" clId="{DFF2BB08-185E-495B-B2A0-BE0942C7B81E}" dt="2026-07-22T20:31:53.536" v="2170" actId="1076"/>
        <pc:sldMkLst>
          <pc:docMk/>
          <pc:sldMk cId="3629955759" sldId="379"/>
        </pc:sldMkLst>
        <pc:spChg chg="mod">
          <ac:chgData name="Chad Williams" userId="618f96a3-8672-4e43-ae03-eeed93bb7387" providerId="ADAL" clId="{DFF2BB08-185E-495B-B2A0-BE0942C7B81E}" dt="2026-07-22T20:24:48.694" v="2152" actId="114"/>
          <ac:spMkLst>
            <pc:docMk/>
            <pc:sldMk cId="3629955759" sldId="379"/>
            <ac:spMk id="3" creationId="{A4D381D9-1BF6-1646-B2E2-AF1DBEBE6B10}"/>
          </ac:spMkLst>
        </pc:spChg>
        <pc:picChg chg="add mod modCrop">
          <ac:chgData name="Chad Williams" userId="618f96a3-8672-4e43-ae03-eeed93bb7387" providerId="ADAL" clId="{DFF2BB08-185E-495B-B2A0-BE0942C7B81E}" dt="2026-07-22T20:31:53.536" v="2170" actId="1076"/>
          <ac:picMkLst>
            <pc:docMk/>
            <pc:sldMk cId="3629955759" sldId="379"/>
            <ac:picMk id="5" creationId="{C78B6DD2-8814-06AE-19DD-43EA40EDC8FB}"/>
          </ac:picMkLst>
        </pc:picChg>
        <pc:picChg chg="add mod modCrop">
          <ac:chgData name="Chad Williams" userId="618f96a3-8672-4e43-ae03-eeed93bb7387" providerId="ADAL" clId="{DFF2BB08-185E-495B-B2A0-BE0942C7B81E}" dt="2026-07-22T20:31:47.410" v="2167" actId="1076"/>
          <ac:picMkLst>
            <pc:docMk/>
            <pc:sldMk cId="3629955759" sldId="379"/>
            <ac:picMk id="9" creationId="{B1156032-7CFA-1FC3-A8D6-837BAC84906B}"/>
          </ac:picMkLst>
        </pc:picChg>
      </pc:sldChg>
      <pc:sldChg chg="modSp mod modAnim">
        <pc:chgData name="Chad Williams" userId="618f96a3-8672-4e43-ae03-eeed93bb7387" providerId="ADAL" clId="{DFF2BB08-185E-495B-B2A0-BE0942C7B81E}" dt="2026-07-29T21:44:43.867" v="2872" actId="20577"/>
        <pc:sldMkLst>
          <pc:docMk/>
          <pc:sldMk cId="3831930108" sldId="380"/>
        </pc:sldMkLst>
        <pc:spChg chg="mod">
          <ac:chgData name="Chad Williams" userId="618f96a3-8672-4e43-ae03-eeed93bb7387" providerId="ADAL" clId="{DFF2BB08-185E-495B-B2A0-BE0942C7B81E}" dt="2026-07-29T21:44:43.867" v="2872" actId="20577"/>
          <ac:spMkLst>
            <pc:docMk/>
            <pc:sldMk cId="3831930108" sldId="380"/>
            <ac:spMk id="3" creationId="{A4D381D9-1BF6-1646-B2E2-AF1DBEBE6B10}"/>
          </ac:spMkLst>
        </pc:spChg>
      </pc:sldChg>
      <pc:sldChg chg="modSp mod">
        <pc:chgData name="Chad Williams" userId="618f96a3-8672-4e43-ae03-eeed93bb7387" providerId="ADAL" clId="{DFF2BB08-185E-495B-B2A0-BE0942C7B81E}" dt="2026-07-29T21:47:30.137" v="2906" actId="20577"/>
        <pc:sldMkLst>
          <pc:docMk/>
          <pc:sldMk cId="2788389003" sldId="381"/>
        </pc:sldMkLst>
        <pc:spChg chg="mod">
          <ac:chgData name="Chad Williams" userId="618f96a3-8672-4e43-ae03-eeed93bb7387" providerId="ADAL" clId="{DFF2BB08-185E-495B-B2A0-BE0942C7B81E}" dt="2026-07-22T20:32:46.888" v="2210"/>
          <ac:spMkLst>
            <pc:docMk/>
            <pc:sldMk cId="2788389003" sldId="381"/>
            <ac:spMk id="3" creationId="{A4D381D9-1BF6-1646-B2E2-AF1DBEBE6B10}"/>
          </ac:spMkLst>
        </pc:spChg>
        <pc:graphicFrameChg chg="mod modGraphic">
          <ac:chgData name="Chad Williams" userId="618f96a3-8672-4e43-ae03-eeed93bb7387" providerId="ADAL" clId="{DFF2BB08-185E-495B-B2A0-BE0942C7B81E}" dt="2026-07-29T21:47:30.137" v="2906" actId="20577"/>
          <ac:graphicFrameMkLst>
            <pc:docMk/>
            <pc:sldMk cId="2788389003" sldId="381"/>
            <ac:graphicFrameMk id="4" creationId="{B85CB4D1-DCD6-414E-A21E-44B5ECC6EEAD}"/>
          </ac:graphicFrameMkLst>
        </pc:graphicFrameChg>
      </pc:sldChg>
      <pc:sldChg chg="modSp mod">
        <pc:chgData name="Chad Williams" userId="618f96a3-8672-4e43-ae03-eeed93bb7387" providerId="ADAL" clId="{DFF2BB08-185E-495B-B2A0-BE0942C7B81E}" dt="2026-07-23T19:09:44.986" v="2742" actId="313"/>
        <pc:sldMkLst>
          <pc:docMk/>
          <pc:sldMk cId="863237241" sldId="382"/>
        </pc:sldMkLst>
        <pc:spChg chg="mod">
          <ac:chgData name="Chad Williams" userId="618f96a3-8672-4e43-ae03-eeed93bb7387" providerId="ADAL" clId="{DFF2BB08-185E-495B-B2A0-BE0942C7B81E}" dt="2026-07-23T19:09:44.986" v="2742" actId="313"/>
          <ac:spMkLst>
            <pc:docMk/>
            <pc:sldMk cId="863237241" sldId="382"/>
            <ac:spMk id="3" creationId="{A4D381D9-1BF6-1646-B2E2-AF1DBEBE6B10}"/>
          </ac:spMkLst>
        </pc:spChg>
        <pc:grpChg chg="mod ord">
          <ac:chgData name="Chad Williams" userId="618f96a3-8672-4e43-ae03-eeed93bb7387" providerId="ADAL" clId="{DFF2BB08-185E-495B-B2A0-BE0942C7B81E}" dt="2026-07-22T20:33:08.076" v="2214" actId="1076"/>
          <ac:grpSpMkLst>
            <pc:docMk/>
            <pc:sldMk cId="863237241" sldId="382"/>
            <ac:grpSpMk id="5" creationId="{551DE203-12E0-B64A-985F-45296BE69B10}"/>
          </ac:grpSpMkLst>
        </pc:grpChg>
      </pc:sldChg>
      <pc:sldChg chg="modSp">
        <pc:chgData name="Chad Williams" userId="618f96a3-8672-4e43-ae03-eeed93bb7387" providerId="ADAL" clId="{DFF2BB08-185E-495B-B2A0-BE0942C7B81E}" dt="2026-07-22T20:33:11.184" v="2215"/>
        <pc:sldMkLst>
          <pc:docMk/>
          <pc:sldMk cId="1175078996" sldId="385"/>
        </pc:sldMkLst>
        <pc:spChg chg="mod">
          <ac:chgData name="Chad Williams" userId="618f96a3-8672-4e43-ae03-eeed93bb7387" providerId="ADAL" clId="{DFF2BB08-185E-495B-B2A0-BE0942C7B81E}" dt="2026-07-22T20:33:11.184" v="2215"/>
          <ac:spMkLst>
            <pc:docMk/>
            <pc:sldMk cId="1175078996" sldId="385"/>
            <ac:spMk id="3" creationId="{A4D381D9-1BF6-1646-B2E2-AF1DBEBE6B10}"/>
          </ac:spMkLst>
        </pc:spChg>
      </pc:sldChg>
      <pc:sldChg chg="modSp">
        <pc:chgData name="Chad Williams" userId="618f96a3-8672-4e43-ae03-eeed93bb7387" providerId="ADAL" clId="{DFF2BB08-185E-495B-B2A0-BE0942C7B81E}" dt="2026-07-29T22:28:44.390" v="2909" actId="313"/>
        <pc:sldMkLst>
          <pc:docMk/>
          <pc:sldMk cId="2182555949" sldId="386"/>
        </pc:sldMkLst>
        <pc:spChg chg="mod">
          <ac:chgData name="Chad Williams" userId="618f96a3-8672-4e43-ae03-eeed93bb7387" providerId="ADAL" clId="{DFF2BB08-185E-495B-B2A0-BE0942C7B81E}" dt="2026-07-29T22:28:44.390" v="2909" actId="313"/>
          <ac:spMkLst>
            <pc:docMk/>
            <pc:sldMk cId="2182555949" sldId="386"/>
            <ac:spMk id="3" creationId="{A4D381D9-1BF6-1646-B2E2-AF1DBEBE6B10}"/>
          </ac:spMkLst>
        </pc:spChg>
      </pc:sldChg>
      <pc:sldChg chg="modSp">
        <pc:chgData name="Chad Williams" userId="618f96a3-8672-4e43-ae03-eeed93bb7387" providerId="ADAL" clId="{DFF2BB08-185E-495B-B2A0-BE0942C7B81E}" dt="2026-07-29T22:28:45.243" v="2910" actId="313"/>
        <pc:sldMkLst>
          <pc:docMk/>
          <pc:sldMk cId="2540550728" sldId="387"/>
        </pc:sldMkLst>
        <pc:spChg chg="mod">
          <ac:chgData name="Chad Williams" userId="618f96a3-8672-4e43-ae03-eeed93bb7387" providerId="ADAL" clId="{DFF2BB08-185E-495B-B2A0-BE0942C7B81E}" dt="2026-07-29T22:28:45.243" v="2910" actId="313"/>
          <ac:spMkLst>
            <pc:docMk/>
            <pc:sldMk cId="2540550728" sldId="387"/>
            <ac:spMk id="3" creationId="{A4D381D9-1BF6-1646-B2E2-AF1DBEBE6B10}"/>
          </ac:spMkLst>
        </pc:spChg>
      </pc:sldChg>
      <pc:sldChg chg="addSp modSp mod">
        <pc:chgData name="Chad Williams" userId="618f96a3-8672-4e43-ae03-eeed93bb7387" providerId="ADAL" clId="{DFF2BB08-185E-495B-B2A0-BE0942C7B81E}" dt="2026-07-22T20:36:18.820" v="2447" actId="20577"/>
        <pc:sldMkLst>
          <pc:docMk/>
          <pc:sldMk cId="3739073033" sldId="388"/>
        </pc:sldMkLst>
        <pc:spChg chg="mod">
          <ac:chgData name="Chad Williams" userId="618f96a3-8672-4e43-ae03-eeed93bb7387" providerId="ADAL" clId="{DFF2BB08-185E-495B-B2A0-BE0942C7B81E}" dt="2026-07-22T20:36:18.820" v="2447" actId="20577"/>
          <ac:spMkLst>
            <pc:docMk/>
            <pc:sldMk cId="3739073033" sldId="388"/>
            <ac:spMk id="3" creationId="{A4D381D9-1BF6-1646-B2E2-AF1DBEBE6B10}"/>
          </ac:spMkLst>
        </pc:spChg>
        <pc:picChg chg="add">
          <ac:chgData name="Chad Williams" userId="618f96a3-8672-4e43-ae03-eeed93bb7387" providerId="ADAL" clId="{DFF2BB08-185E-495B-B2A0-BE0942C7B81E}" dt="2026-07-22T20:36:09.369" v="2443" actId="22"/>
          <ac:picMkLst>
            <pc:docMk/>
            <pc:sldMk cId="3739073033" sldId="388"/>
            <ac:picMk id="5" creationId="{23069DA9-C191-8B16-7991-6FC858B31235}"/>
          </ac:picMkLst>
        </pc:picChg>
        <pc:picChg chg="add">
          <ac:chgData name="Chad Williams" userId="618f96a3-8672-4e43-ae03-eeed93bb7387" providerId="ADAL" clId="{DFF2BB08-185E-495B-B2A0-BE0942C7B81E}" dt="2026-07-22T20:36:09.369" v="2443" actId="22"/>
          <ac:picMkLst>
            <pc:docMk/>
            <pc:sldMk cId="3739073033" sldId="388"/>
            <ac:picMk id="7" creationId="{653327F1-F5BF-728A-CAB0-E6C152B8B627}"/>
          </ac:picMkLst>
        </pc:picChg>
      </pc:sldChg>
      <pc:sldChg chg="modSp mod">
        <pc:chgData name="Chad Williams" userId="618f96a3-8672-4e43-ae03-eeed93bb7387" providerId="ADAL" clId="{DFF2BB08-185E-495B-B2A0-BE0942C7B81E}" dt="2026-07-29T22:28:49.628" v="2914" actId="313"/>
        <pc:sldMkLst>
          <pc:docMk/>
          <pc:sldMk cId="2393425935" sldId="389"/>
        </pc:sldMkLst>
        <pc:spChg chg="mod">
          <ac:chgData name="Chad Williams" userId="618f96a3-8672-4e43-ae03-eeed93bb7387" providerId="ADAL" clId="{DFF2BB08-185E-495B-B2A0-BE0942C7B81E}" dt="2026-07-29T21:49:36.151" v="2907"/>
          <ac:spMkLst>
            <pc:docMk/>
            <pc:sldMk cId="2393425935" sldId="389"/>
            <ac:spMk id="3" creationId="{F1A115E2-4FE8-2E4C-A37A-70FF38E79C49}"/>
          </ac:spMkLst>
        </pc:spChg>
        <pc:spChg chg="mod">
          <ac:chgData name="Chad Williams" userId="618f96a3-8672-4e43-ae03-eeed93bb7387" providerId="ADAL" clId="{DFF2BB08-185E-495B-B2A0-BE0942C7B81E}" dt="2026-07-29T22:28:49.628" v="2914" actId="313"/>
          <ac:spMkLst>
            <pc:docMk/>
            <pc:sldMk cId="2393425935" sldId="389"/>
            <ac:spMk id="4" creationId="{574432C5-7DF4-5F4D-A83A-EE45D530B8EC}"/>
          </ac:spMkLst>
        </pc:spChg>
      </pc:sldChg>
      <pc:sldChg chg="add del">
        <pc:chgData name="Chad Williams" userId="618f96a3-8672-4e43-ae03-eeed93bb7387" providerId="ADAL" clId="{DFF2BB08-185E-495B-B2A0-BE0942C7B81E}" dt="2026-08-20T21:00:20.513" v="2925"/>
        <pc:sldMkLst>
          <pc:docMk/>
          <pc:sldMk cId="1395024218" sldId="394"/>
        </pc:sldMkLst>
      </pc:sldChg>
      <pc:sldChg chg="modSp">
        <pc:chgData name="Chad Williams" userId="618f96a3-8672-4e43-ae03-eeed93bb7387" providerId="ADAL" clId="{DFF2BB08-185E-495B-B2A0-BE0942C7B81E}" dt="2026-07-29T21:49:36.151" v="2907"/>
        <pc:sldMkLst>
          <pc:docMk/>
          <pc:sldMk cId="4156091321" sldId="431"/>
        </pc:sldMkLst>
        <pc:spChg chg="mod">
          <ac:chgData name="Chad Williams" userId="618f96a3-8672-4e43-ae03-eeed93bb7387" providerId="ADAL" clId="{DFF2BB08-185E-495B-B2A0-BE0942C7B81E}" dt="2026-07-29T21:49:36.151" v="2907"/>
          <ac:spMkLst>
            <pc:docMk/>
            <pc:sldMk cId="4156091321" sldId="431"/>
            <ac:spMk id="20" creationId="{7E4F8C96-B1F8-F340-9530-E0398316CFA5}"/>
          </ac:spMkLst>
        </pc:spChg>
      </pc:sldChg>
      <pc:sldChg chg="modSp">
        <pc:chgData name="Chad Williams" userId="618f96a3-8672-4e43-ae03-eeed93bb7387" providerId="ADAL" clId="{DFF2BB08-185E-495B-B2A0-BE0942C7B81E}" dt="2026-07-29T21:49:36.151" v="2907"/>
        <pc:sldMkLst>
          <pc:docMk/>
          <pc:sldMk cId="1400958205" sldId="432"/>
        </pc:sldMkLst>
        <pc:spChg chg="mod">
          <ac:chgData name="Chad Williams" userId="618f96a3-8672-4e43-ae03-eeed93bb7387" providerId="ADAL" clId="{DFF2BB08-185E-495B-B2A0-BE0942C7B81E}" dt="2026-07-29T21:49:36.151" v="2907"/>
          <ac:spMkLst>
            <pc:docMk/>
            <pc:sldMk cId="1400958205" sldId="432"/>
            <ac:spMk id="20" creationId="{7E4F8C96-B1F8-F340-9530-E0398316CFA5}"/>
          </ac:spMkLst>
        </pc:spChg>
      </pc:sldChg>
      <pc:sldChg chg="modSp">
        <pc:chgData name="Chad Williams" userId="618f96a3-8672-4e43-ae03-eeed93bb7387" providerId="ADAL" clId="{DFF2BB08-185E-495B-B2A0-BE0942C7B81E}" dt="2026-07-29T21:49:36.151" v="2907"/>
        <pc:sldMkLst>
          <pc:docMk/>
          <pc:sldMk cId="3151625402" sldId="433"/>
        </pc:sldMkLst>
        <pc:spChg chg="mod">
          <ac:chgData name="Chad Williams" userId="618f96a3-8672-4e43-ae03-eeed93bb7387" providerId="ADAL" clId="{DFF2BB08-185E-495B-B2A0-BE0942C7B81E}" dt="2026-07-29T21:49:36.151" v="2907"/>
          <ac:spMkLst>
            <pc:docMk/>
            <pc:sldMk cId="3151625402" sldId="433"/>
            <ac:spMk id="20" creationId="{7E4F8C96-B1F8-F340-9530-E0398316CFA5}"/>
          </ac:spMkLst>
        </pc:spChg>
      </pc:sldChg>
      <pc:sldChg chg="modSp mod">
        <pc:chgData name="Chad Williams" userId="618f96a3-8672-4e43-ae03-eeed93bb7387" providerId="ADAL" clId="{DFF2BB08-185E-495B-B2A0-BE0942C7B81E}" dt="2026-07-29T21:49:36.151" v="2907"/>
        <pc:sldMkLst>
          <pc:docMk/>
          <pc:sldMk cId="2721666017" sldId="447"/>
        </pc:sldMkLst>
        <pc:spChg chg="mod">
          <ac:chgData name="Chad Williams" userId="618f96a3-8672-4e43-ae03-eeed93bb7387" providerId="ADAL" clId="{DFF2BB08-185E-495B-B2A0-BE0942C7B81E}" dt="2026-07-29T21:49:36.151" v="2907"/>
          <ac:spMkLst>
            <pc:docMk/>
            <pc:sldMk cId="2721666017" sldId="447"/>
            <ac:spMk id="3" creationId="{A4012C3F-6972-B45F-DBA7-51EA2FBE6F98}"/>
          </ac:spMkLst>
        </pc:spChg>
        <pc:spChg chg="mod">
          <ac:chgData name="Chad Williams" userId="618f96a3-8672-4e43-ae03-eeed93bb7387" providerId="ADAL" clId="{DFF2BB08-185E-495B-B2A0-BE0942C7B81E}" dt="2026-07-23T19:09:39.896" v="2735" actId="313"/>
          <ac:spMkLst>
            <pc:docMk/>
            <pc:sldMk cId="2721666017" sldId="447"/>
            <ac:spMk id="4" creationId="{57A24F32-F68B-94B1-9265-7F65BE98B27C}"/>
          </ac:spMkLst>
        </pc:spChg>
      </pc:sldChg>
      <pc:sldChg chg="modSp mod">
        <pc:chgData name="Chad Williams" userId="618f96a3-8672-4e43-ae03-eeed93bb7387" providerId="ADAL" clId="{DFF2BB08-185E-495B-B2A0-BE0942C7B81E}" dt="2026-07-29T21:49:36.151" v="2907"/>
        <pc:sldMkLst>
          <pc:docMk/>
          <pc:sldMk cId="3642894946" sldId="448"/>
        </pc:sldMkLst>
        <pc:spChg chg="mod">
          <ac:chgData name="Chad Williams" userId="618f96a3-8672-4e43-ae03-eeed93bb7387" providerId="ADAL" clId="{DFF2BB08-185E-495B-B2A0-BE0942C7B81E}" dt="2026-07-29T21:49:36.151" v="2907"/>
          <ac:spMkLst>
            <pc:docMk/>
            <pc:sldMk cId="3642894946" sldId="448"/>
            <ac:spMk id="3" creationId="{61F88475-AAA0-9B34-6006-3AF2E6ABCD71}"/>
          </ac:spMkLst>
        </pc:spChg>
        <pc:spChg chg="mod">
          <ac:chgData name="Chad Williams" userId="618f96a3-8672-4e43-ae03-eeed93bb7387" providerId="ADAL" clId="{DFF2BB08-185E-495B-B2A0-BE0942C7B81E}" dt="2026-07-23T19:09:41.383" v="2737" actId="313"/>
          <ac:spMkLst>
            <pc:docMk/>
            <pc:sldMk cId="3642894946" sldId="448"/>
            <ac:spMk id="4" creationId="{317E3771-A8A2-12BA-41F4-276A04F85A7D}"/>
          </ac:spMkLst>
        </pc:spChg>
      </pc:sldChg>
      <pc:sldChg chg="modSp mod">
        <pc:chgData name="Chad Williams" userId="618f96a3-8672-4e43-ae03-eeed93bb7387" providerId="ADAL" clId="{DFF2BB08-185E-495B-B2A0-BE0942C7B81E}" dt="2026-07-29T21:49:36.151" v="2907"/>
        <pc:sldMkLst>
          <pc:docMk/>
          <pc:sldMk cId="582112092" sldId="449"/>
        </pc:sldMkLst>
        <pc:spChg chg="mod">
          <ac:chgData name="Chad Williams" userId="618f96a3-8672-4e43-ae03-eeed93bb7387" providerId="ADAL" clId="{DFF2BB08-185E-495B-B2A0-BE0942C7B81E}" dt="2026-07-29T21:49:36.151" v="2907"/>
          <ac:spMkLst>
            <pc:docMk/>
            <pc:sldMk cId="582112092" sldId="449"/>
            <ac:spMk id="3" creationId="{77A20D6F-BFDC-C657-9B70-677D767447DD}"/>
          </ac:spMkLst>
        </pc:spChg>
        <pc:spChg chg="mod">
          <ac:chgData name="Chad Williams" userId="618f96a3-8672-4e43-ae03-eeed93bb7387" providerId="ADAL" clId="{DFF2BB08-185E-495B-B2A0-BE0942C7B81E}" dt="2026-07-23T19:09:42.879" v="2739" actId="313"/>
          <ac:spMkLst>
            <pc:docMk/>
            <pc:sldMk cId="582112092" sldId="449"/>
            <ac:spMk id="4" creationId="{F53DC3EB-3D2A-117B-FE76-6D10112C1E28}"/>
          </ac:spMkLst>
        </pc:spChg>
      </pc:sldChg>
      <pc:sldChg chg="delSp modSp mod">
        <pc:chgData name="Chad Williams" userId="618f96a3-8672-4e43-ae03-eeed93bb7387" providerId="ADAL" clId="{DFF2BB08-185E-495B-B2A0-BE0942C7B81E}" dt="2026-07-29T21:49:36.151" v="2907"/>
        <pc:sldMkLst>
          <pc:docMk/>
          <pc:sldMk cId="2151900505" sldId="451"/>
        </pc:sldMkLst>
        <pc:spChg chg="mod">
          <ac:chgData name="Chad Williams" userId="618f96a3-8672-4e43-ae03-eeed93bb7387" providerId="ADAL" clId="{DFF2BB08-185E-495B-B2A0-BE0942C7B81E}" dt="2026-07-29T21:49:36.151" v="2907"/>
          <ac:spMkLst>
            <pc:docMk/>
            <pc:sldMk cId="2151900505" sldId="451"/>
            <ac:spMk id="3" creationId="{A836D599-A0EA-4B18-6EFD-B52AADE9F2FD}"/>
          </ac:spMkLst>
        </pc:spChg>
        <pc:spChg chg="mod">
          <ac:chgData name="Chad Williams" userId="618f96a3-8672-4e43-ae03-eeed93bb7387" providerId="ADAL" clId="{DFF2BB08-185E-495B-B2A0-BE0942C7B81E}" dt="2026-07-23T19:09:37.305" v="2731" actId="313"/>
          <ac:spMkLst>
            <pc:docMk/>
            <pc:sldMk cId="2151900505" sldId="451"/>
            <ac:spMk id="4" creationId="{9424218E-D69C-FFC8-8E57-430F216F6B51}"/>
          </ac:spMkLst>
        </pc:spChg>
      </pc:sldChg>
      <pc:sldChg chg="delSp modSp mod delAnim">
        <pc:chgData name="Chad Williams" userId="618f96a3-8672-4e43-ae03-eeed93bb7387" providerId="ADAL" clId="{DFF2BB08-185E-495B-B2A0-BE0942C7B81E}" dt="2026-07-29T21:49:36.151" v="2907"/>
        <pc:sldMkLst>
          <pc:docMk/>
          <pc:sldMk cId="2271794923" sldId="452"/>
        </pc:sldMkLst>
        <pc:spChg chg="mod">
          <ac:chgData name="Chad Williams" userId="618f96a3-8672-4e43-ae03-eeed93bb7387" providerId="ADAL" clId="{DFF2BB08-185E-495B-B2A0-BE0942C7B81E}" dt="2026-07-29T21:49:36.151" v="2907"/>
          <ac:spMkLst>
            <pc:docMk/>
            <pc:sldMk cId="2271794923" sldId="452"/>
            <ac:spMk id="3" creationId="{B0ADD3FE-3FB6-B439-6B96-852307A022C7}"/>
          </ac:spMkLst>
        </pc:spChg>
        <pc:spChg chg="mod">
          <ac:chgData name="Chad Williams" userId="618f96a3-8672-4e43-ae03-eeed93bb7387" providerId="ADAL" clId="{DFF2BB08-185E-495B-B2A0-BE0942C7B81E}" dt="2026-07-23T19:09:35.734" v="2729" actId="313"/>
          <ac:spMkLst>
            <pc:docMk/>
            <pc:sldMk cId="2271794923" sldId="452"/>
            <ac:spMk id="4" creationId="{2257E4FD-10CF-9EA9-56E7-20AE26DD65BE}"/>
          </ac:spMkLst>
        </pc:spChg>
      </pc:sldChg>
      <pc:sldChg chg="modSp mod">
        <pc:chgData name="Chad Williams" userId="618f96a3-8672-4e43-ae03-eeed93bb7387" providerId="ADAL" clId="{DFF2BB08-185E-495B-B2A0-BE0942C7B81E}" dt="2026-07-29T21:46:00.449" v="2902"/>
        <pc:sldMkLst>
          <pc:docMk/>
          <pc:sldMk cId="414305858" sldId="453"/>
        </pc:sldMkLst>
        <pc:spChg chg="mod">
          <ac:chgData name="Chad Williams" userId="618f96a3-8672-4e43-ae03-eeed93bb7387" providerId="ADAL" clId="{DFF2BB08-185E-495B-B2A0-BE0942C7B81E}" dt="2026-07-29T21:46:00.449" v="2902"/>
          <ac:spMkLst>
            <pc:docMk/>
            <pc:sldMk cId="414305858" sldId="453"/>
            <ac:spMk id="3" creationId="{3F8975E3-9C6A-F6AB-08CA-C0346BF8E0AC}"/>
          </ac:spMkLst>
        </pc:spChg>
      </pc:sldChg>
      <pc:sldChg chg="modSp mod">
        <pc:chgData name="Chad Williams" userId="618f96a3-8672-4e43-ae03-eeed93bb7387" providerId="ADAL" clId="{DFF2BB08-185E-495B-B2A0-BE0942C7B81E}" dt="2026-07-29T21:49:36.151" v="2907"/>
        <pc:sldMkLst>
          <pc:docMk/>
          <pc:sldMk cId="1840333715" sldId="454"/>
        </pc:sldMkLst>
        <pc:spChg chg="mod">
          <ac:chgData name="Chad Williams" userId="618f96a3-8672-4e43-ae03-eeed93bb7387" providerId="ADAL" clId="{DFF2BB08-185E-495B-B2A0-BE0942C7B81E}" dt="2026-07-29T21:49:36.151" v="2907"/>
          <ac:spMkLst>
            <pc:docMk/>
            <pc:sldMk cId="1840333715" sldId="454"/>
            <ac:spMk id="3" creationId="{0B4C8868-28EE-438C-4905-A2D22D664BD3}"/>
          </ac:spMkLst>
        </pc:spChg>
      </pc:sldChg>
      <pc:sldChg chg="modSp mod">
        <pc:chgData name="Chad Williams" userId="618f96a3-8672-4e43-ae03-eeed93bb7387" providerId="ADAL" clId="{DFF2BB08-185E-495B-B2A0-BE0942C7B81E}" dt="2026-07-29T21:49:36.151" v="2907"/>
        <pc:sldMkLst>
          <pc:docMk/>
          <pc:sldMk cId="95236539" sldId="455"/>
        </pc:sldMkLst>
        <pc:spChg chg="mod">
          <ac:chgData name="Chad Williams" userId="618f96a3-8672-4e43-ae03-eeed93bb7387" providerId="ADAL" clId="{DFF2BB08-185E-495B-B2A0-BE0942C7B81E}" dt="2026-07-29T21:49:36.151" v="2907"/>
          <ac:spMkLst>
            <pc:docMk/>
            <pc:sldMk cId="95236539" sldId="455"/>
            <ac:spMk id="3" creationId="{C8FC9E61-AD9A-DFB0-F851-A59E1332D234}"/>
          </ac:spMkLst>
        </pc:spChg>
      </pc:sldChg>
      <pc:sldChg chg="modSp mod">
        <pc:chgData name="Chad Williams" userId="618f96a3-8672-4e43-ae03-eeed93bb7387" providerId="ADAL" clId="{DFF2BB08-185E-495B-B2A0-BE0942C7B81E}" dt="2026-07-29T22:28:43.405" v="2908" actId="313"/>
        <pc:sldMkLst>
          <pc:docMk/>
          <pc:sldMk cId="3478558731" sldId="456"/>
        </pc:sldMkLst>
        <pc:spChg chg="mod">
          <ac:chgData name="Chad Williams" userId="618f96a3-8672-4e43-ae03-eeed93bb7387" providerId="ADAL" clId="{DFF2BB08-185E-495B-B2A0-BE0942C7B81E}" dt="2026-07-29T21:49:36.151" v="2907"/>
          <ac:spMkLst>
            <pc:docMk/>
            <pc:sldMk cId="3478558731" sldId="456"/>
            <ac:spMk id="3" creationId="{6F72926D-D728-E225-85A8-ECFA216F5669}"/>
          </ac:spMkLst>
        </pc:spChg>
        <pc:spChg chg="mod">
          <ac:chgData name="Chad Williams" userId="618f96a3-8672-4e43-ae03-eeed93bb7387" providerId="ADAL" clId="{DFF2BB08-185E-495B-B2A0-BE0942C7B81E}" dt="2026-07-29T22:28:43.405" v="2908" actId="313"/>
          <ac:spMkLst>
            <pc:docMk/>
            <pc:sldMk cId="3478558731" sldId="456"/>
            <ac:spMk id="4" creationId="{828C531C-F768-F0E3-F27B-118B7E469E18}"/>
          </ac:spMkLst>
        </pc:spChg>
      </pc:sldChg>
      <pc:sldChg chg="modSp mod">
        <pc:chgData name="Chad Williams" userId="618f96a3-8672-4e43-ae03-eeed93bb7387" providerId="ADAL" clId="{DFF2BB08-185E-495B-B2A0-BE0942C7B81E}" dt="2026-07-29T22:28:48.071" v="2912" actId="313"/>
        <pc:sldMkLst>
          <pc:docMk/>
          <pc:sldMk cId="527127889" sldId="457"/>
        </pc:sldMkLst>
        <pc:spChg chg="mod">
          <ac:chgData name="Chad Williams" userId="618f96a3-8672-4e43-ae03-eeed93bb7387" providerId="ADAL" clId="{DFF2BB08-185E-495B-B2A0-BE0942C7B81E}" dt="2026-07-29T21:49:36.151" v="2907"/>
          <ac:spMkLst>
            <pc:docMk/>
            <pc:sldMk cId="527127889" sldId="457"/>
            <ac:spMk id="3" creationId="{BD5121A3-4642-33B2-B9F2-E8664E4450EC}"/>
          </ac:spMkLst>
        </pc:spChg>
        <pc:spChg chg="mod">
          <ac:chgData name="Chad Williams" userId="618f96a3-8672-4e43-ae03-eeed93bb7387" providerId="ADAL" clId="{DFF2BB08-185E-495B-B2A0-BE0942C7B81E}" dt="2026-07-29T22:28:48.071" v="2912" actId="313"/>
          <ac:spMkLst>
            <pc:docMk/>
            <pc:sldMk cId="527127889" sldId="457"/>
            <ac:spMk id="4" creationId="{4FDE4252-C969-B003-101B-6C96C0D7128F}"/>
          </ac:spMkLst>
        </pc:spChg>
      </pc:sldChg>
      <pc:sldChg chg="addSp delSp modSp mod delAnim modAnim">
        <pc:chgData name="Chad Williams" userId="618f96a3-8672-4e43-ae03-eeed93bb7387" providerId="ADAL" clId="{DFF2BB08-185E-495B-B2A0-BE0942C7B81E}" dt="2026-08-20T21:02:03.404" v="2966" actId="20577"/>
        <pc:sldMkLst>
          <pc:docMk/>
          <pc:sldMk cId="3968921370" sldId="461"/>
        </pc:sldMkLst>
        <pc:spChg chg="mod">
          <ac:chgData name="Chad Williams" userId="618f96a3-8672-4e43-ae03-eeed93bb7387" providerId="ADAL" clId="{DFF2BB08-185E-495B-B2A0-BE0942C7B81E}" dt="2026-08-20T21:02:03.404" v="2966" actId="20577"/>
          <ac:spMkLst>
            <pc:docMk/>
            <pc:sldMk cId="3968921370" sldId="461"/>
            <ac:spMk id="3" creationId="{0A950176-5D0A-13D9-FBD6-CB43CEA9C102}"/>
          </ac:spMkLst>
        </pc:spChg>
        <pc:spChg chg="mod ord">
          <ac:chgData name="Chad Williams" userId="618f96a3-8672-4e43-ae03-eeed93bb7387" providerId="ADAL" clId="{DFF2BB08-185E-495B-B2A0-BE0942C7B81E}" dt="2026-08-20T21:01:41.692" v="2943" actId="14100"/>
          <ac:spMkLst>
            <pc:docMk/>
            <pc:sldMk cId="3968921370" sldId="461"/>
            <ac:spMk id="6" creationId="{7DC67344-FA03-B698-6213-3DC9C52B4A23}"/>
          </ac:spMkLst>
        </pc:spChg>
        <pc:grpChg chg="add mod">
          <ac:chgData name="Chad Williams" userId="618f96a3-8672-4e43-ae03-eeed93bb7387" providerId="ADAL" clId="{DFF2BB08-185E-495B-B2A0-BE0942C7B81E}" dt="2026-08-20T21:01:17.237" v="2939" actId="1076"/>
          <ac:grpSpMkLst>
            <pc:docMk/>
            <pc:sldMk cId="3968921370" sldId="461"/>
            <ac:grpSpMk id="4" creationId="{C64702BD-87B5-3F0C-711A-4D95E80D3CC7}"/>
          </ac:grpSpMkLst>
        </pc:grpChg>
        <pc:picChg chg="del">
          <ac:chgData name="Chad Williams" userId="618f96a3-8672-4e43-ae03-eeed93bb7387" providerId="ADAL" clId="{DFF2BB08-185E-495B-B2A0-BE0942C7B81E}" dt="2026-08-20T21:00:32.358" v="2928" actId="478"/>
          <ac:picMkLst>
            <pc:docMk/>
            <pc:sldMk cId="3968921370" sldId="461"/>
            <ac:picMk id="5" creationId="{5ED6CD51-E1F6-F9FC-ACFF-7F2B29211129}"/>
          </ac:picMkLst>
        </pc:picChg>
        <pc:picChg chg="mod modCrop">
          <ac:chgData name="Chad Williams" userId="618f96a3-8672-4e43-ae03-eeed93bb7387" providerId="ADAL" clId="{DFF2BB08-185E-495B-B2A0-BE0942C7B81E}" dt="2026-08-20T21:01:08.861" v="2937" actId="1076"/>
          <ac:picMkLst>
            <pc:docMk/>
            <pc:sldMk cId="3968921370" sldId="461"/>
            <ac:picMk id="7" creationId="{BE22753E-33C6-A98C-F6CD-D794B95D8553}"/>
          </ac:picMkLst>
        </pc:picChg>
        <pc:picChg chg="mod modCrop">
          <ac:chgData name="Chad Williams" userId="618f96a3-8672-4e43-ae03-eeed93bb7387" providerId="ADAL" clId="{DFF2BB08-185E-495B-B2A0-BE0942C7B81E}" dt="2026-08-20T21:01:05.794" v="2935" actId="732"/>
          <ac:picMkLst>
            <pc:docMk/>
            <pc:sldMk cId="3968921370" sldId="461"/>
            <ac:picMk id="8" creationId="{2895F7E8-CC5E-E42A-D48D-25EB8D39D9EE}"/>
          </ac:picMkLst>
        </pc:picChg>
      </pc:sldChg>
      <pc:sldChg chg="addSp delSp modSp mod">
        <pc:chgData name="Chad Williams" userId="618f96a3-8672-4e43-ae03-eeed93bb7387" providerId="ADAL" clId="{DFF2BB08-185E-495B-B2A0-BE0942C7B81E}" dt="2026-08-17T19:37:17.680" v="2921" actId="22"/>
        <pc:sldMkLst>
          <pc:docMk/>
          <pc:sldMk cId="2406194706" sldId="462"/>
        </pc:sldMkLst>
        <pc:spChg chg="add">
          <ac:chgData name="Chad Williams" userId="618f96a3-8672-4e43-ae03-eeed93bb7387" providerId="ADAL" clId="{DFF2BB08-185E-495B-B2A0-BE0942C7B81E}" dt="2026-08-17T19:37:17.680" v="2921" actId="22"/>
          <ac:spMkLst>
            <pc:docMk/>
            <pc:sldMk cId="2406194706" sldId="462"/>
            <ac:spMk id="7" creationId="{674DEBD6-1F29-DC70-7CE3-728C7AA25665}"/>
          </ac:spMkLst>
        </pc:spChg>
        <pc:picChg chg="add mod">
          <ac:chgData name="Chad Williams" userId="618f96a3-8672-4e43-ae03-eeed93bb7387" providerId="ADAL" clId="{DFF2BB08-185E-495B-B2A0-BE0942C7B81E}" dt="2026-08-17T19:37:11.205" v="2920" actId="1076"/>
          <ac:picMkLst>
            <pc:docMk/>
            <pc:sldMk cId="2406194706" sldId="462"/>
            <ac:picMk id="4" creationId="{35E401E5-22A4-3B77-11B5-9559F73BC6FD}"/>
          </ac:picMkLst>
        </pc:picChg>
      </pc:sldChg>
      <pc:sldChg chg="modSp add">
        <pc:chgData name="Chad Williams" userId="618f96a3-8672-4e43-ae03-eeed93bb7387" providerId="ADAL" clId="{DFF2BB08-185E-495B-B2A0-BE0942C7B81E}" dt="2026-07-29T21:49:36.151" v="2907"/>
        <pc:sldMkLst>
          <pc:docMk/>
          <pc:sldMk cId="1970910389" sldId="464"/>
        </pc:sldMkLst>
        <pc:spChg chg="mod">
          <ac:chgData name="Chad Williams" userId="618f96a3-8672-4e43-ae03-eeed93bb7387" providerId="ADAL" clId="{DFF2BB08-185E-495B-B2A0-BE0942C7B81E}" dt="2026-07-29T21:49:36.151" v="2907"/>
          <ac:spMkLst>
            <pc:docMk/>
            <pc:sldMk cId="1970910389" sldId="464"/>
            <ac:spMk id="3" creationId="{212B32C6-D058-EA93-4DAB-A345954ECA1B}"/>
          </ac:spMkLst>
        </pc:spChg>
      </pc:sldChg>
      <pc:sldChg chg="delSp modSp add mod">
        <pc:chgData name="Chad Williams" userId="618f96a3-8672-4e43-ae03-eeed93bb7387" providerId="ADAL" clId="{DFF2BB08-185E-495B-B2A0-BE0942C7B81E}" dt="2026-07-29T21:49:36.151" v="2907"/>
        <pc:sldMkLst>
          <pc:docMk/>
          <pc:sldMk cId="2321307647" sldId="465"/>
        </pc:sldMkLst>
        <pc:spChg chg="mod">
          <ac:chgData name="Chad Williams" userId="618f96a3-8672-4e43-ae03-eeed93bb7387" providerId="ADAL" clId="{DFF2BB08-185E-495B-B2A0-BE0942C7B81E}" dt="2026-07-29T21:49:36.151" v="2907"/>
          <ac:spMkLst>
            <pc:docMk/>
            <pc:sldMk cId="2321307647" sldId="465"/>
            <ac:spMk id="3" creationId="{2AADED44-C375-A727-8847-34883E197CF2}"/>
          </ac:spMkLst>
        </pc:spChg>
        <pc:spChg chg="mod">
          <ac:chgData name="Chad Williams" userId="618f96a3-8672-4e43-ae03-eeed93bb7387" providerId="ADAL" clId="{DFF2BB08-185E-495B-B2A0-BE0942C7B81E}" dt="2026-07-23T19:09:44.069" v="2741" actId="313"/>
          <ac:spMkLst>
            <pc:docMk/>
            <pc:sldMk cId="2321307647" sldId="465"/>
            <ac:spMk id="4" creationId="{F3946843-9B60-F49A-4040-E3B064BA9B21}"/>
          </ac:spMkLst>
        </pc:spChg>
      </pc:sldChg>
      <pc:sldChg chg="add del">
        <pc:chgData name="Chad Williams" userId="618f96a3-8672-4e43-ae03-eeed93bb7387" providerId="ADAL" clId="{DFF2BB08-185E-495B-B2A0-BE0942C7B81E}" dt="2026-07-23T20:55:50.997" v="2763"/>
        <pc:sldMkLst>
          <pc:docMk/>
          <pc:sldMk cId="0" sldId="474"/>
        </pc:sldMkLst>
      </pc:sldChg>
      <pc:sldChg chg="addSp delSp modSp add mod modAnim">
        <pc:chgData name="Chad Williams" userId="618f96a3-8672-4e43-ae03-eeed93bb7387" providerId="ADAL" clId="{DFF2BB08-185E-495B-B2A0-BE0942C7B81E}" dt="2026-07-23T20:57:47.888" v="2790" actId="22"/>
        <pc:sldMkLst>
          <pc:docMk/>
          <pc:sldMk cId="1136438292" sldId="475"/>
        </pc:sldMkLst>
        <pc:spChg chg="add">
          <ac:chgData name="Chad Williams" userId="618f96a3-8672-4e43-ae03-eeed93bb7387" providerId="ADAL" clId="{DFF2BB08-185E-495B-B2A0-BE0942C7B81E}" dt="2026-07-23T20:57:47.888" v="2790" actId="22"/>
          <ac:spMkLst>
            <pc:docMk/>
            <pc:sldMk cId="1136438292" sldId="475"/>
            <ac:spMk id="3" creationId="{78DB69FB-A01F-3ADF-B5B2-EE1E8B0B6D76}"/>
          </ac:spMkLst>
        </pc:spChg>
        <pc:spChg chg="add">
          <ac:chgData name="Chad Williams" userId="618f96a3-8672-4e43-ae03-eeed93bb7387" providerId="ADAL" clId="{DFF2BB08-185E-495B-B2A0-BE0942C7B81E}" dt="2026-07-23T20:57:47.888" v="2790" actId="22"/>
          <ac:spMkLst>
            <pc:docMk/>
            <pc:sldMk cId="1136438292" sldId="475"/>
            <ac:spMk id="8" creationId="{AAF6A5BC-D413-FACF-C4AB-467054B460E5}"/>
          </ac:spMkLst>
        </pc:spChg>
      </pc:sldChg>
      <pc:sldChg chg="add">
        <pc:chgData name="Chad Williams" userId="618f96a3-8672-4e43-ae03-eeed93bb7387" providerId="ADAL" clId="{DFF2BB08-185E-495B-B2A0-BE0942C7B81E}" dt="2026-07-23T20:58:10.459" v="2791"/>
        <pc:sldMkLst>
          <pc:docMk/>
          <pc:sldMk cId="1090469542" sldId="476"/>
        </pc:sldMkLst>
      </pc:sldChg>
      <pc:sldChg chg="add">
        <pc:chgData name="Chad Williams" userId="618f96a3-8672-4e43-ae03-eeed93bb7387" providerId="ADAL" clId="{DFF2BB08-185E-495B-B2A0-BE0942C7B81E}" dt="2026-07-23T20:59:27.006" v="2798"/>
        <pc:sldMkLst>
          <pc:docMk/>
          <pc:sldMk cId="2233011601" sldId="477"/>
        </pc:sldMkLst>
      </pc:sldChg>
      <pc:sldChg chg="add del">
        <pc:chgData name="Chad Williams" userId="618f96a3-8672-4e43-ae03-eeed93bb7387" providerId="ADAL" clId="{DFF2BB08-185E-495B-B2A0-BE0942C7B81E}" dt="2026-08-20T21:00:20.513" v="2925"/>
        <pc:sldMkLst>
          <pc:docMk/>
          <pc:sldMk cId="3452734524" sldId="478"/>
        </pc:sldMkLst>
      </pc:sldChg>
      <pc:sldChg chg="add del">
        <pc:chgData name="Chad Williams" userId="618f96a3-8672-4e43-ae03-eeed93bb7387" providerId="ADAL" clId="{DFF2BB08-185E-495B-B2A0-BE0942C7B81E}" dt="2026-08-20T21:00:20.513" v="2925"/>
        <pc:sldMkLst>
          <pc:docMk/>
          <pc:sldMk cId="156490161" sldId="525"/>
        </pc:sldMkLst>
      </pc:sldChg>
      <pc:sldChg chg="add del">
        <pc:chgData name="Chad Williams" userId="618f96a3-8672-4e43-ae03-eeed93bb7387" providerId="ADAL" clId="{DFF2BB08-185E-495B-B2A0-BE0942C7B81E}" dt="2026-08-20T21:00:20.513" v="2925"/>
        <pc:sldMkLst>
          <pc:docMk/>
          <pc:sldMk cId="871598263" sldId="526"/>
        </pc:sldMkLst>
      </pc:sldChg>
      <pc:sldMasterChg chg="addSldLayout delSldLayout">
        <pc:chgData name="Chad Williams" userId="618f96a3-8672-4e43-ae03-eeed93bb7387" providerId="ADAL" clId="{DFF2BB08-185E-495B-B2A0-BE0942C7B81E}" dt="2026-07-23T20:55:12.658" v="2755" actId="47"/>
        <pc:sldMasterMkLst>
          <pc:docMk/>
          <pc:sldMasterMk cId="2424958789" sldId="2147483648"/>
        </pc:sldMasterMkLst>
        <pc:sldLayoutChg chg="add del">
          <pc:chgData name="Chad Williams" userId="618f96a3-8672-4e43-ae03-eeed93bb7387" providerId="ADAL" clId="{DFF2BB08-185E-495B-B2A0-BE0942C7B81E}" dt="2026-07-23T20:55:12.658" v="2755" actId="47"/>
          <pc:sldLayoutMkLst>
            <pc:docMk/>
            <pc:sldMasterMk cId="2424958789" sldId="2147483648"/>
            <pc:sldLayoutMk cId="1931554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35285E-3900-446A-A2A8-05EB4D114A1A}"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50A57-107D-406A-AEC1-6B1B5B7F10B6}" type="slidenum">
              <a:rPr lang="en-US" smtClean="0"/>
              <a:t>‹#›</a:t>
            </a:fld>
            <a:endParaRPr lang="en-US"/>
          </a:p>
        </p:txBody>
      </p:sp>
    </p:spTree>
    <p:extLst>
      <p:ext uri="{BB962C8B-B14F-4D97-AF65-F5344CB8AC3E}">
        <p14:creationId xmlns:p14="http://schemas.microsoft.com/office/powerpoint/2010/main" val="2036900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8279-E51D-5107-BCE0-5DAA7B91F4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6A4AF-C70E-4CB7-5DD6-CE2D7B661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37F343-F438-A9E0-EAB7-8A293DD57E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5A125A-832E-2818-6A57-BEAA7A91DC7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44975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31950-B154-3529-6BB0-170115329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D3B4A-9E4C-90FB-F92A-B86C8094D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99586E-5FFE-8161-6802-F8F9A24D44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F2744-9764-25D0-382D-58A05889B00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48413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5F63D-ED82-3ADF-DBC2-BC35813C74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7EECF8-1A60-BDEC-70CB-CAB1429FF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32DD90-C5A6-B0AC-DAF5-27C98BBC92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3E74C4-A608-975C-2D39-203D11077736}"/>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979389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03C4-A3BC-4448-B9AD-66124D13670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424571-4F8A-6C47-9749-2A5682FBB8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4B04C4-CF9D-4440-900D-7C991A0A3EA2}"/>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45C24B8B-B52E-E948-90C4-ED942E1BD0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CD585-D83B-0647-A52C-A980F2F6B073}"/>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868547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6F040-F8AA-284D-9A2D-3C5C0FA1D4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D6C187-7756-4B43-A596-F69A969AF3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FFC7B6-7C4C-B843-BC73-00857224A5CF}"/>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83462E60-CA7D-3F4C-B11E-5E5EA892F4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4447CB-12CC-544F-87A0-53D5E7D5CC47}"/>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1564986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DB59-25E3-C441-B2B0-CCF1443221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F13827-7B7B-1B4C-A71D-D7D23EEACE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25A58F-9BF8-2A45-95E2-D8F10475296C}"/>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EE4F4517-17F9-DA4A-A018-53C87C985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B92181-7F5A-3340-946C-922F12310EF5}"/>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1641126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717A0-493E-9743-A086-603EC31583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1090B7-FC87-6F4F-90FF-0035F73953E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FDD8D41-9BC8-9141-92E9-1E612FDECD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6E1E6FA-F6AF-2742-ABFF-5CCA4E8FF743}"/>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6" name="Footer Placeholder 5">
            <a:extLst>
              <a:ext uri="{FF2B5EF4-FFF2-40B4-BE49-F238E27FC236}">
                <a16:creationId xmlns:a16="http://schemas.microsoft.com/office/drawing/2014/main" id="{58041563-6D3C-C44D-834D-EFC5BB95E4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7ED32-5B43-8247-8416-6E8E7F7048C0}"/>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3624413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A26CE-92FA-6D4F-8FB1-C52FB41218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541853-295F-9446-90B2-969CC111C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9B1007-CD83-DF48-8442-3B746429CE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CAE6B8-0BF2-3947-B63F-914E119586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2C3BAE-5FC4-3942-81D9-F30DE0550A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3C4E62E-26CB-924C-9EBA-377C705978EF}"/>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8" name="Footer Placeholder 7">
            <a:extLst>
              <a:ext uri="{FF2B5EF4-FFF2-40B4-BE49-F238E27FC236}">
                <a16:creationId xmlns:a16="http://schemas.microsoft.com/office/drawing/2014/main" id="{7B083954-2A0B-D548-B82D-40079800C0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670E39-B94B-D040-8526-FEC79EEF872F}"/>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3608893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84BAC-0576-2C41-B0E4-B4A231E1F0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6F2116-5FE7-6F47-B408-F7207B01EC88}"/>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4" name="Footer Placeholder 3">
            <a:extLst>
              <a:ext uri="{FF2B5EF4-FFF2-40B4-BE49-F238E27FC236}">
                <a16:creationId xmlns:a16="http://schemas.microsoft.com/office/drawing/2014/main" id="{1392D576-1803-2644-B0A0-630E57A32B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463B4F-5B0D-F248-854F-4810F8302DE7}"/>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3293182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2F5529-CDF8-B741-A95A-1306AF0DAE4A}"/>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3" name="Footer Placeholder 2">
            <a:extLst>
              <a:ext uri="{FF2B5EF4-FFF2-40B4-BE49-F238E27FC236}">
                <a16:creationId xmlns:a16="http://schemas.microsoft.com/office/drawing/2014/main" id="{1BBC69F8-26D0-EC49-BAFB-C437B4A95A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A658CB-B392-024C-B45D-C0F013C6C01B}"/>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2634856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0E8B6-920B-0C40-B6CC-42ED3E6135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4F1271C-FF86-0146-AC8D-97EACB527A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B93A8B-1B9C-3E4E-AAA0-F0DF45A1D5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9B7DC0-6562-9342-86AD-2D56E79013D1}"/>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6" name="Footer Placeholder 5">
            <a:extLst>
              <a:ext uri="{FF2B5EF4-FFF2-40B4-BE49-F238E27FC236}">
                <a16:creationId xmlns:a16="http://schemas.microsoft.com/office/drawing/2014/main" id="{9E195D0B-AD99-D146-8E92-3C98FB60A5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E894B0-1EB5-4A43-AB4F-73AD4E3F40F1}"/>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3777912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49751-FCBD-4744-BBD8-8C60FCE07D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A0F9FF-E840-624B-BB9E-44F24B035A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050B09-C762-C648-AE8A-A4521F61F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BC6E1F-B250-074F-960A-64BFEF94F0A9}"/>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6" name="Footer Placeholder 5">
            <a:extLst>
              <a:ext uri="{FF2B5EF4-FFF2-40B4-BE49-F238E27FC236}">
                <a16:creationId xmlns:a16="http://schemas.microsoft.com/office/drawing/2014/main" id="{5068CEF1-DCEF-6B49-9C97-02EFFD64C9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804381-F18D-C74A-98E3-97DABB6A4C02}"/>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2680450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F8BDF-0CC4-0E45-BC8D-6FB5B6FD890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1C6823-5CF2-B443-AC3E-0A55408DF7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BFB30-E056-4547-A13F-69AD8D4DDDBD}"/>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10A7382E-030F-1643-B96C-E194061001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314DDF-7DD4-4C48-9DAF-0118C550A8A1}"/>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3953607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129507-AA0A-8044-90CA-E6EBC7790DB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8D3057-1ED4-0B46-B3F7-D47919FDB7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41E3D0-E06E-8B48-A375-E1989B2EA9E6}"/>
              </a:ext>
            </a:extLst>
          </p:cNvPr>
          <p:cNvSpPr>
            <a:spLocks noGrp="1"/>
          </p:cNvSpPr>
          <p:nvPr>
            <p:ph type="dt" sz="half" idx="10"/>
          </p:nvPr>
        </p:nvSpPr>
        <p:spPr/>
        <p:txBody>
          <a:body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811E205D-414F-A54F-9F7C-8FC87FD1E7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88C880-15EC-4B40-8CAE-D53E8121C261}"/>
              </a:ext>
            </a:extLst>
          </p:cNvPr>
          <p:cNvSpPr>
            <a:spLocks noGrp="1"/>
          </p:cNvSpPr>
          <p:nvPr>
            <p:ph type="sldNum" sz="quarter" idx="12"/>
          </p:nvPr>
        </p:nvSpPr>
        <p:spPr/>
        <p:txBody>
          <a:bodyPr/>
          <a:lstStyle/>
          <a:p>
            <a:fld id="{35F77F20-B54B-C14B-80A3-9F4A273A46B5}" type="slidenum">
              <a:rPr lang="en-US" smtClean="0"/>
              <a:t>‹#›</a:t>
            </a:fld>
            <a:endParaRPr lang="en-US"/>
          </a:p>
        </p:txBody>
      </p:sp>
    </p:spTree>
    <p:extLst>
      <p:ext uri="{BB962C8B-B14F-4D97-AF65-F5344CB8AC3E}">
        <p14:creationId xmlns:p14="http://schemas.microsoft.com/office/powerpoint/2010/main" val="2982846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15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28673-3950-304E-8BC0-174E63D7D6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CFA893-D190-8749-BD92-95B5B1FDF2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B18488-94F8-7A4F-8938-5306E07F29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976E30-EF47-034D-986C-7F95DF322C58}" type="datetimeFigureOut">
              <a:rPr lang="en-US" smtClean="0"/>
              <a:t>8/20/2026</a:t>
            </a:fld>
            <a:endParaRPr lang="en-US"/>
          </a:p>
        </p:txBody>
      </p:sp>
      <p:sp>
        <p:nvSpPr>
          <p:cNvPr id="5" name="Footer Placeholder 4">
            <a:extLst>
              <a:ext uri="{FF2B5EF4-FFF2-40B4-BE49-F238E27FC236}">
                <a16:creationId xmlns:a16="http://schemas.microsoft.com/office/drawing/2014/main" id="{AFAD2872-B7A0-4D4A-ADE5-DA5D2B957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DBE568-4937-3649-A0C3-53E54C57F5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F77F20-B54B-C14B-80A3-9F4A273A46B5}" type="slidenum">
              <a:rPr lang="en-US" smtClean="0"/>
              <a:t>‹#›</a:t>
            </a:fld>
            <a:endParaRPr lang="en-US"/>
          </a:p>
        </p:txBody>
      </p:sp>
    </p:spTree>
    <p:extLst>
      <p:ext uri="{BB962C8B-B14F-4D97-AF65-F5344CB8AC3E}">
        <p14:creationId xmlns:p14="http://schemas.microsoft.com/office/powerpoint/2010/main" val="2424958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4.png"/><Relationship Id="rId5" Type="http://schemas.openxmlformats.org/officeDocument/2006/relationships/image" Target="../media/image7.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youtu.be/BWJRsY-G8u0?si=_fMTfHJVDAN8yKC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a:latin typeface="Calibri" panose="020F0502020204030204" pitchFamily="34" charset="0"/>
                <a:cs typeface="Calibri" panose="020F0502020204030204" pitchFamily="34" charset="0"/>
              </a:rPr>
              <a:t>Single Sample </a:t>
            </a:r>
            <a:br>
              <a:rPr lang="en-US" sz="4800" b="1" dirty="0">
                <a:latin typeface="Calibri" panose="020F0502020204030204" pitchFamily="34" charset="0"/>
                <a:cs typeface="Calibri" panose="020F0502020204030204" pitchFamily="34" charset="0"/>
              </a:rPr>
            </a:br>
            <a:r>
              <a:rPr lang="en-US" sz="4800" b="1" dirty="0">
                <a:latin typeface="Calibri" panose="020F0502020204030204" pitchFamily="34" charset="0"/>
                <a:cs typeface="Calibri" panose="020F0502020204030204" pitchFamily="34" charset="0"/>
              </a:rPr>
              <a:t>Z-Test</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grpSp>
        <p:nvGrpSpPr>
          <p:cNvPr id="46" name="Group 45">
            <a:extLst>
              <a:ext uri="{FF2B5EF4-FFF2-40B4-BE49-F238E27FC236}">
                <a16:creationId xmlns:a16="http://schemas.microsoft.com/office/drawing/2014/main" id="{893A07B0-5ED5-F74E-A1D2-DB896138B20F}"/>
              </a:ext>
            </a:extLst>
          </p:cNvPr>
          <p:cNvGrpSpPr/>
          <p:nvPr/>
        </p:nvGrpSpPr>
        <p:grpSpPr>
          <a:xfrm>
            <a:off x="1462829" y="602117"/>
            <a:ext cx="5458932" cy="5307690"/>
            <a:chOff x="1462829" y="602117"/>
            <a:chExt cx="5458932" cy="5307690"/>
          </a:xfrm>
        </p:grpSpPr>
        <p:grpSp>
          <p:nvGrpSpPr>
            <p:cNvPr id="20" name="Group 19">
              <a:extLst>
                <a:ext uri="{FF2B5EF4-FFF2-40B4-BE49-F238E27FC236}">
                  <a16:creationId xmlns:a16="http://schemas.microsoft.com/office/drawing/2014/main" id="{C1367C81-ADE9-1F41-8FEA-4AF5AD77BDCE}"/>
                </a:ext>
              </a:extLst>
            </p:cNvPr>
            <p:cNvGrpSpPr/>
            <p:nvPr/>
          </p:nvGrpSpPr>
          <p:grpSpPr>
            <a:xfrm>
              <a:off x="1462829" y="602117"/>
              <a:ext cx="5458932" cy="5307690"/>
              <a:chOff x="1779790" y="1493134"/>
              <a:chExt cx="4490974" cy="4366550"/>
            </a:xfrm>
          </p:grpSpPr>
          <p:cxnSp>
            <p:nvCxnSpPr>
              <p:cNvPr id="5" name="Straight Arrow Connector 4">
                <a:extLst>
                  <a:ext uri="{FF2B5EF4-FFF2-40B4-BE49-F238E27FC236}">
                    <a16:creationId xmlns:a16="http://schemas.microsoft.com/office/drawing/2014/main" id="{57A84D5C-C387-1D47-9772-854B66FD3385}"/>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1AE5A16A-F773-0646-9683-42DD8F3889F2}"/>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46E9A222-DCDE-EB4E-839F-B23FEDA593F5}"/>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419066EF-2FB6-1F47-B4D8-42A849FE2AD4}"/>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50448620-62B4-4F4D-946A-BF7ACA620963}"/>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Freeform 27">
              <a:extLst>
                <a:ext uri="{FF2B5EF4-FFF2-40B4-BE49-F238E27FC236}">
                  <a16:creationId xmlns:a16="http://schemas.microsoft.com/office/drawing/2014/main" id="{1D410515-89AE-9540-8E50-AA444F8EC47A}"/>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B09B93DB-C642-8A4B-85C0-D6AE3FB6D384}"/>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37" name="Freeform 36">
              <a:extLst>
                <a:ext uri="{FF2B5EF4-FFF2-40B4-BE49-F238E27FC236}">
                  <a16:creationId xmlns:a16="http://schemas.microsoft.com/office/drawing/2014/main" id="{9158FB07-577C-1C48-BE6C-59B0CA0BB524}"/>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23095749-45C8-8A4A-979E-7C4B025D4FDF}"/>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E1A4B310-E851-814F-9BAA-0DD6B54C5EB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DBCC1C8-A7F4-9D45-B58E-21EF51AE8B3F}"/>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E602794-B522-FC44-BC63-545173E3DBFC}"/>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076F9C99-A770-9E43-955D-38F4554386A4}"/>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15704A3B-D9E0-7D4E-B43D-C5BABAB8D583}"/>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Score versus Sample Mean</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Sample Z-Test</a:t>
            </a:r>
          </a:p>
          <a:p>
            <a:pPr marL="342900" indent="-342900">
              <a:buFont typeface="Arial" panose="020B0604020202020204" pitchFamily="34" charset="0"/>
              <a:buChar char="•"/>
            </a:pPr>
            <a:r>
              <a:rPr lang="en-US" sz="3600" dirty="0">
                <a:latin typeface="Calibri" panose="020F0502020204030204" pitchFamily="34" charset="0"/>
                <a:cs typeface="Calibri" panose="020F0502020204030204" pitchFamily="34" charset="0"/>
              </a:rPr>
              <a:t>Example</a:t>
            </a:r>
          </a:p>
        </p:txBody>
      </p:sp>
    </p:spTree>
    <p:extLst>
      <p:ext uri="{BB962C8B-B14F-4D97-AF65-F5344CB8AC3E}">
        <p14:creationId xmlns:p14="http://schemas.microsoft.com/office/powerpoint/2010/main" val="2423649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Single Score versus Sample Mean</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Sample Z-Test</a:t>
            </a:r>
          </a:p>
          <a:p>
            <a:pPr marL="342900" indent="-342900">
              <a:buFont typeface="Arial" panose="020B0604020202020204" pitchFamily="34" charset="0"/>
              <a:buChar char="•"/>
            </a:pPr>
            <a:r>
              <a:rPr lang="en-US" sz="3600" dirty="0">
                <a:latin typeface="Calibri" panose="020F0502020204030204" pitchFamily="34" charset="0"/>
                <a:cs typeface="Calibri" panose="020F0502020204030204" pitchFamily="34" charset="0"/>
              </a:rPr>
              <a:t>Example</a:t>
            </a:r>
          </a:p>
        </p:txBody>
      </p:sp>
    </p:spTree>
    <p:extLst>
      <p:ext uri="{BB962C8B-B14F-4D97-AF65-F5344CB8AC3E}">
        <p14:creationId xmlns:p14="http://schemas.microsoft.com/office/powerpoint/2010/main" val="4156091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BCF5-1936-C174-91D1-A584A7BABCB7}"/>
              </a:ext>
            </a:extLst>
          </p:cNvPr>
          <p:cNvSpPr>
            <a:spLocks noGrp="1"/>
          </p:cNvSpPr>
          <p:nvPr>
            <p:ph type="title"/>
          </p:nvPr>
        </p:nvSpPr>
        <p:spPr>
          <a:xfrm>
            <a:off x="838199" y="365125"/>
            <a:ext cx="10872267" cy="1325563"/>
          </a:xfrm>
        </p:spPr>
        <p:txBody>
          <a:bodyPr/>
          <a:lstStyle/>
          <a:p>
            <a:r>
              <a:rPr lang="en-US" dirty="0"/>
              <a:t>Single Participant versus Single Sample Design</a:t>
            </a:r>
          </a:p>
        </p:txBody>
      </p:sp>
      <p:sp>
        <p:nvSpPr>
          <p:cNvPr id="3" name="Content Placeholder 2">
            <a:extLst>
              <a:ext uri="{FF2B5EF4-FFF2-40B4-BE49-F238E27FC236}">
                <a16:creationId xmlns:a16="http://schemas.microsoft.com/office/drawing/2014/main" id="{212B32C6-D058-EA93-4DAB-A345954ECA1B}"/>
              </a:ext>
            </a:extLst>
          </p:cNvPr>
          <p:cNvSpPr>
            <a:spLocks noGrp="1"/>
          </p:cNvSpPr>
          <p:nvPr>
            <p:ph idx="1"/>
          </p:nvPr>
        </p:nvSpPr>
        <p:spPr>
          <a:xfrm>
            <a:off x="838200" y="1825625"/>
            <a:ext cx="6238795" cy="4351338"/>
          </a:xfrm>
        </p:spPr>
        <p:txBody>
          <a:bodyPr/>
          <a:lstStyle/>
          <a:p>
            <a:pPr marL="0" indent="0">
              <a:buNone/>
            </a:pPr>
            <a:r>
              <a:rPr lang="en-US" b="1" dirty="0"/>
              <a:t>Single-Participant Design</a:t>
            </a:r>
            <a:r>
              <a:rPr lang="en-US" dirty="0"/>
              <a:t>: We are comparing a single participant’s </a:t>
            </a:r>
            <a:r>
              <a:rPr lang="en-US" b="1" dirty="0"/>
              <a:t>score (x) </a:t>
            </a:r>
            <a:r>
              <a:rPr lang="en-US" dirty="0"/>
              <a:t>to a distribution of </a:t>
            </a:r>
            <a:r>
              <a:rPr lang="en-US" b="1" dirty="0"/>
              <a:t>population scores</a:t>
            </a:r>
          </a:p>
          <a:p>
            <a:r>
              <a:rPr lang="en-US" dirty="0"/>
              <a:t>Does my participant fit this population?</a:t>
            </a:r>
          </a:p>
          <a:p>
            <a:pPr marL="0" indent="0">
              <a:buNone/>
            </a:pPr>
            <a:endParaRPr lang="en-US" dirty="0"/>
          </a:p>
          <a:p>
            <a:pPr marL="0" indent="0">
              <a:buNone/>
            </a:pPr>
            <a:r>
              <a:rPr lang="en-US" b="1" dirty="0"/>
              <a:t>Single Sample Design</a:t>
            </a:r>
            <a:r>
              <a:rPr lang="en-US" dirty="0"/>
              <a:t>: We are comparing a sample’s </a:t>
            </a:r>
            <a:r>
              <a:rPr lang="en-US" b="1" dirty="0"/>
              <a:t>mean (x̅)</a:t>
            </a:r>
            <a:r>
              <a:rPr lang="en-US" dirty="0"/>
              <a:t> to a distribution of possible </a:t>
            </a:r>
            <a:r>
              <a:rPr lang="en-US" b="1" dirty="0"/>
              <a:t>population means</a:t>
            </a:r>
          </a:p>
          <a:p>
            <a:r>
              <a:rPr lang="en-US" dirty="0"/>
              <a:t>Does my sample fit this population?</a:t>
            </a:r>
          </a:p>
          <a:p>
            <a:pPr marL="0" indent="0">
              <a:buNone/>
            </a:pPr>
            <a:endParaRPr lang="en-US" b="1" dirty="0"/>
          </a:p>
        </p:txBody>
      </p:sp>
      <p:pic>
        <p:nvPicPr>
          <p:cNvPr id="8" name="Picture 7" descr="A group of people with different colors&#10;&#10;AI-generated content may be incorrect.">
            <a:extLst>
              <a:ext uri="{FF2B5EF4-FFF2-40B4-BE49-F238E27FC236}">
                <a16:creationId xmlns:a16="http://schemas.microsoft.com/office/drawing/2014/main" id="{909B07E9-ABCD-216F-74F0-293B17E1E8F4}"/>
              </a:ext>
            </a:extLst>
          </p:cNvPr>
          <p:cNvPicPr>
            <a:picLocks noChangeAspect="1"/>
          </p:cNvPicPr>
          <p:nvPr/>
        </p:nvPicPr>
        <p:blipFill>
          <a:blip r:embed="rId2"/>
          <a:srcRect l="5266" t="26621" r="88573" b="56638"/>
          <a:stretch>
            <a:fillRect/>
          </a:stretch>
        </p:blipFill>
        <p:spPr>
          <a:xfrm>
            <a:off x="9351468" y="1690688"/>
            <a:ext cx="668511" cy="1692957"/>
          </a:xfrm>
          <a:prstGeom prst="rect">
            <a:avLst/>
          </a:prstGeom>
        </p:spPr>
      </p:pic>
      <p:pic>
        <p:nvPicPr>
          <p:cNvPr id="9" name="Picture 8" descr="A group of people with different colors&#10;&#10;AI-generated content may be incorrect.">
            <a:extLst>
              <a:ext uri="{FF2B5EF4-FFF2-40B4-BE49-F238E27FC236}">
                <a16:creationId xmlns:a16="http://schemas.microsoft.com/office/drawing/2014/main" id="{098F3833-AD29-6014-5011-9C6DC3C81D88}"/>
              </a:ext>
            </a:extLst>
          </p:cNvPr>
          <p:cNvPicPr>
            <a:picLocks noChangeAspect="1"/>
          </p:cNvPicPr>
          <p:nvPr/>
        </p:nvPicPr>
        <p:blipFill>
          <a:blip r:embed="rId2"/>
          <a:srcRect l="5264" t="9459" r="57770" b="56639"/>
          <a:stretch>
            <a:fillRect/>
          </a:stretch>
        </p:blipFill>
        <p:spPr>
          <a:xfrm>
            <a:off x="8552329" y="3907626"/>
            <a:ext cx="2328263" cy="1990088"/>
          </a:xfrm>
          <a:prstGeom prst="rect">
            <a:avLst/>
          </a:prstGeom>
        </p:spPr>
      </p:pic>
    </p:spTree>
    <p:extLst>
      <p:ext uri="{BB962C8B-B14F-4D97-AF65-F5344CB8AC3E}">
        <p14:creationId xmlns:p14="http://schemas.microsoft.com/office/powerpoint/2010/main" val="1970910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9B5CD-1111-E645-81C4-C6EB1366FEE4}"/>
              </a:ext>
            </a:extLst>
          </p:cNvPr>
          <p:cNvSpPr>
            <a:spLocks noGrp="1"/>
          </p:cNvSpPr>
          <p:nvPr>
            <p:ph type="title"/>
          </p:nvPr>
        </p:nvSpPr>
        <p:spPr/>
        <p:txBody>
          <a:bodyPr/>
          <a:lstStyle/>
          <a:p>
            <a:r>
              <a:rPr lang="en-US" dirty="0"/>
              <a:t>Single Participant vs Single Sample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AEDD9E7-2483-7A49-96F8-35144B7D539C}"/>
                  </a:ext>
                </a:extLst>
              </p:cNvPr>
              <p:cNvSpPr>
                <a:spLocks noGrp="1"/>
              </p:cNvSpPr>
              <p:nvPr>
                <p:ph idx="1"/>
              </p:nvPr>
            </p:nvSpPr>
            <p:spPr>
              <a:xfrm>
                <a:off x="838200" y="1825624"/>
                <a:ext cx="11353800" cy="5032375"/>
              </a:xfrm>
            </p:spPr>
            <p:txBody>
              <a:bodyPr>
                <a:normAutofit/>
              </a:bodyPr>
              <a:lstStyle/>
              <a:p>
                <a:pPr marL="0" indent="0">
                  <a:buNone/>
                </a:pPr>
                <a:r>
                  <a:rPr lang="en-US" dirty="0"/>
                  <a:t>Single Participant in a Sample (Unit 3.1.)</a:t>
                </a:r>
              </a:p>
              <a:p>
                <a14:m>
                  <m:oMath xmlns:m="http://schemas.openxmlformats.org/officeDocument/2006/math">
                    <m:r>
                      <a:rPr lang="en-US" b="0" i="1" smtClean="0">
                        <a:solidFill>
                          <a:schemeClr val="tx1"/>
                        </a:solidFill>
                        <a:latin typeface="Cambria Math" panose="02040503050406030204" pitchFamily="18" charset="0"/>
                      </a:rPr>
                      <m:t>𝑧</m:t>
                    </m:r>
                    <m:r>
                      <a:rPr lang="en-US" i="1">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m:t>
                        </m:r>
                      </m:num>
                      <m:den>
                        <m:r>
                          <a:rPr lang="en-CA" b="0" i="1" smtClean="0">
                            <a:solidFill>
                              <a:schemeClr val="tx1"/>
                            </a:solidFill>
                            <a:latin typeface="Cambria Math" panose="02040503050406030204" pitchFamily="18" charset="0"/>
                          </a:rPr>
                          <m:t>𝑆𝐷</m:t>
                        </m:r>
                      </m:den>
                    </m:f>
                  </m:oMath>
                </a14:m>
                <a:r>
                  <a:rPr lang="en-CA" b="0" dirty="0">
                    <a:solidFill>
                      <a:schemeClr val="tx1"/>
                    </a:solidFill>
                  </a:rPr>
                  <a:t> </a:t>
                </a:r>
                <a14:m>
                  <m:oMath xmlns:m="http://schemas.openxmlformats.org/officeDocument/2006/math">
                    <m:r>
                      <a:rPr lang="en-CA" sz="1600" b="0" i="1" smtClean="0">
                        <a:solidFill>
                          <a:schemeClr val="tx1"/>
                        </a:solidFill>
                        <a:latin typeface="Cambria Math" panose="02040503050406030204" pitchFamily="18" charset="0"/>
                      </a:rPr>
                      <m:t> </m:t>
                    </m:r>
                    <m:r>
                      <a:rPr lang="en-CA" sz="1600" b="0" i="0" smtClean="0">
                        <a:latin typeface="Cambria Math" panose="02040503050406030204" pitchFamily="18" charset="0"/>
                      </a:rPr>
                      <m:t>(</m:t>
                    </m:r>
                    <m:r>
                      <m:rPr>
                        <m:nor/>
                      </m:rPr>
                      <a:rPr lang="en-CA" sz="1600" b="0" i="0" smtClean="0">
                        <a:latin typeface="Cambria Math" panose="02040503050406030204" pitchFamily="18" charset="0"/>
                      </a:rPr>
                      <m:t>you</m:t>
                    </m:r>
                    <m:r>
                      <m:rPr>
                        <m:nor/>
                      </m:rPr>
                      <a:rPr lang="en-CA" sz="1600" b="0" i="0" smtClean="0">
                        <a:latin typeface="Cambria Math" panose="02040503050406030204" pitchFamily="18" charset="0"/>
                      </a:rPr>
                      <m:t> </m:t>
                    </m:r>
                    <m:r>
                      <m:rPr>
                        <m:nor/>
                      </m:rPr>
                      <a:rPr lang="en-CA" sz="1600" b="0" i="0" smtClean="0">
                        <a:latin typeface="Cambria Math" panose="02040503050406030204" pitchFamily="18" charset="0"/>
                      </a:rPr>
                      <m:t>calculate</m:t>
                    </m:r>
                    <m:r>
                      <m:rPr>
                        <m:nor/>
                      </m:rPr>
                      <a:rPr lang="en-CA" sz="1600" b="0" i="0" smtClean="0">
                        <a:latin typeface="Cambria Math" panose="02040503050406030204" pitchFamily="18" charset="0"/>
                      </a:rPr>
                      <m:t> </m:t>
                    </m:r>
                    <m:r>
                      <m:rPr>
                        <m:nor/>
                      </m:rPr>
                      <a:rPr lang="en-US" sz="1600" b="0" i="0" smtClean="0">
                        <a:latin typeface="Cambria Math" panose="02040503050406030204" pitchFamily="18" charset="0"/>
                      </a:rPr>
                      <m:t>x</m:t>
                    </m:r>
                    <m:r>
                      <a:rPr lang="en-US" sz="1600" b="0" i="1" smtClean="0">
                        <a:latin typeface="Cambria Math" panose="02040503050406030204" pitchFamily="18" charset="0"/>
                      </a:rPr>
                      <m:t>̅</m:t>
                    </m:r>
                    <m:r>
                      <m:rPr>
                        <m:nor/>
                      </m:rPr>
                      <a:rPr lang="en-US" sz="1600" b="0" i="0" smtClean="0">
                        <a:latin typeface="Cambria Math" panose="02040503050406030204" pitchFamily="18" charset="0"/>
                      </a:rPr>
                      <m:t> </m:t>
                    </m:r>
                  </m:oMath>
                </a14:m>
                <a:r>
                  <a:rPr lang="en-US" sz="1600" dirty="0"/>
                  <a:t>and SD)</a:t>
                </a:r>
              </a:p>
              <a:p>
                <a:endParaRPr lang="en-US" sz="1600" dirty="0"/>
              </a:p>
              <a:p>
                <a:pPr marL="0" indent="0">
                  <a:buNone/>
                </a:pPr>
                <a:r>
                  <a:rPr lang="en-US" dirty="0"/>
                  <a:t>Single Participant in a Population (Unit 3.3.)</a:t>
                </a:r>
              </a:p>
              <a:p>
                <a14:m>
                  <m:oMath xmlns:m="http://schemas.openxmlformats.org/officeDocument/2006/math">
                    <m:sSub>
                      <m:sSubPr>
                        <m:ctrlPr>
                          <a:rPr lang="en-US" i="1" smtClean="0">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𝑧</m:t>
                        </m:r>
                      </m:e>
                      <m:sub>
                        <m:r>
                          <a:rPr lang="en-US" i="1">
                            <a:solidFill>
                              <a:schemeClr val="tx1"/>
                            </a:solidFill>
                            <a:latin typeface="Cambria Math" panose="02040503050406030204" pitchFamily="18" charset="0"/>
                          </a:rPr>
                          <m:t>𝑥</m:t>
                        </m:r>
                      </m:sub>
                    </m:sSub>
                    <m:r>
                      <a:rPr lang="en-US" i="1">
                        <a:solidFill>
                          <a:schemeClr val="tx1"/>
                        </a:solidFill>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𝑥</m:t>
                        </m:r>
                        <m:r>
                          <a:rPr lang="en-CA" b="0" i="1" smtClean="0">
                            <a:latin typeface="Cambria Math" panose="02040503050406030204" pitchFamily="18" charset="0"/>
                          </a:rPr>
                          <m:t> − </m:t>
                        </m:r>
                        <m:sSub>
                          <m:sSubPr>
                            <m:ctrlPr>
                              <a:rPr lang="en-CA" b="0" i="1" smtClean="0">
                                <a:latin typeface="Cambria Math" panose="02040503050406030204" pitchFamily="18" charset="0"/>
                              </a:rPr>
                            </m:ctrlPr>
                          </m:sSubPr>
                          <m:e>
                            <m:r>
                              <m:rPr>
                                <m:nor/>
                              </m:rPr>
                              <a:rPr lang="el-GR" i="1" dirty="0"/>
                              <m:t>μ</m:t>
                            </m:r>
                          </m:e>
                          <m:sub>
                            <m:r>
                              <a:rPr lang="en-US" b="0" i="1" smtClean="0">
                                <a:latin typeface="Cambria Math" panose="02040503050406030204" pitchFamily="18" charset="0"/>
                              </a:rPr>
                              <m:t>𝑥</m:t>
                            </m:r>
                          </m:sub>
                        </m:sSub>
                      </m:num>
                      <m:den>
                        <m:sSub>
                          <m:sSubPr>
                            <m:ctrlPr>
                              <a:rPr lang="en-US" i="1" dirty="0" smtClean="0">
                                <a:latin typeface="Cambria Math" panose="02040503050406030204" pitchFamily="18" charset="0"/>
                              </a:rPr>
                            </m:ctrlPr>
                          </m:sSubPr>
                          <m:e>
                            <m:r>
                              <m:rPr>
                                <m:nor/>
                              </m:rPr>
                              <a:rPr lang="en-US" i="1" dirty="0"/>
                              <m:t>σ</m:t>
                            </m:r>
                          </m:e>
                          <m:sub>
                            <m:r>
                              <a:rPr lang="en-US" b="0" i="1" dirty="0" smtClean="0">
                                <a:latin typeface="Cambria Math" panose="02040503050406030204" pitchFamily="18" charset="0"/>
                              </a:rPr>
                              <m:t>𝑥</m:t>
                            </m:r>
                          </m:sub>
                        </m:sSub>
                      </m:den>
                    </m:f>
                  </m:oMath>
                </a14:m>
                <a:r>
                  <a:rPr lang="en-US" dirty="0"/>
                  <a:t> </a:t>
                </a:r>
                <a14:m>
                  <m:oMath xmlns:m="http://schemas.openxmlformats.org/officeDocument/2006/math">
                    <m:r>
                      <a:rPr lang="en-CA" sz="1600">
                        <a:latin typeface="Cambria Math" panose="02040503050406030204" pitchFamily="18" charset="0"/>
                      </a:rPr>
                      <m:t>(</m:t>
                    </m:r>
                    <m:r>
                      <m:rPr>
                        <m:nor/>
                      </m:rPr>
                      <a:rPr lang="el-GR" sz="1600" i="0" dirty="0" smtClean="0"/>
                      <m:t>μ</m:t>
                    </m:r>
                    <m:r>
                      <m:rPr>
                        <m:nor/>
                      </m:rPr>
                      <a:rPr lang="en-CA" sz="1600" b="0" i="1" baseline="-25000" dirty="0" smtClean="0"/>
                      <m:t>X</m:t>
                    </m:r>
                  </m:oMath>
                </a14:m>
                <a:r>
                  <a:rPr lang="en-US" sz="1600" dirty="0"/>
                  <a:t> &amp; </a:t>
                </a:r>
                <a14:m>
                  <m:oMath xmlns:m="http://schemas.openxmlformats.org/officeDocument/2006/math">
                    <m:r>
                      <m:rPr>
                        <m:nor/>
                      </m:rPr>
                      <a:rPr lang="en-US" sz="1600" i="0" dirty="0" smtClean="0"/>
                      <m:t>σ</m:t>
                    </m:r>
                    <m:r>
                      <a:rPr lang="en-CA" sz="1600" b="0" i="1" baseline="-25000" dirty="0" smtClean="0">
                        <a:latin typeface="Cambria Math" panose="02040503050406030204" pitchFamily="18" charset="0"/>
                      </a:rPr>
                      <m:t>𝑋</m:t>
                    </m:r>
                  </m:oMath>
                </a14:m>
                <a:r>
                  <a:rPr lang="en-US" sz="1600" dirty="0"/>
                  <a:t> are given to you)</a:t>
                </a:r>
              </a:p>
              <a:p>
                <a:endParaRPr lang="en-US" sz="1600" dirty="0"/>
              </a:p>
              <a:p>
                <a:pPr marL="0" indent="0">
                  <a:buNone/>
                </a:pPr>
                <a:r>
                  <a:rPr lang="en-US" dirty="0">
                    <a:solidFill>
                      <a:srgbClr val="FF0000"/>
                    </a:solidFill>
                  </a:rPr>
                  <a:t>Single Sample vs a Population where </a:t>
                </a:r>
                <a14:m>
                  <m:oMath xmlns:m="http://schemas.openxmlformats.org/officeDocument/2006/math">
                    <m:r>
                      <m:rPr>
                        <m:nor/>
                      </m:rPr>
                      <a:rPr lang="el-GR" i="1" dirty="0" smtClean="0">
                        <a:solidFill>
                          <a:srgbClr val="FF0000"/>
                        </a:solidFill>
                      </a:rPr>
                      <m:t>μ</m:t>
                    </m:r>
                    <m:r>
                      <m:rPr>
                        <m:nor/>
                      </m:rPr>
                      <a:rPr lang="en-CA" b="0" i="0" dirty="0" smtClean="0">
                        <a:solidFill>
                          <a:srgbClr val="FF0000"/>
                        </a:solidFill>
                      </a:rPr>
                      <m:t> </m:t>
                    </m:r>
                    <m:r>
                      <m:rPr>
                        <m:nor/>
                      </m:rPr>
                      <a:rPr lang="en-CA" b="0" i="0" dirty="0" smtClean="0">
                        <a:solidFill>
                          <a:srgbClr val="FF0000"/>
                        </a:solidFill>
                      </a:rPr>
                      <m:t>&amp; </m:t>
                    </m:r>
                    <m:r>
                      <m:rPr>
                        <m:nor/>
                      </m:rPr>
                      <a:rPr lang="en-US" i="1" dirty="0" smtClean="0">
                        <a:solidFill>
                          <a:srgbClr val="FF0000"/>
                        </a:solidFill>
                      </a:rPr>
                      <m:t>σ</m:t>
                    </m:r>
                  </m:oMath>
                </a14:m>
                <a:r>
                  <a:rPr lang="en-US" dirty="0">
                    <a:solidFill>
                      <a:srgbClr val="FF0000"/>
                    </a:solidFill>
                  </a:rPr>
                  <a:t> are known (empirical)</a:t>
                </a:r>
              </a:p>
              <a:p>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b="0" i="1" smtClean="0">
                            <a:solidFill>
                              <a:srgbClr val="FF0000"/>
                            </a:solidFill>
                            <a:latin typeface="Cambria Math" panose="02040503050406030204" pitchFamily="18" charset="0"/>
                          </a:rPr>
                          <m:t>𝑧</m:t>
                        </m:r>
                      </m:e>
                      <m:sub>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sub>
                    </m:sSub>
                    <m:r>
                      <a:rPr lang="en-US" sz="2400" b="0" i="1" smtClean="0">
                        <a:solidFill>
                          <a:srgbClr val="FF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r>
                          <a:rPr lang="en-CA" sz="2400" b="0" i="1" smtClean="0">
                            <a:solidFill>
                              <a:srgbClr val="FF0000"/>
                            </a:solidFill>
                            <a:latin typeface="Cambria Math" panose="02040503050406030204" pitchFamily="18" charset="0"/>
                          </a:rPr>
                          <m:t> − </m:t>
                        </m:r>
                        <m:sSub>
                          <m:sSubPr>
                            <m:ctrlPr>
                              <a:rPr lang="en-CA" sz="2400" b="0" i="1" smtClean="0">
                                <a:solidFill>
                                  <a:srgbClr val="FF0000"/>
                                </a:solidFill>
                                <a:latin typeface="Cambria Math" panose="02040503050406030204" pitchFamily="18" charset="0"/>
                              </a:rPr>
                            </m:ctrlPr>
                          </m:sSubPr>
                          <m:e>
                            <m:r>
                              <m:rPr>
                                <m:nor/>
                              </m:rPr>
                              <a:rPr lang="el-GR" sz="2400" i="1" dirty="0">
                                <a:solidFill>
                                  <a:srgbClr val="FF0000"/>
                                </a:solidFill>
                              </a:rPr>
                              <m:t>μ</m:t>
                            </m:r>
                          </m:e>
                          <m:sub>
                            <m:r>
                              <a:rPr lang="en-US" sz="2400" b="0" i="1" smtClean="0">
                                <a:solidFill>
                                  <a:srgbClr val="FF0000"/>
                                </a:solidFill>
                                <a:latin typeface="Cambria Math" panose="02040503050406030204" pitchFamily="18" charset="0"/>
                              </a:rPr>
                              <m:t>𝑥</m:t>
                            </m:r>
                            <m:r>
                              <a:rPr lang="en-US" sz="2400" b="0" i="1" smtClean="0">
                                <a:solidFill>
                                  <a:srgbClr val="FF0000"/>
                                </a:solidFill>
                                <a:latin typeface="Cambria Math" panose="02040503050406030204" pitchFamily="18" charset="0"/>
                              </a:rPr>
                              <m:t>̅</m:t>
                            </m:r>
                          </m:sub>
                        </m:sSub>
                      </m:num>
                      <m:den>
                        <m:sSub>
                          <m:sSubPr>
                            <m:ctrlPr>
                              <a:rPr lang="en-US" sz="2400" i="1" dirty="0" smtClean="0">
                                <a:solidFill>
                                  <a:srgbClr val="FF0000"/>
                                </a:solidFill>
                                <a:latin typeface="Cambria Math" panose="02040503050406030204" pitchFamily="18" charset="0"/>
                              </a:rPr>
                            </m:ctrlPr>
                          </m:sSubPr>
                          <m:e>
                            <m:r>
                              <m:rPr>
                                <m:nor/>
                              </m:rPr>
                              <a:rPr lang="en-US" sz="2400" i="1" dirty="0">
                                <a:solidFill>
                                  <a:srgbClr val="FF0000"/>
                                </a:solidFill>
                              </a:rPr>
                              <m:t>σ</m:t>
                            </m:r>
                          </m:e>
                          <m:sub>
                            <m:r>
                              <a:rPr lang="en-US" sz="2400" b="0" i="1" dirty="0" smtClean="0">
                                <a:solidFill>
                                  <a:srgbClr val="FF0000"/>
                                </a:solidFill>
                                <a:latin typeface="Cambria Math" panose="02040503050406030204" pitchFamily="18" charset="0"/>
                              </a:rPr>
                              <m:t>𝑥</m:t>
                            </m:r>
                            <m:r>
                              <a:rPr lang="en-US" sz="2400" b="0" i="1" dirty="0" smtClean="0">
                                <a:solidFill>
                                  <a:srgbClr val="FF0000"/>
                                </a:solidFill>
                                <a:latin typeface="Cambria Math" panose="02040503050406030204" pitchFamily="18" charset="0"/>
                              </a:rPr>
                              <m:t>̅</m:t>
                            </m:r>
                          </m:sub>
                        </m:sSub>
                      </m:den>
                    </m:f>
                  </m:oMath>
                </a14:m>
                <a:r>
                  <a:rPr lang="en-US" dirty="0">
                    <a:solidFill>
                      <a:srgbClr val="FF0000"/>
                    </a:solidFill>
                  </a:rPr>
                  <a:t>, where </a:t>
                </a:r>
                <a14:m>
                  <m:oMath xmlns:m="http://schemas.openxmlformats.org/officeDocument/2006/math">
                    <m:sSub>
                      <m:sSubPr>
                        <m:ctrlPr>
                          <a:rPr lang="en-US" i="1" dirty="0" smtClean="0">
                            <a:solidFill>
                              <a:srgbClr val="FF0000"/>
                            </a:solidFill>
                            <a:latin typeface="Cambria Math" panose="02040503050406030204" pitchFamily="18" charset="0"/>
                          </a:rPr>
                        </m:ctrlPr>
                      </m:sSubPr>
                      <m:e>
                        <m:r>
                          <m:rPr>
                            <m:nor/>
                          </m:rPr>
                          <a:rPr lang="en-US" i="1" dirty="0">
                            <a:solidFill>
                              <a:srgbClr val="FF0000"/>
                            </a:solidFill>
                          </a:rPr>
                          <m:t>σ</m:t>
                        </m:r>
                      </m:e>
                      <m:sub>
                        <m:r>
                          <a:rPr lang="en-US" b="0" i="1" dirty="0" smtClean="0">
                            <a:solidFill>
                              <a:srgbClr val="FF0000"/>
                            </a:solidFill>
                            <a:latin typeface="Cambria Math" panose="02040503050406030204" pitchFamily="18" charset="0"/>
                          </a:rPr>
                          <m:t>𝑥</m:t>
                        </m:r>
                        <m:r>
                          <a:rPr lang="en-US" b="0" i="1" dirty="0" smtClean="0">
                            <a:solidFill>
                              <a:srgbClr val="FF0000"/>
                            </a:solidFill>
                            <a:latin typeface="Cambria Math" panose="02040503050406030204" pitchFamily="18" charset="0"/>
                          </a:rPr>
                          <m:t>̅̅</m:t>
                        </m:r>
                      </m:sub>
                    </m:sSub>
                    <m:r>
                      <a:rPr lang="en-US" b="0" i="1" dirty="0" smtClean="0">
                        <a:solidFill>
                          <a:srgbClr val="FF0000"/>
                        </a:solidFill>
                        <a:latin typeface="Cambria Math" panose="02040503050406030204" pitchFamily="18" charset="0"/>
                      </a:rPr>
                      <m:t>=</m:t>
                    </m:r>
                    <m:f>
                      <m:fPr>
                        <m:ctrlPr>
                          <a:rPr lang="en-US" i="1" smtClean="0">
                            <a:solidFill>
                              <a:srgbClr val="FF0000"/>
                            </a:solidFill>
                            <a:latin typeface="Cambria Math" panose="02040503050406030204" pitchFamily="18" charset="0"/>
                          </a:rPr>
                        </m:ctrlPr>
                      </m:fPr>
                      <m:num>
                        <m:r>
                          <m:rPr>
                            <m:nor/>
                          </m:rPr>
                          <a:rPr lang="en-US" i="1" dirty="0">
                            <a:solidFill>
                              <a:srgbClr val="FF0000"/>
                            </a:solidFill>
                          </a:rPr>
                          <m:t>σ</m:t>
                        </m:r>
                      </m:num>
                      <m:den>
                        <m:r>
                          <a:rPr lang="en-US" i="1" smtClean="0">
                            <a:solidFill>
                              <a:srgbClr val="FF0000"/>
                            </a:solidFill>
                            <a:latin typeface="Cambria Math" panose="02040503050406030204" pitchFamily="18" charset="0"/>
                            <a:ea typeface="Cambria Math" panose="02040503050406030204" pitchFamily="18" charset="0"/>
                          </a:rPr>
                          <m:t>√</m:t>
                        </m:r>
                        <m:r>
                          <a:rPr lang="en-CA" b="0" i="1" smtClean="0">
                            <a:solidFill>
                              <a:srgbClr val="FF0000"/>
                            </a:solidFill>
                            <a:latin typeface="Cambria Math" panose="02040503050406030204" pitchFamily="18" charset="0"/>
                            <a:ea typeface="Cambria Math" panose="02040503050406030204" pitchFamily="18" charset="0"/>
                          </a:rPr>
                          <m:t>𝑛</m:t>
                        </m:r>
                      </m:den>
                    </m:f>
                  </m:oMath>
                </a14:m>
                <a:endParaRPr lang="en-US" i="1" dirty="0">
                  <a:solidFill>
                    <a:srgbClr val="FF0000"/>
                  </a:solidFill>
                </a:endParaRPr>
              </a:p>
              <a:p>
                <a:endParaRPr lang="en-US" dirty="0"/>
              </a:p>
            </p:txBody>
          </p:sp>
        </mc:Choice>
        <mc:Fallback xmlns="">
          <p:sp>
            <p:nvSpPr>
              <p:cNvPr id="3" name="Content Placeholder 2">
                <a:extLst>
                  <a:ext uri="{FF2B5EF4-FFF2-40B4-BE49-F238E27FC236}">
                    <a16:creationId xmlns:a16="http://schemas.microsoft.com/office/drawing/2014/main" id="{0AEDD9E7-2483-7A49-96F8-35144B7D539C}"/>
                  </a:ext>
                </a:extLst>
              </p:cNvPr>
              <p:cNvSpPr>
                <a:spLocks noGrp="1" noRot="1" noChangeAspect="1" noMove="1" noResize="1" noEditPoints="1" noAdjustHandles="1" noChangeArrowheads="1" noChangeShapeType="1" noTextEdit="1"/>
              </p:cNvSpPr>
              <p:nvPr>
                <p:ph idx="1"/>
              </p:nvPr>
            </p:nvSpPr>
            <p:spPr>
              <a:xfrm>
                <a:off x="838200" y="1825624"/>
                <a:ext cx="11353800" cy="5032375"/>
              </a:xfrm>
              <a:blipFill>
                <a:blip r:embed="rId2"/>
                <a:stretch>
                  <a:fillRect l="-1128" t="-1937"/>
                </a:stretch>
              </a:blipFill>
            </p:spPr>
            <p:txBody>
              <a:bodyPr/>
              <a:lstStyle/>
              <a:p>
                <a:r>
                  <a:rPr lang="en-US">
                    <a:noFill/>
                  </a:rPr>
                  <a:t> </a:t>
                </a:r>
              </a:p>
            </p:txBody>
          </p:sp>
        </mc:Fallback>
      </mc:AlternateContent>
    </p:spTree>
    <p:extLst>
      <p:ext uri="{BB962C8B-B14F-4D97-AF65-F5344CB8AC3E}">
        <p14:creationId xmlns:p14="http://schemas.microsoft.com/office/powerpoint/2010/main" val="3060200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5156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6" name="Text 4"/>
              <p:cNvSpPr/>
              <p:nvPr/>
            </p:nvSpPr>
            <p:spPr>
              <a:xfrm>
                <a:off x="19796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6" name="Text 4"/>
              <p:cNvSpPr>
                <a:spLocks noRot="1" noChangeAspect="1" noMove="1" noResize="1" noEditPoints="1" noAdjustHandles="1" noChangeArrowheads="1" noChangeShapeType="1" noTextEdit="1"/>
              </p:cNvSpPr>
              <p:nvPr/>
            </p:nvSpPr>
            <p:spPr>
              <a:xfrm>
                <a:off x="197968" y="2880360"/>
                <a:ext cx="2011680" cy="502920"/>
              </a:xfrm>
              <a:prstGeom prst="rect">
                <a:avLst/>
              </a:prstGeom>
              <a:blipFill>
                <a:blip r:embed="rId3"/>
                <a:stretch>
                  <a:fillRect/>
                </a:stretch>
              </a:blipFill>
              <a:ln/>
            </p:spPr>
            <p:txBody>
              <a:bodyPr/>
              <a:lstStyle/>
              <a:p>
                <a:r>
                  <a:rPr lang="en-US">
                    <a:noFill/>
                  </a:rPr>
                  <a:t> </a:t>
                </a:r>
              </a:p>
            </p:txBody>
          </p:sp>
        </mc:Fallback>
      </mc:AlternateContent>
      <p:sp>
        <p:nvSpPr>
          <p:cNvPr id="7" name="Shape 5"/>
          <p:cNvSpPr/>
          <p:nvPr/>
        </p:nvSpPr>
        <p:spPr>
          <a:xfrm>
            <a:off x="2499055"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8" name="Text 6"/>
              <p:cNvSpPr/>
              <p:nvPr/>
            </p:nvSpPr>
            <p:spPr>
              <a:xfrm>
                <a:off x="1645463" y="2871216"/>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a:rPr lang="en-US" sz="1600" b="0" i="1" smtClean="0">
                              <a:latin typeface="Cambria Math" panose="02040503050406030204" pitchFamily="18" charset="0"/>
                            </a:rPr>
                            <m:t>𝑑𝑒𝑣𝑖𝑎𝑡𝑖𝑜𝑛𝑠</m:t>
                          </m:r>
                        </m:e>
                        <m:sup>
                          <m:r>
                            <a:rPr lang="en-US" sz="1600" i="1">
                              <a:latin typeface="Cambria Math" panose="02040503050406030204" pitchFamily="18" charset="0"/>
                            </a:rPr>
                            <m:t>2</m:t>
                          </m:r>
                        </m:sup>
                      </m:sSup>
                    </m:oMath>
                  </m:oMathPara>
                </a14:m>
                <a:endParaRPr lang="en-US" dirty="0"/>
              </a:p>
            </p:txBody>
          </p:sp>
        </mc:Choice>
        <mc:Fallback xmlns="">
          <p:sp>
            <p:nvSpPr>
              <p:cNvPr id="8" name="Text 6"/>
              <p:cNvSpPr>
                <a:spLocks noRot="1" noChangeAspect="1" noMove="1" noResize="1" noEditPoints="1" noAdjustHandles="1" noChangeArrowheads="1" noChangeShapeType="1" noTextEdit="1"/>
              </p:cNvSpPr>
              <p:nvPr/>
            </p:nvSpPr>
            <p:spPr>
              <a:xfrm>
                <a:off x="1645463" y="2871216"/>
                <a:ext cx="2011680" cy="502920"/>
              </a:xfrm>
              <a:prstGeom prst="rect">
                <a:avLst/>
              </a:prstGeom>
              <a:blipFill>
                <a:blip r:embed="rId4"/>
                <a:stretch>
                  <a:fillRect/>
                </a:stretch>
              </a:blipFill>
              <a:ln/>
            </p:spPr>
            <p:txBody>
              <a:bodyPr/>
              <a:lstStyle/>
              <a:p>
                <a:r>
                  <a:rPr lang="en-US">
                    <a:noFill/>
                  </a:rPr>
                  <a:t> </a:t>
                </a:r>
              </a:p>
            </p:txBody>
          </p:sp>
        </mc:Fallback>
      </mc:AlternateContent>
      <p:sp>
        <p:nvSpPr>
          <p:cNvPr id="9" name="Shape 7"/>
          <p:cNvSpPr/>
          <p:nvPr/>
        </p:nvSpPr>
        <p:spPr>
          <a:xfrm>
            <a:off x="408371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0" name="Text 8"/>
              <p:cNvSpPr/>
              <p:nvPr/>
            </p:nvSpPr>
            <p:spPr>
              <a:xfrm>
                <a:off x="3268465" y="295183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1100" i="1">
                              <a:latin typeface="Cambria Math" panose="02040503050406030204" pitchFamily="18" charset="0"/>
                            </a:rPr>
                          </m:ctrlPr>
                        </m:naryPr>
                        <m:sub/>
                        <m:sup/>
                        <m:e>
                          <m:r>
                            <a:rPr lang="en-US" sz="1100">
                              <a:latin typeface="Cambria Math" panose="02040503050406030204" pitchFamily="18" charset="0"/>
                            </a:rPr>
                            <m:t> </m:t>
                          </m:r>
                          <m:d>
                            <m:dPr>
                              <m:ctrlPr>
                                <a:rPr lang="en-US" sz="1100" i="1">
                                  <a:latin typeface="Cambria Math" panose="02040503050406030204" pitchFamily="18" charset="0"/>
                                </a:rPr>
                              </m:ctrlPr>
                            </m:dPr>
                            <m:e>
                              <m:eqArr>
                                <m:eqArrPr>
                                  <m:ctrlPr>
                                    <a:rPr lang="en-US" sz="1100" i="1">
                                      <a:latin typeface="Cambria Math" panose="02040503050406030204" pitchFamily="18" charset="0"/>
                                    </a:rPr>
                                  </m:ctrlPr>
                                </m:eqArrPr>
                                <m:e>
                                  <m:r>
                                    <a:rPr lang="en-US" sz="1100" i="1">
                                      <a:latin typeface="Cambria Math" panose="02040503050406030204" pitchFamily="18" charset="0"/>
                                    </a:rPr>
                                    <m:t>𝑆𝑞𝑢𝑎𝑟𝑒𝑑</m:t>
                                  </m:r>
                                </m:e>
                                <m:e>
                                  <m:r>
                                    <a:rPr lang="en-US" sz="1100" i="1">
                                      <a:latin typeface="Cambria Math" panose="02040503050406030204" pitchFamily="18" charset="0"/>
                                    </a:rPr>
                                    <m:t>𝐷𝑒𝑣𝑖𝑎𝑡𝑖𝑜𝑛𝑠</m:t>
                                  </m:r>
                                </m:e>
                              </m:eqArr>
                            </m:e>
                          </m:d>
                        </m:e>
                      </m:nary>
                    </m:oMath>
                  </m:oMathPara>
                </a14:m>
                <a:endParaRPr lang="en-US" sz="1100" dirty="0">
                  <a:latin typeface="Cambria Math" panose="02040503050406030204" pitchFamily="18" charset="0"/>
                </a:endParaRPr>
              </a:p>
            </p:txBody>
          </p:sp>
        </mc:Choice>
        <mc:Fallback xmlns="">
          <p:sp>
            <p:nvSpPr>
              <p:cNvPr id="10" name="Text 8"/>
              <p:cNvSpPr>
                <a:spLocks noRot="1" noChangeAspect="1" noMove="1" noResize="1" noEditPoints="1" noAdjustHandles="1" noChangeArrowheads="1" noChangeShapeType="1" noTextEdit="1"/>
              </p:cNvSpPr>
              <p:nvPr/>
            </p:nvSpPr>
            <p:spPr>
              <a:xfrm>
                <a:off x="3268465" y="2951830"/>
                <a:ext cx="2011680" cy="502920"/>
              </a:xfrm>
              <a:prstGeom prst="rect">
                <a:avLst/>
              </a:prstGeom>
              <a:blipFill>
                <a:blip r:embed="rId5"/>
                <a:stretch>
                  <a:fillRect l="-3939" t="-113253" b="-159036"/>
                </a:stretch>
              </a:blipFill>
              <a:ln/>
            </p:spPr>
            <p:txBody>
              <a:bodyPr/>
              <a:lstStyle/>
              <a:p>
                <a:r>
                  <a:rPr lang="en-US">
                    <a:noFill/>
                  </a:rPr>
                  <a:t> </a:t>
                </a:r>
              </a:p>
            </p:txBody>
          </p:sp>
        </mc:Fallback>
      </mc:AlternateContent>
      <p:sp>
        <p:nvSpPr>
          <p:cNvPr id="11" name="Shape 9"/>
          <p:cNvSpPr/>
          <p:nvPr/>
        </p:nvSpPr>
        <p:spPr>
          <a:xfrm>
            <a:off x="575980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2" name="Text 10"/>
              <p:cNvSpPr/>
              <p:nvPr/>
            </p:nvSpPr>
            <p:spPr>
              <a:xfrm>
                <a:off x="4906213"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𝑆𝑆</m:t>
                          </m:r>
                        </m:num>
                        <m:den>
                          <m:r>
                            <a:rPr lang="en-US" i="1">
                              <a:latin typeface="Cambria Math" panose="02040503050406030204" pitchFamily="18" charset="0"/>
                            </a:rPr>
                            <m:t>𝑛</m:t>
                          </m:r>
                        </m:den>
                      </m:f>
                    </m:oMath>
                  </m:oMathPara>
                </a14:m>
                <a:endParaRPr lang="en-US" dirty="0"/>
              </a:p>
            </p:txBody>
          </p:sp>
        </mc:Choice>
        <mc:Fallback xmlns="">
          <p:sp>
            <p:nvSpPr>
              <p:cNvPr id="12" name="Text 10"/>
              <p:cNvSpPr>
                <a:spLocks noRot="1" noChangeAspect="1" noMove="1" noResize="1" noEditPoints="1" noAdjustHandles="1" noChangeArrowheads="1" noChangeShapeType="1" noTextEdit="1"/>
              </p:cNvSpPr>
              <p:nvPr/>
            </p:nvSpPr>
            <p:spPr>
              <a:xfrm>
                <a:off x="4906213" y="2880360"/>
                <a:ext cx="2011680" cy="502920"/>
              </a:xfrm>
              <a:prstGeom prst="rect">
                <a:avLst/>
              </a:prstGeom>
              <a:blipFill>
                <a:blip r:embed="rId6"/>
                <a:stretch>
                  <a:fillRect t="-7317"/>
                </a:stretch>
              </a:blipFill>
              <a:ln/>
            </p:spPr>
            <p:txBody>
              <a:bodyPr/>
              <a:lstStyle/>
              <a:p>
                <a:r>
                  <a:rPr lang="en-US">
                    <a:noFill/>
                  </a:rPr>
                  <a:t> </a:t>
                </a:r>
              </a:p>
            </p:txBody>
          </p:sp>
        </mc:Fallback>
      </mc:AlternateContent>
      <p:sp>
        <p:nvSpPr>
          <p:cNvPr id="13" name="Shape 11"/>
          <p:cNvSpPr/>
          <p:nvPr/>
        </p:nvSpPr>
        <p:spPr>
          <a:xfrm>
            <a:off x="7253021"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4" name="Text 12"/>
              <p:cNvSpPr/>
              <p:nvPr/>
            </p:nvSpPr>
            <p:spPr>
              <a:xfrm>
                <a:off x="639942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𝑆𝐷</m:t>
                              </m:r>
                            </m:e>
                            <m:sup>
                              <m:r>
                                <a:rPr lang="en-US" i="1">
                                  <a:latin typeface="Cambria Math" panose="02040503050406030204" pitchFamily="18" charset="0"/>
                                </a:rPr>
                                <m:t>2</m:t>
                              </m:r>
                            </m:sup>
                          </m:sSup>
                        </m:e>
                      </m:rad>
                    </m:oMath>
                  </m:oMathPara>
                </a14:m>
                <a:endParaRPr lang="en-US" dirty="0"/>
              </a:p>
            </p:txBody>
          </p:sp>
        </mc:Choice>
        <mc:Fallback xmlns="">
          <p:sp>
            <p:nvSpPr>
              <p:cNvPr id="14" name="Text 12"/>
              <p:cNvSpPr>
                <a:spLocks noRot="1" noChangeAspect="1" noMove="1" noResize="1" noEditPoints="1" noAdjustHandles="1" noChangeArrowheads="1" noChangeShapeType="1" noTextEdit="1"/>
              </p:cNvSpPr>
              <p:nvPr/>
            </p:nvSpPr>
            <p:spPr>
              <a:xfrm>
                <a:off x="6399428" y="2880360"/>
                <a:ext cx="2011680" cy="502920"/>
              </a:xfrm>
              <a:prstGeom prst="rect">
                <a:avLst/>
              </a:prstGeom>
              <a:blipFill>
                <a:blip r:embed="rId7"/>
                <a:stretch>
                  <a:fillRect/>
                </a:stretch>
              </a:blipFill>
              <a:ln/>
            </p:spPr>
            <p:txBody>
              <a:bodyPr/>
              <a:lstStyle/>
              <a:p>
                <a:r>
                  <a:rPr lang="en-US">
                    <a:noFill/>
                  </a:rPr>
                  <a:t> </a:t>
                </a:r>
              </a:p>
            </p:txBody>
          </p:sp>
        </mc:Fallback>
      </mc:AlternateContent>
      <p:sp>
        <p:nvSpPr>
          <p:cNvPr id="15" name="Shape 13"/>
          <p:cNvSpPr/>
          <p:nvPr/>
        </p:nvSpPr>
        <p:spPr>
          <a:xfrm>
            <a:off x="874623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6" name="Text 14"/>
              <p:cNvSpPr/>
              <p:nvPr/>
            </p:nvSpPr>
            <p:spPr>
              <a:xfrm>
                <a:off x="7892644" y="2880360"/>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m:rPr>
                              <m:nor/>
                            </m:rPr>
                            <a:rPr lang="en-US" i="0" dirty="0"/>
                            <m:t> </m:t>
                          </m:r>
                        </m:num>
                        <m:den>
                          <m:r>
                            <a:rPr lang="en-US" i="1">
                              <a:latin typeface="Cambria Math" panose="02040503050406030204" pitchFamily="18" charset="0"/>
                            </a:rPr>
                            <m:t>𝑆𝐷</m:t>
                          </m:r>
                        </m:den>
                      </m:f>
                    </m:oMath>
                  </m:oMathPara>
                </a14:m>
                <a:endParaRPr lang="en-US" dirty="0"/>
              </a:p>
            </p:txBody>
          </p:sp>
        </mc:Choice>
        <mc:Fallback xmlns="">
          <p:sp>
            <p:nvSpPr>
              <p:cNvPr id="16" name="Text 14"/>
              <p:cNvSpPr>
                <a:spLocks noRot="1" noChangeAspect="1" noMove="1" noResize="1" noEditPoints="1" noAdjustHandles="1" noChangeArrowheads="1" noChangeShapeType="1" noTextEdit="1"/>
              </p:cNvSpPr>
              <p:nvPr/>
            </p:nvSpPr>
            <p:spPr>
              <a:xfrm>
                <a:off x="7892644" y="2880360"/>
                <a:ext cx="2011680" cy="502920"/>
              </a:xfrm>
              <a:prstGeom prst="rect">
                <a:avLst/>
              </a:prstGeom>
              <a:blipFill>
                <a:blip r:embed="rId8"/>
                <a:stretch>
                  <a:fillRect t="-6098"/>
                </a:stretch>
              </a:blipFill>
              <a:ln/>
            </p:spPr>
            <p:txBody>
              <a:bodyPr/>
              <a:lstStyle/>
              <a:p>
                <a:r>
                  <a:rPr lang="en-US">
                    <a:noFill/>
                  </a:rPr>
                  <a:t> </a:t>
                </a:r>
              </a:p>
            </p:txBody>
          </p:sp>
        </mc:Fallback>
      </mc:AlternateContent>
      <p:sp>
        <p:nvSpPr>
          <p:cNvPr id="17" name="Shape 15"/>
          <p:cNvSpPr/>
          <p:nvPr/>
        </p:nvSpPr>
        <p:spPr>
          <a:xfrm>
            <a:off x="10559491" y="3785616"/>
            <a:ext cx="304495" cy="9144"/>
          </a:xfrm>
          <a:prstGeom prst="line">
            <a:avLst/>
          </a:prstGeom>
          <a:noFill/>
          <a:ln w="22225">
            <a:solidFill>
              <a:srgbClr val="2C5F7C"/>
            </a:solidFill>
            <a:prstDash val="solid"/>
            <a:tailEnd type="triangle"/>
          </a:ln>
        </p:spPr>
        <p:txBody>
          <a:bodyPr/>
          <a:lstStyle/>
          <a:p>
            <a:endParaRPr lang="en-US"/>
          </a:p>
        </p:txBody>
      </p:sp>
      <p:sp>
        <p:nvSpPr>
          <p:cNvPr id="18" name="Text 16"/>
          <p:cNvSpPr/>
          <p:nvPr/>
        </p:nvSpPr>
        <p:spPr>
          <a:xfrm>
            <a:off x="9705899" y="2880360"/>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19" name="Shape 17"/>
          <p:cNvSpPr/>
          <p:nvPr/>
        </p:nvSpPr>
        <p:spPr>
          <a:xfrm>
            <a:off x="411480" y="3456432"/>
            <a:ext cx="640080" cy="658368"/>
          </a:xfrm>
          <a:prstGeom prst="roundRect">
            <a:avLst>
              <a:gd name="adj" fmla="val 12857"/>
            </a:avLst>
          </a:prstGeom>
          <a:solidFill>
            <a:srgbClr val="1B3A4B"/>
          </a:solidFill>
          <a:ln w="15875">
            <a:solidFill>
              <a:srgbClr val="2C5F7C"/>
            </a:solidFill>
            <a:prstDash val="solid"/>
          </a:ln>
        </p:spPr>
        <p:txBody>
          <a:bodyPr/>
          <a:lstStyle/>
          <a:p>
            <a:endParaRPr lang="en-US"/>
          </a:p>
        </p:txBody>
      </p:sp>
      <p:sp>
        <p:nvSpPr>
          <p:cNvPr id="20" name="Text 18"/>
          <p:cNvSpPr/>
          <p:nvPr/>
        </p:nvSpPr>
        <p:spPr>
          <a:xfrm>
            <a:off x="411480" y="3456432"/>
            <a:ext cx="64008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21" name="Shape 19"/>
          <p:cNvSpPr/>
          <p:nvPr/>
        </p:nvSpPr>
        <p:spPr>
          <a:xfrm>
            <a:off x="1356055" y="3456432"/>
            <a:ext cx="11430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22" name="Text 20"/>
          <p:cNvSpPr/>
          <p:nvPr/>
        </p:nvSpPr>
        <p:spPr>
          <a:xfrm>
            <a:off x="1356055" y="3456432"/>
            <a:ext cx="11430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23" name="Shape 21"/>
          <p:cNvSpPr/>
          <p:nvPr/>
        </p:nvSpPr>
        <p:spPr>
          <a:xfrm>
            <a:off x="2803550" y="3456432"/>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24" name="Text 22"/>
          <p:cNvSpPr/>
          <p:nvPr/>
        </p:nvSpPr>
        <p:spPr>
          <a:xfrm>
            <a:off x="2803550" y="3456432"/>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Squared</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25" name="Shape 23"/>
          <p:cNvSpPr/>
          <p:nvPr/>
        </p:nvSpPr>
        <p:spPr>
          <a:xfrm>
            <a:off x="4388206" y="3456432"/>
            <a:ext cx="13716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26" name="Text 24"/>
          <p:cNvSpPr/>
          <p:nvPr/>
        </p:nvSpPr>
        <p:spPr>
          <a:xfrm>
            <a:off x="4388206" y="3456432"/>
            <a:ext cx="13716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Sum of Squares</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(SS)</a:t>
            </a:r>
            <a:endParaRPr lang="en-US" sz="1050" dirty="0"/>
          </a:p>
        </p:txBody>
      </p:sp>
      <p:sp>
        <p:nvSpPr>
          <p:cNvPr id="27" name="Shape 25"/>
          <p:cNvSpPr/>
          <p:nvPr/>
        </p:nvSpPr>
        <p:spPr>
          <a:xfrm>
            <a:off x="6064301"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28" name="Text 26"/>
          <p:cNvSpPr/>
          <p:nvPr/>
        </p:nvSpPr>
        <p:spPr>
          <a:xfrm>
            <a:off x="6064301"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Variance</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(SD²)</a:t>
            </a:r>
            <a:endParaRPr lang="en-US" sz="1150" dirty="0"/>
          </a:p>
        </p:txBody>
      </p:sp>
      <p:sp>
        <p:nvSpPr>
          <p:cNvPr id="29" name="Shape 27"/>
          <p:cNvSpPr/>
          <p:nvPr/>
        </p:nvSpPr>
        <p:spPr>
          <a:xfrm>
            <a:off x="7557516"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0" name="Text 28"/>
          <p:cNvSpPr/>
          <p:nvPr/>
        </p:nvSpPr>
        <p:spPr>
          <a:xfrm>
            <a:off x="7557516"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Deviation (SD)</a:t>
            </a:r>
            <a:endParaRPr lang="en-US" sz="1050" dirty="0"/>
          </a:p>
        </p:txBody>
      </p:sp>
      <p:sp>
        <p:nvSpPr>
          <p:cNvPr id="31" name="Shape 29"/>
          <p:cNvSpPr/>
          <p:nvPr/>
        </p:nvSpPr>
        <p:spPr>
          <a:xfrm>
            <a:off x="9050731" y="3456432"/>
            <a:ext cx="1508760" cy="658368"/>
          </a:xfrm>
          <a:prstGeom prst="roundRect">
            <a:avLst>
              <a:gd name="adj" fmla="val 12500"/>
            </a:avLst>
          </a:prstGeom>
          <a:solidFill>
            <a:srgbClr val="E8871E"/>
          </a:solidFill>
          <a:ln w="25400">
            <a:solidFill>
              <a:srgbClr val="B85F0F"/>
            </a:solidFill>
            <a:prstDash val="solid"/>
          </a:ln>
          <a:effectLst>
            <a:outerShdw blurRad="76200" dist="25400" dir="5400000" algn="bl" rotWithShape="0">
              <a:srgbClr val="000000">
                <a:alpha val="25000"/>
              </a:srgbClr>
            </a:outerShdw>
          </a:effectLst>
        </p:spPr>
        <p:txBody>
          <a:bodyPr/>
          <a:lstStyle/>
          <a:p>
            <a:endParaRPr lang="en-US"/>
          </a:p>
        </p:txBody>
      </p:sp>
      <p:sp>
        <p:nvSpPr>
          <p:cNvPr id="32" name="Text 30"/>
          <p:cNvSpPr/>
          <p:nvPr/>
        </p:nvSpPr>
        <p:spPr>
          <a:xfrm>
            <a:off x="9050731" y="3456432"/>
            <a:ext cx="15087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Z-Score (Sample)</a:t>
            </a:r>
            <a:endParaRPr lang="en-US" sz="1050" dirty="0"/>
          </a:p>
        </p:txBody>
      </p:sp>
      <p:sp>
        <p:nvSpPr>
          <p:cNvPr id="33" name="Shape 31"/>
          <p:cNvSpPr/>
          <p:nvPr/>
        </p:nvSpPr>
        <p:spPr>
          <a:xfrm>
            <a:off x="10863986" y="3456432"/>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4" name="Text 32"/>
          <p:cNvSpPr/>
          <p:nvPr/>
        </p:nvSpPr>
        <p:spPr>
          <a:xfrm>
            <a:off x="10863986" y="3456432"/>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5156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6" name="Text 4"/>
              <p:cNvSpPr/>
              <p:nvPr/>
            </p:nvSpPr>
            <p:spPr>
              <a:xfrm>
                <a:off x="19796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6" name="Text 4"/>
              <p:cNvSpPr>
                <a:spLocks noRot="1" noChangeAspect="1" noMove="1" noResize="1" noEditPoints="1" noAdjustHandles="1" noChangeArrowheads="1" noChangeShapeType="1" noTextEdit="1"/>
              </p:cNvSpPr>
              <p:nvPr/>
            </p:nvSpPr>
            <p:spPr>
              <a:xfrm>
                <a:off x="197968" y="2880360"/>
                <a:ext cx="2011680" cy="502920"/>
              </a:xfrm>
              <a:prstGeom prst="rect">
                <a:avLst/>
              </a:prstGeom>
              <a:blipFill>
                <a:blip r:embed="rId3"/>
                <a:stretch>
                  <a:fillRect/>
                </a:stretch>
              </a:blipFill>
              <a:ln/>
            </p:spPr>
            <p:txBody>
              <a:bodyPr/>
              <a:lstStyle/>
              <a:p>
                <a:r>
                  <a:rPr lang="en-US">
                    <a:noFill/>
                  </a:rPr>
                  <a:t> </a:t>
                </a:r>
              </a:p>
            </p:txBody>
          </p:sp>
        </mc:Fallback>
      </mc:AlternateContent>
      <p:sp>
        <p:nvSpPr>
          <p:cNvPr id="7" name="Shape 5"/>
          <p:cNvSpPr/>
          <p:nvPr/>
        </p:nvSpPr>
        <p:spPr>
          <a:xfrm>
            <a:off x="2499055" y="3785616"/>
            <a:ext cx="304495" cy="9144"/>
          </a:xfrm>
          <a:prstGeom prst="line">
            <a:avLst/>
          </a:prstGeom>
          <a:noFill/>
          <a:ln w="22225">
            <a:solidFill>
              <a:srgbClr val="2C5F7C"/>
            </a:solidFill>
            <a:prstDash val="solid"/>
            <a:tailEnd type="triangle"/>
          </a:ln>
        </p:spPr>
        <p:txBody>
          <a:bodyPr/>
          <a:lstStyle/>
          <a:p>
            <a:endParaRPr lang="en-US"/>
          </a:p>
        </p:txBody>
      </p:sp>
      <p:sp>
        <p:nvSpPr>
          <p:cNvPr id="9" name="Shape 7"/>
          <p:cNvSpPr/>
          <p:nvPr/>
        </p:nvSpPr>
        <p:spPr>
          <a:xfrm>
            <a:off x="4083710" y="3785616"/>
            <a:ext cx="304495" cy="9144"/>
          </a:xfrm>
          <a:prstGeom prst="line">
            <a:avLst/>
          </a:prstGeom>
          <a:noFill/>
          <a:ln w="22225">
            <a:solidFill>
              <a:srgbClr val="2C5F7C"/>
            </a:solidFill>
            <a:prstDash val="solid"/>
            <a:tailEnd type="triangle"/>
          </a:ln>
        </p:spPr>
        <p:txBody>
          <a:bodyPr/>
          <a:lstStyle/>
          <a:p>
            <a:endParaRPr lang="en-US"/>
          </a:p>
        </p:txBody>
      </p:sp>
      <p:sp>
        <p:nvSpPr>
          <p:cNvPr id="11" name="Shape 9"/>
          <p:cNvSpPr/>
          <p:nvPr/>
        </p:nvSpPr>
        <p:spPr>
          <a:xfrm>
            <a:off x="575980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2" name="Text 10"/>
              <p:cNvSpPr/>
              <p:nvPr/>
            </p:nvSpPr>
            <p:spPr>
              <a:xfrm>
                <a:off x="4906213"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𝑆𝑆</m:t>
                          </m:r>
                        </m:num>
                        <m:den>
                          <m:r>
                            <a:rPr lang="en-US" i="1">
                              <a:latin typeface="Cambria Math" panose="02040503050406030204" pitchFamily="18" charset="0"/>
                            </a:rPr>
                            <m:t>𝑛</m:t>
                          </m:r>
                        </m:den>
                      </m:f>
                    </m:oMath>
                  </m:oMathPara>
                </a14:m>
                <a:endParaRPr lang="en-US" dirty="0"/>
              </a:p>
            </p:txBody>
          </p:sp>
        </mc:Choice>
        <mc:Fallback xmlns="">
          <p:sp>
            <p:nvSpPr>
              <p:cNvPr id="12" name="Text 10"/>
              <p:cNvSpPr>
                <a:spLocks noRot="1" noChangeAspect="1" noMove="1" noResize="1" noEditPoints="1" noAdjustHandles="1" noChangeArrowheads="1" noChangeShapeType="1" noTextEdit="1"/>
              </p:cNvSpPr>
              <p:nvPr/>
            </p:nvSpPr>
            <p:spPr>
              <a:xfrm>
                <a:off x="4906213" y="2880360"/>
                <a:ext cx="2011680" cy="502920"/>
              </a:xfrm>
              <a:prstGeom prst="rect">
                <a:avLst/>
              </a:prstGeom>
              <a:blipFill>
                <a:blip r:embed="rId4"/>
                <a:stretch>
                  <a:fillRect t="-7317"/>
                </a:stretch>
              </a:blipFill>
              <a:ln/>
            </p:spPr>
            <p:txBody>
              <a:bodyPr/>
              <a:lstStyle/>
              <a:p>
                <a:r>
                  <a:rPr lang="en-US">
                    <a:noFill/>
                  </a:rPr>
                  <a:t> </a:t>
                </a:r>
              </a:p>
            </p:txBody>
          </p:sp>
        </mc:Fallback>
      </mc:AlternateContent>
      <p:sp>
        <p:nvSpPr>
          <p:cNvPr id="13" name="Shape 11"/>
          <p:cNvSpPr/>
          <p:nvPr/>
        </p:nvSpPr>
        <p:spPr>
          <a:xfrm>
            <a:off x="7253021"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4" name="Text 12"/>
              <p:cNvSpPr/>
              <p:nvPr/>
            </p:nvSpPr>
            <p:spPr>
              <a:xfrm>
                <a:off x="639942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𝑆𝐷</m:t>
                              </m:r>
                            </m:e>
                            <m:sup>
                              <m:r>
                                <a:rPr lang="en-US" i="1">
                                  <a:latin typeface="Cambria Math" panose="02040503050406030204" pitchFamily="18" charset="0"/>
                                </a:rPr>
                                <m:t>2</m:t>
                              </m:r>
                            </m:sup>
                          </m:sSup>
                        </m:e>
                      </m:rad>
                    </m:oMath>
                  </m:oMathPara>
                </a14:m>
                <a:endParaRPr lang="en-US" dirty="0"/>
              </a:p>
            </p:txBody>
          </p:sp>
        </mc:Choice>
        <mc:Fallback xmlns="">
          <p:sp>
            <p:nvSpPr>
              <p:cNvPr id="14" name="Text 12"/>
              <p:cNvSpPr>
                <a:spLocks noRot="1" noChangeAspect="1" noMove="1" noResize="1" noEditPoints="1" noAdjustHandles="1" noChangeArrowheads="1" noChangeShapeType="1" noTextEdit="1"/>
              </p:cNvSpPr>
              <p:nvPr/>
            </p:nvSpPr>
            <p:spPr>
              <a:xfrm>
                <a:off x="6399428" y="2880360"/>
                <a:ext cx="2011680" cy="502920"/>
              </a:xfrm>
              <a:prstGeom prst="rect">
                <a:avLst/>
              </a:prstGeom>
              <a:blipFill>
                <a:blip r:embed="rId5"/>
                <a:stretch>
                  <a:fillRect/>
                </a:stretch>
              </a:blipFill>
              <a:ln/>
            </p:spPr>
            <p:txBody>
              <a:bodyPr/>
              <a:lstStyle/>
              <a:p>
                <a:r>
                  <a:rPr lang="en-US">
                    <a:noFill/>
                  </a:rPr>
                  <a:t> </a:t>
                </a:r>
              </a:p>
            </p:txBody>
          </p:sp>
        </mc:Fallback>
      </mc:AlternateContent>
      <p:sp>
        <p:nvSpPr>
          <p:cNvPr id="15" name="Shape 13"/>
          <p:cNvSpPr/>
          <p:nvPr/>
        </p:nvSpPr>
        <p:spPr>
          <a:xfrm>
            <a:off x="8746236" y="3785616"/>
            <a:ext cx="304495" cy="9144"/>
          </a:xfrm>
          <a:prstGeom prst="line">
            <a:avLst/>
          </a:prstGeom>
          <a:noFill/>
          <a:ln w="22225">
            <a:solidFill>
              <a:srgbClr val="2C5F7C"/>
            </a:solidFill>
            <a:prstDash val="solid"/>
            <a:tailEnd type="triangle"/>
          </a:ln>
        </p:spPr>
        <p:txBody>
          <a:bodyPr/>
          <a:lstStyle/>
          <a:p>
            <a:endParaRPr lang="en-US"/>
          </a:p>
        </p:txBody>
      </p:sp>
      <p:sp>
        <p:nvSpPr>
          <p:cNvPr id="17" name="Shape 15"/>
          <p:cNvSpPr/>
          <p:nvPr/>
        </p:nvSpPr>
        <p:spPr>
          <a:xfrm>
            <a:off x="10559491" y="3785616"/>
            <a:ext cx="304495" cy="9144"/>
          </a:xfrm>
          <a:prstGeom prst="line">
            <a:avLst/>
          </a:prstGeom>
          <a:noFill/>
          <a:ln w="22225">
            <a:solidFill>
              <a:srgbClr val="2C5F7C"/>
            </a:solidFill>
            <a:prstDash val="solid"/>
            <a:tailEnd type="triangle"/>
          </a:ln>
        </p:spPr>
        <p:txBody>
          <a:bodyPr/>
          <a:lstStyle/>
          <a:p>
            <a:endParaRPr lang="en-US"/>
          </a:p>
        </p:txBody>
      </p:sp>
      <p:sp>
        <p:nvSpPr>
          <p:cNvPr id="19" name="Shape 17"/>
          <p:cNvSpPr/>
          <p:nvPr/>
        </p:nvSpPr>
        <p:spPr>
          <a:xfrm>
            <a:off x="731520" y="4114800"/>
            <a:ext cx="0" cy="914400"/>
          </a:xfrm>
          <a:prstGeom prst="line">
            <a:avLst/>
          </a:prstGeom>
          <a:noFill/>
          <a:ln w="22225">
            <a:solidFill>
              <a:srgbClr val="2C5F7C"/>
            </a:solidFill>
            <a:prstDash val="solid"/>
          </a:ln>
        </p:spPr>
        <p:txBody>
          <a:bodyPr/>
          <a:lstStyle/>
          <a:p>
            <a:endParaRPr lang="en-US"/>
          </a:p>
        </p:txBody>
      </p:sp>
      <p:sp>
        <p:nvSpPr>
          <p:cNvPr id="20" name="Shape 18"/>
          <p:cNvSpPr/>
          <p:nvPr/>
        </p:nvSpPr>
        <p:spPr>
          <a:xfrm>
            <a:off x="737147" y="5029200"/>
            <a:ext cx="1234440" cy="9144"/>
          </a:xfrm>
          <a:prstGeom prst="line">
            <a:avLst/>
          </a:prstGeom>
          <a:noFill/>
          <a:ln w="22225">
            <a:solidFill>
              <a:srgbClr val="2C5F7C"/>
            </a:solidFill>
            <a:prstDash val="solid"/>
          </a:ln>
        </p:spPr>
        <p:txBody>
          <a:bodyPr/>
          <a:lstStyle/>
          <a:p>
            <a:endParaRPr lang="en-US"/>
          </a:p>
        </p:txBody>
      </p:sp>
      <p:sp>
        <p:nvSpPr>
          <p:cNvPr id="21" name="Shape 19"/>
          <p:cNvSpPr/>
          <p:nvPr/>
        </p:nvSpPr>
        <p:spPr>
          <a:xfrm>
            <a:off x="1975104" y="5029200"/>
            <a:ext cx="9144" cy="54864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22" name="Text 20"/>
              <p:cNvSpPr/>
              <p:nvPr/>
            </p:nvSpPr>
            <p:spPr>
              <a:xfrm>
                <a:off x="411480" y="4544568"/>
                <a:ext cx="2011680" cy="41148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𝑥</m:t>
                          </m:r>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𝑥</m:t>
                              </m:r>
                            </m:sub>
                          </m:sSub>
                        </m:den>
                      </m:f>
                    </m:oMath>
                  </m:oMathPara>
                </a14:m>
                <a:endParaRPr lang="en-US" dirty="0"/>
              </a:p>
            </p:txBody>
          </p:sp>
        </mc:Choice>
        <mc:Fallback xmlns="">
          <p:sp>
            <p:nvSpPr>
              <p:cNvPr id="22" name="Text 20"/>
              <p:cNvSpPr>
                <a:spLocks noRot="1" noChangeAspect="1" noMove="1" noResize="1" noEditPoints="1" noAdjustHandles="1" noChangeArrowheads="1" noChangeShapeType="1" noTextEdit="1"/>
              </p:cNvSpPr>
              <p:nvPr/>
            </p:nvSpPr>
            <p:spPr>
              <a:xfrm>
                <a:off x="411480" y="4544568"/>
                <a:ext cx="2011680" cy="411480"/>
              </a:xfrm>
              <a:prstGeom prst="rect">
                <a:avLst/>
              </a:prstGeom>
              <a:blipFill>
                <a:blip r:embed="rId6"/>
                <a:stretch>
                  <a:fillRect t="-31343"/>
                </a:stretch>
              </a:blipFill>
              <a:ln/>
            </p:spPr>
            <p:txBody>
              <a:bodyPr/>
              <a:lstStyle/>
              <a:p>
                <a:r>
                  <a:rPr lang="en-US">
                    <a:noFill/>
                  </a:rPr>
                  <a:t> </a:t>
                </a:r>
              </a:p>
            </p:txBody>
          </p:sp>
        </mc:Fallback>
      </mc:AlternateContent>
      <p:sp>
        <p:nvSpPr>
          <p:cNvPr id="23" name="Shape 21"/>
          <p:cNvSpPr/>
          <p:nvPr/>
        </p:nvSpPr>
        <p:spPr>
          <a:xfrm>
            <a:off x="2889504" y="5907024"/>
            <a:ext cx="320040" cy="9144"/>
          </a:xfrm>
          <a:prstGeom prst="line">
            <a:avLst/>
          </a:prstGeom>
          <a:noFill/>
          <a:ln w="22225">
            <a:solidFill>
              <a:srgbClr val="2C5F7C"/>
            </a:solidFill>
            <a:prstDash val="solid"/>
            <a:tailEnd type="triangle"/>
          </a:ln>
        </p:spPr>
        <p:txBody>
          <a:bodyPr/>
          <a:lstStyle/>
          <a:p>
            <a:endParaRPr lang="en-US"/>
          </a:p>
        </p:txBody>
      </p:sp>
      <p:sp>
        <p:nvSpPr>
          <p:cNvPr id="25" name="Shape 23"/>
          <p:cNvSpPr/>
          <p:nvPr/>
        </p:nvSpPr>
        <p:spPr>
          <a:xfrm>
            <a:off x="411480" y="3456432"/>
            <a:ext cx="640080" cy="658368"/>
          </a:xfrm>
          <a:prstGeom prst="roundRect">
            <a:avLst>
              <a:gd name="adj" fmla="val 12857"/>
            </a:avLst>
          </a:prstGeom>
          <a:solidFill>
            <a:srgbClr val="1B3A4B"/>
          </a:solidFill>
          <a:ln w="15875">
            <a:solidFill>
              <a:srgbClr val="2C5F7C"/>
            </a:solidFill>
            <a:prstDash val="solid"/>
          </a:ln>
        </p:spPr>
        <p:txBody>
          <a:bodyPr/>
          <a:lstStyle/>
          <a:p>
            <a:endParaRPr lang="en-US"/>
          </a:p>
        </p:txBody>
      </p:sp>
      <p:sp>
        <p:nvSpPr>
          <p:cNvPr id="26" name="Text 24"/>
          <p:cNvSpPr/>
          <p:nvPr/>
        </p:nvSpPr>
        <p:spPr>
          <a:xfrm>
            <a:off x="411480" y="3456432"/>
            <a:ext cx="64008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27" name="Shape 25"/>
          <p:cNvSpPr/>
          <p:nvPr/>
        </p:nvSpPr>
        <p:spPr>
          <a:xfrm>
            <a:off x="1356055" y="3456432"/>
            <a:ext cx="11430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28" name="Text 26"/>
          <p:cNvSpPr/>
          <p:nvPr/>
        </p:nvSpPr>
        <p:spPr>
          <a:xfrm>
            <a:off x="1356055" y="3456432"/>
            <a:ext cx="11430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29" name="Shape 27"/>
          <p:cNvSpPr/>
          <p:nvPr/>
        </p:nvSpPr>
        <p:spPr>
          <a:xfrm>
            <a:off x="2803550" y="3456432"/>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0" name="Text 28"/>
          <p:cNvSpPr/>
          <p:nvPr/>
        </p:nvSpPr>
        <p:spPr>
          <a:xfrm>
            <a:off x="2803550" y="3456432"/>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Squared</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1" name="Shape 29"/>
          <p:cNvSpPr/>
          <p:nvPr/>
        </p:nvSpPr>
        <p:spPr>
          <a:xfrm>
            <a:off x="4388206" y="3456432"/>
            <a:ext cx="13716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2" name="Text 30"/>
          <p:cNvSpPr/>
          <p:nvPr/>
        </p:nvSpPr>
        <p:spPr>
          <a:xfrm>
            <a:off x="4388206" y="3456432"/>
            <a:ext cx="13716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Sum of Squares</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(SS)</a:t>
            </a:r>
            <a:endParaRPr lang="en-US" sz="1050" dirty="0"/>
          </a:p>
        </p:txBody>
      </p:sp>
      <p:sp>
        <p:nvSpPr>
          <p:cNvPr id="33" name="Shape 31"/>
          <p:cNvSpPr/>
          <p:nvPr/>
        </p:nvSpPr>
        <p:spPr>
          <a:xfrm>
            <a:off x="6064301"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4" name="Text 32"/>
          <p:cNvSpPr/>
          <p:nvPr/>
        </p:nvSpPr>
        <p:spPr>
          <a:xfrm>
            <a:off x="6064301"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Variance</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(SD²)</a:t>
            </a:r>
            <a:endParaRPr lang="en-US" sz="1150" dirty="0"/>
          </a:p>
        </p:txBody>
      </p:sp>
      <p:sp>
        <p:nvSpPr>
          <p:cNvPr id="35" name="Shape 33"/>
          <p:cNvSpPr/>
          <p:nvPr/>
        </p:nvSpPr>
        <p:spPr>
          <a:xfrm>
            <a:off x="7557516"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6" name="Text 34"/>
          <p:cNvSpPr/>
          <p:nvPr/>
        </p:nvSpPr>
        <p:spPr>
          <a:xfrm>
            <a:off x="7557516"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Deviation (SD)</a:t>
            </a:r>
            <a:endParaRPr lang="en-US" sz="1050" dirty="0"/>
          </a:p>
        </p:txBody>
      </p:sp>
      <p:sp>
        <p:nvSpPr>
          <p:cNvPr id="39" name="Shape 37"/>
          <p:cNvSpPr/>
          <p:nvPr/>
        </p:nvSpPr>
        <p:spPr>
          <a:xfrm>
            <a:off x="10863986" y="3456432"/>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0" name="Text 38"/>
          <p:cNvSpPr/>
          <p:nvPr/>
        </p:nvSpPr>
        <p:spPr>
          <a:xfrm>
            <a:off x="10863986" y="3456432"/>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41" name="Shape 39"/>
          <p:cNvSpPr/>
          <p:nvPr/>
        </p:nvSpPr>
        <p:spPr>
          <a:xfrm>
            <a:off x="1060704" y="5577840"/>
            <a:ext cx="1828800" cy="658368"/>
          </a:xfrm>
          <a:prstGeom prst="roundRect">
            <a:avLst>
              <a:gd name="adj" fmla="val 12500"/>
            </a:avLst>
          </a:prstGeom>
          <a:solidFill>
            <a:srgbClr val="E8871E"/>
          </a:solidFill>
          <a:ln w="25400">
            <a:solidFill>
              <a:srgbClr val="B85F0F"/>
            </a:solidFill>
            <a:prstDash val="solid"/>
          </a:ln>
          <a:effectLst>
            <a:outerShdw blurRad="76200" dist="25400" dir="5400000" algn="bl" rotWithShape="0">
              <a:srgbClr val="000000">
                <a:alpha val="25000"/>
              </a:srgbClr>
            </a:outerShdw>
          </a:effectLst>
        </p:spPr>
        <p:txBody>
          <a:bodyPr/>
          <a:lstStyle/>
          <a:p>
            <a:endParaRPr lang="en-US"/>
          </a:p>
        </p:txBody>
      </p:sp>
      <p:sp>
        <p:nvSpPr>
          <p:cNvPr id="42" name="Text 40"/>
          <p:cNvSpPr/>
          <p:nvPr/>
        </p:nvSpPr>
        <p:spPr>
          <a:xfrm>
            <a:off x="1060704" y="5577840"/>
            <a:ext cx="18288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Z-Score (Population)</a:t>
            </a:r>
            <a:endParaRPr lang="en-US" sz="1050" dirty="0"/>
          </a:p>
        </p:txBody>
      </p:sp>
      <p:sp>
        <p:nvSpPr>
          <p:cNvPr id="43" name="Shape 41"/>
          <p:cNvSpPr/>
          <p:nvPr/>
        </p:nvSpPr>
        <p:spPr>
          <a:xfrm>
            <a:off x="3209544" y="5577840"/>
            <a:ext cx="8229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4" name="Text 42"/>
          <p:cNvSpPr/>
          <p:nvPr/>
        </p:nvSpPr>
        <p:spPr>
          <a:xfrm>
            <a:off x="3209544" y="5577840"/>
            <a:ext cx="8229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mc:AlternateContent xmlns:mc="http://schemas.openxmlformats.org/markup-compatibility/2006" xmlns:a14="http://schemas.microsoft.com/office/drawing/2010/main">
        <mc:Choice Requires="a14">
          <p:sp>
            <p:nvSpPr>
              <p:cNvPr id="47" name="Text 8">
                <a:extLst>
                  <a:ext uri="{FF2B5EF4-FFF2-40B4-BE49-F238E27FC236}">
                    <a16:creationId xmlns:a16="http://schemas.microsoft.com/office/drawing/2014/main" id="{F8489A7D-ABED-902D-4703-BA3D3E9112E5}"/>
                  </a:ext>
                </a:extLst>
              </p:cNvPr>
              <p:cNvSpPr/>
              <p:nvPr/>
            </p:nvSpPr>
            <p:spPr>
              <a:xfrm>
                <a:off x="3268465" y="295183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1100" i="1">
                              <a:latin typeface="Cambria Math" panose="02040503050406030204" pitchFamily="18" charset="0"/>
                            </a:rPr>
                          </m:ctrlPr>
                        </m:naryPr>
                        <m:sub/>
                        <m:sup/>
                        <m:e>
                          <m:r>
                            <a:rPr lang="en-US" sz="1100">
                              <a:latin typeface="Cambria Math" panose="02040503050406030204" pitchFamily="18" charset="0"/>
                            </a:rPr>
                            <m:t> </m:t>
                          </m:r>
                          <m:d>
                            <m:dPr>
                              <m:ctrlPr>
                                <a:rPr lang="en-US" sz="1100" i="1">
                                  <a:latin typeface="Cambria Math" panose="02040503050406030204" pitchFamily="18" charset="0"/>
                                </a:rPr>
                              </m:ctrlPr>
                            </m:dPr>
                            <m:e>
                              <m:eqArr>
                                <m:eqArrPr>
                                  <m:ctrlPr>
                                    <a:rPr lang="en-US" sz="1100" i="1">
                                      <a:latin typeface="Cambria Math" panose="02040503050406030204" pitchFamily="18" charset="0"/>
                                    </a:rPr>
                                  </m:ctrlPr>
                                </m:eqArrPr>
                                <m:e>
                                  <m:r>
                                    <a:rPr lang="en-US" sz="1100" i="1">
                                      <a:latin typeface="Cambria Math" panose="02040503050406030204" pitchFamily="18" charset="0"/>
                                    </a:rPr>
                                    <m:t>𝑆𝑞𝑢𝑎𝑟𝑒𝑑</m:t>
                                  </m:r>
                                </m:e>
                                <m:e>
                                  <m:r>
                                    <a:rPr lang="en-US" sz="1100" i="1">
                                      <a:latin typeface="Cambria Math" panose="02040503050406030204" pitchFamily="18" charset="0"/>
                                    </a:rPr>
                                    <m:t>𝐷𝑒𝑣𝑖𝑎𝑡𝑖𝑜𝑛𝑠</m:t>
                                  </m:r>
                                </m:e>
                              </m:eqArr>
                            </m:e>
                          </m:d>
                        </m:e>
                      </m:nary>
                    </m:oMath>
                  </m:oMathPara>
                </a14:m>
                <a:endParaRPr lang="en-US" sz="1100" dirty="0">
                  <a:latin typeface="Cambria Math" panose="02040503050406030204" pitchFamily="18" charset="0"/>
                </a:endParaRPr>
              </a:p>
            </p:txBody>
          </p:sp>
        </mc:Choice>
        <mc:Fallback xmlns="">
          <p:sp>
            <p:nvSpPr>
              <p:cNvPr id="47" name="Text 8">
                <a:extLst>
                  <a:ext uri="{FF2B5EF4-FFF2-40B4-BE49-F238E27FC236}">
                    <a16:creationId xmlns:a16="http://schemas.microsoft.com/office/drawing/2014/main" id="{F8489A7D-ABED-902D-4703-BA3D3E9112E5}"/>
                  </a:ext>
                </a:extLst>
              </p:cNvPr>
              <p:cNvSpPr>
                <a:spLocks noRot="1" noChangeAspect="1" noMove="1" noResize="1" noEditPoints="1" noAdjustHandles="1" noChangeArrowheads="1" noChangeShapeType="1" noTextEdit="1"/>
              </p:cNvSpPr>
              <p:nvPr/>
            </p:nvSpPr>
            <p:spPr>
              <a:xfrm>
                <a:off x="3268465" y="2951830"/>
                <a:ext cx="2011680" cy="502920"/>
              </a:xfrm>
              <a:prstGeom prst="rect">
                <a:avLst/>
              </a:prstGeom>
              <a:blipFill>
                <a:blip r:embed="rId7"/>
                <a:stretch>
                  <a:fillRect l="-3939" t="-113253" b="-159036"/>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14">
                <a:extLst>
                  <a:ext uri="{FF2B5EF4-FFF2-40B4-BE49-F238E27FC236}">
                    <a16:creationId xmlns:a16="http://schemas.microsoft.com/office/drawing/2014/main" id="{88FDB24E-0D05-210F-AB74-BBC68D49F9A3}"/>
                  </a:ext>
                </a:extLst>
              </p:cNvPr>
              <p:cNvSpPr/>
              <p:nvPr/>
            </p:nvSpPr>
            <p:spPr>
              <a:xfrm>
                <a:off x="7892644" y="2880360"/>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m:rPr>
                              <m:nor/>
                            </m:rPr>
                            <a:rPr lang="en-US" i="0" dirty="0"/>
                            <m:t> </m:t>
                          </m:r>
                        </m:num>
                        <m:den>
                          <m:r>
                            <a:rPr lang="en-US" i="1">
                              <a:latin typeface="Cambria Math" panose="02040503050406030204" pitchFamily="18" charset="0"/>
                            </a:rPr>
                            <m:t>𝑆𝐷</m:t>
                          </m:r>
                        </m:den>
                      </m:f>
                    </m:oMath>
                  </m:oMathPara>
                </a14:m>
                <a:endParaRPr lang="en-US" dirty="0"/>
              </a:p>
            </p:txBody>
          </p:sp>
        </mc:Choice>
        <mc:Fallback xmlns="">
          <p:sp>
            <p:nvSpPr>
              <p:cNvPr id="49" name="Text 14">
                <a:extLst>
                  <a:ext uri="{FF2B5EF4-FFF2-40B4-BE49-F238E27FC236}">
                    <a16:creationId xmlns:a16="http://schemas.microsoft.com/office/drawing/2014/main" id="{88FDB24E-0D05-210F-AB74-BBC68D49F9A3}"/>
                  </a:ext>
                </a:extLst>
              </p:cNvPr>
              <p:cNvSpPr>
                <a:spLocks noRot="1" noChangeAspect="1" noMove="1" noResize="1" noEditPoints="1" noAdjustHandles="1" noChangeArrowheads="1" noChangeShapeType="1" noTextEdit="1"/>
              </p:cNvSpPr>
              <p:nvPr/>
            </p:nvSpPr>
            <p:spPr>
              <a:xfrm>
                <a:off x="7892644" y="2880360"/>
                <a:ext cx="2011680" cy="502920"/>
              </a:xfrm>
              <a:prstGeom prst="rect">
                <a:avLst/>
              </a:prstGeom>
              <a:blipFill>
                <a:blip r:embed="rId8"/>
                <a:stretch>
                  <a:fillRect t="-6098"/>
                </a:stretch>
              </a:blipFill>
              <a:ln/>
            </p:spPr>
            <p:txBody>
              <a:bodyPr/>
              <a:lstStyle/>
              <a:p>
                <a:r>
                  <a:rPr lang="en-US">
                    <a:noFill/>
                  </a:rPr>
                  <a:t> </a:t>
                </a:r>
              </a:p>
            </p:txBody>
          </p:sp>
        </mc:Fallback>
      </mc:AlternateContent>
      <p:sp>
        <p:nvSpPr>
          <p:cNvPr id="51" name="Text 16">
            <a:extLst>
              <a:ext uri="{FF2B5EF4-FFF2-40B4-BE49-F238E27FC236}">
                <a16:creationId xmlns:a16="http://schemas.microsoft.com/office/drawing/2014/main" id="{9F1687DE-168F-A842-0A80-85C28836E73B}"/>
              </a:ext>
            </a:extLst>
          </p:cNvPr>
          <p:cNvSpPr/>
          <p:nvPr/>
        </p:nvSpPr>
        <p:spPr>
          <a:xfrm>
            <a:off x="9705899" y="2880360"/>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53" name="Text 16">
            <a:extLst>
              <a:ext uri="{FF2B5EF4-FFF2-40B4-BE49-F238E27FC236}">
                <a16:creationId xmlns:a16="http://schemas.microsoft.com/office/drawing/2014/main" id="{72A61DC0-1DB2-A537-A5C1-ADBC1F07E20F}"/>
              </a:ext>
            </a:extLst>
          </p:cNvPr>
          <p:cNvSpPr/>
          <p:nvPr/>
        </p:nvSpPr>
        <p:spPr>
          <a:xfrm>
            <a:off x="2072030" y="4988052"/>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55" name="Shape 55">
            <a:extLst>
              <a:ext uri="{FF2B5EF4-FFF2-40B4-BE49-F238E27FC236}">
                <a16:creationId xmlns:a16="http://schemas.microsoft.com/office/drawing/2014/main" id="{F30CEB8A-1B59-FE44-8CBE-80B65206972E}"/>
              </a:ext>
            </a:extLst>
          </p:cNvPr>
          <p:cNvSpPr/>
          <p:nvPr/>
        </p:nvSpPr>
        <p:spPr>
          <a:xfrm>
            <a:off x="9058046" y="3465576"/>
            <a:ext cx="1508760" cy="658368"/>
          </a:xfrm>
          <a:prstGeom prst="roundRect">
            <a:avLst>
              <a:gd name="adj" fmla="val 12500"/>
            </a:avLst>
          </a:prstGeom>
          <a:solidFill>
            <a:srgbClr val="EAF2F7"/>
          </a:solidFill>
          <a:ln w="28575">
            <a:solidFill>
              <a:srgbClr val="2C5F7C"/>
            </a:solidFill>
            <a:prstDash val="solid"/>
          </a:ln>
          <a:effectLst>
            <a:outerShdw blurRad="76200" dist="25400" dir="5400000" algn="ctr" rotWithShape="0">
              <a:srgbClr val="000000">
                <a:alpha val="25000"/>
              </a:srgbClr>
            </a:outerShdw>
          </a:effectLst>
        </p:spPr>
        <p:txBody>
          <a:bodyPr/>
          <a:lstStyle/>
          <a:p>
            <a:endParaRPr lang="en-US"/>
          </a:p>
        </p:txBody>
      </p:sp>
      <p:sp>
        <p:nvSpPr>
          <p:cNvPr id="57" name="Text 56">
            <a:extLst>
              <a:ext uri="{FF2B5EF4-FFF2-40B4-BE49-F238E27FC236}">
                <a16:creationId xmlns:a16="http://schemas.microsoft.com/office/drawing/2014/main" id="{AE6B2B05-9C74-B8C1-3775-16662C9F005E}"/>
              </a:ext>
            </a:extLst>
          </p:cNvPr>
          <p:cNvSpPr/>
          <p:nvPr/>
        </p:nvSpPr>
        <p:spPr>
          <a:xfrm>
            <a:off x="9050731" y="3456432"/>
            <a:ext cx="15087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(Sample)</a:t>
            </a:r>
            <a:endParaRPr lang="en-US" sz="1050" dirty="0"/>
          </a:p>
        </p:txBody>
      </p:sp>
      <mc:AlternateContent xmlns:mc="http://schemas.openxmlformats.org/markup-compatibility/2006" xmlns:a14="http://schemas.microsoft.com/office/drawing/2010/main">
        <mc:Choice Requires="a14">
          <p:sp>
            <p:nvSpPr>
              <p:cNvPr id="59" name="Text 6">
                <a:extLst>
                  <a:ext uri="{FF2B5EF4-FFF2-40B4-BE49-F238E27FC236}">
                    <a16:creationId xmlns:a16="http://schemas.microsoft.com/office/drawing/2014/main" id="{7957D7EE-B786-6ACF-5426-E772B283B195}"/>
                  </a:ext>
                </a:extLst>
              </p:cNvPr>
              <p:cNvSpPr/>
              <p:nvPr/>
            </p:nvSpPr>
            <p:spPr>
              <a:xfrm>
                <a:off x="1645463" y="2871216"/>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a:rPr lang="en-US" sz="1600" b="0" i="1" smtClean="0">
                              <a:latin typeface="Cambria Math" panose="02040503050406030204" pitchFamily="18" charset="0"/>
                            </a:rPr>
                            <m:t>𝑑𝑒𝑣𝑖𝑎𝑡𝑖𝑜𝑛𝑠</m:t>
                          </m:r>
                        </m:e>
                        <m:sup>
                          <m:r>
                            <a:rPr lang="en-US" sz="1600" i="1">
                              <a:latin typeface="Cambria Math" panose="02040503050406030204" pitchFamily="18" charset="0"/>
                            </a:rPr>
                            <m:t>2</m:t>
                          </m:r>
                        </m:sup>
                      </m:sSup>
                    </m:oMath>
                  </m:oMathPara>
                </a14:m>
                <a:endParaRPr lang="en-US" dirty="0"/>
              </a:p>
            </p:txBody>
          </p:sp>
        </mc:Choice>
        <mc:Fallback xmlns="">
          <p:sp>
            <p:nvSpPr>
              <p:cNvPr id="59" name="Text 6">
                <a:extLst>
                  <a:ext uri="{FF2B5EF4-FFF2-40B4-BE49-F238E27FC236}">
                    <a16:creationId xmlns:a16="http://schemas.microsoft.com/office/drawing/2014/main" id="{7957D7EE-B786-6ACF-5426-E772B283B195}"/>
                  </a:ext>
                </a:extLst>
              </p:cNvPr>
              <p:cNvSpPr>
                <a:spLocks noRot="1" noChangeAspect="1" noMove="1" noResize="1" noEditPoints="1" noAdjustHandles="1" noChangeArrowheads="1" noChangeShapeType="1" noTextEdit="1"/>
              </p:cNvSpPr>
              <p:nvPr/>
            </p:nvSpPr>
            <p:spPr>
              <a:xfrm>
                <a:off x="1645463" y="2871216"/>
                <a:ext cx="2011680" cy="502920"/>
              </a:xfrm>
              <a:prstGeom prst="rect">
                <a:avLst/>
              </a:prstGeom>
              <a:blipFill>
                <a:blip r:embed="rId9"/>
                <a:stretch>
                  <a:fillRect/>
                </a:stretch>
              </a:blipFill>
              <a:ln/>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AA6E1-E0A1-960D-1D27-B3FB5E2FFCAA}"/>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CF0B2CAD-EB16-596E-BB32-CE7E7D028AEC}"/>
              </a:ext>
            </a:extLst>
          </p:cNvPr>
          <p:cNvSpPr/>
          <p:nvPr/>
        </p:nvSpPr>
        <p:spPr>
          <a:xfrm>
            <a:off x="105156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6" name="Text 4">
                <a:extLst>
                  <a:ext uri="{FF2B5EF4-FFF2-40B4-BE49-F238E27FC236}">
                    <a16:creationId xmlns:a16="http://schemas.microsoft.com/office/drawing/2014/main" id="{4A025B9C-24DB-80B1-C528-A6DD1F814E0D}"/>
                  </a:ext>
                </a:extLst>
              </p:cNvPr>
              <p:cNvSpPr/>
              <p:nvPr/>
            </p:nvSpPr>
            <p:spPr>
              <a:xfrm>
                <a:off x="19796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6" name="Text 4">
                <a:extLst>
                  <a:ext uri="{FF2B5EF4-FFF2-40B4-BE49-F238E27FC236}">
                    <a16:creationId xmlns:a16="http://schemas.microsoft.com/office/drawing/2014/main" id="{4A025B9C-24DB-80B1-C528-A6DD1F814E0D}"/>
                  </a:ext>
                </a:extLst>
              </p:cNvPr>
              <p:cNvSpPr>
                <a:spLocks noRot="1" noChangeAspect="1" noMove="1" noResize="1" noEditPoints="1" noAdjustHandles="1" noChangeArrowheads="1" noChangeShapeType="1" noTextEdit="1"/>
              </p:cNvSpPr>
              <p:nvPr/>
            </p:nvSpPr>
            <p:spPr>
              <a:xfrm>
                <a:off x="197968" y="2880360"/>
                <a:ext cx="2011680" cy="502920"/>
              </a:xfrm>
              <a:prstGeom prst="rect">
                <a:avLst/>
              </a:prstGeom>
              <a:blipFill>
                <a:blip r:embed="rId3"/>
                <a:stretch>
                  <a:fillRect/>
                </a:stretch>
              </a:blipFill>
              <a:ln/>
            </p:spPr>
            <p:txBody>
              <a:bodyPr/>
              <a:lstStyle/>
              <a:p>
                <a:r>
                  <a:rPr lang="en-US">
                    <a:noFill/>
                  </a:rPr>
                  <a:t> </a:t>
                </a:r>
              </a:p>
            </p:txBody>
          </p:sp>
        </mc:Fallback>
      </mc:AlternateContent>
      <p:sp>
        <p:nvSpPr>
          <p:cNvPr id="7" name="Shape 5">
            <a:extLst>
              <a:ext uri="{FF2B5EF4-FFF2-40B4-BE49-F238E27FC236}">
                <a16:creationId xmlns:a16="http://schemas.microsoft.com/office/drawing/2014/main" id="{779EB874-F75C-49FC-51E8-B22B121D6949}"/>
              </a:ext>
            </a:extLst>
          </p:cNvPr>
          <p:cNvSpPr/>
          <p:nvPr/>
        </p:nvSpPr>
        <p:spPr>
          <a:xfrm>
            <a:off x="2499055" y="3785616"/>
            <a:ext cx="304495" cy="9144"/>
          </a:xfrm>
          <a:prstGeom prst="line">
            <a:avLst/>
          </a:prstGeom>
          <a:noFill/>
          <a:ln w="22225">
            <a:solidFill>
              <a:srgbClr val="2C5F7C"/>
            </a:solidFill>
            <a:prstDash val="solid"/>
            <a:tailEnd type="triangle"/>
          </a:ln>
        </p:spPr>
        <p:txBody>
          <a:bodyPr/>
          <a:lstStyle/>
          <a:p>
            <a:endParaRPr lang="en-US"/>
          </a:p>
        </p:txBody>
      </p:sp>
      <p:sp>
        <p:nvSpPr>
          <p:cNvPr id="9" name="Shape 7">
            <a:extLst>
              <a:ext uri="{FF2B5EF4-FFF2-40B4-BE49-F238E27FC236}">
                <a16:creationId xmlns:a16="http://schemas.microsoft.com/office/drawing/2014/main" id="{81F80922-03DF-FFB1-F1B1-46B9F02A11C0}"/>
              </a:ext>
            </a:extLst>
          </p:cNvPr>
          <p:cNvSpPr/>
          <p:nvPr/>
        </p:nvSpPr>
        <p:spPr>
          <a:xfrm>
            <a:off x="4083710" y="3785616"/>
            <a:ext cx="304495" cy="9144"/>
          </a:xfrm>
          <a:prstGeom prst="line">
            <a:avLst/>
          </a:prstGeom>
          <a:noFill/>
          <a:ln w="22225">
            <a:solidFill>
              <a:srgbClr val="2C5F7C"/>
            </a:solidFill>
            <a:prstDash val="solid"/>
            <a:tailEnd type="triangle"/>
          </a:ln>
        </p:spPr>
        <p:txBody>
          <a:bodyPr/>
          <a:lstStyle/>
          <a:p>
            <a:endParaRPr lang="en-US"/>
          </a:p>
        </p:txBody>
      </p:sp>
      <p:sp>
        <p:nvSpPr>
          <p:cNvPr id="11" name="Shape 9">
            <a:extLst>
              <a:ext uri="{FF2B5EF4-FFF2-40B4-BE49-F238E27FC236}">
                <a16:creationId xmlns:a16="http://schemas.microsoft.com/office/drawing/2014/main" id="{A443AD94-78F4-8CFD-A1F4-FEBF19A2D6C9}"/>
              </a:ext>
            </a:extLst>
          </p:cNvPr>
          <p:cNvSpPr/>
          <p:nvPr/>
        </p:nvSpPr>
        <p:spPr>
          <a:xfrm>
            <a:off x="575980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59FADA80-9905-9F28-1469-99FF1057967C}"/>
                  </a:ext>
                </a:extLst>
              </p:cNvPr>
              <p:cNvSpPr/>
              <p:nvPr/>
            </p:nvSpPr>
            <p:spPr>
              <a:xfrm>
                <a:off x="4906213"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𝑆𝑆</m:t>
                          </m:r>
                        </m:num>
                        <m:den>
                          <m:r>
                            <a:rPr lang="en-US" i="1">
                              <a:latin typeface="Cambria Math" panose="02040503050406030204" pitchFamily="18" charset="0"/>
                            </a:rPr>
                            <m:t>𝑛</m:t>
                          </m:r>
                        </m:den>
                      </m:f>
                    </m:oMath>
                  </m:oMathPara>
                </a14:m>
                <a:endParaRPr lang="en-US" dirty="0"/>
              </a:p>
            </p:txBody>
          </p:sp>
        </mc:Choice>
        <mc:Fallback xmlns="">
          <p:sp>
            <p:nvSpPr>
              <p:cNvPr id="12" name="Text 10">
                <a:extLst>
                  <a:ext uri="{FF2B5EF4-FFF2-40B4-BE49-F238E27FC236}">
                    <a16:creationId xmlns:a16="http://schemas.microsoft.com/office/drawing/2014/main" id="{59FADA80-9905-9F28-1469-99FF1057967C}"/>
                  </a:ext>
                </a:extLst>
              </p:cNvPr>
              <p:cNvSpPr>
                <a:spLocks noRot="1" noChangeAspect="1" noMove="1" noResize="1" noEditPoints="1" noAdjustHandles="1" noChangeArrowheads="1" noChangeShapeType="1" noTextEdit="1"/>
              </p:cNvSpPr>
              <p:nvPr/>
            </p:nvSpPr>
            <p:spPr>
              <a:xfrm>
                <a:off x="4906213" y="2880360"/>
                <a:ext cx="2011680" cy="502920"/>
              </a:xfrm>
              <a:prstGeom prst="rect">
                <a:avLst/>
              </a:prstGeom>
              <a:blipFill>
                <a:blip r:embed="rId4"/>
                <a:stretch>
                  <a:fillRect t="-7317"/>
                </a:stretch>
              </a:blipFill>
              <a:ln/>
            </p:spPr>
            <p:txBody>
              <a:bodyPr/>
              <a:lstStyle/>
              <a:p>
                <a:r>
                  <a:rPr lang="en-US">
                    <a:noFill/>
                  </a:rPr>
                  <a:t> </a:t>
                </a:r>
              </a:p>
            </p:txBody>
          </p:sp>
        </mc:Fallback>
      </mc:AlternateContent>
      <p:sp>
        <p:nvSpPr>
          <p:cNvPr id="13" name="Shape 11">
            <a:extLst>
              <a:ext uri="{FF2B5EF4-FFF2-40B4-BE49-F238E27FC236}">
                <a16:creationId xmlns:a16="http://schemas.microsoft.com/office/drawing/2014/main" id="{33D8C87C-A2AF-A710-A84E-072A8414F3A1}"/>
              </a:ext>
            </a:extLst>
          </p:cNvPr>
          <p:cNvSpPr/>
          <p:nvPr/>
        </p:nvSpPr>
        <p:spPr>
          <a:xfrm>
            <a:off x="7253021"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4" name="Text 12">
                <a:extLst>
                  <a:ext uri="{FF2B5EF4-FFF2-40B4-BE49-F238E27FC236}">
                    <a16:creationId xmlns:a16="http://schemas.microsoft.com/office/drawing/2014/main" id="{4CDF913E-F66E-94C3-B275-A66CCFD99012}"/>
                  </a:ext>
                </a:extLst>
              </p:cNvPr>
              <p:cNvSpPr/>
              <p:nvPr/>
            </p:nvSpPr>
            <p:spPr>
              <a:xfrm>
                <a:off x="639942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𝑆𝐷</m:t>
                              </m:r>
                            </m:e>
                            <m:sup>
                              <m:r>
                                <a:rPr lang="en-US" i="1">
                                  <a:latin typeface="Cambria Math" panose="02040503050406030204" pitchFamily="18" charset="0"/>
                                </a:rPr>
                                <m:t>2</m:t>
                              </m:r>
                            </m:sup>
                          </m:sSup>
                        </m:e>
                      </m:rad>
                    </m:oMath>
                  </m:oMathPara>
                </a14:m>
                <a:endParaRPr lang="en-US" dirty="0"/>
              </a:p>
            </p:txBody>
          </p:sp>
        </mc:Choice>
        <mc:Fallback xmlns="">
          <p:sp>
            <p:nvSpPr>
              <p:cNvPr id="14" name="Text 12">
                <a:extLst>
                  <a:ext uri="{FF2B5EF4-FFF2-40B4-BE49-F238E27FC236}">
                    <a16:creationId xmlns:a16="http://schemas.microsoft.com/office/drawing/2014/main" id="{4CDF913E-F66E-94C3-B275-A66CCFD99012}"/>
                  </a:ext>
                </a:extLst>
              </p:cNvPr>
              <p:cNvSpPr>
                <a:spLocks noRot="1" noChangeAspect="1" noMove="1" noResize="1" noEditPoints="1" noAdjustHandles="1" noChangeArrowheads="1" noChangeShapeType="1" noTextEdit="1"/>
              </p:cNvSpPr>
              <p:nvPr/>
            </p:nvSpPr>
            <p:spPr>
              <a:xfrm>
                <a:off x="6399428" y="2880360"/>
                <a:ext cx="2011680" cy="502920"/>
              </a:xfrm>
              <a:prstGeom prst="rect">
                <a:avLst/>
              </a:prstGeom>
              <a:blipFill>
                <a:blip r:embed="rId5"/>
                <a:stretch>
                  <a:fillRect/>
                </a:stretch>
              </a:blipFill>
              <a:ln/>
            </p:spPr>
            <p:txBody>
              <a:bodyPr/>
              <a:lstStyle/>
              <a:p>
                <a:r>
                  <a:rPr lang="en-US">
                    <a:noFill/>
                  </a:rPr>
                  <a:t> </a:t>
                </a:r>
              </a:p>
            </p:txBody>
          </p:sp>
        </mc:Fallback>
      </mc:AlternateContent>
      <p:sp>
        <p:nvSpPr>
          <p:cNvPr id="15" name="Shape 13">
            <a:extLst>
              <a:ext uri="{FF2B5EF4-FFF2-40B4-BE49-F238E27FC236}">
                <a16:creationId xmlns:a16="http://schemas.microsoft.com/office/drawing/2014/main" id="{27AB6095-84A5-BD36-3323-DF1BCBF2884A}"/>
              </a:ext>
            </a:extLst>
          </p:cNvPr>
          <p:cNvSpPr/>
          <p:nvPr/>
        </p:nvSpPr>
        <p:spPr>
          <a:xfrm>
            <a:off x="8746236" y="3785616"/>
            <a:ext cx="304495" cy="9144"/>
          </a:xfrm>
          <a:prstGeom prst="line">
            <a:avLst/>
          </a:prstGeom>
          <a:noFill/>
          <a:ln w="22225">
            <a:solidFill>
              <a:srgbClr val="2C5F7C"/>
            </a:solidFill>
            <a:prstDash val="solid"/>
            <a:tailEnd type="triangle"/>
          </a:ln>
        </p:spPr>
        <p:txBody>
          <a:bodyPr/>
          <a:lstStyle/>
          <a:p>
            <a:endParaRPr lang="en-US"/>
          </a:p>
        </p:txBody>
      </p:sp>
      <p:sp>
        <p:nvSpPr>
          <p:cNvPr id="17" name="Shape 15">
            <a:extLst>
              <a:ext uri="{FF2B5EF4-FFF2-40B4-BE49-F238E27FC236}">
                <a16:creationId xmlns:a16="http://schemas.microsoft.com/office/drawing/2014/main" id="{AE148CF5-F362-A441-1467-CE849E19EA98}"/>
              </a:ext>
            </a:extLst>
          </p:cNvPr>
          <p:cNvSpPr/>
          <p:nvPr/>
        </p:nvSpPr>
        <p:spPr>
          <a:xfrm>
            <a:off x="10559491" y="3785616"/>
            <a:ext cx="304495" cy="9144"/>
          </a:xfrm>
          <a:prstGeom prst="line">
            <a:avLst/>
          </a:prstGeom>
          <a:noFill/>
          <a:ln w="22225">
            <a:solidFill>
              <a:srgbClr val="2C5F7C"/>
            </a:solidFill>
            <a:prstDash val="solid"/>
            <a:tailEnd type="triangle"/>
          </a:ln>
        </p:spPr>
        <p:txBody>
          <a:bodyPr/>
          <a:lstStyle/>
          <a:p>
            <a:endParaRPr lang="en-US"/>
          </a:p>
        </p:txBody>
      </p:sp>
      <p:sp>
        <p:nvSpPr>
          <p:cNvPr id="25" name="Shape 23">
            <a:extLst>
              <a:ext uri="{FF2B5EF4-FFF2-40B4-BE49-F238E27FC236}">
                <a16:creationId xmlns:a16="http://schemas.microsoft.com/office/drawing/2014/main" id="{635D0EDD-A71A-899C-35CF-42FF991D200C}"/>
              </a:ext>
            </a:extLst>
          </p:cNvPr>
          <p:cNvSpPr/>
          <p:nvPr/>
        </p:nvSpPr>
        <p:spPr>
          <a:xfrm flipV="1">
            <a:off x="731520" y="2788920"/>
            <a:ext cx="9144" cy="667512"/>
          </a:xfrm>
          <a:prstGeom prst="line">
            <a:avLst/>
          </a:prstGeom>
          <a:noFill/>
          <a:ln w="22225">
            <a:solidFill>
              <a:srgbClr val="2C5F7C"/>
            </a:solidFill>
            <a:prstDash val="solid"/>
          </a:ln>
        </p:spPr>
        <p:txBody>
          <a:bodyPr/>
          <a:lstStyle/>
          <a:p>
            <a:endParaRPr lang="en-US"/>
          </a:p>
        </p:txBody>
      </p:sp>
      <p:sp>
        <p:nvSpPr>
          <p:cNvPr id="26" name="Shape 24">
            <a:extLst>
              <a:ext uri="{FF2B5EF4-FFF2-40B4-BE49-F238E27FC236}">
                <a16:creationId xmlns:a16="http://schemas.microsoft.com/office/drawing/2014/main" id="{B1B35062-BC5D-C11A-BC86-BCE8B3192CD2}"/>
              </a:ext>
            </a:extLst>
          </p:cNvPr>
          <p:cNvSpPr/>
          <p:nvPr/>
        </p:nvSpPr>
        <p:spPr>
          <a:xfrm>
            <a:off x="731520" y="2788920"/>
            <a:ext cx="960120" cy="9144"/>
          </a:xfrm>
          <a:prstGeom prst="line">
            <a:avLst/>
          </a:prstGeom>
          <a:noFill/>
          <a:ln w="22225">
            <a:solidFill>
              <a:srgbClr val="2C5F7C"/>
            </a:solidFill>
            <a:prstDash val="solid"/>
          </a:ln>
        </p:spPr>
        <p:txBody>
          <a:bodyPr/>
          <a:lstStyle/>
          <a:p>
            <a:endParaRPr lang="en-US"/>
          </a:p>
        </p:txBody>
      </p:sp>
      <p:sp>
        <p:nvSpPr>
          <p:cNvPr id="27" name="Shape 25">
            <a:extLst>
              <a:ext uri="{FF2B5EF4-FFF2-40B4-BE49-F238E27FC236}">
                <a16:creationId xmlns:a16="http://schemas.microsoft.com/office/drawing/2014/main" id="{DDACAD8C-15E6-B03E-54BB-9A58C79A302F}"/>
              </a:ext>
            </a:extLst>
          </p:cNvPr>
          <p:cNvSpPr/>
          <p:nvPr/>
        </p:nvSpPr>
        <p:spPr>
          <a:xfrm flipV="1">
            <a:off x="1691640" y="1874520"/>
            <a:ext cx="9144" cy="91440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28" name="Text 26">
                <a:extLst>
                  <a:ext uri="{FF2B5EF4-FFF2-40B4-BE49-F238E27FC236}">
                    <a16:creationId xmlns:a16="http://schemas.microsoft.com/office/drawing/2014/main" id="{B2910B29-4D07-3C47-CF88-E06489E27A2C}"/>
                  </a:ext>
                </a:extLst>
              </p:cNvPr>
              <p:cNvSpPr/>
              <p:nvPr/>
            </p:nvSpPr>
            <p:spPr>
              <a:xfrm>
                <a:off x="205740" y="2288286"/>
                <a:ext cx="2011680" cy="384048"/>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m:oMathPara>
                </a14:m>
                <a:endParaRPr lang="en-US" dirty="0"/>
              </a:p>
            </p:txBody>
          </p:sp>
        </mc:Choice>
        <mc:Fallback xmlns="">
          <p:sp>
            <p:nvSpPr>
              <p:cNvPr id="28" name="Text 26">
                <a:extLst>
                  <a:ext uri="{FF2B5EF4-FFF2-40B4-BE49-F238E27FC236}">
                    <a16:creationId xmlns:a16="http://schemas.microsoft.com/office/drawing/2014/main" id="{B2910B29-4D07-3C47-CF88-E06489E27A2C}"/>
                  </a:ext>
                </a:extLst>
              </p:cNvPr>
              <p:cNvSpPr>
                <a:spLocks noRot="1" noChangeAspect="1" noMove="1" noResize="1" noEditPoints="1" noAdjustHandles="1" noChangeArrowheads="1" noChangeShapeType="1" noTextEdit="1"/>
              </p:cNvSpPr>
              <p:nvPr/>
            </p:nvSpPr>
            <p:spPr>
              <a:xfrm>
                <a:off x="205740" y="2288286"/>
                <a:ext cx="2011680" cy="384048"/>
              </a:xfrm>
              <a:prstGeom prst="rect">
                <a:avLst/>
              </a:prstGeom>
              <a:blipFill>
                <a:blip r:embed="rId6"/>
                <a:stretch>
                  <a:fillRect t="-41270"/>
                </a:stretch>
              </a:blipFill>
              <a:ln/>
            </p:spPr>
            <p:txBody>
              <a:bodyPr/>
              <a:lstStyle/>
              <a:p>
                <a:r>
                  <a:rPr lang="en-US">
                    <a:noFill/>
                  </a:rPr>
                  <a:t> </a:t>
                </a:r>
              </a:p>
            </p:txBody>
          </p:sp>
        </mc:Fallback>
      </mc:AlternateContent>
      <p:sp>
        <p:nvSpPr>
          <p:cNvPr id="29" name="Shape 27">
            <a:extLst>
              <a:ext uri="{FF2B5EF4-FFF2-40B4-BE49-F238E27FC236}">
                <a16:creationId xmlns:a16="http://schemas.microsoft.com/office/drawing/2014/main" id="{969AD234-2935-EFE3-A84A-6BD18DED13A9}"/>
              </a:ext>
            </a:extLst>
          </p:cNvPr>
          <p:cNvSpPr/>
          <p:nvPr/>
        </p:nvSpPr>
        <p:spPr>
          <a:xfrm>
            <a:off x="2365578" y="1535512"/>
            <a:ext cx="365760"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30" name="Text 28">
                <a:extLst>
                  <a:ext uri="{FF2B5EF4-FFF2-40B4-BE49-F238E27FC236}">
                    <a16:creationId xmlns:a16="http://schemas.microsoft.com/office/drawing/2014/main" id="{FB79F954-9C49-D556-663D-8435CAF4A2B2}"/>
                  </a:ext>
                </a:extLst>
              </p:cNvPr>
              <p:cNvSpPr/>
              <p:nvPr/>
            </p:nvSpPr>
            <p:spPr>
              <a:xfrm>
                <a:off x="1598224" y="738302"/>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den>
                      </m:f>
                    </m:oMath>
                  </m:oMathPara>
                </a14:m>
                <a:endParaRPr lang="en-US" dirty="0"/>
              </a:p>
            </p:txBody>
          </p:sp>
        </mc:Choice>
        <mc:Fallback xmlns="">
          <p:sp>
            <p:nvSpPr>
              <p:cNvPr id="30" name="Text 28">
                <a:extLst>
                  <a:ext uri="{FF2B5EF4-FFF2-40B4-BE49-F238E27FC236}">
                    <a16:creationId xmlns:a16="http://schemas.microsoft.com/office/drawing/2014/main" id="{FB79F954-9C49-D556-663D-8435CAF4A2B2}"/>
                  </a:ext>
                </a:extLst>
              </p:cNvPr>
              <p:cNvSpPr>
                <a:spLocks noRot="1" noChangeAspect="1" noMove="1" noResize="1" noEditPoints="1" noAdjustHandles="1" noChangeArrowheads="1" noChangeShapeType="1" noTextEdit="1"/>
              </p:cNvSpPr>
              <p:nvPr/>
            </p:nvSpPr>
            <p:spPr>
              <a:xfrm>
                <a:off x="1598224" y="738302"/>
                <a:ext cx="2011680" cy="502920"/>
              </a:xfrm>
              <a:prstGeom prst="rect">
                <a:avLst/>
              </a:prstGeom>
              <a:blipFill>
                <a:blip r:embed="rId7"/>
                <a:stretch>
                  <a:fillRect t="-14458"/>
                </a:stretch>
              </a:blipFill>
              <a:ln/>
            </p:spPr>
            <p:txBody>
              <a:bodyPr/>
              <a:lstStyle/>
              <a:p>
                <a:r>
                  <a:rPr lang="en-US">
                    <a:noFill/>
                  </a:rPr>
                  <a:t> </a:t>
                </a:r>
              </a:p>
            </p:txBody>
          </p:sp>
        </mc:Fallback>
      </mc:AlternateContent>
      <p:sp>
        <p:nvSpPr>
          <p:cNvPr id="31" name="Shape 29">
            <a:extLst>
              <a:ext uri="{FF2B5EF4-FFF2-40B4-BE49-F238E27FC236}">
                <a16:creationId xmlns:a16="http://schemas.microsoft.com/office/drawing/2014/main" id="{BA9858EB-07BE-C09D-E841-11E5DBDD5607}"/>
              </a:ext>
            </a:extLst>
          </p:cNvPr>
          <p:cNvSpPr/>
          <p:nvPr/>
        </p:nvSpPr>
        <p:spPr>
          <a:xfrm>
            <a:off x="4194378" y="1535512"/>
            <a:ext cx="365760" cy="9144"/>
          </a:xfrm>
          <a:prstGeom prst="line">
            <a:avLst/>
          </a:prstGeom>
          <a:noFill/>
          <a:ln w="22225">
            <a:solidFill>
              <a:srgbClr val="2C5F7C"/>
            </a:solidFill>
            <a:prstDash val="solid"/>
            <a:tailEnd type="triangle"/>
          </a:ln>
        </p:spPr>
        <p:txBody>
          <a:bodyPr/>
          <a:lstStyle/>
          <a:p>
            <a:endParaRPr lang="en-US"/>
          </a:p>
        </p:txBody>
      </p:sp>
      <p:sp>
        <p:nvSpPr>
          <p:cNvPr id="33" name="Shape 31">
            <a:extLst>
              <a:ext uri="{FF2B5EF4-FFF2-40B4-BE49-F238E27FC236}">
                <a16:creationId xmlns:a16="http://schemas.microsoft.com/office/drawing/2014/main" id="{51689C23-92A2-637C-FE64-819F806B5CBD}"/>
              </a:ext>
            </a:extLst>
          </p:cNvPr>
          <p:cNvSpPr/>
          <p:nvPr/>
        </p:nvSpPr>
        <p:spPr>
          <a:xfrm>
            <a:off x="411480" y="3456432"/>
            <a:ext cx="640080" cy="658368"/>
          </a:xfrm>
          <a:prstGeom prst="roundRect">
            <a:avLst>
              <a:gd name="adj" fmla="val 12857"/>
            </a:avLst>
          </a:prstGeom>
          <a:solidFill>
            <a:srgbClr val="1B3A4B"/>
          </a:solidFill>
          <a:ln w="15875">
            <a:solidFill>
              <a:srgbClr val="2C5F7C"/>
            </a:solidFill>
            <a:prstDash val="solid"/>
          </a:ln>
        </p:spPr>
        <p:txBody>
          <a:bodyPr/>
          <a:lstStyle/>
          <a:p>
            <a:endParaRPr lang="en-US"/>
          </a:p>
        </p:txBody>
      </p:sp>
      <p:sp>
        <p:nvSpPr>
          <p:cNvPr id="34" name="Text 32">
            <a:extLst>
              <a:ext uri="{FF2B5EF4-FFF2-40B4-BE49-F238E27FC236}">
                <a16:creationId xmlns:a16="http://schemas.microsoft.com/office/drawing/2014/main" id="{FB1DF10E-6FF3-9F60-6083-CF944ADDD962}"/>
              </a:ext>
            </a:extLst>
          </p:cNvPr>
          <p:cNvSpPr/>
          <p:nvPr/>
        </p:nvSpPr>
        <p:spPr>
          <a:xfrm>
            <a:off x="411480" y="3456432"/>
            <a:ext cx="64008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35" name="Shape 33">
            <a:extLst>
              <a:ext uri="{FF2B5EF4-FFF2-40B4-BE49-F238E27FC236}">
                <a16:creationId xmlns:a16="http://schemas.microsoft.com/office/drawing/2014/main" id="{8B129DF4-B036-2AC7-CFF5-65F848B8E456}"/>
              </a:ext>
            </a:extLst>
          </p:cNvPr>
          <p:cNvSpPr/>
          <p:nvPr/>
        </p:nvSpPr>
        <p:spPr>
          <a:xfrm>
            <a:off x="1356055" y="3456432"/>
            <a:ext cx="11430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6" name="Text 34">
            <a:extLst>
              <a:ext uri="{FF2B5EF4-FFF2-40B4-BE49-F238E27FC236}">
                <a16:creationId xmlns:a16="http://schemas.microsoft.com/office/drawing/2014/main" id="{FEAB43BE-9B7A-CBDA-27AC-8728EC999CB3}"/>
              </a:ext>
            </a:extLst>
          </p:cNvPr>
          <p:cNvSpPr/>
          <p:nvPr/>
        </p:nvSpPr>
        <p:spPr>
          <a:xfrm>
            <a:off x="1356055" y="3456432"/>
            <a:ext cx="11430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7" name="Shape 35">
            <a:extLst>
              <a:ext uri="{FF2B5EF4-FFF2-40B4-BE49-F238E27FC236}">
                <a16:creationId xmlns:a16="http://schemas.microsoft.com/office/drawing/2014/main" id="{3126B9E8-2E21-43B2-0A66-A4D742EB971B}"/>
              </a:ext>
            </a:extLst>
          </p:cNvPr>
          <p:cNvSpPr/>
          <p:nvPr/>
        </p:nvSpPr>
        <p:spPr>
          <a:xfrm>
            <a:off x="2803550" y="3456432"/>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8" name="Text 36">
            <a:extLst>
              <a:ext uri="{FF2B5EF4-FFF2-40B4-BE49-F238E27FC236}">
                <a16:creationId xmlns:a16="http://schemas.microsoft.com/office/drawing/2014/main" id="{1EA8BA46-F1AB-1A97-B5F0-AECD39293CFA}"/>
              </a:ext>
            </a:extLst>
          </p:cNvPr>
          <p:cNvSpPr/>
          <p:nvPr/>
        </p:nvSpPr>
        <p:spPr>
          <a:xfrm>
            <a:off x="2803550" y="3456432"/>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Squared</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9" name="Shape 37">
            <a:extLst>
              <a:ext uri="{FF2B5EF4-FFF2-40B4-BE49-F238E27FC236}">
                <a16:creationId xmlns:a16="http://schemas.microsoft.com/office/drawing/2014/main" id="{D74412CC-1124-7B7B-0C9E-25566383149A}"/>
              </a:ext>
            </a:extLst>
          </p:cNvPr>
          <p:cNvSpPr/>
          <p:nvPr/>
        </p:nvSpPr>
        <p:spPr>
          <a:xfrm>
            <a:off x="4388206" y="3456432"/>
            <a:ext cx="13716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0" name="Text 38">
            <a:extLst>
              <a:ext uri="{FF2B5EF4-FFF2-40B4-BE49-F238E27FC236}">
                <a16:creationId xmlns:a16="http://schemas.microsoft.com/office/drawing/2014/main" id="{11438A7C-0D3E-75D4-CB86-03B1F757DE1F}"/>
              </a:ext>
            </a:extLst>
          </p:cNvPr>
          <p:cNvSpPr/>
          <p:nvPr/>
        </p:nvSpPr>
        <p:spPr>
          <a:xfrm>
            <a:off x="4388206" y="3456432"/>
            <a:ext cx="13716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Sum of Squares</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(SS)</a:t>
            </a:r>
            <a:endParaRPr lang="en-US" sz="1050" dirty="0"/>
          </a:p>
        </p:txBody>
      </p:sp>
      <p:sp>
        <p:nvSpPr>
          <p:cNvPr id="41" name="Shape 39">
            <a:extLst>
              <a:ext uri="{FF2B5EF4-FFF2-40B4-BE49-F238E27FC236}">
                <a16:creationId xmlns:a16="http://schemas.microsoft.com/office/drawing/2014/main" id="{A465EC34-32A3-43D1-1DE3-9C55159DC626}"/>
              </a:ext>
            </a:extLst>
          </p:cNvPr>
          <p:cNvSpPr/>
          <p:nvPr/>
        </p:nvSpPr>
        <p:spPr>
          <a:xfrm>
            <a:off x="6064301"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2" name="Text 40">
            <a:extLst>
              <a:ext uri="{FF2B5EF4-FFF2-40B4-BE49-F238E27FC236}">
                <a16:creationId xmlns:a16="http://schemas.microsoft.com/office/drawing/2014/main" id="{A3D138BE-040C-3D55-B005-E682A589B4EE}"/>
              </a:ext>
            </a:extLst>
          </p:cNvPr>
          <p:cNvSpPr/>
          <p:nvPr/>
        </p:nvSpPr>
        <p:spPr>
          <a:xfrm>
            <a:off x="6064301"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Variance</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(SD²)</a:t>
            </a:r>
            <a:endParaRPr lang="en-US" sz="1150" dirty="0"/>
          </a:p>
        </p:txBody>
      </p:sp>
      <p:sp>
        <p:nvSpPr>
          <p:cNvPr id="43" name="Shape 41">
            <a:extLst>
              <a:ext uri="{FF2B5EF4-FFF2-40B4-BE49-F238E27FC236}">
                <a16:creationId xmlns:a16="http://schemas.microsoft.com/office/drawing/2014/main" id="{1F49C8CB-07D7-305E-848D-BB6C4067C5C9}"/>
              </a:ext>
            </a:extLst>
          </p:cNvPr>
          <p:cNvSpPr/>
          <p:nvPr/>
        </p:nvSpPr>
        <p:spPr>
          <a:xfrm>
            <a:off x="7557516"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4" name="Text 42">
            <a:extLst>
              <a:ext uri="{FF2B5EF4-FFF2-40B4-BE49-F238E27FC236}">
                <a16:creationId xmlns:a16="http://schemas.microsoft.com/office/drawing/2014/main" id="{AE091E78-07E1-27A7-E05D-1733DC690CD3}"/>
              </a:ext>
            </a:extLst>
          </p:cNvPr>
          <p:cNvSpPr/>
          <p:nvPr/>
        </p:nvSpPr>
        <p:spPr>
          <a:xfrm>
            <a:off x="7557516"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Deviation (SD)</a:t>
            </a:r>
            <a:endParaRPr lang="en-US" sz="1050" dirty="0"/>
          </a:p>
        </p:txBody>
      </p:sp>
      <p:sp>
        <p:nvSpPr>
          <p:cNvPr id="47" name="Shape 45">
            <a:extLst>
              <a:ext uri="{FF2B5EF4-FFF2-40B4-BE49-F238E27FC236}">
                <a16:creationId xmlns:a16="http://schemas.microsoft.com/office/drawing/2014/main" id="{3CE327AF-E1C9-155D-0314-DD276A06EA3C}"/>
              </a:ext>
            </a:extLst>
          </p:cNvPr>
          <p:cNvSpPr/>
          <p:nvPr/>
        </p:nvSpPr>
        <p:spPr>
          <a:xfrm>
            <a:off x="10863986" y="3456432"/>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8" name="Text 46">
            <a:extLst>
              <a:ext uri="{FF2B5EF4-FFF2-40B4-BE49-F238E27FC236}">
                <a16:creationId xmlns:a16="http://schemas.microsoft.com/office/drawing/2014/main" id="{37B46AB5-74D8-7878-8406-9DDA46EB87CD}"/>
              </a:ext>
            </a:extLst>
          </p:cNvPr>
          <p:cNvSpPr/>
          <p:nvPr/>
        </p:nvSpPr>
        <p:spPr>
          <a:xfrm>
            <a:off x="10863986" y="3456432"/>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53" name="Shape 51">
            <a:extLst>
              <a:ext uri="{FF2B5EF4-FFF2-40B4-BE49-F238E27FC236}">
                <a16:creationId xmlns:a16="http://schemas.microsoft.com/office/drawing/2014/main" id="{10278444-0AD4-50D2-B739-A533399808EB}"/>
              </a:ext>
            </a:extLst>
          </p:cNvPr>
          <p:cNvSpPr/>
          <p:nvPr/>
        </p:nvSpPr>
        <p:spPr>
          <a:xfrm>
            <a:off x="1085418" y="1206328"/>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4" name="Text 52">
            <a:extLst>
              <a:ext uri="{FF2B5EF4-FFF2-40B4-BE49-F238E27FC236}">
                <a16:creationId xmlns:a16="http://schemas.microsoft.com/office/drawing/2014/main" id="{1F6BCEAD-E3B9-0860-9928-DC6C99081843}"/>
              </a:ext>
            </a:extLst>
          </p:cNvPr>
          <p:cNvSpPr/>
          <p:nvPr/>
        </p:nvSpPr>
        <p:spPr>
          <a:xfrm>
            <a:off x="1085418" y="1206328"/>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 Error</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(σₓ̄)</a:t>
            </a:r>
            <a:endParaRPr lang="en-US" sz="1050" dirty="0"/>
          </a:p>
        </p:txBody>
      </p:sp>
      <p:sp>
        <p:nvSpPr>
          <p:cNvPr id="55" name="Shape 53">
            <a:extLst>
              <a:ext uri="{FF2B5EF4-FFF2-40B4-BE49-F238E27FC236}">
                <a16:creationId xmlns:a16="http://schemas.microsoft.com/office/drawing/2014/main" id="{09DBE9B6-58E6-735B-629D-76CFA1D35715}"/>
              </a:ext>
            </a:extLst>
          </p:cNvPr>
          <p:cNvSpPr/>
          <p:nvPr/>
        </p:nvSpPr>
        <p:spPr>
          <a:xfrm>
            <a:off x="2731338" y="1206328"/>
            <a:ext cx="1463040" cy="658368"/>
          </a:xfrm>
          <a:prstGeom prst="roundRect">
            <a:avLst>
              <a:gd name="adj" fmla="val 12500"/>
            </a:avLst>
          </a:prstGeom>
          <a:solidFill>
            <a:srgbClr val="E8871E"/>
          </a:solidFill>
          <a:ln w="25400">
            <a:solidFill>
              <a:srgbClr val="B85F0F"/>
            </a:solidFill>
            <a:prstDash val="solid"/>
          </a:ln>
          <a:effectLst>
            <a:outerShdw blurRad="76200" dist="25400" dir="5400000" algn="bl" rotWithShape="0">
              <a:srgbClr val="000000">
                <a:alpha val="25000"/>
              </a:srgbClr>
            </a:outerShdw>
          </a:effectLst>
        </p:spPr>
        <p:txBody>
          <a:bodyPr/>
          <a:lstStyle/>
          <a:p>
            <a:endParaRPr lang="en-US"/>
          </a:p>
        </p:txBody>
      </p:sp>
      <p:sp>
        <p:nvSpPr>
          <p:cNvPr id="56" name="Text 54">
            <a:extLst>
              <a:ext uri="{FF2B5EF4-FFF2-40B4-BE49-F238E27FC236}">
                <a16:creationId xmlns:a16="http://schemas.microsoft.com/office/drawing/2014/main" id="{82444B99-3C7B-C87F-71E0-9CDB068081ED}"/>
              </a:ext>
            </a:extLst>
          </p:cNvPr>
          <p:cNvSpPr/>
          <p:nvPr/>
        </p:nvSpPr>
        <p:spPr>
          <a:xfrm>
            <a:off x="2731338" y="1206328"/>
            <a:ext cx="146304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Single Sample</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Z-Score</a:t>
            </a:r>
            <a:endParaRPr lang="en-US" sz="1050" dirty="0"/>
          </a:p>
        </p:txBody>
      </p:sp>
      <p:sp>
        <p:nvSpPr>
          <p:cNvPr id="57" name="Shape 55">
            <a:extLst>
              <a:ext uri="{FF2B5EF4-FFF2-40B4-BE49-F238E27FC236}">
                <a16:creationId xmlns:a16="http://schemas.microsoft.com/office/drawing/2014/main" id="{6D58344E-BDA6-B8B1-2285-696BBAECB746}"/>
              </a:ext>
            </a:extLst>
          </p:cNvPr>
          <p:cNvSpPr/>
          <p:nvPr/>
        </p:nvSpPr>
        <p:spPr>
          <a:xfrm>
            <a:off x="4560138" y="1206328"/>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8" name="Text 56">
            <a:extLst>
              <a:ext uri="{FF2B5EF4-FFF2-40B4-BE49-F238E27FC236}">
                <a16:creationId xmlns:a16="http://schemas.microsoft.com/office/drawing/2014/main" id="{4BED8A1C-9B63-BC64-2669-D71937F8098B}"/>
              </a:ext>
            </a:extLst>
          </p:cNvPr>
          <p:cNvSpPr/>
          <p:nvPr/>
        </p:nvSpPr>
        <p:spPr>
          <a:xfrm>
            <a:off x="4560138" y="1206328"/>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mc:AlternateContent xmlns:mc="http://schemas.openxmlformats.org/markup-compatibility/2006" xmlns:a14="http://schemas.microsoft.com/office/drawing/2010/main">
        <mc:Choice Requires="a14">
          <p:sp>
            <p:nvSpPr>
              <p:cNvPr id="61" name="Text 8">
                <a:extLst>
                  <a:ext uri="{FF2B5EF4-FFF2-40B4-BE49-F238E27FC236}">
                    <a16:creationId xmlns:a16="http://schemas.microsoft.com/office/drawing/2014/main" id="{D4CB3E5E-F0DC-DC14-5576-9653A380F452}"/>
                  </a:ext>
                </a:extLst>
              </p:cNvPr>
              <p:cNvSpPr/>
              <p:nvPr/>
            </p:nvSpPr>
            <p:spPr>
              <a:xfrm>
                <a:off x="3268465" y="295183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1100" i="1">
                              <a:latin typeface="Cambria Math" panose="02040503050406030204" pitchFamily="18" charset="0"/>
                            </a:rPr>
                          </m:ctrlPr>
                        </m:naryPr>
                        <m:sub/>
                        <m:sup/>
                        <m:e>
                          <m:r>
                            <a:rPr lang="en-US" sz="1100">
                              <a:latin typeface="Cambria Math" panose="02040503050406030204" pitchFamily="18" charset="0"/>
                            </a:rPr>
                            <m:t> </m:t>
                          </m:r>
                          <m:d>
                            <m:dPr>
                              <m:ctrlPr>
                                <a:rPr lang="en-US" sz="1100" i="1">
                                  <a:latin typeface="Cambria Math" panose="02040503050406030204" pitchFamily="18" charset="0"/>
                                </a:rPr>
                              </m:ctrlPr>
                            </m:dPr>
                            <m:e>
                              <m:eqArr>
                                <m:eqArrPr>
                                  <m:ctrlPr>
                                    <a:rPr lang="en-US" sz="1100" i="1">
                                      <a:latin typeface="Cambria Math" panose="02040503050406030204" pitchFamily="18" charset="0"/>
                                    </a:rPr>
                                  </m:ctrlPr>
                                </m:eqArrPr>
                                <m:e>
                                  <m:r>
                                    <a:rPr lang="en-US" sz="1100" i="1">
                                      <a:latin typeface="Cambria Math" panose="02040503050406030204" pitchFamily="18" charset="0"/>
                                    </a:rPr>
                                    <m:t>𝑆𝑞𝑢𝑎𝑟𝑒𝑑</m:t>
                                  </m:r>
                                </m:e>
                                <m:e>
                                  <m:r>
                                    <a:rPr lang="en-US" sz="1100" i="1">
                                      <a:latin typeface="Cambria Math" panose="02040503050406030204" pitchFamily="18" charset="0"/>
                                    </a:rPr>
                                    <m:t>𝐷𝑒𝑣𝑖𝑎𝑡𝑖𝑜𝑛𝑠</m:t>
                                  </m:r>
                                </m:e>
                              </m:eqArr>
                            </m:e>
                          </m:d>
                        </m:e>
                      </m:nary>
                    </m:oMath>
                  </m:oMathPara>
                </a14:m>
                <a:endParaRPr lang="en-US" sz="1100" dirty="0">
                  <a:latin typeface="Cambria Math" panose="02040503050406030204" pitchFamily="18" charset="0"/>
                </a:endParaRPr>
              </a:p>
            </p:txBody>
          </p:sp>
        </mc:Choice>
        <mc:Fallback xmlns="">
          <p:sp>
            <p:nvSpPr>
              <p:cNvPr id="61" name="Text 8">
                <a:extLst>
                  <a:ext uri="{FF2B5EF4-FFF2-40B4-BE49-F238E27FC236}">
                    <a16:creationId xmlns:a16="http://schemas.microsoft.com/office/drawing/2014/main" id="{D4CB3E5E-F0DC-DC14-5576-9653A380F452}"/>
                  </a:ext>
                </a:extLst>
              </p:cNvPr>
              <p:cNvSpPr>
                <a:spLocks noRot="1" noChangeAspect="1" noMove="1" noResize="1" noEditPoints="1" noAdjustHandles="1" noChangeArrowheads="1" noChangeShapeType="1" noTextEdit="1"/>
              </p:cNvSpPr>
              <p:nvPr/>
            </p:nvSpPr>
            <p:spPr>
              <a:xfrm>
                <a:off x="3268465" y="2951830"/>
                <a:ext cx="2011680" cy="502920"/>
              </a:xfrm>
              <a:prstGeom prst="rect">
                <a:avLst/>
              </a:prstGeom>
              <a:blipFill>
                <a:blip r:embed="rId8"/>
                <a:stretch>
                  <a:fillRect l="-3939" t="-113253" b="-159036"/>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14">
                <a:extLst>
                  <a:ext uri="{FF2B5EF4-FFF2-40B4-BE49-F238E27FC236}">
                    <a16:creationId xmlns:a16="http://schemas.microsoft.com/office/drawing/2014/main" id="{AA41D5BF-054D-835F-815B-F74FEE6E3B03}"/>
                  </a:ext>
                </a:extLst>
              </p:cNvPr>
              <p:cNvSpPr/>
              <p:nvPr/>
            </p:nvSpPr>
            <p:spPr>
              <a:xfrm>
                <a:off x="7892644" y="2880360"/>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m:rPr>
                              <m:nor/>
                            </m:rPr>
                            <a:rPr lang="en-US" i="0" dirty="0"/>
                            <m:t> </m:t>
                          </m:r>
                        </m:num>
                        <m:den>
                          <m:r>
                            <a:rPr lang="en-US" i="1">
                              <a:latin typeface="Cambria Math" panose="02040503050406030204" pitchFamily="18" charset="0"/>
                            </a:rPr>
                            <m:t>𝑆𝐷</m:t>
                          </m:r>
                        </m:den>
                      </m:f>
                    </m:oMath>
                  </m:oMathPara>
                </a14:m>
                <a:endParaRPr lang="en-US" dirty="0"/>
              </a:p>
            </p:txBody>
          </p:sp>
        </mc:Choice>
        <mc:Fallback xmlns="">
          <p:sp>
            <p:nvSpPr>
              <p:cNvPr id="63" name="Text 14">
                <a:extLst>
                  <a:ext uri="{FF2B5EF4-FFF2-40B4-BE49-F238E27FC236}">
                    <a16:creationId xmlns:a16="http://schemas.microsoft.com/office/drawing/2014/main" id="{AA41D5BF-054D-835F-815B-F74FEE6E3B03}"/>
                  </a:ext>
                </a:extLst>
              </p:cNvPr>
              <p:cNvSpPr>
                <a:spLocks noRot="1" noChangeAspect="1" noMove="1" noResize="1" noEditPoints="1" noAdjustHandles="1" noChangeArrowheads="1" noChangeShapeType="1" noTextEdit="1"/>
              </p:cNvSpPr>
              <p:nvPr/>
            </p:nvSpPr>
            <p:spPr>
              <a:xfrm>
                <a:off x="7892644" y="2880360"/>
                <a:ext cx="2011680" cy="502920"/>
              </a:xfrm>
              <a:prstGeom prst="rect">
                <a:avLst/>
              </a:prstGeom>
              <a:blipFill>
                <a:blip r:embed="rId9"/>
                <a:stretch>
                  <a:fillRect t="-6098"/>
                </a:stretch>
              </a:blipFill>
              <a:ln/>
            </p:spPr>
            <p:txBody>
              <a:bodyPr/>
              <a:lstStyle/>
              <a:p>
                <a:r>
                  <a:rPr lang="en-US">
                    <a:noFill/>
                  </a:rPr>
                  <a:t> </a:t>
                </a:r>
              </a:p>
            </p:txBody>
          </p:sp>
        </mc:Fallback>
      </mc:AlternateContent>
      <p:sp>
        <p:nvSpPr>
          <p:cNvPr id="65" name="Text 16">
            <a:extLst>
              <a:ext uri="{FF2B5EF4-FFF2-40B4-BE49-F238E27FC236}">
                <a16:creationId xmlns:a16="http://schemas.microsoft.com/office/drawing/2014/main" id="{EB8079C5-58CF-883E-A382-61F49EF2D6EC}"/>
              </a:ext>
            </a:extLst>
          </p:cNvPr>
          <p:cNvSpPr/>
          <p:nvPr/>
        </p:nvSpPr>
        <p:spPr>
          <a:xfrm>
            <a:off x="9705899" y="2880360"/>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67" name="Shape 17">
            <a:extLst>
              <a:ext uri="{FF2B5EF4-FFF2-40B4-BE49-F238E27FC236}">
                <a16:creationId xmlns:a16="http://schemas.microsoft.com/office/drawing/2014/main" id="{0E76FF9C-25F6-8373-E136-C071F1256D39}"/>
              </a:ext>
            </a:extLst>
          </p:cNvPr>
          <p:cNvSpPr/>
          <p:nvPr/>
        </p:nvSpPr>
        <p:spPr>
          <a:xfrm>
            <a:off x="731520" y="4114800"/>
            <a:ext cx="0" cy="914400"/>
          </a:xfrm>
          <a:prstGeom prst="line">
            <a:avLst/>
          </a:prstGeom>
          <a:noFill/>
          <a:ln w="22225">
            <a:solidFill>
              <a:srgbClr val="2C5F7C"/>
            </a:solidFill>
            <a:prstDash val="solid"/>
          </a:ln>
        </p:spPr>
        <p:txBody>
          <a:bodyPr/>
          <a:lstStyle/>
          <a:p>
            <a:endParaRPr lang="en-US"/>
          </a:p>
        </p:txBody>
      </p:sp>
      <p:sp>
        <p:nvSpPr>
          <p:cNvPr id="69" name="Shape 18">
            <a:extLst>
              <a:ext uri="{FF2B5EF4-FFF2-40B4-BE49-F238E27FC236}">
                <a16:creationId xmlns:a16="http://schemas.microsoft.com/office/drawing/2014/main" id="{721F9552-34BF-5AD7-4E50-7A4B2C8B30BD}"/>
              </a:ext>
            </a:extLst>
          </p:cNvPr>
          <p:cNvSpPr/>
          <p:nvPr/>
        </p:nvSpPr>
        <p:spPr>
          <a:xfrm>
            <a:off x="737147" y="5029200"/>
            <a:ext cx="1234440" cy="9144"/>
          </a:xfrm>
          <a:prstGeom prst="line">
            <a:avLst/>
          </a:prstGeom>
          <a:noFill/>
          <a:ln w="22225">
            <a:solidFill>
              <a:srgbClr val="2C5F7C"/>
            </a:solidFill>
            <a:prstDash val="solid"/>
          </a:ln>
        </p:spPr>
        <p:txBody>
          <a:bodyPr/>
          <a:lstStyle/>
          <a:p>
            <a:endParaRPr lang="en-US"/>
          </a:p>
        </p:txBody>
      </p:sp>
      <p:sp>
        <p:nvSpPr>
          <p:cNvPr id="71" name="Shape 19">
            <a:extLst>
              <a:ext uri="{FF2B5EF4-FFF2-40B4-BE49-F238E27FC236}">
                <a16:creationId xmlns:a16="http://schemas.microsoft.com/office/drawing/2014/main" id="{09DE6217-6393-FB43-D5E8-957DC4C39E4E}"/>
              </a:ext>
            </a:extLst>
          </p:cNvPr>
          <p:cNvSpPr/>
          <p:nvPr/>
        </p:nvSpPr>
        <p:spPr>
          <a:xfrm>
            <a:off x="1975104" y="5029200"/>
            <a:ext cx="9144" cy="54864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73" name="Text 20">
                <a:extLst>
                  <a:ext uri="{FF2B5EF4-FFF2-40B4-BE49-F238E27FC236}">
                    <a16:creationId xmlns:a16="http://schemas.microsoft.com/office/drawing/2014/main" id="{18AAD472-102B-FE12-C00B-8EA063BB7248}"/>
                  </a:ext>
                </a:extLst>
              </p:cNvPr>
              <p:cNvSpPr/>
              <p:nvPr/>
            </p:nvSpPr>
            <p:spPr>
              <a:xfrm>
                <a:off x="411480" y="4544568"/>
                <a:ext cx="2011680" cy="41148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𝑥</m:t>
                          </m:r>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𝑥</m:t>
                              </m:r>
                            </m:sub>
                          </m:sSub>
                        </m:den>
                      </m:f>
                    </m:oMath>
                  </m:oMathPara>
                </a14:m>
                <a:endParaRPr lang="en-US" dirty="0"/>
              </a:p>
            </p:txBody>
          </p:sp>
        </mc:Choice>
        <mc:Fallback xmlns="">
          <p:sp>
            <p:nvSpPr>
              <p:cNvPr id="73" name="Text 20">
                <a:extLst>
                  <a:ext uri="{FF2B5EF4-FFF2-40B4-BE49-F238E27FC236}">
                    <a16:creationId xmlns:a16="http://schemas.microsoft.com/office/drawing/2014/main" id="{18AAD472-102B-FE12-C00B-8EA063BB7248}"/>
                  </a:ext>
                </a:extLst>
              </p:cNvPr>
              <p:cNvSpPr>
                <a:spLocks noRot="1" noChangeAspect="1" noMove="1" noResize="1" noEditPoints="1" noAdjustHandles="1" noChangeArrowheads="1" noChangeShapeType="1" noTextEdit="1"/>
              </p:cNvSpPr>
              <p:nvPr/>
            </p:nvSpPr>
            <p:spPr>
              <a:xfrm>
                <a:off x="411480" y="4544568"/>
                <a:ext cx="2011680" cy="411480"/>
              </a:xfrm>
              <a:prstGeom prst="rect">
                <a:avLst/>
              </a:prstGeom>
              <a:blipFill>
                <a:blip r:embed="rId10"/>
                <a:stretch>
                  <a:fillRect t="-31343"/>
                </a:stretch>
              </a:blipFill>
              <a:ln/>
            </p:spPr>
            <p:txBody>
              <a:bodyPr/>
              <a:lstStyle/>
              <a:p>
                <a:r>
                  <a:rPr lang="en-US">
                    <a:noFill/>
                  </a:rPr>
                  <a:t> </a:t>
                </a:r>
              </a:p>
            </p:txBody>
          </p:sp>
        </mc:Fallback>
      </mc:AlternateContent>
      <p:sp>
        <p:nvSpPr>
          <p:cNvPr id="75" name="Shape 21">
            <a:extLst>
              <a:ext uri="{FF2B5EF4-FFF2-40B4-BE49-F238E27FC236}">
                <a16:creationId xmlns:a16="http://schemas.microsoft.com/office/drawing/2014/main" id="{BBDD5143-F705-7E6B-627A-38FEAA518517}"/>
              </a:ext>
            </a:extLst>
          </p:cNvPr>
          <p:cNvSpPr/>
          <p:nvPr/>
        </p:nvSpPr>
        <p:spPr>
          <a:xfrm>
            <a:off x="2889504" y="5907024"/>
            <a:ext cx="320040" cy="9144"/>
          </a:xfrm>
          <a:prstGeom prst="line">
            <a:avLst/>
          </a:prstGeom>
          <a:noFill/>
          <a:ln w="22225">
            <a:solidFill>
              <a:srgbClr val="2C5F7C"/>
            </a:solidFill>
            <a:prstDash val="solid"/>
            <a:tailEnd type="triangle"/>
          </a:ln>
        </p:spPr>
        <p:txBody>
          <a:bodyPr/>
          <a:lstStyle/>
          <a:p>
            <a:endParaRPr lang="en-US"/>
          </a:p>
        </p:txBody>
      </p:sp>
      <p:sp>
        <p:nvSpPr>
          <p:cNvPr id="77" name="Shape 39">
            <a:extLst>
              <a:ext uri="{FF2B5EF4-FFF2-40B4-BE49-F238E27FC236}">
                <a16:creationId xmlns:a16="http://schemas.microsoft.com/office/drawing/2014/main" id="{51556BA2-CF4C-B089-C105-A011D5CFC8EA}"/>
              </a:ext>
            </a:extLst>
          </p:cNvPr>
          <p:cNvSpPr/>
          <p:nvPr/>
        </p:nvSpPr>
        <p:spPr>
          <a:xfrm>
            <a:off x="1060704" y="5577840"/>
            <a:ext cx="1828800" cy="658368"/>
          </a:xfrm>
          <a:prstGeom prst="roundRect">
            <a:avLst>
              <a:gd name="adj" fmla="val 12500"/>
            </a:avLst>
          </a:prstGeom>
          <a:solidFill>
            <a:srgbClr val="EAF2F7"/>
          </a:solidFill>
          <a:ln w="25400">
            <a:solidFill>
              <a:srgbClr val="2C5F7C"/>
            </a:solidFill>
            <a:prstDash val="solid"/>
          </a:ln>
          <a:effectLst>
            <a:outerShdw blurRad="76200" dist="25400" dir="5400000" algn="bl" rotWithShape="0">
              <a:srgbClr val="000000">
                <a:alpha val="25000"/>
              </a:srgbClr>
            </a:outerShdw>
          </a:effectLst>
        </p:spPr>
        <p:txBody>
          <a:bodyPr/>
          <a:lstStyle/>
          <a:p>
            <a:endParaRPr lang="en-US"/>
          </a:p>
        </p:txBody>
      </p:sp>
      <p:sp>
        <p:nvSpPr>
          <p:cNvPr id="79" name="Text 40">
            <a:extLst>
              <a:ext uri="{FF2B5EF4-FFF2-40B4-BE49-F238E27FC236}">
                <a16:creationId xmlns:a16="http://schemas.microsoft.com/office/drawing/2014/main" id="{1F5F3316-3BF0-8968-1BD9-EF142DC9A9BF}"/>
              </a:ext>
            </a:extLst>
          </p:cNvPr>
          <p:cNvSpPr/>
          <p:nvPr/>
        </p:nvSpPr>
        <p:spPr>
          <a:xfrm>
            <a:off x="1060704" y="5715144"/>
            <a:ext cx="1828800" cy="383759"/>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solidFill>
                <a:srgbClr val="1B3A4B"/>
              </a:solidFill>
            </a:endParaRPr>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(Population)</a:t>
            </a:r>
            <a:endParaRPr lang="en-US" sz="1050" dirty="0">
              <a:solidFill>
                <a:srgbClr val="1B3A4B"/>
              </a:solidFill>
            </a:endParaRPr>
          </a:p>
        </p:txBody>
      </p:sp>
      <p:sp>
        <p:nvSpPr>
          <p:cNvPr id="81" name="Shape 41">
            <a:extLst>
              <a:ext uri="{FF2B5EF4-FFF2-40B4-BE49-F238E27FC236}">
                <a16:creationId xmlns:a16="http://schemas.microsoft.com/office/drawing/2014/main" id="{F8AB6533-6BC5-831B-64D8-E6F27A982254}"/>
              </a:ext>
            </a:extLst>
          </p:cNvPr>
          <p:cNvSpPr/>
          <p:nvPr/>
        </p:nvSpPr>
        <p:spPr>
          <a:xfrm>
            <a:off x="3209544" y="5577840"/>
            <a:ext cx="8229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83" name="Text 42">
            <a:extLst>
              <a:ext uri="{FF2B5EF4-FFF2-40B4-BE49-F238E27FC236}">
                <a16:creationId xmlns:a16="http://schemas.microsoft.com/office/drawing/2014/main" id="{B8C062EF-1893-D82A-51CB-77098C6DC24D}"/>
              </a:ext>
            </a:extLst>
          </p:cNvPr>
          <p:cNvSpPr/>
          <p:nvPr/>
        </p:nvSpPr>
        <p:spPr>
          <a:xfrm>
            <a:off x="3209544" y="5577840"/>
            <a:ext cx="8229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85" name="Text 16">
            <a:extLst>
              <a:ext uri="{FF2B5EF4-FFF2-40B4-BE49-F238E27FC236}">
                <a16:creationId xmlns:a16="http://schemas.microsoft.com/office/drawing/2014/main" id="{79B0A231-9AA7-02EF-530A-4F4ACAC807AE}"/>
              </a:ext>
            </a:extLst>
          </p:cNvPr>
          <p:cNvSpPr/>
          <p:nvPr/>
        </p:nvSpPr>
        <p:spPr>
          <a:xfrm>
            <a:off x="2072030" y="4988052"/>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87" name="Text 16">
            <a:extLst>
              <a:ext uri="{FF2B5EF4-FFF2-40B4-BE49-F238E27FC236}">
                <a16:creationId xmlns:a16="http://schemas.microsoft.com/office/drawing/2014/main" id="{71178E4D-05EC-79FA-4A76-0CEC4E29C553}"/>
              </a:ext>
            </a:extLst>
          </p:cNvPr>
          <p:cNvSpPr/>
          <p:nvPr/>
        </p:nvSpPr>
        <p:spPr>
          <a:xfrm>
            <a:off x="3371418" y="722376"/>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93" name="Shape 55">
            <a:extLst>
              <a:ext uri="{FF2B5EF4-FFF2-40B4-BE49-F238E27FC236}">
                <a16:creationId xmlns:a16="http://schemas.microsoft.com/office/drawing/2014/main" id="{083AB815-E183-B9CD-115C-D20B1AA55992}"/>
              </a:ext>
            </a:extLst>
          </p:cNvPr>
          <p:cNvSpPr/>
          <p:nvPr/>
        </p:nvSpPr>
        <p:spPr>
          <a:xfrm>
            <a:off x="9058046" y="3465576"/>
            <a:ext cx="1508760" cy="658368"/>
          </a:xfrm>
          <a:prstGeom prst="roundRect">
            <a:avLst>
              <a:gd name="adj" fmla="val 12500"/>
            </a:avLst>
          </a:prstGeom>
          <a:solidFill>
            <a:srgbClr val="EAF2F7"/>
          </a:solidFill>
          <a:ln w="28575">
            <a:solidFill>
              <a:srgbClr val="2C5F7C"/>
            </a:solidFill>
            <a:prstDash val="solid"/>
          </a:ln>
          <a:effectLst>
            <a:outerShdw blurRad="76200" dist="25400" dir="5400000" algn="ctr" rotWithShape="0">
              <a:srgbClr val="000000">
                <a:alpha val="25000"/>
              </a:srgbClr>
            </a:outerShdw>
          </a:effectLst>
        </p:spPr>
        <p:txBody>
          <a:bodyPr/>
          <a:lstStyle/>
          <a:p>
            <a:endParaRPr lang="en-US"/>
          </a:p>
        </p:txBody>
      </p:sp>
      <p:sp>
        <p:nvSpPr>
          <p:cNvPr id="95" name="Text 56">
            <a:extLst>
              <a:ext uri="{FF2B5EF4-FFF2-40B4-BE49-F238E27FC236}">
                <a16:creationId xmlns:a16="http://schemas.microsoft.com/office/drawing/2014/main" id="{724250F9-8DFF-EDEC-AA46-848D6FAC0959}"/>
              </a:ext>
            </a:extLst>
          </p:cNvPr>
          <p:cNvSpPr/>
          <p:nvPr/>
        </p:nvSpPr>
        <p:spPr>
          <a:xfrm>
            <a:off x="9050731" y="3456432"/>
            <a:ext cx="15087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(Sample)</a:t>
            </a:r>
            <a:endParaRPr lang="en-US" sz="1050" dirty="0"/>
          </a:p>
        </p:txBody>
      </p:sp>
      <mc:AlternateContent xmlns:mc="http://schemas.openxmlformats.org/markup-compatibility/2006" xmlns:a14="http://schemas.microsoft.com/office/drawing/2010/main">
        <mc:Choice Requires="a14">
          <p:sp>
            <p:nvSpPr>
              <p:cNvPr id="97" name="Text 6">
                <a:extLst>
                  <a:ext uri="{FF2B5EF4-FFF2-40B4-BE49-F238E27FC236}">
                    <a16:creationId xmlns:a16="http://schemas.microsoft.com/office/drawing/2014/main" id="{D0FFC792-294C-C2FE-7FFA-65F37DA7FEE1}"/>
                  </a:ext>
                </a:extLst>
              </p:cNvPr>
              <p:cNvSpPr/>
              <p:nvPr/>
            </p:nvSpPr>
            <p:spPr>
              <a:xfrm>
                <a:off x="1645463" y="2871216"/>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a:rPr lang="en-US" sz="1600" b="0" i="1" smtClean="0">
                              <a:latin typeface="Cambria Math" panose="02040503050406030204" pitchFamily="18" charset="0"/>
                            </a:rPr>
                            <m:t>𝑑𝑒𝑣𝑖𝑎𝑡𝑖𝑜𝑛𝑠</m:t>
                          </m:r>
                        </m:e>
                        <m:sup>
                          <m:r>
                            <a:rPr lang="en-US" sz="1600" i="1">
                              <a:latin typeface="Cambria Math" panose="02040503050406030204" pitchFamily="18" charset="0"/>
                            </a:rPr>
                            <m:t>2</m:t>
                          </m:r>
                        </m:sup>
                      </m:sSup>
                    </m:oMath>
                  </m:oMathPara>
                </a14:m>
                <a:endParaRPr lang="en-US" dirty="0"/>
              </a:p>
            </p:txBody>
          </p:sp>
        </mc:Choice>
        <mc:Fallback xmlns="">
          <p:sp>
            <p:nvSpPr>
              <p:cNvPr id="97" name="Text 6">
                <a:extLst>
                  <a:ext uri="{FF2B5EF4-FFF2-40B4-BE49-F238E27FC236}">
                    <a16:creationId xmlns:a16="http://schemas.microsoft.com/office/drawing/2014/main" id="{D0FFC792-294C-C2FE-7FFA-65F37DA7FEE1}"/>
                  </a:ext>
                </a:extLst>
              </p:cNvPr>
              <p:cNvSpPr>
                <a:spLocks noRot="1" noChangeAspect="1" noMove="1" noResize="1" noEditPoints="1" noAdjustHandles="1" noChangeArrowheads="1" noChangeShapeType="1" noTextEdit="1"/>
              </p:cNvSpPr>
              <p:nvPr/>
            </p:nvSpPr>
            <p:spPr>
              <a:xfrm>
                <a:off x="1645463" y="2871216"/>
                <a:ext cx="2011680" cy="502920"/>
              </a:xfrm>
              <a:prstGeom prst="rect">
                <a:avLst/>
              </a:prstGeom>
              <a:blipFill>
                <a:blip r:embed="rId11"/>
                <a:stretch>
                  <a:fillRect/>
                </a:stretch>
              </a:blipFill>
              <a:ln/>
            </p:spPr>
            <p:txBody>
              <a:bodyPr/>
              <a:lstStyle/>
              <a:p>
                <a:r>
                  <a:rPr lang="en-US">
                    <a:noFill/>
                  </a:rPr>
                  <a:t> </a:t>
                </a:r>
              </a:p>
            </p:txBody>
          </p:sp>
        </mc:Fallback>
      </mc:AlternateContent>
    </p:spTree>
    <p:extLst>
      <p:ext uri="{BB962C8B-B14F-4D97-AF65-F5344CB8AC3E}">
        <p14:creationId xmlns:p14="http://schemas.microsoft.com/office/powerpoint/2010/main" val="109046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53" grpId="0" animBg="1"/>
      <p:bldP spid="54" grpId="0" animBg="1"/>
      <p:bldP spid="55" grpId="0" animBg="1"/>
      <p:bldP spid="56" grpId="0" animBg="1"/>
      <p:bldP spid="57" grpId="0" animBg="1"/>
      <p:bldP spid="58" grpId="0" animBg="1"/>
      <p:bldP spid="8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80143-BDB3-CC15-BF70-2ED5E688A80E}"/>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8276581F-21D8-CB0C-C976-5F2D7BCB2EC7}"/>
              </a:ext>
            </a:extLst>
          </p:cNvPr>
          <p:cNvSpPr/>
          <p:nvPr/>
        </p:nvSpPr>
        <p:spPr>
          <a:xfrm>
            <a:off x="105156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6" name="Text 4">
                <a:extLst>
                  <a:ext uri="{FF2B5EF4-FFF2-40B4-BE49-F238E27FC236}">
                    <a16:creationId xmlns:a16="http://schemas.microsoft.com/office/drawing/2014/main" id="{32B23AA0-4D8B-757A-4A76-60F7CA0B18F9}"/>
                  </a:ext>
                </a:extLst>
              </p:cNvPr>
              <p:cNvSpPr/>
              <p:nvPr/>
            </p:nvSpPr>
            <p:spPr>
              <a:xfrm>
                <a:off x="19796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6" name="Text 4">
                <a:extLst>
                  <a:ext uri="{FF2B5EF4-FFF2-40B4-BE49-F238E27FC236}">
                    <a16:creationId xmlns:a16="http://schemas.microsoft.com/office/drawing/2014/main" id="{32B23AA0-4D8B-757A-4A76-60F7CA0B18F9}"/>
                  </a:ext>
                </a:extLst>
              </p:cNvPr>
              <p:cNvSpPr>
                <a:spLocks noRot="1" noChangeAspect="1" noMove="1" noResize="1" noEditPoints="1" noAdjustHandles="1" noChangeArrowheads="1" noChangeShapeType="1" noTextEdit="1"/>
              </p:cNvSpPr>
              <p:nvPr/>
            </p:nvSpPr>
            <p:spPr>
              <a:xfrm>
                <a:off x="197968" y="2880360"/>
                <a:ext cx="2011680" cy="502920"/>
              </a:xfrm>
              <a:prstGeom prst="rect">
                <a:avLst/>
              </a:prstGeom>
              <a:blipFill>
                <a:blip r:embed="rId3"/>
                <a:stretch>
                  <a:fillRect/>
                </a:stretch>
              </a:blipFill>
              <a:ln/>
            </p:spPr>
            <p:txBody>
              <a:bodyPr/>
              <a:lstStyle/>
              <a:p>
                <a:r>
                  <a:rPr lang="en-US">
                    <a:noFill/>
                  </a:rPr>
                  <a:t> </a:t>
                </a:r>
              </a:p>
            </p:txBody>
          </p:sp>
        </mc:Fallback>
      </mc:AlternateContent>
      <p:sp>
        <p:nvSpPr>
          <p:cNvPr id="7" name="Shape 5">
            <a:extLst>
              <a:ext uri="{FF2B5EF4-FFF2-40B4-BE49-F238E27FC236}">
                <a16:creationId xmlns:a16="http://schemas.microsoft.com/office/drawing/2014/main" id="{6F511063-BDBB-9B4C-DC56-08760DA9C84E}"/>
              </a:ext>
            </a:extLst>
          </p:cNvPr>
          <p:cNvSpPr/>
          <p:nvPr/>
        </p:nvSpPr>
        <p:spPr>
          <a:xfrm>
            <a:off x="2499055" y="3785616"/>
            <a:ext cx="304495" cy="9144"/>
          </a:xfrm>
          <a:prstGeom prst="line">
            <a:avLst/>
          </a:prstGeom>
          <a:noFill/>
          <a:ln w="22225">
            <a:solidFill>
              <a:srgbClr val="2C5F7C"/>
            </a:solidFill>
            <a:prstDash val="solid"/>
            <a:tailEnd type="triangle"/>
          </a:ln>
        </p:spPr>
        <p:txBody>
          <a:bodyPr/>
          <a:lstStyle/>
          <a:p>
            <a:endParaRPr lang="en-US"/>
          </a:p>
        </p:txBody>
      </p:sp>
      <p:sp>
        <p:nvSpPr>
          <p:cNvPr id="9" name="Shape 7">
            <a:extLst>
              <a:ext uri="{FF2B5EF4-FFF2-40B4-BE49-F238E27FC236}">
                <a16:creationId xmlns:a16="http://schemas.microsoft.com/office/drawing/2014/main" id="{EB514DB2-5453-1A61-B2BD-2B26BD2AB9B9}"/>
              </a:ext>
            </a:extLst>
          </p:cNvPr>
          <p:cNvSpPr/>
          <p:nvPr/>
        </p:nvSpPr>
        <p:spPr>
          <a:xfrm>
            <a:off x="4083710" y="3785616"/>
            <a:ext cx="304495" cy="9144"/>
          </a:xfrm>
          <a:prstGeom prst="line">
            <a:avLst/>
          </a:prstGeom>
          <a:noFill/>
          <a:ln w="22225">
            <a:solidFill>
              <a:srgbClr val="2C5F7C"/>
            </a:solidFill>
            <a:prstDash val="solid"/>
            <a:tailEnd type="triangle"/>
          </a:ln>
        </p:spPr>
        <p:txBody>
          <a:bodyPr/>
          <a:lstStyle/>
          <a:p>
            <a:endParaRPr lang="en-US"/>
          </a:p>
        </p:txBody>
      </p:sp>
      <p:sp>
        <p:nvSpPr>
          <p:cNvPr id="11" name="Shape 9">
            <a:extLst>
              <a:ext uri="{FF2B5EF4-FFF2-40B4-BE49-F238E27FC236}">
                <a16:creationId xmlns:a16="http://schemas.microsoft.com/office/drawing/2014/main" id="{855C93B8-E743-2BBF-253F-7EC437135A21}"/>
              </a:ext>
            </a:extLst>
          </p:cNvPr>
          <p:cNvSpPr/>
          <p:nvPr/>
        </p:nvSpPr>
        <p:spPr>
          <a:xfrm>
            <a:off x="575980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A0589974-210F-9047-4BE0-68EC134D9D57}"/>
                  </a:ext>
                </a:extLst>
              </p:cNvPr>
              <p:cNvSpPr/>
              <p:nvPr/>
            </p:nvSpPr>
            <p:spPr>
              <a:xfrm>
                <a:off x="4906213"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𝑆𝑆</m:t>
                          </m:r>
                        </m:num>
                        <m:den>
                          <m:r>
                            <a:rPr lang="en-US" i="1">
                              <a:latin typeface="Cambria Math" panose="02040503050406030204" pitchFamily="18" charset="0"/>
                            </a:rPr>
                            <m:t>𝑛</m:t>
                          </m:r>
                        </m:den>
                      </m:f>
                    </m:oMath>
                  </m:oMathPara>
                </a14:m>
                <a:endParaRPr lang="en-US" dirty="0"/>
              </a:p>
            </p:txBody>
          </p:sp>
        </mc:Choice>
        <mc:Fallback xmlns="">
          <p:sp>
            <p:nvSpPr>
              <p:cNvPr id="12" name="Text 10">
                <a:extLst>
                  <a:ext uri="{FF2B5EF4-FFF2-40B4-BE49-F238E27FC236}">
                    <a16:creationId xmlns:a16="http://schemas.microsoft.com/office/drawing/2014/main" id="{A0589974-210F-9047-4BE0-68EC134D9D57}"/>
                  </a:ext>
                </a:extLst>
              </p:cNvPr>
              <p:cNvSpPr>
                <a:spLocks noRot="1" noChangeAspect="1" noMove="1" noResize="1" noEditPoints="1" noAdjustHandles="1" noChangeArrowheads="1" noChangeShapeType="1" noTextEdit="1"/>
              </p:cNvSpPr>
              <p:nvPr/>
            </p:nvSpPr>
            <p:spPr>
              <a:xfrm>
                <a:off x="4906213" y="2880360"/>
                <a:ext cx="2011680" cy="502920"/>
              </a:xfrm>
              <a:prstGeom prst="rect">
                <a:avLst/>
              </a:prstGeom>
              <a:blipFill>
                <a:blip r:embed="rId4"/>
                <a:stretch>
                  <a:fillRect t="-7317"/>
                </a:stretch>
              </a:blipFill>
              <a:ln/>
            </p:spPr>
            <p:txBody>
              <a:bodyPr/>
              <a:lstStyle/>
              <a:p>
                <a:r>
                  <a:rPr lang="en-US">
                    <a:noFill/>
                  </a:rPr>
                  <a:t> </a:t>
                </a:r>
              </a:p>
            </p:txBody>
          </p:sp>
        </mc:Fallback>
      </mc:AlternateContent>
      <p:sp>
        <p:nvSpPr>
          <p:cNvPr id="13" name="Shape 11">
            <a:extLst>
              <a:ext uri="{FF2B5EF4-FFF2-40B4-BE49-F238E27FC236}">
                <a16:creationId xmlns:a16="http://schemas.microsoft.com/office/drawing/2014/main" id="{29209394-075A-36DD-ADA2-D531A6435392}"/>
              </a:ext>
            </a:extLst>
          </p:cNvPr>
          <p:cNvSpPr/>
          <p:nvPr/>
        </p:nvSpPr>
        <p:spPr>
          <a:xfrm>
            <a:off x="7253021"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4" name="Text 12">
                <a:extLst>
                  <a:ext uri="{FF2B5EF4-FFF2-40B4-BE49-F238E27FC236}">
                    <a16:creationId xmlns:a16="http://schemas.microsoft.com/office/drawing/2014/main" id="{0A16205E-5BA1-76F4-3EAC-C48A3A8609F5}"/>
                  </a:ext>
                </a:extLst>
              </p:cNvPr>
              <p:cNvSpPr/>
              <p:nvPr/>
            </p:nvSpPr>
            <p:spPr>
              <a:xfrm>
                <a:off x="639942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𝑆𝐷</m:t>
                              </m:r>
                            </m:e>
                            <m:sup>
                              <m:r>
                                <a:rPr lang="en-US" i="1">
                                  <a:latin typeface="Cambria Math" panose="02040503050406030204" pitchFamily="18" charset="0"/>
                                </a:rPr>
                                <m:t>2</m:t>
                              </m:r>
                            </m:sup>
                          </m:sSup>
                        </m:e>
                      </m:rad>
                    </m:oMath>
                  </m:oMathPara>
                </a14:m>
                <a:endParaRPr lang="en-US" dirty="0"/>
              </a:p>
            </p:txBody>
          </p:sp>
        </mc:Choice>
        <mc:Fallback xmlns="">
          <p:sp>
            <p:nvSpPr>
              <p:cNvPr id="14" name="Text 12">
                <a:extLst>
                  <a:ext uri="{FF2B5EF4-FFF2-40B4-BE49-F238E27FC236}">
                    <a16:creationId xmlns:a16="http://schemas.microsoft.com/office/drawing/2014/main" id="{0A16205E-5BA1-76F4-3EAC-C48A3A8609F5}"/>
                  </a:ext>
                </a:extLst>
              </p:cNvPr>
              <p:cNvSpPr>
                <a:spLocks noRot="1" noChangeAspect="1" noMove="1" noResize="1" noEditPoints="1" noAdjustHandles="1" noChangeArrowheads="1" noChangeShapeType="1" noTextEdit="1"/>
              </p:cNvSpPr>
              <p:nvPr/>
            </p:nvSpPr>
            <p:spPr>
              <a:xfrm>
                <a:off x="6399428" y="2880360"/>
                <a:ext cx="2011680" cy="502920"/>
              </a:xfrm>
              <a:prstGeom prst="rect">
                <a:avLst/>
              </a:prstGeom>
              <a:blipFill>
                <a:blip r:embed="rId5"/>
                <a:stretch>
                  <a:fillRect/>
                </a:stretch>
              </a:blipFill>
              <a:ln/>
            </p:spPr>
            <p:txBody>
              <a:bodyPr/>
              <a:lstStyle/>
              <a:p>
                <a:r>
                  <a:rPr lang="en-US">
                    <a:noFill/>
                  </a:rPr>
                  <a:t> </a:t>
                </a:r>
              </a:p>
            </p:txBody>
          </p:sp>
        </mc:Fallback>
      </mc:AlternateContent>
      <p:sp>
        <p:nvSpPr>
          <p:cNvPr id="15" name="Shape 13">
            <a:extLst>
              <a:ext uri="{FF2B5EF4-FFF2-40B4-BE49-F238E27FC236}">
                <a16:creationId xmlns:a16="http://schemas.microsoft.com/office/drawing/2014/main" id="{5DCA5600-2A35-E850-DC98-4E86247A6A28}"/>
              </a:ext>
            </a:extLst>
          </p:cNvPr>
          <p:cNvSpPr/>
          <p:nvPr/>
        </p:nvSpPr>
        <p:spPr>
          <a:xfrm>
            <a:off x="8746236" y="3785616"/>
            <a:ext cx="304495" cy="9144"/>
          </a:xfrm>
          <a:prstGeom prst="line">
            <a:avLst/>
          </a:prstGeom>
          <a:noFill/>
          <a:ln w="22225">
            <a:solidFill>
              <a:srgbClr val="2C5F7C"/>
            </a:solidFill>
            <a:prstDash val="solid"/>
            <a:tailEnd type="triangle"/>
          </a:ln>
        </p:spPr>
        <p:txBody>
          <a:bodyPr/>
          <a:lstStyle/>
          <a:p>
            <a:endParaRPr lang="en-US"/>
          </a:p>
        </p:txBody>
      </p:sp>
      <p:sp>
        <p:nvSpPr>
          <p:cNvPr id="17" name="Shape 15">
            <a:extLst>
              <a:ext uri="{FF2B5EF4-FFF2-40B4-BE49-F238E27FC236}">
                <a16:creationId xmlns:a16="http://schemas.microsoft.com/office/drawing/2014/main" id="{F0EB8F82-3C7B-07B8-B808-2C3FD2FE5FF8}"/>
              </a:ext>
            </a:extLst>
          </p:cNvPr>
          <p:cNvSpPr/>
          <p:nvPr/>
        </p:nvSpPr>
        <p:spPr>
          <a:xfrm>
            <a:off x="10559491" y="3785616"/>
            <a:ext cx="304495" cy="9144"/>
          </a:xfrm>
          <a:prstGeom prst="line">
            <a:avLst/>
          </a:prstGeom>
          <a:noFill/>
          <a:ln w="22225">
            <a:solidFill>
              <a:srgbClr val="2C5F7C"/>
            </a:solidFill>
            <a:prstDash val="solid"/>
            <a:tailEnd type="triangle"/>
          </a:ln>
        </p:spPr>
        <p:txBody>
          <a:bodyPr/>
          <a:lstStyle/>
          <a:p>
            <a:endParaRPr lang="en-US"/>
          </a:p>
        </p:txBody>
      </p:sp>
      <p:sp>
        <p:nvSpPr>
          <p:cNvPr id="25" name="Shape 23">
            <a:extLst>
              <a:ext uri="{FF2B5EF4-FFF2-40B4-BE49-F238E27FC236}">
                <a16:creationId xmlns:a16="http://schemas.microsoft.com/office/drawing/2014/main" id="{32A771F5-BD7D-B8FF-388A-2A1C7EA28983}"/>
              </a:ext>
            </a:extLst>
          </p:cNvPr>
          <p:cNvSpPr/>
          <p:nvPr/>
        </p:nvSpPr>
        <p:spPr>
          <a:xfrm flipV="1">
            <a:off x="731520" y="2788920"/>
            <a:ext cx="9144" cy="667512"/>
          </a:xfrm>
          <a:prstGeom prst="line">
            <a:avLst/>
          </a:prstGeom>
          <a:noFill/>
          <a:ln w="22225">
            <a:solidFill>
              <a:srgbClr val="2C5F7C"/>
            </a:solidFill>
            <a:prstDash val="solid"/>
          </a:ln>
        </p:spPr>
        <p:txBody>
          <a:bodyPr/>
          <a:lstStyle/>
          <a:p>
            <a:endParaRPr lang="en-US"/>
          </a:p>
        </p:txBody>
      </p:sp>
      <p:sp>
        <p:nvSpPr>
          <p:cNvPr id="26" name="Shape 24">
            <a:extLst>
              <a:ext uri="{FF2B5EF4-FFF2-40B4-BE49-F238E27FC236}">
                <a16:creationId xmlns:a16="http://schemas.microsoft.com/office/drawing/2014/main" id="{6F5EE559-5B1D-428D-5B97-151645733681}"/>
              </a:ext>
            </a:extLst>
          </p:cNvPr>
          <p:cNvSpPr/>
          <p:nvPr/>
        </p:nvSpPr>
        <p:spPr>
          <a:xfrm>
            <a:off x="731520" y="2788920"/>
            <a:ext cx="960120" cy="9144"/>
          </a:xfrm>
          <a:prstGeom prst="line">
            <a:avLst/>
          </a:prstGeom>
          <a:noFill/>
          <a:ln w="22225">
            <a:solidFill>
              <a:srgbClr val="2C5F7C"/>
            </a:solidFill>
            <a:prstDash val="solid"/>
          </a:ln>
        </p:spPr>
        <p:txBody>
          <a:bodyPr/>
          <a:lstStyle/>
          <a:p>
            <a:endParaRPr lang="en-US"/>
          </a:p>
        </p:txBody>
      </p:sp>
      <p:sp>
        <p:nvSpPr>
          <p:cNvPr id="27" name="Shape 25">
            <a:extLst>
              <a:ext uri="{FF2B5EF4-FFF2-40B4-BE49-F238E27FC236}">
                <a16:creationId xmlns:a16="http://schemas.microsoft.com/office/drawing/2014/main" id="{C6E74611-BCA1-52A6-31DE-CEC7CE091D10}"/>
              </a:ext>
            </a:extLst>
          </p:cNvPr>
          <p:cNvSpPr/>
          <p:nvPr/>
        </p:nvSpPr>
        <p:spPr>
          <a:xfrm flipV="1">
            <a:off x="1691640" y="1874520"/>
            <a:ext cx="9144" cy="91440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28" name="Text 26">
                <a:extLst>
                  <a:ext uri="{FF2B5EF4-FFF2-40B4-BE49-F238E27FC236}">
                    <a16:creationId xmlns:a16="http://schemas.microsoft.com/office/drawing/2014/main" id="{236801D4-0450-7FB4-24B1-1F45E1DB1129}"/>
                  </a:ext>
                </a:extLst>
              </p:cNvPr>
              <p:cNvSpPr/>
              <p:nvPr/>
            </p:nvSpPr>
            <p:spPr>
              <a:xfrm>
                <a:off x="205740" y="2288286"/>
                <a:ext cx="2011680" cy="384048"/>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m:oMathPara>
                </a14:m>
                <a:endParaRPr lang="en-US" dirty="0"/>
              </a:p>
            </p:txBody>
          </p:sp>
        </mc:Choice>
        <mc:Fallback xmlns="">
          <p:sp>
            <p:nvSpPr>
              <p:cNvPr id="28" name="Text 26">
                <a:extLst>
                  <a:ext uri="{FF2B5EF4-FFF2-40B4-BE49-F238E27FC236}">
                    <a16:creationId xmlns:a16="http://schemas.microsoft.com/office/drawing/2014/main" id="{236801D4-0450-7FB4-24B1-1F45E1DB1129}"/>
                  </a:ext>
                </a:extLst>
              </p:cNvPr>
              <p:cNvSpPr>
                <a:spLocks noRot="1" noChangeAspect="1" noMove="1" noResize="1" noEditPoints="1" noAdjustHandles="1" noChangeArrowheads="1" noChangeShapeType="1" noTextEdit="1"/>
              </p:cNvSpPr>
              <p:nvPr/>
            </p:nvSpPr>
            <p:spPr>
              <a:xfrm>
                <a:off x="205740" y="2288286"/>
                <a:ext cx="2011680" cy="384048"/>
              </a:xfrm>
              <a:prstGeom prst="rect">
                <a:avLst/>
              </a:prstGeom>
              <a:blipFill>
                <a:blip r:embed="rId6"/>
                <a:stretch>
                  <a:fillRect t="-41270"/>
                </a:stretch>
              </a:blipFill>
              <a:ln/>
            </p:spPr>
            <p:txBody>
              <a:bodyPr/>
              <a:lstStyle/>
              <a:p>
                <a:r>
                  <a:rPr lang="en-US">
                    <a:noFill/>
                  </a:rPr>
                  <a:t> </a:t>
                </a:r>
              </a:p>
            </p:txBody>
          </p:sp>
        </mc:Fallback>
      </mc:AlternateContent>
      <p:sp>
        <p:nvSpPr>
          <p:cNvPr id="29" name="Shape 27">
            <a:extLst>
              <a:ext uri="{FF2B5EF4-FFF2-40B4-BE49-F238E27FC236}">
                <a16:creationId xmlns:a16="http://schemas.microsoft.com/office/drawing/2014/main" id="{809E4308-AF15-799F-BF41-5BF68D73DA21}"/>
              </a:ext>
            </a:extLst>
          </p:cNvPr>
          <p:cNvSpPr/>
          <p:nvPr/>
        </p:nvSpPr>
        <p:spPr>
          <a:xfrm>
            <a:off x="2365578" y="1535512"/>
            <a:ext cx="365760"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30" name="Text 28">
                <a:extLst>
                  <a:ext uri="{FF2B5EF4-FFF2-40B4-BE49-F238E27FC236}">
                    <a16:creationId xmlns:a16="http://schemas.microsoft.com/office/drawing/2014/main" id="{FDAF793A-E9FD-BFB3-E5B3-966F8CF3A92D}"/>
                  </a:ext>
                </a:extLst>
              </p:cNvPr>
              <p:cNvSpPr/>
              <p:nvPr/>
            </p:nvSpPr>
            <p:spPr>
              <a:xfrm>
                <a:off x="1598224" y="738302"/>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den>
                      </m:f>
                    </m:oMath>
                  </m:oMathPara>
                </a14:m>
                <a:endParaRPr lang="en-US" dirty="0"/>
              </a:p>
            </p:txBody>
          </p:sp>
        </mc:Choice>
        <mc:Fallback xmlns="">
          <p:sp>
            <p:nvSpPr>
              <p:cNvPr id="30" name="Text 28">
                <a:extLst>
                  <a:ext uri="{FF2B5EF4-FFF2-40B4-BE49-F238E27FC236}">
                    <a16:creationId xmlns:a16="http://schemas.microsoft.com/office/drawing/2014/main" id="{FDAF793A-E9FD-BFB3-E5B3-966F8CF3A92D}"/>
                  </a:ext>
                </a:extLst>
              </p:cNvPr>
              <p:cNvSpPr>
                <a:spLocks noRot="1" noChangeAspect="1" noMove="1" noResize="1" noEditPoints="1" noAdjustHandles="1" noChangeArrowheads="1" noChangeShapeType="1" noTextEdit="1"/>
              </p:cNvSpPr>
              <p:nvPr/>
            </p:nvSpPr>
            <p:spPr>
              <a:xfrm>
                <a:off x="1598224" y="738302"/>
                <a:ext cx="2011680" cy="502920"/>
              </a:xfrm>
              <a:prstGeom prst="rect">
                <a:avLst/>
              </a:prstGeom>
              <a:blipFill>
                <a:blip r:embed="rId7"/>
                <a:stretch>
                  <a:fillRect t="-14458"/>
                </a:stretch>
              </a:blipFill>
              <a:ln/>
            </p:spPr>
            <p:txBody>
              <a:bodyPr/>
              <a:lstStyle/>
              <a:p>
                <a:r>
                  <a:rPr lang="en-US">
                    <a:noFill/>
                  </a:rPr>
                  <a:t> </a:t>
                </a:r>
              </a:p>
            </p:txBody>
          </p:sp>
        </mc:Fallback>
      </mc:AlternateContent>
      <p:sp>
        <p:nvSpPr>
          <p:cNvPr id="31" name="Shape 29">
            <a:extLst>
              <a:ext uri="{FF2B5EF4-FFF2-40B4-BE49-F238E27FC236}">
                <a16:creationId xmlns:a16="http://schemas.microsoft.com/office/drawing/2014/main" id="{521BE93A-9F3F-E8DB-5494-5B0D6EA785B3}"/>
              </a:ext>
            </a:extLst>
          </p:cNvPr>
          <p:cNvSpPr/>
          <p:nvPr/>
        </p:nvSpPr>
        <p:spPr>
          <a:xfrm>
            <a:off x="4194378" y="1535512"/>
            <a:ext cx="365760" cy="9144"/>
          </a:xfrm>
          <a:prstGeom prst="line">
            <a:avLst/>
          </a:prstGeom>
          <a:noFill/>
          <a:ln w="22225">
            <a:solidFill>
              <a:srgbClr val="2C5F7C"/>
            </a:solidFill>
            <a:prstDash val="solid"/>
            <a:tailEnd type="triangle"/>
          </a:ln>
        </p:spPr>
        <p:txBody>
          <a:bodyPr/>
          <a:lstStyle/>
          <a:p>
            <a:endParaRPr lang="en-US"/>
          </a:p>
        </p:txBody>
      </p:sp>
      <p:sp>
        <p:nvSpPr>
          <p:cNvPr id="33" name="Shape 31">
            <a:extLst>
              <a:ext uri="{FF2B5EF4-FFF2-40B4-BE49-F238E27FC236}">
                <a16:creationId xmlns:a16="http://schemas.microsoft.com/office/drawing/2014/main" id="{B919FAF6-F1E8-9E7C-0AA1-584D4F5D4C5A}"/>
              </a:ext>
            </a:extLst>
          </p:cNvPr>
          <p:cNvSpPr/>
          <p:nvPr/>
        </p:nvSpPr>
        <p:spPr>
          <a:xfrm>
            <a:off x="411480" y="3456432"/>
            <a:ext cx="640080" cy="658368"/>
          </a:xfrm>
          <a:prstGeom prst="roundRect">
            <a:avLst>
              <a:gd name="adj" fmla="val 12857"/>
            </a:avLst>
          </a:prstGeom>
          <a:solidFill>
            <a:srgbClr val="1B3A4B"/>
          </a:solidFill>
          <a:ln w="15875">
            <a:solidFill>
              <a:srgbClr val="2C5F7C"/>
            </a:solidFill>
            <a:prstDash val="solid"/>
          </a:ln>
        </p:spPr>
        <p:txBody>
          <a:bodyPr/>
          <a:lstStyle/>
          <a:p>
            <a:endParaRPr lang="en-US"/>
          </a:p>
        </p:txBody>
      </p:sp>
      <p:sp>
        <p:nvSpPr>
          <p:cNvPr id="34" name="Text 32">
            <a:extLst>
              <a:ext uri="{FF2B5EF4-FFF2-40B4-BE49-F238E27FC236}">
                <a16:creationId xmlns:a16="http://schemas.microsoft.com/office/drawing/2014/main" id="{9A77A9BA-57D0-F1F1-D0D6-90799ABD6EBC}"/>
              </a:ext>
            </a:extLst>
          </p:cNvPr>
          <p:cNvSpPr/>
          <p:nvPr/>
        </p:nvSpPr>
        <p:spPr>
          <a:xfrm>
            <a:off x="411480" y="3456432"/>
            <a:ext cx="64008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35" name="Shape 33">
            <a:extLst>
              <a:ext uri="{FF2B5EF4-FFF2-40B4-BE49-F238E27FC236}">
                <a16:creationId xmlns:a16="http://schemas.microsoft.com/office/drawing/2014/main" id="{B76E9827-F9B0-186D-4373-6C0198A6203B}"/>
              </a:ext>
            </a:extLst>
          </p:cNvPr>
          <p:cNvSpPr/>
          <p:nvPr/>
        </p:nvSpPr>
        <p:spPr>
          <a:xfrm>
            <a:off x="1356055" y="3456432"/>
            <a:ext cx="11430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6" name="Text 34">
            <a:extLst>
              <a:ext uri="{FF2B5EF4-FFF2-40B4-BE49-F238E27FC236}">
                <a16:creationId xmlns:a16="http://schemas.microsoft.com/office/drawing/2014/main" id="{E8EBC1B8-B825-BA14-50BA-7C69B9BE6FB8}"/>
              </a:ext>
            </a:extLst>
          </p:cNvPr>
          <p:cNvSpPr/>
          <p:nvPr/>
        </p:nvSpPr>
        <p:spPr>
          <a:xfrm>
            <a:off x="1356055" y="3456432"/>
            <a:ext cx="11430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7" name="Shape 35">
            <a:extLst>
              <a:ext uri="{FF2B5EF4-FFF2-40B4-BE49-F238E27FC236}">
                <a16:creationId xmlns:a16="http://schemas.microsoft.com/office/drawing/2014/main" id="{66B7DCF1-B544-A97A-CB5E-EA46017A8725}"/>
              </a:ext>
            </a:extLst>
          </p:cNvPr>
          <p:cNvSpPr/>
          <p:nvPr/>
        </p:nvSpPr>
        <p:spPr>
          <a:xfrm>
            <a:off x="2803550" y="3456432"/>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8" name="Text 36">
            <a:extLst>
              <a:ext uri="{FF2B5EF4-FFF2-40B4-BE49-F238E27FC236}">
                <a16:creationId xmlns:a16="http://schemas.microsoft.com/office/drawing/2014/main" id="{AD12245D-0AC8-8CEF-9FF6-96D2250B9268}"/>
              </a:ext>
            </a:extLst>
          </p:cNvPr>
          <p:cNvSpPr/>
          <p:nvPr/>
        </p:nvSpPr>
        <p:spPr>
          <a:xfrm>
            <a:off x="2803550" y="3456432"/>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Squared</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9" name="Shape 37">
            <a:extLst>
              <a:ext uri="{FF2B5EF4-FFF2-40B4-BE49-F238E27FC236}">
                <a16:creationId xmlns:a16="http://schemas.microsoft.com/office/drawing/2014/main" id="{697F0194-B6AD-A214-F5B6-912B4F5CE5A1}"/>
              </a:ext>
            </a:extLst>
          </p:cNvPr>
          <p:cNvSpPr/>
          <p:nvPr/>
        </p:nvSpPr>
        <p:spPr>
          <a:xfrm>
            <a:off x="4388206" y="3456432"/>
            <a:ext cx="13716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0" name="Text 38">
            <a:extLst>
              <a:ext uri="{FF2B5EF4-FFF2-40B4-BE49-F238E27FC236}">
                <a16:creationId xmlns:a16="http://schemas.microsoft.com/office/drawing/2014/main" id="{4ED29095-2E0A-980A-78FE-14AA75A8FBCA}"/>
              </a:ext>
            </a:extLst>
          </p:cNvPr>
          <p:cNvSpPr/>
          <p:nvPr/>
        </p:nvSpPr>
        <p:spPr>
          <a:xfrm>
            <a:off x="4388206" y="3456432"/>
            <a:ext cx="13716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Sum of Squares</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(SS)</a:t>
            </a:r>
            <a:endParaRPr lang="en-US" sz="1050" dirty="0"/>
          </a:p>
        </p:txBody>
      </p:sp>
      <p:sp>
        <p:nvSpPr>
          <p:cNvPr id="41" name="Shape 39">
            <a:extLst>
              <a:ext uri="{FF2B5EF4-FFF2-40B4-BE49-F238E27FC236}">
                <a16:creationId xmlns:a16="http://schemas.microsoft.com/office/drawing/2014/main" id="{37B58464-7427-D869-9D06-5F8B652E7A97}"/>
              </a:ext>
            </a:extLst>
          </p:cNvPr>
          <p:cNvSpPr/>
          <p:nvPr/>
        </p:nvSpPr>
        <p:spPr>
          <a:xfrm>
            <a:off x="6064301"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2" name="Text 40">
            <a:extLst>
              <a:ext uri="{FF2B5EF4-FFF2-40B4-BE49-F238E27FC236}">
                <a16:creationId xmlns:a16="http://schemas.microsoft.com/office/drawing/2014/main" id="{D01016B5-48F8-5F53-E71D-E636613DA422}"/>
              </a:ext>
            </a:extLst>
          </p:cNvPr>
          <p:cNvSpPr/>
          <p:nvPr/>
        </p:nvSpPr>
        <p:spPr>
          <a:xfrm>
            <a:off x="6064301"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Variance</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(SD²)</a:t>
            </a:r>
            <a:endParaRPr lang="en-US" sz="1150" dirty="0"/>
          </a:p>
        </p:txBody>
      </p:sp>
      <p:sp>
        <p:nvSpPr>
          <p:cNvPr id="43" name="Shape 41">
            <a:extLst>
              <a:ext uri="{FF2B5EF4-FFF2-40B4-BE49-F238E27FC236}">
                <a16:creationId xmlns:a16="http://schemas.microsoft.com/office/drawing/2014/main" id="{85ABADCB-55DE-4DB7-BE08-0D122E6079B7}"/>
              </a:ext>
            </a:extLst>
          </p:cNvPr>
          <p:cNvSpPr/>
          <p:nvPr/>
        </p:nvSpPr>
        <p:spPr>
          <a:xfrm>
            <a:off x="7557516"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4" name="Text 42">
            <a:extLst>
              <a:ext uri="{FF2B5EF4-FFF2-40B4-BE49-F238E27FC236}">
                <a16:creationId xmlns:a16="http://schemas.microsoft.com/office/drawing/2014/main" id="{F577D267-DAE0-E887-B2C7-5FE5C0EF34F7}"/>
              </a:ext>
            </a:extLst>
          </p:cNvPr>
          <p:cNvSpPr/>
          <p:nvPr/>
        </p:nvSpPr>
        <p:spPr>
          <a:xfrm>
            <a:off x="7557516"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Deviation (SD)</a:t>
            </a:r>
            <a:endParaRPr lang="en-US" sz="1050" dirty="0"/>
          </a:p>
        </p:txBody>
      </p:sp>
      <p:sp>
        <p:nvSpPr>
          <p:cNvPr id="47" name="Shape 45">
            <a:extLst>
              <a:ext uri="{FF2B5EF4-FFF2-40B4-BE49-F238E27FC236}">
                <a16:creationId xmlns:a16="http://schemas.microsoft.com/office/drawing/2014/main" id="{27B442D4-2F00-4C3C-D733-4B323A4C497F}"/>
              </a:ext>
            </a:extLst>
          </p:cNvPr>
          <p:cNvSpPr/>
          <p:nvPr/>
        </p:nvSpPr>
        <p:spPr>
          <a:xfrm>
            <a:off x="10863986" y="3456432"/>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8" name="Text 46">
            <a:extLst>
              <a:ext uri="{FF2B5EF4-FFF2-40B4-BE49-F238E27FC236}">
                <a16:creationId xmlns:a16="http://schemas.microsoft.com/office/drawing/2014/main" id="{B528F7E0-51BD-910D-9EF1-32208D2A9CC9}"/>
              </a:ext>
            </a:extLst>
          </p:cNvPr>
          <p:cNvSpPr/>
          <p:nvPr/>
        </p:nvSpPr>
        <p:spPr>
          <a:xfrm>
            <a:off x="10863986" y="3456432"/>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53" name="Shape 51">
            <a:extLst>
              <a:ext uri="{FF2B5EF4-FFF2-40B4-BE49-F238E27FC236}">
                <a16:creationId xmlns:a16="http://schemas.microsoft.com/office/drawing/2014/main" id="{08D52B6C-72F8-24B4-7E27-BC92A4E97AFC}"/>
              </a:ext>
            </a:extLst>
          </p:cNvPr>
          <p:cNvSpPr/>
          <p:nvPr/>
        </p:nvSpPr>
        <p:spPr>
          <a:xfrm>
            <a:off x="1085418" y="1206328"/>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4" name="Text 52">
            <a:extLst>
              <a:ext uri="{FF2B5EF4-FFF2-40B4-BE49-F238E27FC236}">
                <a16:creationId xmlns:a16="http://schemas.microsoft.com/office/drawing/2014/main" id="{1F0F1E80-2F19-7505-62EB-CC5372C4F108}"/>
              </a:ext>
            </a:extLst>
          </p:cNvPr>
          <p:cNvSpPr/>
          <p:nvPr/>
        </p:nvSpPr>
        <p:spPr>
          <a:xfrm>
            <a:off x="1085418" y="1206328"/>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 Error</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(σₓ̄)</a:t>
            </a:r>
            <a:endParaRPr lang="en-US" sz="1050" dirty="0"/>
          </a:p>
        </p:txBody>
      </p:sp>
      <p:sp>
        <p:nvSpPr>
          <p:cNvPr id="57" name="Shape 55">
            <a:extLst>
              <a:ext uri="{FF2B5EF4-FFF2-40B4-BE49-F238E27FC236}">
                <a16:creationId xmlns:a16="http://schemas.microsoft.com/office/drawing/2014/main" id="{2F1B4AC6-DE59-5CA4-3E5F-4837EE60E764}"/>
              </a:ext>
            </a:extLst>
          </p:cNvPr>
          <p:cNvSpPr/>
          <p:nvPr/>
        </p:nvSpPr>
        <p:spPr>
          <a:xfrm>
            <a:off x="4560138" y="1206328"/>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8" name="Text 56">
            <a:extLst>
              <a:ext uri="{FF2B5EF4-FFF2-40B4-BE49-F238E27FC236}">
                <a16:creationId xmlns:a16="http://schemas.microsoft.com/office/drawing/2014/main" id="{0CE99EC2-986B-8600-D6D0-CC338D05E715}"/>
              </a:ext>
            </a:extLst>
          </p:cNvPr>
          <p:cNvSpPr/>
          <p:nvPr/>
        </p:nvSpPr>
        <p:spPr>
          <a:xfrm>
            <a:off x="4560138" y="1206328"/>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mc:AlternateContent xmlns:mc="http://schemas.openxmlformats.org/markup-compatibility/2006" xmlns:a14="http://schemas.microsoft.com/office/drawing/2010/main">
        <mc:Choice Requires="a14">
          <p:sp>
            <p:nvSpPr>
              <p:cNvPr id="61" name="Text 8">
                <a:extLst>
                  <a:ext uri="{FF2B5EF4-FFF2-40B4-BE49-F238E27FC236}">
                    <a16:creationId xmlns:a16="http://schemas.microsoft.com/office/drawing/2014/main" id="{6E57EF82-A247-A438-4C63-BB19D1C9A7DD}"/>
                  </a:ext>
                </a:extLst>
              </p:cNvPr>
              <p:cNvSpPr/>
              <p:nvPr/>
            </p:nvSpPr>
            <p:spPr>
              <a:xfrm>
                <a:off x="3268465" y="295183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1100" i="1">
                              <a:latin typeface="Cambria Math" panose="02040503050406030204" pitchFamily="18" charset="0"/>
                            </a:rPr>
                          </m:ctrlPr>
                        </m:naryPr>
                        <m:sub/>
                        <m:sup/>
                        <m:e>
                          <m:r>
                            <a:rPr lang="en-US" sz="1100">
                              <a:latin typeface="Cambria Math" panose="02040503050406030204" pitchFamily="18" charset="0"/>
                            </a:rPr>
                            <m:t> </m:t>
                          </m:r>
                          <m:d>
                            <m:dPr>
                              <m:ctrlPr>
                                <a:rPr lang="en-US" sz="1100" i="1">
                                  <a:latin typeface="Cambria Math" panose="02040503050406030204" pitchFamily="18" charset="0"/>
                                </a:rPr>
                              </m:ctrlPr>
                            </m:dPr>
                            <m:e>
                              <m:eqArr>
                                <m:eqArrPr>
                                  <m:ctrlPr>
                                    <a:rPr lang="en-US" sz="1100" i="1">
                                      <a:latin typeface="Cambria Math" panose="02040503050406030204" pitchFamily="18" charset="0"/>
                                    </a:rPr>
                                  </m:ctrlPr>
                                </m:eqArrPr>
                                <m:e>
                                  <m:r>
                                    <a:rPr lang="en-US" sz="1100" i="1">
                                      <a:latin typeface="Cambria Math" panose="02040503050406030204" pitchFamily="18" charset="0"/>
                                    </a:rPr>
                                    <m:t>𝑆𝑞𝑢𝑎𝑟𝑒𝑑</m:t>
                                  </m:r>
                                </m:e>
                                <m:e>
                                  <m:r>
                                    <a:rPr lang="en-US" sz="1100" i="1">
                                      <a:latin typeface="Cambria Math" panose="02040503050406030204" pitchFamily="18" charset="0"/>
                                    </a:rPr>
                                    <m:t>𝐷𝑒𝑣𝑖𝑎𝑡𝑖𝑜𝑛𝑠</m:t>
                                  </m:r>
                                </m:e>
                              </m:eqArr>
                            </m:e>
                          </m:d>
                        </m:e>
                      </m:nary>
                    </m:oMath>
                  </m:oMathPara>
                </a14:m>
                <a:endParaRPr lang="en-US" sz="1100" dirty="0">
                  <a:latin typeface="Cambria Math" panose="02040503050406030204" pitchFamily="18" charset="0"/>
                </a:endParaRPr>
              </a:p>
            </p:txBody>
          </p:sp>
        </mc:Choice>
        <mc:Fallback xmlns="">
          <p:sp>
            <p:nvSpPr>
              <p:cNvPr id="61" name="Text 8">
                <a:extLst>
                  <a:ext uri="{FF2B5EF4-FFF2-40B4-BE49-F238E27FC236}">
                    <a16:creationId xmlns:a16="http://schemas.microsoft.com/office/drawing/2014/main" id="{6E57EF82-A247-A438-4C63-BB19D1C9A7DD}"/>
                  </a:ext>
                </a:extLst>
              </p:cNvPr>
              <p:cNvSpPr>
                <a:spLocks noRot="1" noChangeAspect="1" noMove="1" noResize="1" noEditPoints="1" noAdjustHandles="1" noChangeArrowheads="1" noChangeShapeType="1" noTextEdit="1"/>
              </p:cNvSpPr>
              <p:nvPr/>
            </p:nvSpPr>
            <p:spPr>
              <a:xfrm>
                <a:off x="3268465" y="2951830"/>
                <a:ext cx="2011680" cy="502920"/>
              </a:xfrm>
              <a:prstGeom prst="rect">
                <a:avLst/>
              </a:prstGeom>
              <a:blipFill>
                <a:blip r:embed="rId8"/>
                <a:stretch>
                  <a:fillRect l="-3939" t="-113253" b="-159036"/>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14">
                <a:extLst>
                  <a:ext uri="{FF2B5EF4-FFF2-40B4-BE49-F238E27FC236}">
                    <a16:creationId xmlns:a16="http://schemas.microsoft.com/office/drawing/2014/main" id="{C9113D88-4F21-5CA3-9DA8-64FEBA97103D}"/>
                  </a:ext>
                </a:extLst>
              </p:cNvPr>
              <p:cNvSpPr/>
              <p:nvPr/>
            </p:nvSpPr>
            <p:spPr>
              <a:xfrm>
                <a:off x="7892644" y="2880360"/>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m:rPr>
                              <m:nor/>
                            </m:rPr>
                            <a:rPr lang="en-US" i="0" dirty="0"/>
                            <m:t> </m:t>
                          </m:r>
                        </m:num>
                        <m:den>
                          <m:r>
                            <a:rPr lang="en-US" i="1">
                              <a:latin typeface="Cambria Math" panose="02040503050406030204" pitchFamily="18" charset="0"/>
                            </a:rPr>
                            <m:t>𝑆𝐷</m:t>
                          </m:r>
                        </m:den>
                      </m:f>
                    </m:oMath>
                  </m:oMathPara>
                </a14:m>
                <a:endParaRPr lang="en-US" dirty="0"/>
              </a:p>
            </p:txBody>
          </p:sp>
        </mc:Choice>
        <mc:Fallback xmlns="">
          <p:sp>
            <p:nvSpPr>
              <p:cNvPr id="63" name="Text 14">
                <a:extLst>
                  <a:ext uri="{FF2B5EF4-FFF2-40B4-BE49-F238E27FC236}">
                    <a16:creationId xmlns:a16="http://schemas.microsoft.com/office/drawing/2014/main" id="{C9113D88-4F21-5CA3-9DA8-64FEBA97103D}"/>
                  </a:ext>
                </a:extLst>
              </p:cNvPr>
              <p:cNvSpPr>
                <a:spLocks noRot="1" noChangeAspect="1" noMove="1" noResize="1" noEditPoints="1" noAdjustHandles="1" noChangeArrowheads="1" noChangeShapeType="1" noTextEdit="1"/>
              </p:cNvSpPr>
              <p:nvPr/>
            </p:nvSpPr>
            <p:spPr>
              <a:xfrm>
                <a:off x="7892644" y="2880360"/>
                <a:ext cx="2011680" cy="502920"/>
              </a:xfrm>
              <a:prstGeom prst="rect">
                <a:avLst/>
              </a:prstGeom>
              <a:blipFill>
                <a:blip r:embed="rId9"/>
                <a:stretch>
                  <a:fillRect t="-6098"/>
                </a:stretch>
              </a:blipFill>
              <a:ln/>
            </p:spPr>
            <p:txBody>
              <a:bodyPr/>
              <a:lstStyle/>
              <a:p>
                <a:r>
                  <a:rPr lang="en-US">
                    <a:noFill/>
                  </a:rPr>
                  <a:t> </a:t>
                </a:r>
              </a:p>
            </p:txBody>
          </p:sp>
        </mc:Fallback>
      </mc:AlternateContent>
      <p:sp>
        <p:nvSpPr>
          <p:cNvPr id="65" name="Text 16">
            <a:extLst>
              <a:ext uri="{FF2B5EF4-FFF2-40B4-BE49-F238E27FC236}">
                <a16:creationId xmlns:a16="http://schemas.microsoft.com/office/drawing/2014/main" id="{DC7CEDE6-F66F-1339-D4E4-358B1B7BDD4A}"/>
              </a:ext>
            </a:extLst>
          </p:cNvPr>
          <p:cNvSpPr/>
          <p:nvPr/>
        </p:nvSpPr>
        <p:spPr>
          <a:xfrm>
            <a:off x="9705899" y="2880360"/>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67" name="Shape 17">
            <a:extLst>
              <a:ext uri="{FF2B5EF4-FFF2-40B4-BE49-F238E27FC236}">
                <a16:creationId xmlns:a16="http://schemas.microsoft.com/office/drawing/2014/main" id="{83AEB6FB-17AA-5D1F-B8DD-699A639ADDA8}"/>
              </a:ext>
            </a:extLst>
          </p:cNvPr>
          <p:cNvSpPr/>
          <p:nvPr/>
        </p:nvSpPr>
        <p:spPr>
          <a:xfrm>
            <a:off x="731520" y="4114800"/>
            <a:ext cx="0" cy="914400"/>
          </a:xfrm>
          <a:prstGeom prst="line">
            <a:avLst/>
          </a:prstGeom>
          <a:noFill/>
          <a:ln w="22225">
            <a:solidFill>
              <a:srgbClr val="2C5F7C"/>
            </a:solidFill>
            <a:prstDash val="solid"/>
          </a:ln>
        </p:spPr>
        <p:txBody>
          <a:bodyPr/>
          <a:lstStyle/>
          <a:p>
            <a:endParaRPr lang="en-US"/>
          </a:p>
        </p:txBody>
      </p:sp>
      <p:sp>
        <p:nvSpPr>
          <p:cNvPr id="69" name="Shape 18">
            <a:extLst>
              <a:ext uri="{FF2B5EF4-FFF2-40B4-BE49-F238E27FC236}">
                <a16:creationId xmlns:a16="http://schemas.microsoft.com/office/drawing/2014/main" id="{7F16A19B-EEA3-D6B2-49E4-6A193E40AB35}"/>
              </a:ext>
            </a:extLst>
          </p:cNvPr>
          <p:cNvSpPr/>
          <p:nvPr/>
        </p:nvSpPr>
        <p:spPr>
          <a:xfrm>
            <a:off x="737147" y="5029200"/>
            <a:ext cx="1234440" cy="9144"/>
          </a:xfrm>
          <a:prstGeom prst="line">
            <a:avLst/>
          </a:prstGeom>
          <a:noFill/>
          <a:ln w="22225">
            <a:solidFill>
              <a:srgbClr val="2C5F7C"/>
            </a:solidFill>
            <a:prstDash val="solid"/>
          </a:ln>
        </p:spPr>
        <p:txBody>
          <a:bodyPr/>
          <a:lstStyle/>
          <a:p>
            <a:endParaRPr lang="en-US"/>
          </a:p>
        </p:txBody>
      </p:sp>
      <p:sp>
        <p:nvSpPr>
          <p:cNvPr id="71" name="Shape 19">
            <a:extLst>
              <a:ext uri="{FF2B5EF4-FFF2-40B4-BE49-F238E27FC236}">
                <a16:creationId xmlns:a16="http://schemas.microsoft.com/office/drawing/2014/main" id="{691EEA27-20B9-C213-F441-BCFF20304901}"/>
              </a:ext>
            </a:extLst>
          </p:cNvPr>
          <p:cNvSpPr/>
          <p:nvPr/>
        </p:nvSpPr>
        <p:spPr>
          <a:xfrm>
            <a:off x="1975104" y="5029200"/>
            <a:ext cx="9144" cy="54864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73" name="Text 20">
                <a:extLst>
                  <a:ext uri="{FF2B5EF4-FFF2-40B4-BE49-F238E27FC236}">
                    <a16:creationId xmlns:a16="http://schemas.microsoft.com/office/drawing/2014/main" id="{DC1B0246-B026-583B-A416-24C75EA4E528}"/>
                  </a:ext>
                </a:extLst>
              </p:cNvPr>
              <p:cNvSpPr/>
              <p:nvPr/>
            </p:nvSpPr>
            <p:spPr>
              <a:xfrm>
                <a:off x="411480" y="4544568"/>
                <a:ext cx="2011680" cy="41148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𝑥</m:t>
                          </m:r>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𝑥</m:t>
                              </m:r>
                            </m:sub>
                          </m:sSub>
                        </m:den>
                      </m:f>
                    </m:oMath>
                  </m:oMathPara>
                </a14:m>
                <a:endParaRPr lang="en-US" dirty="0"/>
              </a:p>
            </p:txBody>
          </p:sp>
        </mc:Choice>
        <mc:Fallback xmlns="">
          <p:sp>
            <p:nvSpPr>
              <p:cNvPr id="73" name="Text 20">
                <a:extLst>
                  <a:ext uri="{FF2B5EF4-FFF2-40B4-BE49-F238E27FC236}">
                    <a16:creationId xmlns:a16="http://schemas.microsoft.com/office/drawing/2014/main" id="{DC1B0246-B026-583B-A416-24C75EA4E528}"/>
                  </a:ext>
                </a:extLst>
              </p:cNvPr>
              <p:cNvSpPr>
                <a:spLocks noRot="1" noChangeAspect="1" noMove="1" noResize="1" noEditPoints="1" noAdjustHandles="1" noChangeArrowheads="1" noChangeShapeType="1" noTextEdit="1"/>
              </p:cNvSpPr>
              <p:nvPr/>
            </p:nvSpPr>
            <p:spPr>
              <a:xfrm>
                <a:off x="411480" y="4544568"/>
                <a:ext cx="2011680" cy="411480"/>
              </a:xfrm>
              <a:prstGeom prst="rect">
                <a:avLst/>
              </a:prstGeom>
              <a:blipFill>
                <a:blip r:embed="rId10"/>
                <a:stretch>
                  <a:fillRect t="-31343"/>
                </a:stretch>
              </a:blipFill>
              <a:ln/>
            </p:spPr>
            <p:txBody>
              <a:bodyPr/>
              <a:lstStyle/>
              <a:p>
                <a:r>
                  <a:rPr lang="en-US">
                    <a:noFill/>
                  </a:rPr>
                  <a:t> </a:t>
                </a:r>
              </a:p>
            </p:txBody>
          </p:sp>
        </mc:Fallback>
      </mc:AlternateContent>
      <p:sp>
        <p:nvSpPr>
          <p:cNvPr id="75" name="Shape 21">
            <a:extLst>
              <a:ext uri="{FF2B5EF4-FFF2-40B4-BE49-F238E27FC236}">
                <a16:creationId xmlns:a16="http://schemas.microsoft.com/office/drawing/2014/main" id="{D2C632F1-304C-CA08-4150-6EE897990FE2}"/>
              </a:ext>
            </a:extLst>
          </p:cNvPr>
          <p:cNvSpPr/>
          <p:nvPr/>
        </p:nvSpPr>
        <p:spPr>
          <a:xfrm>
            <a:off x="2889504" y="5907024"/>
            <a:ext cx="320040" cy="9144"/>
          </a:xfrm>
          <a:prstGeom prst="line">
            <a:avLst/>
          </a:prstGeom>
          <a:noFill/>
          <a:ln w="22225">
            <a:solidFill>
              <a:srgbClr val="2C5F7C"/>
            </a:solidFill>
            <a:prstDash val="solid"/>
            <a:tailEnd type="triangle"/>
          </a:ln>
        </p:spPr>
        <p:txBody>
          <a:bodyPr/>
          <a:lstStyle/>
          <a:p>
            <a:endParaRPr lang="en-US"/>
          </a:p>
        </p:txBody>
      </p:sp>
      <p:sp>
        <p:nvSpPr>
          <p:cNvPr id="77" name="Shape 39">
            <a:extLst>
              <a:ext uri="{FF2B5EF4-FFF2-40B4-BE49-F238E27FC236}">
                <a16:creationId xmlns:a16="http://schemas.microsoft.com/office/drawing/2014/main" id="{D67EBF9B-CD17-48B9-8BCD-D75AB27B1321}"/>
              </a:ext>
            </a:extLst>
          </p:cNvPr>
          <p:cNvSpPr/>
          <p:nvPr/>
        </p:nvSpPr>
        <p:spPr>
          <a:xfrm>
            <a:off x="1060704" y="5577840"/>
            <a:ext cx="1828800" cy="658368"/>
          </a:xfrm>
          <a:prstGeom prst="roundRect">
            <a:avLst>
              <a:gd name="adj" fmla="val 12500"/>
            </a:avLst>
          </a:prstGeom>
          <a:solidFill>
            <a:srgbClr val="EAF2F7"/>
          </a:solidFill>
          <a:ln w="25400">
            <a:solidFill>
              <a:srgbClr val="2C5F7C"/>
            </a:solidFill>
            <a:prstDash val="solid"/>
          </a:ln>
          <a:effectLst>
            <a:outerShdw blurRad="76200" dist="25400" dir="5400000" algn="bl" rotWithShape="0">
              <a:srgbClr val="000000">
                <a:alpha val="25000"/>
              </a:srgbClr>
            </a:outerShdw>
          </a:effectLst>
        </p:spPr>
        <p:txBody>
          <a:bodyPr/>
          <a:lstStyle/>
          <a:p>
            <a:endParaRPr lang="en-US"/>
          </a:p>
        </p:txBody>
      </p:sp>
      <p:sp>
        <p:nvSpPr>
          <p:cNvPr id="79" name="Text 40">
            <a:extLst>
              <a:ext uri="{FF2B5EF4-FFF2-40B4-BE49-F238E27FC236}">
                <a16:creationId xmlns:a16="http://schemas.microsoft.com/office/drawing/2014/main" id="{45263AAF-EAA2-A68C-CFD5-332895CB195E}"/>
              </a:ext>
            </a:extLst>
          </p:cNvPr>
          <p:cNvSpPr/>
          <p:nvPr/>
        </p:nvSpPr>
        <p:spPr>
          <a:xfrm>
            <a:off x="1060704" y="5715144"/>
            <a:ext cx="1828800" cy="383759"/>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solidFill>
                <a:srgbClr val="1B3A4B"/>
              </a:solidFill>
            </a:endParaRPr>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(Population)</a:t>
            </a:r>
            <a:endParaRPr lang="en-US" sz="1050" dirty="0">
              <a:solidFill>
                <a:srgbClr val="1B3A4B"/>
              </a:solidFill>
            </a:endParaRPr>
          </a:p>
        </p:txBody>
      </p:sp>
      <p:sp>
        <p:nvSpPr>
          <p:cNvPr id="81" name="Shape 41">
            <a:extLst>
              <a:ext uri="{FF2B5EF4-FFF2-40B4-BE49-F238E27FC236}">
                <a16:creationId xmlns:a16="http://schemas.microsoft.com/office/drawing/2014/main" id="{8F2593BB-1732-C1C8-AB3D-86F0731AFCF1}"/>
              </a:ext>
            </a:extLst>
          </p:cNvPr>
          <p:cNvSpPr/>
          <p:nvPr/>
        </p:nvSpPr>
        <p:spPr>
          <a:xfrm>
            <a:off x="3209544" y="5577840"/>
            <a:ext cx="8229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83" name="Text 42">
            <a:extLst>
              <a:ext uri="{FF2B5EF4-FFF2-40B4-BE49-F238E27FC236}">
                <a16:creationId xmlns:a16="http://schemas.microsoft.com/office/drawing/2014/main" id="{87FD7BE5-845B-E293-CDE0-7619ECC40791}"/>
              </a:ext>
            </a:extLst>
          </p:cNvPr>
          <p:cNvSpPr/>
          <p:nvPr/>
        </p:nvSpPr>
        <p:spPr>
          <a:xfrm>
            <a:off x="3209544" y="5577840"/>
            <a:ext cx="8229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85" name="Text 16">
            <a:extLst>
              <a:ext uri="{FF2B5EF4-FFF2-40B4-BE49-F238E27FC236}">
                <a16:creationId xmlns:a16="http://schemas.microsoft.com/office/drawing/2014/main" id="{E26EB66B-DF3E-CE0F-24B6-3D7D1460A5D2}"/>
              </a:ext>
            </a:extLst>
          </p:cNvPr>
          <p:cNvSpPr/>
          <p:nvPr/>
        </p:nvSpPr>
        <p:spPr>
          <a:xfrm>
            <a:off x="2072030" y="4988052"/>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87" name="Text 16">
            <a:extLst>
              <a:ext uri="{FF2B5EF4-FFF2-40B4-BE49-F238E27FC236}">
                <a16:creationId xmlns:a16="http://schemas.microsoft.com/office/drawing/2014/main" id="{247721D5-10F4-2981-9DC4-B209CDC6BBB7}"/>
              </a:ext>
            </a:extLst>
          </p:cNvPr>
          <p:cNvSpPr/>
          <p:nvPr/>
        </p:nvSpPr>
        <p:spPr>
          <a:xfrm>
            <a:off x="3371418" y="722376"/>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93" name="Shape 55">
            <a:extLst>
              <a:ext uri="{FF2B5EF4-FFF2-40B4-BE49-F238E27FC236}">
                <a16:creationId xmlns:a16="http://schemas.microsoft.com/office/drawing/2014/main" id="{4C3ADC1A-2D13-D735-5B75-79B4E39F95E4}"/>
              </a:ext>
            </a:extLst>
          </p:cNvPr>
          <p:cNvSpPr/>
          <p:nvPr/>
        </p:nvSpPr>
        <p:spPr>
          <a:xfrm>
            <a:off x="9058046" y="3465576"/>
            <a:ext cx="1508760" cy="658368"/>
          </a:xfrm>
          <a:prstGeom prst="roundRect">
            <a:avLst>
              <a:gd name="adj" fmla="val 12500"/>
            </a:avLst>
          </a:prstGeom>
          <a:solidFill>
            <a:srgbClr val="EAF2F7"/>
          </a:solidFill>
          <a:ln w="28575">
            <a:solidFill>
              <a:srgbClr val="2C5F7C"/>
            </a:solidFill>
            <a:prstDash val="solid"/>
          </a:ln>
          <a:effectLst>
            <a:outerShdw blurRad="76200" dist="25400" dir="5400000" algn="ctr" rotWithShape="0">
              <a:srgbClr val="000000">
                <a:alpha val="25000"/>
              </a:srgbClr>
            </a:outerShdw>
          </a:effectLst>
        </p:spPr>
        <p:txBody>
          <a:bodyPr/>
          <a:lstStyle/>
          <a:p>
            <a:endParaRPr lang="en-US"/>
          </a:p>
        </p:txBody>
      </p:sp>
      <p:sp>
        <p:nvSpPr>
          <p:cNvPr id="95" name="Text 56">
            <a:extLst>
              <a:ext uri="{FF2B5EF4-FFF2-40B4-BE49-F238E27FC236}">
                <a16:creationId xmlns:a16="http://schemas.microsoft.com/office/drawing/2014/main" id="{B6736920-204C-59C4-81D9-020008DD0823}"/>
              </a:ext>
            </a:extLst>
          </p:cNvPr>
          <p:cNvSpPr/>
          <p:nvPr/>
        </p:nvSpPr>
        <p:spPr>
          <a:xfrm>
            <a:off x="9050731" y="3456432"/>
            <a:ext cx="15087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(Sample)</a:t>
            </a:r>
            <a:endParaRPr lang="en-US" sz="1050" dirty="0"/>
          </a:p>
        </p:txBody>
      </p:sp>
      <mc:AlternateContent xmlns:mc="http://schemas.openxmlformats.org/markup-compatibility/2006" xmlns:a14="http://schemas.microsoft.com/office/drawing/2010/main">
        <mc:Choice Requires="a14">
          <p:sp>
            <p:nvSpPr>
              <p:cNvPr id="97" name="Text 6">
                <a:extLst>
                  <a:ext uri="{FF2B5EF4-FFF2-40B4-BE49-F238E27FC236}">
                    <a16:creationId xmlns:a16="http://schemas.microsoft.com/office/drawing/2014/main" id="{B21DA5C5-8796-9FEA-CC29-63335BA6F2A7}"/>
                  </a:ext>
                </a:extLst>
              </p:cNvPr>
              <p:cNvSpPr/>
              <p:nvPr/>
            </p:nvSpPr>
            <p:spPr>
              <a:xfrm>
                <a:off x="1645463" y="2871216"/>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a:rPr lang="en-US" sz="1600" b="0" i="1" smtClean="0">
                              <a:latin typeface="Cambria Math" panose="02040503050406030204" pitchFamily="18" charset="0"/>
                            </a:rPr>
                            <m:t>𝑑𝑒𝑣𝑖𝑎𝑡𝑖𝑜𝑛𝑠</m:t>
                          </m:r>
                        </m:e>
                        <m:sup>
                          <m:r>
                            <a:rPr lang="en-US" sz="1600" i="1">
                              <a:latin typeface="Cambria Math" panose="02040503050406030204" pitchFamily="18" charset="0"/>
                            </a:rPr>
                            <m:t>2</m:t>
                          </m:r>
                        </m:sup>
                      </m:sSup>
                    </m:oMath>
                  </m:oMathPara>
                </a14:m>
                <a:endParaRPr lang="en-US" dirty="0"/>
              </a:p>
            </p:txBody>
          </p:sp>
        </mc:Choice>
        <mc:Fallback xmlns="">
          <p:sp>
            <p:nvSpPr>
              <p:cNvPr id="97" name="Text 6">
                <a:extLst>
                  <a:ext uri="{FF2B5EF4-FFF2-40B4-BE49-F238E27FC236}">
                    <a16:creationId xmlns:a16="http://schemas.microsoft.com/office/drawing/2014/main" id="{B21DA5C5-8796-9FEA-CC29-63335BA6F2A7}"/>
                  </a:ext>
                </a:extLst>
              </p:cNvPr>
              <p:cNvSpPr>
                <a:spLocks noRot="1" noChangeAspect="1" noMove="1" noResize="1" noEditPoints="1" noAdjustHandles="1" noChangeArrowheads="1" noChangeShapeType="1" noTextEdit="1"/>
              </p:cNvSpPr>
              <p:nvPr/>
            </p:nvSpPr>
            <p:spPr>
              <a:xfrm>
                <a:off x="1645463" y="2871216"/>
                <a:ext cx="2011680" cy="502920"/>
              </a:xfrm>
              <a:prstGeom prst="rect">
                <a:avLst/>
              </a:prstGeom>
              <a:blipFill>
                <a:blip r:embed="rId11"/>
                <a:stretch>
                  <a:fillRect/>
                </a:stretch>
              </a:blipFill>
              <a:ln/>
            </p:spPr>
            <p:txBody>
              <a:bodyPr/>
              <a:lstStyle/>
              <a:p>
                <a:r>
                  <a:rPr lang="en-US">
                    <a:noFill/>
                  </a:rPr>
                  <a:t> </a:t>
                </a:r>
              </a:p>
            </p:txBody>
          </p:sp>
        </mc:Fallback>
      </mc:AlternateContent>
      <p:sp>
        <p:nvSpPr>
          <p:cNvPr id="3" name="Shape 53">
            <a:extLst>
              <a:ext uri="{FF2B5EF4-FFF2-40B4-BE49-F238E27FC236}">
                <a16:creationId xmlns:a16="http://schemas.microsoft.com/office/drawing/2014/main" id="{78DB69FB-A01F-3ADF-B5B2-EE1E8B0B6D76}"/>
              </a:ext>
            </a:extLst>
          </p:cNvPr>
          <p:cNvSpPr/>
          <p:nvPr/>
        </p:nvSpPr>
        <p:spPr>
          <a:xfrm>
            <a:off x="2731338" y="1206328"/>
            <a:ext cx="1463040" cy="658368"/>
          </a:xfrm>
          <a:prstGeom prst="roundRect">
            <a:avLst>
              <a:gd name="adj" fmla="val 12500"/>
            </a:avLst>
          </a:prstGeom>
          <a:solidFill>
            <a:srgbClr val="EAF2F7"/>
          </a:solidFill>
          <a:ln w="25400">
            <a:solidFill>
              <a:srgbClr val="2C5F7C"/>
            </a:solidFill>
            <a:prstDash val="solid"/>
          </a:ln>
          <a:effectLst>
            <a:outerShdw blurRad="76200" dist="25400" dir="5400000" algn="bl" rotWithShape="0">
              <a:srgbClr val="000000">
                <a:alpha val="25000"/>
              </a:srgbClr>
            </a:outerShdw>
          </a:effectLst>
        </p:spPr>
        <p:txBody>
          <a:bodyPr/>
          <a:lstStyle/>
          <a:p>
            <a:endParaRPr lang="en-US"/>
          </a:p>
        </p:txBody>
      </p:sp>
      <p:sp>
        <p:nvSpPr>
          <p:cNvPr id="8" name="Text 54">
            <a:extLst>
              <a:ext uri="{FF2B5EF4-FFF2-40B4-BE49-F238E27FC236}">
                <a16:creationId xmlns:a16="http://schemas.microsoft.com/office/drawing/2014/main" id="{AAF6A5BC-D413-FACF-C4AB-467054B460E5}"/>
              </a:ext>
            </a:extLst>
          </p:cNvPr>
          <p:cNvSpPr/>
          <p:nvPr/>
        </p:nvSpPr>
        <p:spPr>
          <a:xfrm>
            <a:off x="2731338" y="1343632"/>
            <a:ext cx="1463040" cy="383759"/>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Sample</a:t>
            </a:r>
            <a:endParaRPr lang="en-US" sz="1050" dirty="0">
              <a:solidFill>
                <a:srgbClr val="1B3A4B"/>
              </a:solidFill>
            </a:endParaRPr>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a:t>
            </a:r>
            <a:endParaRPr lang="en-US" sz="1050" dirty="0">
              <a:solidFill>
                <a:srgbClr val="1B3A4B"/>
              </a:solidFill>
            </a:endParaRPr>
          </a:p>
        </p:txBody>
      </p:sp>
    </p:spTree>
    <p:extLst>
      <p:ext uri="{BB962C8B-B14F-4D97-AF65-F5344CB8AC3E}">
        <p14:creationId xmlns:p14="http://schemas.microsoft.com/office/powerpoint/2010/main" val="1136438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Score versus Sample Mean</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Single Sample Z-Test</a:t>
            </a:r>
          </a:p>
          <a:p>
            <a:pPr marL="342900" indent="-342900">
              <a:buFont typeface="Arial" panose="020B0604020202020204" pitchFamily="34" charset="0"/>
              <a:buChar char="•"/>
            </a:pPr>
            <a:r>
              <a:rPr lang="en-US" sz="3600" dirty="0">
                <a:latin typeface="Calibri" panose="020F0502020204030204" pitchFamily="34" charset="0"/>
                <a:cs typeface="Calibri" panose="020F0502020204030204" pitchFamily="34" charset="0"/>
              </a:rPr>
              <a:t>Example</a:t>
            </a:r>
          </a:p>
        </p:txBody>
      </p:sp>
    </p:spTree>
    <p:extLst>
      <p:ext uri="{BB962C8B-B14F-4D97-AF65-F5344CB8AC3E}">
        <p14:creationId xmlns:p14="http://schemas.microsoft.com/office/powerpoint/2010/main" val="1400958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2140E-5560-E7F7-E03B-E1C13D4C34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DD3FE-3FB6-B439-6B96-852307A022C7}"/>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257E4FD-10CF-9EA9-56E7-20AE26DD65BE}"/>
                  </a:ext>
                </a:extLst>
              </p:cNvPr>
              <p:cNvSpPr txBox="1">
                <a:spLocks/>
              </p:cNvSpPr>
              <p:nvPr/>
            </p:nvSpPr>
            <p:spPr>
              <a:xfrm>
                <a:off x="6095999" y="633816"/>
                <a:ext cx="5853546"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i="1" dirty="0"/>
                  <a:t>z</a:t>
                </a:r>
                <a:r>
                  <a:rPr lang="en-US" dirty="0">
                    <a:solidFill>
                      <a:schemeClr val="tx1"/>
                    </a:solidFill>
                  </a:rPr>
                  <a:t>(</a:t>
                </a:r>
                <a:r>
                  <a:rPr lang="en-US" dirty="0" err="1">
                    <a:solidFill>
                      <a:schemeClr val="tx1"/>
                    </a:solidFill>
                  </a:rPr>
                  <a:t>obs</a:t>
                </a:r>
                <a:r>
                  <a:rPr lang="en-US" dirty="0">
                    <a:solidFill>
                      <a:schemeClr val="tx1"/>
                    </a:solidFill>
                  </a:rPr>
                  <a:t>) = </a:t>
                </a:r>
                <a14:m>
                  <m:oMath xmlns:m="http://schemas.openxmlformats.org/officeDocument/2006/math">
                    <m:f>
                      <m:fPr>
                        <m:ctrlPr>
                          <a:rPr lang="en-US" sz="2600" i="1">
                            <a:solidFill>
                              <a:schemeClr val="tx1"/>
                            </a:solidFill>
                            <a:latin typeface="Cambria Math" panose="02040503050406030204" pitchFamily="18" charset="0"/>
                          </a:rPr>
                        </m:ctrlPr>
                      </m:fPr>
                      <m:num>
                        <m:r>
                          <a:rPr lang="en-CA" sz="2600" i="1">
                            <a:solidFill>
                              <a:schemeClr val="tx1"/>
                            </a:solidFill>
                            <a:latin typeface="Cambria Math" panose="02040503050406030204" pitchFamily="18" charset="0"/>
                          </a:rPr>
                          <m:t>72</m:t>
                        </m:r>
                        <m:r>
                          <a:rPr lang="en-US" sz="2600" b="0" i="1" smtClean="0">
                            <a:solidFill>
                              <a:schemeClr val="tx1"/>
                            </a:solidFill>
                            <a:latin typeface="Cambria Math" panose="02040503050406030204" pitchFamily="18" charset="0"/>
                          </a:rPr>
                          <m:t>.</m:t>
                        </m:r>
                        <m:r>
                          <a:rPr lang="en-US" sz="2600" b="0" i="1" smtClean="0">
                            <a:solidFill>
                              <a:schemeClr val="tx1"/>
                            </a:solidFill>
                            <a:latin typeface="Cambria Math" panose="02040503050406030204" pitchFamily="18" charset="0"/>
                          </a:rPr>
                          <m:t>0000</m:t>
                        </m:r>
                        <m:r>
                          <a:rPr lang="en-CA" sz="2600" i="1">
                            <a:solidFill>
                              <a:schemeClr val="tx1"/>
                            </a:solidFill>
                            <a:latin typeface="Cambria Math" panose="02040503050406030204" pitchFamily="18" charset="0"/>
                          </a:rPr>
                          <m:t> −</m:t>
                        </m:r>
                        <m:r>
                          <a:rPr lang="en-CA" sz="2600" i="1">
                            <a:solidFill>
                              <a:schemeClr val="tx1"/>
                            </a:solidFill>
                            <a:latin typeface="Cambria Math" panose="02040503050406030204" pitchFamily="18" charset="0"/>
                          </a:rPr>
                          <m:t>90</m:t>
                        </m:r>
                        <m:r>
                          <a:rPr lang="en-CA" sz="2600" i="1">
                            <a:solidFill>
                              <a:schemeClr val="tx1"/>
                            </a:solidFill>
                            <a:latin typeface="Cambria Math" panose="02040503050406030204" pitchFamily="18" charset="0"/>
                          </a:rPr>
                          <m:t>.</m:t>
                        </m:r>
                        <m:r>
                          <a:rPr lang="en-CA" sz="2600" i="1">
                            <a:solidFill>
                              <a:schemeClr val="tx1"/>
                            </a:solidFill>
                            <a:latin typeface="Cambria Math" panose="02040503050406030204" pitchFamily="18" charset="0"/>
                          </a:rPr>
                          <m:t>0000</m:t>
                        </m:r>
                      </m:num>
                      <m:den>
                        <m:r>
                          <m:rPr>
                            <m:nor/>
                          </m:rPr>
                          <a:rPr lang="en-CA" sz="2600" i="0" baseline="-25000" dirty="0">
                            <a:solidFill>
                              <a:schemeClr val="tx1"/>
                            </a:solidFill>
                            <a:latin typeface="Cambria Math" panose="02040503050406030204" pitchFamily="18" charset="0"/>
                          </a:rPr>
                          <m:t>10.2</m:t>
                        </m:r>
                        <m:r>
                          <m:rPr>
                            <m:nor/>
                          </m:rPr>
                          <a:rPr lang="en-US" sz="2600" b="0" i="0" baseline="-25000" dirty="0" smtClean="0">
                            <a:solidFill>
                              <a:schemeClr val="tx1"/>
                            </a:solidFill>
                            <a:latin typeface="Cambria Math" panose="02040503050406030204" pitchFamily="18" charset="0"/>
                          </a:rPr>
                          <m:t>00</m:t>
                        </m:r>
                        <m:r>
                          <m:rPr>
                            <m:nor/>
                          </m:rPr>
                          <a:rPr lang="en-CA" sz="2600" i="0" baseline="-25000" dirty="0">
                            <a:solidFill>
                              <a:schemeClr val="tx1"/>
                            </a:solidFill>
                            <a:latin typeface="Cambria Math" panose="02040503050406030204" pitchFamily="18" charset="0"/>
                          </a:rPr>
                          <m:t>0</m:t>
                        </m:r>
                      </m:den>
                    </m:f>
                  </m:oMath>
                </a14:m>
                <a:r>
                  <a:rPr lang="en-US" sz="2600" dirty="0">
                    <a:solidFill>
                      <a:schemeClr val="tx1"/>
                    </a:solidFill>
                  </a:rPr>
                  <a:t>  = -1.7647</a:t>
                </a:r>
                <a:endParaRPr lang="en-US" dirty="0">
                  <a:solidFill>
                    <a:schemeClr val="tx1"/>
                  </a:solidFill>
                </a:endParaRPr>
              </a:p>
              <a:p>
                <a:r>
                  <a:rPr lang="en-US" i="1" dirty="0">
                    <a:solidFill>
                      <a:schemeClr val="tx1"/>
                    </a:solidFill>
                  </a:rPr>
                  <a:t>p</a:t>
                </a:r>
                <a:r>
                  <a:rPr lang="en-US" dirty="0">
                    <a:solidFill>
                      <a:schemeClr val="tx1"/>
                    </a:solidFill>
                  </a:rPr>
                  <a:t>(</a:t>
                </a:r>
                <a:r>
                  <a:rPr lang="en-US" i="1" dirty="0" err="1">
                    <a:solidFill>
                      <a:schemeClr val="tx1"/>
                    </a:solidFill>
                  </a:rPr>
                  <a:t>obs</a:t>
                </a:r>
                <a:r>
                  <a:rPr lang="en-US" dirty="0">
                    <a:solidFill>
                      <a:schemeClr val="tx1"/>
                    </a:solidFill>
                  </a:rPr>
                  <a:t>) = .0392 x 2 = .0784</a:t>
                </a:r>
                <a:endParaRPr lang="en-US" i="1" dirty="0">
                  <a:solidFill>
                    <a:schemeClr val="tx1"/>
                  </a:solidFill>
                </a:endParaRPr>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solidFill>
                      <a:schemeClr val="tx1"/>
                    </a:solidFill>
                  </a:rPr>
                  <a:t>|1.96|</a:t>
                </a: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chemeClr val="tx1"/>
                    </a:solidFill>
                  </a:rPr>
                  <a:t>The stats problem generator group’s final exam scores (</a:t>
                </a:r>
                <a:r>
                  <a:rPr lang="en-CA" sz="2000" i="1" dirty="0">
                    <a:solidFill>
                      <a:schemeClr val="tx1"/>
                    </a:solidFill>
                  </a:rPr>
                  <a:t>x̅ </a:t>
                </a:r>
                <a:r>
                  <a:rPr lang="en-CA" sz="2000" dirty="0">
                    <a:solidFill>
                      <a:schemeClr val="tx1"/>
                    </a:solidFill>
                  </a:rPr>
                  <a:t>= </a:t>
                </a:r>
                <a:r>
                  <a:rPr lang="en-CA" sz="2000" dirty="0"/>
                  <a:t>90</a:t>
                </a:r>
                <a:r>
                  <a:rPr lang="en-CA" sz="2000" dirty="0">
                    <a:solidFill>
                      <a:schemeClr val="tx1"/>
                    </a:solidFill>
                  </a:rPr>
                  <a:t>.00%, </a:t>
                </a:r>
                <a:r>
                  <a:rPr lang="en-CA" sz="2000" i="1" dirty="0">
                    <a:solidFill>
                      <a:schemeClr val="tx1"/>
                    </a:solidFill>
                  </a:rPr>
                  <a:t>SD</a:t>
                </a:r>
                <a:r>
                  <a:rPr lang="en-CA" sz="2000" dirty="0">
                    <a:solidFill>
                      <a:schemeClr val="tx1"/>
                    </a:solidFill>
                  </a:rPr>
                  <a:t> = 1.37%, </a:t>
                </a:r>
                <a:r>
                  <a:rPr lang="en-CA" sz="2000" i="1" dirty="0">
                    <a:solidFill>
                      <a:schemeClr val="tx1"/>
                    </a:solidFill>
                  </a:rPr>
                  <a:t>n</a:t>
                </a:r>
                <a:r>
                  <a:rPr lang="en-CA" sz="2000" dirty="0">
                    <a:solidFill>
                      <a:schemeClr val="tx1"/>
                    </a:solidFill>
                  </a:rPr>
                  <a:t> = 25</a:t>
                </a:r>
                <a:r>
                  <a:rPr lang="en-US" sz="2000" dirty="0">
                    <a:solidFill>
                      <a:schemeClr val="tx1"/>
                    </a:solidFill>
                  </a:rPr>
                  <a:t>) were 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2257E4FD-10CF-9EA9-56E7-20AE26DD65BE}"/>
                  </a:ext>
                </a:extLst>
              </p:cNvPr>
              <p:cNvSpPr txBox="1">
                <a:spLocks noRot="1" noChangeAspect="1" noMove="1" noResize="1" noEditPoints="1" noAdjustHandles="1" noChangeArrowheads="1" noChangeShapeType="1" noTextEdit="1"/>
              </p:cNvSpPr>
              <p:nvPr/>
            </p:nvSpPr>
            <p:spPr>
              <a:xfrm>
                <a:off x="6095999" y="633816"/>
                <a:ext cx="5853546" cy="6271404"/>
              </a:xfrm>
              <a:prstGeom prst="rect">
                <a:avLst/>
              </a:prstGeom>
              <a:blipFill>
                <a:blip r:embed="rId2"/>
                <a:stretch>
                  <a:fillRect l="-2083" t="-2235"/>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4323E370-AAE2-97DC-BC1F-CBC354129CF8}"/>
              </a:ext>
            </a:extLst>
          </p:cNvPr>
          <p:cNvSpPr/>
          <p:nvPr/>
        </p:nvSpPr>
        <p:spPr>
          <a:xfrm>
            <a:off x="838200" y="2961861"/>
            <a:ext cx="4588565"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0160BF71-E6EF-7F91-3712-15E2D010497E}"/>
              </a:ext>
            </a:extLst>
          </p:cNvPr>
          <p:cNvSpPr/>
          <p:nvPr/>
        </p:nvSpPr>
        <p:spPr>
          <a:xfrm>
            <a:off x="5761381" y="539376"/>
            <a:ext cx="6195091"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76FB1684-76FF-0130-C55E-B25930D11AFE}"/>
              </a:ext>
            </a:extLst>
          </p:cNvPr>
          <p:cNvSpPr/>
          <p:nvPr/>
        </p:nvSpPr>
        <p:spPr>
          <a:xfrm>
            <a:off x="5761381" y="4850296"/>
            <a:ext cx="6098110"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179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76AF-B5A4-4DD2-F793-6BD57121D2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6D599-A0EA-4B18-6EFD-B52AADE9F2FD}"/>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a:t>
            </a:r>
            <a:r>
              <a:rPr lang="en-US" sz="1200" dirty="0">
                <a:solidFill>
                  <a:srgbClr val="FF0000"/>
                </a:solidFill>
              </a:rPr>
              <a:t>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US" sz="1200" dirty="0">
                <a:solidFill>
                  <a:srgbClr val="FF0000"/>
                </a:solidFill>
              </a:rPr>
              <a:t>x̅</a:t>
            </a:r>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solidFill>
                  <a:srgbClr val="FF0000"/>
                </a:solidFill>
              </a:rPr>
              <a:t>n</a:t>
            </a:r>
            <a:r>
              <a:rPr lang="en-US" sz="1200" dirty="0">
                <a:solidFill>
                  <a:srgbClr val="FF0000"/>
                </a:solidFill>
              </a:rPr>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424218E-D69C-FFC8-8E57-430F216F6B51}"/>
                  </a:ext>
                </a:extLst>
              </p:cNvPr>
              <p:cNvSpPr txBox="1">
                <a:spLocks/>
              </p:cNvSpPr>
              <p:nvPr/>
            </p:nvSpPr>
            <p:spPr>
              <a:xfrm>
                <a:off x="6095999" y="633816"/>
                <a:ext cx="5853546"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i="1" dirty="0">
                    <a:solidFill>
                      <a:srgbClr val="FF0000"/>
                    </a:solidFill>
                  </a:rPr>
                  <a:t>z</a:t>
                </a:r>
                <a:r>
                  <a:rPr lang="en-US" dirty="0">
                    <a:solidFill>
                      <a:srgbClr val="FF0000"/>
                    </a:solidFill>
                  </a:rPr>
                  <a:t>(</a:t>
                </a:r>
                <a:r>
                  <a:rPr lang="en-US" dirty="0" err="1">
                    <a:solidFill>
                      <a:srgbClr val="FF0000"/>
                    </a:solidFill>
                  </a:rPr>
                  <a:t>obs</a:t>
                </a:r>
                <a:r>
                  <a:rPr lang="en-US" dirty="0">
                    <a:solidFill>
                      <a:srgbClr val="FF0000"/>
                    </a:solidFill>
                  </a:rPr>
                  <a:t>) = </a:t>
                </a:r>
                <a14:m>
                  <m:oMath xmlns:m="http://schemas.openxmlformats.org/officeDocument/2006/math">
                    <m:f>
                      <m:fPr>
                        <m:ctrlPr>
                          <a:rPr lang="en-US" sz="2600" i="1">
                            <a:solidFill>
                              <a:srgbClr val="FF0000"/>
                            </a:solidFill>
                            <a:latin typeface="Cambria Math" panose="02040503050406030204" pitchFamily="18" charset="0"/>
                          </a:rPr>
                        </m:ctrlPr>
                      </m:fPr>
                      <m:num>
                        <m:r>
                          <a:rPr lang="en-CA" sz="2600" i="1">
                            <a:solidFill>
                              <a:srgbClr val="FF0000"/>
                            </a:solidFill>
                            <a:latin typeface="Cambria Math" panose="02040503050406030204" pitchFamily="18" charset="0"/>
                          </a:rPr>
                          <m:t>72</m:t>
                        </m:r>
                        <m:r>
                          <a:rPr lang="en-US" sz="2600" i="1">
                            <a:solidFill>
                              <a:srgbClr val="FF0000"/>
                            </a:solidFill>
                            <a:latin typeface="Cambria Math" panose="02040503050406030204" pitchFamily="18" charset="0"/>
                          </a:rPr>
                          <m:t>.</m:t>
                        </m:r>
                        <m:r>
                          <a:rPr lang="en-US" sz="2600" i="1">
                            <a:solidFill>
                              <a:srgbClr val="FF0000"/>
                            </a:solidFill>
                            <a:latin typeface="Cambria Math" panose="02040503050406030204" pitchFamily="18" charset="0"/>
                          </a:rPr>
                          <m:t>0000</m:t>
                        </m:r>
                        <m:r>
                          <a:rPr lang="en-CA" sz="2600" i="1">
                            <a:solidFill>
                              <a:srgbClr val="FF0000"/>
                            </a:solidFill>
                            <a:latin typeface="Cambria Math" panose="02040503050406030204" pitchFamily="18" charset="0"/>
                          </a:rPr>
                          <m:t> −</m:t>
                        </m:r>
                        <m:r>
                          <a:rPr lang="en-CA" sz="2600" i="1">
                            <a:solidFill>
                              <a:srgbClr val="FF0000"/>
                            </a:solidFill>
                            <a:latin typeface="Cambria Math" panose="02040503050406030204" pitchFamily="18" charset="0"/>
                          </a:rPr>
                          <m:t>90</m:t>
                        </m:r>
                        <m:r>
                          <a:rPr lang="en-CA" sz="2600" i="1">
                            <a:solidFill>
                              <a:srgbClr val="FF0000"/>
                            </a:solidFill>
                            <a:latin typeface="Cambria Math" panose="02040503050406030204" pitchFamily="18" charset="0"/>
                          </a:rPr>
                          <m:t>.</m:t>
                        </m:r>
                        <m:r>
                          <a:rPr lang="en-CA" sz="2600" i="1">
                            <a:solidFill>
                              <a:srgbClr val="FF0000"/>
                            </a:solidFill>
                            <a:latin typeface="Cambria Math" panose="02040503050406030204" pitchFamily="18" charset="0"/>
                          </a:rPr>
                          <m:t>0000</m:t>
                        </m:r>
                      </m:num>
                      <m:den>
                        <m:r>
                          <m:rPr>
                            <m:nor/>
                          </m:rPr>
                          <a:rPr lang="en-CA" sz="2600" i="0" baseline="-25000" dirty="0">
                            <a:solidFill>
                              <a:srgbClr val="FF0000"/>
                            </a:solidFill>
                            <a:latin typeface="Cambria Math" panose="02040503050406030204" pitchFamily="18" charset="0"/>
                          </a:rPr>
                          <m:t>10.2</m:t>
                        </m:r>
                        <m:r>
                          <m:rPr>
                            <m:nor/>
                          </m:rPr>
                          <a:rPr lang="en-US" sz="2600" i="0" baseline="-25000" dirty="0">
                            <a:solidFill>
                              <a:srgbClr val="FF0000"/>
                            </a:solidFill>
                            <a:latin typeface="Cambria Math" panose="02040503050406030204" pitchFamily="18" charset="0"/>
                          </a:rPr>
                          <m:t>00</m:t>
                        </m:r>
                        <m:r>
                          <m:rPr>
                            <m:nor/>
                          </m:rPr>
                          <a:rPr lang="en-CA" sz="2600" i="0" baseline="-25000" dirty="0">
                            <a:solidFill>
                              <a:srgbClr val="FF0000"/>
                            </a:solidFill>
                            <a:latin typeface="Cambria Math" panose="02040503050406030204" pitchFamily="18" charset="0"/>
                          </a:rPr>
                          <m:t>0</m:t>
                        </m:r>
                      </m:den>
                    </m:f>
                  </m:oMath>
                </a14:m>
                <a:r>
                  <a:rPr lang="en-US" sz="2600" dirty="0">
                    <a:solidFill>
                      <a:srgbClr val="FF0000"/>
                    </a:solidFill>
                  </a:rPr>
                  <a:t>  = -1.7647</a:t>
                </a:r>
              </a:p>
              <a:p>
                <a:r>
                  <a:rPr lang="en-US" i="1" dirty="0"/>
                  <a:t>p</a:t>
                </a:r>
                <a:r>
                  <a:rPr lang="en-US" dirty="0"/>
                  <a:t>(</a:t>
                </a:r>
                <a:r>
                  <a:rPr lang="en-US" i="1" dirty="0" err="1"/>
                  <a:t>obs</a:t>
                </a:r>
                <a:r>
                  <a:rPr lang="en-US" dirty="0"/>
                  <a:t>) = .0392 x 2 = .0784</a:t>
                </a:r>
                <a:endParaRPr lang="en-US" i="1" dirty="0"/>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t>|1.96|</a:t>
                </a:r>
                <a:endParaRPr lang="en-US" sz="2000" dirty="0">
                  <a:solidFill>
                    <a:schemeClr val="tx1"/>
                  </a:solidFill>
                </a:endParaRP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rgbClr val="FF0000"/>
                    </a:solidFill>
                  </a:rPr>
                  <a:t>The stats problem generator group’s final exam scores (</a:t>
                </a:r>
                <a:r>
                  <a:rPr lang="en-CA" sz="2000" i="1" dirty="0">
                    <a:solidFill>
                      <a:srgbClr val="FF0000"/>
                    </a:solidFill>
                  </a:rPr>
                  <a:t>x̅ </a:t>
                </a:r>
                <a:r>
                  <a:rPr lang="en-CA" sz="2000" dirty="0">
                    <a:solidFill>
                      <a:srgbClr val="FF0000"/>
                    </a:solidFill>
                  </a:rPr>
                  <a:t>= 90.00%, </a:t>
                </a:r>
                <a:r>
                  <a:rPr lang="en-CA" sz="2000" i="1" dirty="0">
                    <a:solidFill>
                      <a:srgbClr val="FF0000"/>
                    </a:solidFill>
                  </a:rPr>
                  <a:t>SD</a:t>
                </a:r>
                <a:r>
                  <a:rPr lang="en-CA" sz="2000" dirty="0">
                    <a:solidFill>
                      <a:srgbClr val="FF0000"/>
                    </a:solidFill>
                  </a:rPr>
                  <a:t> = 1.37%, </a:t>
                </a:r>
                <a:r>
                  <a:rPr lang="en-CA" sz="2000" i="1" dirty="0">
                    <a:solidFill>
                      <a:srgbClr val="FF0000"/>
                    </a:solidFill>
                  </a:rPr>
                  <a:t>n</a:t>
                </a:r>
                <a:r>
                  <a:rPr lang="en-CA" sz="2000" dirty="0">
                    <a:solidFill>
                      <a:srgbClr val="FF0000"/>
                    </a:solidFill>
                  </a:rPr>
                  <a:t> = 25</a:t>
                </a:r>
                <a:r>
                  <a:rPr lang="en-US" sz="2000" dirty="0">
                    <a:solidFill>
                      <a:srgbClr val="FF0000"/>
                    </a:solidFill>
                  </a:rPr>
                  <a:t>) were </a:t>
                </a:r>
                <a:r>
                  <a:rPr lang="en-US" sz="2000" dirty="0">
                    <a:solidFill>
                      <a:schemeClr val="tx1"/>
                    </a:solidFill>
                  </a:rPr>
                  <a:t>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a:t>
                </a:r>
                <a:r>
                  <a:rPr lang="en-US" sz="2000" dirty="0">
                    <a:solidFill>
                      <a:schemeClr val="tx1"/>
                    </a:solidFill>
                  </a:rPr>
                  <a:t>.</a:t>
                </a:r>
                <a:r>
                  <a:rPr lang="en-US" sz="2000" dirty="0"/>
                  <a:t>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9424218E-D69C-FFC8-8E57-430F216F6B51}"/>
                  </a:ext>
                </a:extLst>
              </p:cNvPr>
              <p:cNvSpPr txBox="1">
                <a:spLocks noRot="1" noChangeAspect="1" noMove="1" noResize="1" noEditPoints="1" noAdjustHandles="1" noChangeArrowheads="1" noChangeShapeType="1" noTextEdit="1"/>
              </p:cNvSpPr>
              <p:nvPr/>
            </p:nvSpPr>
            <p:spPr>
              <a:xfrm>
                <a:off x="6095999" y="633816"/>
                <a:ext cx="5853546" cy="6271404"/>
              </a:xfrm>
              <a:prstGeom prst="rect">
                <a:avLst/>
              </a:prstGeom>
              <a:blipFill>
                <a:blip r:embed="rId2"/>
                <a:stretch>
                  <a:fillRect l="-2083" t="-2235"/>
                </a:stretch>
              </a:blipFill>
            </p:spPr>
            <p:txBody>
              <a:bodyPr/>
              <a:lstStyle/>
              <a:p>
                <a:r>
                  <a:rPr lang="en-US">
                    <a:noFill/>
                  </a:rPr>
                  <a:t> </a:t>
                </a:r>
              </a:p>
            </p:txBody>
          </p:sp>
        </mc:Fallback>
      </mc:AlternateContent>
      <p:sp>
        <p:nvSpPr>
          <p:cNvPr id="2" name="Rounded Rectangle 1">
            <a:extLst>
              <a:ext uri="{FF2B5EF4-FFF2-40B4-BE49-F238E27FC236}">
                <a16:creationId xmlns:a16="http://schemas.microsoft.com/office/drawing/2014/main" id="{53AA15E5-D2F7-DC7C-CB5B-1173A667F4C7}"/>
              </a:ext>
            </a:extLst>
          </p:cNvPr>
          <p:cNvSpPr/>
          <p:nvPr/>
        </p:nvSpPr>
        <p:spPr>
          <a:xfrm>
            <a:off x="838200" y="2961861"/>
            <a:ext cx="4588565"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DC3F2B4-BA8B-08F9-61BA-4C9B47662D76}"/>
              </a:ext>
            </a:extLst>
          </p:cNvPr>
          <p:cNvSpPr/>
          <p:nvPr/>
        </p:nvSpPr>
        <p:spPr>
          <a:xfrm>
            <a:off x="5761381" y="539376"/>
            <a:ext cx="6195091"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2F20A6ED-2116-5E40-2300-F18FBB14E463}"/>
              </a:ext>
            </a:extLst>
          </p:cNvPr>
          <p:cNvSpPr/>
          <p:nvPr/>
        </p:nvSpPr>
        <p:spPr>
          <a:xfrm>
            <a:off x="5761381" y="4850296"/>
            <a:ext cx="6098110"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1900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2E6D-D057-A647-BB2F-24B9AF0C561A}"/>
              </a:ext>
            </a:extLst>
          </p:cNvPr>
          <p:cNvSpPr>
            <a:spLocks noGrp="1"/>
          </p:cNvSpPr>
          <p:nvPr>
            <p:ph type="title"/>
          </p:nvPr>
        </p:nvSpPr>
        <p:spPr/>
        <p:txBody>
          <a:bodyPr/>
          <a:lstStyle/>
          <a:p>
            <a:r>
              <a:rPr lang="en-US" dirty="0"/>
              <a:t>Step 2 - Changes </a:t>
            </a:r>
          </a:p>
        </p:txBody>
      </p:sp>
      <p:graphicFrame>
        <p:nvGraphicFramePr>
          <p:cNvPr id="6" name="Table 6">
            <a:extLst>
              <a:ext uri="{FF2B5EF4-FFF2-40B4-BE49-F238E27FC236}">
                <a16:creationId xmlns:a16="http://schemas.microsoft.com/office/drawing/2014/main" id="{65847B1B-AABC-E341-8F28-A2D6CE0281FD}"/>
              </a:ext>
            </a:extLst>
          </p:cNvPr>
          <p:cNvGraphicFramePr>
            <a:graphicFrameLocks noGrp="1"/>
          </p:cNvGraphicFramePr>
          <p:nvPr>
            <p:extLst>
              <p:ext uri="{D42A27DB-BD31-4B8C-83A1-F6EECF244321}">
                <p14:modId xmlns:p14="http://schemas.microsoft.com/office/powerpoint/2010/main" val="4287798530"/>
              </p:ext>
            </p:extLst>
          </p:nvPr>
        </p:nvGraphicFramePr>
        <p:xfrm>
          <a:off x="185650" y="1870302"/>
          <a:ext cx="11820699" cy="4432470"/>
        </p:xfrm>
        <a:graphic>
          <a:graphicData uri="http://schemas.openxmlformats.org/drawingml/2006/table">
            <a:tbl>
              <a:tblPr firstRow="1" bandRow="1">
                <a:tableStyleId>{5C22544A-7EE6-4342-B048-85BDC9FD1C3A}</a:tableStyleId>
              </a:tblPr>
              <a:tblGrid>
                <a:gridCol w="3940233">
                  <a:extLst>
                    <a:ext uri="{9D8B030D-6E8A-4147-A177-3AD203B41FA5}">
                      <a16:colId xmlns:a16="http://schemas.microsoft.com/office/drawing/2014/main" val="4004983389"/>
                    </a:ext>
                  </a:extLst>
                </a:gridCol>
                <a:gridCol w="3940233">
                  <a:extLst>
                    <a:ext uri="{9D8B030D-6E8A-4147-A177-3AD203B41FA5}">
                      <a16:colId xmlns:a16="http://schemas.microsoft.com/office/drawing/2014/main" val="3608128689"/>
                    </a:ext>
                  </a:extLst>
                </a:gridCol>
                <a:gridCol w="3940233">
                  <a:extLst>
                    <a:ext uri="{9D8B030D-6E8A-4147-A177-3AD203B41FA5}">
                      <a16:colId xmlns:a16="http://schemas.microsoft.com/office/drawing/2014/main" val="3990134810"/>
                    </a:ext>
                  </a:extLst>
                </a:gridCol>
              </a:tblGrid>
              <a:tr h="520734">
                <a:tc>
                  <a:txBody>
                    <a:bodyPr/>
                    <a:lstStyle/>
                    <a:p>
                      <a:r>
                        <a:rPr lang="en-US" sz="2400" dirty="0">
                          <a:solidFill>
                            <a:schemeClr val="tx1"/>
                          </a:solidFill>
                        </a:rPr>
                        <a:t>Type of Research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Participant Design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rgbClr val="FF0000"/>
                          </a:solidFill>
                        </a:rPr>
                        <a:t>Single Sample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rgbClr val="FF0000"/>
                          </a:solidFill>
                        </a:rPr>
                        <a:t>(parameters known)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520734">
                <a:tc>
                  <a:txBody>
                    <a:bodyPr/>
                    <a:lstStyle/>
                    <a:p>
                      <a:r>
                        <a:rPr lang="en-US" sz="2400" b="1" dirty="0">
                          <a:solidFill>
                            <a:schemeClr val="tx1"/>
                          </a:solidFill>
                        </a:rPr>
                        <a:t>Model of Hypothesis 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Random Sampling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Random Sampling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834762"/>
                  </a:ext>
                </a:extLst>
              </a:tr>
              <a:tr h="520734">
                <a:tc>
                  <a:txBody>
                    <a:bodyPr/>
                    <a:lstStyle/>
                    <a:p>
                      <a:r>
                        <a:rPr lang="en-US" sz="2400" b="1" dirty="0">
                          <a:solidFill>
                            <a:schemeClr val="tx1"/>
                          </a:solidFill>
                        </a:rPr>
                        <a:t>Nature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Score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Score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837357"/>
                  </a:ext>
                </a:extLst>
              </a:tr>
              <a:tr h="520734">
                <a:tc>
                  <a:txBody>
                    <a:bodyPr/>
                    <a:lstStyle/>
                    <a:p>
                      <a:r>
                        <a:rPr lang="en-US" sz="2400" b="1" dirty="0">
                          <a:solidFill>
                            <a:schemeClr val="tx1"/>
                          </a:solidFill>
                        </a:rPr>
                        <a:t>Statistic Being Analyzed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n-CA" sz="2400" kern="1200" dirty="0">
                          <a:solidFill>
                            <a:schemeClr val="tx1"/>
                          </a:solidFill>
                          <a:latin typeface="+mn-lt"/>
                          <a:ea typeface="+mn-ea"/>
                          <a:cs typeface="+mn-cs"/>
                        </a:rPr>
                        <a:t>x̅</a:t>
                      </a:r>
                      <a:endParaRPr lang="en-US" sz="2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7493759"/>
                  </a:ext>
                </a:extLst>
              </a:tr>
              <a:tr h="520734">
                <a:tc>
                  <a:txBody>
                    <a:bodyPr/>
                    <a:lstStyle/>
                    <a:p>
                      <a:r>
                        <a:rPr lang="en-US" sz="2400" b="1" dirty="0">
                          <a:solidFill>
                            <a:schemeClr val="tx1"/>
                          </a:solidFill>
                        </a:rPr>
                        <a:t>Information of Population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l-GR" sz="2400" dirty="0"/>
                        <a:t>μ</a:t>
                      </a:r>
                      <a:r>
                        <a:rPr lang="en-US" sz="2400" dirty="0"/>
                        <a:t> &amp; </a:t>
                      </a:r>
                      <a:r>
                        <a:rPr lang="en-US" sz="2400" dirty="0" err="1"/>
                        <a:t>σ</a:t>
                      </a:r>
                      <a:r>
                        <a:rPr lang="en-US" sz="2400" dirty="0"/>
                        <a:t> known</a:t>
                      </a:r>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400" dirty="0"/>
                        <a:t>μ</a:t>
                      </a:r>
                      <a:r>
                        <a:rPr lang="en-US" sz="2400" dirty="0"/>
                        <a:t> &amp; </a:t>
                      </a:r>
                      <a:r>
                        <a:rPr lang="en-US" sz="2400" dirty="0" err="1"/>
                        <a:t>σ</a:t>
                      </a:r>
                      <a:r>
                        <a:rPr lang="en-US" sz="2400" dirty="0"/>
                        <a:t>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844694"/>
                  </a:ext>
                </a:extLst>
              </a:tr>
              <a:tr h="520734">
                <a:tc>
                  <a:txBody>
                    <a:bodyPr/>
                    <a:lstStyle/>
                    <a:p>
                      <a:r>
                        <a:rPr lang="en-US" sz="2400" b="1" dirty="0">
                          <a:solidFill>
                            <a:schemeClr val="tx1"/>
                          </a:solidFill>
                        </a:rPr>
                        <a:t>Sample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i="1" dirty="0">
                          <a:solidFill>
                            <a:schemeClr val="tx1"/>
                          </a:solidFill>
                        </a:rPr>
                        <a:t>n</a:t>
                      </a:r>
                      <a:r>
                        <a:rPr lang="en-US" sz="2400" dirty="0">
                          <a:solidFill>
                            <a:schemeClr val="tx1"/>
                          </a:solidFill>
                        </a:rPr>
                        <a:t> =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i="1" dirty="0">
                          <a:solidFill>
                            <a:srgbClr val="FF0000"/>
                          </a:solidFill>
                        </a:rPr>
                        <a:t>n</a:t>
                      </a:r>
                      <a:r>
                        <a:rPr lang="en-US" sz="2400" dirty="0">
                          <a:solidFill>
                            <a:srgbClr val="FF0000"/>
                          </a:solidFill>
                        </a:rPr>
                        <a:t> = ___</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408113"/>
                  </a:ext>
                </a:extLst>
              </a:tr>
              <a:tr h="520734">
                <a:tc>
                  <a:txBody>
                    <a:bodyPr/>
                    <a:lstStyle/>
                    <a:p>
                      <a:r>
                        <a:rPr lang="en-US" sz="2400" b="1" dirty="0">
                          <a:solidFill>
                            <a:schemeClr val="tx1"/>
                          </a:solidFill>
                        </a:rPr>
                        <a:t>Sampling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Sampling Distribution of a Score when population parameters are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rgbClr val="FF0000"/>
                          </a:solidFill>
                        </a:rPr>
                        <a:t>Sampling Distribution of the </a:t>
                      </a:r>
                      <a:r>
                        <a:rPr lang="en-US" sz="2000" b="1" dirty="0">
                          <a:solidFill>
                            <a:srgbClr val="FF0000"/>
                          </a:solidFill>
                        </a:rPr>
                        <a:t>Mean</a:t>
                      </a:r>
                      <a:r>
                        <a:rPr lang="en-US" sz="2000" dirty="0">
                          <a:solidFill>
                            <a:srgbClr val="FF0000"/>
                          </a:solidFill>
                        </a:rPr>
                        <a:t> when </a:t>
                      </a:r>
                      <a:r>
                        <a:rPr lang="en-US" sz="2000" b="1" dirty="0">
                          <a:solidFill>
                            <a:srgbClr val="FF0000"/>
                          </a:solidFill>
                        </a:rPr>
                        <a:t>n = ___ </a:t>
                      </a:r>
                      <a:r>
                        <a:rPr lang="en-US" sz="2000" dirty="0">
                          <a:solidFill>
                            <a:srgbClr val="FF0000"/>
                          </a:solidFill>
                        </a:rPr>
                        <a:t>and population parameters are </a:t>
                      </a:r>
                      <a:r>
                        <a:rPr lang="en-US" sz="2000" b="1" dirty="0">
                          <a:solidFill>
                            <a:srgbClr val="FF0000"/>
                          </a:solidFill>
                        </a:rPr>
                        <a:t>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599451"/>
                  </a:ext>
                </a:extLst>
              </a:tr>
            </a:tbl>
          </a:graphicData>
        </a:graphic>
      </p:graphicFrame>
    </p:spTree>
    <p:extLst>
      <p:ext uri="{BB962C8B-B14F-4D97-AF65-F5344CB8AC3E}">
        <p14:creationId xmlns:p14="http://schemas.microsoft.com/office/powerpoint/2010/main" val="3800346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0E27C-E90F-26A0-AFED-B1E31885FD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012C3F-6972-B45F-DBA7-51EA2FBE6F98}"/>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a:t>
            </a:r>
            <a:r>
              <a:rPr lang="en-US" sz="1200" dirty="0">
                <a:solidFill>
                  <a:srgbClr val="FF0000"/>
                </a:solidFill>
              </a:rPr>
              <a:t>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US" sz="1200" dirty="0">
                <a:solidFill>
                  <a:srgbClr val="FF0000"/>
                </a:solidFill>
              </a:rPr>
              <a:t>x̅</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solidFill>
                  <a:srgbClr val="FF0000"/>
                </a:solidFill>
              </a:rPr>
              <a:t>n</a:t>
            </a:r>
            <a:r>
              <a:rPr lang="en-US" sz="1200" dirty="0">
                <a:solidFill>
                  <a:srgbClr val="FF0000"/>
                </a:solidFill>
              </a:rPr>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7A24F32-F68B-94B1-9265-7F65BE98B27C}"/>
                  </a:ext>
                </a:extLst>
              </p:cNvPr>
              <p:cNvSpPr txBox="1">
                <a:spLocks/>
              </p:cNvSpPr>
              <p:nvPr/>
            </p:nvSpPr>
            <p:spPr>
              <a:xfrm>
                <a:off x="6096000" y="633816"/>
                <a:ext cx="5257800" cy="627140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i="1" dirty="0"/>
                  <a:t>z</a:t>
                </a:r>
                <a:r>
                  <a:rPr lang="en-US" dirty="0"/>
                  <a:t>(</a:t>
                </a:r>
                <a:r>
                  <a:rPr lang="en-US" dirty="0" err="1"/>
                  <a:t>obs</a:t>
                </a:r>
                <a:r>
                  <a:rPr lang="en-US" dirty="0"/>
                  <a:t>) = </a:t>
                </a:r>
                <a14:m>
                  <m:oMath xmlns:m="http://schemas.openxmlformats.org/officeDocument/2006/math">
                    <m:f>
                      <m:fPr>
                        <m:ctrlPr>
                          <a:rPr lang="en-US" i="1">
                            <a:latin typeface="Cambria Math" panose="02040503050406030204" pitchFamily="18" charset="0"/>
                          </a:rPr>
                        </m:ctrlPr>
                      </m:fPr>
                      <m:num>
                        <m:r>
                          <a:rPr lang="en-CA" i="1">
                            <a:latin typeface="Cambria Math" panose="02040503050406030204" pitchFamily="18" charset="0"/>
                          </a:rPr>
                          <m:t>72</m:t>
                        </m:r>
                        <m:r>
                          <a:rPr lang="en-US" i="1">
                            <a:latin typeface="Cambria Math" panose="02040503050406030204" pitchFamily="18" charset="0"/>
                          </a:rPr>
                          <m:t>.</m:t>
                        </m:r>
                        <m:r>
                          <a:rPr lang="en-US" i="1">
                            <a:latin typeface="Cambria Math" panose="02040503050406030204" pitchFamily="18" charset="0"/>
                          </a:rPr>
                          <m:t>0000</m:t>
                        </m:r>
                        <m:r>
                          <a:rPr lang="en-CA" i="1">
                            <a:latin typeface="Cambria Math" panose="02040503050406030204" pitchFamily="18" charset="0"/>
                          </a:rPr>
                          <m:t> −</m:t>
                        </m:r>
                        <m:r>
                          <a:rPr lang="en-CA" i="1">
                            <a:latin typeface="Cambria Math" panose="02040503050406030204" pitchFamily="18" charset="0"/>
                          </a:rPr>
                          <m:t>90</m:t>
                        </m:r>
                        <m:r>
                          <a:rPr lang="en-CA" i="1">
                            <a:latin typeface="Cambria Math" panose="02040503050406030204" pitchFamily="18" charset="0"/>
                          </a:rPr>
                          <m:t>.</m:t>
                        </m:r>
                        <m:r>
                          <a:rPr lang="en-CA" i="1">
                            <a:latin typeface="Cambria Math" panose="02040503050406030204" pitchFamily="18" charset="0"/>
                          </a:rPr>
                          <m:t>0000</m:t>
                        </m:r>
                      </m:num>
                      <m:den>
                        <m:r>
                          <m:rPr>
                            <m:nor/>
                          </m:rPr>
                          <a:rPr lang="en-CA" i="0" baseline="-25000" dirty="0">
                            <a:latin typeface="Cambria Math" panose="02040503050406030204" pitchFamily="18" charset="0"/>
                          </a:rPr>
                          <m:t>10.2</m:t>
                        </m:r>
                        <m:r>
                          <m:rPr>
                            <m:nor/>
                          </m:rPr>
                          <a:rPr lang="en-US" i="0" baseline="-25000" dirty="0">
                            <a:latin typeface="Cambria Math" panose="02040503050406030204" pitchFamily="18" charset="0"/>
                          </a:rPr>
                          <m:t>00</m:t>
                        </m:r>
                        <m:r>
                          <m:rPr>
                            <m:nor/>
                          </m:rPr>
                          <a:rPr lang="en-CA" i="0" baseline="-25000" dirty="0">
                            <a:latin typeface="Cambria Math" panose="02040503050406030204" pitchFamily="18" charset="0"/>
                          </a:rPr>
                          <m:t>0</m:t>
                        </m:r>
                      </m:den>
                    </m:f>
                  </m:oMath>
                </a14:m>
                <a:r>
                  <a:rPr lang="en-US" dirty="0"/>
                  <a:t>  = -1.7647</a:t>
                </a:r>
              </a:p>
              <a:p>
                <a:r>
                  <a:rPr lang="en-US" i="1" dirty="0">
                    <a:solidFill>
                      <a:schemeClr val="tx1"/>
                    </a:solidFill>
                  </a:rPr>
                  <a:t>p</a:t>
                </a:r>
                <a:r>
                  <a:rPr lang="en-US" dirty="0">
                    <a:solidFill>
                      <a:schemeClr val="tx1"/>
                    </a:solidFill>
                  </a:rPr>
                  <a:t>(</a:t>
                </a:r>
                <a:r>
                  <a:rPr lang="en-US" i="1" dirty="0" err="1">
                    <a:solidFill>
                      <a:schemeClr val="tx1"/>
                    </a:solidFill>
                  </a:rPr>
                  <a:t>obs</a:t>
                </a:r>
                <a:r>
                  <a:rPr lang="en-US" dirty="0">
                    <a:solidFill>
                      <a:schemeClr val="tx1"/>
                    </a:solidFill>
                  </a:rPr>
                  <a:t>) = .0392 x 2 = .0784</a:t>
                </a:r>
                <a:endParaRPr lang="en-US" i="1" dirty="0">
                  <a:solidFill>
                    <a:schemeClr val="tx1"/>
                  </a:solidFill>
                </a:endParaRPr>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t>|1.96|</a:t>
                </a:r>
                <a:endParaRPr lang="en-US" sz="2000" dirty="0">
                  <a:solidFill>
                    <a:schemeClr val="tx1"/>
                  </a:solidFill>
                </a:endParaRP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chemeClr val="tx1"/>
                    </a:solidFill>
                  </a:rPr>
                  <a:t>The stats problem generator group’s final exam scores (</a:t>
                </a:r>
                <a:r>
                  <a:rPr lang="en-CA" sz="2000" i="1" dirty="0">
                    <a:solidFill>
                      <a:schemeClr val="tx1"/>
                    </a:solidFill>
                  </a:rPr>
                  <a:t>x̅ </a:t>
                </a:r>
                <a:r>
                  <a:rPr lang="en-CA" sz="2000" dirty="0">
                    <a:solidFill>
                      <a:schemeClr val="tx1"/>
                    </a:solidFill>
                  </a:rPr>
                  <a:t>= </a:t>
                </a:r>
                <a:r>
                  <a:rPr lang="en-CA" sz="2000" dirty="0"/>
                  <a:t>90</a:t>
                </a:r>
                <a:r>
                  <a:rPr lang="en-CA" sz="2000" dirty="0">
                    <a:solidFill>
                      <a:schemeClr val="tx1"/>
                    </a:solidFill>
                  </a:rPr>
                  <a:t>.00%, </a:t>
                </a:r>
                <a:r>
                  <a:rPr lang="en-CA" sz="2000" i="1" dirty="0">
                    <a:solidFill>
                      <a:schemeClr val="tx1"/>
                    </a:solidFill>
                  </a:rPr>
                  <a:t>SD</a:t>
                </a:r>
                <a:r>
                  <a:rPr lang="en-CA" sz="2000" dirty="0">
                    <a:solidFill>
                      <a:schemeClr val="tx1"/>
                    </a:solidFill>
                  </a:rPr>
                  <a:t> = 1.37%, </a:t>
                </a:r>
                <a:r>
                  <a:rPr lang="en-CA" sz="2000" i="1" dirty="0">
                    <a:solidFill>
                      <a:schemeClr val="tx1"/>
                    </a:solidFill>
                  </a:rPr>
                  <a:t>n</a:t>
                </a:r>
                <a:r>
                  <a:rPr lang="en-CA" sz="2000" dirty="0">
                    <a:solidFill>
                      <a:schemeClr val="tx1"/>
                    </a:solidFill>
                  </a:rPr>
                  <a:t> = 25</a:t>
                </a:r>
                <a:r>
                  <a:rPr lang="en-US" sz="2000" dirty="0">
                    <a:solidFill>
                      <a:schemeClr val="tx1"/>
                    </a:solidFill>
                  </a:rPr>
                  <a:t>) were 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57A24F32-F68B-94B1-9265-7F65BE98B27C}"/>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086" t="-1458"/>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2952BEEB-7E9F-563B-F345-3C245D63A7CC}"/>
              </a:ext>
            </a:extLst>
          </p:cNvPr>
          <p:cNvSpPr/>
          <p:nvPr/>
        </p:nvSpPr>
        <p:spPr>
          <a:xfrm>
            <a:off x="838200" y="2956994"/>
            <a:ext cx="4588565"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1666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2E6D-D057-A647-BB2F-24B9AF0C561A}"/>
              </a:ext>
            </a:extLst>
          </p:cNvPr>
          <p:cNvSpPr>
            <a:spLocks noGrp="1"/>
          </p:cNvSpPr>
          <p:nvPr>
            <p:ph type="title"/>
          </p:nvPr>
        </p:nvSpPr>
        <p:spPr/>
        <p:txBody>
          <a:bodyPr/>
          <a:lstStyle/>
          <a:p>
            <a:r>
              <a:rPr lang="en-US" dirty="0"/>
              <a:t>Step 4 - Changes </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65847B1B-AABC-E341-8F28-A2D6CE0281FD}"/>
                  </a:ext>
                </a:extLst>
              </p:cNvPr>
              <p:cNvGraphicFramePr>
                <a:graphicFrameLocks noGrp="1"/>
              </p:cNvGraphicFramePr>
              <p:nvPr>
                <p:extLst>
                  <p:ext uri="{D42A27DB-BD31-4B8C-83A1-F6EECF244321}">
                    <p14:modId xmlns:p14="http://schemas.microsoft.com/office/powerpoint/2010/main" val="74739917"/>
                  </p:ext>
                </p:extLst>
              </p:nvPr>
            </p:nvGraphicFramePr>
            <p:xfrm>
              <a:off x="838200" y="2251011"/>
              <a:ext cx="10547625" cy="3595497"/>
            </p:xfrm>
            <a:graphic>
              <a:graphicData uri="http://schemas.openxmlformats.org/drawingml/2006/table">
                <a:tbl>
                  <a:tblPr firstRow="1" bandRow="1">
                    <a:tableStyleId>{5C22544A-7EE6-4342-B048-85BDC9FD1C3A}</a:tableStyleId>
                  </a:tblPr>
                  <a:tblGrid>
                    <a:gridCol w="3676048">
                      <a:extLst>
                        <a:ext uri="{9D8B030D-6E8A-4147-A177-3AD203B41FA5}">
                          <a16:colId xmlns:a16="http://schemas.microsoft.com/office/drawing/2014/main" val="4004983389"/>
                        </a:ext>
                      </a:extLst>
                    </a:gridCol>
                    <a:gridCol w="3355702">
                      <a:extLst>
                        <a:ext uri="{9D8B030D-6E8A-4147-A177-3AD203B41FA5}">
                          <a16:colId xmlns:a16="http://schemas.microsoft.com/office/drawing/2014/main" val="3608128689"/>
                        </a:ext>
                      </a:extLst>
                    </a:gridCol>
                    <a:gridCol w="3515875">
                      <a:extLst>
                        <a:ext uri="{9D8B030D-6E8A-4147-A177-3AD203B41FA5}">
                          <a16:colId xmlns:a16="http://schemas.microsoft.com/office/drawing/2014/main" val="3990134810"/>
                        </a:ext>
                      </a:extLst>
                    </a:gridCol>
                  </a:tblGrid>
                  <a:tr h="520734">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Participant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Sample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(parameters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520734">
                    <a:tc>
                      <a:txBody>
                        <a:bodyPr/>
                        <a:lstStyle/>
                        <a:p>
                          <a:r>
                            <a:rPr lang="en-US" sz="2400" b="1" dirty="0">
                              <a:solidFill>
                                <a:schemeClr val="tx1"/>
                              </a:solidFill>
                            </a:rPr>
                            <a:t>Test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chemeClr val="tx1"/>
                                        </a:solidFill>
                                        <a:latin typeface="Cambria Math" panose="02040503050406030204" pitchFamily="18" charset="0"/>
                                      </a:rPr>
                                    </m:ctrlPr>
                                  </m:sSubPr>
                                  <m:e>
                                    <m:r>
                                      <a:rPr lang="en-US" sz="3200" b="0" i="1" smtClean="0">
                                        <a:solidFill>
                                          <a:schemeClr val="tx1"/>
                                        </a:solidFill>
                                        <a:latin typeface="Cambria Math" panose="02040503050406030204" pitchFamily="18" charset="0"/>
                                      </a:rPr>
                                      <m:t>𝑧</m:t>
                                    </m:r>
                                  </m:e>
                                  <m:sub>
                                    <m:r>
                                      <a:rPr lang="en-US" sz="3200" b="0" i="1" smtClean="0">
                                        <a:solidFill>
                                          <a:schemeClr val="tx1"/>
                                        </a:solidFill>
                                        <a:latin typeface="Cambria Math" panose="02040503050406030204" pitchFamily="18" charset="0"/>
                                      </a:rPr>
                                      <m:t>𝑥</m:t>
                                    </m:r>
                                  </m:sub>
                                </m:sSub>
                                <m:r>
                                  <a:rPr lang="en-US" sz="3200" b="0" i="1" smtClean="0">
                                    <a:solidFill>
                                      <a:schemeClr val="tx1"/>
                                    </a:solidFill>
                                    <a:latin typeface="Cambria Math" panose="02040503050406030204" pitchFamily="18" charset="0"/>
                                  </a:rPr>
                                  <m:t>=</m:t>
                                </m:r>
                                <m:f>
                                  <m:fPr>
                                    <m:ctrlPr>
                                      <a:rPr lang="en-US" sz="3200" i="1" smtClean="0">
                                        <a:solidFill>
                                          <a:schemeClr val="tx1"/>
                                        </a:solidFill>
                                        <a:latin typeface="Cambria Math" panose="02040503050406030204" pitchFamily="18" charset="0"/>
                                      </a:rPr>
                                    </m:ctrlPr>
                                  </m:fPr>
                                  <m:num>
                                    <m:r>
                                      <a:rPr lang="en-US" sz="3200" b="0" i="1" smtClean="0">
                                        <a:solidFill>
                                          <a:schemeClr val="tx1"/>
                                        </a:solidFill>
                                        <a:latin typeface="Cambria Math" panose="02040503050406030204" pitchFamily="18" charset="0"/>
                                      </a:rPr>
                                      <m:t>𝑥</m:t>
                                    </m:r>
                                    <m:r>
                                      <a:rPr lang="en-CA" sz="3200" b="0" i="1" smtClean="0">
                                        <a:solidFill>
                                          <a:schemeClr val="tx1"/>
                                        </a:solidFill>
                                        <a:latin typeface="Cambria Math" panose="02040503050406030204" pitchFamily="18" charset="0"/>
                                      </a:rPr>
                                      <m:t> −</m:t>
                                    </m:r>
                                    <m:sSub>
                                      <m:sSubPr>
                                        <m:ctrlPr>
                                          <a:rPr lang="el-GR" sz="3200" i="1" dirty="0" smtClean="0">
                                            <a:solidFill>
                                              <a:schemeClr val="tx1"/>
                                            </a:solidFill>
                                            <a:latin typeface="Cambria Math" panose="02040503050406030204" pitchFamily="18" charset="0"/>
                                          </a:rPr>
                                        </m:ctrlPr>
                                      </m:sSubPr>
                                      <m:e>
                                        <m:r>
                                          <m:rPr>
                                            <m:nor/>
                                          </m:rPr>
                                          <a:rPr lang="el-GR" sz="3200" i="1" dirty="0" smtClean="0">
                                            <a:solidFill>
                                              <a:schemeClr val="tx1"/>
                                            </a:solidFill>
                                          </a:rPr>
                                          <m:t>μ</m:t>
                                        </m:r>
                                      </m:e>
                                      <m:sub>
                                        <m:r>
                                          <a:rPr lang="en-US" sz="3200" b="0" i="1" dirty="0" smtClean="0">
                                            <a:solidFill>
                                              <a:schemeClr val="tx1"/>
                                            </a:solidFill>
                                            <a:latin typeface="Cambria Math" panose="02040503050406030204" pitchFamily="18" charset="0"/>
                                          </a:rPr>
                                          <m:t>𝑥</m:t>
                                        </m:r>
                                      </m:sub>
                                    </m:sSub>
                                  </m:num>
                                  <m:den>
                                    <m:sSub>
                                      <m:sSubPr>
                                        <m:ctrlPr>
                                          <a:rPr lang="en-US" sz="3200" i="1" dirty="0" smtClean="0">
                                            <a:solidFill>
                                              <a:schemeClr val="tx1"/>
                                            </a:solidFill>
                                            <a:latin typeface="Cambria Math" panose="02040503050406030204" pitchFamily="18" charset="0"/>
                                          </a:rPr>
                                        </m:ctrlPr>
                                      </m:sSubPr>
                                      <m:e>
                                        <m:r>
                                          <m:rPr>
                                            <m:nor/>
                                          </m:rPr>
                                          <a:rPr lang="en-US" sz="3200" i="1" dirty="0" smtClean="0">
                                            <a:solidFill>
                                              <a:schemeClr val="tx1"/>
                                            </a:solidFill>
                                          </a:rPr>
                                          <m:t>σ</m:t>
                                        </m:r>
                                      </m:e>
                                      <m:sub>
                                        <m:r>
                                          <a:rPr lang="en-US" sz="3200" b="0" i="1" dirty="0" smtClean="0">
                                            <a:solidFill>
                                              <a:schemeClr val="tx1"/>
                                            </a:solidFill>
                                            <a:latin typeface="Cambria Math" panose="02040503050406030204" pitchFamily="18" charset="0"/>
                                          </a:rPr>
                                          <m:t>𝑥</m:t>
                                        </m:r>
                                      </m:sub>
                                    </m:sSub>
                                  </m:den>
                                </m:f>
                              </m:oMath>
                            </m:oMathPara>
                          </a14:m>
                          <a:endParaRPr lang="en-US" sz="32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b="0" i="1" smtClean="0">
                                        <a:solidFill>
                                          <a:srgbClr val="FF0000"/>
                                        </a:solidFill>
                                        <a:latin typeface="Cambria Math" panose="02040503050406030204" pitchFamily="18" charset="0"/>
                                      </a:rPr>
                                      <m:t>𝑧</m:t>
                                    </m:r>
                                  </m:e>
                                  <m:sub>
                                    <m:r>
                                      <a:rPr lang="en-US" sz="3200" b="0" i="1" smtClean="0">
                                        <a:solidFill>
                                          <a:srgbClr val="FF0000"/>
                                        </a:solidFill>
                                        <a:latin typeface="Cambria Math" panose="02040503050406030204" pitchFamily="18" charset="0"/>
                                      </a:rPr>
                                      <m:t>𝑥</m:t>
                                    </m:r>
                                    <m:r>
                                      <a:rPr lang="en-US" sz="3200" b="0" i="1" smtClean="0">
                                        <a:solidFill>
                                          <a:srgbClr val="FF0000"/>
                                        </a:solidFill>
                                        <a:latin typeface="Cambria Math" panose="02040503050406030204" pitchFamily="18" charset="0"/>
                                      </a:rPr>
                                      <m:t>̅</m:t>
                                    </m:r>
                                  </m:sub>
                                </m:sSub>
                                <m:r>
                                  <a:rPr lang="en-US" sz="3200" b="0" i="1" smtClean="0">
                                    <a:solidFill>
                                      <a:srgbClr val="FF0000"/>
                                    </a:solidFill>
                                    <a:latin typeface="Cambria Math" panose="02040503050406030204" pitchFamily="18" charset="0"/>
                                  </a:rPr>
                                  <m:t>=</m:t>
                                </m:r>
                                <m:f>
                                  <m:fPr>
                                    <m:ctrlPr>
                                      <a:rPr lang="en-US" sz="3200" i="1" smtClean="0">
                                        <a:solidFill>
                                          <a:srgbClr val="FF0000"/>
                                        </a:solidFill>
                                        <a:latin typeface="Cambria Math" panose="02040503050406030204" pitchFamily="18" charset="0"/>
                                      </a:rPr>
                                    </m:ctrlPr>
                                  </m:fPr>
                                  <m:num>
                                    <m:r>
                                      <a:rPr lang="en-US" sz="3200" b="0" i="1" smtClean="0">
                                        <a:solidFill>
                                          <a:srgbClr val="FF0000"/>
                                        </a:solidFill>
                                        <a:latin typeface="Cambria Math" panose="02040503050406030204" pitchFamily="18" charset="0"/>
                                      </a:rPr>
                                      <m:t>𝑥</m:t>
                                    </m:r>
                                    <m:r>
                                      <a:rPr lang="en-US" sz="3200" b="0" i="1" smtClean="0">
                                        <a:solidFill>
                                          <a:srgbClr val="FF0000"/>
                                        </a:solidFill>
                                        <a:latin typeface="Cambria Math" panose="02040503050406030204" pitchFamily="18" charset="0"/>
                                      </a:rPr>
                                      <m:t>̅</m:t>
                                    </m:r>
                                    <m:r>
                                      <a:rPr lang="en-CA" sz="3200" b="0" i="1" smtClean="0">
                                        <a:solidFill>
                                          <a:srgbClr val="FF0000"/>
                                        </a:solidFill>
                                        <a:latin typeface="Cambria Math" panose="02040503050406030204" pitchFamily="18" charset="0"/>
                                      </a:rPr>
                                      <m:t> − </m:t>
                                    </m:r>
                                    <m:sSub>
                                      <m:sSubPr>
                                        <m:ctrlPr>
                                          <a:rPr lang="en-CA" sz="3200" b="0" i="1" smtClean="0">
                                            <a:solidFill>
                                              <a:srgbClr val="FF0000"/>
                                            </a:solidFill>
                                            <a:latin typeface="Cambria Math" panose="02040503050406030204" pitchFamily="18" charset="0"/>
                                          </a:rPr>
                                        </m:ctrlPr>
                                      </m:sSubPr>
                                      <m:e>
                                        <m:r>
                                          <m:rPr>
                                            <m:nor/>
                                          </m:rPr>
                                          <a:rPr lang="el-GR" sz="3200" i="1" dirty="0">
                                            <a:solidFill>
                                              <a:srgbClr val="FF0000"/>
                                            </a:solidFill>
                                          </a:rPr>
                                          <m:t>μ</m:t>
                                        </m:r>
                                      </m:e>
                                      <m:sub>
                                        <m:r>
                                          <a:rPr lang="en-US" sz="3200" b="0" i="1" smtClean="0">
                                            <a:solidFill>
                                              <a:srgbClr val="FF0000"/>
                                            </a:solidFill>
                                            <a:latin typeface="Cambria Math" panose="02040503050406030204" pitchFamily="18" charset="0"/>
                                          </a:rPr>
                                          <m:t>𝑥</m:t>
                                        </m:r>
                                        <m:r>
                                          <a:rPr lang="en-US" sz="3200" b="0" i="1" smtClean="0">
                                            <a:solidFill>
                                              <a:srgbClr val="FF0000"/>
                                            </a:solidFill>
                                            <a:latin typeface="Cambria Math" panose="02040503050406030204" pitchFamily="18" charset="0"/>
                                          </a:rPr>
                                          <m:t>̅</m:t>
                                        </m:r>
                                      </m:sub>
                                    </m:sSub>
                                  </m:num>
                                  <m:den>
                                    <m:sSub>
                                      <m:sSubPr>
                                        <m:ctrlPr>
                                          <a:rPr lang="en-US" sz="3200" i="1" dirty="0" smtClean="0">
                                            <a:solidFill>
                                              <a:srgbClr val="FF0000"/>
                                            </a:solidFill>
                                            <a:latin typeface="Cambria Math" panose="02040503050406030204" pitchFamily="18" charset="0"/>
                                          </a:rPr>
                                        </m:ctrlPr>
                                      </m:sSubPr>
                                      <m:e>
                                        <m:r>
                                          <m:rPr>
                                            <m:nor/>
                                          </m:rPr>
                                          <a:rPr lang="en-US" sz="3200" i="1" dirty="0">
                                            <a:solidFill>
                                              <a:srgbClr val="FF0000"/>
                                            </a:solidFill>
                                          </a:rPr>
                                          <m:t>σ</m:t>
                                        </m:r>
                                      </m:e>
                                      <m:sub>
                                        <m:r>
                                          <a:rPr lang="en-US" sz="3200" b="0" i="1" dirty="0" smtClean="0">
                                            <a:solidFill>
                                              <a:srgbClr val="FF0000"/>
                                            </a:solidFill>
                                            <a:latin typeface="Cambria Math" panose="02040503050406030204" pitchFamily="18" charset="0"/>
                                          </a:rPr>
                                          <m:t>𝑥</m:t>
                                        </m:r>
                                        <m:r>
                                          <a:rPr lang="en-US" sz="3200" b="0" i="1" dirty="0" smtClean="0">
                                            <a:solidFill>
                                              <a:srgbClr val="FF0000"/>
                                            </a:solidFill>
                                            <a:latin typeface="Cambria Math" panose="02040503050406030204" pitchFamily="18" charset="0"/>
                                          </a:rPr>
                                          <m:t>̅</m:t>
                                        </m:r>
                                      </m:sub>
                                    </m:sSub>
                                  </m:den>
                                </m:f>
                              </m:oMath>
                            </m:oMathPara>
                          </a14:m>
                          <a:endParaRPr lang="en-US" sz="24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834762"/>
                      </a:ext>
                    </a:extLst>
                  </a:tr>
                  <a:tr h="520734">
                    <a:tc>
                      <a:txBody>
                        <a:bodyPr/>
                        <a:lstStyle/>
                        <a:p>
                          <a:r>
                            <a:rPr lang="en-US" sz="2400" b="1" dirty="0">
                              <a:solidFill>
                                <a:schemeClr val="tx1"/>
                              </a:solidFill>
                            </a:rPr>
                            <a:t>Population Mean</a:t>
                          </a:r>
                        </a:p>
                        <a:p>
                          <a:endParaRPr 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sSub>
                                <m:sSubPr>
                                  <m:ctrlPr>
                                    <a:rPr lang="el-GR" sz="2800" i="1" dirty="0" smtClean="0">
                                      <a:solidFill>
                                        <a:schemeClr val="tx1"/>
                                      </a:solidFill>
                                      <a:latin typeface="Cambria Math" panose="02040503050406030204" pitchFamily="18" charset="0"/>
                                    </a:rPr>
                                  </m:ctrlPr>
                                </m:sSubPr>
                                <m:e>
                                  <m:r>
                                    <m:rPr>
                                      <m:nor/>
                                    </m:rPr>
                                    <a:rPr lang="el-GR" sz="2800" i="1" dirty="0" smtClean="0">
                                      <a:solidFill>
                                        <a:schemeClr val="tx1"/>
                                      </a:solidFill>
                                    </a:rPr>
                                    <m:t>μ</m:t>
                                  </m:r>
                                </m:e>
                                <m:sub>
                                  <m:r>
                                    <a:rPr lang="en-US" sz="2800" b="0" i="1" dirty="0" smtClean="0">
                                      <a:solidFill>
                                        <a:schemeClr val="tx1"/>
                                      </a:solidFill>
                                      <a:latin typeface="Cambria Math" panose="02040503050406030204" pitchFamily="18" charset="0"/>
                                    </a:rPr>
                                    <m:t>𝑥</m:t>
                                  </m:r>
                                </m:sub>
                              </m:sSub>
                            </m:oMath>
                          </a14:m>
                          <a:r>
                            <a:rPr lang="en-US" sz="2800" i="1" baseline="0" dirty="0">
                              <a:solidFill>
                                <a:schemeClr val="tx1"/>
                              </a:solidFill>
                            </a:rPr>
                            <a:t> = </a:t>
                          </a:r>
                          <a14:m>
                            <m:oMath xmlns:m="http://schemas.openxmlformats.org/officeDocument/2006/math">
                              <m:r>
                                <m:rPr>
                                  <m:nor/>
                                </m:rPr>
                                <a:rPr lang="el-GR" sz="2800" i="1" dirty="0" smtClean="0">
                                  <a:solidFill>
                                    <a:schemeClr val="tx1"/>
                                  </a:solidFill>
                                </a:rPr>
                                <m:t>μ</m:t>
                              </m:r>
                            </m:oMath>
                          </a14:m>
                          <a:endParaRPr lang="en-US" sz="2800" i="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sSub>
                                <m:sSubPr>
                                  <m:ctrlPr>
                                    <a:rPr lang="el-GR" sz="2800" i="1" dirty="0" smtClean="0">
                                      <a:solidFill>
                                        <a:srgbClr val="FF0000"/>
                                      </a:solidFill>
                                      <a:latin typeface="Cambria Math" panose="02040503050406030204" pitchFamily="18" charset="0"/>
                                    </a:rPr>
                                  </m:ctrlPr>
                                </m:sSubPr>
                                <m:e>
                                  <m:r>
                                    <m:rPr>
                                      <m:nor/>
                                    </m:rPr>
                                    <a:rPr lang="el-GR" sz="2800" i="1" dirty="0" smtClean="0">
                                      <a:solidFill>
                                        <a:srgbClr val="FF0000"/>
                                      </a:solidFill>
                                    </a:rPr>
                                    <m:t>μ</m:t>
                                  </m:r>
                                </m:e>
                                <m:sub>
                                  <m:r>
                                    <a:rPr lang="en-US" sz="2800" b="0" i="1" dirty="0" smtClean="0">
                                      <a:solidFill>
                                        <a:srgbClr val="FF0000"/>
                                      </a:solidFill>
                                      <a:latin typeface="Cambria Math" panose="02040503050406030204" pitchFamily="18" charset="0"/>
                                    </a:rPr>
                                    <m:t>𝑥</m:t>
                                  </m:r>
                                  <m:r>
                                    <a:rPr lang="en-US" sz="2800" b="0" i="1" dirty="0" smtClean="0">
                                      <a:solidFill>
                                        <a:srgbClr val="FF0000"/>
                                      </a:solidFill>
                                      <a:latin typeface="Cambria Math" panose="02040503050406030204" pitchFamily="18" charset="0"/>
                                    </a:rPr>
                                    <m:t>̅</m:t>
                                  </m:r>
                                </m:sub>
                              </m:sSub>
                            </m:oMath>
                          </a14:m>
                          <a:r>
                            <a:rPr lang="en-US" sz="2800" i="1" dirty="0">
                              <a:solidFill>
                                <a:schemeClr val="tx1"/>
                              </a:solidFill>
                            </a:rPr>
                            <a:t> </a:t>
                          </a:r>
                          <a:r>
                            <a:rPr lang="en-US" sz="2800" i="1" dirty="0">
                              <a:solidFill>
                                <a:srgbClr val="FF0000"/>
                              </a:solidFill>
                            </a:rPr>
                            <a:t>=</a:t>
                          </a:r>
                          <a:r>
                            <a:rPr lang="en-US" sz="2800" i="1" dirty="0">
                              <a:solidFill>
                                <a:schemeClr val="tx1"/>
                              </a:solidFill>
                            </a:rPr>
                            <a:t> </a:t>
                          </a:r>
                          <a14:m>
                            <m:oMath xmlns:m="http://schemas.openxmlformats.org/officeDocument/2006/math">
                              <m:r>
                                <m:rPr>
                                  <m:nor/>
                                </m:rPr>
                                <a:rPr lang="el-GR" sz="2800" i="1" dirty="0" smtClean="0">
                                  <a:solidFill>
                                    <a:srgbClr val="FF0000"/>
                                  </a:solidFill>
                                </a:rPr>
                                <m:t>μ</m:t>
                              </m:r>
                            </m:oMath>
                          </a14:m>
                          <a:endParaRPr lang="en-US" sz="28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2413151"/>
                      </a:ext>
                    </a:extLst>
                  </a:tr>
                  <a:tr h="520734">
                    <a:tc>
                      <a:txBody>
                        <a:bodyPr/>
                        <a:lstStyle/>
                        <a:p>
                          <a:r>
                            <a:rPr lang="en-US" sz="2400" b="1" dirty="0">
                              <a:solidFill>
                                <a:schemeClr val="tx1"/>
                              </a:solidFill>
                            </a:rPr>
                            <a:t>Standard Error Term</a:t>
                          </a:r>
                        </a:p>
                        <a:p>
                          <a:r>
                            <a:rPr lang="en-US" sz="2400" b="1" dirty="0">
                              <a:solidFill>
                                <a:schemeClr val="tx1"/>
                              </a:solidFill>
                            </a:rPr>
                            <a:t>(Denominator of test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 xmlns:m="http://schemas.openxmlformats.org/officeDocument/2006/math">
                              <m:sSub>
                                <m:sSubPr>
                                  <m:ctrlPr>
                                    <a:rPr lang="en-US" sz="2800" i="1" dirty="0" smtClean="0">
                                      <a:solidFill>
                                        <a:schemeClr val="tx1"/>
                                      </a:solidFill>
                                      <a:latin typeface="Cambria Math" panose="02040503050406030204" pitchFamily="18" charset="0"/>
                                    </a:rPr>
                                  </m:ctrlPr>
                                </m:sSubPr>
                                <m:e>
                                  <m:r>
                                    <m:rPr>
                                      <m:nor/>
                                    </m:rPr>
                                    <a:rPr lang="en-US" sz="2800" i="1" dirty="0" smtClean="0">
                                      <a:solidFill>
                                        <a:schemeClr val="tx1"/>
                                      </a:solidFill>
                                    </a:rPr>
                                    <m:t>σ</m:t>
                                  </m:r>
                                </m:e>
                                <m:sub>
                                  <m:r>
                                    <a:rPr lang="en-US" sz="2800" b="0" i="1" dirty="0" smtClean="0">
                                      <a:solidFill>
                                        <a:schemeClr val="tx1"/>
                                      </a:solidFill>
                                      <a:latin typeface="Cambria Math" panose="02040503050406030204" pitchFamily="18" charset="0"/>
                                    </a:rPr>
                                    <m:t>𝑥</m:t>
                                  </m:r>
                                </m:sub>
                              </m:sSub>
                            </m:oMath>
                          </a14:m>
                          <a:r>
                            <a:rPr lang="en-US" sz="2800" i="1" baseline="0" dirty="0">
                              <a:solidFill>
                                <a:schemeClr val="tx1"/>
                              </a:solidFill>
                            </a:rPr>
                            <a:t> = </a:t>
                          </a:r>
                          <a14:m>
                            <m:oMath xmlns:m="http://schemas.openxmlformats.org/officeDocument/2006/math">
                              <m:r>
                                <m:rPr>
                                  <m:nor/>
                                </m:rPr>
                                <a:rPr lang="en-US" sz="2800" i="1" dirty="0" smtClean="0">
                                  <a:solidFill>
                                    <a:schemeClr val="tx1"/>
                                  </a:solidFill>
                                </a:rPr>
                                <m:t>σ</m:t>
                              </m:r>
                            </m:oMath>
                          </a14:m>
                          <a:endParaRPr lang="en-US" sz="2800" i="1" baseline="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solidFill>
                                          <a:srgbClr val="FF0000"/>
                                        </a:solidFill>
                                        <a:latin typeface="Cambria Math" panose="02040503050406030204" pitchFamily="18" charset="0"/>
                                      </a:rPr>
                                    </m:ctrlPr>
                                  </m:sSubPr>
                                  <m:e>
                                    <m:r>
                                      <m:rPr>
                                        <m:nor/>
                                      </m:rPr>
                                      <a:rPr lang="en-US" sz="2800" i="1" dirty="0">
                                        <a:solidFill>
                                          <a:srgbClr val="FF0000"/>
                                        </a:solidFill>
                                      </a:rPr>
                                      <m:t>σ</m:t>
                                    </m:r>
                                  </m:e>
                                  <m:sub>
                                    <m:r>
                                      <a:rPr lang="en-US" sz="2800" b="0" i="1" dirty="0" smtClean="0">
                                        <a:solidFill>
                                          <a:srgbClr val="FF0000"/>
                                        </a:solidFill>
                                        <a:latin typeface="Cambria Math" panose="02040503050406030204" pitchFamily="18" charset="0"/>
                                      </a:rPr>
                                      <m:t>𝑥</m:t>
                                    </m:r>
                                    <m:r>
                                      <a:rPr lang="en-US" sz="2800" b="0" i="1" dirty="0" smtClean="0">
                                        <a:solidFill>
                                          <a:srgbClr val="FF0000"/>
                                        </a:solidFill>
                                        <a:latin typeface="Cambria Math" panose="02040503050406030204" pitchFamily="18" charset="0"/>
                                      </a:rPr>
                                      <m:t>̅̅</m:t>
                                    </m:r>
                                  </m:sub>
                                </m:sSub>
                                <m:r>
                                  <a:rPr lang="en-US" sz="2800" b="0" i="1" dirty="0" smtClean="0">
                                    <a:solidFill>
                                      <a:srgbClr val="FF0000"/>
                                    </a:solidFill>
                                    <a:latin typeface="Cambria Math" panose="02040503050406030204" pitchFamily="18" charset="0"/>
                                  </a:rPr>
                                  <m:t>=</m:t>
                                </m:r>
                                <m:f>
                                  <m:fPr>
                                    <m:ctrlPr>
                                      <a:rPr lang="en-US" sz="2800" i="1" smtClean="0">
                                        <a:solidFill>
                                          <a:srgbClr val="FF0000"/>
                                        </a:solidFill>
                                        <a:latin typeface="Cambria Math" panose="02040503050406030204" pitchFamily="18" charset="0"/>
                                      </a:rPr>
                                    </m:ctrlPr>
                                  </m:fPr>
                                  <m:num>
                                    <m:r>
                                      <m:rPr>
                                        <m:nor/>
                                      </m:rPr>
                                      <a:rPr lang="en-US" sz="2800" i="1" dirty="0">
                                        <a:solidFill>
                                          <a:srgbClr val="FF0000"/>
                                        </a:solidFill>
                                      </a:rPr>
                                      <m:t>σ</m:t>
                                    </m:r>
                                  </m:num>
                                  <m:den>
                                    <m:r>
                                      <a:rPr lang="en-US" sz="2800" i="1" smtClean="0">
                                        <a:solidFill>
                                          <a:srgbClr val="FF0000"/>
                                        </a:solidFill>
                                        <a:latin typeface="Cambria Math" panose="02040503050406030204" pitchFamily="18" charset="0"/>
                                        <a:ea typeface="Cambria Math" panose="02040503050406030204" pitchFamily="18" charset="0"/>
                                      </a:rPr>
                                      <m:t>√</m:t>
                                    </m:r>
                                    <m:r>
                                      <a:rPr lang="en-CA" sz="2800" b="0" i="1" smtClean="0">
                                        <a:solidFill>
                                          <a:srgbClr val="FF0000"/>
                                        </a:solidFill>
                                        <a:latin typeface="Cambria Math" panose="02040503050406030204" pitchFamily="18" charset="0"/>
                                        <a:ea typeface="Cambria Math" panose="02040503050406030204" pitchFamily="18" charset="0"/>
                                      </a:rPr>
                                      <m:t>𝑛</m:t>
                                    </m:r>
                                  </m:den>
                                </m:f>
                              </m:oMath>
                            </m:oMathPara>
                          </a14:m>
                          <a:endParaRPr lang="en-US" sz="2800" i="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837357"/>
                      </a:ext>
                    </a:extLst>
                  </a:tr>
                </a:tbl>
              </a:graphicData>
            </a:graphic>
          </p:graphicFrame>
        </mc:Choice>
        <mc:Fallback xmlns="">
          <p:graphicFrame>
            <p:nvGraphicFramePr>
              <p:cNvPr id="6" name="Table 6">
                <a:extLst>
                  <a:ext uri="{FF2B5EF4-FFF2-40B4-BE49-F238E27FC236}">
                    <a16:creationId xmlns:a16="http://schemas.microsoft.com/office/drawing/2014/main" id="{65847B1B-AABC-E341-8F28-A2D6CE0281FD}"/>
                  </a:ext>
                </a:extLst>
              </p:cNvPr>
              <p:cNvGraphicFramePr>
                <a:graphicFrameLocks noGrp="1"/>
              </p:cNvGraphicFramePr>
              <p:nvPr>
                <p:extLst>
                  <p:ext uri="{D42A27DB-BD31-4B8C-83A1-F6EECF244321}">
                    <p14:modId xmlns:p14="http://schemas.microsoft.com/office/powerpoint/2010/main" val="74739917"/>
                  </p:ext>
                </p:extLst>
              </p:nvPr>
            </p:nvGraphicFramePr>
            <p:xfrm>
              <a:off x="838200" y="2251011"/>
              <a:ext cx="10547625" cy="3595497"/>
            </p:xfrm>
            <a:graphic>
              <a:graphicData uri="http://schemas.openxmlformats.org/drawingml/2006/table">
                <a:tbl>
                  <a:tblPr firstRow="1" bandRow="1">
                    <a:tableStyleId>{5C22544A-7EE6-4342-B048-85BDC9FD1C3A}</a:tableStyleId>
                  </a:tblPr>
                  <a:tblGrid>
                    <a:gridCol w="3676048">
                      <a:extLst>
                        <a:ext uri="{9D8B030D-6E8A-4147-A177-3AD203B41FA5}">
                          <a16:colId xmlns:a16="http://schemas.microsoft.com/office/drawing/2014/main" val="4004983389"/>
                        </a:ext>
                      </a:extLst>
                    </a:gridCol>
                    <a:gridCol w="3355702">
                      <a:extLst>
                        <a:ext uri="{9D8B030D-6E8A-4147-A177-3AD203B41FA5}">
                          <a16:colId xmlns:a16="http://schemas.microsoft.com/office/drawing/2014/main" val="3608128689"/>
                        </a:ext>
                      </a:extLst>
                    </a:gridCol>
                    <a:gridCol w="3515875">
                      <a:extLst>
                        <a:ext uri="{9D8B030D-6E8A-4147-A177-3AD203B41FA5}">
                          <a16:colId xmlns:a16="http://schemas.microsoft.com/office/drawing/2014/main" val="3990134810"/>
                        </a:ext>
                      </a:extLst>
                    </a:gridCol>
                  </a:tblGrid>
                  <a:tr h="822960">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Participant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Sample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(parameters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1074547">
                    <a:tc>
                      <a:txBody>
                        <a:bodyPr/>
                        <a:lstStyle/>
                        <a:p>
                          <a:r>
                            <a:rPr lang="en-US" sz="2400" b="1" dirty="0">
                              <a:solidFill>
                                <a:schemeClr val="tx1"/>
                              </a:solidFill>
                            </a:rPr>
                            <a:t>Test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9619" t="-80791" r="-105082" b="-16779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173" t="-80791" r="-347" b="-167797"/>
                          </a:stretch>
                        </a:blipFill>
                      </a:tcPr>
                    </a:tc>
                    <a:extLst>
                      <a:ext uri="{0D108BD9-81ED-4DB2-BD59-A6C34878D82A}">
                        <a16:rowId xmlns:a16="http://schemas.microsoft.com/office/drawing/2014/main" val="2735834762"/>
                      </a:ext>
                    </a:extLst>
                  </a:tr>
                  <a:tr h="822960">
                    <a:tc>
                      <a:txBody>
                        <a:bodyPr/>
                        <a:lstStyle/>
                        <a:p>
                          <a:r>
                            <a:rPr lang="en-US" sz="2400" b="1" dirty="0">
                              <a:solidFill>
                                <a:schemeClr val="tx1"/>
                              </a:solidFill>
                            </a:rPr>
                            <a:t>Population Mean</a:t>
                          </a:r>
                        </a:p>
                        <a:p>
                          <a:endParaRPr lang="en-US" sz="24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9619" t="-237037" r="-105082" b="-1200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173" t="-237037" r="-347" b="-120000"/>
                          </a:stretch>
                        </a:blipFill>
                      </a:tcPr>
                    </a:tc>
                    <a:extLst>
                      <a:ext uri="{0D108BD9-81ED-4DB2-BD59-A6C34878D82A}">
                        <a16:rowId xmlns:a16="http://schemas.microsoft.com/office/drawing/2014/main" val="532413151"/>
                      </a:ext>
                    </a:extLst>
                  </a:tr>
                  <a:tr h="875030">
                    <a:tc>
                      <a:txBody>
                        <a:bodyPr/>
                        <a:lstStyle/>
                        <a:p>
                          <a:r>
                            <a:rPr lang="en-US" sz="2400" b="1" dirty="0">
                              <a:solidFill>
                                <a:schemeClr val="tx1"/>
                              </a:solidFill>
                            </a:rPr>
                            <a:t>Standard Error Term</a:t>
                          </a:r>
                        </a:p>
                        <a:p>
                          <a:r>
                            <a:rPr lang="en-US" sz="2400" b="1" dirty="0">
                              <a:solidFill>
                                <a:schemeClr val="tx1"/>
                              </a:solidFill>
                            </a:rPr>
                            <a:t>(Denominator of test ratio)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9619" t="-315972" r="-105082" b="-1250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173" t="-315972" r="-347" b="-12500"/>
                          </a:stretch>
                        </a:blipFill>
                      </a:tcPr>
                    </a:tc>
                    <a:extLst>
                      <a:ext uri="{0D108BD9-81ED-4DB2-BD59-A6C34878D82A}">
                        <a16:rowId xmlns:a16="http://schemas.microsoft.com/office/drawing/2014/main" val="1663837357"/>
                      </a:ext>
                    </a:extLst>
                  </a:tr>
                </a:tbl>
              </a:graphicData>
            </a:graphic>
          </p:graphicFrame>
        </mc:Fallback>
      </mc:AlternateContent>
    </p:spTree>
    <p:extLst>
      <p:ext uri="{BB962C8B-B14F-4D97-AF65-F5344CB8AC3E}">
        <p14:creationId xmlns:p14="http://schemas.microsoft.com/office/powerpoint/2010/main" val="464839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5F73-FA8C-74F3-03BB-9BA05E4C93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F88475-AAA0-9B34-6006-3AF2E6ABCD71}"/>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a:t>
            </a:r>
            <a:r>
              <a:rPr lang="en-US" sz="1200" dirty="0">
                <a:solidFill>
                  <a:srgbClr val="FF0000"/>
                </a:solidFill>
              </a:rPr>
              <a:t>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US" sz="1200" dirty="0">
                <a:solidFill>
                  <a:srgbClr val="FF0000"/>
                </a:solidFill>
              </a:rPr>
              <a:t>x̅</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solidFill>
                  <a:srgbClr val="FF0000"/>
                </a:solidFill>
              </a:rPr>
              <a:t>n</a:t>
            </a:r>
            <a:r>
              <a:rPr lang="en-US" sz="1200" dirty="0">
                <a:solidFill>
                  <a:srgbClr val="FF0000"/>
                </a:solidFill>
              </a:rPr>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317E3771-A8A2-12BA-41F4-276A04F85A7D}"/>
                  </a:ext>
                </a:extLst>
              </p:cNvPr>
              <p:cNvSpPr txBox="1">
                <a:spLocks/>
              </p:cNvSpPr>
              <p:nvPr/>
            </p:nvSpPr>
            <p:spPr>
              <a:xfrm>
                <a:off x="6095999" y="633816"/>
                <a:ext cx="5853546"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sz="2400" i="1" dirty="0">
                    <a:solidFill>
                      <a:srgbClr val="FF0000"/>
                    </a:solidFill>
                  </a:rPr>
                  <a:t>z</a:t>
                </a:r>
                <a:r>
                  <a:rPr lang="en-US" sz="2400" dirty="0">
                    <a:solidFill>
                      <a:srgbClr val="FF0000"/>
                    </a:solidFill>
                  </a:rPr>
                  <a:t>(</a:t>
                </a:r>
                <a:r>
                  <a:rPr lang="en-US" sz="2400" dirty="0" err="1">
                    <a:solidFill>
                      <a:srgbClr val="FF0000"/>
                    </a:solidFill>
                  </a:rPr>
                  <a:t>obs</a:t>
                </a:r>
                <a:r>
                  <a:rPr lang="en-US" sz="2400" dirty="0">
                    <a:solidFill>
                      <a:srgbClr val="FF0000"/>
                    </a:solidFill>
                  </a:rPr>
                  <a:t>) =</a:t>
                </a:r>
                <a:r>
                  <a:rPr lang="en-US" sz="2400" dirty="0"/>
                  <a:t> </a:t>
                </a:r>
                <a14:m>
                  <m:oMath xmlns:m="http://schemas.openxmlformats.org/officeDocument/2006/math">
                    <m:f>
                      <m:fPr>
                        <m:ctrlPr>
                          <a:rPr lang="en-US" sz="2400" i="1">
                            <a:solidFill>
                              <a:srgbClr val="FF0000"/>
                            </a:solidFill>
                            <a:latin typeface="Cambria Math" panose="02040503050406030204" pitchFamily="18" charset="0"/>
                          </a:rPr>
                        </m:ctrlPr>
                      </m:fPr>
                      <m:num>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r>
                          <a:rPr lang="en-CA" sz="2400" i="1">
                            <a:solidFill>
                              <a:srgbClr val="FF0000"/>
                            </a:solidFill>
                            <a:latin typeface="Cambria Math" panose="02040503050406030204" pitchFamily="18" charset="0"/>
                          </a:rPr>
                          <m:t> − </m:t>
                        </m:r>
                        <m:sSub>
                          <m:sSubPr>
                            <m:ctrlPr>
                              <a:rPr lang="en-CA" sz="2400" i="1">
                                <a:solidFill>
                                  <a:srgbClr val="FF0000"/>
                                </a:solidFill>
                                <a:latin typeface="Cambria Math" panose="02040503050406030204" pitchFamily="18" charset="0"/>
                              </a:rPr>
                            </m:ctrlPr>
                          </m:sSubPr>
                          <m:e>
                            <m:r>
                              <m:rPr>
                                <m:nor/>
                              </m:rPr>
                              <a:rPr lang="el-GR" sz="2400" i="0" dirty="0">
                                <a:solidFill>
                                  <a:srgbClr val="FF0000"/>
                                </a:solidFill>
                              </a:rPr>
                              <m:t>μ</m:t>
                            </m:r>
                          </m:e>
                          <m:sub>
                            <m:r>
                              <a:rPr lang="en-US" sz="2400" i="1">
                                <a:solidFill>
                                  <a:srgbClr val="FF0000"/>
                                </a:solidFill>
                                <a:latin typeface="Cambria Math" panose="02040503050406030204" pitchFamily="18" charset="0"/>
                              </a:rPr>
                              <m:t>𝑥</m:t>
                            </m:r>
                            <m:r>
                              <a:rPr lang="en-US" sz="2400" i="1">
                                <a:solidFill>
                                  <a:srgbClr val="FF0000"/>
                                </a:solidFill>
                                <a:latin typeface="Cambria Math" panose="02040503050406030204" pitchFamily="18" charset="0"/>
                              </a:rPr>
                              <m:t>̅</m:t>
                            </m:r>
                          </m:sub>
                        </m:sSub>
                      </m:num>
                      <m:den>
                        <m:sSub>
                          <m:sSubPr>
                            <m:ctrlPr>
                              <a:rPr lang="en-US" sz="2400" i="1" dirty="0">
                                <a:solidFill>
                                  <a:srgbClr val="FF0000"/>
                                </a:solidFill>
                                <a:latin typeface="Cambria Math" panose="02040503050406030204" pitchFamily="18" charset="0"/>
                              </a:rPr>
                            </m:ctrlPr>
                          </m:sSubPr>
                          <m:e>
                            <m:r>
                              <m:rPr>
                                <m:nor/>
                              </m:rPr>
                              <a:rPr lang="en-US" sz="2400" i="0" dirty="0">
                                <a:solidFill>
                                  <a:srgbClr val="FF0000"/>
                                </a:solidFill>
                              </a:rPr>
                              <m:t>σ</m:t>
                            </m:r>
                          </m:e>
                          <m:sub>
                            <m:r>
                              <a:rPr lang="en-US" sz="2400" i="1" dirty="0">
                                <a:solidFill>
                                  <a:srgbClr val="FF0000"/>
                                </a:solidFill>
                                <a:latin typeface="Cambria Math" panose="02040503050406030204" pitchFamily="18" charset="0"/>
                              </a:rPr>
                              <m:t>𝑥</m:t>
                            </m:r>
                            <m:r>
                              <a:rPr lang="en-US" sz="2400" i="1" dirty="0">
                                <a:solidFill>
                                  <a:srgbClr val="FF0000"/>
                                </a:solidFill>
                                <a:latin typeface="Cambria Math" panose="02040503050406030204" pitchFamily="18" charset="0"/>
                              </a:rPr>
                              <m:t>̅</m:t>
                            </m:r>
                          </m:sub>
                        </m:sSub>
                      </m:den>
                    </m:f>
                    <m:r>
                      <a:rPr lang="en-US" sz="2400" i="1" dirty="0">
                        <a:solidFill>
                          <a:srgbClr val="FF0000"/>
                        </a:solidFill>
                        <a:latin typeface="Cambria Math" panose="02040503050406030204" pitchFamily="18" charset="0"/>
                      </a:rPr>
                      <m:t>= </m:t>
                    </m:r>
                    <m:f>
                      <m:fPr>
                        <m:ctrlPr>
                          <a:rPr lang="en-US" sz="2400" i="1">
                            <a:latin typeface="Cambria Math" panose="02040503050406030204" pitchFamily="18" charset="0"/>
                          </a:rPr>
                        </m:ctrlPr>
                      </m:fPr>
                      <m:num>
                        <m:r>
                          <a:rPr lang="en-CA" sz="2400" i="1">
                            <a:latin typeface="Cambria Math" panose="02040503050406030204" pitchFamily="18" charset="0"/>
                          </a:rPr>
                          <m:t>72</m:t>
                        </m:r>
                        <m:r>
                          <a:rPr lang="en-US" sz="2400" b="0" i="1" smtClean="0">
                            <a:latin typeface="Cambria Math" panose="02040503050406030204" pitchFamily="18" charset="0"/>
                          </a:rPr>
                          <m:t>.</m:t>
                        </m:r>
                        <m:r>
                          <a:rPr lang="en-US" sz="2400" b="0" i="1" smtClean="0">
                            <a:latin typeface="Cambria Math" panose="02040503050406030204" pitchFamily="18" charset="0"/>
                          </a:rPr>
                          <m:t>0000</m:t>
                        </m:r>
                        <m:r>
                          <a:rPr lang="en-CA" sz="2400" i="1">
                            <a:latin typeface="Cambria Math" panose="02040503050406030204" pitchFamily="18" charset="0"/>
                          </a:rPr>
                          <m:t> −</m:t>
                        </m:r>
                        <m:r>
                          <a:rPr lang="en-CA" sz="2400" i="1">
                            <a:latin typeface="Cambria Math" panose="02040503050406030204" pitchFamily="18" charset="0"/>
                          </a:rPr>
                          <m:t>90</m:t>
                        </m:r>
                        <m:r>
                          <a:rPr lang="en-CA" sz="2400" i="1">
                            <a:latin typeface="Cambria Math" panose="02040503050406030204" pitchFamily="18" charset="0"/>
                          </a:rPr>
                          <m:t>.</m:t>
                        </m:r>
                        <m:r>
                          <a:rPr lang="en-CA" sz="2400" i="1">
                            <a:latin typeface="Cambria Math" panose="02040503050406030204" pitchFamily="18" charset="0"/>
                          </a:rPr>
                          <m:t>0000</m:t>
                        </m:r>
                      </m:num>
                      <m:den>
                        <m:r>
                          <a:rPr lang="en-US" sz="2400" b="0" i="1" smtClean="0">
                            <a:latin typeface="Cambria Math" panose="02040503050406030204" pitchFamily="18" charset="0"/>
                          </a:rPr>
                          <m:t>10</m:t>
                        </m:r>
                        <m:r>
                          <a:rPr lang="en-US" sz="2400" b="0" i="1" smtClean="0">
                            <a:latin typeface="Cambria Math" panose="02040503050406030204" pitchFamily="18" charset="0"/>
                          </a:rPr>
                          <m:t>.</m:t>
                        </m:r>
                        <m:r>
                          <a:rPr lang="en-US" sz="2400" b="0" i="1" smtClean="0">
                            <a:latin typeface="Cambria Math" panose="02040503050406030204" pitchFamily="18" charset="0"/>
                          </a:rPr>
                          <m:t>2000</m:t>
                        </m:r>
                      </m:den>
                    </m:f>
                  </m:oMath>
                </a14:m>
                <a:r>
                  <a:rPr lang="en-US" sz="2400" dirty="0"/>
                  <a:t>  = -1.7647</a:t>
                </a:r>
              </a:p>
              <a:p>
                <a:r>
                  <a:rPr lang="en-US" i="1" dirty="0"/>
                  <a:t>p</a:t>
                </a:r>
                <a:r>
                  <a:rPr lang="en-US" dirty="0"/>
                  <a:t>(</a:t>
                </a:r>
                <a:r>
                  <a:rPr lang="en-US" i="1" dirty="0" err="1"/>
                  <a:t>obs</a:t>
                </a:r>
                <a:r>
                  <a:rPr lang="en-US" dirty="0"/>
                  <a:t>) = .0392 x 2 = .0784</a:t>
                </a:r>
                <a:endParaRPr lang="en-US" i="1" dirty="0"/>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t>|1.96|</a:t>
                </a:r>
                <a:endParaRPr lang="en-US" sz="2000" dirty="0">
                  <a:solidFill>
                    <a:schemeClr val="tx1"/>
                  </a:solidFill>
                </a:endParaRP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chemeClr val="tx1"/>
                    </a:solidFill>
                  </a:rPr>
                  <a:t>The stats problem generator group’s final exam scores (</a:t>
                </a:r>
                <a:r>
                  <a:rPr lang="en-CA" sz="2000" i="1" dirty="0">
                    <a:solidFill>
                      <a:schemeClr val="tx1"/>
                    </a:solidFill>
                  </a:rPr>
                  <a:t>x̅ </a:t>
                </a:r>
                <a:r>
                  <a:rPr lang="en-CA" sz="2000" dirty="0">
                    <a:solidFill>
                      <a:schemeClr val="tx1"/>
                    </a:solidFill>
                  </a:rPr>
                  <a:t>= </a:t>
                </a:r>
                <a:r>
                  <a:rPr lang="en-CA" sz="2000" dirty="0"/>
                  <a:t>90</a:t>
                </a:r>
                <a:r>
                  <a:rPr lang="en-CA" sz="2000" dirty="0">
                    <a:solidFill>
                      <a:schemeClr val="tx1"/>
                    </a:solidFill>
                  </a:rPr>
                  <a:t>.00%, </a:t>
                </a:r>
                <a:r>
                  <a:rPr lang="en-CA" sz="2000" i="1" dirty="0">
                    <a:solidFill>
                      <a:schemeClr val="tx1"/>
                    </a:solidFill>
                  </a:rPr>
                  <a:t>SD</a:t>
                </a:r>
                <a:r>
                  <a:rPr lang="en-CA" sz="2000" dirty="0">
                    <a:solidFill>
                      <a:schemeClr val="tx1"/>
                    </a:solidFill>
                  </a:rPr>
                  <a:t> = 1.37%, </a:t>
                </a:r>
                <a:r>
                  <a:rPr lang="en-CA" sz="2000" i="1" dirty="0">
                    <a:solidFill>
                      <a:schemeClr val="tx1"/>
                    </a:solidFill>
                  </a:rPr>
                  <a:t>n</a:t>
                </a:r>
                <a:r>
                  <a:rPr lang="en-CA" sz="2000" dirty="0">
                    <a:solidFill>
                      <a:schemeClr val="tx1"/>
                    </a:solidFill>
                  </a:rPr>
                  <a:t> = 25</a:t>
                </a:r>
                <a:r>
                  <a:rPr lang="en-US" sz="2000" dirty="0">
                    <a:solidFill>
                      <a:schemeClr val="tx1"/>
                    </a:solidFill>
                  </a:rPr>
                  <a:t>) were 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317E3771-A8A2-12BA-41F4-276A04F85A7D}"/>
                  </a:ext>
                </a:extLst>
              </p:cNvPr>
              <p:cNvSpPr txBox="1">
                <a:spLocks noRot="1" noChangeAspect="1" noMove="1" noResize="1" noEditPoints="1" noAdjustHandles="1" noChangeArrowheads="1" noChangeShapeType="1" noTextEdit="1"/>
              </p:cNvSpPr>
              <p:nvPr/>
            </p:nvSpPr>
            <p:spPr>
              <a:xfrm>
                <a:off x="6095999" y="633816"/>
                <a:ext cx="5853546" cy="6271404"/>
              </a:xfrm>
              <a:prstGeom prst="rect">
                <a:avLst/>
              </a:prstGeom>
              <a:blipFill>
                <a:blip r:embed="rId2"/>
                <a:stretch>
                  <a:fillRect l="-2083" t="-2235"/>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4A84D5A4-3E07-F75D-C1CB-DAEBCC537E33}"/>
              </a:ext>
            </a:extLst>
          </p:cNvPr>
          <p:cNvSpPr/>
          <p:nvPr/>
        </p:nvSpPr>
        <p:spPr>
          <a:xfrm>
            <a:off x="6019800" y="386976"/>
            <a:ext cx="5853546"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2894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2E6D-D057-A647-BB2F-24B9AF0C561A}"/>
              </a:ext>
            </a:extLst>
          </p:cNvPr>
          <p:cNvSpPr>
            <a:spLocks noGrp="1"/>
          </p:cNvSpPr>
          <p:nvPr>
            <p:ph type="title"/>
          </p:nvPr>
        </p:nvSpPr>
        <p:spPr/>
        <p:txBody>
          <a:bodyPr/>
          <a:lstStyle/>
          <a:p>
            <a:r>
              <a:rPr lang="en-US" dirty="0"/>
              <a:t>Step 6 - Changes </a:t>
            </a:r>
          </a:p>
        </p:txBody>
      </p:sp>
      <p:graphicFrame>
        <p:nvGraphicFramePr>
          <p:cNvPr id="6" name="Table 6">
            <a:extLst>
              <a:ext uri="{FF2B5EF4-FFF2-40B4-BE49-F238E27FC236}">
                <a16:creationId xmlns:a16="http://schemas.microsoft.com/office/drawing/2014/main" id="{65847B1B-AABC-E341-8F28-A2D6CE0281FD}"/>
              </a:ext>
            </a:extLst>
          </p:cNvPr>
          <p:cNvGraphicFramePr>
            <a:graphicFrameLocks noGrp="1"/>
          </p:cNvGraphicFramePr>
          <p:nvPr>
            <p:extLst>
              <p:ext uri="{D42A27DB-BD31-4B8C-83A1-F6EECF244321}">
                <p14:modId xmlns:p14="http://schemas.microsoft.com/office/powerpoint/2010/main" val="3064507284"/>
              </p:ext>
            </p:extLst>
          </p:nvPr>
        </p:nvGraphicFramePr>
        <p:xfrm>
          <a:off x="838200" y="2583520"/>
          <a:ext cx="10695710" cy="2133600"/>
        </p:xfrm>
        <a:graphic>
          <a:graphicData uri="http://schemas.openxmlformats.org/drawingml/2006/table">
            <a:tbl>
              <a:tblPr firstRow="1" bandRow="1">
                <a:tableStyleId>{5C22544A-7EE6-4342-B048-85BDC9FD1C3A}</a:tableStyleId>
              </a:tblPr>
              <a:tblGrid>
                <a:gridCol w="1362759">
                  <a:extLst>
                    <a:ext uri="{9D8B030D-6E8A-4147-A177-3AD203B41FA5}">
                      <a16:colId xmlns:a16="http://schemas.microsoft.com/office/drawing/2014/main" val="4004983389"/>
                    </a:ext>
                  </a:extLst>
                </a:gridCol>
                <a:gridCol w="4646726">
                  <a:extLst>
                    <a:ext uri="{9D8B030D-6E8A-4147-A177-3AD203B41FA5}">
                      <a16:colId xmlns:a16="http://schemas.microsoft.com/office/drawing/2014/main" val="3608128689"/>
                    </a:ext>
                  </a:extLst>
                </a:gridCol>
                <a:gridCol w="4686225">
                  <a:extLst>
                    <a:ext uri="{9D8B030D-6E8A-4147-A177-3AD203B41FA5}">
                      <a16:colId xmlns:a16="http://schemas.microsoft.com/office/drawing/2014/main" val="3990134810"/>
                    </a:ext>
                  </a:extLst>
                </a:gridCol>
              </a:tblGrid>
              <a:tr h="520734">
                <a:tc>
                  <a:txBody>
                    <a:bodyPr/>
                    <a:lstStyle/>
                    <a:p>
                      <a:endParaRPr lang="en-US"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Participant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rPr>
                        <a:t>Single Sample Design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(parameters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520734">
                <a:tc>
                  <a:txBody>
                    <a:bodyPr/>
                    <a:lstStyle/>
                    <a:p>
                      <a:r>
                        <a:rPr lang="en-US" sz="2400" b="1" dirty="0">
                          <a:solidFill>
                            <a:schemeClr val="tx1"/>
                          </a:solidFill>
                        </a:rPr>
                        <a:t>Report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Jo’s final exam score of 90.00% was not statistically different than the average of the class (</a:t>
                      </a:r>
                      <a:r>
                        <a:rPr lang="el-GR" sz="1600" dirty="0"/>
                        <a:t>μ</a:t>
                      </a:r>
                      <a:r>
                        <a:rPr lang="en-CA" sz="1600" dirty="0"/>
                        <a:t> = 72.00,       </a:t>
                      </a:r>
                      <a:r>
                        <a:rPr lang="en-US" sz="1600" dirty="0"/>
                        <a:t>σ = 12.00), </a:t>
                      </a:r>
                      <a:r>
                        <a:rPr lang="en-US" sz="1600" i="1" dirty="0"/>
                        <a:t>z</a:t>
                      </a:r>
                      <a:r>
                        <a:rPr lang="en-US" sz="1600" dirty="0"/>
                        <a:t> = 1.50, </a:t>
                      </a:r>
                      <a:r>
                        <a:rPr lang="en-US" sz="1600" i="1" dirty="0"/>
                        <a:t>p</a:t>
                      </a:r>
                      <a:r>
                        <a:rPr lang="en-US" sz="1600" dirty="0"/>
                        <a:t> = .134. The problem generator did not affect Jo’s exam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FF0000"/>
                          </a:solidFill>
                        </a:rPr>
                        <a:t>The stats problem generator group’s final exam scores (</a:t>
                      </a:r>
                      <a:r>
                        <a:rPr lang="en-CA" sz="1600" i="1" baseline="0" dirty="0">
                          <a:solidFill>
                            <a:srgbClr val="FF0000"/>
                          </a:solidFill>
                        </a:rPr>
                        <a:t>x̅ </a:t>
                      </a:r>
                      <a:r>
                        <a:rPr lang="en-CA" sz="1600" baseline="0" dirty="0">
                          <a:solidFill>
                            <a:srgbClr val="FF0000"/>
                          </a:solidFill>
                        </a:rPr>
                        <a:t>= 90.00%, </a:t>
                      </a:r>
                      <a:r>
                        <a:rPr lang="en-CA" sz="1600" i="1" baseline="0" dirty="0">
                          <a:solidFill>
                            <a:srgbClr val="FF0000"/>
                          </a:solidFill>
                        </a:rPr>
                        <a:t>SD</a:t>
                      </a:r>
                      <a:r>
                        <a:rPr lang="en-CA" sz="1600" baseline="0" dirty="0">
                          <a:solidFill>
                            <a:srgbClr val="FF0000"/>
                          </a:solidFill>
                        </a:rPr>
                        <a:t> = 1.37%, </a:t>
                      </a:r>
                      <a:r>
                        <a:rPr lang="en-CA" sz="1600" i="1" baseline="0" dirty="0">
                          <a:solidFill>
                            <a:srgbClr val="FF0000"/>
                          </a:solidFill>
                        </a:rPr>
                        <a:t>n</a:t>
                      </a:r>
                      <a:r>
                        <a:rPr lang="en-CA" sz="1600" i="0" baseline="0" dirty="0">
                          <a:solidFill>
                            <a:srgbClr val="FF0000"/>
                          </a:solidFill>
                        </a:rPr>
                        <a:t> = 25</a:t>
                      </a:r>
                      <a:r>
                        <a:rPr lang="en-US" sz="1600" dirty="0">
                          <a:solidFill>
                            <a:srgbClr val="FF0000"/>
                          </a:solidFill>
                        </a:rPr>
                        <a:t>) </a:t>
                      </a:r>
                      <a:r>
                        <a:rPr lang="en-US" sz="1600" dirty="0"/>
                        <a:t>were not statistically different than the average of the class (</a:t>
                      </a:r>
                      <a:r>
                        <a:rPr lang="el-GR" sz="1600" dirty="0"/>
                        <a:t>μ</a:t>
                      </a:r>
                      <a:r>
                        <a:rPr lang="en-CA" sz="1600" dirty="0"/>
                        <a:t> = 72.00,        </a:t>
                      </a:r>
                      <a:r>
                        <a:rPr lang="en-US" sz="1600" dirty="0"/>
                        <a:t>σ = 51.00), </a:t>
                      </a:r>
                      <a:r>
                        <a:rPr lang="en-US" sz="1600" i="1" dirty="0"/>
                        <a:t>z</a:t>
                      </a:r>
                      <a:r>
                        <a:rPr lang="en-US" sz="1600" dirty="0"/>
                        <a:t> = 1.76, </a:t>
                      </a:r>
                      <a:r>
                        <a:rPr lang="en-US" sz="1600" i="1" dirty="0"/>
                        <a:t>p</a:t>
                      </a:r>
                      <a:r>
                        <a:rPr lang="en-US" sz="1600" dirty="0"/>
                        <a:t> = .078. The problem generator did not affect the group’s exam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834762"/>
                  </a:ext>
                </a:extLst>
              </a:tr>
            </a:tbl>
          </a:graphicData>
        </a:graphic>
      </p:graphicFrame>
    </p:spTree>
    <p:extLst>
      <p:ext uri="{BB962C8B-B14F-4D97-AF65-F5344CB8AC3E}">
        <p14:creationId xmlns:p14="http://schemas.microsoft.com/office/powerpoint/2010/main" val="2972677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8BBB4-3CDB-6371-E4A7-0BC452C9C3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A20D6F-BFDC-C657-9B70-677D767447DD}"/>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a:t>
            </a:r>
            <a:r>
              <a:rPr lang="en-US" sz="1200" dirty="0">
                <a:solidFill>
                  <a:srgbClr val="FF0000"/>
                </a:solidFill>
              </a:rPr>
              <a:t>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r>
              <a:rPr lang="en-US" sz="1200" dirty="0">
                <a:latin typeface="Calibri" panose="020F0502020204030204" pitchFamily="34" charset="0"/>
                <a:ea typeface="Calibri" panose="020F0502020204030204" pitchFamily="34" charset="0"/>
                <a:cs typeface="Calibri" panose="020F0502020204030204" pitchFamily="34" charset="0"/>
              </a:rPr>
              <a:t>̅</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solidFill>
                  <a:srgbClr val="FF0000"/>
                </a:solidFill>
              </a:rPr>
              <a:t>n</a:t>
            </a:r>
            <a:r>
              <a:rPr lang="en-US" sz="1200" dirty="0">
                <a:solidFill>
                  <a:srgbClr val="FF0000"/>
                </a:solidFill>
              </a:rPr>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53DC3EB-3D2A-117B-FE76-6D10112C1E28}"/>
                  </a:ext>
                </a:extLst>
              </p:cNvPr>
              <p:cNvSpPr txBox="1">
                <a:spLocks/>
              </p:cNvSpPr>
              <p:nvPr/>
            </p:nvSpPr>
            <p:spPr>
              <a:xfrm>
                <a:off x="6095999" y="633816"/>
                <a:ext cx="5853546"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i="1" dirty="0">
                    <a:solidFill>
                      <a:srgbClr val="FF0000"/>
                    </a:solidFill>
                  </a:rPr>
                  <a:t>z</a:t>
                </a:r>
                <a:r>
                  <a:rPr lang="en-US" dirty="0">
                    <a:solidFill>
                      <a:srgbClr val="FF0000"/>
                    </a:solidFill>
                  </a:rPr>
                  <a:t>(</a:t>
                </a:r>
                <a:r>
                  <a:rPr lang="en-US" dirty="0" err="1">
                    <a:solidFill>
                      <a:srgbClr val="FF0000"/>
                    </a:solidFill>
                  </a:rPr>
                  <a:t>obs</a:t>
                </a:r>
                <a:r>
                  <a:rPr lang="en-US" dirty="0">
                    <a:solidFill>
                      <a:srgbClr val="FF0000"/>
                    </a:solidFill>
                  </a:rPr>
                  <a:t>) = </a:t>
                </a:r>
                <a14:m>
                  <m:oMath xmlns:m="http://schemas.openxmlformats.org/officeDocument/2006/math">
                    <m:f>
                      <m:fPr>
                        <m:ctrlPr>
                          <a:rPr lang="en-US" i="1">
                            <a:solidFill>
                              <a:srgbClr val="FF0000"/>
                            </a:solidFill>
                            <a:latin typeface="Cambria Math" panose="02040503050406030204" pitchFamily="18" charset="0"/>
                          </a:rPr>
                        </m:ctrlPr>
                      </m:fPr>
                      <m:num>
                        <m:r>
                          <a:rPr lang="en-CA" i="1">
                            <a:solidFill>
                              <a:srgbClr val="FF0000"/>
                            </a:solidFill>
                            <a:latin typeface="Cambria Math" panose="02040503050406030204" pitchFamily="18" charset="0"/>
                          </a:rPr>
                          <m:t>72</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0000</m:t>
                        </m:r>
                        <m:r>
                          <a:rPr lang="en-CA" i="1">
                            <a:solidFill>
                              <a:srgbClr val="FF0000"/>
                            </a:solidFill>
                            <a:latin typeface="Cambria Math" panose="02040503050406030204" pitchFamily="18" charset="0"/>
                          </a:rPr>
                          <m:t> −</m:t>
                        </m:r>
                        <m:r>
                          <a:rPr lang="en-CA" i="1">
                            <a:solidFill>
                              <a:srgbClr val="FF0000"/>
                            </a:solidFill>
                            <a:latin typeface="Cambria Math" panose="02040503050406030204" pitchFamily="18" charset="0"/>
                          </a:rPr>
                          <m:t>90</m:t>
                        </m:r>
                        <m:r>
                          <a:rPr lang="en-CA" i="1">
                            <a:solidFill>
                              <a:srgbClr val="FF0000"/>
                            </a:solidFill>
                            <a:latin typeface="Cambria Math" panose="02040503050406030204" pitchFamily="18" charset="0"/>
                          </a:rPr>
                          <m:t>.</m:t>
                        </m:r>
                        <m:r>
                          <a:rPr lang="en-CA" i="1">
                            <a:solidFill>
                              <a:srgbClr val="FF0000"/>
                            </a:solidFill>
                            <a:latin typeface="Cambria Math" panose="02040503050406030204" pitchFamily="18" charset="0"/>
                          </a:rPr>
                          <m:t>0000</m:t>
                        </m:r>
                      </m:num>
                      <m:den>
                        <m:r>
                          <m:rPr>
                            <m:nor/>
                          </m:rPr>
                          <a:rPr lang="en-CA" i="0" baseline="-25000" dirty="0">
                            <a:solidFill>
                              <a:srgbClr val="FF0000"/>
                            </a:solidFill>
                            <a:latin typeface="Cambria Math" panose="02040503050406030204" pitchFamily="18" charset="0"/>
                          </a:rPr>
                          <m:t>10.2</m:t>
                        </m:r>
                        <m:r>
                          <m:rPr>
                            <m:nor/>
                          </m:rPr>
                          <a:rPr lang="en-US" i="0" baseline="-25000" dirty="0">
                            <a:solidFill>
                              <a:srgbClr val="FF0000"/>
                            </a:solidFill>
                            <a:latin typeface="Cambria Math" panose="02040503050406030204" pitchFamily="18" charset="0"/>
                          </a:rPr>
                          <m:t>00</m:t>
                        </m:r>
                        <m:r>
                          <m:rPr>
                            <m:nor/>
                          </m:rPr>
                          <a:rPr lang="en-CA" i="0" baseline="-25000" dirty="0">
                            <a:solidFill>
                              <a:srgbClr val="FF0000"/>
                            </a:solidFill>
                            <a:latin typeface="Cambria Math" panose="02040503050406030204" pitchFamily="18" charset="0"/>
                          </a:rPr>
                          <m:t>0</m:t>
                        </m:r>
                      </m:den>
                    </m:f>
                  </m:oMath>
                </a14:m>
                <a:r>
                  <a:rPr lang="en-US" dirty="0">
                    <a:solidFill>
                      <a:srgbClr val="FF0000"/>
                    </a:solidFill>
                  </a:rPr>
                  <a:t>  = -1.7647</a:t>
                </a:r>
              </a:p>
              <a:p>
                <a:r>
                  <a:rPr lang="en-US" i="1" dirty="0"/>
                  <a:t>p</a:t>
                </a:r>
                <a:r>
                  <a:rPr lang="en-US" dirty="0"/>
                  <a:t>(</a:t>
                </a:r>
                <a:r>
                  <a:rPr lang="en-US" i="1" dirty="0" err="1"/>
                  <a:t>obs</a:t>
                </a:r>
                <a:r>
                  <a:rPr lang="en-US" dirty="0"/>
                  <a:t>) = .0392 x 2 = .0784</a:t>
                </a:r>
                <a:endParaRPr lang="en-US" i="1" dirty="0"/>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t>|1.96|</a:t>
                </a:r>
                <a:endParaRPr lang="en-US" sz="2000" dirty="0">
                  <a:solidFill>
                    <a:schemeClr val="tx1"/>
                  </a:solidFill>
                </a:endParaRP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rgbClr val="FF0000"/>
                    </a:solidFill>
                  </a:rPr>
                  <a:t>The stats problem generator group’s final exam scores (</a:t>
                </a:r>
                <a:r>
                  <a:rPr lang="en-CA" sz="2000" i="1" dirty="0">
                    <a:solidFill>
                      <a:srgbClr val="FF0000"/>
                    </a:solidFill>
                  </a:rPr>
                  <a:t>x̅ </a:t>
                </a:r>
                <a:r>
                  <a:rPr lang="en-CA" sz="2000" dirty="0">
                    <a:solidFill>
                      <a:srgbClr val="FF0000"/>
                    </a:solidFill>
                  </a:rPr>
                  <a:t>= 90.00%, </a:t>
                </a:r>
                <a:r>
                  <a:rPr lang="en-CA" sz="2000" i="1" dirty="0">
                    <a:solidFill>
                      <a:srgbClr val="FF0000"/>
                    </a:solidFill>
                  </a:rPr>
                  <a:t>SD</a:t>
                </a:r>
                <a:r>
                  <a:rPr lang="en-CA" sz="2000" dirty="0">
                    <a:solidFill>
                      <a:srgbClr val="FF0000"/>
                    </a:solidFill>
                  </a:rPr>
                  <a:t> = 1.37%, </a:t>
                </a:r>
                <a:r>
                  <a:rPr lang="en-CA" sz="2000" i="1" dirty="0">
                    <a:solidFill>
                      <a:srgbClr val="FF0000"/>
                    </a:solidFill>
                  </a:rPr>
                  <a:t>n</a:t>
                </a:r>
                <a:r>
                  <a:rPr lang="en-CA" sz="2000" dirty="0">
                    <a:solidFill>
                      <a:srgbClr val="FF0000"/>
                    </a:solidFill>
                  </a:rPr>
                  <a:t> = 25</a:t>
                </a:r>
                <a:r>
                  <a:rPr lang="en-US" sz="2000" dirty="0">
                    <a:solidFill>
                      <a:srgbClr val="FF0000"/>
                    </a:solidFill>
                  </a:rPr>
                  <a:t>) </a:t>
                </a:r>
                <a:r>
                  <a:rPr lang="en-US" sz="2000" dirty="0"/>
                  <a:t>were</a:t>
                </a:r>
                <a:r>
                  <a:rPr lang="en-US" sz="2000" dirty="0">
                    <a:solidFill>
                      <a:srgbClr val="FF0000"/>
                    </a:solidFill>
                  </a:rPr>
                  <a:t> </a:t>
                </a:r>
                <a:r>
                  <a:rPr lang="en-US" sz="2000" dirty="0">
                    <a:solidFill>
                      <a:schemeClr val="tx1"/>
                    </a:solidFill>
                  </a:rPr>
                  <a:t>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F53DC3EB-3D2A-117B-FE76-6D10112C1E28}"/>
                  </a:ext>
                </a:extLst>
              </p:cNvPr>
              <p:cNvSpPr txBox="1">
                <a:spLocks noRot="1" noChangeAspect="1" noMove="1" noResize="1" noEditPoints="1" noAdjustHandles="1" noChangeArrowheads="1" noChangeShapeType="1" noTextEdit="1"/>
              </p:cNvSpPr>
              <p:nvPr/>
            </p:nvSpPr>
            <p:spPr>
              <a:xfrm>
                <a:off x="6095999" y="633816"/>
                <a:ext cx="5853546" cy="6271404"/>
              </a:xfrm>
              <a:prstGeom prst="rect">
                <a:avLst/>
              </a:prstGeom>
              <a:blipFill>
                <a:blip r:embed="rId2"/>
                <a:stretch>
                  <a:fillRect l="-2083" t="-2235"/>
                </a:stretch>
              </a:blipFill>
            </p:spPr>
            <p:txBody>
              <a:bodyPr/>
              <a:lstStyle/>
              <a:p>
                <a:r>
                  <a:rPr lang="en-US">
                    <a:noFill/>
                  </a:rPr>
                  <a:t> </a:t>
                </a:r>
              </a:p>
            </p:txBody>
          </p:sp>
        </mc:Fallback>
      </mc:AlternateContent>
      <p:sp>
        <p:nvSpPr>
          <p:cNvPr id="7" name="Rounded Rectangle 6">
            <a:extLst>
              <a:ext uri="{FF2B5EF4-FFF2-40B4-BE49-F238E27FC236}">
                <a16:creationId xmlns:a16="http://schemas.microsoft.com/office/drawing/2014/main" id="{917A65B7-1E30-67BA-5799-4943F973FB34}"/>
              </a:ext>
            </a:extLst>
          </p:cNvPr>
          <p:cNvSpPr/>
          <p:nvPr/>
        </p:nvSpPr>
        <p:spPr>
          <a:xfrm>
            <a:off x="5936673" y="4765012"/>
            <a:ext cx="5853546" cy="200770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2112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74393-0205-0C0D-E957-33A888CB35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ADED44-C375-A727-8847-34883E197CF2}"/>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r>
              <a:rPr lang="en-US" b="1" i="1" dirty="0"/>
              <a:t>H</a:t>
            </a:r>
            <a:r>
              <a:rPr lang="en-US" b="1" i="1" baseline="-25000" dirty="0"/>
              <a:t>0</a:t>
            </a:r>
            <a:r>
              <a:rPr lang="en-US" b="1" dirty="0"/>
              <a:t>: </a:t>
            </a:r>
            <a:r>
              <a:rPr lang="el-GR" i="1" dirty="0"/>
              <a:t>μ</a:t>
            </a:r>
            <a:r>
              <a:rPr lang="el-GR" dirty="0"/>
              <a:t> </a:t>
            </a:r>
            <a:r>
              <a:rPr lang="en-CA" dirty="0"/>
              <a:t>= </a:t>
            </a:r>
            <a:r>
              <a:rPr lang="en-US" dirty="0"/>
              <a:t>72.00</a:t>
            </a:r>
            <a:endParaRPr lang="en-CA" dirty="0"/>
          </a:p>
          <a:p>
            <a:r>
              <a:rPr lang="en-US" b="1" i="1" dirty="0"/>
              <a:t>H</a:t>
            </a:r>
            <a:r>
              <a:rPr lang="en-US" b="1" i="1" baseline="-25000" dirty="0"/>
              <a:t>1</a:t>
            </a:r>
            <a:r>
              <a:rPr lang="en-US" b="1" dirty="0"/>
              <a:t>: </a:t>
            </a:r>
            <a:r>
              <a:rPr lang="el-GR" i="1" dirty="0"/>
              <a:t>μ</a:t>
            </a:r>
            <a:r>
              <a:rPr lang="en-CA" dirty="0"/>
              <a:t> ≠ </a:t>
            </a:r>
            <a:r>
              <a:rPr lang="en-US" dirty="0"/>
              <a:t>72.00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a:t>
            </a:r>
            <a:r>
              <a:rPr lang="en-US" sz="1200" dirty="0">
                <a:solidFill>
                  <a:srgbClr val="FF0000"/>
                </a:solidFill>
              </a:rPr>
              <a:t>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x</a:t>
            </a:r>
            <a:r>
              <a:rPr lang="en-US" sz="1200" dirty="0">
                <a:latin typeface="Calibri" panose="020F0502020204030204" pitchFamily="34" charset="0"/>
                <a:ea typeface="Calibri" panose="020F0502020204030204" pitchFamily="34" charset="0"/>
                <a:cs typeface="Calibri" panose="020F0502020204030204" pitchFamily="34" charset="0"/>
              </a:rPr>
              <a:t>̅</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72.00, σ = 51.00, </a:t>
            </a:r>
            <a:r>
              <a:rPr lang="en-US" sz="1200" i="1" dirty="0"/>
              <a:t>N</a:t>
            </a:r>
            <a:r>
              <a:rPr lang="en-US" sz="1200" dirty="0"/>
              <a:t> = 500</a:t>
            </a:r>
          </a:p>
          <a:p>
            <a:pPr>
              <a:lnSpc>
                <a:spcPct val="100000"/>
              </a:lnSpc>
              <a:spcBef>
                <a:spcPts val="0"/>
              </a:spcBef>
            </a:pPr>
            <a:r>
              <a:rPr lang="en-US" sz="1200" b="1" dirty="0"/>
              <a:t>Sample Size</a:t>
            </a:r>
            <a:r>
              <a:rPr lang="en-US" sz="1200" dirty="0"/>
              <a:t>: </a:t>
            </a:r>
            <a:r>
              <a:rPr lang="en-US" sz="1200" i="1" dirty="0">
                <a:solidFill>
                  <a:srgbClr val="FF0000"/>
                </a:solidFill>
              </a:rPr>
              <a:t>n</a:t>
            </a:r>
            <a:r>
              <a:rPr lang="en-US" sz="1200" dirty="0">
                <a:solidFill>
                  <a:srgbClr val="FF0000"/>
                </a:solidFill>
              </a:rPr>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F3946843-9B60-F49A-4040-E3B064BA9B21}"/>
                  </a:ext>
                </a:extLst>
              </p:cNvPr>
              <p:cNvSpPr txBox="1">
                <a:spLocks/>
              </p:cNvSpPr>
              <p:nvPr/>
            </p:nvSpPr>
            <p:spPr>
              <a:xfrm>
                <a:off x="6095999" y="633816"/>
                <a:ext cx="5853546" cy="627140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solidFill>
                  </a:rPr>
                  <a:t>Step 4:</a:t>
                </a:r>
              </a:p>
              <a:p>
                <a:r>
                  <a:rPr lang="en-US" i="1" dirty="0">
                    <a:solidFill>
                      <a:srgbClr val="FF0000"/>
                    </a:solidFill>
                  </a:rPr>
                  <a:t>z</a:t>
                </a:r>
                <a:r>
                  <a:rPr lang="en-US" dirty="0">
                    <a:solidFill>
                      <a:srgbClr val="FF0000"/>
                    </a:solidFill>
                  </a:rPr>
                  <a:t>(</a:t>
                </a:r>
                <a:r>
                  <a:rPr lang="en-US" dirty="0" err="1">
                    <a:solidFill>
                      <a:srgbClr val="FF0000"/>
                    </a:solidFill>
                  </a:rPr>
                  <a:t>obs</a:t>
                </a:r>
                <a:r>
                  <a:rPr lang="en-US" dirty="0">
                    <a:solidFill>
                      <a:srgbClr val="FF0000"/>
                    </a:solidFill>
                  </a:rPr>
                  <a:t>) = </a:t>
                </a:r>
                <a14:m>
                  <m:oMath xmlns:m="http://schemas.openxmlformats.org/officeDocument/2006/math">
                    <m:f>
                      <m:fPr>
                        <m:ctrlPr>
                          <a:rPr lang="en-US" i="1">
                            <a:solidFill>
                              <a:srgbClr val="FF0000"/>
                            </a:solidFill>
                            <a:latin typeface="Cambria Math" panose="02040503050406030204" pitchFamily="18" charset="0"/>
                          </a:rPr>
                        </m:ctrlPr>
                      </m:fPr>
                      <m:num>
                        <m:r>
                          <a:rPr lang="en-CA" i="1">
                            <a:solidFill>
                              <a:srgbClr val="FF0000"/>
                            </a:solidFill>
                            <a:latin typeface="Cambria Math" panose="02040503050406030204" pitchFamily="18" charset="0"/>
                          </a:rPr>
                          <m:t>72</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0000</m:t>
                        </m:r>
                        <m:r>
                          <a:rPr lang="en-CA" i="1">
                            <a:solidFill>
                              <a:srgbClr val="FF0000"/>
                            </a:solidFill>
                            <a:latin typeface="Cambria Math" panose="02040503050406030204" pitchFamily="18" charset="0"/>
                          </a:rPr>
                          <m:t> −</m:t>
                        </m:r>
                        <m:r>
                          <a:rPr lang="en-CA" i="1">
                            <a:solidFill>
                              <a:srgbClr val="FF0000"/>
                            </a:solidFill>
                            <a:latin typeface="Cambria Math" panose="02040503050406030204" pitchFamily="18" charset="0"/>
                          </a:rPr>
                          <m:t>90</m:t>
                        </m:r>
                        <m:r>
                          <a:rPr lang="en-CA" i="1">
                            <a:solidFill>
                              <a:srgbClr val="FF0000"/>
                            </a:solidFill>
                            <a:latin typeface="Cambria Math" panose="02040503050406030204" pitchFamily="18" charset="0"/>
                          </a:rPr>
                          <m:t>.</m:t>
                        </m:r>
                        <m:r>
                          <a:rPr lang="en-CA" i="1">
                            <a:solidFill>
                              <a:srgbClr val="FF0000"/>
                            </a:solidFill>
                            <a:latin typeface="Cambria Math" panose="02040503050406030204" pitchFamily="18" charset="0"/>
                          </a:rPr>
                          <m:t>0000</m:t>
                        </m:r>
                      </m:num>
                      <m:den>
                        <m:r>
                          <m:rPr>
                            <m:nor/>
                          </m:rPr>
                          <a:rPr lang="en-CA" i="0" baseline="-25000" dirty="0">
                            <a:solidFill>
                              <a:srgbClr val="FF0000"/>
                            </a:solidFill>
                            <a:latin typeface="Cambria Math" panose="02040503050406030204" pitchFamily="18" charset="0"/>
                          </a:rPr>
                          <m:t>10.2</m:t>
                        </m:r>
                        <m:r>
                          <m:rPr>
                            <m:nor/>
                          </m:rPr>
                          <a:rPr lang="en-US" i="0" baseline="-25000" dirty="0">
                            <a:solidFill>
                              <a:srgbClr val="FF0000"/>
                            </a:solidFill>
                            <a:latin typeface="Cambria Math" panose="02040503050406030204" pitchFamily="18" charset="0"/>
                          </a:rPr>
                          <m:t>00</m:t>
                        </m:r>
                        <m:r>
                          <m:rPr>
                            <m:nor/>
                          </m:rPr>
                          <a:rPr lang="en-CA" i="0" baseline="-25000" dirty="0">
                            <a:solidFill>
                              <a:srgbClr val="FF0000"/>
                            </a:solidFill>
                            <a:latin typeface="Cambria Math" panose="02040503050406030204" pitchFamily="18" charset="0"/>
                          </a:rPr>
                          <m:t>0</m:t>
                        </m:r>
                      </m:den>
                    </m:f>
                  </m:oMath>
                </a14:m>
                <a:r>
                  <a:rPr lang="en-US" dirty="0">
                    <a:solidFill>
                      <a:srgbClr val="FF0000"/>
                    </a:solidFill>
                  </a:rPr>
                  <a:t>  = -1.7647</a:t>
                </a:r>
              </a:p>
              <a:p>
                <a:r>
                  <a:rPr lang="en-US" i="1" dirty="0"/>
                  <a:t>p</a:t>
                </a:r>
                <a:r>
                  <a:rPr lang="en-US" dirty="0"/>
                  <a:t>(</a:t>
                </a:r>
                <a:r>
                  <a:rPr lang="en-US" i="1" dirty="0" err="1"/>
                  <a:t>obs</a:t>
                </a:r>
                <a:r>
                  <a:rPr lang="en-US" dirty="0"/>
                  <a:t>) = .0392 x 2 = .0784</a:t>
                </a:r>
                <a:endParaRPr lang="en-US" i="1" dirty="0"/>
              </a:p>
              <a:p>
                <a:pPr marL="0" indent="0">
                  <a:buFont typeface="Arial" panose="020B0604020202020204" pitchFamily="34" charset="0"/>
                  <a:buNone/>
                </a:pPr>
                <a:endParaRPr lang="en-CA" b="1" dirty="0">
                  <a:solidFill>
                    <a:schemeClr val="tx1"/>
                  </a:solidFill>
                </a:endParaRPr>
              </a:p>
              <a:p>
                <a:pPr marL="0" indent="0">
                  <a:buFont typeface="Arial" panose="020B0604020202020204" pitchFamily="34" charset="0"/>
                  <a:buNone/>
                </a:pPr>
                <a:r>
                  <a:rPr lang="en-CA" b="1" dirty="0">
                    <a:solidFill>
                      <a:schemeClr val="tx1"/>
                    </a:solidFill>
                  </a:rPr>
                  <a:t>Step 5: </a:t>
                </a:r>
                <a:endParaRPr lang="en-US" b="1" dirty="0">
                  <a:solidFill>
                    <a:schemeClr val="tx1"/>
                  </a:solidFill>
                </a:endParaRPr>
              </a:p>
              <a:p>
                <a:r>
                  <a:rPr lang="en-US" sz="2000" i="1" dirty="0">
                    <a:solidFill>
                      <a:schemeClr val="tx1"/>
                    </a:solidFill>
                  </a:rPr>
                  <a:t>p</a:t>
                </a:r>
                <a:r>
                  <a:rPr lang="en-US" sz="2000" dirty="0">
                    <a:solidFill>
                      <a:schemeClr val="tx1"/>
                    </a:solidFill>
                  </a:rPr>
                  <a:t>(</a:t>
                </a:r>
                <a:r>
                  <a:rPr lang="en-US" sz="2000" dirty="0" err="1">
                    <a:solidFill>
                      <a:schemeClr val="tx1"/>
                    </a:solidFill>
                  </a:rPr>
                  <a:t>obs</a:t>
                </a:r>
                <a:r>
                  <a:rPr lang="en-US" sz="2000" dirty="0">
                    <a:solidFill>
                      <a:schemeClr val="tx1"/>
                    </a:solidFill>
                  </a:rPr>
                  <a:t>) = .0784 </a:t>
                </a:r>
                <a:r>
                  <a:rPr lang="en-US" sz="2000" b="1" dirty="0">
                    <a:solidFill>
                      <a:schemeClr val="tx1"/>
                    </a:solidFill>
                  </a:rPr>
                  <a:t>&gt;</a:t>
                </a:r>
                <a:r>
                  <a:rPr lang="en-US" sz="2000" dirty="0">
                    <a:solidFill>
                      <a:schemeClr val="tx1"/>
                    </a:solidFill>
                  </a:rPr>
                  <a:t> </a:t>
                </a:r>
                <a:r>
                  <a:rPr lang="en-US" sz="2000" i="1" dirty="0">
                    <a:solidFill>
                      <a:schemeClr val="tx1"/>
                    </a:solidFill>
                  </a:rPr>
                  <a:t>p</a:t>
                </a:r>
                <a:r>
                  <a:rPr lang="en-US" sz="2000" dirty="0">
                    <a:solidFill>
                      <a:schemeClr val="tx1"/>
                    </a:solidFill>
                  </a:rPr>
                  <a:t>(</a:t>
                </a:r>
                <a:r>
                  <a:rPr lang="el-GR" sz="2000" dirty="0">
                    <a:solidFill>
                      <a:schemeClr val="tx1"/>
                    </a:solidFill>
                  </a:rPr>
                  <a:t>α</a:t>
                </a:r>
                <a:r>
                  <a:rPr lang="en-US" sz="2000" dirty="0">
                    <a:solidFill>
                      <a:schemeClr val="tx1"/>
                    </a:solidFill>
                  </a:rPr>
                  <a:t>) </a:t>
                </a:r>
                <a:r>
                  <a:rPr lang="en-US" sz="2000" b="1" dirty="0">
                    <a:solidFill>
                      <a:schemeClr val="tx1"/>
                    </a:solidFill>
                  </a:rPr>
                  <a:t>= </a:t>
                </a:r>
                <a:r>
                  <a:rPr lang="en-US" sz="2000" dirty="0">
                    <a:solidFill>
                      <a:schemeClr val="tx1"/>
                    </a:solidFill>
                  </a:rPr>
                  <a:t>.05</a:t>
                </a:r>
              </a:p>
              <a:p>
                <a:pPr lvl="1"/>
                <a:r>
                  <a:rPr lang="en-US" sz="1800" i="1" dirty="0">
                    <a:solidFill>
                      <a:schemeClr val="tx1"/>
                    </a:solidFill>
                  </a:rPr>
                  <a:t>Fail to reject the null hypothesis</a:t>
                </a:r>
              </a:p>
              <a:p>
                <a:r>
                  <a:rPr lang="en-US" sz="2000" i="1" dirty="0">
                    <a:solidFill>
                      <a:schemeClr val="tx1"/>
                    </a:solidFill>
                  </a:rPr>
                  <a:t>z(</a:t>
                </a:r>
                <a:r>
                  <a:rPr lang="en-US" sz="2000" i="1" dirty="0" err="1">
                    <a:solidFill>
                      <a:schemeClr val="tx1"/>
                    </a:solidFill>
                  </a:rPr>
                  <a:t>obs</a:t>
                </a:r>
                <a:r>
                  <a:rPr lang="en-US" sz="2000" i="1" dirty="0">
                    <a:solidFill>
                      <a:schemeClr val="tx1"/>
                    </a:solidFill>
                  </a:rPr>
                  <a:t>) </a:t>
                </a:r>
                <a:r>
                  <a:rPr lang="en-US" sz="2000" b="1" dirty="0">
                    <a:solidFill>
                      <a:schemeClr val="tx1"/>
                    </a:solidFill>
                  </a:rPr>
                  <a:t>= </a:t>
                </a:r>
                <a:r>
                  <a:rPr lang="en-US" sz="2000" dirty="0">
                    <a:solidFill>
                      <a:schemeClr val="tx1"/>
                    </a:solidFill>
                  </a:rPr>
                  <a:t>|-1.7647| </a:t>
                </a:r>
                <a:r>
                  <a:rPr lang="en-US" sz="2000" b="1" dirty="0">
                    <a:solidFill>
                      <a:schemeClr val="tx1"/>
                    </a:solidFill>
                  </a:rPr>
                  <a:t>&lt;</a:t>
                </a:r>
                <a:r>
                  <a:rPr lang="en-US" sz="2000" dirty="0">
                    <a:solidFill>
                      <a:schemeClr val="tx1"/>
                    </a:solidFill>
                  </a:rPr>
                  <a:t> </a:t>
                </a:r>
                <a:r>
                  <a:rPr lang="en-US" sz="2000" i="1" dirty="0">
                    <a:solidFill>
                      <a:schemeClr val="tx1"/>
                    </a:solidFill>
                  </a:rPr>
                  <a:t>z(crit) </a:t>
                </a:r>
                <a:r>
                  <a:rPr lang="en-US" sz="2000" dirty="0">
                    <a:solidFill>
                      <a:schemeClr val="tx1"/>
                    </a:solidFill>
                  </a:rPr>
                  <a:t>=</a:t>
                </a:r>
                <a:r>
                  <a:rPr lang="en-US" sz="2000" i="1" dirty="0">
                    <a:solidFill>
                      <a:schemeClr val="tx1"/>
                    </a:solidFill>
                  </a:rPr>
                  <a:t> </a:t>
                </a:r>
                <a:r>
                  <a:rPr lang="en-US" sz="2000" dirty="0"/>
                  <a:t>|1.96|</a:t>
                </a:r>
                <a:endParaRPr lang="en-US" sz="2000" dirty="0">
                  <a:solidFill>
                    <a:schemeClr val="tx1"/>
                  </a:solidFill>
                </a:endParaRPr>
              </a:p>
              <a:p>
                <a:pPr lvl="1"/>
                <a:r>
                  <a:rPr lang="en-US" sz="1800" i="1" dirty="0">
                    <a:solidFill>
                      <a:schemeClr val="tx1"/>
                    </a:solidFill>
                  </a:rPr>
                  <a:t>Fail to reject the null hypothesis</a:t>
                </a:r>
              </a:p>
              <a:p>
                <a:pPr marL="0" indent="0">
                  <a:lnSpc>
                    <a:spcPct val="100000"/>
                  </a:lnSpc>
                  <a:buFont typeface="Arial" panose="020B0604020202020204" pitchFamily="34" charset="0"/>
                  <a:buNone/>
                </a:pPr>
                <a:endParaRPr lang="en-US" dirty="0">
                  <a:solidFill>
                    <a:schemeClr val="tx1"/>
                  </a:solidFill>
                </a:endParaRPr>
              </a:p>
              <a:p>
                <a:pPr marL="0" indent="0">
                  <a:lnSpc>
                    <a:spcPct val="100000"/>
                  </a:lnSpc>
                  <a:buFont typeface="Arial" panose="020B0604020202020204" pitchFamily="34" charset="0"/>
                  <a:buNone/>
                </a:pPr>
                <a:r>
                  <a:rPr lang="en-US" b="1" dirty="0">
                    <a:solidFill>
                      <a:schemeClr val="tx1"/>
                    </a:solidFill>
                  </a:rPr>
                  <a:t>Step 6:</a:t>
                </a:r>
              </a:p>
              <a:p>
                <a:r>
                  <a:rPr lang="en-US" sz="2000" dirty="0">
                    <a:solidFill>
                      <a:srgbClr val="FF0000"/>
                    </a:solidFill>
                  </a:rPr>
                  <a:t>The stats problem generator group’s final exam scores (</a:t>
                </a:r>
                <a:r>
                  <a:rPr lang="en-CA" sz="2000" i="1" dirty="0">
                    <a:solidFill>
                      <a:srgbClr val="FF0000"/>
                    </a:solidFill>
                  </a:rPr>
                  <a:t>x̅ </a:t>
                </a:r>
                <a:r>
                  <a:rPr lang="en-CA" sz="2000" dirty="0">
                    <a:solidFill>
                      <a:srgbClr val="FF0000"/>
                    </a:solidFill>
                  </a:rPr>
                  <a:t>= 90.00%, </a:t>
                </a:r>
                <a:r>
                  <a:rPr lang="en-CA" sz="2000" i="1" dirty="0">
                    <a:solidFill>
                      <a:srgbClr val="FF0000"/>
                    </a:solidFill>
                  </a:rPr>
                  <a:t>SD</a:t>
                </a:r>
                <a:r>
                  <a:rPr lang="en-CA" sz="2000" dirty="0">
                    <a:solidFill>
                      <a:srgbClr val="FF0000"/>
                    </a:solidFill>
                  </a:rPr>
                  <a:t> = 1.37%, </a:t>
                </a:r>
                <a:r>
                  <a:rPr lang="en-CA" sz="2000" i="1" dirty="0">
                    <a:solidFill>
                      <a:srgbClr val="FF0000"/>
                    </a:solidFill>
                  </a:rPr>
                  <a:t>n</a:t>
                </a:r>
                <a:r>
                  <a:rPr lang="en-CA" sz="2000" dirty="0">
                    <a:solidFill>
                      <a:srgbClr val="FF0000"/>
                    </a:solidFill>
                  </a:rPr>
                  <a:t> = 25</a:t>
                </a:r>
                <a:r>
                  <a:rPr lang="en-US" sz="2000" dirty="0">
                    <a:solidFill>
                      <a:srgbClr val="FF0000"/>
                    </a:solidFill>
                  </a:rPr>
                  <a:t>) </a:t>
                </a:r>
                <a:r>
                  <a:rPr lang="en-US" sz="2000" dirty="0"/>
                  <a:t>were</a:t>
                </a:r>
                <a:r>
                  <a:rPr lang="en-US" sz="2000" dirty="0">
                    <a:solidFill>
                      <a:srgbClr val="FF0000"/>
                    </a:solidFill>
                  </a:rPr>
                  <a:t> </a:t>
                </a:r>
                <a:r>
                  <a:rPr lang="en-US" sz="2000" dirty="0">
                    <a:solidFill>
                      <a:schemeClr val="tx1"/>
                    </a:solidFill>
                  </a:rPr>
                  <a:t>not statistically different than the average of the class  (</a:t>
                </a:r>
                <a:r>
                  <a:rPr lang="el-GR" sz="2000" dirty="0">
                    <a:solidFill>
                      <a:schemeClr val="tx1"/>
                    </a:solidFill>
                  </a:rPr>
                  <a:t>μ</a:t>
                </a:r>
                <a:r>
                  <a:rPr lang="en-CA" sz="2000" dirty="0">
                    <a:solidFill>
                      <a:schemeClr val="tx1"/>
                    </a:solidFill>
                  </a:rPr>
                  <a:t> = </a:t>
                </a:r>
                <a:r>
                  <a:rPr lang="en-CA" sz="2000" dirty="0"/>
                  <a:t>72</a:t>
                </a:r>
                <a:r>
                  <a:rPr lang="en-CA" sz="2000" dirty="0">
                    <a:solidFill>
                      <a:schemeClr val="tx1"/>
                    </a:solidFill>
                  </a:rPr>
                  <a:t>.00, </a:t>
                </a:r>
                <a:r>
                  <a:rPr lang="en-US" sz="2000" dirty="0">
                    <a:solidFill>
                      <a:schemeClr val="tx1"/>
                    </a:solidFill>
                  </a:rPr>
                  <a:t>σ = </a:t>
                </a:r>
                <a:r>
                  <a:rPr lang="en-US" sz="2000" dirty="0"/>
                  <a:t>51.0</a:t>
                </a:r>
                <a:r>
                  <a:rPr lang="en-US" sz="2000" dirty="0">
                    <a:solidFill>
                      <a:schemeClr val="tx1"/>
                    </a:solidFill>
                  </a:rPr>
                  <a:t>0), </a:t>
                </a:r>
                <a:r>
                  <a:rPr lang="en-US" sz="2000" i="1" dirty="0">
                    <a:solidFill>
                      <a:schemeClr val="tx1"/>
                    </a:solidFill>
                  </a:rPr>
                  <a:t>z</a:t>
                </a:r>
                <a:r>
                  <a:rPr lang="en-US" sz="2000" dirty="0">
                    <a:solidFill>
                      <a:schemeClr val="tx1"/>
                    </a:solidFill>
                  </a:rPr>
                  <a:t> = 1.76, </a:t>
                </a:r>
                <a:r>
                  <a:rPr lang="en-US" sz="2000" i="1" dirty="0">
                    <a:solidFill>
                      <a:schemeClr val="tx1"/>
                    </a:solidFill>
                  </a:rPr>
                  <a:t>p</a:t>
                </a:r>
                <a:r>
                  <a:rPr lang="en-US" sz="2000" dirty="0">
                    <a:solidFill>
                      <a:schemeClr val="tx1"/>
                    </a:solidFill>
                  </a:rPr>
                  <a:t> = .078. </a:t>
                </a:r>
              </a:p>
              <a:p>
                <a:pPr marL="0" indent="0">
                  <a:buFont typeface="Arial" panose="020B0604020202020204" pitchFamily="34" charset="0"/>
                  <a:buNone/>
                </a:pPr>
                <a:endParaRPr lang="en-CA" dirty="0">
                  <a:solidFill>
                    <a:schemeClr val="tx1"/>
                  </a:solidFill>
                </a:endParaRPr>
              </a:p>
              <a:p>
                <a:endParaRPr lang="en-US" dirty="0">
                  <a:solidFill>
                    <a:schemeClr val="tx1"/>
                  </a:solidFill>
                </a:endParaRPr>
              </a:p>
            </p:txBody>
          </p:sp>
        </mc:Choice>
        <mc:Fallback xmlns="">
          <p:sp>
            <p:nvSpPr>
              <p:cNvPr id="4" name="Content Placeholder 2">
                <a:extLst>
                  <a:ext uri="{FF2B5EF4-FFF2-40B4-BE49-F238E27FC236}">
                    <a16:creationId xmlns:a16="http://schemas.microsoft.com/office/drawing/2014/main" id="{F3946843-9B60-F49A-4040-E3B064BA9B21}"/>
                  </a:ext>
                </a:extLst>
              </p:cNvPr>
              <p:cNvSpPr txBox="1">
                <a:spLocks noRot="1" noChangeAspect="1" noMove="1" noResize="1" noEditPoints="1" noAdjustHandles="1" noChangeArrowheads="1" noChangeShapeType="1" noTextEdit="1"/>
              </p:cNvSpPr>
              <p:nvPr/>
            </p:nvSpPr>
            <p:spPr>
              <a:xfrm>
                <a:off x="6095999" y="633816"/>
                <a:ext cx="5853546" cy="6271404"/>
              </a:xfrm>
              <a:prstGeom prst="rect">
                <a:avLst/>
              </a:prstGeom>
              <a:blipFill>
                <a:blip r:embed="rId2"/>
                <a:stretch>
                  <a:fillRect l="-2083" t="-2235"/>
                </a:stretch>
              </a:blipFill>
            </p:spPr>
            <p:txBody>
              <a:bodyPr/>
              <a:lstStyle/>
              <a:p>
                <a:r>
                  <a:rPr lang="en-US">
                    <a:noFill/>
                  </a:rPr>
                  <a:t> </a:t>
                </a:r>
              </a:p>
            </p:txBody>
          </p:sp>
        </mc:Fallback>
      </mc:AlternateContent>
    </p:spTree>
    <p:extLst>
      <p:ext uri="{BB962C8B-B14F-4D97-AF65-F5344CB8AC3E}">
        <p14:creationId xmlns:p14="http://schemas.microsoft.com/office/powerpoint/2010/main" val="2321307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29E6F93-1BE2-A24C-A958-7E838335E275}"/>
              </a:ext>
            </a:extLst>
          </p:cNvPr>
          <p:cNvGrpSpPr/>
          <p:nvPr/>
        </p:nvGrpSpPr>
        <p:grpSpPr>
          <a:xfrm>
            <a:off x="294429" y="602116"/>
            <a:ext cx="5458932" cy="5307690"/>
            <a:chOff x="1462829" y="602117"/>
            <a:chExt cx="5458932" cy="5307690"/>
          </a:xfrm>
        </p:grpSpPr>
        <p:grpSp>
          <p:nvGrpSpPr>
            <p:cNvPr id="5" name="Group 4">
              <a:extLst>
                <a:ext uri="{FF2B5EF4-FFF2-40B4-BE49-F238E27FC236}">
                  <a16:creationId xmlns:a16="http://schemas.microsoft.com/office/drawing/2014/main" id="{A8AAD576-3FD9-034D-97C2-DB233589DD70}"/>
                </a:ext>
              </a:extLst>
            </p:cNvPr>
            <p:cNvGrpSpPr/>
            <p:nvPr/>
          </p:nvGrpSpPr>
          <p:grpSpPr>
            <a:xfrm>
              <a:off x="1462829" y="602117"/>
              <a:ext cx="5458932" cy="5307690"/>
              <a:chOff x="1779790" y="1493134"/>
              <a:chExt cx="4490974" cy="4366550"/>
            </a:xfrm>
          </p:grpSpPr>
          <p:cxnSp>
            <p:nvCxnSpPr>
              <p:cNvPr id="15" name="Straight Arrow Connector 14">
                <a:extLst>
                  <a:ext uri="{FF2B5EF4-FFF2-40B4-BE49-F238E27FC236}">
                    <a16:creationId xmlns:a16="http://schemas.microsoft.com/office/drawing/2014/main" id="{3F7C5F54-F4ED-494E-983A-AD64CA969B6F}"/>
                  </a:ext>
                </a:extLst>
              </p:cNvPr>
              <p:cNvCxnSpPr>
                <a:cxnSpLocks/>
              </p:cNvCxnSpPr>
              <p:nvPr/>
            </p:nvCxnSpPr>
            <p:spPr>
              <a:xfrm flipV="1">
                <a:off x="1805652" y="1493134"/>
                <a:ext cx="0" cy="436655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DA9EC6B0-CB23-D64F-986C-DBA67CB5181D}"/>
                  </a:ext>
                </a:extLst>
              </p:cNvPr>
              <p:cNvCxnSpPr>
                <a:cxnSpLocks/>
              </p:cNvCxnSpPr>
              <p:nvPr/>
            </p:nvCxnSpPr>
            <p:spPr>
              <a:xfrm>
                <a:off x="1779790" y="5816277"/>
                <a:ext cx="4490974" cy="0"/>
              </a:xfrm>
              <a:prstGeom prst="straightConnector1">
                <a:avLst/>
              </a:prstGeom>
              <a:ln w="127000">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17" name="Freeform 16">
                <a:extLst>
                  <a:ext uri="{FF2B5EF4-FFF2-40B4-BE49-F238E27FC236}">
                    <a16:creationId xmlns:a16="http://schemas.microsoft.com/office/drawing/2014/main" id="{056D5E8B-B79A-CE4A-9B3E-284711C7414D}"/>
                  </a:ext>
                </a:extLst>
              </p:cNvPr>
              <p:cNvSpPr/>
              <p:nvPr/>
            </p:nvSpPr>
            <p:spPr>
              <a:xfrm>
                <a:off x="1939274" y="3449119"/>
                <a:ext cx="1893537" cy="2087919"/>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1">
                  <a:lumMod val="40000"/>
                  <a:lumOff val="60000"/>
                  <a:alpha val="84678"/>
                </a:schemeClr>
              </a:solidFill>
              <a:ln>
                <a:solidFill>
                  <a:schemeClr val="accent1">
                    <a:lumMod val="50000"/>
                    <a:alpha val="85134"/>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17">
                <a:extLst>
                  <a:ext uri="{FF2B5EF4-FFF2-40B4-BE49-F238E27FC236}">
                    <a16:creationId xmlns:a16="http://schemas.microsoft.com/office/drawing/2014/main" id="{22BF8C57-2D60-534C-B131-447BD8F8385A}"/>
                  </a:ext>
                </a:extLst>
              </p:cNvPr>
              <p:cNvSpPr/>
              <p:nvPr/>
            </p:nvSpPr>
            <p:spPr>
              <a:xfrm>
                <a:off x="2842958" y="2826560"/>
                <a:ext cx="1893537" cy="2710478"/>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2">
                  <a:lumMod val="40000"/>
                  <a:lumOff val="60000"/>
                  <a:alpha val="85220"/>
                </a:schemeClr>
              </a:solidFill>
              <a:ln>
                <a:solidFill>
                  <a:schemeClr val="accent2">
                    <a:lumMod val="50000"/>
                    <a:alpha val="8519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18">
                <a:extLst>
                  <a:ext uri="{FF2B5EF4-FFF2-40B4-BE49-F238E27FC236}">
                    <a16:creationId xmlns:a16="http://schemas.microsoft.com/office/drawing/2014/main" id="{6FDFA582-4592-114B-A82E-7632E7D351C5}"/>
                  </a:ext>
                </a:extLst>
              </p:cNvPr>
              <p:cNvSpPr/>
              <p:nvPr/>
            </p:nvSpPr>
            <p:spPr>
              <a:xfrm>
                <a:off x="3722204" y="2311601"/>
                <a:ext cx="2101382" cy="3225437"/>
              </a:xfrm>
              <a:custGeom>
                <a:avLst/>
                <a:gdLst>
                  <a:gd name="connsiteX0" fmla="*/ 0 w 1893537"/>
                  <a:gd name="connsiteY0" fmla="*/ 2879376 h 2887468"/>
                  <a:gd name="connsiteX1" fmla="*/ 412694 w 1893537"/>
                  <a:gd name="connsiteY1" fmla="*/ 2361486 h 2887468"/>
                  <a:gd name="connsiteX2" fmla="*/ 841572 w 1893537"/>
                  <a:gd name="connsiteY2" fmla="*/ 233281 h 2887468"/>
                  <a:gd name="connsiteX3" fmla="*/ 1068149 w 1893537"/>
                  <a:gd name="connsiteY3" fmla="*/ 289925 h 2887468"/>
                  <a:gd name="connsiteX4" fmla="*/ 1472751 w 1893537"/>
                  <a:gd name="connsiteY4" fmla="*/ 2321026 h 2887468"/>
                  <a:gd name="connsiteX5" fmla="*/ 1893537 w 1893537"/>
                  <a:gd name="connsiteY5" fmla="*/ 2887468 h 2887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537" h="2887468">
                    <a:moveTo>
                      <a:pt x="0" y="2879376"/>
                    </a:moveTo>
                    <a:cubicBezTo>
                      <a:pt x="136216" y="2840939"/>
                      <a:pt x="272432" y="2802502"/>
                      <a:pt x="412694" y="2361486"/>
                    </a:cubicBezTo>
                    <a:cubicBezTo>
                      <a:pt x="552956" y="1920470"/>
                      <a:pt x="732330" y="578541"/>
                      <a:pt x="841572" y="233281"/>
                    </a:cubicBezTo>
                    <a:cubicBezTo>
                      <a:pt x="950814" y="-111979"/>
                      <a:pt x="962953" y="-58032"/>
                      <a:pt x="1068149" y="289925"/>
                    </a:cubicBezTo>
                    <a:cubicBezTo>
                      <a:pt x="1173345" y="637882"/>
                      <a:pt x="1335186" y="1888102"/>
                      <a:pt x="1472751" y="2321026"/>
                    </a:cubicBezTo>
                    <a:cubicBezTo>
                      <a:pt x="1610316" y="2753950"/>
                      <a:pt x="1689888" y="2863192"/>
                      <a:pt x="1893537" y="2887468"/>
                    </a:cubicBezTo>
                  </a:path>
                </a:pathLst>
              </a:custGeom>
              <a:solidFill>
                <a:schemeClr val="accent6">
                  <a:lumMod val="40000"/>
                  <a:lumOff val="60000"/>
                  <a:alpha val="85188"/>
                </a:schemeClr>
              </a:solidFill>
              <a:ln>
                <a:solidFill>
                  <a:schemeClr val="accent6">
                    <a:lumMod val="50000"/>
                    <a:alpha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Freeform 5">
              <a:extLst>
                <a:ext uri="{FF2B5EF4-FFF2-40B4-BE49-F238E27FC236}">
                  <a16:creationId xmlns:a16="http://schemas.microsoft.com/office/drawing/2014/main" id="{3B94D678-6CFD-DB44-AB89-228139B919EC}"/>
                </a:ext>
              </a:extLst>
            </p:cNvPr>
            <p:cNvSpPr/>
            <p:nvPr/>
          </p:nvSpPr>
          <p:spPr>
            <a:xfrm>
              <a:off x="1812853" y="2979683"/>
              <a:ext cx="3708069" cy="2264351"/>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708069"/>
                <a:gd name="connsiteY0" fmla="*/ 2264351 h 2264351"/>
                <a:gd name="connsiteX1" fmla="*/ 1156598 w 3708069"/>
                <a:gd name="connsiteY1" fmla="*/ 1991032 h 2264351"/>
                <a:gd name="connsiteX2" fmla="*/ 1731785 w 3708069"/>
                <a:gd name="connsiteY2" fmla="*/ 1401097 h 2264351"/>
                <a:gd name="connsiteX3" fmla="*/ 2262727 w 3708069"/>
                <a:gd name="connsiteY3" fmla="*/ 1238864 h 2264351"/>
                <a:gd name="connsiteX4" fmla="*/ 2911656 w 3708069"/>
                <a:gd name="connsiteY4" fmla="*/ 693174 h 2264351"/>
                <a:gd name="connsiteX5" fmla="*/ 3708069 w 3708069"/>
                <a:gd name="connsiteY5" fmla="*/ 0 h 226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8069" h="2264351">
                  <a:moveTo>
                    <a:pt x="0" y="2264351"/>
                  </a:moveTo>
                  <a:lnTo>
                    <a:pt x="1156598" y="1991032"/>
                  </a:lnTo>
                  <a:lnTo>
                    <a:pt x="1731785" y="1401097"/>
                  </a:lnTo>
                  <a:lnTo>
                    <a:pt x="2262727" y="1238864"/>
                  </a:lnTo>
                  <a:lnTo>
                    <a:pt x="2911656" y="693174"/>
                  </a:lnTo>
                  <a:lnTo>
                    <a:pt x="3708069" y="0"/>
                  </a:lnTo>
                </a:path>
              </a:pathLst>
            </a:custGeom>
            <a:noFill/>
            <a:ln w="127000">
              <a:solidFill>
                <a:schemeClr val="bg1">
                  <a:alpha val="84175"/>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82CC9CC0-B87F-4541-AA63-DC8E7082AF0C}"/>
                </a:ext>
              </a:extLst>
            </p:cNvPr>
            <p:cNvCxnSpPr>
              <a:cxnSpLocks/>
            </p:cNvCxnSpPr>
            <p:nvPr/>
          </p:nvCxnSpPr>
          <p:spPr>
            <a:xfrm flipV="1">
              <a:off x="5630015" y="2762124"/>
              <a:ext cx="122104" cy="126034"/>
            </a:xfrm>
            <a:prstGeom prst="straightConnector1">
              <a:avLst/>
            </a:prstGeom>
            <a:ln w="381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8" name="Freeform 7">
              <a:extLst>
                <a:ext uri="{FF2B5EF4-FFF2-40B4-BE49-F238E27FC236}">
                  <a16:creationId xmlns:a16="http://schemas.microsoft.com/office/drawing/2014/main" id="{EEFDC0CF-7CB9-1240-8601-062318CD71F3}"/>
                </a:ext>
              </a:extLst>
            </p:cNvPr>
            <p:cNvSpPr/>
            <p:nvPr/>
          </p:nvSpPr>
          <p:spPr>
            <a:xfrm>
              <a:off x="1817303" y="2889806"/>
              <a:ext cx="3812712" cy="2352582"/>
            </a:xfrm>
            <a:custGeom>
              <a:avLst/>
              <a:gdLst>
                <a:gd name="connsiteX0" fmla="*/ 0 w 3229897"/>
                <a:gd name="connsiteY0" fmla="*/ 2138516 h 2138516"/>
                <a:gd name="connsiteX1" fmla="*/ 678426 w 3229897"/>
                <a:gd name="connsiteY1" fmla="*/ 1991032 h 2138516"/>
                <a:gd name="connsiteX2" fmla="*/ 1253613 w 3229897"/>
                <a:gd name="connsiteY2" fmla="*/ 1401097 h 2138516"/>
                <a:gd name="connsiteX3" fmla="*/ 1784555 w 3229897"/>
                <a:gd name="connsiteY3" fmla="*/ 1238864 h 2138516"/>
                <a:gd name="connsiteX4" fmla="*/ 2433484 w 3229897"/>
                <a:gd name="connsiteY4" fmla="*/ 693174 h 2138516"/>
                <a:gd name="connsiteX5" fmla="*/ 3229897 w 3229897"/>
                <a:gd name="connsiteY5" fmla="*/ 0 h 2138516"/>
                <a:gd name="connsiteX0" fmla="*/ 0 w 3326150"/>
                <a:gd name="connsiteY0" fmla="*/ 2226747 h 2226747"/>
                <a:gd name="connsiteX1" fmla="*/ 678426 w 3326150"/>
                <a:gd name="connsiteY1" fmla="*/ 2079263 h 2226747"/>
                <a:gd name="connsiteX2" fmla="*/ 1253613 w 3326150"/>
                <a:gd name="connsiteY2" fmla="*/ 1489328 h 2226747"/>
                <a:gd name="connsiteX3" fmla="*/ 1784555 w 3326150"/>
                <a:gd name="connsiteY3" fmla="*/ 1327095 h 2226747"/>
                <a:gd name="connsiteX4" fmla="*/ 2433484 w 3326150"/>
                <a:gd name="connsiteY4" fmla="*/ 781405 h 2226747"/>
                <a:gd name="connsiteX5" fmla="*/ 3326150 w 3326150"/>
                <a:gd name="connsiteY5" fmla="*/ 0 h 2226747"/>
                <a:gd name="connsiteX0" fmla="*/ 0 w 3812712"/>
                <a:gd name="connsiteY0" fmla="*/ 2352582 h 2352582"/>
                <a:gd name="connsiteX1" fmla="*/ 1164988 w 3812712"/>
                <a:gd name="connsiteY1" fmla="*/ 2079263 h 2352582"/>
                <a:gd name="connsiteX2" fmla="*/ 1740175 w 3812712"/>
                <a:gd name="connsiteY2" fmla="*/ 1489328 h 2352582"/>
                <a:gd name="connsiteX3" fmla="*/ 2271117 w 3812712"/>
                <a:gd name="connsiteY3" fmla="*/ 1327095 h 2352582"/>
                <a:gd name="connsiteX4" fmla="*/ 2920046 w 3812712"/>
                <a:gd name="connsiteY4" fmla="*/ 781405 h 2352582"/>
                <a:gd name="connsiteX5" fmla="*/ 3812712 w 3812712"/>
                <a:gd name="connsiteY5" fmla="*/ 0 h 235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2712" h="2352582">
                  <a:moveTo>
                    <a:pt x="0" y="2352582"/>
                  </a:moveTo>
                  <a:lnTo>
                    <a:pt x="1164988" y="2079263"/>
                  </a:lnTo>
                  <a:lnTo>
                    <a:pt x="1740175" y="1489328"/>
                  </a:lnTo>
                  <a:lnTo>
                    <a:pt x="2271117" y="1327095"/>
                  </a:lnTo>
                  <a:lnTo>
                    <a:pt x="2920046" y="781405"/>
                  </a:lnTo>
                  <a:lnTo>
                    <a:pt x="3812712"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908BF5-DC34-654A-B5A7-2058EDE59DBD}"/>
                </a:ext>
              </a:extLst>
            </p:cNvPr>
            <p:cNvSpPr/>
            <p:nvPr/>
          </p:nvSpPr>
          <p:spPr>
            <a:xfrm>
              <a:off x="1737815" y="5180385"/>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0F48FE7-F539-4342-94A2-F6015FD2D873}"/>
                </a:ext>
              </a:extLst>
            </p:cNvPr>
            <p:cNvSpPr/>
            <p:nvPr/>
          </p:nvSpPr>
          <p:spPr>
            <a:xfrm>
              <a:off x="2889176" y="4884308"/>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4746F38-866B-0F47-B0A0-B99614E7FEC9}"/>
                </a:ext>
              </a:extLst>
            </p:cNvPr>
            <p:cNvSpPr/>
            <p:nvPr/>
          </p:nvSpPr>
          <p:spPr>
            <a:xfrm>
              <a:off x="3464941" y="43162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A40E1110-447B-984F-AC7A-290231E67CA7}"/>
                </a:ext>
              </a:extLst>
            </p:cNvPr>
            <p:cNvSpPr/>
            <p:nvPr/>
          </p:nvSpPr>
          <p:spPr>
            <a:xfrm>
              <a:off x="4014062" y="4120703"/>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AA2D0A7-EAF8-A146-A4DF-F4163AC7CA4F}"/>
                </a:ext>
              </a:extLst>
            </p:cNvPr>
            <p:cNvSpPr/>
            <p:nvPr/>
          </p:nvSpPr>
          <p:spPr>
            <a:xfrm>
              <a:off x="4660823" y="3598409"/>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2AD647C8-7583-2544-9496-EC74345F4596}"/>
                </a:ext>
              </a:extLst>
            </p:cNvPr>
            <p:cNvSpPr/>
            <p:nvPr/>
          </p:nvSpPr>
          <p:spPr>
            <a:xfrm>
              <a:off x="5260932" y="3074751"/>
              <a:ext cx="154830" cy="154830"/>
            </a:xfrm>
            <a:prstGeom prst="ellipse">
              <a:avLst/>
            </a:prstGeom>
            <a:solidFill>
              <a:srgbClr val="FF0000"/>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itle 1">
            <a:extLst>
              <a:ext uri="{FF2B5EF4-FFF2-40B4-BE49-F238E27FC236}">
                <a16:creationId xmlns:a16="http://schemas.microsoft.com/office/drawing/2014/main" id="{7E4F8C96-B1F8-F340-9530-E0398316CFA5}"/>
              </a:ext>
            </a:extLst>
          </p:cNvPr>
          <p:cNvSpPr txBox="1">
            <a:spLocks/>
          </p:cNvSpPr>
          <p:nvPr/>
        </p:nvSpPr>
        <p:spPr>
          <a:xfrm>
            <a:off x="5809077" y="269830"/>
            <a:ext cx="6468542" cy="658817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u="sng" dirty="0">
                <a:latin typeface="Calibri" panose="020F0502020204030204" pitchFamily="34" charset="0"/>
                <a:cs typeface="Calibri" panose="020F0502020204030204" pitchFamily="34" charset="0"/>
              </a:rPr>
              <a:t>Lecture Outline</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Score versus Sample Mean</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Single Sample Z-Test</a:t>
            </a:r>
          </a:p>
          <a:p>
            <a:pPr marL="342900" indent="-3429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Example</a:t>
            </a:r>
          </a:p>
        </p:txBody>
      </p:sp>
    </p:spTree>
    <p:extLst>
      <p:ext uri="{BB962C8B-B14F-4D97-AF65-F5344CB8AC3E}">
        <p14:creationId xmlns:p14="http://schemas.microsoft.com/office/powerpoint/2010/main" val="315162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Single Sample Example</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5"/>
            <a:ext cx="8003059" cy="4351338"/>
          </a:xfrm>
        </p:spPr>
        <p:txBody>
          <a:bodyPr>
            <a:normAutofit fontScale="92500" lnSpcReduction="10000"/>
          </a:bodyPr>
          <a:lstStyle/>
          <a:p>
            <a:pPr marL="0" indent="0">
              <a:buNone/>
            </a:pPr>
            <a:r>
              <a:rPr lang="en-US" sz="3200" dirty="0"/>
              <a:t>A retail company has decided to redesign its checkout app UI and roll it out to all of its customers. It is curious whether this affected customer satisfaction scores, in comparison to the store's past checkout experience (</a:t>
            </a:r>
            <a:r>
              <a:rPr lang="en-US" sz="3200" i="1" dirty="0"/>
              <a:t>μ</a:t>
            </a:r>
            <a:r>
              <a:rPr lang="en-US" sz="3200" dirty="0"/>
              <a:t> = 75.00%,       </a:t>
            </a:r>
            <a:r>
              <a:rPr lang="en-US" sz="3200" i="1" dirty="0"/>
              <a:t>σ</a:t>
            </a:r>
            <a:r>
              <a:rPr lang="en-US" sz="3200" dirty="0"/>
              <a:t> = 12.00%). With twenty-five customers surveyed, satisfaction scores had a mean of           </a:t>
            </a:r>
            <a:r>
              <a:rPr lang="en-US" sz="3200" i="1" dirty="0"/>
              <a:t>x</a:t>
            </a:r>
            <a:r>
              <a:rPr lang="en-US" sz="3200" i="1" dirty="0">
                <a:latin typeface="Calibri" panose="020F0502020204030204" pitchFamily="34" charset="0"/>
                <a:ea typeface="Calibri" panose="020F0502020204030204" pitchFamily="34" charset="0"/>
                <a:cs typeface="Calibri" panose="020F0502020204030204" pitchFamily="34" charset="0"/>
              </a:rPr>
              <a:t>̅</a:t>
            </a:r>
            <a:r>
              <a:rPr lang="en-US" sz="3200" dirty="0"/>
              <a:t> =  80.00% and a standard deviation of                </a:t>
            </a:r>
            <a:r>
              <a:rPr lang="en-US" sz="3200" i="1" dirty="0"/>
              <a:t>SD</a:t>
            </a:r>
            <a:r>
              <a:rPr lang="en-US" sz="3200" dirty="0"/>
              <a:t> = 9.00%. Did the introduction of the new checkout app UI affect customer satisfaction scores?</a:t>
            </a:r>
          </a:p>
        </p:txBody>
      </p:sp>
      <p:pic>
        <p:nvPicPr>
          <p:cNvPr id="5" name="Picture 4">
            <a:extLst>
              <a:ext uri="{FF2B5EF4-FFF2-40B4-BE49-F238E27FC236}">
                <a16:creationId xmlns:a16="http://schemas.microsoft.com/office/drawing/2014/main" id="{C78B6DD2-8814-06AE-19DD-43EA40EDC8FB}"/>
              </a:ext>
            </a:extLst>
          </p:cNvPr>
          <p:cNvPicPr>
            <a:picLocks noChangeAspect="1"/>
          </p:cNvPicPr>
          <p:nvPr/>
        </p:nvPicPr>
        <p:blipFill>
          <a:blip r:embed="rId2"/>
          <a:srcRect l="69059" t="17207" r="9259" b="15045"/>
          <a:stretch>
            <a:fillRect/>
          </a:stretch>
        </p:blipFill>
        <p:spPr>
          <a:xfrm>
            <a:off x="9557657" y="126584"/>
            <a:ext cx="1730829" cy="3605493"/>
          </a:xfrm>
          <a:prstGeom prst="rect">
            <a:avLst/>
          </a:prstGeom>
        </p:spPr>
      </p:pic>
      <p:pic>
        <p:nvPicPr>
          <p:cNvPr id="9" name="Picture 8">
            <a:extLst>
              <a:ext uri="{FF2B5EF4-FFF2-40B4-BE49-F238E27FC236}">
                <a16:creationId xmlns:a16="http://schemas.microsoft.com/office/drawing/2014/main" id="{B1156032-7CFA-1FC3-A8D6-837BAC84906B}"/>
              </a:ext>
            </a:extLst>
          </p:cNvPr>
          <p:cNvPicPr>
            <a:picLocks noChangeAspect="1"/>
          </p:cNvPicPr>
          <p:nvPr/>
        </p:nvPicPr>
        <p:blipFill>
          <a:blip r:embed="rId3"/>
          <a:srcRect t="18173"/>
          <a:stretch>
            <a:fillRect/>
          </a:stretch>
        </p:blipFill>
        <p:spPr>
          <a:xfrm>
            <a:off x="8913830" y="4001294"/>
            <a:ext cx="2716625" cy="2792918"/>
          </a:xfrm>
          <a:prstGeom prst="rect">
            <a:avLst/>
          </a:prstGeom>
        </p:spPr>
      </p:pic>
    </p:spTree>
    <p:extLst>
      <p:ext uri="{BB962C8B-B14F-4D97-AF65-F5344CB8AC3E}">
        <p14:creationId xmlns:p14="http://schemas.microsoft.com/office/powerpoint/2010/main" val="3629955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1: Define Hypotheses</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US" sz="2000" dirty="0"/>
              <a:t>A retail company has decided to redesign its checkout app UI and roll it out to all of its customers. It is curious whether this affected customer satisfaction scores, in comparison to the store's past checkout experience (</a:t>
            </a:r>
            <a:r>
              <a:rPr lang="en-US" sz="2000" i="1" dirty="0"/>
              <a:t>μ</a:t>
            </a:r>
            <a:r>
              <a:rPr lang="en-US" sz="2000" dirty="0"/>
              <a:t> = 75.00%, </a:t>
            </a:r>
            <a:r>
              <a:rPr lang="en-US" sz="2000" i="1" dirty="0"/>
              <a:t>σ</a:t>
            </a:r>
            <a:r>
              <a:rPr lang="en-US" sz="2000" dirty="0"/>
              <a:t> = 12.00%). With twenty-five customers surveyed, satisfaction scores had a mean of </a:t>
            </a:r>
            <a:r>
              <a:rPr lang="en-US" sz="2000" i="1" dirty="0"/>
              <a:t>x</a:t>
            </a:r>
            <a:r>
              <a:rPr lang="en-US" sz="2000" i="1" dirty="0">
                <a:latin typeface="Calibri" panose="020F0502020204030204" pitchFamily="34" charset="0"/>
                <a:ea typeface="Calibri" panose="020F0502020204030204" pitchFamily="34" charset="0"/>
                <a:cs typeface="Calibri" panose="020F0502020204030204" pitchFamily="34" charset="0"/>
              </a:rPr>
              <a:t>̅</a:t>
            </a:r>
            <a:r>
              <a:rPr lang="en-US" sz="2000" dirty="0"/>
              <a:t> =  80.00% and a standard deviation of </a:t>
            </a:r>
            <a:r>
              <a:rPr lang="en-US" sz="2000" i="1" dirty="0"/>
              <a:t>SD</a:t>
            </a:r>
            <a:r>
              <a:rPr lang="en-US" sz="2000" dirty="0"/>
              <a:t> = 9.00%. Did the introduction of the new checkout app UI affect customer satisfaction scores?</a:t>
            </a:r>
          </a:p>
          <a:p>
            <a:pPr marL="0" indent="0">
              <a:buNone/>
            </a:pPr>
            <a:endParaRPr lang="en-US" sz="2000" dirty="0"/>
          </a:p>
          <a:p>
            <a:pPr marL="0" indent="0">
              <a:buNone/>
            </a:pPr>
            <a:r>
              <a:rPr lang="en-US" sz="3600" b="1" i="1" dirty="0"/>
              <a:t>H</a:t>
            </a:r>
            <a:r>
              <a:rPr lang="en-US" sz="3600" b="1" i="1" baseline="-25000" dirty="0"/>
              <a:t>0</a:t>
            </a:r>
            <a:r>
              <a:rPr lang="en-US" sz="3600" b="1" dirty="0"/>
              <a:t>: </a:t>
            </a:r>
            <a:r>
              <a:rPr lang="el-GR" sz="3600" i="1" dirty="0"/>
              <a:t>μ</a:t>
            </a:r>
            <a:r>
              <a:rPr lang="el-GR" sz="3600" dirty="0"/>
              <a:t> </a:t>
            </a:r>
            <a:r>
              <a:rPr lang="en-CA" sz="3600" dirty="0"/>
              <a:t>= </a:t>
            </a:r>
            <a:r>
              <a:rPr lang="en-US" sz="3600" dirty="0"/>
              <a:t>75.00</a:t>
            </a:r>
            <a:endParaRPr lang="en-CA" sz="3600" dirty="0"/>
          </a:p>
          <a:p>
            <a:r>
              <a:rPr lang="en-CA" sz="3600" dirty="0"/>
              <a:t>There will be </a:t>
            </a:r>
            <a:r>
              <a:rPr lang="en-CA" sz="3600" i="1" dirty="0"/>
              <a:t>no difference </a:t>
            </a:r>
            <a:r>
              <a:rPr lang="en-CA" sz="3600" dirty="0"/>
              <a:t>of satisfaction scores between the new UI and the old UI</a:t>
            </a:r>
          </a:p>
          <a:p>
            <a:endParaRPr lang="en-CA" sz="3600" dirty="0"/>
          </a:p>
          <a:p>
            <a:pPr marL="0" indent="0">
              <a:buNone/>
            </a:pPr>
            <a:r>
              <a:rPr lang="en-US" sz="3600" b="1" i="1" dirty="0"/>
              <a:t>H</a:t>
            </a:r>
            <a:r>
              <a:rPr lang="en-US" sz="3600" b="1" i="1" baseline="-25000" dirty="0"/>
              <a:t>1</a:t>
            </a:r>
            <a:r>
              <a:rPr lang="en-US" sz="3600" b="1" dirty="0"/>
              <a:t>: </a:t>
            </a:r>
            <a:r>
              <a:rPr lang="el-GR" sz="3600" i="1" dirty="0"/>
              <a:t>μ</a:t>
            </a:r>
            <a:r>
              <a:rPr lang="en-CA" sz="3600" dirty="0"/>
              <a:t> ≠ </a:t>
            </a:r>
            <a:r>
              <a:rPr lang="en-US" sz="3600" dirty="0"/>
              <a:t>75.00</a:t>
            </a:r>
            <a:endParaRPr lang="en-CA" sz="3600" dirty="0"/>
          </a:p>
          <a:p>
            <a:r>
              <a:rPr lang="en-CA" sz="3600" dirty="0"/>
              <a:t>There will be </a:t>
            </a:r>
            <a:r>
              <a:rPr lang="en-CA" sz="3600" i="1" dirty="0"/>
              <a:t>a difference </a:t>
            </a:r>
            <a:r>
              <a:rPr lang="en-CA" sz="3600" dirty="0"/>
              <a:t>of satisfaction scores between the new UI and the old UI</a:t>
            </a:r>
          </a:p>
          <a:p>
            <a:pPr marL="0" indent="0">
              <a:buNone/>
            </a:pPr>
            <a:endParaRPr lang="en-US" sz="3600" dirty="0"/>
          </a:p>
          <a:p>
            <a:pPr marL="0" indent="0">
              <a:buNone/>
            </a:pPr>
            <a:endParaRPr lang="en-US" sz="2000" dirty="0"/>
          </a:p>
        </p:txBody>
      </p:sp>
    </p:spTree>
    <p:extLst>
      <p:ext uri="{BB962C8B-B14F-4D97-AF65-F5344CB8AC3E}">
        <p14:creationId xmlns:p14="http://schemas.microsoft.com/office/powerpoint/2010/main" val="3831930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93B4-804A-2B10-37B7-6A5D6C3626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8975E3-9C6A-F6AB-08CA-C0346BF8E0AC}"/>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endParaRPr lang="en-US" dirty="0"/>
          </a:p>
        </p:txBody>
      </p:sp>
    </p:spTree>
    <p:extLst>
      <p:ext uri="{BB962C8B-B14F-4D97-AF65-F5344CB8AC3E}">
        <p14:creationId xmlns:p14="http://schemas.microsoft.com/office/powerpoint/2010/main" val="414305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2: Select Sampling Distribution</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03237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3600" dirty="0"/>
          </a:p>
          <a:p>
            <a:pPr marL="0" indent="0">
              <a:buNone/>
            </a:pPr>
            <a:endParaRPr lang="en-US" sz="2000" dirty="0"/>
          </a:p>
        </p:txBody>
      </p:sp>
      <p:graphicFrame>
        <p:nvGraphicFramePr>
          <p:cNvPr id="4" name="Table 6">
            <a:extLst>
              <a:ext uri="{FF2B5EF4-FFF2-40B4-BE49-F238E27FC236}">
                <a16:creationId xmlns:a16="http://schemas.microsoft.com/office/drawing/2014/main" id="{B85CB4D1-DCD6-414E-A21E-44B5ECC6EEAD}"/>
              </a:ext>
            </a:extLst>
          </p:cNvPr>
          <p:cNvGraphicFramePr>
            <a:graphicFrameLocks noGrp="1"/>
          </p:cNvGraphicFramePr>
          <p:nvPr>
            <p:extLst>
              <p:ext uri="{D42A27DB-BD31-4B8C-83A1-F6EECF244321}">
                <p14:modId xmlns:p14="http://schemas.microsoft.com/office/powerpoint/2010/main" val="419898988"/>
              </p:ext>
            </p:extLst>
          </p:nvPr>
        </p:nvGraphicFramePr>
        <p:xfrm>
          <a:off x="3019367" y="2993769"/>
          <a:ext cx="7880466" cy="3688080"/>
        </p:xfrm>
        <a:graphic>
          <a:graphicData uri="http://schemas.openxmlformats.org/drawingml/2006/table">
            <a:tbl>
              <a:tblPr firstRow="1" bandRow="1">
                <a:tableStyleId>{5C22544A-7EE6-4342-B048-85BDC9FD1C3A}</a:tableStyleId>
              </a:tblPr>
              <a:tblGrid>
                <a:gridCol w="3940233">
                  <a:extLst>
                    <a:ext uri="{9D8B030D-6E8A-4147-A177-3AD203B41FA5}">
                      <a16:colId xmlns:a16="http://schemas.microsoft.com/office/drawing/2014/main" val="4004983389"/>
                    </a:ext>
                  </a:extLst>
                </a:gridCol>
                <a:gridCol w="3940233">
                  <a:extLst>
                    <a:ext uri="{9D8B030D-6E8A-4147-A177-3AD203B41FA5}">
                      <a16:colId xmlns:a16="http://schemas.microsoft.com/office/drawing/2014/main" val="3990134810"/>
                    </a:ext>
                  </a:extLst>
                </a:gridCol>
              </a:tblGrid>
              <a:tr h="378179">
                <a:tc>
                  <a:txBody>
                    <a:bodyPr/>
                    <a:lstStyle/>
                    <a:p>
                      <a:r>
                        <a:rPr lang="en-US" sz="2000" dirty="0">
                          <a:solidFill>
                            <a:schemeClr val="tx1"/>
                          </a:solidFill>
                        </a:rPr>
                        <a:t>Type of Research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Single Sample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4681456"/>
                  </a:ext>
                </a:extLst>
              </a:tr>
              <a:tr h="378179">
                <a:tc>
                  <a:txBody>
                    <a:bodyPr/>
                    <a:lstStyle/>
                    <a:p>
                      <a:r>
                        <a:rPr lang="en-US" sz="2000" b="1" dirty="0">
                          <a:solidFill>
                            <a:schemeClr val="tx1"/>
                          </a:solidFill>
                        </a:rPr>
                        <a:t>Model of Hypothesis Testing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Random Sampling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834762"/>
                  </a:ext>
                </a:extLst>
              </a:tr>
              <a:tr h="378179">
                <a:tc>
                  <a:txBody>
                    <a:bodyPr/>
                    <a:lstStyle/>
                    <a:p>
                      <a:r>
                        <a:rPr lang="en-US" sz="2000" b="1" dirty="0">
                          <a:solidFill>
                            <a:schemeClr val="tx1"/>
                          </a:solidFill>
                        </a:rPr>
                        <a:t>Nature of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837357"/>
                  </a:ext>
                </a:extLst>
              </a:tr>
              <a:tr h="378179">
                <a:tc>
                  <a:txBody>
                    <a:bodyPr/>
                    <a:lstStyle/>
                    <a:p>
                      <a:r>
                        <a:rPr lang="en-US" sz="2000" b="1" dirty="0">
                          <a:solidFill>
                            <a:schemeClr val="tx1"/>
                          </a:solidFill>
                        </a:rPr>
                        <a:t>Statistic Being Analyzed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CA" sz="2000" kern="1200" dirty="0">
                          <a:solidFill>
                            <a:schemeClr val="tx1"/>
                          </a:solidFill>
                          <a:latin typeface="+mn-lt"/>
                          <a:ea typeface="+mn-ea"/>
                          <a:cs typeface="+mn-cs"/>
                        </a:rPr>
                        <a:t>x̅ </a:t>
                      </a:r>
                      <a:endParaRPr lang="en-US" sz="20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7493759"/>
                  </a:ext>
                </a:extLst>
              </a:tr>
              <a:tr h="378179">
                <a:tc>
                  <a:txBody>
                    <a:bodyPr/>
                    <a:lstStyle/>
                    <a:p>
                      <a:r>
                        <a:rPr lang="en-US" sz="2000" b="1" dirty="0">
                          <a:solidFill>
                            <a:schemeClr val="tx1"/>
                          </a:solidFill>
                        </a:rPr>
                        <a:t>Information of Population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l-GR" sz="2000" dirty="0"/>
                        <a:t>μ</a:t>
                      </a:r>
                      <a:r>
                        <a:rPr lang="en-CA" sz="2000" dirty="0"/>
                        <a:t> = 75.00</a:t>
                      </a:r>
                      <a:r>
                        <a:rPr lang="en-US" sz="2000" dirty="0"/>
                        <a:t> &amp; σ = 12.00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1844694"/>
                  </a:ext>
                </a:extLst>
              </a:tr>
              <a:tr h="378179">
                <a:tc>
                  <a:txBody>
                    <a:bodyPr/>
                    <a:lstStyle/>
                    <a:p>
                      <a:r>
                        <a:rPr lang="en-US" sz="2000" b="1" dirty="0">
                          <a:solidFill>
                            <a:schemeClr val="tx1"/>
                          </a:solidFill>
                        </a:rPr>
                        <a:t>Sample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i="1" dirty="0">
                          <a:solidFill>
                            <a:schemeClr val="tx1"/>
                          </a:solidFill>
                        </a:rPr>
                        <a:t>n</a:t>
                      </a:r>
                      <a:r>
                        <a:rPr lang="en-US" sz="2000" dirty="0">
                          <a:solidFill>
                            <a:schemeClr val="tx1"/>
                          </a:solidFill>
                        </a:rPr>
                        <a:t> = 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3408113"/>
                  </a:ext>
                </a:extLst>
              </a:tr>
              <a:tr h="378179">
                <a:tc>
                  <a:txBody>
                    <a:bodyPr/>
                    <a:lstStyle/>
                    <a:p>
                      <a:r>
                        <a:rPr lang="en-US" sz="2000" b="1" dirty="0">
                          <a:solidFill>
                            <a:schemeClr val="tx1"/>
                          </a:solidFill>
                        </a:rPr>
                        <a:t>Shape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000" dirty="0">
                          <a:solidFill>
                            <a:schemeClr val="tx1"/>
                          </a:solidFill>
                        </a:rPr>
                        <a:t>Normally Distributed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751104"/>
                  </a:ext>
                </a:extLst>
              </a:tr>
              <a:tr h="798517">
                <a:tc>
                  <a:txBody>
                    <a:bodyPr/>
                    <a:lstStyle/>
                    <a:p>
                      <a:r>
                        <a:rPr lang="en-US" sz="2000" b="1" dirty="0">
                          <a:solidFill>
                            <a:schemeClr val="tx1"/>
                          </a:solidFill>
                        </a:rPr>
                        <a:t>Sampling Distribution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dirty="0">
                          <a:solidFill>
                            <a:schemeClr val="tx1"/>
                          </a:solidFill>
                        </a:rPr>
                        <a:t>Sampling Distribution of the Mean when n = 25 and population parameters are known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599451"/>
                  </a:ext>
                </a:extLst>
              </a:tr>
            </a:tbl>
          </a:graphicData>
        </a:graphic>
      </p:graphicFrame>
    </p:spTree>
    <p:extLst>
      <p:ext uri="{BB962C8B-B14F-4D97-AF65-F5344CB8AC3E}">
        <p14:creationId xmlns:p14="http://schemas.microsoft.com/office/powerpoint/2010/main" val="2788389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4B196-1AFA-11DF-9996-73C9D1FDF56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C8868-28EE-438C-4905-A2D22D664BD3}"/>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CA" sz="1200" dirty="0"/>
              <a:t>x̅ </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75.00, </a:t>
            </a:r>
            <a:r>
              <a:rPr lang="en-US" sz="1200" dirty="0" err="1"/>
              <a:t>σ</a:t>
            </a:r>
            <a:r>
              <a:rPr lang="en-US" sz="1200" dirty="0"/>
              <a:t> = 12.00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CA" dirty="0"/>
          </a:p>
          <a:p>
            <a:endParaRPr lang="en-US" dirty="0"/>
          </a:p>
        </p:txBody>
      </p:sp>
    </p:spTree>
    <p:extLst>
      <p:ext uri="{BB962C8B-B14F-4D97-AF65-F5344CB8AC3E}">
        <p14:creationId xmlns:p14="http://schemas.microsoft.com/office/powerpoint/2010/main" val="1840333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551DE203-12E0-B64A-985F-45296BE69B10}"/>
              </a:ext>
            </a:extLst>
          </p:cNvPr>
          <p:cNvGrpSpPr/>
          <p:nvPr/>
        </p:nvGrpSpPr>
        <p:grpSpPr>
          <a:xfrm>
            <a:off x="7920879" y="2840040"/>
            <a:ext cx="3832497" cy="3908585"/>
            <a:chOff x="6602082" y="1345769"/>
            <a:chExt cx="5400676" cy="5507897"/>
          </a:xfrm>
        </p:grpSpPr>
        <p:pic>
          <p:nvPicPr>
            <p:cNvPr id="6" name="Picture 5" descr="A picture containing graphical user interface&#10;&#10;Description automatically generated">
              <a:extLst>
                <a:ext uri="{FF2B5EF4-FFF2-40B4-BE49-F238E27FC236}">
                  <a16:creationId xmlns:a16="http://schemas.microsoft.com/office/drawing/2014/main" id="{F83BD1EF-0843-9D4A-B653-7F6D324B63D6}"/>
                </a:ext>
              </a:extLst>
            </p:cNvPr>
            <p:cNvPicPr>
              <a:picLocks noChangeAspect="1"/>
            </p:cNvPicPr>
            <p:nvPr/>
          </p:nvPicPr>
          <p:blipFill rotWithShape="1">
            <a:blip r:embed="rId2"/>
            <a:srcRect r="56493"/>
            <a:stretch/>
          </p:blipFill>
          <p:spPr>
            <a:xfrm>
              <a:off x="6602083" y="1345769"/>
              <a:ext cx="5400675" cy="2797605"/>
            </a:xfrm>
            <a:prstGeom prst="rect">
              <a:avLst/>
            </a:prstGeom>
          </p:spPr>
        </p:pic>
        <p:pic>
          <p:nvPicPr>
            <p:cNvPr id="7" name="Picture 6" descr="A picture containing graphical user interface&#10;&#10;Description automatically generated">
              <a:extLst>
                <a:ext uri="{FF2B5EF4-FFF2-40B4-BE49-F238E27FC236}">
                  <a16:creationId xmlns:a16="http://schemas.microsoft.com/office/drawing/2014/main" id="{9EBE1353-3943-FB4E-8D65-7193F1BF2FFB}"/>
                </a:ext>
              </a:extLst>
            </p:cNvPr>
            <p:cNvPicPr>
              <a:picLocks noChangeAspect="1"/>
            </p:cNvPicPr>
            <p:nvPr/>
          </p:nvPicPr>
          <p:blipFill rotWithShape="1">
            <a:blip r:embed="rId2"/>
            <a:srcRect l="56493" t="-1119" b="1119"/>
            <a:stretch/>
          </p:blipFill>
          <p:spPr>
            <a:xfrm>
              <a:off x="6602082" y="4056061"/>
              <a:ext cx="5400675" cy="2797605"/>
            </a:xfrm>
            <a:prstGeom prst="rect">
              <a:avLst/>
            </a:prstGeom>
          </p:spPr>
        </p:pic>
      </p:grpSp>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3: Set </a:t>
            </a:r>
            <a:r>
              <a:rPr lang="en-US" i="1" dirty="0"/>
              <a:t>a priori </a:t>
            </a:r>
            <a:r>
              <a:rPr lang="en-US" dirty="0"/>
              <a:t>Criteria</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03237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endParaRPr lang="en-US" sz="2000" dirty="0"/>
          </a:p>
          <a:p>
            <a:pPr marL="0" indent="0">
              <a:buNone/>
            </a:pPr>
            <a:r>
              <a:rPr lang="en-CA" b="1" i="1" dirty="0"/>
              <a:t>p(</a:t>
            </a:r>
            <a:r>
              <a:rPr lang="el-GR" b="1" i="1" dirty="0"/>
              <a:t>α</a:t>
            </a:r>
            <a:r>
              <a:rPr lang="en-CA" b="1" i="1" dirty="0"/>
              <a:t>)</a:t>
            </a:r>
            <a:r>
              <a:rPr lang="en-CA" b="1" dirty="0"/>
              <a:t>: </a:t>
            </a:r>
            <a:r>
              <a:rPr lang="en-CA" dirty="0"/>
              <a:t>= .05 (two-tailed)</a:t>
            </a:r>
          </a:p>
          <a:p>
            <a:pPr marL="0" indent="0">
              <a:buNone/>
            </a:pPr>
            <a:endParaRPr lang="en-CA" dirty="0"/>
          </a:p>
          <a:p>
            <a:pPr marL="0" indent="0">
              <a:buNone/>
            </a:pPr>
            <a:r>
              <a:rPr lang="en-US" b="1" i="1" dirty="0"/>
              <a:t>z</a:t>
            </a:r>
            <a:r>
              <a:rPr lang="en-US" b="1" dirty="0"/>
              <a:t>(crit)</a:t>
            </a:r>
            <a:r>
              <a:rPr lang="en-US" dirty="0"/>
              <a:t>: </a:t>
            </a:r>
            <a:r>
              <a:rPr lang="en-CA" dirty="0"/>
              <a:t>±</a:t>
            </a:r>
            <a:r>
              <a:rPr lang="en-US" dirty="0"/>
              <a:t>1.96</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3600" dirty="0"/>
          </a:p>
          <a:p>
            <a:pPr marL="0" indent="0">
              <a:buNone/>
            </a:pPr>
            <a:endParaRPr lang="en-US" sz="2000" dirty="0"/>
          </a:p>
        </p:txBody>
      </p:sp>
    </p:spTree>
    <p:extLst>
      <p:ext uri="{BB962C8B-B14F-4D97-AF65-F5344CB8AC3E}">
        <p14:creationId xmlns:p14="http://schemas.microsoft.com/office/powerpoint/2010/main" val="86323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3194-1A89-2967-F0D5-911A11A9A7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C9E61-AD9A-DFB0-F851-A59E1332D234}"/>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CA" sz="1200" dirty="0"/>
              <a:t>x̅ </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75.00, </a:t>
            </a:r>
            <a:r>
              <a:rPr lang="en-US" sz="1200" dirty="0" err="1"/>
              <a:t>σ</a:t>
            </a:r>
            <a:r>
              <a:rPr lang="en-US" sz="1200" dirty="0"/>
              <a:t> = 12.00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p:spTree>
    <p:extLst>
      <p:ext uri="{BB962C8B-B14F-4D97-AF65-F5344CB8AC3E}">
        <p14:creationId xmlns:p14="http://schemas.microsoft.com/office/powerpoint/2010/main" val="95236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4: Compute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14760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14:m>
                  <m:oMath xmlns:m="http://schemas.openxmlformats.org/officeDocument/2006/math">
                    <m:r>
                      <a:rPr lang="en-US" sz="3200" b="0" i="1" smtClean="0">
                        <a:solidFill>
                          <a:schemeClr val="tx1"/>
                        </a:solidFill>
                        <a:latin typeface="Cambria Math" panose="02040503050406030204" pitchFamily="18" charset="0"/>
                      </a:rPr>
                      <m:t>𝑧</m:t>
                    </m:r>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𝑜𝑏𝑠</m:t>
                    </m:r>
                    <m:r>
                      <a:rPr lang="en-US" sz="3200" b="0" i="1" smtClean="0">
                        <a:solidFill>
                          <a:schemeClr val="tx1"/>
                        </a:solidFill>
                        <a:latin typeface="Cambria Math" panose="02040503050406030204" pitchFamily="18" charset="0"/>
                      </a:rPr>
                      <m:t>)=</m:t>
                    </m:r>
                    <m:f>
                      <m:fPr>
                        <m:ctrlPr>
                          <a:rPr lang="en-US" sz="3200" i="1">
                            <a:solidFill>
                              <a:schemeClr val="tx1"/>
                            </a:solidFill>
                            <a:latin typeface="Cambria Math" panose="02040503050406030204" pitchFamily="18" charset="0"/>
                          </a:rPr>
                        </m:ctrlPr>
                      </m:fPr>
                      <m:num>
                        <m:r>
                          <a:rPr lang="en-US" sz="3200" i="1">
                            <a:solidFill>
                              <a:schemeClr val="tx1"/>
                            </a:solidFill>
                            <a:latin typeface="Cambria Math" panose="02040503050406030204" pitchFamily="18" charset="0"/>
                          </a:rPr>
                          <m:t>𝑥</m:t>
                        </m:r>
                        <m:r>
                          <a:rPr lang="en-US" sz="3200" i="1">
                            <a:solidFill>
                              <a:schemeClr val="tx1"/>
                            </a:solidFill>
                            <a:latin typeface="Cambria Math" panose="02040503050406030204" pitchFamily="18" charset="0"/>
                          </a:rPr>
                          <m:t>̅</m:t>
                        </m:r>
                        <m:r>
                          <a:rPr lang="en-CA" sz="3200" i="1">
                            <a:solidFill>
                              <a:schemeClr val="tx1"/>
                            </a:solidFill>
                            <a:latin typeface="Cambria Math" panose="02040503050406030204" pitchFamily="18" charset="0"/>
                          </a:rPr>
                          <m:t> − </m:t>
                        </m:r>
                        <m:sSub>
                          <m:sSubPr>
                            <m:ctrlPr>
                              <a:rPr lang="en-CA" sz="3200" i="1">
                                <a:solidFill>
                                  <a:schemeClr val="tx1"/>
                                </a:solidFill>
                                <a:latin typeface="Cambria Math" panose="02040503050406030204" pitchFamily="18" charset="0"/>
                              </a:rPr>
                            </m:ctrlPr>
                          </m:sSubPr>
                          <m:e>
                            <m:r>
                              <m:rPr>
                                <m:nor/>
                              </m:rPr>
                              <a:rPr lang="el-GR" sz="3200" i="1" dirty="0">
                                <a:solidFill>
                                  <a:schemeClr val="tx1"/>
                                </a:solidFill>
                              </a:rPr>
                              <m:t>μ</m:t>
                            </m:r>
                          </m:e>
                          <m:sub>
                            <m:r>
                              <a:rPr lang="en-US" sz="3200" i="1">
                                <a:solidFill>
                                  <a:schemeClr val="tx1"/>
                                </a:solidFill>
                                <a:latin typeface="Cambria Math" panose="02040503050406030204" pitchFamily="18" charset="0"/>
                              </a:rPr>
                              <m:t>𝑥</m:t>
                            </m:r>
                            <m:r>
                              <a:rPr lang="en-US" sz="3200" i="1">
                                <a:solidFill>
                                  <a:schemeClr val="tx1"/>
                                </a:solidFill>
                                <a:latin typeface="Cambria Math" panose="02040503050406030204" pitchFamily="18" charset="0"/>
                              </a:rPr>
                              <m:t>̅</m:t>
                            </m:r>
                          </m:sub>
                        </m:sSub>
                      </m:num>
                      <m:den>
                        <m:sSub>
                          <m:sSubPr>
                            <m:ctrlPr>
                              <a:rPr lang="en-US" sz="3200" i="1" dirty="0">
                                <a:solidFill>
                                  <a:schemeClr val="tx1"/>
                                </a:solidFill>
                                <a:latin typeface="Cambria Math" panose="02040503050406030204" pitchFamily="18" charset="0"/>
                              </a:rPr>
                            </m:ctrlPr>
                          </m:sSubPr>
                          <m:e>
                            <m:r>
                              <m:rPr>
                                <m:nor/>
                              </m:rPr>
                              <a:rPr lang="en-US" sz="3200" i="1" dirty="0">
                                <a:solidFill>
                                  <a:schemeClr val="tx1"/>
                                </a:solidFill>
                              </a:rPr>
                              <m:t>σ</m:t>
                            </m:r>
                          </m:e>
                          <m:sub>
                            <m:r>
                              <a:rPr lang="en-US" sz="3200" i="1" dirty="0">
                                <a:solidFill>
                                  <a:schemeClr val="tx1"/>
                                </a:solidFill>
                                <a:latin typeface="Cambria Math" panose="02040503050406030204" pitchFamily="18" charset="0"/>
                              </a:rPr>
                              <m:t>𝑥</m:t>
                            </m:r>
                            <m:r>
                              <a:rPr lang="en-US" sz="3200" i="1" dirty="0">
                                <a:solidFill>
                                  <a:schemeClr val="tx1"/>
                                </a:solidFill>
                                <a:latin typeface="Cambria Math" panose="02040503050406030204" pitchFamily="18" charset="0"/>
                              </a:rPr>
                              <m:t>̅</m:t>
                            </m:r>
                          </m:sub>
                        </m:sSub>
                      </m:den>
                    </m:f>
                  </m:oMath>
                </a14:m>
                <a:r>
                  <a:rPr lang="en-CA" dirty="0">
                    <a:solidFill>
                      <a:schemeClr val="tx1"/>
                    </a:solidFill>
                    <a:latin typeface="Calibri" panose="020F0502020204030204" pitchFamily="34" charset="0"/>
                    <a:cs typeface="Calibri" panose="020F0502020204030204" pitchFamily="34" charset="0"/>
                  </a:rPr>
                  <a:t>, where </a:t>
                </a:r>
                <a14:m>
                  <m:oMath xmlns:m="http://schemas.openxmlformats.org/officeDocument/2006/math">
                    <m:sSub>
                      <m:sSubPr>
                        <m:ctrlPr>
                          <a:rPr lang="en-US" i="1" dirty="0">
                            <a:solidFill>
                              <a:schemeClr val="tx1"/>
                            </a:solidFill>
                            <a:latin typeface="Cambria Math" panose="02040503050406030204" pitchFamily="18" charset="0"/>
                          </a:rPr>
                        </m:ctrlPr>
                      </m:sSubPr>
                      <m:e>
                        <m:r>
                          <m:rPr>
                            <m:nor/>
                          </m:rPr>
                          <a:rPr lang="en-US" i="0" dirty="0">
                            <a:solidFill>
                              <a:schemeClr val="tx1"/>
                            </a:solidFill>
                          </a:rPr>
                          <m:t>σ</m:t>
                        </m:r>
                      </m:e>
                      <m:sub>
                        <m:r>
                          <a:rPr lang="en-US" i="1" dirty="0">
                            <a:solidFill>
                              <a:schemeClr val="tx1"/>
                            </a:solidFill>
                            <a:latin typeface="Cambria Math" panose="02040503050406030204" pitchFamily="18" charset="0"/>
                          </a:rPr>
                          <m:t>𝑥</m:t>
                        </m:r>
                        <m:r>
                          <a:rPr lang="en-US" i="1" dirty="0">
                            <a:solidFill>
                              <a:schemeClr val="tx1"/>
                            </a:solidFill>
                            <a:latin typeface="Cambria Math" panose="02040503050406030204" pitchFamily="18" charset="0"/>
                          </a:rPr>
                          <m:t>̅̅</m:t>
                        </m:r>
                      </m:sub>
                    </m:sSub>
                    <m:r>
                      <a:rPr lang="en-US" i="1" dirty="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m:rPr>
                            <m:nor/>
                          </m:rPr>
                          <a:rPr lang="en-US" i="0" dirty="0">
                            <a:solidFill>
                              <a:schemeClr val="tx1"/>
                            </a:solidFill>
                          </a:rPr>
                          <m:t>σ</m:t>
                        </m:r>
                      </m:num>
                      <m:den>
                        <m:r>
                          <a:rPr lang="en-US" i="1">
                            <a:solidFill>
                              <a:schemeClr val="tx1"/>
                            </a:solidFill>
                            <a:latin typeface="Cambria Math" panose="02040503050406030204" pitchFamily="18" charset="0"/>
                            <a:ea typeface="Cambria Math" panose="02040503050406030204" pitchFamily="18" charset="0"/>
                          </a:rPr>
                          <m:t>√</m:t>
                        </m:r>
                        <m:r>
                          <a:rPr lang="en-CA" i="1">
                            <a:solidFill>
                              <a:schemeClr val="tx1"/>
                            </a:solidFill>
                            <a:latin typeface="Cambria Math" panose="02040503050406030204" pitchFamily="18" charset="0"/>
                            <a:ea typeface="Cambria Math" panose="02040503050406030204" pitchFamily="18" charset="0"/>
                          </a:rPr>
                          <m:t>𝑛</m:t>
                        </m:r>
                      </m:den>
                    </m:f>
                  </m:oMath>
                </a14:m>
                <a:endParaRPr lang="en-CA" baseline="-25000" dirty="0">
                  <a:solidFill>
                    <a:schemeClr val="tx1"/>
                  </a:solidFill>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A4D381D9-1BF6-1646-B2E2-AF1DBEBE6B10}"/>
                  </a:ext>
                </a:extLst>
              </p:cNvPr>
              <p:cNvSpPr>
                <a:spLocks noGrp="1" noRot="1" noChangeAspect="1" noMove="1" noResize="1" noEditPoints="1" noAdjustHandles="1" noChangeArrowheads="1" noChangeShapeType="1" noTextEdit="1"/>
              </p:cNvSpPr>
              <p:nvPr>
                <p:ph idx="1"/>
              </p:nvPr>
            </p:nvSpPr>
            <p:spPr>
              <a:xfrm>
                <a:off x="838200" y="1825624"/>
                <a:ext cx="10515600" cy="5147605"/>
              </a:xfrm>
              <a:blipFill>
                <a:blip r:embed="rId2"/>
                <a:stretch>
                  <a:fillRect l="-522" t="-1065" r="-116"/>
                </a:stretch>
              </a:blipFill>
            </p:spPr>
            <p:txBody>
              <a:bodyPr/>
              <a:lstStyle/>
              <a:p>
                <a:r>
                  <a:rPr lang="en-US">
                    <a:noFill/>
                  </a:rPr>
                  <a:t> </a:t>
                </a:r>
              </a:p>
            </p:txBody>
          </p:sp>
        </mc:Fallback>
      </mc:AlternateContent>
    </p:spTree>
    <p:extLst>
      <p:ext uri="{BB962C8B-B14F-4D97-AF65-F5344CB8AC3E}">
        <p14:creationId xmlns:p14="http://schemas.microsoft.com/office/powerpoint/2010/main" val="1175078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EB714-4725-03D0-919F-A7629EE1C390}"/>
            </a:ext>
          </a:extLst>
        </p:cNvPr>
        <p:cNvGrpSpPr/>
        <p:nvPr/>
      </p:nvGrpSpPr>
      <p:grpSpPr>
        <a:xfrm>
          <a:off x="0" y="0"/>
          <a:ext cx="0" cy="0"/>
          <a:chOff x="0" y="0"/>
          <a:chExt cx="0" cy="0"/>
        </a:xfrm>
      </p:grpSpPr>
      <p:sp>
        <p:nvSpPr>
          <p:cNvPr id="5" name="Shape 3">
            <a:extLst>
              <a:ext uri="{FF2B5EF4-FFF2-40B4-BE49-F238E27FC236}">
                <a16:creationId xmlns:a16="http://schemas.microsoft.com/office/drawing/2014/main" id="{A94699C0-0DA4-CE46-0F9A-96A360A62AB0}"/>
              </a:ext>
            </a:extLst>
          </p:cNvPr>
          <p:cNvSpPr/>
          <p:nvPr/>
        </p:nvSpPr>
        <p:spPr>
          <a:xfrm>
            <a:off x="1051560"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6" name="Text 4">
                <a:extLst>
                  <a:ext uri="{FF2B5EF4-FFF2-40B4-BE49-F238E27FC236}">
                    <a16:creationId xmlns:a16="http://schemas.microsoft.com/office/drawing/2014/main" id="{B9D819A4-BBF0-9E85-B4CC-FFD9DE3603FB}"/>
                  </a:ext>
                </a:extLst>
              </p:cNvPr>
              <p:cNvSpPr/>
              <p:nvPr/>
            </p:nvSpPr>
            <p:spPr>
              <a:xfrm>
                <a:off x="19796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6" name="Text 4">
                <a:extLst>
                  <a:ext uri="{FF2B5EF4-FFF2-40B4-BE49-F238E27FC236}">
                    <a16:creationId xmlns:a16="http://schemas.microsoft.com/office/drawing/2014/main" id="{B9D819A4-BBF0-9E85-B4CC-FFD9DE3603FB}"/>
                  </a:ext>
                </a:extLst>
              </p:cNvPr>
              <p:cNvSpPr>
                <a:spLocks noRot="1" noChangeAspect="1" noMove="1" noResize="1" noEditPoints="1" noAdjustHandles="1" noChangeArrowheads="1" noChangeShapeType="1" noTextEdit="1"/>
              </p:cNvSpPr>
              <p:nvPr/>
            </p:nvSpPr>
            <p:spPr>
              <a:xfrm>
                <a:off x="197968" y="2880360"/>
                <a:ext cx="2011680" cy="502920"/>
              </a:xfrm>
              <a:prstGeom prst="rect">
                <a:avLst/>
              </a:prstGeom>
              <a:blipFill>
                <a:blip r:embed="rId3"/>
                <a:stretch>
                  <a:fillRect/>
                </a:stretch>
              </a:blipFill>
              <a:ln/>
            </p:spPr>
            <p:txBody>
              <a:bodyPr/>
              <a:lstStyle/>
              <a:p>
                <a:r>
                  <a:rPr lang="en-US">
                    <a:noFill/>
                  </a:rPr>
                  <a:t> </a:t>
                </a:r>
              </a:p>
            </p:txBody>
          </p:sp>
        </mc:Fallback>
      </mc:AlternateContent>
      <p:sp>
        <p:nvSpPr>
          <p:cNvPr id="7" name="Shape 5">
            <a:extLst>
              <a:ext uri="{FF2B5EF4-FFF2-40B4-BE49-F238E27FC236}">
                <a16:creationId xmlns:a16="http://schemas.microsoft.com/office/drawing/2014/main" id="{11FE23E6-B8FF-4D19-532D-4F7CB65F3F44}"/>
              </a:ext>
            </a:extLst>
          </p:cNvPr>
          <p:cNvSpPr/>
          <p:nvPr/>
        </p:nvSpPr>
        <p:spPr>
          <a:xfrm>
            <a:off x="2499055" y="3785616"/>
            <a:ext cx="304495" cy="9144"/>
          </a:xfrm>
          <a:prstGeom prst="line">
            <a:avLst/>
          </a:prstGeom>
          <a:noFill/>
          <a:ln w="22225">
            <a:solidFill>
              <a:srgbClr val="2C5F7C"/>
            </a:solidFill>
            <a:prstDash val="solid"/>
            <a:tailEnd type="triangle"/>
          </a:ln>
        </p:spPr>
        <p:txBody>
          <a:bodyPr/>
          <a:lstStyle/>
          <a:p>
            <a:endParaRPr lang="en-US"/>
          </a:p>
        </p:txBody>
      </p:sp>
      <p:sp>
        <p:nvSpPr>
          <p:cNvPr id="9" name="Shape 7">
            <a:extLst>
              <a:ext uri="{FF2B5EF4-FFF2-40B4-BE49-F238E27FC236}">
                <a16:creationId xmlns:a16="http://schemas.microsoft.com/office/drawing/2014/main" id="{12D45160-5FC2-BDB2-E18B-642EB0924D0D}"/>
              </a:ext>
            </a:extLst>
          </p:cNvPr>
          <p:cNvSpPr/>
          <p:nvPr/>
        </p:nvSpPr>
        <p:spPr>
          <a:xfrm>
            <a:off x="4083710" y="3785616"/>
            <a:ext cx="304495" cy="9144"/>
          </a:xfrm>
          <a:prstGeom prst="line">
            <a:avLst/>
          </a:prstGeom>
          <a:noFill/>
          <a:ln w="22225">
            <a:solidFill>
              <a:srgbClr val="2C5F7C"/>
            </a:solidFill>
            <a:prstDash val="solid"/>
            <a:tailEnd type="triangle"/>
          </a:ln>
        </p:spPr>
        <p:txBody>
          <a:bodyPr/>
          <a:lstStyle/>
          <a:p>
            <a:endParaRPr lang="en-US"/>
          </a:p>
        </p:txBody>
      </p:sp>
      <p:sp>
        <p:nvSpPr>
          <p:cNvPr id="11" name="Shape 9">
            <a:extLst>
              <a:ext uri="{FF2B5EF4-FFF2-40B4-BE49-F238E27FC236}">
                <a16:creationId xmlns:a16="http://schemas.microsoft.com/office/drawing/2014/main" id="{669FEFAC-AB10-36B2-CC94-9C66F888301B}"/>
              </a:ext>
            </a:extLst>
          </p:cNvPr>
          <p:cNvSpPr/>
          <p:nvPr/>
        </p:nvSpPr>
        <p:spPr>
          <a:xfrm>
            <a:off x="5759806"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2" name="Text 10">
                <a:extLst>
                  <a:ext uri="{FF2B5EF4-FFF2-40B4-BE49-F238E27FC236}">
                    <a16:creationId xmlns:a16="http://schemas.microsoft.com/office/drawing/2014/main" id="{0DF4D590-BB98-536B-84AD-61580EA66623}"/>
                  </a:ext>
                </a:extLst>
              </p:cNvPr>
              <p:cNvSpPr/>
              <p:nvPr/>
            </p:nvSpPr>
            <p:spPr>
              <a:xfrm>
                <a:off x="4906213"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𝑆𝑆</m:t>
                          </m:r>
                        </m:num>
                        <m:den>
                          <m:r>
                            <a:rPr lang="en-US" i="1">
                              <a:latin typeface="Cambria Math" panose="02040503050406030204" pitchFamily="18" charset="0"/>
                            </a:rPr>
                            <m:t>𝑛</m:t>
                          </m:r>
                        </m:den>
                      </m:f>
                    </m:oMath>
                  </m:oMathPara>
                </a14:m>
                <a:endParaRPr lang="en-US" dirty="0"/>
              </a:p>
            </p:txBody>
          </p:sp>
        </mc:Choice>
        <mc:Fallback xmlns="">
          <p:sp>
            <p:nvSpPr>
              <p:cNvPr id="12" name="Text 10">
                <a:extLst>
                  <a:ext uri="{FF2B5EF4-FFF2-40B4-BE49-F238E27FC236}">
                    <a16:creationId xmlns:a16="http://schemas.microsoft.com/office/drawing/2014/main" id="{0DF4D590-BB98-536B-84AD-61580EA66623}"/>
                  </a:ext>
                </a:extLst>
              </p:cNvPr>
              <p:cNvSpPr>
                <a:spLocks noRot="1" noChangeAspect="1" noMove="1" noResize="1" noEditPoints="1" noAdjustHandles="1" noChangeArrowheads="1" noChangeShapeType="1" noTextEdit="1"/>
              </p:cNvSpPr>
              <p:nvPr/>
            </p:nvSpPr>
            <p:spPr>
              <a:xfrm>
                <a:off x="4906213" y="2880360"/>
                <a:ext cx="2011680" cy="502920"/>
              </a:xfrm>
              <a:prstGeom prst="rect">
                <a:avLst/>
              </a:prstGeom>
              <a:blipFill>
                <a:blip r:embed="rId4"/>
                <a:stretch>
                  <a:fillRect t="-7317"/>
                </a:stretch>
              </a:blipFill>
              <a:ln/>
            </p:spPr>
            <p:txBody>
              <a:bodyPr/>
              <a:lstStyle/>
              <a:p>
                <a:r>
                  <a:rPr lang="en-US">
                    <a:noFill/>
                  </a:rPr>
                  <a:t> </a:t>
                </a:r>
              </a:p>
            </p:txBody>
          </p:sp>
        </mc:Fallback>
      </mc:AlternateContent>
      <p:sp>
        <p:nvSpPr>
          <p:cNvPr id="13" name="Shape 11">
            <a:extLst>
              <a:ext uri="{FF2B5EF4-FFF2-40B4-BE49-F238E27FC236}">
                <a16:creationId xmlns:a16="http://schemas.microsoft.com/office/drawing/2014/main" id="{12116A2C-789B-78CF-AD2E-86047DE0E8E0}"/>
              </a:ext>
            </a:extLst>
          </p:cNvPr>
          <p:cNvSpPr/>
          <p:nvPr/>
        </p:nvSpPr>
        <p:spPr>
          <a:xfrm>
            <a:off x="7253021" y="3785616"/>
            <a:ext cx="304495"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14" name="Text 12">
                <a:extLst>
                  <a:ext uri="{FF2B5EF4-FFF2-40B4-BE49-F238E27FC236}">
                    <a16:creationId xmlns:a16="http://schemas.microsoft.com/office/drawing/2014/main" id="{B434DAD2-C41D-ED95-5416-05B85102D1FC}"/>
                  </a:ext>
                </a:extLst>
              </p:cNvPr>
              <p:cNvSpPr/>
              <p:nvPr/>
            </p:nvSpPr>
            <p:spPr>
              <a:xfrm>
                <a:off x="6399428" y="288036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𝑆𝐷</m:t>
                              </m:r>
                            </m:e>
                            <m:sup>
                              <m:r>
                                <a:rPr lang="en-US" i="1">
                                  <a:latin typeface="Cambria Math" panose="02040503050406030204" pitchFamily="18" charset="0"/>
                                </a:rPr>
                                <m:t>2</m:t>
                              </m:r>
                            </m:sup>
                          </m:sSup>
                        </m:e>
                      </m:rad>
                    </m:oMath>
                  </m:oMathPara>
                </a14:m>
                <a:endParaRPr lang="en-US" dirty="0"/>
              </a:p>
            </p:txBody>
          </p:sp>
        </mc:Choice>
        <mc:Fallback xmlns="">
          <p:sp>
            <p:nvSpPr>
              <p:cNvPr id="14" name="Text 12">
                <a:extLst>
                  <a:ext uri="{FF2B5EF4-FFF2-40B4-BE49-F238E27FC236}">
                    <a16:creationId xmlns:a16="http://schemas.microsoft.com/office/drawing/2014/main" id="{B434DAD2-C41D-ED95-5416-05B85102D1FC}"/>
                  </a:ext>
                </a:extLst>
              </p:cNvPr>
              <p:cNvSpPr>
                <a:spLocks noRot="1" noChangeAspect="1" noMove="1" noResize="1" noEditPoints="1" noAdjustHandles="1" noChangeArrowheads="1" noChangeShapeType="1" noTextEdit="1"/>
              </p:cNvSpPr>
              <p:nvPr/>
            </p:nvSpPr>
            <p:spPr>
              <a:xfrm>
                <a:off x="6399428" y="2880360"/>
                <a:ext cx="2011680" cy="502920"/>
              </a:xfrm>
              <a:prstGeom prst="rect">
                <a:avLst/>
              </a:prstGeom>
              <a:blipFill>
                <a:blip r:embed="rId5"/>
                <a:stretch>
                  <a:fillRect/>
                </a:stretch>
              </a:blipFill>
              <a:ln/>
            </p:spPr>
            <p:txBody>
              <a:bodyPr/>
              <a:lstStyle/>
              <a:p>
                <a:r>
                  <a:rPr lang="en-US">
                    <a:noFill/>
                  </a:rPr>
                  <a:t> </a:t>
                </a:r>
              </a:p>
            </p:txBody>
          </p:sp>
        </mc:Fallback>
      </mc:AlternateContent>
      <p:sp>
        <p:nvSpPr>
          <p:cNvPr id="15" name="Shape 13">
            <a:extLst>
              <a:ext uri="{FF2B5EF4-FFF2-40B4-BE49-F238E27FC236}">
                <a16:creationId xmlns:a16="http://schemas.microsoft.com/office/drawing/2014/main" id="{E7D35185-4FFA-EDAD-D4C1-5BC75B231FB7}"/>
              </a:ext>
            </a:extLst>
          </p:cNvPr>
          <p:cNvSpPr/>
          <p:nvPr/>
        </p:nvSpPr>
        <p:spPr>
          <a:xfrm>
            <a:off x="8746236" y="3785616"/>
            <a:ext cx="304495" cy="9144"/>
          </a:xfrm>
          <a:prstGeom prst="line">
            <a:avLst/>
          </a:prstGeom>
          <a:noFill/>
          <a:ln w="22225">
            <a:solidFill>
              <a:srgbClr val="2C5F7C"/>
            </a:solidFill>
            <a:prstDash val="solid"/>
            <a:tailEnd type="triangle"/>
          </a:ln>
        </p:spPr>
        <p:txBody>
          <a:bodyPr/>
          <a:lstStyle/>
          <a:p>
            <a:endParaRPr lang="en-US"/>
          </a:p>
        </p:txBody>
      </p:sp>
      <p:sp>
        <p:nvSpPr>
          <p:cNvPr id="17" name="Shape 15">
            <a:extLst>
              <a:ext uri="{FF2B5EF4-FFF2-40B4-BE49-F238E27FC236}">
                <a16:creationId xmlns:a16="http://schemas.microsoft.com/office/drawing/2014/main" id="{B31193CA-CB74-1762-D68D-19B5BC145F87}"/>
              </a:ext>
            </a:extLst>
          </p:cNvPr>
          <p:cNvSpPr/>
          <p:nvPr/>
        </p:nvSpPr>
        <p:spPr>
          <a:xfrm>
            <a:off x="10559491" y="3785616"/>
            <a:ext cx="304495" cy="9144"/>
          </a:xfrm>
          <a:prstGeom prst="line">
            <a:avLst/>
          </a:prstGeom>
          <a:noFill/>
          <a:ln w="22225">
            <a:solidFill>
              <a:srgbClr val="2C5F7C"/>
            </a:solidFill>
            <a:prstDash val="solid"/>
            <a:tailEnd type="triangle"/>
          </a:ln>
        </p:spPr>
        <p:txBody>
          <a:bodyPr/>
          <a:lstStyle/>
          <a:p>
            <a:endParaRPr lang="en-US"/>
          </a:p>
        </p:txBody>
      </p:sp>
      <p:sp>
        <p:nvSpPr>
          <p:cNvPr id="25" name="Shape 23">
            <a:extLst>
              <a:ext uri="{FF2B5EF4-FFF2-40B4-BE49-F238E27FC236}">
                <a16:creationId xmlns:a16="http://schemas.microsoft.com/office/drawing/2014/main" id="{681F20D6-86A7-68D6-E908-EBAD89634AF4}"/>
              </a:ext>
            </a:extLst>
          </p:cNvPr>
          <p:cNvSpPr/>
          <p:nvPr/>
        </p:nvSpPr>
        <p:spPr>
          <a:xfrm flipV="1">
            <a:off x="731520" y="2788920"/>
            <a:ext cx="9144" cy="667512"/>
          </a:xfrm>
          <a:prstGeom prst="line">
            <a:avLst/>
          </a:prstGeom>
          <a:noFill/>
          <a:ln w="22225">
            <a:solidFill>
              <a:srgbClr val="2C5F7C"/>
            </a:solidFill>
            <a:prstDash val="solid"/>
          </a:ln>
        </p:spPr>
        <p:txBody>
          <a:bodyPr/>
          <a:lstStyle/>
          <a:p>
            <a:endParaRPr lang="en-US"/>
          </a:p>
        </p:txBody>
      </p:sp>
      <p:sp>
        <p:nvSpPr>
          <p:cNvPr id="26" name="Shape 24">
            <a:extLst>
              <a:ext uri="{FF2B5EF4-FFF2-40B4-BE49-F238E27FC236}">
                <a16:creationId xmlns:a16="http://schemas.microsoft.com/office/drawing/2014/main" id="{43446C76-A6DF-C25E-BE61-CE96176D3661}"/>
              </a:ext>
            </a:extLst>
          </p:cNvPr>
          <p:cNvSpPr/>
          <p:nvPr/>
        </p:nvSpPr>
        <p:spPr>
          <a:xfrm>
            <a:off x="731520" y="2788920"/>
            <a:ext cx="960120" cy="9144"/>
          </a:xfrm>
          <a:prstGeom prst="line">
            <a:avLst/>
          </a:prstGeom>
          <a:noFill/>
          <a:ln w="22225">
            <a:solidFill>
              <a:srgbClr val="2C5F7C"/>
            </a:solidFill>
            <a:prstDash val="solid"/>
          </a:ln>
        </p:spPr>
        <p:txBody>
          <a:bodyPr/>
          <a:lstStyle/>
          <a:p>
            <a:endParaRPr lang="en-US"/>
          </a:p>
        </p:txBody>
      </p:sp>
      <p:sp>
        <p:nvSpPr>
          <p:cNvPr id="27" name="Shape 25">
            <a:extLst>
              <a:ext uri="{FF2B5EF4-FFF2-40B4-BE49-F238E27FC236}">
                <a16:creationId xmlns:a16="http://schemas.microsoft.com/office/drawing/2014/main" id="{058D31E6-9115-85A8-B9B6-677C89A05C3A}"/>
              </a:ext>
            </a:extLst>
          </p:cNvPr>
          <p:cNvSpPr/>
          <p:nvPr/>
        </p:nvSpPr>
        <p:spPr>
          <a:xfrm flipV="1">
            <a:off x="1691640" y="1874520"/>
            <a:ext cx="9144" cy="91440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28" name="Text 26">
                <a:extLst>
                  <a:ext uri="{FF2B5EF4-FFF2-40B4-BE49-F238E27FC236}">
                    <a16:creationId xmlns:a16="http://schemas.microsoft.com/office/drawing/2014/main" id="{8DA81FC3-C784-D936-0DB4-08072D54CD6A}"/>
                  </a:ext>
                </a:extLst>
              </p:cNvPr>
              <p:cNvSpPr/>
              <p:nvPr/>
            </p:nvSpPr>
            <p:spPr>
              <a:xfrm>
                <a:off x="205740" y="2288286"/>
                <a:ext cx="2011680" cy="384048"/>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𝜎</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𝑛</m:t>
                              </m:r>
                            </m:e>
                          </m:rad>
                        </m:den>
                      </m:f>
                    </m:oMath>
                  </m:oMathPara>
                </a14:m>
                <a:endParaRPr lang="en-US" dirty="0"/>
              </a:p>
            </p:txBody>
          </p:sp>
        </mc:Choice>
        <mc:Fallback xmlns="">
          <p:sp>
            <p:nvSpPr>
              <p:cNvPr id="28" name="Text 26">
                <a:extLst>
                  <a:ext uri="{FF2B5EF4-FFF2-40B4-BE49-F238E27FC236}">
                    <a16:creationId xmlns:a16="http://schemas.microsoft.com/office/drawing/2014/main" id="{8DA81FC3-C784-D936-0DB4-08072D54CD6A}"/>
                  </a:ext>
                </a:extLst>
              </p:cNvPr>
              <p:cNvSpPr>
                <a:spLocks noRot="1" noChangeAspect="1" noMove="1" noResize="1" noEditPoints="1" noAdjustHandles="1" noChangeArrowheads="1" noChangeShapeType="1" noTextEdit="1"/>
              </p:cNvSpPr>
              <p:nvPr/>
            </p:nvSpPr>
            <p:spPr>
              <a:xfrm>
                <a:off x="205740" y="2288286"/>
                <a:ext cx="2011680" cy="384048"/>
              </a:xfrm>
              <a:prstGeom prst="rect">
                <a:avLst/>
              </a:prstGeom>
              <a:blipFill>
                <a:blip r:embed="rId6"/>
                <a:stretch>
                  <a:fillRect t="-41270"/>
                </a:stretch>
              </a:blipFill>
              <a:ln/>
            </p:spPr>
            <p:txBody>
              <a:bodyPr/>
              <a:lstStyle/>
              <a:p>
                <a:r>
                  <a:rPr lang="en-US">
                    <a:noFill/>
                  </a:rPr>
                  <a:t> </a:t>
                </a:r>
              </a:p>
            </p:txBody>
          </p:sp>
        </mc:Fallback>
      </mc:AlternateContent>
      <p:sp>
        <p:nvSpPr>
          <p:cNvPr id="29" name="Shape 27">
            <a:extLst>
              <a:ext uri="{FF2B5EF4-FFF2-40B4-BE49-F238E27FC236}">
                <a16:creationId xmlns:a16="http://schemas.microsoft.com/office/drawing/2014/main" id="{6382736A-EE68-C805-814C-B2A4894DE60C}"/>
              </a:ext>
            </a:extLst>
          </p:cNvPr>
          <p:cNvSpPr/>
          <p:nvPr/>
        </p:nvSpPr>
        <p:spPr>
          <a:xfrm>
            <a:off x="2365578" y="1535512"/>
            <a:ext cx="365760" cy="9144"/>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30" name="Text 28">
                <a:extLst>
                  <a:ext uri="{FF2B5EF4-FFF2-40B4-BE49-F238E27FC236}">
                    <a16:creationId xmlns:a16="http://schemas.microsoft.com/office/drawing/2014/main" id="{A5ABF6E0-0ECA-F1D4-4A0B-6643335FB900}"/>
                  </a:ext>
                </a:extLst>
              </p:cNvPr>
              <p:cNvSpPr/>
              <p:nvPr/>
            </p:nvSpPr>
            <p:spPr>
              <a:xfrm>
                <a:off x="1598224" y="738302"/>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acc>
                            <m:accPr>
                              <m:chr m:val="̄"/>
                              <m:ctrlPr>
                                <a:rPr lang="en-US" i="1">
                                  <a:latin typeface="Cambria Math" panose="02040503050406030204" pitchFamily="18" charset="0"/>
                                </a:rPr>
                              </m:ctrlPr>
                            </m:accPr>
                            <m:e>
                              <m:r>
                                <a:rPr lang="en-US" i="1">
                                  <a:latin typeface="Cambria Math" panose="02040503050406030204" pitchFamily="18" charset="0"/>
                                </a:rPr>
                                <m:t>𝑥</m:t>
                              </m:r>
                            </m:e>
                          </m:acc>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acc>
                                <m:accPr>
                                  <m:chr m:val="̄"/>
                                  <m:ctrlPr>
                                    <a:rPr lang="en-US" i="1">
                                      <a:latin typeface="Cambria Math" panose="02040503050406030204" pitchFamily="18" charset="0"/>
                                    </a:rPr>
                                  </m:ctrlPr>
                                </m:accPr>
                                <m:e>
                                  <m:r>
                                    <a:rPr lang="en-US" i="1">
                                      <a:latin typeface="Cambria Math" panose="02040503050406030204" pitchFamily="18" charset="0"/>
                                    </a:rPr>
                                    <m:t>𝑥</m:t>
                                  </m:r>
                                </m:e>
                              </m:acc>
                            </m:sub>
                          </m:sSub>
                        </m:den>
                      </m:f>
                    </m:oMath>
                  </m:oMathPara>
                </a14:m>
                <a:endParaRPr lang="en-US" dirty="0"/>
              </a:p>
            </p:txBody>
          </p:sp>
        </mc:Choice>
        <mc:Fallback xmlns="">
          <p:sp>
            <p:nvSpPr>
              <p:cNvPr id="30" name="Text 28">
                <a:extLst>
                  <a:ext uri="{FF2B5EF4-FFF2-40B4-BE49-F238E27FC236}">
                    <a16:creationId xmlns:a16="http://schemas.microsoft.com/office/drawing/2014/main" id="{A5ABF6E0-0ECA-F1D4-4A0B-6643335FB900}"/>
                  </a:ext>
                </a:extLst>
              </p:cNvPr>
              <p:cNvSpPr>
                <a:spLocks noRot="1" noChangeAspect="1" noMove="1" noResize="1" noEditPoints="1" noAdjustHandles="1" noChangeArrowheads="1" noChangeShapeType="1" noTextEdit="1"/>
              </p:cNvSpPr>
              <p:nvPr/>
            </p:nvSpPr>
            <p:spPr>
              <a:xfrm>
                <a:off x="1598224" y="738302"/>
                <a:ext cx="2011680" cy="502920"/>
              </a:xfrm>
              <a:prstGeom prst="rect">
                <a:avLst/>
              </a:prstGeom>
              <a:blipFill>
                <a:blip r:embed="rId7"/>
                <a:stretch>
                  <a:fillRect t="-14458"/>
                </a:stretch>
              </a:blipFill>
              <a:ln/>
            </p:spPr>
            <p:txBody>
              <a:bodyPr/>
              <a:lstStyle/>
              <a:p>
                <a:r>
                  <a:rPr lang="en-US">
                    <a:noFill/>
                  </a:rPr>
                  <a:t> </a:t>
                </a:r>
              </a:p>
            </p:txBody>
          </p:sp>
        </mc:Fallback>
      </mc:AlternateContent>
      <p:sp>
        <p:nvSpPr>
          <p:cNvPr id="31" name="Shape 29">
            <a:extLst>
              <a:ext uri="{FF2B5EF4-FFF2-40B4-BE49-F238E27FC236}">
                <a16:creationId xmlns:a16="http://schemas.microsoft.com/office/drawing/2014/main" id="{87A3754B-BA8A-BBD3-C672-066A13797834}"/>
              </a:ext>
            </a:extLst>
          </p:cNvPr>
          <p:cNvSpPr/>
          <p:nvPr/>
        </p:nvSpPr>
        <p:spPr>
          <a:xfrm>
            <a:off x="4194378" y="1535512"/>
            <a:ext cx="365760" cy="9144"/>
          </a:xfrm>
          <a:prstGeom prst="line">
            <a:avLst/>
          </a:prstGeom>
          <a:noFill/>
          <a:ln w="22225">
            <a:solidFill>
              <a:srgbClr val="2C5F7C"/>
            </a:solidFill>
            <a:prstDash val="solid"/>
            <a:tailEnd type="triangle"/>
          </a:ln>
        </p:spPr>
        <p:txBody>
          <a:bodyPr/>
          <a:lstStyle/>
          <a:p>
            <a:endParaRPr lang="en-US"/>
          </a:p>
        </p:txBody>
      </p:sp>
      <p:sp>
        <p:nvSpPr>
          <p:cNvPr id="33" name="Shape 31">
            <a:extLst>
              <a:ext uri="{FF2B5EF4-FFF2-40B4-BE49-F238E27FC236}">
                <a16:creationId xmlns:a16="http://schemas.microsoft.com/office/drawing/2014/main" id="{FCDD7D6F-B6E0-B83B-2453-81F37FC3422D}"/>
              </a:ext>
            </a:extLst>
          </p:cNvPr>
          <p:cNvSpPr/>
          <p:nvPr/>
        </p:nvSpPr>
        <p:spPr>
          <a:xfrm>
            <a:off x="411480" y="3456432"/>
            <a:ext cx="640080" cy="658368"/>
          </a:xfrm>
          <a:prstGeom prst="roundRect">
            <a:avLst>
              <a:gd name="adj" fmla="val 12857"/>
            </a:avLst>
          </a:prstGeom>
          <a:solidFill>
            <a:srgbClr val="1B3A4B"/>
          </a:solidFill>
          <a:ln w="15875">
            <a:solidFill>
              <a:srgbClr val="2C5F7C"/>
            </a:solidFill>
            <a:prstDash val="solid"/>
          </a:ln>
        </p:spPr>
        <p:txBody>
          <a:bodyPr/>
          <a:lstStyle/>
          <a:p>
            <a:endParaRPr lang="en-US"/>
          </a:p>
        </p:txBody>
      </p:sp>
      <p:sp>
        <p:nvSpPr>
          <p:cNvPr id="34" name="Text 32">
            <a:extLst>
              <a:ext uri="{FF2B5EF4-FFF2-40B4-BE49-F238E27FC236}">
                <a16:creationId xmlns:a16="http://schemas.microsoft.com/office/drawing/2014/main" id="{D890BBCA-D1E4-A792-8101-A458B728FE15}"/>
              </a:ext>
            </a:extLst>
          </p:cNvPr>
          <p:cNvSpPr/>
          <p:nvPr/>
        </p:nvSpPr>
        <p:spPr>
          <a:xfrm>
            <a:off x="411480" y="3456432"/>
            <a:ext cx="64008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600" b="1" dirty="0">
                <a:solidFill>
                  <a:srgbClr val="FFFFFF"/>
                </a:solidFill>
                <a:latin typeface="Calibri" pitchFamily="34" charset="0"/>
                <a:ea typeface="Calibri" pitchFamily="34" charset="-122"/>
                <a:cs typeface="Calibri" pitchFamily="34" charset="-120"/>
              </a:rPr>
              <a:t>X</a:t>
            </a:r>
            <a:endParaRPr lang="en-US" sz="1600" dirty="0"/>
          </a:p>
        </p:txBody>
      </p:sp>
      <p:sp>
        <p:nvSpPr>
          <p:cNvPr id="35" name="Shape 33">
            <a:extLst>
              <a:ext uri="{FF2B5EF4-FFF2-40B4-BE49-F238E27FC236}">
                <a16:creationId xmlns:a16="http://schemas.microsoft.com/office/drawing/2014/main" id="{205110F2-E51A-B868-7E33-97AF3C2E7C6B}"/>
              </a:ext>
            </a:extLst>
          </p:cNvPr>
          <p:cNvSpPr/>
          <p:nvPr/>
        </p:nvSpPr>
        <p:spPr>
          <a:xfrm>
            <a:off x="1356055" y="3456432"/>
            <a:ext cx="11430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6" name="Text 34">
            <a:extLst>
              <a:ext uri="{FF2B5EF4-FFF2-40B4-BE49-F238E27FC236}">
                <a16:creationId xmlns:a16="http://schemas.microsoft.com/office/drawing/2014/main" id="{DC5BB7C2-75F9-D531-2FE9-0F38949903EC}"/>
              </a:ext>
            </a:extLst>
          </p:cNvPr>
          <p:cNvSpPr/>
          <p:nvPr/>
        </p:nvSpPr>
        <p:spPr>
          <a:xfrm>
            <a:off x="1356055" y="3456432"/>
            <a:ext cx="11430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7" name="Shape 35">
            <a:extLst>
              <a:ext uri="{FF2B5EF4-FFF2-40B4-BE49-F238E27FC236}">
                <a16:creationId xmlns:a16="http://schemas.microsoft.com/office/drawing/2014/main" id="{A215745F-6905-E3D2-7F9F-0712BD53BBBC}"/>
              </a:ext>
            </a:extLst>
          </p:cNvPr>
          <p:cNvSpPr/>
          <p:nvPr/>
        </p:nvSpPr>
        <p:spPr>
          <a:xfrm>
            <a:off x="2803550" y="3456432"/>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38" name="Text 36">
            <a:extLst>
              <a:ext uri="{FF2B5EF4-FFF2-40B4-BE49-F238E27FC236}">
                <a16:creationId xmlns:a16="http://schemas.microsoft.com/office/drawing/2014/main" id="{04FCD8AB-2271-C22E-29C2-F9D84721D9A9}"/>
              </a:ext>
            </a:extLst>
          </p:cNvPr>
          <p:cNvSpPr/>
          <p:nvPr/>
        </p:nvSpPr>
        <p:spPr>
          <a:xfrm>
            <a:off x="2803550" y="3456432"/>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Squared</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Deviations</a:t>
            </a:r>
            <a:endParaRPr lang="en-US" sz="1150" dirty="0"/>
          </a:p>
        </p:txBody>
      </p:sp>
      <p:sp>
        <p:nvSpPr>
          <p:cNvPr id="39" name="Shape 37">
            <a:extLst>
              <a:ext uri="{FF2B5EF4-FFF2-40B4-BE49-F238E27FC236}">
                <a16:creationId xmlns:a16="http://schemas.microsoft.com/office/drawing/2014/main" id="{4BCA44B9-4BEA-6906-F5A6-139066E7348E}"/>
              </a:ext>
            </a:extLst>
          </p:cNvPr>
          <p:cNvSpPr/>
          <p:nvPr/>
        </p:nvSpPr>
        <p:spPr>
          <a:xfrm>
            <a:off x="4388206" y="3456432"/>
            <a:ext cx="13716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0" name="Text 38">
            <a:extLst>
              <a:ext uri="{FF2B5EF4-FFF2-40B4-BE49-F238E27FC236}">
                <a16:creationId xmlns:a16="http://schemas.microsoft.com/office/drawing/2014/main" id="{8FA1575E-3970-835B-9E8B-D20792CA779F}"/>
              </a:ext>
            </a:extLst>
          </p:cNvPr>
          <p:cNvSpPr/>
          <p:nvPr/>
        </p:nvSpPr>
        <p:spPr>
          <a:xfrm>
            <a:off x="4388206" y="3456432"/>
            <a:ext cx="13716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Sum of Squares</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(SS)</a:t>
            </a:r>
            <a:endParaRPr lang="en-US" sz="1050" dirty="0"/>
          </a:p>
        </p:txBody>
      </p:sp>
      <p:sp>
        <p:nvSpPr>
          <p:cNvPr id="41" name="Shape 39">
            <a:extLst>
              <a:ext uri="{FF2B5EF4-FFF2-40B4-BE49-F238E27FC236}">
                <a16:creationId xmlns:a16="http://schemas.microsoft.com/office/drawing/2014/main" id="{7F1108AE-BBF7-365D-32AC-23F8BA9BF78D}"/>
              </a:ext>
            </a:extLst>
          </p:cNvPr>
          <p:cNvSpPr/>
          <p:nvPr/>
        </p:nvSpPr>
        <p:spPr>
          <a:xfrm>
            <a:off x="6064301"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2" name="Text 40">
            <a:extLst>
              <a:ext uri="{FF2B5EF4-FFF2-40B4-BE49-F238E27FC236}">
                <a16:creationId xmlns:a16="http://schemas.microsoft.com/office/drawing/2014/main" id="{9080AF9B-3446-35BF-313F-A2B68F35CDC2}"/>
              </a:ext>
            </a:extLst>
          </p:cNvPr>
          <p:cNvSpPr/>
          <p:nvPr/>
        </p:nvSpPr>
        <p:spPr>
          <a:xfrm>
            <a:off x="6064301"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Variance</a:t>
            </a:r>
            <a:endParaRPr lang="en-US" sz="1150" dirty="0"/>
          </a:p>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(SD²)</a:t>
            </a:r>
            <a:endParaRPr lang="en-US" sz="1150" dirty="0"/>
          </a:p>
        </p:txBody>
      </p:sp>
      <p:sp>
        <p:nvSpPr>
          <p:cNvPr id="43" name="Shape 41">
            <a:extLst>
              <a:ext uri="{FF2B5EF4-FFF2-40B4-BE49-F238E27FC236}">
                <a16:creationId xmlns:a16="http://schemas.microsoft.com/office/drawing/2014/main" id="{35D19984-57A5-D9C7-7332-5FF6C794958B}"/>
              </a:ext>
            </a:extLst>
          </p:cNvPr>
          <p:cNvSpPr/>
          <p:nvPr/>
        </p:nvSpPr>
        <p:spPr>
          <a:xfrm>
            <a:off x="7557516" y="3456432"/>
            <a:ext cx="118872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4" name="Text 42">
            <a:extLst>
              <a:ext uri="{FF2B5EF4-FFF2-40B4-BE49-F238E27FC236}">
                <a16:creationId xmlns:a16="http://schemas.microsoft.com/office/drawing/2014/main" id="{8D559C8F-01C5-F824-84A7-1B700FC54B11}"/>
              </a:ext>
            </a:extLst>
          </p:cNvPr>
          <p:cNvSpPr/>
          <p:nvPr/>
        </p:nvSpPr>
        <p:spPr>
          <a:xfrm>
            <a:off x="7557516" y="3456432"/>
            <a:ext cx="118872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Deviation (SD)</a:t>
            </a:r>
            <a:endParaRPr lang="en-US" sz="1050" dirty="0"/>
          </a:p>
        </p:txBody>
      </p:sp>
      <p:sp>
        <p:nvSpPr>
          <p:cNvPr id="47" name="Shape 45">
            <a:extLst>
              <a:ext uri="{FF2B5EF4-FFF2-40B4-BE49-F238E27FC236}">
                <a16:creationId xmlns:a16="http://schemas.microsoft.com/office/drawing/2014/main" id="{FB417D15-CAFD-CDF0-A114-8A2808D97B1B}"/>
              </a:ext>
            </a:extLst>
          </p:cNvPr>
          <p:cNvSpPr/>
          <p:nvPr/>
        </p:nvSpPr>
        <p:spPr>
          <a:xfrm>
            <a:off x="10863986" y="3456432"/>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48" name="Text 46">
            <a:extLst>
              <a:ext uri="{FF2B5EF4-FFF2-40B4-BE49-F238E27FC236}">
                <a16:creationId xmlns:a16="http://schemas.microsoft.com/office/drawing/2014/main" id="{567891D2-61B3-5006-8A82-33B0F3AEBFB0}"/>
              </a:ext>
            </a:extLst>
          </p:cNvPr>
          <p:cNvSpPr/>
          <p:nvPr/>
        </p:nvSpPr>
        <p:spPr>
          <a:xfrm>
            <a:off x="10863986" y="3456432"/>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53" name="Shape 51">
            <a:extLst>
              <a:ext uri="{FF2B5EF4-FFF2-40B4-BE49-F238E27FC236}">
                <a16:creationId xmlns:a16="http://schemas.microsoft.com/office/drawing/2014/main" id="{D363C345-7BE0-17BA-8696-827941650295}"/>
              </a:ext>
            </a:extLst>
          </p:cNvPr>
          <p:cNvSpPr/>
          <p:nvPr/>
        </p:nvSpPr>
        <p:spPr>
          <a:xfrm>
            <a:off x="1085418" y="1206328"/>
            <a:ext cx="12801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4" name="Text 52">
            <a:extLst>
              <a:ext uri="{FF2B5EF4-FFF2-40B4-BE49-F238E27FC236}">
                <a16:creationId xmlns:a16="http://schemas.microsoft.com/office/drawing/2014/main" id="{DF2730F7-EED7-23DF-175A-78BAFE425F28}"/>
              </a:ext>
            </a:extLst>
          </p:cNvPr>
          <p:cNvSpPr/>
          <p:nvPr/>
        </p:nvSpPr>
        <p:spPr>
          <a:xfrm>
            <a:off x="1085418" y="1206328"/>
            <a:ext cx="12801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Standard Error</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(σₓ̄)</a:t>
            </a:r>
            <a:endParaRPr lang="en-US" sz="1050" dirty="0"/>
          </a:p>
        </p:txBody>
      </p:sp>
      <p:sp>
        <p:nvSpPr>
          <p:cNvPr id="55" name="Shape 53">
            <a:extLst>
              <a:ext uri="{FF2B5EF4-FFF2-40B4-BE49-F238E27FC236}">
                <a16:creationId xmlns:a16="http://schemas.microsoft.com/office/drawing/2014/main" id="{66061FC0-1592-A824-2C71-E2195CDE907C}"/>
              </a:ext>
            </a:extLst>
          </p:cNvPr>
          <p:cNvSpPr/>
          <p:nvPr/>
        </p:nvSpPr>
        <p:spPr>
          <a:xfrm>
            <a:off x="2731338" y="1206328"/>
            <a:ext cx="1463040" cy="658368"/>
          </a:xfrm>
          <a:prstGeom prst="roundRect">
            <a:avLst>
              <a:gd name="adj" fmla="val 12500"/>
            </a:avLst>
          </a:prstGeom>
          <a:solidFill>
            <a:srgbClr val="E8871E"/>
          </a:solidFill>
          <a:ln w="25400">
            <a:solidFill>
              <a:srgbClr val="B85F0F"/>
            </a:solidFill>
            <a:prstDash val="solid"/>
          </a:ln>
          <a:effectLst>
            <a:outerShdw blurRad="76200" dist="25400" dir="5400000" algn="bl" rotWithShape="0">
              <a:srgbClr val="000000">
                <a:alpha val="25000"/>
              </a:srgbClr>
            </a:outerShdw>
          </a:effectLst>
        </p:spPr>
        <p:txBody>
          <a:bodyPr/>
          <a:lstStyle/>
          <a:p>
            <a:endParaRPr lang="en-US"/>
          </a:p>
        </p:txBody>
      </p:sp>
      <p:sp>
        <p:nvSpPr>
          <p:cNvPr id="56" name="Text 54">
            <a:extLst>
              <a:ext uri="{FF2B5EF4-FFF2-40B4-BE49-F238E27FC236}">
                <a16:creationId xmlns:a16="http://schemas.microsoft.com/office/drawing/2014/main" id="{5374FEE0-A507-987C-5F17-2F69843A5395}"/>
              </a:ext>
            </a:extLst>
          </p:cNvPr>
          <p:cNvSpPr/>
          <p:nvPr/>
        </p:nvSpPr>
        <p:spPr>
          <a:xfrm>
            <a:off x="2731338" y="1206328"/>
            <a:ext cx="146304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Single Sample</a:t>
            </a:r>
            <a:endParaRPr lang="en-US" sz="1050" dirty="0"/>
          </a:p>
          <a:p>
            <a:pPr marL="0" indent="0" algn="ctr">
              <a:lnSpc>
                <a:spcPct val="105000"/>
              </a:lnSpc>
              <a:buNone/>
            </a:pPr>
            <a:r>
              <a:rPr lang="en-US" sz="1050" b="1" dirty="0">
                <a:solidFill>
                  <a:srgbClr val="FFFFFF"/>
                </a:solidFill>
                <a:latin typeface="Calibri" pitchFamily="34" charset="0"/>
                <a:ea typeface="Calibri" pitchFamily="34" charset="-122"/>
                <a:cs typeface="Calibri" pitchFamily="34" charset="-120"/>
              </a:rPr>
              <a:t>Z-Score</a:t>
            </a:r>
            <a:endParaRPr lang="en-US" sz="1050" dirty="0"/>
          </a:p>
        </p:txBody>
      </p:sp>
      <p:sp>
        <p:nvSpPr>
          <p:cNvPr id="57" name="Shape 55">
            <a:extLst>
              <a:ext uri="{FF2B5EF4-FFF2-40B4-BE49-F238E27FC236}">
                <a16:creationId xmlns:a16="http://schemas.microsoft.com/office/drawing/2014/main" id="{F55C5AFF-42D4-9E73-C6D3-045A3980F27B}"/>
              </a:ext>
            </a:extLst>
          </p:cNvPr>
          <p:cNvSpPr/>
          <p:nvPr/>
        </p:nvSpPr>
        <p:spPr>
          <a:xfrm>
            <a:off x="4560138" y="1206328"/>
            <a:ext cx="91440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58" name="Text 56">
            <a:extLst>
              <a:ext uri="{FF2B5EF4-FFF2-40B4-BE49-F238E27FC236}">
                <a16:creationId xmlns:a16="http://schemas.microsoft.com/office/drawing/2014/main" id="{DBDE09E9-92F1-577A-0ED2-960ECCCA0856}"/>
              </a:ext>
            </a:extLst>
          </p:cNvPr>
          <p:cNvSpPr/>
          <p:nvPr/>
        </p:nvSpPr>
        <p:spPr>
          <a:xfrm>
            <a:off x="4560138" y="1206328"/>
            <a:ext cx="91440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mc:AlternateContent xmlns:mc="http://schemas.openxmlformats.org/markup-compatibility/2006" xmlns:a14="http://schemas.microsoft.com/office/drawing/2010/main">
        <mc:Choice Requires="a14">
          <p:sp>
            <p:nvSpPr>
              <p:cNvPr id="61" name="Text 8">
                <a:extLst>
                  <a:ext uri="{FF2B5EF4-FFF2-40B4-BE49-F238E27FC236}">
                    <a16:creationId xmlns:a16="http://schemas.microsoft.com/office/drawing/2014/main" id="{053D8124-A824-6AED-92A6-D1EBE5A0CA44}"/>
                  </a:ext>
                </a:extLst>
              </p:cNvPr>
              <p:cNvSpPr/>
              <p:nvPr/>
            </p:nvSpPr>
            <p:spPr>
              <a:xfrm>
                <a:off x="3268465" y="2951830"/>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US" sz="1100" i="1">
                              <a:latin typeface="Cambria Math" panose="02040503050406030204" pitchFamily="18" charset="0"/>
                            </a:rPr>
                          </m:ctrlPr>
                        </m:naryPr>
                        <m:sub/>
                        <m:sup/>
                        <m:e>
                          <m:r>
                            <a:rPr lang="en-US" sz="1100">
                              <a:latin typeface="Cambria Math" panose="02040503050406030204" pitchFamily="18" charset="0"/>
                            </a:rPr>
                            <m:t> </m:t>
                          </m:r>
                          <m:d>
                            <m:dPr>
                              <m:ctrlPr>
                                <a:rPr lang="en-US" sz="1100" i="1">
                                  <a:latin typeface="Cambria Math" panose="02040503050406030204" pitchFamily="18" charset="0"/>
                                </a:rPr>
                              </m:ctrlPr>
                            </m:dPr>
                            <m:e>
                              <m:eqArr>
                                <m:eqArrPr>
                                  <m:ctrlPr>
                                    <a:rPr lang="en-US" sz="1100" i="1">
                                      <a:latin typeface="Cambria Math" panose="02040503050406030204" pitchFamily="18" charset="0"/>
                                    </a:rPr>
                                  </m:ctrlPr>
                                </m:eqArrPr>
                                <m:e>
                                  <m:r>
                                    <a:rPr lang="en-US" sz="1100" i="1">
                                      <a:latin typeface="Cambria Math" panose="02040503050406030204" pitchFamily="18" charset="0"/>
                                    </a:rPr>
                                    <m:t>𝑆𝑞𝑢𝑎𝑟𝑒𝑑</m:t>
                                  </m:r>
                                </m:e>
                                <m:e>
                                  <m:r>
                                    <a:rPr lang="en-US" sz="1100" i="1">
                                      <a:latin typeface="Cambria Math" panose="02040503050406030204" pitchFamily="18" charset="0"/>
                                    </a:rPr>
                                    <m:t>𝐷𝑒𝑣𝑖𝑎𝑡𝑖𝑜𝑛𝑠</m:t>
                                  </m:r>
                                </m:e>
                              </m:eqArr>
                            </m:e>
                          </m:d>
                        </m:e>
                      </m:nary>
                    </m:oMath>
                  </m:oMathPara>
                </a14:m>
                <a:endParaRPr lang="en-US" sz="1100" dirty="0">
                  <a:latin typeface="Cambria Math" panose="02040503050406030204" pitchFamily="18" charset="0"/>
                </a:endParaRPr>
              </a:p>
            </p:txBody>
          </p:sp>
        </mc:Choice>
        <mc:Fallback xmlns="">
          <p:sp>
            <p:nvSpPr>
              <p:cNvPr id="61" name="Text 8">
                <a:extLst>
                  <a:ext uri="{FF2B5EF4-FFF2-40B4-BE49-F238E27FC236}">
                    <a16:creationId xmlns:a16="http://schemas.microsoft.com/office/drawing/2014/main" id="{053D8124-A824-6AED-92A6-D1EBE5A0CA44}"/>
                  </a:ext>
                </a:extLst>
              </p:cNvPr>
              <p:cNvSpPr>
                <a:spLocks noRot="1" noChangeAspect="1" noMove="1" noResize="1" noEditPoints="1" noAdjustHandles="1" noChangeArrowheads="1" noChangeShapeType="1" noTextEdit="1"/>
              </p:cNvSpPr>
              <p:nvPr/>
            </p:nvSpPr>
            <p:spPr>
              <a:xfrm>
                <a:off x="3268465" y="2951830"/>
                <a:ext cx="2011680" cy="502920"/>
              </a:xfrm>
              <a:prstGeom prst="rect">
                <a:avLst/>
              </a:prstGeom>
              <a:blipFill>
                <a:blip r:embed="rId8"/>
                <a:stretch>
                  <a:fillRect l="-3939" t="-113253" b="-159036"/>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14">
                <a:extLst>
                  <a:ext uri="{FF2B5EF4-FFF2-40B4-BE49-F238E27FC236}">
                    <a16:creationId xmlns:a16="http://schemas.microsoft.com/office/drawing/2014/main" id="{4A408DE0-D65A-4070-5803-051E4C72F9E8}"/>
                  </a:ext>
                </a:extLst>
              </p:cNvPr>
              <p:cNvSpPr/>
              <p:nvPr/>
            </p:nvSpPr>
            <p:spPr>
              <a:xfrm>
                <a:off x="7892644" y="2880360"/>
                <a:ext cx="2011680" cy="50292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𝑥</m:t>
                          </m:r>
                          <m:r>
                            <a:rPr lang="en-US" i="1">
                              <a:latin typeface="Cambria Math" panose="02040503050406030204" pitchFamily="18" charset="0"/>
                            </a:rPr>
                            <m:t> − </m:t>
                          </m:r>
                          <m:acc>
                            <m:accPr>
                              <m:chr m:val="̄"/>
                              <m:ctrlPr>
                                <a:rPr lang="en-US" i="1">
                                  <a:latin typeface="Cambria Math" panose="02040503050406030204" pitchFamily="18" charset="0"/>
                                </a:rPr>
                              </m:ctrlPr>
                            </m:accPr>
                            <m:e>
                              <m:r>
                                <a:rPr lang="en-US" i="1">
                                  <a:latin typeface="Cambria Math" panose="02040503050406030204" pitchFamily="18" charset="0"/>
                                </a:rPr>
                                <m:t>𝑥</m:t>
                              </m:r>
                            </m:e>
                          </m:acc>
                          <m:r>
                            <m:rPr>
                              <m:nor/>
                            </m:rPr>
                            <a:rPr lang="en-US" i="0" dirty="0"/>
                            <m:t> </m:t>
                          </m:r>
                        </m:num>
                        <m:den>
                          <m:r>
                            <a:rPr lang="en-US" i="1">
                              <a:latin typeface="Cambria Math" panose="02040503050406030204" pitchFamily="18" charset="0"/>
                            </a:rPr>
                            <m:t>𝑆𝐷</m:t>
                          </m:r>
                        </m:den>
                      </m:f>
                    </m:oMath>
                  </m:oMathPara>
                </a14:m>
                <a:endParaRPr lang="en-US" dirty="0"/>
              </a:p>
            </p:txBody>
          </p:sp>
        </mc:Choice>
        <mc:Fallback xmlns="">
          <p:sp>
            <p:nvSpPr>
              <p:cNvPr id="63" name="Text 14">
                <a:extLst>
                  <a:ext uri="{FF2B5EF4-FFF2-40B4-BE49-F238E27FC236}">
                    <a16:creationId xmlns:a16="http://schemas.microsoft.com/office/drawing/2014/main" id="{4A408DE0-D65A-4070-5803-051E4C72F9E8}"/>
                  </a:ext>
                </a:extLst>
              </p:cNvPr>
              <p:cNvSpPr>
                <a:spLocks noRot="1" noChangeAspect="1" noMove="1" noResize="1" noEditPoints="1" noAdjustHandles="1" noChangeArrowheads="1" noChangeShapeType="1" noTextEdit="1"/>
              </p:cNvSpPr>
              <p:nvPr/>
            </p:nvSpPr>
            <p:spPr>
              <a:xfrm>
                <a:off x="7892644" y="2880360"/>
                <a:ext cx="2011680" cy="502920"/>
              </a:xfrm>
              <a:prstGeom prst="rect">
                <a:avLst/>
              </a:prstGeom>
              <a:blipFill>
                <a:blip r:embed="rId9"/>
                <a:stretch>
                  <a:fillRect t="-6098"/>
                </a:stretch>
              </a:blipFill>
              <a:ln/>
            </p:spPr>
            <p:txBody>
              <a:bodyPr/>
              <a:lstStyle/>
              <a:p>
                <a:r>
                  <a:rPr lang="en-US">
                    <a:noFill/>
                  </a:rPr>
                  <a:t> </a:t>
                </a:r>
              </a:p>
            </p:txBody>
          </p:sp>
        </mc:Fallback>
      </mc:AlternateContent>
      <p:sp>
        <p:nvSpPr>
          <p:cNvPr id="65" name="Text 16">
            <a:extLst>
              <a:ext uri="{FF2B5EF4-FFF2-40B4-BE49-F238E27FC236}">
                <a16:creationId xmlns:a16="http://schemas.microsoft.com/office/drawing/2014/main" id="{993C398E-DFE8-2A47-7575-AF8261AADCB8}"/>
              </a:ext>
            </a:extLst>
          </p:cNvPr>
          <p:cNvSpPr/>
          <p:nvPr/>
        </p:nvSpPr>
        <p:spPr>
          <a:xfrm>
            <a:off x="9705899" y="2880360"/>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67" name="Shape 17">
            <a:extLst>
              <a:ext uri="{FF2B5EF4-FFF2-40B4-BE49-F238E27FC236}">
                <a16:creationId xmlns:a16="http://schemas.microsoft.com/office/drawing/2014/main" id="{7811D866-FEA4-DE8C-1230-78A966B73214}"/>
              </a:ext>
            </a:extLst>
          </p:cNvPr>
          <p:cNvSpPr/>
          <p:nvPr/>
        </p:nvSpPr>
        <p:spPr>
          <a:xfrm>
            <a:off x="731520" y="4114800"/>
            <a:ext cx="0" cy="914400"/>
          </a:xfrm>
          <a:prstGeom prst="line">
            <a:avLst/>
          </a:prstGeom>
          <a:noFill/>
          <a:ln w="22225">
            <a:solidFill>
              <a:srgbClr val="2C5F7C"/>
            </a:solidFill>
            <a:prstDash val="solid"/>
          </a:ln>
        </p:spPr>
        <p:txBody>
          <a:bodyPr/>
          <a:lstStyle/>
          <a:p>
            <a:endParaRPr lang="en-US"/>
          </a:p>
        </p:txBody>
      </p:sp>
      <p:sp>
        <p:nvSpPr>
          <p:cNvPr id="69" name="Shape 18">
            <a:extLst>
              <a:ext uri="{FF2B5EF4-FFF2-40B4-BE49-F238E27FC236}">
                <a16:creationId xmlns:a16="http://schemas.microsoft.com/office/drawing/2014/main" id="{050243B7-858B-F1F1-485B-B6C39081417C}"/>
              </a:ext>
            </a:extLst>
          </p:cNvPr>
          <p:cNvSpPr/>
          <p:nvPr/>
        </p:nvSpPr>
        <p:spPr>
          <a:xfrm>
            <a:off x="737147" y="5029200"/>
            <a:ext cx="1234440" cy="9144"/>
          </a:xfrm>
          <a:prstGeom prst="line">
            <a:avLst/>
          </a:prstGeom>
          <a:noFill/>
          <a:ln w="22225">
            <a:solidFill>
              <a:srgbClr val="2C5F7C"/>
            </a:solidFill>
            <a:prstDash val="solid"/>
          </a:ln>
        </p:spPr>
        <p:txBody>
          <a:bodyPr/>
          <a:lstStyle/>
          <a:p>
            <a:endParaRPr lang="en-US"/>
          </a:p>
        </p:txBody>
      </p:sp>
      <p:sp>
        <p:nvSpPr>
          <p:cNvPr id="71" name="Shape 19">
            <a:extLst>
              <a:ext uri="{FF2B5EF4-FFF2-40B4-BE49-F238E27FC236}">
                <a16:creationId xmlns:a16="http://schemas.microsoft.com/office/drawing/2014/main" id="{EF1CDFFF-567C-0EBE-1791-2272E97C9B98}"/>
              </a:ext>
            </a:extLst>
          </p:cNvPr>
          <p:cNvSpPr/>
          <p:nvPr/>
        </p:nvSpPr>
        <p:spPr>
          <a:xfrm>
            <a:off x="1975104" y="5029200"/>
            <a:ext cx="9144" cy="548640"/>
          </a:xfrm>
          <a:prstGeom prst="line">
            <a:avLst/>
          </a:prstGeom>
          <a:noFill/>
          <a:ln w="22225">
            <a:solidFill>
              <a:srgbClr val="2C5F7C"/>
            </a:solidFill>
            <a:prstDash val="solid"/>
            <a:tailEnd type="triangle"/>
          </a:ln>
        </p:spPr>
        <p:txBody>
          <a:bodyPr/>
          <a:lstStyle/>
          <a:p>
            <a:endParaRPr lang="en-US"/>
          </a:p>
        </p:txBody>
      </p:sp>
      <mc:AlternateContent xmlns:mc="http://schemas.openxmlformats.org/markup-compatibility/2006" xmlns:a14="http://schemas.microsoft.com/office/drawing/2010/main">
        <mc:Choice Requires="a14">
          <p:sp>
            <p:nvSpPr>
              <p:cNvPr id="73" name="Text 20">
                <a:extLst>
                  <a:ext uri="{FF2B5EF4-FFF2-40B4-BE49-F238E27FC236}">
                    <a16:creationId xmlns:a16="http://schemas.microsoft.com/office/drawing/2014/main" id="{088EBAA0-CE2D-8B83-33D7-E672266746FF}"/>
                  </a:ext>
                </a:extLst>
              </p:cNvPr>
              <p:cNvSpPr/>
              <p:nvPr/>
            </p:nvSpPr>
            <p:spPr>
              <a:xfrm>
                <a:off x="411480" y="4544568"/>
                <a:ext cx="2011680" cy="411480"/>
              </a:xfrm>
              <a:prstGeom prst="rect">
                <a:avLst/>
              </a:prstGeom>
              <a:noFill/>
              <a:ln/>
            </p:spPr>
            <p:txBody>
              <a:bodyPr wrap="none" rtlCol="0" anchor="b"/>
              <a:lstStyle/>
              <a:p>
                <a:pPr algn="ct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b="0" i="1" smtClean="0">
                              <a:latin typeface="Cambria Math" panose="02040503050406030204" pitchFamily="18" charset="0"/>
                            </a:rPr>
                            <m:t>𝑥</m:t>
                          </m:r>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𝑥</m:t>
                              </m:r>
                            </m:sub>
                          </m:sSub>
                        </m:num>
                        <m:den>
                          <m:sSub>
                            <m:sSubPr>
                              <m:ctrlPr>
                                <a:rPr lang="en-US" i="1">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𝑥</m:t>
                              </m:r>
                            </m:sub>
                          </m:sSub>
                        </m:den>
                      </m:f>
                    </m:oMath>
                  </m:oMathPara>
                </a14:m>
                <a:endParaRPr lang="en-US" dirty="0"/>
              </a:p>
            </p:txBody>
          </p:sp>
        </mc:Choice>
        <mc:Fallback xmlns="">
          <p:sp>
            <p:nvSpPr>
              <p:cNvPr id="73" name="Text 20">
                <a:extLst>
                  <a:ext uri="{FF2B5EF4-FFF2-40B4-BE49-F238E27FC236}">
                    <a16:creationId xmlns:a16="http://schemas.microsoft.com/office/drawing/2014/main" id="{088EBAA0-CE2D-8B83-33D7-E672266746FF}"/>
                  </a:ext>
                </a:extLst>
              </p:cNvPr>
              <p:cNvSpPr>
                <a:spLocks noRot="1" noChangeAspect="1" noMove="1" noResize="1" noEditPoints="1" noAdjustHandles="1" noChangeArrowheads="1" noChangeShapeType="1" noTextEdit="1"/>
              </p:cNvSpPr>
              <p:nvPr/>
            </p:nvSpPr>
            <p:spPr>
              <a:xfrm>
                <a:off x="411480" y="4544568"/>
                <a:ext cx="2011680" cy="411480"/>
              </a:xfrm>
              <a:prstGeom prst="rect">
                <a:avLst/>
              </a:prstGeom>
              <a:blipFill>
                <a:blip r:embed="rId10"/>
                <a:stretch>
                  <a:fillRect t="-31343"/>
                </a:stretch>
              </a:blipFill>
              <a:ln/>
            </p:spPr>
            <p:txBody>
              <a:bodyPr/>
              <a:lstStyle/>
              <a:p>
                <a:r>
                  <a:rPr lang="en-US">
                    <a:noFill/>
                  </a:rPr>
                  <a:t> </a:t>
                </a:r>
              </a:p>
            </p:txBody>
          </p:sp>
        </mc:Fallback>
      </mc:AlternateContent>
      <p:sp>
        <p:nvSpPr>
          <p:cNvPr id="75" name="Shape 21">
            <a:extLst>
              <a:ext uri="{FF2B5EF4-FFF2-40B4-BE49-F238E27FC236}">
                <a16:creationId xmlns:a16="http://schemas.microsoft.com/office/drawing/2014/main" id="{707B67F5-2779-81C8-23D6-89080C8689ED}"/>
              </a:ext>
            </a:extLst>
          </p:cNvPr>
          <p:cNvSpPr/>
          <p:nvPr/>
        </p:nvSpPr>
        <p:spPr>
          <a:xfrm>
            <a:off x="2889504" y="5907024"/>
            <a:ext cx="320040" cy="9144"/>
          </a:xfrm>
          <a:prstGeom prst="line">
            <a:avLst/>
          </a:prstGeom>
          <a:noFill/>
          <a:ln w="22225">
            <a:solidFill>
              <a:srgbClr val="2C5F7C"/>
            </a:solidFill>
            <a:prstDash val="solid"/>
            <a:tailEnd type="triangle"/>
          </a:ln>
        </p:spPr>
        <p:txBody>
          <a:bodyPr/>
          <a:lstStyle/>
          <a:p>
            <a:endParaRPr lang="en-US"/>
          </a:p>
        </p:txBody>
      </p:sp>
      <p:sp>
        <p:nvSpPr>
          <p:cNvPr id="77" name="Shape 39">
            <a:extLst>
              <a:ext uri="{FF2B5EF4-FFF2-40B4-BE49-F238E27FC236}">
                <a16:creationId xmlns:a16="http://schemas.microsoft.com/office/drawing/2014/main" id="{F45A0C78-4D2D-8D22-4E05-A4830C6FBB7C}"/>
              </a:ext>
            </a:extLst>
          </p:cNvPr>
          <p:cNvSpPr/>
          <p:nvPr/>
        </p:nvSpPr>
        <p:spPr>
          <a:xfrm>
            <a:off x="1060704" y="5577840"/>
            <a:ext cx="1828800" cy="658368"/>
          </a:xfrm>
          <a:prstGeom prst="roundRect">
            <a:avLst>
              <a:gd name="adj" fmla="val 12500"/>
            </a:avLst>
          </a:prstGeom>
          <a:solidFill>
            <a:srgbClr val="EAF2F7"/>
          </a:solidFill>
          <a:ln w="25400">
            <a:solidFill>
              <a:srgbClr val="2C5F7C"/>
            </a:solidFill>
            <a:prstDash val="solid"/>
          </a:ln>
          <a:effectLst>
            <a:outerShdw blurRad="76200" dist="25400" dir="5400000" algn="bl" rotWithShape="0">
              <a:srgbClr val="000000">
                <a:alpha val="25000"/>
              </a:srgbClr>
            </a:outerShdw>
          </a:effectLst>
        </p:spPr>
        <p:txBody>
          <a:bodyPr/>
          <a:lstStyle/>
          <a:p>
            <a:endParaRPr lang="en-US"/>
          </a:p>
        </p:txBody>
      </p:sp>
      <p:sp>
        <p:nvSpPr>
          <p:cNvPr id="79" name="Text 40">
            <a:extLst>
              <a:ext uri="{FF2B5EF4-FFF2-40B4-BE49-F238E27FC236}">
                <a16:creationId xmlns:a16="http://schemas.microsoft.com/office/drawing/2014/main" id="{893BD61A-6319-24D3-7866-92CAC84822D7}"/>
              </a:ext>
            </a:extLst>
          </p:cNvPr>
          <p:cNvSpPr/>
          <p:nvPr/>
        </p:nvSpPr>
        <p:spPr>
          <a:xfrm>
            <a:off x="1060704" y="5715144"/>
            <a:ext cx="1828800" cy="383759"/>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solidFill>
                <a:srgbClr val="1B3A4B"/>
              </a:solidFill>
            </a:endParaRPr>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(Population)</a:t>
            </a:r>
            <a:endParaRPr lang="en-US" sz="1050" dirty="0">
              <a:solidFill>
                <a:srgbClr val="1B3A4B"/>
              </a:solidFill>
            </a:endParaRPr>
          </a:p>
        </p:txBody>
      </p:sp>
      <p:sp>
        <p:nvSpPr>
          <p:cNvPr id="81" name="Shape 41">
            <a:extLst>
              <a:ext uri="{FF2B5EF4-FFF2-40B4-BE49-F238E27FC236}">
                <a16:creationId xmlns:a16="http://schemas.microsoft.com/office/drawing/2014/main" id="{DB1CF458-9940-0976-3729-0C6AAB2D958C}"/>
              </a:ext>
            </a:extLst>
          </p:cNvPr>
          <p:cNvSpPr/>
          <p:nvPr/>
        </p:nvSpPr>
        <p:spPr>
          <a:xfrm>
            <a:off x="3209544" y="5577840"/>
            <a:ext cx="822960" cy="658368"/>
          </a:xfrm>
          <a:prstGeom prst="roundRect">
            <a:avLst>
              <a:gd name="adj" fmla="val 12500"/>
            </a:avLst>
          </a:prstGeom>
          <a:solidFill>
            <a:srgbClr val="EAF2F7"/>
          </a:solidFill>
          <a:ln w="15875">
            <a:solidFill>
              <a:srgbClr val="2C5F7C"/>
            </a:solidFill>
            <a:prstDash val="solid"/>
          </a:ln>
        </p:spPr>
        <p:txBody>
          <a:bodyPr/>
          <a:lstStyle/>
          <a:p>
            <a:endParaRPr lang="en-US"/>
          </a:p>
        </p:txBody>
      </p:sp>
      <p:sp>
        <p:nvSpPr>
          <p:cNvPr id="83" name="Text 42">
            <a:extLst>
              <a:ext uri="{FF2B5EF4-FFF2-40B4-BE49-F238E27FC236}">
                <a16:creationId xmlns:a16="http://schemas.microsoft.com/office/drawing/2014/main" id="{D0DF1B61-8DC7-0829-7EBB-230A7396CECF}"/>
              </a:ext>
            </a:extLst>
          </p:cNvPr>
          <p:cNvSpPr/>
          <p:nvPr/>
        </p:nvSpPr>
        <p:spPr>
          <a:xfrm>
            <a:off x="3209544" y="5577840"/>
            <a:ext cx="8229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150" b="1" dirty="0">
                <a:solidFill>
                  <a:srgbClr val="1B3A4B"/>
                </a:solidFill>
                <a:latin typeface="Calibri" pitchFamily="34" charset="0"/>
                <a:ea typeface="Calibri" pitchFamily="34" charset="-122"/>
                <a:cs typeface="Calibri" pitchFamily="34" charset="-120"/>
              </a:rPr>
              <a:t>P-Value</a:t>
            </a:r>
            <a:endParaRPr lang="en-US" sz="1150" dirty="0"/>
          </a:p>
        </p:txBody>
      </p:sp>
      <p:sp>
        <p:nvSpPr>
          <p:cNvPr id="85" name="Text 16">
            <a:extLst>
              <a:ext uri="{FF2B5EF4-FFF2-40B4-BE49-F238E27FC236}">
                <a16:creationId xmlns:a16="http://schemas.microsoft.com/office/drawing/2014/main" id="{EC6A7644-2465-7E92-1816-ED9596938C4A}"/>
              </a:ext>
            </a:extLst>
          </p:cNvPr>
          <p:cNvSpPr/>
          <p:nvPr/>
        </p:nvSpPr>
        <p:spPr>
          <a:xfrm>
            <a:off x="2072030" y="4988052"/>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87" name="Text 16">
            <a:extLst>
              <a:ext uri="{FF2B5EF4-FFF2-40B4-BE49-F238E27FC236}">
                <a16:creationId xmlns:a16="http://schemas.microsoft.com/office/drawing/2014/main" id="{28341C02-9CB9-4F43-586E-BB294F314A04}"/>
              </a:ext>
            </a:extLst>
          </p:cNvPr>
          <p:cNvSpPr/>
          <p:nvPr/>
        </p:nvSpPr>
        <p:spPr>
          <a:xfrm>
            <a:off x="3371418" y="722376"/>
            <a:ext cx="2011680" cy="502920"/>
          </a:xfrm>
          <a:prstGeom prst="rect">
            <a:avLst/>
          </a:prstGeom>
          <a:noFill/>
          <a:ln/>
        </p:spPr>
        <p:txBody>
          <a:bodyPr wrap="none" rtlCol="0" anchor="b"/>
          <a:lstStyle/>
          <a:p>
            <a:pPr marL="0" indent="0" algn="ctr">
              <a:buNone/>
            </a:pPr>
            <a:r>
              <a:rPr lang="en-US" sz="1600" i="1" dirty="0">
                <a:solidFill>
                  <a:srgbClr val="5B6B76"/>
                </a:solidFill>
                <a:latin typeface="Cambria Math" pitchFamily="34" charset="0"/>
                <a:ea typeface="Cambria Math" pitchFamily="34" charset="-122"/>
                <a:cs typeface="Cambria Math" pitchFamily="34" charset="-120"/>
              </a:rPr>
              <a:t>Z-score</a:t>
            </a:r>
          </a:p>
          <a:p>
            <a:pPr marL="0" indent="0" algn="ctr">
              <a:buNone/>
            </a:pPr>
            <a:r>
              <a:rPr lang="en-US" sz="1600" i="1" dirty="0">
                <a:solidFill>
                  <a:srgbClr val="5B6B76"/>
                </a:solidFill>
                <a:latin typeface="Cambria Math" pitchFamily="34" charset="0"/>
                <a:ea typeface="Cambria Math" pitchFamily="34" charset="-122"/>
                <a:cs typeface="Cambria Math" pitchFamily="34" charset="-120"/>
              </a:rPr>
              <a:t>Table</a:t>
            </a:r>
            <a:endParaRPr lang="en-US" sz="1600" dirty="0"/>
          </a:p>
        </p:txBody>
      </p:sp>
      <p:sp>
        <p:nvSpPr>
          <p:cNvPr id="93" name="Shape 55">
            <a:extLst>
              <a:ext uri="{FF2B5EF4-FFF2-40B4-BE49-F238E27FC236}">
                <a16:creationId xmlns:a16="http://schemas.microsoft.com/office/drawing/2014/main" id="{E39C1416-1C52-DECF-B2A3-1925AA2E6F62}"/>
              </a:ext>
            </a:extLst>
          </p:cNvPr>
          <p:cNvSpPr/>
          <p:nvPr/>
        </p:nvSpPr>
        <p:spPr>
          <a:xfrm>
            <a:off x="9058046" y="3465576"/>
            <a:ext cx="1508760" cy="658368"/>
          </a:xfrm>
          <a:prstGeom prst="roundRect">
            <a:avLst>
              <a:gd name="adj" fmla="val 12500"/>
            </a:avLst>
          </a:prstGeom>
          <a:solidFill>
            <a:srgbClr val="EAF2F7"/>
          </a:solidFill>
          <a:ln w="28575">
            <a:solidFill>
              <a:srgbClr val="2C5F7C"/>
            </a:solidFill>
            <a:prstDash val="solid"/>
          </a:ln>
          <a:effectLst>
            <a:outerShdw blurRad="76200" dist="25400" dir="5400000" algn="ctr" rotWithShape="0">
              <a:srgbClr val="000000">
                <a:alpha val="25000"/>
              </a:srgbClr>
            </a:outerShdw>
          </a:effectLst>
        </p:spPr>
        <p:txBody>
          <a:bodyPr/>
          <a:lstStyle/>
          <a:p>
            <a:endParaRPr lang="en-US"/>
          </a:p>
        </p:txBody>
      </p:sp>
      <p:sp>
        <p:nvSpPr>
          <p:cNvPr id="95" name="Text 56">
            <a:extLst>
              <a:ext uri="{FF2B5EF4-FFF2-40B4-BE49-F238E27FC236}">
                <a16:creationId xmlns:a16="http://schemas.microsoft.com/office/drawing/2014/main" id="{17E8AE31-0D1F-B1EB-4EF5-D453384102AB}"/>
              </a:ext>
            </a:extLst>
          </p:cNvPr>
          <p:cNvSpPr/>
          <p:nvPr/>
        </p:nvSpPr>
        <p:spPr>
          <a:xfrm>
            <a:off x="9050731" y="3456432"/>
            <a:ext cx="1508760" cy="658368"/>
          </a:xfrm>
          <a:prstGeom prst="rect">
            <a:avLst/>
          </a:prstGeom>
          <a:noFill/>
          <a:ln/>
        </p:spPr>
        <p:txBody>
          <a:bodyPr wrap="square" lIns="25400" tIns="25400" rIns="25400" bIns="25400" rtlCol="0" anchor="ctr">
            <a:spAutoFit/>
          </a:bodyPr>
          <a:lstStyle/>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Single Participant</a:t>
            </a:r>
            <a:endParaRPr lang="en-US" sz="1050" dirty="0"/>
          </a:p>
          <a:p>
            <a:pPr marL="0" indent="0" algn="ctr">
              <a:lnSpc>
                <a:spcPct val="105000"/>
              </a:lnSpc>
              <a:buNone/>
            </a:pPr>
            <a:r>
              <a:rPr lang="en-US" sz="1050" b="1" dirty="0">
                <a:solidFill>
                  <a:srgbClr val="1B3A4B"/>
                </a:solidFill>
                <a:latin typeface="Calibri" pitchFamily="34" charset="0"/>
                <a:ea typeface="Calibri" pitchFamily="34" charset="-122"/>
                <a:cs typeface="Calibri" pitchFamily="34" charset="-120"/>
              </a:rPr>
              <a:t>Z-Score (Sample)</a:t>
            </a:r>
            <a:endParaRPr lang="en-US" sz="1050" dirty="0"/>
          </a:p>
        </p:txBody>
      </p:sp>
      <mc:AlternateContent xmlns:mc="http://schemas.openxmlformats.org/markup-compatibility/2006" xmlns:a14="http://schemas.microsoft.com/office/drawing/2010/main">
        <mc:Choice Requires="a14">
          <p:sp>
            <p:nvSpPr>
              <p:cNvPr id="97" name="Text 6">
                <a:extLst>
                  <a:ext uri="{FF2B5EF4-FFF2-40B4-BE49-F238E27FC236}">
                    <a16:creationId xmlns:a16="http://schemas.microsoft.com/office/drawing/2014/main" id="{1D77EE87-7AFF-E0F1-6E06-E060D25DF9ED}"/>
                  </a:ext>
                </a:extLst>
              </p:cNvPr>
              <p:cNvSpPr/>
              <p:nvPr/>
            </p:nvSpPr>
            <p:spPr>
              <a:xfrm>
                <a:off x="1645463" y="2871216"/>
                <a:ext cx="2011680" cy="502920"/>
              </a:xfrm>
              <a:prstGeom prst="rect">
                <a:avLst/>
              </a:prstGeom>
              <a:noFill/>
              <a:ln/>
            </p:spPr>
            <p:txBody>
              <a:bodyPr wrap="none" rtlCol="0" anchor="b"/>
              <a:lstStyle/>
              <a:p>
                <a:pPr marL="0" indent="0" algn="ctr">
                  <a:buNone/>
                </a:pPr>
                <a14:m>
                  <m:oMathPara xmlns:m="http://schemas.openxmlformats.org/officeDocument/2006/math">
                    <m:oMathParaPr>
                      <m:jc m:val="centerGroup"/>
                    </m:oMathParaPr>
                    <m:oMath xmlns:m="http://schemas.openxmlformats.org/officeDocument/2006/math">
                      <m:sSup>
                        <m:sSupPr>
                          <m:ctrlPr>
                            <a:rPr lang="en-US" sz="1600" i="1">
                              <a:latin typeface="Cambria Math" panose="02040503050406030204" pitchFamily="18" charset="0"/>
                            </a:rPr>
                          </m:ctrlPr>
                        </m:sSupPr>
                        <m:e>
                          <m:r>
                            <a:rPr lang="en-US" sz="1600" b="0" i="1" smtClean="0">
                              <a:latin typeface="Cambria Math" panose="02040503050406030204" pitchFamily="18" charset="0"/>
                            </a:rPr>
                            <m:t>𝑑𝑒𝑣𝑖𝑎𝑡𝑖𝑜𝑛𝑠</m:t>
                          </m:r>
                        </m:e>
                        <m:sup>
                          <m:r>
                            <a:rPr lang="en-US" sz="1600" i="1">
                              <a:latin typeface="Cambria Math" panose="02040503050406030204" pitchFamily="18" charset="0"/>
                            </a:rPr>
                            <m:t>2</m:t>
                          </m:r>
                        </m:sup>
                      </m:sSup>
                    </m:oMath>
                  </m:oMathPara>
                </a14:m>
                <a:endParaRPr lang="en-US" dirty="0"/>
              </a:p>
            </p:txBody>
          </p:sp>
        </mc:Choice>
        <mc:Fallback xmlns="">
          <p:sp>
            <p:nvSpPr>
              <p:cNvPr id="97" name="Text 6">
                <a:extLst>
                  <a:ext uri="{FF2B5EF4-FFF2-40B4-BE49-F238E27FC236}">
                    <a16:creationId xmlns:a16="http://schemas.microsoft.com/office/drawing/2014/main" id="{1D77EE87-7AFF-E0F1-6E06-E060D25DF9ED}"/>
                  </a:ext>
                </a:extLst>
              </p:cNvPr>
              <p:cNvSpPr>
                <a:spLocks noRot="1" noChangeAspect="1" noMove="1" noResize="1" noEditPoints="1" noAdjustHandles="1" noChangeArrowheads="1" noChangeShapeType="1" noTextEdit="1"/>
              </p:cNvSpPr>
              <p:nvPr/>
            </p:nvSpPr>
            <p:spPr>
              <a:xfrm>
                <a:off x="1645463" y="2871216"/>
                <a:ext cx="2011680" cy="502920"/>
              </a:xfrm>
              <a:prstGeom prst="rect">
                <a:avLst/>
              </a:prstGeom>
              <a:blipFill>
                <a:blip r:embed="rId11"/>
                <a:stretch>
                  <a:fillRect/>
                </a:stretch>
              </a:blipFill>
              <a:ln/>
            </p:spPr>
            <p:txBody>
              <a:bodyPr/>
              <a:lstStyle/>
              <a:p>
                <a:r>
                  <a:rPr lang="en-US">
                    <a:noFill/>
                  </a:rPr>
                  <a:t> </a:t>
                </a:r>
              </a:p>
            </p:txBody>
          </p:sp>
        </mc:Fallback>
      </mc:AlternateContent>
    </p:spTree>
    <p:extLst>
      <p:ext uri="{BB962C8B-B14F-4D97-AF65-F5344CB8AC3E}">
        <p14:creationId xmlns:p14="http://schemas.microsoft.com/office/powerpoint/2010/main" val="223301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27" grpId="0" animBg="1"/>
      <p:bldP spid="28" grpId="0" animBg="1"/>
      <p:bldP spid="29" grpId="0" animBg="1"/>
      <p:bldP spid="30" grpId="0" animBg="1"/>
      <p:bldP spid="31" grpId="0" animBg="1"/>
      <p:bldP spid="53" grpId="0" animBg="1"/>
      <p:bldP spid="54" grpId="0" animBg="1"/>
      <p:bldP spid="55" grpId="0" animBg="1"/>
      <p:bldP spid="56" grpId="0" animBg="1"/>
      <p:bldP spid="57" grpId="0" animBg="1"/>
      <p:bldP spid="58" grpId="0" animBg="1"/>
      <p:bldP spid="8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8B29F-050B-6820-D40F-D3C96B2351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8FB145-4C29-7881-0068-E85B6B3EBB4E}"/>
              </a:ext>
            </a:extLst>
          </p:cNvPr>
          <p:cNvSpPr>
            <a:spLocks noGrp="1"/>
          </p:cNvSpPr>
          <p:nvPr>
            <p:ph type="title"/>
          </p:nvPr>
        </p:nvSpPr>
        <p:spPr/>
        <p:txBody>
          <a:bodyPr/>
          <a:lstStyle/>
          <a:p>
            <a:r>
              <a:rPr lang="en-US" dirty="0"/>
              <a:t>Step 4: Compute Statistics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A950176-5D0A-13D9-FBD6-CB43CEA9C102}"/>
                  </a:ext>
                </a:extLst>
              </p:cNvPr>
              <p:cNvSpPr>
                <a:spLocks noGrp="1"/>
              </p:cNvSpPr>
              <p:nvPr>
                <p:ph idx="1"/>
              </p:nvPr>
            </p:nvSpPr>
            <p:spPr>
              <a:xfrm>
                <a:off x="838200" y="1825624"/>
                <a:ext cx="10515600" cy="5147605"/>
              </a:xfrm>
            </p:spPr>
            <p:txBody>
              <a:bodyPr>
                <a:normAutofit lnSpcReduction="10000"/>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14:m>
                  <m:oMath xmlns:m="http://schemas.openxmlformats.org/officeDocument/2006/math">
                    <m:r>
                      <a:rPr lang="en-US" b="0" i="1" smtClean="0">
                        <a:solidFill>
                          <a:schemeClr val="tx1"/>
                        </a:solidFill>
                        <a:latin typeface="Cambria Math" panose="02040503050406030204" pitchFamily="18" charset="0"/>
                      </a:rPr>
                      <m:t>𝑧</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𝑜𝑏𝑠</m:t>
                    </m:r>
                    <m:r>
                      <a:rPr lang="en-US" b="0" i="1" smtClean="0">
                        <a:solidFill>
                          <a:schemeClr val="tx1"/>
                        </a:solidFill>
                        <a:latin typeface="Cambria Math" panose="02040503050406030204" pitchFamily="18" charset="0"/>
                      </a:rPr>
                      <m:t>)=</m:t>
                    </m:r>
                    <m:f>
                      <m:fPr>
                        <m:ctrlPr>
                          <a:rPr lang="en-US" i="1">
                            <a:solidFill>
                              <a:schemeClr val="tx1"/>
                            </a:solidFill>
                            <a:latin typeface="Cambria Math" panose="02040503050406030204" pitchFamily="18" charset="0"/>
                          </a:rPr>
                        </m:ctrlPr>
                      </m:fPr>
                      <m:num>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r>
                          <a:rPr lang="en-CA" i="1">
                            <a:solidFill>
                              <a:schemeClr val="tx1"/>
                            </a:solidFill>
                            <a:latin typeface="Cambria Math" panose="02040503050406030204" pitchFamily="18" charset="0"/>
                          </a:rPr>
                          <m:t> − </m:t>
                        </m:r>
                        <m:sSub>
                          <m:sSubPr>
                            <m:ctrlPr>
                              <a:rPr lang="en-CA" i="1">
                                <a:solidFill>
                                  <a:schemeClr val="tx1"/>
                                </a:solidFill>
                                <a:latin typeface="Cambria Math" panose="02040503050406030204" pitchFamily="18" charset="0"/>
                              </a:rPr>
                            </m:ctrlPr>
                          </m:sSubPr>
                          <m:e>
                            <m:r>
                              <m:rPr>
                                <m:nor/>
                              </m:rPr>
                              <a:rPr lang="el-GR" i="0" dirty="0">
                                <a:solidFill>
                                  <a:schemeClr val="tx1"/>
                                </a:solidFill>
                              </a:rPr>
                              <m:t>μ</m:t>
                            </m:r>
                          </m:e>
                          <m:sub>
                            <m:r>
                              <a:rPr lang="en-US" i="1">
                                <a:solidFill>
                                  <a:schemeClr val="tx1"/>
                                </a:solidFill>
                                <a:latin typeface="Cambria Math" panose="02040503050406030204" pitchFamily="18" charset="0"/>
                              </a:rPr>
                              <m:t>𝑥</m:t>
                            </m:r>
                            <m:r>
                              <a:rPr lang="en-US" i="1">
                                <a:solidFill>
                                  <a:schemeClr val="tx1"/>
                                </a:solidFill>
                                <a:latin typeface="Cambria Math" panose="02040503050406030204" pitchFamily="18" charset="0"/>
                              </a:rPr>
                              <m:t>̅</m:t>
                            </m:r>
                          </m:sub>
                        </m:sSub>
                      </m:num>
                      <m:den>
                        <m:sSub>
                          <m:sSubPr>
                            <m:ctrlPr>
                              <a:rPr lang="en-US" i="1" dirty="0">
                                <a:solidFill>
                                  <a:schemeClr val="tx1"/>
                                </a:solidFill>
                                <a:latin typeface="Cambria Math" panose="02040503050406030204" pitchFamily="18" charset="0"/>
                              </a:rPr>
                            </m:ctrlPr>
                          </m:sSubPr>
                          <m:e>
                            <m:r>
                              <m:rPr>
                                <m:nor/>
                              </m:rPr>
                              <a:rPr lang="en-US" i="0" dirty="0">
                                <a:solidFill>
                                  <a:schemeClr val="tx1"/>
                                </a:solidFill>
                              </a:rPr>
                              <m:t>σ</m:t>
                            </m:r>
                          </m:e>
                          <m:sub>
                            <m:r>
                              <a:rPr lang="en-US" i="1" dirty="0">
                                <a:solidFill>
                                  <a:schemeClr val="tx1"/>
                                </a:solidFill>
                                <a:latin typeface="Cambria Math" panose="02040503050406030204" pitchFamily="18" charset="0"/>
                              </a:rPr>
                              <m:t>𝑥</m:t>
                            </m:r>
                            <m:r>
                              <a:rPr lang="en-US" i="1" dirty="0">
                                <a:solidFill>
                                  <a:schemeClr val="tx1"/>
                                </a:solidFill>
                                <a:latin typeface="Cambria Math" panose="02040503050406030204" pitchFamily="18" charset="0"/>
                              </a:rPr>
                              <m:t>̅</m:t>
                            </m:r>
                          </m:sub>
                        </m:sSub>
                      </m:den>
                    </m:f>
                  </m:oMath>
                </a14:m>
                <a:r>
                  <a:rPr lang="en-CA" sz="2400" dirty="0">
                    <a:solidFill>
                      <a:schemeClr val="tx1"/>
                    </a:solidFill>
                    <a:latin typeface="Calibri" panose="020F0502020204030204" pitchFamily="34" charset="0"/>
                    <a:cs typeface="Calibri" panose="020F0502020204030204" pitchFamily="34" charset="0"/>
                  </a:rPr>
                  <a:t>, where </a:t>
                </a:r>
                <a14:m>
                  <m:oMath xmlns:m="http://schemas.openxmlformats.org/officeDocument/2006/math">
                    <m:sSub>
                      <m:sSubPr>
                        <m:ctrlPr>
                          <a:rPr lang="en-US" sz="2400" i="1" dirty="0">
                            <a:solidFill>
                              <a:schemeClr val="tx1"/>
                            </a:solidFill>
                            <a:latin typeface="Cambria Math" panose="02040503050406030204" pitchFamily="18" charset="0"/>
                          </a:rPr>
                        </m:ctrlPr>
                      </m:sSubPr>
                      <m:e>
                        <m:r>
                          <m:rPr>
                            <m:nor/>
                          </m:rPr>
                          <a:rPr lang="en-US" sz="2400" i="0" dirty="0">
                            <a:solidFill>
                              <a:schemeClr val="tx1"/>
                            </a:solidFill>
                          </a:rPr>
                          <m:t>σ</m:t>
                        </m:r>
                      </m:e>
                      <m:sub>
                        <m:r>
                          <a:rPr lang="en-US" sz="2400" i="1" dirty="0">
                            <a:solidFill>
                              <a:schemeClr val="tx1"/>
                            </a:solidFill>
                            <a:latin typeface="Cambria Math" panose="02040503050406030204" pitchFamily="18" charset="0"/>
                          </a:rPr>
                          <m:t>𝑥</m:t>
                        </m:r>
                        <m:r>
                          <a:rPr lang="en-US" sz="2400" i="1" dirty="0">
                            <a:solidFill>
                              <a:schemeClr val="tx1"/>
                            </a:solidFill>
                            <a:latin typeface="Cambria Math" panose="02040503050406030204" pitchFamily="18" charset="0"/>
                          </a:rPr>
                          <m:t>̅̅</m:t>
                        </m:r>
                      </m:sub>
                    </m:sSub>
                    <m:r>
                      <a:rPr lang="en-US" sz="2400" i="1" dirty="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m:rPr>
                            <m:nor/>
                          </m:rPr>
                          <a:rPr lang="en-US" sz="2400" i="0" dirty="0">
                            <a:solidFill>
                              <a:schemeClr val="tx1"/>
                            </a:solidFill>
                          </a:rPr>
                          <m:t>σ</m:t>
                        </m:r>
                      </m:num>
                      <m:den>
                        <m:r>
                          <a:rPr lang="en-US" sz="2400" i="1">
                            <a:solidFill>
                              <a:schemeClr val="tx1"/>
                            </a:solidFill>
                            <a:latin typeface="Cambria Math" panose="02040503050406030204" pitchFamily="18" charset="0"/>
                            <a:ea typeface="Cambria Math" panose="02040503050406030204" pitchFamily="18" charset="0"/>
                          </a:rPr>
                          <m:t>√</m:t>
                        </m:r>
                        <m:r>
                          <a:rPr lang="en-CA" sz="2400" i="1">
                            <a:solidFill>
                              <a:schemeClr val="tx1"/>
                            </a:solidFill>
                            <a:latin typeface="Cambria Math" panose="02040503050406030204" pitchFamily="18" charset="0"/>
                            <a:ea typeface="Cambria Math" panose="02040503050406030204" pitchFamily="18" charset="0"/>
                          </a:rPr>
                          <m:t>𝑛</m:t>
                        </m:r>
                      </m:den>
                    </m:f>
                  </m:oMath>
                </a14:m>
                <a:endParaRPr lang="en-CA" sz="2400" baseline="-25000" dirty="0">
                  <a:solidFill>
                    <a:schemeClr val="tx1"/>
                  </a:solidFill>
                  <a:latin typeface="Calibri" panose="020F0502020204030204" pitchFamily="34" charset="0"/>
                  <a:cs typeface="Calibri" panose="020F0502020204030204" pitchFamily="34" charset="0"/>
                </a:endParaRPr>
              </a:p>
              <a:p>
                <a:pPr marL="0" indent="0">
                  <a:buNone/>
                </a:pPr>
                <a:endParaRPr lang="en-US" sz="1800" dirty="0">
                  <a:solidFill>
                    <a:schemeClr val="tx1"/>
                  </a:solidFill>
                  <a:latin typeface="Calibri" panose="020F0502020204030204" pitchFamily="34" charset="0"/>
                  <a:cs typeface="Calibri" panose="020F0502020204030204" pitchFamily="34" charset="0"/>
                </a:endParaRPr>
              </a:p>
              <a:p>
                <a:pPr marL="0" indent="0">
                  <a:buNone/>
                </a:pPr>
                <a:r>
                  <a:rPr lang="en-US" sz="2400" dirty="0">
                    <a:solidFill>
                      <a:schemeClr val="tx1"/>
                    </a:solidFill>
                    <a:cs typeface="Calibri" panose="020F0502020204030204" pitchFamily="34" charset="0"/>
                  </a:rPr>
                  <a:t>	</a:t>
                </a:r>
                <a:r>
                  <a:rPr lang="en-US" sz="2400" dirty="0">
                    <a:solidFill>
                      <a:schemeClr val="tx1"/>
                    </a:solidFill>
                  </a:rPr>
                  <a:t> </a:t>
                </a:r>
                <a14:m>
                  <m:oMath xmlns:m="http://schemas.openxmlformats.org/officeDocument/2006/math">
                    <m:sSub>
                      <m:sSubPr>
                        <m:ctrlPr>
                          <a:rPr lang="en-US" sz="2400" i="1" dirty="0">
                            <a:solidFill>
                              <a:schemeClr val="tx1"/>
                            </a:solidFill>
                            <a:latin typeface="Cambria Math" panose="02040503050406030204" pitchFamily="18" charset="0"/>
                          </a:rPr>
                        </m:ctrlPr>
                      </m:sSubPr>
                      <m:e>
                        <m:r>
                          <m:rPr>
                            <m:nor/>
                          </m:rPr>
                          <a:rPr lang="en-US" sz="2400" i="0" dirty="0">
                            <a:solidFill>
                              <a:schemeClr val="tx1"/>
                            </a:solidFill>
                          </a:rPr>
                          <m:t>σ</m:t>
                        </m:r>
                      </m:e>
                      <m:sub>
                        <m:r>
                          <a:rPr lang="en-US" sz="2400" i="1" dirty="0">
                            <a:solidFill>
                              <a:schemeClr val="tx1"/>
                            </a:solidFill>
                            <a:latin typeface="Cambria Math" panose="02040503050406030204" pitchFamily="18" charset="0"/>
                          </a:rPr>
                          <m:t>𝑥</m:t>
                        </m:r>
                        <m:r>
                          <a:rPr lang="en-US" sz="2400" i="1" dirty="0">
                            <a:solidFill>
                              <a:schemeClr val="tx1"/>
                            </a:solidFill>
                            <a:latin typeface="Cambria Math" panose="02040503050406030204" pitchFamily="18" charset="0"/>
                          </a:rPr>
                          <m:t>̅̅</m:t>
                        </m:r>
                      </m:sub>
                    </m:sSub>
                    <m:r>
                      <a:rPr lang="en-US" sz="2400" i="1" dirty="0">
                        <a:solidFill>
                          <a:schemeClr val="tx1"/>
                        </a:solidFill>
                        <a:latin typeface="Cambria Math" panose="02040503050406030204" pitchFamily="18" charset="0"/>
                      </a:rPr>
                      <m:t>=</m:t>
                    </m:r>
                    <m:f>
                      <m:fPr>
                        <m:ctrlPr>
                          <a:rPr lang="en-US" sz="2400" i="1">
                            <a:solidFill>
                              <a:schemeClr val="tx1"/>
                            </a:solidFill>
                            <a:latin typeface="Cambria Math" panose="02040503050406030204" pitchFamily="18" charset="0"/>
                          </a:rPr>
                        </m:ctrlPr>
                      </m:fPr>
                      <m:num>
                        <m:r>
                          <m:rPr>
                            <m:nor/>
                          </m:rPr>
                          <a:rPr lang="en-US" sz="2400" i="0" dirty="0">
                            <a:solidFill>
                              <a:schemeClr val="tx1"/>
                            </a:solidFill>
                          </a:rPr>
                          <m:t>σ</m:t>
                        </m:r>
                      </m:num>
                      <m:den>
                        <m:r>
                          <a:rPr lang="en-US" sz="2400" i="1">
                            <a:solidFill>
                              <a:schemeClr val="tx1"/>
                            </a:solidFill>
                            <a:latin typeface="Cambria Math" panose="02040503050406030204" pitchFamily="18" charset="0"/>
                            <a:ea typeface="Cambria Math" panose="02040503050406030204" pitchFamily="18" charset="0"/>
                          </a:rPr>
                          <m:t>√</m:t>
                        </m:r>
                        <m:r>
                          <a:rPr lang="en-CA" sz="2400" i="1">
                            <a:solidFill>
                              <a:schemeClr val="tx1"/>
                            </a:solidFill>
                            <a:latin typeface="Cambria Math" panose="02040503050406030204" pitchFamily="18" charset="0"/>
                            <a:ea typeface="Cambria Math" panose="02040503050406030204" pitchFamily="18" charset="0"/>
                          </a:rPr>
                          <m:t>𝑛</m:t>
                        </m:r>
                      </m:den>
                    </m:f>
                  </m:oMath>
                </a14:m>
                <a:r>
                  <a:rPr lang="en-US" sz="2400" dirty="0">
                    <a:solidFill>
                      <a:schemeClr val="tx1"/>
                    </a:solidFill>
                    <a:latin typeface="Calibri" panose="020F0502020204030204" pitchFamily="34" charset="0"/>
                    <a:cs typeface="Calibri" panose="020F0502020204030204" pitchFamily="34" charset="0"/>
                  </a:rPr>
                  <a:t> = </a:t>
                </a:r>
                <a14:m>
                  <m:oMath xmlns:m="http://schemas.openxmlformats.org/officeDocument/2006/math">
                    <m:f>
                      <m:fPr>
                        <m:ctrlPr>
                          <a:rPr lang="en-US" sz="2400" i="1">
                            <a:solidFill>
                              <a:schemeClr val="tx1"/>
                            </a:solidFill>
                            <a:latin typeface="Cambria Math" panose="02040503050406030204" pitchFamily="18" charset="0"/>
                          </a:rPr>
                        </m:ctrlPr>
                      </m:fPr>
                      <m:num>
                        <m:r>
                          <m:rPr>
                            <m:nor/>
                          </m:rPr>
                          <a:rPr lang="en-CA" sz="2400" b="0" i="0" dirty="0" smtClean="0">
                            <a:solidFill>
                              <a:schemeClr val="tx1"/>
                            </a:solidFill>
                            <a:latin typeface="Calibri" panose="020F0502020204030204" pitchFamily="34" charset="0"/>
                            <a:cs typeface="Calibri" panose="020F0502020204030204" pitchFamily="34" charset="0"/>
                          </a:rPr>
                          <m:t>12</m:t>
                        </m:r>
                        <m:r>
                          <m:rPr>
                            <m:nor/>
                          </m:rPr>
                          <a:rPr lang="en-US" sz="2400" i="0">
                            <a:latin typeface="Cambria Math" panose="02040503050406030204" pitchFamily="18" charset="0"/>
                            <a:ea typeface="Cambria Math" panose="02040503050406030204" pitchFamily="18" charset="0"/>
                            <a:cs typeface="Calibri" panose="020F0502020204030204" pitchFamily="34" charset="0"/>
                          </a:rPr>
                          <m:t>.0</m:t>
                        </m:r>
                        <m:r>
                          <m:rPr>
                            <m:nor/>
                          </m:rPr>
                          <a:rPr lang="en-US" sz="2400" b="0" i="0" smtClean="0">
                            <a:latin typeface="Cambria Math" panose="02040503050406030204" pitchFamily="18" charset="0"/>
                            <a:ea typeface="Cambria Math" panose="02040503050406030204" pitchFamily="18" charset="0"/>
                            <a:cs typeface="Calibri" panose="020F0502020204030204" pitchFamily="34" charset="0"/>
                          </a:rPr>
                          <m:t>00</m:t>
                        </m:r>
                        <m:r>
                          <m:rPr>
                            <m:nor/>
                          </m:rPr>
                          <a:rPr lang="en-US" sz="2400" i="0">
                            <a:latin typeface="Cambria Math" panose="02040503050406030204" pitchFamily="18" charset="0"/>
                            <a:ea typeface="Cambria Math" panose="02040503050406030204" pitchFamily="18" charset="0"/>
                            <a:cs typeface="Calibri" panose="020F0502020204030204" pitchFamily="34" charset="0"/>
                          </a:rPr>
                          <m:t>0</m:t>
                        </m:r>
                      </m:num>
                      <m:den>
                        <m:r>
                          <a:rPr lang="en-US" sz="2400" i="1">
                            <a:solidFill>
                              <a:schemeClr val="tx1"/>
                            </a:solidFill>
                            <a:latin typeface="Cambria Math" panose="02040503050406030204" pitchFamily="18" charset="0"/>
                            <a:ea typeface="Cambria Math" panose="02040503050406030204" pitchFamily="18" charset="0"/>
                          </a:rPr>
                          <m:t>√</m:t>
                        </m:r>
                        <m:r>
                          <a:rPr lang="en-CA" sz="2400" b="0" i="1" smtClean="0">
                            <a:solidFill>
                              <a:schemeClr val="tx1"/>
                            </a:solidFill>
                            <a:latin typeface="Cambria Math" panose="02040503050406030204" pitchFamily="18" charset="0"/>
                            <a:ea typeface="Cambria Math" panose="02040503050406030204" pitchFamily="18" charset="0"/>
                          </a:rPr>
                          <m:t>25</m:t>
                        </m:r>
                      </m:den>
                    </m:f>
                  </m:oMath>
                </a14:m>
                <a:r>
                  <a:rPr lang="en-US" sz="2400" dirty="0">
                    <a:solidFill>
                      <a:schemeClr val="tx1"/>
                    </a:solidFill>
                    <a:latin typeface="Calibri" panose="020F0502020204030204" pitchFamily="34" charset="0"/>
                    <a:cs typeface="Calibri" panose="020F0502020204030204" pitchFamily="34" charset="0"/>
                  </a:rPr>
                  <a:t> = 2.4000</a:t>
                </a:r>
              </a:p>
              <a:p>
                <a:pPr marL="0" indent="0">
                  <a:buNone/>
                </a:pPr>
                <a:endParaRPr lang="en-US" sz="1800" dirty="0">
                  <a:solidFill>
                    <a:schemeClr val="tx1"/>
                  </a:solidFill>
                  <a:latin typeface="Calibri" panose="020F0502020204030204" pitchFamily="34" charset="0"/>
                  <a:cs typeface="Calibri" panose="020F0502020204030204" pitchFamily="34" charset="0"/>
                </a:endParaRPr>
              </a:p>
              <a:p>
                <a:pPr marL="0" indent="0">
                  <a:buNone/>
                </a:pPr>
                <a:r>
                  <a:rPr lang="en-US" sz="3600" dirty="0">
                    <a:solidFill>
                      <a:schemeClr val="tx1"/>
                    </a:solidFill>
                    <a:latin typeface="Calibri" panose="020F0502020204030204" pitchFamily="34" charset="0"/>
                    <a:cs typeface="Calibri" panose="020F0502020204030204" pitchFamily="34" charset="0"/>
                  </a:rPr>
                  <a:t>	</a:t>
                </a:r>
                <a:r>
                  <a:rPr lang="en-US" sz="3600" dirty="0">
                    <a:solidFill>
                      <a:schemeClr val="tx1"/>
                    </a:solidFill>
                  </a:rPr>
                  <a:t> </a:t>
                </a:r>
                <a14:m>
                  <m:oMath xmlns:m="http://schemas.openxmlformats.org/officeDocument/2006/math">
                    <m:r>
                      <a:rPr lang="en-US" sz="3200" b="0" i="1" smtClean="0">
                        <a:solidFill>
                          <a:schemeClr val="tx1"/>
                        </a:solidFill>
                        <a:latin typeface="Cambria Math" panose="02040503050406030204" pitchFamily="18" charset="0"/>
                      </a:rPr>
                      <m:t>𝑧</m:t>
                    </m:r>
                    <m:r>
                      <a:rPr lang="en-US" sz="3200" b="0" i="1" smtClean="0">
                        <a:solidFill>
                          <a:schemeClr val="tx1"/>
                        </a:solidFill>
                        <a:latin typeface="Cambria Math" panose="02040503050406030204" pitchFamily="18" charset="0"/>
                      </a:rPr>
                      <m:t>(</m:t>
                    </m:r>
                    <m:r>
                      <a:rPr lang="en-US" sz="3200" b="0" i="1" smtClean="0">
                        <a:solidFill>
                          <a:schemeClr val="tx1"/>
                        </a:solidFill>
                        <a:latin typeface="Cambria Math" panose="02040503050406030204" pitchFamily="18" charset="0"/>
                      </a:rPr>
                      <m:t>𝑜𝑏𝑠</m:t>
                    </m:r>
                    <m:r>
                      <a:rPr lang="en-US" sz="3200" b="0" i="1" smtClean="0">
                        <a:solidFill>
                          <a:schemeClr val="tx1"/>
                        </a:solidFill>
                        <a:latin typeface="Cambria Math" panose="02040503050406030204" pitchFamily="18" charset="0"/>
                      </a:rPr>
                      <m:t>)=</m:t>
                    </m:r>
                    <m:f>
                      <m:fPr>
                        <m:ctrlPr>
                          <a:rPr lang="en-US" sz="3200" i="1">
                            <a:solidFill>
                              <a:schemeClr val="tx1"/>
                            </a:solidFill>
                            <a:latin typeface="Cambria Math" panose="02040503050406030204" pitchFamily="18" charset="0"/>
                          </a:rPr>
                        </m:ctrlPr>
                      </m:fPr>
                      <m:num>
                        <m:r>
                          <a:rPr lang="en-US" sz="3200" i="1">
                            <a:solidFill>
                              <a:schemeClr val="tx1"/>
                            </a:solidFill>
                            <a:latin typeface="Cambria Math" panose="02040503050406030204" pitchFamily="18" charset="0"/>
                          </a:rPr>
                          <m:t>𝑥</m:t>
                        </m:r>
                        <m:r>
                          <a:rPr lang="en-US" sz="3200" i="1">
                            <a:solidFill>
                              <a:schemeClr val="tx1"/>
                            </a:solidFill>
                            <a:latin typeface="Cambria Math" panose="02040503050406030204" pitchFamily="18" charset="0"/>
                          </a:rPr>
                          <m:t>̅</m:t>
                        </m:r>
                        <m:r>
                          <a:rPr lang="en-CA" sz="3200" i="1">
                            <a:solidFill>
                              <a:schemeClr val="tx1"/>
                            </a:solidFill>
                            <a:latin typeface="Cambria Math" panose="02040503050406030204" pitchFamily="18" charset="0"/>
                          </a:rPr>
                          <m:t> − </m:t>
                        </m:r>
                        <m:sSub>
                          <m:sSubPr>
                            <m:ctrlPr>
                              <a:rPr lang="en-CA" sz="3200" i="1">
                                <a:solidFill>
                                  <a:schemeClr val="tx1"/>
                                </a:solidFill>
                                <a:latin typeface="Cambria Math" panose="02040503050406030204" pitchFamily="18" charset="0"/>
                              </a:rPr>
                            </m:ctrlPr>
                          </m:sSubPr>
                          <m:e>
                            <m:r>
                              <m:rPr>
                                <m:nor/>
                              </m:rPr>
                              <a:rPr lang="el-GR" sz="3200" i="0" dirty="0">
                                <a:solidFill>
                                  <a:schemeClr val="tx1"/>
                                </a:solidFill>
                              </a:rPr>
                              <m:t>μ</m:t>
                            </m:r>
                          </m:e>
                          <m:sub>
                            <m:r>
                              <a:rPr lang="en-US" sz="3200" i="1">
                                <a:solidFill>
                                  <a:schemeClr val="tx1"/>
                                </a:solidFill>
                                <a:latin typeface="Cambria Math" panose="02040503050406030204" pitchFamily="18" charset="0"/>
                              </a:rPr>
                              <m:t>𝑥</m:t>
                            </m:r>
                            <m:r>
                              <a:rPr lang="en-US" sz="3200" i="1">
                                <a:solidFill>
                                  <a:schemeClr val="tx1"/>
                                </a:solidFill>
                                <a:latin typeface="Cambria Math" panose="02040503050406030204" pitchFamily="18" charset="0"/>
                              </a:rPr>
                              <m:t>̅</m:t>
                            </m:r>
                          </m:sub>
                        </m:sSub>
                      </m:num>
                      <m:den>
                        <m:sSub>
                          <m:sSubPr>
                            <m:ctrlPr>
                              <a:rPr lang="en-US" sz="3200" i="1" dirty="0">
                                <a:solidFill>
                                  <a:schemeClr val="tx1"/>
                                </a:solidFill>
                                <a:latin typeface="Cambria Math" panose="02040503050406030204" pitchFamily="18" charset="0"/>
                              </a:rPr>
                            </m:ctrlPr>
                          </m:sSubPr>
                          <m:e>
                            <m:r>
                              <m:rPr>
                                <m:nor/>
                              </m:rPr>
                              <a:rPr lang="en-US" sz="3200" i="0" dirty="0">
                                <a:solidFill>
                                  <a:schemeClr val="tx1"/>
                                </a:solidFill>
                              </a:rPr>
                              <m:t>σ</m:t>
                            </m:r>
                          </m:e>
                          <m:sub>
                            <m:r>
                              <a:rPr lang="en-US" sz="3200" i="1" dirty="0">
                                <a:solidFill>
                                  <a:schemeClr val="tx1"/>
                                </a:solidFill>
                                <a:latin typeface="Cambria Math" panose="02040503050406030204" pitchFamily="18" charset="0"/>
                              </a:rPr>
                              <m:t>𝑥</m:t>
                            </m:r>
                            <m:r>
                              <a:rPr lang="en-US" sz="3200" i="1" dirty="0">
                                <a:solidFill>
                                  <a:schemeClr val="tx1"/>
                                </a:solidFill>
                                <a:latin typeface="Cambria Math" panose="02040503050406030204" pitchFamily="18" charset="0"/>
                              </a:rPr>
                              <m:t>̅</m:t>
                            </m:r>
                          </m:sub>
                        </m:sSub>
                      </m:den>
                    </m:f>
                    <m:r>
                      <a:rPr lang="en-US" sz="3200" i="1" dirty="0" smtClean="0">
                        <a:solidFill>
                          <a:schemeClr val="tx1"/>
                        </a:solidFill>
                        <a:latin typeface="Cambria Math" panose="02040503050406030204" pitchFamily="18" charset="0"/>
                      </a:rPr>
                      <m:t> </m:t>
                    </m:r>
                  </m:oMath>
                </a14:m>
                <a:r>
                  <a:rPr lang="en-US" dirty="0">
                    <a:solidFill>
                      <a:schemeClr val="tx1"/>
                    </a:solidFill>
                    <a:latin typeface="Calibri" panose="020F0502020204030204" pitchFamily="34" charset="0"/>
                    <a:cs typeface="Calibri" panose="020F050202020403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cs typeface="Calibri" panose="020F0502020204030204" pitchFamily="34" charset="0"/>
                          </a:rPr>
                        </m:ctrlPr>
                      </m:fPr>
                      <m:num>
                        <m:r>
                          <m:rPr>
                            <m:nor/>
                          </m:rPr>
                          <a:rPr lang="en-CA" sz="2000" i="0">
                            <a:latin typeface="Cambria Math" panose="02040503050406030204" pitchFamily="18" charset="0"/>
                            <a:ea typeface="Cambria Math" panose="02040503050406030204" pitchFamily="18" charset="0"/>
                            <a:cs typeface="Calibri" panose="020F0502020204030204" pitchFamily="34" charset="0"/>
                          </a:rPr>
                          <m:t>80</m:t>
                        </m:r>
                        <m:r>
                          <m:rPr>
                            <m:nor/>
                          </m:rPr>
                          <a:rPr lang="en-US" sz="2000" i="0">
                            <a:latin typeface="Cambria Math" panose="02040503050406030204" pitchFamily="18" charset="0"/>
                            <a:ea typeface="Cambria Math" panose="02040503050406030204" pitchFamily="18" charset="0"/>
                            <a:cs typeface="Calibri" panose="020F0502020204030204" pitchFamily="34" charset="0"/>
                          </a:rPr>
                          <m:t>.0</m:t>
                        </m:r>
                        <m:r>
                          <m:rPr>
                            <m:nor/>
                          </m:rPr>
                          <a:rPr lang="en-US" sz="2000" b="0" i="0" smtClean="0">
                            <a:latin typeface="Cambria Math" panose="02040503050406030204" pitchFamily="18" charset="0"/>
                            <a:ea typeface="Cambria Math" panose="02040503050406030204" pitchFamily="18" charset="0"/>
                            <a:cs typeface="Calibri" panose="020F0502020204030204" pitchFamily="34" charset="0"/>
                          </a:rPr>
                          <m:t>00</m:t>
                        </m:r>
                        <m:r>
                          <m:rPr>
                            <m:nor/>
                          </m:rPr>
                          <a:rPr lang="en-US" sz="2000" i="0">
                            <a:latin typeface="Cambria Math" panose="02040503050406030204" pitchFamily="18" charset="0"/>
                            <a:ea typeface="Cambria Math" panose="02040503050406030204" pitchFamily="18" charset="0"/>
                            <a:cs typeface="Calibri" panose="020F0502020204030204" pitchFamily="34" charset="0"/>
                          </a:rPr>
                          <m:t>0</m:t>
                        </m:r>
                        <m:r>
                          <a:rPr lang="en-CA" sz="2000">
                            <a:latin typeface="Cambria Math" panose="02040503050406030204" pitchFamily="18" charset="0"/>
                            <a:ea typeface="Cambria Math" panose="02040503050406030204" pitchFamily="18" charset="0"/>
                            <a:cs typeface="Calibri" panose="020F0502020204030204" pitchFamily="34" charset="0"/>
                          </a:rPr>
                          <m:t> − </m:t>
                        </m:r>
                        <m:r>
                          <m:rPr>
                            <m:nor/>
                          </m:rPr>
                          <a:rPr lang="en-CA" sz="2000" i="0">
                            <a:latin typeface="Cambria Math" panose="02040503050406030204" pitchFamily="18" charset="0"/>
                            <a:ea typeface="Cambria Math" panose="02040503050406030204" pitchFamily="18" charset="0"/>
                            <a:cs typeface="Calibri" panose="020F0502020204030204" pitchFamily="34" charset="0"/>
                          </a:rPr>
                          <m:t>75</m:t>
                        </m:r>
                        <m:r>
                          <m:rPr>
                            <m:nor/>
                          </m:rPr>
                          <a:rPr lang="en-US" sz="2000" i="0">
                            <a:latin typeface="Cambria Math" panose="02040503050406030204" pitchFamily="18" charset="0"/>
                            <a:ea typeface="Cambria Math" panose="02040503050406030204" pitchFamily="18" charset="0"/>
                            <a:cs typeface="Calibri" panose="020F0502020204030204" pitchFamily="34" charset="0"/>
                          </a:rPr>
                          <m:t>.0</m:t>
                        </m:r>
                        <m:r>
                          <m:rPr>
                            <m:nor/>
                          </m:rPr>
                          <a:rPr lang="en-US" sz="2000" b="0" i="0" smtClean="0">
                            <a:latin typeface="Cambria Math" panose="02040503050406030204" pitchFamily="18" charset="0"/>
                            <a:ea typeface="Cambria Math" panose="02040503050406030204" pitchFamily="18" charset="0"/>
                            <a:cs typeface="Calibri" panose="020F0502020204030204" pitchFamily="34" charset="0"/>
                          </a:rPr>
                          <m:t>00</m:t>
                        </m:r>
                        <m:r>
                          <m:rPr>
                            <m:nor/>
                          </m:rPr>
                          <a:rPr lang="en-US" sz="2000" i="0">
                            <a:latin typeface="Cambria Math" panose="02040503050406030204" pitchFamily="18" charset="0"/>
                            <a:ea typeface="Cambria Math" panose="02040503050406030204" pitchFamily="18" charset="0"/>
                            <a:cs typeface="Calibri" panose="020F0502020204030204" pitchFamily="34" charset="0"/>
                          </a:rPr>
                          <m:t>0</m:t>
                        </m:r>
                      </m:num>
                      <m:den>
                        <m:r>
                          <m:rPr>
                            <m:nor/>
                          </m:rPr>
                          <a:rPr lang="en-CA" sz="2000" i="0" dirty="0">
                            <a:latin typeface="Cambria Math" panose="02040503050406030204" pitchFamily="18" charset="0"/>
                            <a:ea typeface="Cambria Math" panose="02040503050406030204" pitchFamily="18" charset="0"/>
                            <a:cs typeface="Calibri" panose="020F0502020204030204" pitchFamily="34" charset="0"/>
                          </a:rPr>
                          <m:t>2</m:t>
                        </m:r>
                        <m:r>
                          <m:rPr>
                            <m:nor/>
                          </m:rPr>
                          <a:rPr lang="en-US" sz="2000" b="0" i="0" dirty="0" smtClean="0">
                            <a:latin typeface="Cambria Math" panose="02040503050406030204" pitchFamily="18" charset="0"/>
                            <a:ea typeface="Cambria Math" panose="02040503050406030204" pitchFamily="18" charset="0"/>
                            <a:cs typeface="Calibri" panose="020F0502020204030204" pitchFamily="34" charset="0"/>
                          </a:rPr>
                          <m:t>.4000</m:t>
                        </m:r>
                      </m:den>
                    </m:f>
                  </m:oMath>
                </a14:m>
                <a:r>
                  <a:rPr lang="en-US" sz="2000" dirty="0">
                    <a:solidFill>
                      <a:schemeClr val="tx1"/>
                    </a:solidFill>
                    <a:latin typeface="Cambria Math" panose="02040503050406030204" pitchFamily="18" charset="0"/>
                    <a:ea typeface="Cambria Math" panose="02040503050406030204" pitchFamily="18"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 2.0833</a:t>
                </a:r>
                <a:endParaRPr lang="en-US" sz="3200" dirty="0">
                  <a:solidFill>
                    <a:schemeClr val="tx1"/>
                  </a:solidFill>
                  <a:latin typeface="Calibri" panose="020F0502020204030204" pitchFamily="34" charset="0"/>
                  <a:cs typeface="Calibri" panose="020F0502020204030204" pitchFamily="34" charset="0"/>
                </a:endParaRPr>
              </a:p>
              <a:p>
                <a:pPr marL="0" indent="0">
                  <a:buNone/>
                </a:pPr>
                <a:r>
                  <a:rPr lang="en-US" i="1" dirty="0">
                    <a:solidFill>
                      <a:schemeClr val="tx1"/>
                    </a:solidFill>
                    <a:latin typeface="Calibri" panose="020F0502020204030204" pitchFamily="34" charset="0"/>
                    <a:cs typeface="Calibri" panose="020F0502020204030204" pitchFamily="34" charset="0"/>
                  </a:rPr>
                  <a:t>	 p(</a:t>
                </a:r>
                <a:r>
                  <a:rPr lang="en-US" i="1" dirty="0" err="1">
                    <a:solidFill>
                      <a:schemeClr val="tx1"/>
                    </a:solidFill>
                    <a:latin typeface="Calibri" panose="020F0502020204030204" pitchFamily="34" charset="0"/>
                    <a:cs typeface="Calibri" panose="020F0502020204030204" pitchFamily="34" charset="0"/>
                  </a:rPr>
                  <a:t>obs</a:t>
                </a:r>
                <a:r>
                  <a:rPr lang="en-US" i="1" dirty="0">
                    <a:solidFill>
                      <a:schemeClr val="tx1"/>
                    </a:solidFill>
                    <a:latin typeface="Calibri" panose="020F0502020204030204" pitchFamily="34" charset="0"/>
                    <a:cs typeface="Calibri" panose="020F0502020204030204" pitchFamily="34" charset="0"/>
                  </a:rPr>
                  <a:t>)</a:t>
                </a:r>
                <a:r>
                  <a:rPr lang="en-US" dirty="0">
                    <a:solidFill>
                      <a:schemeClr val="tx1"/>
                    </a:solidFill>
                    <a:latin typeface="Calibri" panose="020F0502020204030204" pitchFamily="34" charset="0"/>
                    <a:cs typeface="Calibri" panose="020F0502020204030204" pitchFamily="34" charset="0"/>
                  </a:rPr>
                  <a:t> = 1 - .9812 = .0188</a:t>
                </a:r>
              </a:p>
              <a:p>
                <a:pPr marL="0" indent="0">
                  <a:buNone/>
                </a:pPr>
                <a:r>
                  <a:rPr lang="en-US">
                    <a:solidFill>
                      <a:schemeClr val="tx1"/>
                    </a:solidFill>
                    <a:latin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0188 x 2</a:t>
                </a:r>
                <a:r>
                  <a:rPr lang="en-US" baseline="-25000" dirty="0">
                    <a:solidFill>
                      <a:schemeClr val="tx1"/>
                    </a:solidFill>
                    <a:latin typeface="Calibri" panose="020F0502020204030204" pitchFamily="34" charset="0"/>
                    <a:cs typeface="Calibri" panose="020F0502020204030204" pitchFamily="34" charset="0"/>
                  </a:rPr>
                  <a:t>(b/c two tailed)</a:t>
                </a:r>
                <a:r>
                  <a:rPr lang="en-US" sz="1800" dirty="0">
                    <a:solidFill>
                      <a:schemeClr val="tx1"/>
                    </a:solidFill>
                    <a:latin typeface="Calibri" panose="020F0502020204030204" pitchFamily="34" charset="0"/>
                    <a:cs typeface="Calibri" panose="020F0502020204030204" pitchFamily="34" charset="0"/>
                  </a:rPr>
                  <a:t> </a:t>
                </a:r>
                <a:r>
                  <a:rPr lang="en-US" dirty="0">
                    <a:solidFill>
                      <a:schemeClr val="tx1"/>
                    </a:solidFill>
                    <a:latin typeface="Calibri" panose="020F0502020204030204" pitchFamily="34" charset="0"/>
                    <a:cs typeface="Calibri" panose="020F0502020204030204" pitchFamily="34" charset="0"/>
                  </a:rPr>
                  <a:t>= .0376</a:t>
                </a:r>
              </a:p>
              <a:p>
                <a:pPr marL="0" indent="0">
                  <a:buNone/>
                </a:pPr>
                <a:endParaRPr lang="en-US" sz="2000" dirty="0"/>
              </a:p>
            </p:txBody>
          </p:sp>
        </mc:Choice>
        <mc:Fallback>
          <p:sp>
            <p:nvSpPr>
              <p:cNvPr id="3" name="Content Placeholder 2">
                <a:extLst>
                  <a:ext uri="{FF2B5EF4-FFF2-40B4-BE49-F238E27FC236}">
                    <a16:creationId xmlns:a16="http://schemas.microsoft.com/office/drawing/2014/main" id="{0A950176-5D0A-13D9-FBD6-CB43CEA9C102}"/>
                  </a:ext>
                </a:extLst>
              </p:cNvPr>
              <p:cNvSpPr>
                <a:spLocks noGrp="1" noRot="1" noChangeAspect="1" noMove="1" noResize="1" noEditPoints="1" noAdjustHandles="1" noChangeArrowheads="1" noChangeShapeType="1" noTextEdit="1"/>
              </p:cNvSpPr>
              <p:nvPr>
                <p:ph idx="1"/>
              </p:nvPr>
            </p:nvSpPr>
            <p:spPr>
              <a:xfrm>
                <a:off x="838200" y="1825624"/>
                <a:ext cx="10515600" cy="5147605"/>
              </a:xfrm>
              <a:blipFill>
                <a:blip r:embed="rId2"/>
                <a:stretch>
                  <a:fillRect l="-522" t="-1538" r="-116"/>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C64702BD-87B5-3F0C-711A-4D95E80D3CC7}"/>
              </a:ext>
            </a:extLst>
          </p:cNvPr>
          <p:cNvGrpSpPr/>
          <p:nvPr/>
        </p:nvGrpSpPr>
        <p:grpSpPr>
          <a:xfrm>
            <a:off x="5535826" y="2118897"/>
            <a:ext cx="6369908" cy="2824848"/>
            <a:chOff x="4939792" y="4188228"/>
            <a:chExt cx="7106502" cy="3151504"/>
          </a:xfrm>
        </p:grpSpPr>
        <p:pic>
          <p:nvPicPr>
            <p:cNvPr id="7" name="Picture 6">
              <a:extLst>
                <a:ext uri="{FF2B5EF4-FFF2-40B4-BE49-F238E27FC236}">
                  <a16:creationId xmlns:a16="http://schemas.microsoft.com/office/drawing/2014/main" id="{BE22753E-33C6-A98C-F6CD-D794B95D8553}"/>
                </a:ext>
              </a:extLst>
            </p:cNvPr>
            <p:cNvPicPr>
              <a:picLocks noChangeAspect="1"/>
            </p:cNvPicPr>
            <p:nvPr/>
          </p:nvPicPr>
          <p:blipFill>
            <a:blip r:embed="rId3"/>
            <a:srcRect t="39660" r="10330" b="34372"/>
            <a:stretch>
              <a:fillRect/>
            </a:stretch>
          </p:blipFill>
          <p:spPr>
            <a:xfrm>
              <a:off x="4939792" y="5387080"/>
              <a:ext cx="7106502" cy="1952652"/>
            </a:xfrm>
            <a:prstGeom prst="rect">
              <a:avLst/>
            </a:prstGeom>
          </p:spPr>
        </p:pic>
        <p:pic>
          <p:nvPicPr>
            <p:cNvPr id="8" name="Picture 7">
              <a:extLst>
                <a:ext uri="{FF2B5EF4-FFF2-40B4-BE49-F238E27FC236}">
                  <a16:creationId xmlns:a16="http://schemas.microsoft.com/office/drawing/2014/main" id="{2895F7E8-CC5E-E42A-D48D-25EB8D39D9EE}"/>
                </a:ext>
              </a:extLst>
            </p:cNvPr>
            <p:cNvPicPr>
              <a:picLocks noChangeAspect="1"/>
            </p:cNvPicPr>
            <p:nvPr/>
          </p:nvPicPr>
          <p:blipFill>
            <a:blip r:embed="rId3"/>
            <a:srcRect t="-12374" r="10328" b="96246"/>
            <a:stretch>
              <a:fillRect/>
            </a:stretch>
          </p:blipFill>
          <p:spPr>
            <a:xfrm>
              <a:off x="4939795" y="4188228"/>
              <a:ext cx="7106499" cy="1212706"/>
            </a:xfrm>
            <a:prstGeom prst="rect">
              <a:avLst/>
            </a:prstGeom>
          </p:spPr>
        </p:pic>
      </p:grpSp>
      <p:sp>
        <p:nvSpPr>
          <p:cNvPr id="6" name="Rounded Rectangle 5">
            <a:extLst>
              <a:ext uri="{FF2B5EF4-FFF2-40B4-BE49-F238E27FC236}">
                <a16:creationId xmlns:a16="http://schemas.microsoft.com/office/drawing/2014/main" id="{7DC67344-FA03-B698-6213-3DC9C52B4A23}"/>
              </a:ext>
            </a:extLst>
          </p:cNvPr>
          <p:cNvSpPr/>
          <p:nvPr/>
        </p:nvSpPr>
        <p:spPr>
          <a:xfrm>
            <a:off x="11372863" y="4235173"/>
            <a:ext cx="532871" cy="164253"/>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8921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4281A-8B6D-AF77-69BF-563A0E2865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72926D-D728-E225-85A8-ECFA216F566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CA" sz="1200" dirty="0"/>
              <a:t>x̅ </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75.00, </a:t>
            </a:r>
            <a:r>
              <a:rPr lang="en-US" sz="1200" dirty="0" err="1"/>
              <a:t>σ</a:t>
            </a:r>
            <a:r>
              <a:rPr lang="en-US" sz="1200" dirty="0"/>
              <a:t> = 12.00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828C531C-F768-F0E3-F27B-118B7E469E18}"/>
                  </a:ext>
                </a:extLst>
              </p:cNvPr>
              <p:cNvSpPr txBox="1">
                <a:spLocks/>
              </p:cNvSpPr>
              <p:nvPr/>
            </p:nvSpPr>
            <p:spPr>
              <a:xfrm>
                <a:off x="6096000" y="633816"/>
                <a:ext cx="5257800" cy="6271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sz="2000" i="1" smtClean="0">
                            <a:latin typeface="Cambria Math" panose="02040503050406030204" pitchFamily="18" charset="0"/>
                          </a:rPr>
                        </m:ctrlPr>
                      </m:fPr>
                      <m:num>
                        <m:r>
                          <a:rPr lang="en-CA" sz="2000" b="0" i="1" smtClean="0">
                            <a:latin typeface="Cambria Math" panose="02040503050406030204" pitchFamily="18" charset="0"/>
                          </a:rPr>
                          <m:t>80</m:t>
                        </m:r>
                        <m:r>
                          <a:rPr lang="en-US" sz="2000" b="0" i="1" smtClean="0">
                            <a:latin typeface="Cambria Math" panose="02040503050406030204" pitchFamily="18" charset="0"/>
                          </a:rPr>
                          <m:t>.</m:t>
                        </m:r>
                        <m:r>
                          <a:rPr lang="en-US" sz="2000" b="0" i="1" smtClean="0">
                            <a:latin typeface="Cambria Math" panose="02040503050406030204" pitchFamily="18" charset="0"/>
                          </a:rPr>
                          <m:t>0000</m:t>
                        </m:r>
                        <m:r>
                          <a:rPr lang="en-CA" sz="2000" b="0" i="1" smtClean="0">
                            <a:latin typeface="Cambria Math" panose="02040503050406030204" pitchFamily="18" charset="0"/>
                          </a:rPr>
                          <m:t> −</m:t>
                        </m:r>
                        <m:r>
                          <a:rPr lang="en-CA" sz="2000" b="0" i="1" smtClean="0">
                            <a:latin typeface="Cambria Math" panose="02040503050406030204" pitchFamily="18" charset="0"/>
                          </a:rPr>
                          <m:t>75</m:t>
                        </m:r>
                        <m:r>
                          <a:rPr lang="en-US" sz="2000" b="0" i="1" smtClean="0">
                            <a:latin typeface="Cambria Math" panose="02040503050406030204" pitchFamily="18" charset="0"/>
                          </a:rPr>
                          <m:t>.</m:t>
                        </m:r>
                        <m:r>
                          <a:rPr lang="en-US" sz="2000" b="0" i="1" smtClean="0">
                            <a:latin typeface="Cambria Math" panose="02040503050406030204" pitchFamily="18" charset="0"/>
                          </a:rPr>
                          <m:t>0000</m:t>
                        </m:r>
                      </m:num>
                      <m:den>
                        <m:r>
                          <m:rPr>
                            <m:nor/>
                          </m:rPr>
                          <a:rPr lang="en-CA" sz="2000" b="0" i="0" smtClean="0">
                            <a:latin typeface="Cambria Math" panose="02040503050406030204" pitchFamily="18" charset="0"/>
                          </a:rPr>
                          <m:t>2.40</m:t>
                        </m:r>
                        <m:r>
                          <m:rPr>
                            <m:nor/>
                          </m:rPr>
                          <a:rPr lang="en-US" sz="2000" b="0" i="0" smtClean="0">
                            <a:latin typeface="Cambria Math" panose="02040503050406030204" pitchFamily="18" charset="0"/>
                          </a:rPr>
                          <m:t>00</m:t>
                        </m:r>
                      </m:den>
                    </m:f>
                  </m:oMath>
                </a14:m>
                <a:r>
                  <a:rPr lang="en-US" dirty="0"/>
                  <a:t>  = 2.0833</a:t>
                </a:r>
              </a:p>
              <a:p>
                <a:r>
                  <a:rPr lang="en-US" i="1" dirty="0"/>
                  <a:t>p</a:t>
                </a:r>
                <a:r>
                  <a:rPr lang="en-US" dirty="0"/>
                  <a:t>(</a:t>
                </a:r>
                <a:r>
                  <a:rPr lang="en-US" i="1" dirty="0" err="1"/>
                  <a:t>obs</a:t>
                </a:r>
                <a:r>
                  <a:rPr lang="en-US" dirty="0"/>
                  <a:t>) = .0188 x 2 = .0376</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828C531C-F768-F0E3-F27B-118B7E469E18}"/>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1652"/>
                </a:stretch>
              </a:blipFill>
            </p:spPr>
            <p:txBody>
              <a:bodyPr/>
              <a:lstStyle/>
              <a:p>
                <a:r>
                  <a:rPr lang="en-US">
                    <a:noFill/>
                  </a:rPr>
                  <a:t> </a:t>
                </a:r>
              </a:p>
            </p:txBody>
          </p:sp>
        </mc:Fallback>
      </mc:AlternateContent>
    </p:spTree>
    <p:extLst>
      <p:ext uri="{BB962C8B-B14F-4D97-AF65-F5344CB8AC3E}">
        <p14:creationId xmlns:p14="http://schemas.microsoft.com/office/powerpoint/2010/main" val="34785587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5: Make Statistical Decision</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03237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4000" i="1" dirty="0">
                <a:latin typeface="Calibri" panose="020F0502020204030204" pitchFamily="34" charset="0"/>
                <a:cs typeface="Calibri" panose="020F0502020204030204" pitchFamily="34" charset="0"/>
              </a:rPr>
              <a:t>z</a:t>
            </a:r>
            <a:r>
              <a:rPr lang="en-CA" sz="4000" dirty="0">
                <a:solidFill>
                  <a:schemeClr val="tx1"/>
                </a:solidFill>
                <a:latin typeface="Calibri" panose="020F0502020204030204" pitchFamily="34" charset="0"/>
                <a:cs typeface="Calibri" panose="020F0502020204030204" pitchFamily="34" charset="0"/>
              </a:rPr>
              <a:t>(</a:t>
            </a:r>
            <a:r>
              <a:rPr lang="en-CA" sz="4000" dirty="0" err="1">
                <a:solidFill>
                  <a:schemeClr val="tx1"/>
                </a:solidFill>
                <a:latin typeface="Calibri" panose="020F0502020204030204" pitchFamily="34" charset="0"/>
                <a:cs typeface="Calibri" panose="020F0502020204030204" pitchFamily="34" charset="0"/>
              </a:rPr>
              <a:t>obs</a:t>
            </a:r>
            <a:r>
              <a:rPr lang="en-CA" sz="4000" dirty="0">
                <a:solidFill>
                  <a:schemeClr val="tx1"/>
                </a:solidFill>
                <a:latin typeface="Calibri" panose="020F0502020204030204" pitchFamily="34" charset="0"/>
                <a:cs typeface="Calibri" panose="020F0502020204030204" pitchFamily="34" charset="0"/>
              </a:rPr>
              <a:t>)</a:t>
            </a:r>
            <a:r>
              <a:rPr lang="en-US" sz="4000" dirty="0">
                <a:solidFill>
                  <a:schemeClr val="tx1"/>
                </a:solidFill>
                <a:latin typeface="Calibri" panose="020F0502020204030204" pitchFamily="34" charset="0"/>
                <a:cs typeface="Calibri" panose="020F0502020204030204" pitchFamily="34" charset="0"/>
              </a:rPr>
              <a:t> </a:t>
            </a:r>
            <a:r>
              <a:rPr lang="en-US" sz="3600" dirty="0">
                <a:latin typeface="Calibri" panose="020F0502020204030204" pitchFamily="34" charset="0"/>
                <a:cs typeface="Calibri" panose="020F0502020204030204" pitchFamily="34" charset="0"/>
              </a:rPr>
              <a:t>= 2.0833		</a:t>
            </a:r>
            <a:r>
              <a:rPr lang="en-US" sz="3600" i="1" dirty="0">
                <a:latin typeface="Calibri" panose="020F0502020204030204" pitchFamily="34" charset="0"/>
                <a:cs typeface="Calibri" panose="020F0502020204030204" pitchFamily="34" charset="0"/>
              </a:rPr>
              <a:t>z</a:t>
            </a:r>
            <a:r>
              <a:rPr lang="en-US" sz="3600" dirty="0">
                <a:latin typeface="Calibri" panose="020F0502020204030204" pitchFamily="34" charset="0"/>
                <a:cs typeface="Calibri" panose="020F0502020204030204" pitchFamily="34" charset="0"/>
              </a:rPr>
              <a:t>(crit) = </a:t>
            </a:r>
            <a:r>
              <a:rPr lang="en-CA" sz="3600" dirty="0"/>
              <a:t>±</a:t>
            </a:r>
            <a:r>
              <a:rPr lang="en-US" sz="3600" dirty="0"/>
              <a:t>1.96</a:t>
            </a:r>
            <a:endParaRPr lang="en-US" sz="3600" dirty="0">
              <a:latin typeface="Calibri" panose="020F0502020204030204" pitchFamily="34" charset="0"/>
              <a:cs typeface="Calibri" panose="020F0502020204030204" pitchFamily="34" charset="0"/>
            </a:endParaRPr>
          </a:p>
          <a:p>
            <a:pPr marL="0" indent="0">
              <a:buNone/>
            </a:pPr>
            <a:endParaRPr lang="en-US" sz="3600" dirty="0">
              <a:latin typeface="Calibri" panose="020F0502020204030204" pitchFamily="34" charset="0"/>
              <a:cs typeface="Calibri" panose="020F0502020204030204" pitchFamily="34" charset="0"/>
            </a:endParaRPr>
          </a:p>
          <a:p>
            <a:pPr marL="0" indent="0">
              <a:buNone/>
            </a:pPr>
            <a:r>
              <a:rPr lang="en-US" sz="3600" i="1" dirty="0">
                <a:latin typeface="Calibri" panose="020F0502020204030204" pitchFamily="34" charset="0"/>
                <a:cs typeface="Calibri" panose="020F0502020204030204" pitchFamily="34" charset="0"/>
              </a:rPr>
              <a:t>p</a:t>
            </a:r>
            <a:r>
              <a:rPr lang="en-US" sz="3600" dirty="0">
                <a:latin typeface="Calibri" panose="020F0502020204030204" pitchFamily="34" charset="0"/>
                <a:cs typeface="Calibri" panose="020F0502020204030204" pitchFamily="34" charset="0"/>
              </a:rPr>
              <a:t>(</a:t>
            </a:r>
            <a:r>
              <a:rPr lang="en-US" sz="3600" dirty="0" err="1">
                <a:latin typeface="Calibri" panose="020F0502020204030204" pitchFamily="34" charset="0"/>
                <a:cs typeface="Calibri" panose="020F0502020204030204" pitchFamily="34" charset="0"/>
              </a:rPr>
              <a:t>obs</a:t>
            </a:r>
            <a:r>
              <a:rPr lang="en-US" sz="3600" dirty="0">
                <a:latin typeface="Calibri" panose="020F0502020204030204" pitchFamily="34" charset="0"/>
                <a:cs typeface="Calibri" panose="020F0502020204030204" pitchFamily="34" charset="0"/>
              </a:rPr>
              <a:t>) = .0376			</a:t>
            </a:r>
            <a:r>
              <a:rPr lang="en-CA" sz="3600" i="1" dirty="0"/>
              <a:t> p(</a:t>
            </a:r>
            <a:r>
              <a:rPr lang="el-GR" sz="3600" i="1" dirty="0"/>
              <a:t>α</a:t>
            </a:r>
            <a:r>
              <a:rPr lang="en-CA" sz="3600" i="1" dirty="0"/>
              <a:t>) </a:t>
            </a:r>
            <a:r>
              <a:rPr lang="en-CA" sz="3600" dirty="0"/>
              <a:t>= .05</a:t>
            </a:r>
            <a:endParaRPr lang="en-US" sz="3600" dirty="0">
              <a:latin typeface="Calibri" panose="020F0502020204030204" pitchFamily="34" charset="0"/>
              <a:cs typeface="Calibri" panose="020F0502020204030204" pitchFamily="34" charset="0"/>
            </a:endParaRPr>
          </a:p>
          <a:p>
            <a:pPr marL="0" indent="0">
              <a:buNone/>
            </a:pPr>
            <a:endParaRPr lang="en-US" sz="3600" dirty="0">
              <a:latin typeface="Calibri" panose="020F0502020204030204" pitchFamily="34" charset="0"/>
              <a:cs typeface="Calibri" panose="020F0502020204030204" pitchFamily="34" charset="0"/>
            </a:endParaRPr>
          </a:p>
          <a:p>
            <a:pPr marL="0" indent="0">
              <a:buNone/>
            </a:pPr>
            <a:endParaRPr lang="en-US" sz="2000" dirty="0"/>
          </a:p>
        </p:txBody>
      </p:sp>
    </p:spTree>
    <p:extLst>
      <p:ext uri="{BB962C8B-B14F-4D97-AF65-F5344CB8AC3E}">
        <p14:creationId xmlns:p14="http://schemas.microsoft.com/office/powerpoint/2010/main" val="218255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5: Make Statistical Decision</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10515600" cy="503237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endParaRPr lang="en-US" sz="2000" dirty="0">
              <a:latin typeface="Calibri" panose="020F0502020204030204" pitchFamily="34" charset="0"/>
              <a:cs typeface="Calibri" panose="020F0502020204030204" pitchFamily="34" charset="0"/>
            </a:endParaRPr>
          </a:p>
          <a:p>
            <a:pPr marL="0" indent="0">
              <a:buNone/>
            </a:pPr>
            <a:r>
              <a:rPr lang="en-US" sz="4000" i="1" dirty="0">
                <a:latin typeface="Calibri" panose="020F0502020204030204" pitchFamily="34" charset="0"/>
                <a:cs typeface="Calibri" panose="020F0502020204030204" pitchFamily="34" charset="0"/>
              </a:rPr>
              <a:t>z</a:t>
            </a:r>
            <a:r>
              <a:rPr lang="en-CA" sz="4000" dirty="0">
                <a:solidFill>
                  <a:schemeClr val="tx1"/>
                </a:solidFill>
                <a:latin typeface="Calibri" panose="020F0502020204030204" pitchFamily="34" charset="0"/>
                <a:cs typeface="Calibri" panose="020F0502020204030204" pitchFamily="34" charset="0"/>
              </a:rPr>
              <a:t>(</a:t>
            </a:r>
            <a:r>
              <a:rPr lang="en-CA" sz="4000" dirty="0" err="1">
                <a:solidFill>
                  <a:schemeClr val="tx1"/>
                </a:solidFill>
                <a:latin typeface="Calibri" panose="020F0502020204030204" pitchFamily="34" charset="0"/>
                <a:cs typeface="Calibri" panose="020F0502020204030204" pitchFamily="34" charset="0"/>
              </a:rPr>
              <a:t>obs</a:t>
            </a:r>
            <a:r>
              <a:rPr lang="en-CA" sz="4000" dirty="0">
                <a:solidFill>
                  <a:schemeClr val="tx1"/>
                </a:solidFill>
                <a:latin typeface="Calibri" panose="020F0502020204030204" pitchFamily="34" charset="0"/>
                <a:cs typeface="Calibri" panose="020F0502020204030204" pitchFamily="34" charset="0"/>
              </a:rPr>
              <a:t>)</a:t>
            </a:r>
            <a:r>
              <a:rPr lang="en-US" sz="4000" dirty="0">
                <a:solidFill>
                  <a:schemeClr val="tx1"/>
                </a:solidFill>
                <a:latin typeface="Calibri" panose="020F0502020204030204" pitchFamily="34" charset="0"/>
                <a:cs typeface="Calibri" panose="020F0502020204030204" pitchFamily="34" charset="0"/>
              </a:rPr>
              <a:t> </a:t>
            </a:r>
            <a:r>
              <a:rPr lang="en-US" sz="3600" dirty="0">
                <a:latin typeface="Calibri" panose="020F0502020204030204" pitchFamily="34" charset="0"/>
                <a:cs typeface="Calibri" panose="020F0502020204030204" pitchFamily="34" charset="0"/>
              </a:rPr>
              <a:t>= 2.0833	&gt; 	</a:t>
            </a:r>
            <a:r>
              <a:rPr lang="en-US" sz="3600" i="1" dirty="0">
                <a:latin typeface="Calibri" panose="020F0502020204030204" pitchFamily="34" charset="0"/>
                <a:cs typeface="Calibri" panose="020F0502020204030204" pitchFamily="34" charset="0"/>
              </a:rPr>
              <a:t>z</a:t>
            </a:r>
            <a:r>
              <a:rPr lang="en-US" sz="3600" dirty="0">
                <a:latin typeface="Calibri" panose="020F0502020204030204" pitchFamily="34" charset="0"/>
                <a:cs typeface="Calibri" panose="020F0502020204030204" pitchFamily="34" charset="0"/>
              </a:rPr>
              <a:t>(crit) = </a:t>
            </a:r>
            <a:r>
              <a:rPr lang="en-CA" sz="3600" dirty="0"/>
              <a:t>±</a:t>
            </a:r>
            <a:r>
              <a:rPr lang="en-US" sz="3600" dirty="0"/>
              <a:t>1.96</a:t>
            </a:r>
            <a:endParaRPr lang="en-US" sz="3600" dirty="0">
              <a:latin typeface="Calibri" panose="020F0502020204030204" pitchFamily="34" charset="0"/>
              <a:cs typeface="Calibri" panose="020F0502020204030204" pitchFamily="34" charset="0"/>
            </a:endParaRPr>
          </a:p>
          <a:p>
            <a:pPr marL="0" indent="0">
              <a:buNone/>
            </a:pPr>
            <a:endParaRPr lang="en-US" sz="3600" dirty="0">
              <a:latin typeface="Calibri" panose="020F0502020204030204" pitchFamily="34" charset="0"/>
              <a:cs typeface="Calibri" panose="020F0502020204030204" pitchFamily="34" charset="0"/>
            </a:endParaRPr>
          </a:p>
          <a:p>
            <a:pPr marL="0" indent="0">
              <a:buNone/>
            </a:pPr>
            <a:r>
              <a:rPr lang="en-US" sz="3600" i="1" dirty="0">
                <a:latin typeface="Calibri" panose="020F0502020204030204" pitchFamily="34" charset="0"/>
                <a:cs typeface="Calibri" panose="020F0502020204030204" pitchFamily="34" charset="0"/>
              </a:rPr>
              <a:t>p</a:t>
            </a:r>
            <a:r>
              <a:rPr lang="en-US" sz="3600" dirty="0">
                <a:latin typeface="Calibri" panose="020F0502020204030204" pitchFamily="34" charset="0"/>
                <a:cs typeface="Calibri" panose="020F0502020204030204" pitchFamily="34" charset="0"/>
              </a:rPr>
              <a:t>(</a:t>
            </a:r>
            <a:r>
              <a:rPr lang="en-US" sz="3600" dirty="0" err="1">
                <a:latin typeface="Calibri" panose="020F0502020204030204" pitchFamily="34" charset="0"/>
                <a:cs typeface="Calibri" panose="020F0502020204030204" pitchFamily="34" charset="0"/>
              </a:rPr>
              <a:t>obs</a:t>
            </a:r>
            <a:r>
              <a:rPr lang="en-US" sz="3600" dirty="0">
                <a:latin typeface="Calibri" panose="020F0502020204030204" pitchFamily="34" charset="0"/>
                <a:cs typeface="Calibri" panose="020F0502020204030204" pitchFamily="34" charset="0"/>
              </a:rPr>
              <a:t>) = .0376		&lt;	</a:t>
            </a:r>
            <a:r>
              <a:rPr lang="en-CA" sz="3600" i="1" dirty="0"/>
              <a:t> p(</a:t>
            </a:r>
            <a:r>
              <a:rPr lang="el-GR" sz="3600" i="1" dirty="0"/>
              <a:t>α</a:t>
            </a:r>
            <a:r>
              <a:rPr lang="en-CA" sz="3600" i="1" dirty="0"/>
              <a:t>) </a:t>
            </a:r>
            <a:r>
              <a:rPr lang="en-CA" sz="3600" dirty="0"/>
              <a:t>= .05</a:t>
            </a:r>
          </a:p>
          <a:p>
            <a:pPr marL="0" indent="0">
              <a:buNone/>
            </a:pPr>
            <a:endParaRPr lang="en-CA" sz="3600" dirty="0">
              <a:latin typeface="Calibri" panose="020F0502020204030204" pitchFamily="34" charset="0"/>
              <a:cs typeface="Calibri" panose="020F0502020204030204" pitchFamily="34" charset="0"/>
            </a:endParaRPr>
          </a:p>
          <a:p>
            <a:pPr marL="0" indent="0">
              <a:buNone/>
            </a:pPr>
            <a:r>
              <a:rPr lang="en-CA" sz="3200" dirty="0">
                <a:latin typeface="Calibri" panose="020F0502020204030204" pitchFamily="34" charset="0"/>
                <a:cs typeface="Calibri" panose="020F0502020204030204" pitchFamily="34" charset="0"/>
              </a:rPr>
              <a:t>Reject the null hypothesis, accept the alternative hypothesis</a:t>
            </a:r>
            <a:endParaRPr lang="en-US" sz="3200" dirty="0">
              <a:latin typeface="Calibri" panose="020F0502020204030204" pitchFamily="34" charset="0"/>
              <a:cs typeface="Calibri" panose="020F0502020204030204" pitchFamily="34" charset="0"/>
            </a:endParaRPr>
          </a:p>
          <a:p>
            <a:pPr marL="0" indent="0">
              <a:buNone/>
            </a:pPr>
            <a:endParaRPr lang="en-US" sz="3600" dirty="0">
              <a:latin typeface="Calibri" panose="020F0502020204030204" pitchFamily="34" charset="0"/>
              <a:cs typeface="Calibri" panose="020F0502020204030204" pitchFamily="34" charset="0"/>
            </a:endParaRPr>
          </a:p>
          <a:p>
            <a:pPr marL="0" indent="0">
              <a:buNone/>
            </a:pPr>
            <a:endParaRPr lang="en-US" sz="2000" dirty="0"/>
          </a:p>
        </p:txBody>
      </p:sp>
    </p:spTree>
    <p:extLst>
      <p:ext uri="{BB962C8B-B14F-4D97-AF65-F5344CB8AC3E}">
        <p14:creationId xmlns:p14="http://schemas.microsoft.com/office/powerpoint/2010/main" val="2540550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11848-5BFA-E8E4-5C16-F9B4427441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5121A3-4642-33B2-B9F2-E8664E4450EC}"/>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CA" sz="1200" dirty="0"/>
              <a:t>x̅ </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75.00, </a:t>
            </a:r>
            <a:r>
              <a:rPr lang="en-US" sz="1200" dirty="0" err="1"/>
              <a:t>σ</a:t>
            </a:r>
            <a:r>
              <a:rPr lang="en-US" sz="1200" dirty="0"/>
              <a:t> = 12.00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FDE4252-C969-B003-101B-6C96C0D7128F}"/>
                  </a:ext>
                </a:extLst>
              </p:cNvPr>
              <p:cNvSpPr txBox="1">
                <a:spLocks/>
              </p:cNvSpPr>
              <p:nvPr/>
            </p:nvSpPr>
            <p:spPr>
              <a:xfrm>
                <a:off x="6096000" y="633816"/>
                <a:ext cx="5257800" cy="62714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sz="2400" i="1">
                            <a:latin typeface="Cambria Math" panose="02040503050406030204" pitchFamily="18" charset="0"/>
                          </a:rPr>
                        </m:ctrlPr>
                      </m:fPr>
                      <m:num>
                        <m:r>
                          <a:rPr lang="en-CA" sz="2400" i="1">
                            <a:latin typeface="Cambria Math" panose="02040503050406030204" pitchFamily="18" charset="0"/>
                          </a:rPr>
                          <m:t>80</m:t>
                        </m:r>
                        <m:r>
                          <a:rPr lang="en-US" sz="2400" i="1">
                            <a:latin typeface="Cambria Math" panose="02040503050406030204" pitchFamily="18" charset="0"/>
                          </a:rPr>
                          <m:t>.</m:t>
                        </m:r>
                        <m:r>
                          <a:rPr lang="en-US" sz="2400" i="1">
                            <a:latin typeface="Cambria Math" panose="02040503050406030204" pitchFamily="18" charset="0"/>
                          </a:rPr>
                          <m:t>0000</m:t>
                        </m:r>
                        <m:r>
                          <a:rPr lang="en-CA" sz="2400" i="1">
                            <a:latin typeface="Cambria Math" panose="02040503050406030204" pitchFamily="18" charset="0"/>
                          </a:rPr>
                          <m:t> −</m:t>
                        </m:r>
                        <m:r>
                          <a:rPr lang="en-CA" sz="2400" i="1">
                            <a:latin typeface="Cambria Math" panose="02040503050406030204" pitchFamily="18" charset="0"/>
                          </a:rPr>
                          <m:t>75</m:t>
                        </m:r>
                        <m:r>
                          <a:rPr lang="en-US" sz="2400" i="1">
                            <a:latin typeface="Cambria Math" panose="02040503050406030204" pitchFamily="18" charset="0"/>
                          </a:rPr>
                          <m:t>.</m:t>
                        </m:r>
                        <m:r>
                          <a:rPr lang="en-US" sz="2400" i="1">
                            <a:latin typeface="Cambria Math" panose="02040503050406030204" pitchFamily="18" charset="0"/>
                          </a:rPr>
                          <m:t>0000</m:t>
                        </m:r>
                      </m:num>
                      <m:den>
                        <m:r>
                          <m:rPr>
                            <m:nor/>
                          </m:rPr>
                          <a:rPr lang="en-CA" sz="2400" i="0">
                            <a:latin typeface="Cambria Math" panose="02040503050406030204" pitchFamily="18" charset="0"/>
                          </a:rPr>
                          <m:t>2.40</m:t>
                        </m:r>
                        <m:r>
                          <m:rPr>
                            <m:nor/>
                          </m:rPr>
                          <a:rPr lang="en-US" sz="2400" i="0">
                            <a:latin typeface="Cambria Math" panose="02040503050406030204" pitchFamily="18" charset="0"/>
                          </a:rPr>
                          <m:t>00</m:t>
                        </m:r>
                      </m:den>
                    </m:f>
                  </m:oMath>
                </a14:m>
                <a:r>
                  <a:rPr lang="en-US" dirty="0"/>
                  <a:t>  = 2.0833</a:t>
                </a:r>
              </a:p>
              <a:p>
                <a:r>
                  <a:rPr lang="en-US" i="1" dirty="0"/>
                  <a:t>p</a:t>
                </a:r>
                <a:r>
                  <a:rPr lang="en-US" dirty="0"/>
                  <a:t>(</a:t>
                </a:r>
                <a:r>
                  <a:rPr lang="en-US" i="1" dirty="0" err="1"/>
                  <a:t>obs</a:t>
                </a:r>
                <a:r>
                  <a:rPr lang="en-US" dirty="0"/>
                  <a:t>) = .0188 x 2 = .0376</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r>
                  <a:rPr lang="en-CA" b="1" dirty="0"/>
                  <a:t>Step 5: </a:t>
                </a:r>
                <a:endParaRPr lang="en-US" b="1" dirty="0"/>
              </a:p>
              <a:p>
                <a:r>
                  <a:rPr lang="en-US" sz="2000" i="1" dirty="0">
                    <a:latin typeface="Calibri" panose="020F0502020204030204" pitchFamily="34" charset="0"/>
                    <a:cs typeface="Calibri" panose="020F0502020204030204" pitchFamily="34" charset="0"/>
                  </a:rPr>
                  <a:t>z</a:t>
                </a:r>
                <a:r>
                  <a:rPr lang="en-CA" sz="2000" dirty="0">
                    <a:latin typeface="Calibri" panose="020F0502020204030204" pitchFamily="34" charset="0"/>
                    <a:cs typeface="Calibri" panose="020F0502020204030204" pitchFamily="34" charset="0"/>
                  </a:rPr>
                  <a:t>(</a:t>
                </a:r>
                <a:r>
                  <a:rPr lang="en-CA" sz="2000" dirty="0" err="1">
                    <a:latin typeface="Calibri" panose="020F0502020204030204" pitchFamily="34" charset="0"/>
                    <a:cs typeface="Calibri" panose="020F0502020204030204" pitchFamily="34" charset="0"/>
                  </a:rPr>
                  <a:t>obs</a:t>
                </a:r>
                <a:r>
                  <a:rPr lang="en-CA" sz="2000"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 2.0833 &gt; </a:t>
                </a:r>
                <a:r>
                  <a:rPr lang="en-US" sz="2000" i="1" dirty="0">
                    <a:latin typeface="Calibri" panose="020F0502020204030204" pitchFamily="34" charset="0"/>
                    <a:cs typeface="Calibri" panose="020F0502020204030204" pitchFamily="34" charset="0"/>
                  </a:rPr>
                  <a:t>z</a:t>
                </a:r>
                <a:r>
                  <a:rPr lang="en-US" sz="2000" dirty="0">
                    <a:latin typeface="Calibri" panose="020F0502020204030204" pitchFamily="34" charset="0"/>
                    <a:cs typeface="Calibri" panose="020F0502020204030204" pitchFamily="34" charset="0"/>
                  </a:rPr>
                  <a:t>(crit) = </a:t>
                </a:r>
                <a:r>
                  <a:rPr lang="en-CA" sz="2000" dirty="0"/>
                  <a:t>±</a:t>
                </a:r>
                <a:r>
                  <a:rPr lang="en-US" sz="2000" dirty="0"/>
                  <a:t>1.96</a:t>
                </a:r>
                <a:endParaRPr lang="en-US" sz="2000" dirty="0">
                  <a:latin typeface="Calibri" panose="020F0502020204030204" pitchFamily="34" charset="0"/>
                  <a:cs typeface="Calibri" panose="020F0502020204030204" pitchFamily="34" charset="0"/>
                </a:endParaRPr>
              </a:p>
              <a:p>
                <a:r>
                  <a:rPr lang="en-US" sz="2000" i="1" dirty="0">
                    <a:latin typeface="Calibri" panose="020F0502020204030204" pitchFamily="34" charset="0"/>
                    <a:cs typeface="Calibri" panose="020F0502020204030204" pitchFamily="34" charset="0"/>
                  </a:rPr>
                  <a:t>p</a:t>
                </a: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obs</a:t>
                </a:r>
                <a:r>
                  <a:rPr lang="en-US" sz="2000" dirty="0">
                    <a:latin typeface="Calibri" panose="020F0502020204030204" pitchFamily="34" charset="0"/>
                    <a:cs typeface="Calibri" panose="020F0502020204030204" pitchFamily="34" charset="0"/>
                  </a:rPr>
                  <a:t>) = .0376 &lt;</a:t>
                </a:r>
                <a:r>
                  <a:rPr lang="en-CA" sz="2000" dirty="0">
                    <a:latin typeface="Calibri" panose="020F0502020204030204" pitchFamily="34" charset="0"/>
                    <a:cs typeface="Calibri" panose="020F0502020204030204" pitchFamily="34" charset="0"/>
                  </a:rPr>
                  <a:t> </a:t>
                </a:r>
                <a:r>
                  <a:rPr lang="en-CA" sz="2000" i="1" dirty="0"/>
                  <a:t>p(</a:t>
                </a:r>
                <a:r>
                  <a:rPr lang="el-GR" sz="2000" i="1" dirty="0"/>
                  <a:t>α</a:t>
                </a:r>
                <a:r>
                  <a:rPr lang="en-CA" sz="2000" i="1" dirty="0"/>
                  <a:t>) </a:t>
                </a:r>
                <a:r>
                  <a:rPr lang="en-CA" sz="2000" dirty="0"/>
                  <a:t>= .05</a:t>
                </a:r>
              </a:p>
              <a:p>
                <a:pPr lvl="1"/>
                <a:r>
                  <a:rPr lang="en-CA" sz="1600" dirty="0"/>
                  <a:t>Reject the null, accept the alternative</a:t>
                </a:r>
              </a:p>
              <a:p>
                <a:pPr marL="0" indent="0">
                  <a:lnSpc>
                    <a:spcPct val="100000"/>
                  </a:lnSpc>
                  <a:buFont typeface="Arial" panose="020B0604020202020204" pitchFamily="34" charset="0"/>
                  <a:buNone/>
                </a:pPr>
                <a:endParaRPr lang="en-US" dirty="0"/>
              </a:p>
              <a:p>
                <a:pPr marL="0" indent="0">
                  <a:buFont typeface="Arial" panose="020B0604020202020204" pitchFamily="34" charse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4FDE4252-C969-B003-101B-6C96C0D7128F}"/>
                  </a:ext>
                </a:extLst>
              </p:cNvPr>
              <p:cNvSpPr txBox="1">
                <a:spLocks noRot="1" noChangeAspect="1" noMove="1" noResize="1" noEditPoints="1" noAdjustHandles="1" noChangeArrowheads="1" noChangeShapeType="1" noTextEdit="1"/>
              </p:cNvSpPr>
              <p:nvPr/>
            </p:nvSpPr>
            <p:spPr>
              <a:xfrm>
                <a:off x="6096000" y="633816"/>
                <a:ext cx="5257800" cy="6271404"/>
              </a:xfrm>
              <a:prstGeom prst="rect">
                <a:avLst/>
              </a:prstGeom>
              <a:blipFill>
                <a:blip r:embed="rId2"/>
                <a:stretch>
                  <a:fillRect l="-2317" t="-1652"/>
                </a:stretch>
              </a:blipFill>
            </p:spPr>
            <p:txBody>
              <a:bodyPr/>
              <a:lstStyle/>
              <a:p>
                <a:r>
                  <a:rPr lang="en-US">
                    <a:noFill/>
                  </a:rPr>
                  <a:t> </a:t>
                </a:r>
              </a:p>
            </p:txBody>
          </p:sp>
        </mc:Fallback>
      </mc:AlternateContent>
    </p:spTree>
    <p:extLst>
      <p:ext uri="{BB962C8B-B14F-4D97-AF65-F5344CB8AC3E}">
        <p14:creationId xmlns:p14="http://schemas.microsoft.com/office/powerpoint/2010/main" val="5271278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6C81-C7DB-7F4D-9FD6-22D250076128}"/>
              </a:ext>
            </a:extLst>
          </p:cNvPr>
          <p:cNvSpPr>
            <a:spLocks noGrp="1"/>
          </p:cNvSpPr>
          <p:nvPr>
            <p:ph type="title"/>
          </p:nvPr>
        </p:nvSpPr>
        <p:spPr/>
        <p:txBody>
          <a:bodyPr/>
          <a:lstStyle/>
          <a:p>
            <a:r>
              <a:rPr lang="en-US" dirty="0"/>
              <a:t>Step 6: Interpret your Outcome</a:t>
            </a:r>
          </a:p>
        </p:txBody>
      </p:sp>
      <p:sp>
        <p:nvSpPr>
          <p:cNvPr id="3" name="Content Placeholder 2">
            <a:extLst>
              <a:ext uri="{FF2B5EF4-FFF2-40B4-BE49-F238E27FC236}">
                <a16:creationId xmlns:a16="http://schemas.microsoft.com/office/drawing/2014/main" id="{A4D381D9-1BF6-1646-B2E2-AF1DBEBE6B10}"/>
              </a:ext>
            </a:extLst>
          </p:cNvPr>
          <p:cNvSpPr>
            <a:spLocks noGrp="1"/>
          </p:cNvSpPr>
          <p:nvPr>
            <p:ph idx="1"/>
          </p:nvPr>
        </p:nvSpPr>
        <p:spPr>
          <a:xfrm>
            <a:off x="838200" y="1825624"/>
            <a:ext cx="7935686" cy="5032375"/>
          </a:xfrm>
        </p:spPr>
        <p:txBody>
          <a:bodyPr>
            <a:normAutofit/>
          </a:bodyPr>
          <a:lstStyle/>
          <a:p>
            <a:pPr marL="0" indent="0">
              <a:buNone/>
            </a:pPr>
            <a:r>
              <a:rPr lang="en-US" sz="1800" dirty="0"/>
              <a:t>A retail company has decided to redesign its checkout app UI and roll it out to all of its customers. It is curious whether this affected customer satisfaction scores, in comparison to the store's past checkout experience (</a:t>
            </a:r>
            <a:r>
              <a:rPr lang="en-US" sz="1800" i="1" dirty="0"/>
              <a:t>μ</a:t>
            </a:r>
            <a:r>
              <a:rPr lang="en-US" sz="1800" dirty="0"/>
              <a:t> = 75.00%, </a:t>
            </a:r>
            <a:r>
              <a:rPr lang="en-US" sz="1800" i="1" dirty="0"/>
              <a:t>σ</a:t>
            </a:r>
            <a:r>
              <a:rPr lang="en-US" sz="1800" dirty="0"/>
              <a:t> = 12.00%). With twenty-five customers surveyed, satisfaction scores had a mean of </a:t>
            </a:r>
            <a:r>
              <a:rPr lang="en-US" sz="1800" i="1" dirty="0"/>
              <a:t>x</a:t>
            </a:r>
            <a:r>
              <a:rPr lang="en-US" sz="1800" i="1" dirty="0">
                <a:latin typeface="Calibri" panose="020F0502020204030204" pitchFamily="34" charset="0"/>
                <a:ea typeface="Calibri" panose="020F0502020204030204" pitchFamily="34" charset="0"/>
                <a:cs typeface="Calibri" panose="020F0502020204030204" pitchFamily="34" charset="0"/>
              </a:rPr>
              <a:t>̅</a:t>
            </a:r>
            <a:r>
              <a:rPr lang="en-US" sz="1800" dirty="0"/>
              <a:t> =  80.00% and a standard deviation of </a:t>
            </a:r>
            <a:r>
              <a:rPr lang="en-US" sz="1800" i="1" dirty="0"/>
              <a:t>SD</a:t>
            </a:r>
            <a:r>
              <a:rPr lang="en-US" sz="1800" dirty="0"/>
              <a:t> = 9.00%. Did the introduction of the new checkout app UI affect customer satisfaction scores?</a:t>
            </a:r>
          </a:p>
          <a:p>
            <a:pPr marL="0" indent="0">
              <a:buNone/>
            </a:pPr>
            <a:endParaRPr lang="en-US" sz="2000" dirty="0">
              <a:latin typeface="Calibri" panose="020F0502020204030204" pitchFamily="34" charset="0"/>
              <a:cs typeface="Calibri" panose="020F0502020204030204" pitchFamily="34" charset="0"/>
            </a:endParaRPr>
          </a:p>
          <a:p>
            <a:pPr marL="0" lvl="0" indent="0">
              <a:lnSpc>
                <a:spcPct val="100000"/>
              </a:lnSpc>
              <a:spcBef>
                <a:spcPts val="0"/>
              </a:spcBef>
              <a:buNone/>
              <a:defRPr/>
            </a:pPr>
            <a:r>
              <a:rPr lang="en-US" sz="3200" dirty="0"/>
              <a:t>The new checkout app UI satisfaction scores  (</a:t>
            </a:r>
            <a:r>
              <a:rPr lang="en-CA" sz="3200" i="1" dirty="0"/>
              <a:t>x̅ </a:t>
            </a:r>
            <a:r>
              <a:rPr lang="en-CA" sz="3200" dirty="0"/>
              <a:t>= 80.00%, </a:t>
            </a:r>
            <a:r>
              <a:rPr lang="en-CA" sz="3200" i="1" dirty="0"/>
              <a:t>SD</a:t>
            </a:r>
            <a:r>
              <a:rPr lang="en-CA" sz="3200" dirty="0"/>
              <a:t> = 9.00%, </a:t>
            </a:r>
            <a:r>
              <a:rPr lang="en-CA" sz="3200" i="1" dirty="0"/>
              <a:t>n</a:t>
            </a:r>
            <a:r>
              <a:rPr lang="en-CA" sz="3200" dirty="0"/>
              <a:t> = 25</a:t>
            </a:r>
            <a:r>
              <a:rPr lang="en-US" sz="3200" dirty="0"/>
              <a:t>) were statistically higher than satisfaction scores for the old UI (</a:t>
            </a:r>
            <a:r>
              <a:rPr lang="el-GR" sz="3200" dirty="0"/>
              <a:t>μ</a:t>
            </a:r>
            <a:r>
              <a:rPr lang="en-CA" sz="3200" dirty="0"/>
              <a:t> = 75.00%, </a:t>
            </a:r>
            <a:r>
              <a:rPr lang="en-US" sz="3200" dirty="0"/>
              <a:t>σ = 12.00%), </a:t>
            </a:r>
            <a:r>
              <a:rPr lang="en-US" sz="3200" i="1" dirty="0"/>
              <a:t>z</a:t>
            </a:r>
            <a:r>
              <a:rPr lang="en-US" sz="3200" dirty="0"/>
              <a:t> = 2.08,  </a:t>
            </a:r>
            <a:r>
              <a:rPr lang="en-US" sz="3200" i="1" dirty="0"/>
              <a:t>p</a:t>
            </a:r>
            <a:r>
              <a:rPr lang="en-US" sz="3200" dirty="0"/>
              <a:t> = .038. The redesigned UI increased satisfaction scores.</a:t>
            </a:r>
          </a:p>
          <a:p>
            <a:pPr marL="0" indent="0">
              <a:buNone/>
            </a:pPr>
            <a:endParaRPr lang="en-US" sz="2000" dirty="0"/>
          </a:p>
        </p:txBody>
      </p:sp>
      <p:pic>
        <p:nvPicPr>
          <p:cNvPr id="5" name="Picture 4">
            <a:extLst>
              <a:ext uri="{FF2B5EF4-FFF2-40B4-BE49-F238E27FC236}">
                <a16:creationId xmlns:a16="http://schemas.microsoft.com/office/drawing/2014/main" id="{23069DA9-C191-8B16-7991-6FC858B31235}"/>
              </a:ext>
            </a:extLst>
          </p:cNvPr>
          <p:cNvPicPr>
            <a:picLocks noChangeAspect="1"/>
          </p:cNvPicPr>
          <p:nvPr/>
        </p:nvPicPr>
        <p:blipFill>
          <a:blip r:embed="rId2"/>
          <a:srcRect l="69059" t="17207" r="9259" b="15045"/>
          <a:stretch>
            <a:fillRect/>
          </a:stretch>
        </p:blipFill>
        <p:spPr>
          <a:xfrm>
            <a:off x="9557657" y="126584"/>
            <a:ext cx="1730829" cy="3605493"/>
          </a:xfrm>
          <a:prstGeom prst="rect">
            <a:avLst/>
          </a:prstGeom>
        </p:spPr>
      </p:pic>
      <p:pic>
        <p:nvPicPr>
          <p:cNvPr id="7" name="Picture 6">
            <a:extLst>
              <a:ext uri="{FF2B5EF4-FFF2-40B4-BE49-F238E27FC236}">
                <a16:creationId xmlns:a16="http://schemas.microsoft.com/office/drawing/2014/main" id="{653327F1-F5BF-728A-CAB0-E6C152B8B627}"/>
              </a:ext>
            </a:extLst>
          </p:cNvPr>
          <p:cNvPicPr>
            <a:picLocks noChangeAspect="1"/>
          </p:cNvPicPr>
          <p:nvPr/>
        </p:nvPicPr>
        <p:blipFill>
          <a:blip r:embed="rId3"/>
          <a:srcRect t="18173"/>
          <a:stretch>
            <a:fillRect/>
          </a:stretch>
        </p:blipFill>
        <p:spPr>
          <a:xfrm>
            <a:off x="8913830" y="4001294"/>
            <a:ext cx="2716625" cy="2792918"/>
          </a:xfrm>
          <a:prstGeom prst="rect">
            <a:avLst/>
          </a:prstGeom>
        </p:spPr>
      </p:pic>
    </p:spTree>
    <p:extLst>
      <p:ext uri="{BB962C8B-B14F-4D97-AF65-F5344CB8AC3E}">
        <p14:creationId xmlns:p14="http://schemas.microsoft.com/office/powerpoint/2010/main" val="37390730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A115E2-4FE8-2E4C-A37A-70FF38E79C49}"/>
              </a:ext>
            </a:extLst>
          </p:cNvPr>
          <p:cNvSpPr>
            <a:spLocks noGrp="1"/>
          </p:cNvSpPr>
          <p:nvPr>
            <p:ph idx="1"/>
          </p:nvPr>
        </p:nvSpPr>
        <p:spPr>
          <a:xfrm>
            <a:off x="838200" y="586596"/>
            <a:ext cx="5257800" cy="6271404"/>
          </a:xfrm>
        </p:spPr>
        <p:txBody>
          <a:bodyPr>
            <a:normAutofit/>
          </a:bodyPr>
          <a:lstStyle/>
          <a:p>
            <a:pPr marL="0" indent="0">
              <a:buNone/>
            </a:pPr>
            <a:r>
              <a:rPr lang="en-US" b="1" dirty="0"/>
              <a:t>Step 1:</a:t>
            </a:r>
          </a:p>
          <a:p>
            <a:pPr algn="just"/>
            <a:r>
              <a:rPr lang="en-US" b="1" i="1" dirty="0"/>
              <a:t>H</a:t>
            </a:r>
            <a:r>
              <a:rPr lang="en-US" b="1" i="1" baseline="-25000" dirty="0"/>
              <a:t>0</a:t>
            </a:r>
            <a:r>
              <a:rPr lang="en-US" b="1" dirty="0"/>
              <a:t>: </a:t>
            </a:r>
            <a:r>
              <a:rPr lang="el-GR" i="1" dirty="0"/>
              <a:t>μ</a:t>
            </a:r>
            <a:r>
              <a:rPr lang="en-CA" dirty="0"/>
              <a:t> =</a:t>
            </a:r>
            <a:r>
              <a:rPr lang="el-GR" dirty="0"/>
              <a:t> </a:t>
            </a:r>
            <a:r>
              <a:rPr lang="en-US" dirty="0"/>
              <a:t>75.00</a:t>
            </a:r>
            <a:r>
              <a:rPr lang="en-CA" dirty="0"/>
              <a:t>    </a:t>
            </a:r>
          </a:p>
          <a:p>
            <a:r>
              <a:rPr lang="en-US" b="1" i="1" dirty="0"/>
              <a:t>H</a:t>
            </a:r>
            <a:r>
              <a:rPr lang="en-US" b="1" i="1" baseline="-25000" dirty="0"/>
              <a:t>1</a:t>
            </a:r>
            <a:r>
              <a:rPr lang="en-US" b="1" dirty="0"/>
              <a:t>: </a:t>
            </a:r>
            <a:r>
              <a:rPr lang="el-GR" i="1" dirty="0"/>
              <a:t>μ</a:t>
            </a:r>
            <a:r>
              <a:rPr lang="en-CA" dirty="0"/>
              <a:t> ≠ </a:t>
            </a:r>
            <a:r>
              <a:rPr lang="en-US" dirty="0"/>
              <a:t>75.00</a:t>
            </a:r>
            <a:endParaRPr lang="en-CA" dirty="0"/>
          </a:p>
          <a:p>
            <a:pPr lvl="1"/>
            <a:r>
              <a:rPr lang="en-CA" dirty="0"/>
              <a:t>Thus, two-tailed</a:t>
            </a:r>
          </a:p>
          <a:p>
            <a:pPr marL="0" indent="0">
              <a:buNone/>
            </a:pPr>
            <a:endParaRPr lang="en-CA" b="1" dirty="0"/>
          </a:p>
          <a:p>
            <a:pPr marL="0" indent="0">
              <a:buNone/>
            </a:pPr>
            <a:r>
              <a:rPr lang="en-CA" b="1" dirty="0"/>
              <a:t>Step 2: </a:t>
            </a:r>
            <a:endParaRPr lang="en-US" b="1" dirty="0"/>
          </a:p>
          <a:p>
            <a:pPr>
              <a:lnSpc>
                <a:spcPct val="100000"/>
              </a:lnSpc>
              <a:spcBef>
                <a:spcPts val="0"/>
              </a:spcBef>
            </a:pPr>
            <a:r>
              <a:rPr lang="en-US" sz="1200" b="1" dirty="0"/>
              <a:t>Type of Research Design</a:t>
            </a:r>
            <a:r>
              <a:rPr lang="en-US" sz="1200" dirty="0"/>
              <a:t>: Single Sample Design</a:t>
            </a:r>
          </a:p>
          <a:p>
            <a:pPr>
              <a:lnSpc>
                <a:spcPct val="100000"/>
              </a:lnSpc>
              <a:spcBef>
                <a:spcPts val="0"/>
              </a:spcBef>
            </a:pPr>
            <a:r>
              <a:rPr lang="en-US" sz="1200" b="1" dirty="0"/>
              <a:t>Model of Hypothesis Testing</a:t>
            </a:r>
            <a:r>
              <a:rPr lang="en-US" sz="1200" dirty="0"/>
              <a:t>: Random Sampling</a:t>
            </a:r>
          </a:p>
          <a:p>
            <a:pPr>
              <a:lnSpc>
                <a:spcPct val="100000"/>
              </a:lnSpc>
              <a:spcBef>
                <a:spcPts val="0"/>
              </a:spcBef>
            </a:pPr>
            <a:r>
              <a:rPr lang="en-US" sz="1200" b="1" dirty="0"/>
              <a:t>Nature of Data (Scales of measurement)</a:t>
            </a:r>
            <a:r>
              <a:rPr lang="en-US" sz="1200" dirty="0"/>
              <a:t>: Score data</a:t>
            </a:r>
          </a:p>
          <a:p>
            <a:pPr>
              <a:lnSpc>
                <a:spcPct val="100000"/>
              </a:lnSpc>
              <a:spcBef>
                <a:spcPts val="0"/>
              </a:spcBef>
            </a:pPr>
            <a:r>
              <a:rPr lang="en-US" sz="1200" b="1" dirty="0"/>
              <a:t>Statistic Being Analyzed</a:t>
            </a:r>
            <a:r>
              <a:rPr lang="en-US" sz="1200" dirty="0"/>
              <a:t>: </a:t>
            </a:r>
            <a:r>
              <a:rPr lang="en-CA" sz="1200" dirty="0"/>
              <a:t>x̅ </a:t>
            </a:r>
            <a:endParaRPr lang="en-US" sz="1200" dirty="0"/>
          </a:p>
          <a:p>
            <a:pPr>
              <a:lnSpc>
                <a:spcPct val="100000"/>
              </a:lnSpc>
              <a:spcBef>
                <a:spcPts val="0"/>
              </a:spcBef>
            </a:pPr>
            <a:r>
              <a:rPr lang="en-US" sz="1200" b="1" dirty="0"/>
              <a:t>Information about the Population</a:t>
            </a:r>
            <a:r>
              <a:rPr lang="en-US" sz="1200" dirty="0"/>
              <a:t>: </a:t>
            </a:r>
            <a:r>
              <a:rPr lang="el-GR" sz="1200" dirty="0"/>
              <a:t>μ</a:t>
            </a:r>
            <a:r>
              <a:rPr lang="en-US" sz="1200" dirty="0"/>
              <a:t> = 75.00, </a:t>
            </a:r>
            <a:r>
              <a:rPr lang="en-US" sz="1200" dirty="0" err="1"/>
              <a:t>σ</a:t>
            </a:r>
            <a:r>
              <a:rPr lang="en-US" sz="1200" dirty="0"/>
              <a:t> = 12.00</a:t>
            </a:r>
          </a:p>
          <a:p>
            <a:pPr>
              <a:lnSpc>
                <a:spcPct val="100000"/>
              </a:lnSpc>
              <a:spcBef>
                <a:spcPts val="0"/>
              </a:spcBef>
            </a:pPr>
            <a:r>
              <a:rPr lang="en-US" sz="1200" b="1" dirty="0"/>
              <a:t>Sample Size</a:t>
            </a:r>
            <a:r>
              <a:rPr lang="en-US" sz="1200" dirty="0"/>
              <a:t>: </a:t>
            </a:r>
            <a:r>
              <a:rPr lang="en-US" sz="1200" i="1" dirty="0"/>
              <a:t>n</a:t>
            </a:r>
            <a:r>
              <a:rPr lang="en-US" sz="1200" dirty="0"/>
              <a:t> = 25</a:t>
            </a:r>
          </a:p>
          <a:p>
            <a:pPr>
              <a:lnSpc>
                <a:spcPct val="100000"/>
              </a:lnSpc>
              <a:spcBef>
                <a:spcPts val="0"/>
              </a:spcBef>
            </a:pPr>
            <a:r>
              <a:rPr lang="en-US" sz="1200" b="1" dirty="0"/>
              <a:t>Shape</a:t>
            </a:r>
            <a:r>
              <a:rPr lang="en-US" sz="1200" dirty="0"/>
              <a:t>: Normally distributed</a:t>
            </a:r>
            <a:endParaRPr lang="en-US" sz="1050" dirty="0"/>
          </a:p>
          <a:p>
            <a:pPr marL="0" indent="0">
              <a:lnSpc>
                <a:spcPct val="100000"/>
              </a:lnSpc>
              <a:buNone/>
            </a:pPr>
            <a:endParaRPr lang="en-US" b="1" dirty="0"/>
          </a:p>
          <a:p>
            <a:pPr marL="0" indent="0">
              <a:lnSpc>
                <a:spcPct val="100000"/>
              </a:lnSpc>
              <a:buNone/>
            </a:pPr>
            <a:r>
              <a:rPr lang="en-US" b="1" dirty="0"/>
              <a:t>Step 3:</a:t>
            </a:r>
          </a:p>
          <a:p>
            <a:r>
              <a:rPr lang="en-CA" i="1" dirty="0"/>
              <a:t>p(</a:t>
            </a:r>
            <a:r>
              <a:rPr lang="el-GR" i="1" dirty="0"/>
              <a:t>α</a:t>
            </a:r>
            <a:r>
              <a:rPr lang="en-CA" i="1" dirty="0"/>
              <a:t>) </a:t>
            </a:r>
            <a:r>
              <a:rPr lang="en-CA" dirty="0"/>
              <a:t>= .05, </a:t>
            </a:r>
            <a:r>
              <a:rPr lang="en-CA" i="1" dirty="0"/>
              <a:t>z(crit)</a:t>
            </a:r>
            <a:r>
              <a:rPr lang="en-CA" dirty="0"/>
              <a:t> = ±</a:t>
            </a:r>
            <a:r>
              <a:rPr lang="en-US" dirty="0"/>
              <a:t>1.96</a:t>
            </a:r>
          </a:p>
          <a:p>
            <a:pPr marL="0" indent="0">
              <a:buNone/>
            </a:pPr>
            <a:endParaRPr lang="en-CA" dirty="0"/>
          </a:p>
          <a:p>
            <a:endParaRPr lang="en-US" dirty="0"/>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574432C5-7DF4-5F4D-A83A-EE45D530B8EC}"/>
                  </a:ext>
                </a:extLst>
              </p:cNvPr>
              <p:cNvSpPr txBox="1">
                <a:spLocks/>
              </p:cNvSpPr>
              <p:nvPr/>
            </p:nvSpPr>
            <p:spPr>
              <a:xfrm>
                <a:off x="6096000" y="633816"/>
                <a:ext cx="5257800" cy="613150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Step 4:</a:t>
                </a:r>
              </a:p>
              <a:p>
                <a:r>
                  <a:rPr lang="en-US" i="1" dirty="0"/>
                  <a:t>z</a:t>
                </a:r>
                <a:r>
                  <a:rPr lang="en-US" dirty="0"/>
                  <a:t>(</a:t>
                </a:r>
                <a:r>
                  <a:rPr lang="en-US" dirty="0" err="1"/>
                  <a:t>obs</a:t>
                </a:r>
                <a:r>
                  <a:rPr lang="en-US" dirty="0"/>
                  <a:t>) = </a:t>
                </a:r>
                <a14:m>
                  <m:oMath xmlns:m="http://schemas.openxmlformats.org/officeDocument/2006/math">
                    <m:f>
                      <m:fPr>
                        <m:ctrlPr>
                          <a:rPr lang="en-US" i="1">
                            <a:latin typeface="Cambria Math" panose="02040503050406030204" pitchFamily="18" charset="0"/>
                          </a:rPr>
                        </m:ctrlPr>
                      </m:fPr>
                      <m:num>
                        <m:r>
                          <a:rPr lang="en-CA" i="1">
                            <a:latin typeface="Cambria Math" panose="02040503050406030204" pitchFamily="18" charset="0"/>
                          </a:rPr>
                          <m:t>80</m:t>
                        </m:r>
                        <m:r>
                          <a:rPr lang="en-US" i="1">
                            <a:latin typeface="Cambria Math" panose="02040503050406030204" pitchFamily="18" charset="0"/>
                          </a:rPr>
                          <m:t>.</m:t>
                        </m:r>
                        <m:r>
                          <a:rPr lang="en-US" i="1">
                            <a:latin typeface="Cambria Math" panose="02040503050406030204" pitchFamily="18" charset="0"/>
                          </a:rPr>
                          <m:t>0000</m:t>
                        </m:r>
                        <m:r>
                          <a:rPr lang="en-CA" i="1">
                            <a:latin typeface="Cambria Math" panose="02040503050406030204" pitchFamily="18" charset="0"/>
                          </a:rPr>
                          <m:t> −</m:t>
                        </m:r>
                        <m:r>
                          <a:rPr lang="en-CA" i="1">
                            <a:latin typeface="Cambria Math" panose="02040503050406030204" pitchFamily="18" charset="0"/>
                          </a:rPr>
                          <m:t>75</m:t>
                        </m:r>
                        <m:r>
                          <a:rPr lang="en-US" i="1">
                            <a:latin typeface="Cambria Math" panose="02040503050406030204" pitchFamily="18" charset="0"/>
                          </a:rPr>
                          <m:t>.</m:t>
                        </m:r>
                        <m:r>
                          <a:rPr lang="en-US" i="1">
                            <a:latin typeface="Cambria Math" panose="02040503050406030204" pitchFamily="18" charset="0"/>
                          </a:rPr>
                          <m:t>0000</m:t>
                        </m:r>
                      </m:num>
                      <m:den>
                        <m:r>
                          <m:rPr>
                            <m:nor/>
                          </m:rPr>
                          <a:rPr lang="en-CA" i="0">
                            <a:latin typeface="Cambria Math" panose="02040503050406030204" pitchFamily="18" charset="0"/>
                          </a:rPr>
                          <m:t>2.40</m:t>
                        </m:r>
                        <m:r>
                          <m:rPr>
                            <m:nor/>
                          </m:rPr>
                          <a:rPr lang="en-US" i="0">
                            <a:latin typeface="Cambria Math" panose="02040503050406030204" pitchFamily="18" charset="0"/>
                          </a:rPr>
                          <m:t>00</m:t>
                        </m:r>
                      </m:den>
                    </m:f>
                  </m:oMath>
                </a14:m>
                <a:r>
                  <a:rPr lang="en-US" dirty="0"/>
                  <a:t>  = 2.0833</a:t>
                </a:r>
              </a:p>
              <a:p>
                <a:r>
                  <a:rPr lang="en-US" i="1" dirty="0"/>
                  <a:t>p</a:t>
                </a:r>
                <a:r>
                  <a:rPr lang="en-US" dirty="0"/>
                  <a:t>(</a:t>
                </a:r>
                <a:r>
                  <a:rPr lang="en-US" i="1" dirty="0" err="1"/>
                  <a:t>obs</a:t>
                </a:r>
                <a:r>
                  <a:rPr lang="en-US" dirty="0"/>
                  <a:t>) = .0188 x 2 = .0376</a:t>
                </a:r>
                <a:endParaRPr lang="en-US" i="1" dirty="0"/>
              </a:p>
              <a:p>
                <a:pPr marL="0" indent="0">
                  <a:buFont typeface="Arial" panose="020B0604020202020204" pitchFamily="34" charset="0"/>
                  <a:buNone/>
                </a:pPr>
                <a:endParaRPr lang="en-CA" b="1" dirty="0"/>
              </a:p>
              <a:p>
                <a:pPr marL="0" indent="0">
                  <a:buFont typeface="Arial" panose="020B0604020202020204" pitchFamily="34" charset="0"/>
                  <a:buNone/>
                </a:pPr>
                <a:r>
                  <a:rPr lang="en-CA" b="1" dirty="0"/>
                  <a:t>Step 5: </a:t>
                </a:r>
                <a:endParaRPr lang="en-US" b="1" dirty="0"/>
              </a:p>
              <a:p>
                <a:r>
                  <a:rPr lang="en-US" sz="2000" i="1" dirty="0">
                    <a:latin typeface="Calibri" panose="020F0502020204030204" pitchFamily="34" charset="0"/>
                    <a:cs typeface="Calibri" panose="020F0502020204030204" pitchFamily="34" charset="0"/>
                  </a:rPr>
                  <a:t>z</a:t>
                </a:r>
                <a:r>
                  <a:rPr lang="en-CA" sz="2000" dirty="0">
                    <a:latin typeface="Calibri" panose="020F0502020204030204" pitchFamily="34" charset="0"/>
                    <a:cs typeface="Calibri" panose="020F0502020204030204" pitchFamily="34" charset="0"/>
                  </a:rPr>
                  <a:t>(</a:t>
                </a:r>
                <a:r>
                  <a:rPr lang="en-CA" sz="2000" dirty="0" err="1">
                    <a:latin typeface="Calibri" panose="020F0502020204030204" pitchFamily="34" charset="0"/>
                    <a:cs typeface="Calibri" panose="020F0502020204030204" pitchFamily="34" charset="0"/>
                  </a:rPr>
                  <a:t>obs</a:t>
                </a:r>
                <a:r>
                  <a:rPr lang="en-CA" sz="2000"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 = 2.0833 &gt; </a:t>
                </a:r>
                <a:r>
                  <a:rPr lang="en-US" sz="2000" i="1" dirty="0">
                    <a:latin typeface="Calibri" panose="020F0502020204030204" pitchFamily="34" charset="0"/>
                    <a:cs typeface="Calibri" panose="020F0502020204030204" pitchFamily="34" charset="0"/>
                  </a:rPr>
                  <a:t>z</a:t>
                </a:r>
                <a:r>
                  <a:rPr lang="en-US" sz="2000" dirty="0">
                    <a:latin typeface="Calibri" panose="020F0502020204030204" pitchFamily="34" charset="0"/>
                    <a:cs typeface="Calibri" panose="020F0502020204030204" pitchFamily="34" charset="0"/>
                  </a:rPr>
                  <a:t>(crit) = </a:t>
                </a:r>
                <a:r>
                  <a:rPr lang="en-CA" sz="2000" dirty="0"/>
                  <a:t>±</a:t>
                </a:r>
                <a:r>
                  <a:rPr lang="en-US" sz="2000" dirty="0"/>
                  <a:t>1.96</a:t>
                </a:r>
                <a:endParaRPr lang="en-US" sz="2000" dirty="0">
                  <a:latin typeface="Calibri" panose="020F0502020204030204" pitchFamily="34" charset="0"/>
                  <a:cs typeface="Calibri" panose="020F0502020204030204" pitchFamily="34" charset="0"/>
                </a:endParaRPr>
              </a:p>
              <a:p>
                <a:r>
                  <a:rPr lang="en-US" sz="2000" i="1" dirty="0">
                    <a:latin typeface="Calibri" panose="020F0502020204030204" pitchFamily="34" charset="0"/>
                    <a:cs typeface="Calibri" panose="020F0502020204030204" pitchFamily="34" charset="0"/>
                  </a:rPr>
                  <a:t>p</a:t>
                </a:r>
                <a:r>
                  <a:rPr lang="en-US" sz="2000" dirty="0">
                    <a:latin typeface="Calibri" panose="020F0502020204030204" pitchFamily="34" charset="0"/>
                    <a:cs typeface="Calibri" panose="020F0502020204030204" pitchFamily="34" charset="0"/>
                  </a:rPr>
                  <a:t>(</a:t>
                </a:r>
                <a:r>
                  <a:rPr lang="en-US" sz="2000" dirty="0" err="1">
                    <a:latin typeface="Calibri" panose="020F0502020204030204" pitchFamily="34" charset="0"/>
                    <a:cs typeface="Calibri" panose="020F0502020204030204" pitchFamily="34" charset="0"/>
                  </a:rPr>
                  <a:t>obs</a:t>
                </a:r>
                <a:r>
                  <a:rPr lang="en-US" sz="2000" dirty="0">
                    <a:latin typeface="Calibri" panose="020F0502020204030204" pitchFamily="34" charset="0"/>
                    <a:cs typeface="Calibri" panose="020F0502020204030204" pitchFamily="34" charset="0"/>
                  </a:rPr>
                  <a:t>) = .0376 &lt;</a:t>
                </a:r>
                <a:r>
                  <a:rPr lang="en-CA" sz="2000" dirty="0">
                    <a:latin typeface="Calibri" panose="020F0502020204030204" pitchFamily="34" charset="0"/>
                    <a:cs typeface="Calibri" panose="020F0502020204030204" pitchFamily="34" charset="0"/>
                  </a:rPr>
                  <a:t> </a:t>
                </a:r>
                <a:r>
                  <a:rPr lang="en-CA" sz="2000" i="1" dirty="0"/>
                  <a:t>p(</a:t>
                </a:r>
                <a:r>
                  <a:rPr lang="el-GR" sz="2000" i="1" dirty="0"/>
                  <a:t>α</a:t>
                </a:r>
                <a:r>
                  <a:rPr lang="en-CA" sz="2000" i="1" dirty="0"/>
                  <a:t>) </a:t>
                </a:r>
                <a:r>
                  <a:rPr lang="en-CA" sz="2000" dirty="0"/>
                  <a:t>= .05</a:t>
                </a:r>
              </a:p>
              <a:p>
                <a:pPr lvl="1"/>
                <a:r>
                  <a:rPr lang="en-CA" sz="1600" dirty="0"/>
                  <a:t>Reject the null, accept the alternative</a:t>
                </a:r>
              </a:p>
              <a:p>
                <a:pPr marL="0" indent="0">
                  <a:lnSpc>
                    <a:spcPct val="100000"/>
                  </a:lnSpc>
                  <a:buFont typeface="Arial" panose="020B0604020202020204" pitchFamily="34" charset="0"/>
                  <a:buNone/>
                </a:pPr>
                <a:endParaRPr lang="en-US" dirty="0"/>
              </a:p>
              <a:p>
                <a:pPr marL="0" indent="0">
                  <a:lnSpc>
                    <a:spcPct val="100000"/>
                  </a:lnSpc>
                  <a:buFont typeface="Arial" panose="020B0604020202020204" pitchFamily="34" charset="0"/>
                  <a:buNone/>
                </a:pPr>
                <a:r>
                  <a:rPr lang="en-US" b="1" dirty="0"/>
                  <a:t>Step 6:</a:t>
                </a:r>
              </a:p>
              <a:p>
                <a:pPr>
                  <a:lnSpc>
                    <a:spcPct val="100000"/>
                  </a:lnSpc>
                  <a:spcBef>
                    <a:spcPts val="0"/>
                  </a:spcBef>
                  <a:defRPr/>
                </a:pPr>
                <a:r>
                  <a:rPr lang="en-US" sz="2000" dirty="0"/>
                  <a:t>The new checkout app UI satisfaction scores  (</a:t>
                </a:r>
                <a:r>
                  <a:rPr lang="en-CA" sz="2000" i="1" dirty="0"/>
                  <a:t>x̅ </a:t>
                </a:r>
                <a:r>
                  <a:rPr lang="en-CA" sz="2000" dirty="0"/>
                  <a:t>= 80.00%, </a:t>
                </a:r>
                <a:r>
                  <a:rPr lang="en-CA" sz="2000" i="1" dirty="0"/>
                  <a:t>SD</a:t>
                </a:r>
                <a:r>
                  <a:rPr lang="en-CA" sz="2000" dirty="0"/>
                  <a:t> = 9.00%, </a:t>
                </a:r>
                <a:r>
                  <a:rPr lang="en-CA" sz="2000" i="1" dirty="0"/>
                  <a:t>n</a:t>
                </a:r>
                <a:r>
                  <a:rPr lang="en-CA" sz="2000" dirty="0"/>
                  <a:t> = 25</a:t>
                </a:r>
                <a:r>
                  <a:rPr lang="en-US" sz="2000" dirty="0"/>
                  <a:t>) were statistically higher than satisfaction scores for the old UI (</a:t>
                </a:r>
                <a:r>
                  <a:rPr lang="el-GR" sz="2000" dirty="0"/>
                  <a:t>μ</a:t>
                </a:r>
                <a:r>
                  <a:rPr lang="en-CA" sz="2000" dirty="0"/>
                  <a:t> = 75.00%, </a:t>
                </a:r>
                <a:r>
                  <a:rPr lang="en-US" sz="2000" dirty="0"/>
                  <a:t>σ = 12.00%), </a:t>
                </a:r>
                <a:r>
                  <a:rPr lang="en-US" sz="2000" i="1" dirty="0"/>
                  <a:t>z</a:t>
                </a:r>
                <a:r>
                  <a:rPr lang="en-US" sz="2000" dirty="0"/>
                  <a:t> = 2.08,   </a:t>
                </a:r>
                <a:r>
                  <a:rPr lang="en-US" sz="2000" i="1" dirty="0"/>
                  <a:t>p</a:t>
                </a:r>
                <a:r>
                  <a:rPr lang="en-US" sz="2000" dirty="0"/>
                  <a:t> = .038. The redesigned UI increased satisfaction scores.</a:t>
                </a:r>
              </a:p>
              <a:p>
                <a:pPr marL="0" indent="0">
                  <a:buFont typeface="Arial" panose="020B0604020202020204" pitchFamily="34" charset="0"/>
                  <a:buNone/>
                </a:pPr>
                <a:endParaRPr lang="en-CA" dirty="0"/>
              </a:p>
              <a:p>
                <a:endParaRPr lang="en-US" dirty="0"/>
              </a:p>
            </p:txBody>
          </p:sp>
        </mc:Choice>
        <mc:Fallback xmlns="">
          <p:sp>
            <p:nvSpPr>
              <p:cNvPr id="4" name="Content Placeholder 2">
                <a:extLst>
                  <a:ext uri="{FF2B5EF4-FFF2-40B4-BE49-F238E27FC236}">
                    <a16:creationId xmlns:a16="http://schemas.microsoft.com/office/drawing/2014/main" id="{574432C5-7DF4-5F4D-A83A-EE45D530B8EC}"/>
                  </a:ext>
                </a:extLst>
              </p:cNvPr>
              <p:cNvSpPr txBox="1">
                <a:spLocks noRot="1" noChangeAspect="1" noMove="1" noResize="1" noEditPoints="1" noAdjustHandles="1" noChangeArrowheads="1" noChangeShapeType="1" noTextEdit="1"/>
              </p:cNvSpPr>
              <p:nvPr/>
            </p:nvSpPr>
            <p:spPr>
              <a:xfrm>
                <a:off x="6096000" y="633816"/>
                <a:ext cx="5257800" cy="6131508"/>
              </a:xfrm>
              <a:prstGeom prst="rect">
                <a:avLst/>
              </a:prstGeom>
              <a:blipFill>
                <a:blip r:embed="rId2"/>
                <a:stretch>
                  <a:fillRect l="-2317" t="-2286" r="-811" b="-1590"/>
                </a:stretch>
              </a:blipFill>
            </p:spPr>
            <p:txBody>
              <a:bodyPr/>
              <a:lstStyle/>
              <a:p>
                <a:r>
                  <a:rPr lang="en-US">
                    <a:noFill/>
                  </a:rPr>
                  <a:t> </a:t>
                </a:r>
              </a:p>
            </p:txBody>
          </p:sp>
        </mc:Fallback>
      </mc:AlternateContent>
    </p:spTree>
    <p:extLst>
      <p:ext uri="{BB962C8B-B14F-4D97-AF65-F5344CB8AC3E}">
        <p14:creationId xmlns:p14="http://schemas.microsoft.com/office/powerpoint/2010/main" val="2393425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33129-C00B-120B-3925-17A6B35FB58E}"/>
              </a:ext>
            </a:extLst>
          </p:cNvPr>
          <p:cNvSpPr>
            <a:spLocks noGrp="1"/>
          </p:cNvSpPr>
          <p:nvPr>
            <p:ph type="ctrTitle"/>
          </p:nvPr>
        </p:nvSpPr>
        <p:spPr/>
        <p:txBody>
          <a:bodyPr/>
          <a:lstStyle/>
          <a:p>
            <a:r>
              <a:rPr lang="en-US" dirty="0"/>
              <a:t>Extra Resources</a:t>
            </a:r>
          </a:p>
        </p:txBody>
      </p:sp>
    </p:spTree>
    <p:extLst>
      <p:ext uri="{BB962C8B-B14F-4D97-AF65-F5344CB8AC3E}">
        <p14:creationId xmlns:p14="http://schemas.microsoft.com/office/powerpoint/2010/main" val="5168810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31DF8-8278-9ADC-D1EF-6DBA62802CE2}"/>
              </a:ext>
            </a:extLst>
          </p:cNvPr>
          <p:cNvSpPr>
            <a:spLocks noGrp="1"/>
          </p:cNvSpPr>
          <p:nvPr>
            <p:ph type="title"/>
          </p:nvPr>
        </p:nvSpPr>
        <p:spPr/>
        <p:txBody>
          <a:bodyPr/>
          <a:lstStyle/>
          <a:p>
            <a:r>
              <a:rPr lang="en-US" dirty="0"/>
              <a:t>Stats Problem Generator</a:t>
            </a:r>
          </a:p>
        </p:txBody>
      </p:sp>
      <p:pic>
        <p:nvPicPr>
          <p:cNvPr id="4" name="Picture 3">
            <a:extLst>
              <a:ext uri="{FF2B5EF4-FFF2-40B4-BE49-F238E27FC236}">
                <a16:creationId xmlns:a16="http://schemas.microsoft.com/office/drawing/2014/main" id="{35E401E5-22A4-3B77-11B5-9559F73BC6FD}"/>
              </a:ext>
            </a:extLst>
          </p:cNvPr>
          <p:cNvPicPr>
            <a:picLocks noChangeAspect="1"/>
          </p:cNvPicPr>
          <p:nvPr/>
        </p:nvPicPr>
        <p:blipFill>
          <a:blip r:embed="rId2"/>
          <a:stretch>
            <a:fillRect/>
          </a:stretch>
        </p:blipFill>
        <p:spPr>
          <a:xfrm>
            <a:off x="1342921" y="1337804"/>
            <a:ext cx="9506158" cy="5401534"/>
          </a:xfrm>
          <a:prstGeom prst="rect">
            <a:avLst/>
          </a:prstGeom>
        </p:spPr>
      </p:pic>
      <p:sp>
        <p:nvSpPr>
          <p:cNvPr id="7" name="TextBox 6">
            <a:extLst>
              <a:ext uri="{FF2B5EF4-FFF2-40B4-BE49-F238E27FC236}">
                <a16:creationId xmlns:a16="http://schemas.microsoft.com/office/drawing/2014/main" id="{674DEBD6-1F29-DC70-7CE3-728C7AA25665}"/>
              </a:ext>
            </a:extLst>
          </p:cNvPr>
          <p:cNvSpPr txBox="1"/>
          <p:nvPr/>
        </p:nvSpPr>
        <p:spPr>
          <a:xfrm>
            <a:off x="6354792" y="6391537"/>
            <a:ext cx="6096000" cy="369332"/>
          </a:xfrm>
          <a:prstGeom prst="rect">
            <a:avLst/>
          </a:prstGeom>
          <a:noFill/>
        </p:spPr>
        <p:txBody>
          <a:bodyPr wrap="square">
            <a:spAutoFit/>
          </a:bodyPr>
          <a:lstStyle/>
          <a:p>
            <a:r>
              <a:rPr lang="en-US" dirty="0"/>
              <a:t>https://chadcwilliams.shinyapps.io/StatsProblemGenerator/</a:t>
            </a:r>
          </a:p>
        </p:txBody>
      </p:sp>
    </p:spTree>
    <p:extLst>
      <p:ext uri="{BB962C8B-B14F-4D97-AF65-F5344CB8AC3E}">
        <p14:creationId xmlns:p14="http://schemas.microsoft.com/office/powerpoint/2010/main" val="2406194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5BAC-64DB-9651-80D1-E1CAE9B846A5}"/>
              </a:ext>
            </a:extLst>
          </p:cNvPr>
          <p:cNvSpPr>
            <a:spLocks noGrp="1"/>
          </p:cNvSpPr>
          <p:nvPr>
            <p:ph type="title"/>
          </p:nvPr>
        </p:nvSpPr>
        <p:spPr/>
        <p:txBody>
          <a:bodyPr/>
          <a:lstStyle/>
          <a:p>
            <a:r>
              <a:rPr lang="en-US" dirty="0"/>
              <a:t>Extra Resources</a:t>
            </a:r>
          </a:p>
        </p:txBody>
      </p:sp>
      <p:pic>
        <p:nvPicPr>
          <p:cNvPr id="5" name="Picture 4" descr="A diagram of a normal distribution&#10;&#10;AI-generated content may be incorrect.">
            <a:hlinkClick r:id="rId2"/>
            <a:extLst>
              <a:ext uri="{FF2B5EF4-FFF2-40B4-BE49-F238E27FC236}">
                <a16:creationId xmlns:a16="http://schemas.microsoft.com/office/drawing/2014/main" id="{DE147ACC-939B-B1ED-00A1-30769512B9E0}"/>
              </a:ext>
            </a:extLst>
          </p:cNvPr>
          <p:cNvPicPr>
            <a:picLocks noChangeAspect="1"/>
          </p:cNvPicPr>
          <p:nvPr/>
        </p:nvPicPr>
        <p:blipFill>
          <a:blip r:embed="rId3"/>
          <a:stretch>
            <a:fillRect/>
          </a:stretch>
        </p:blipFill>
        <p:spPr>
          <a:xfrm>
            <a:off x="2592353" y="1891145"/>
            <a:ext cx="7007293" cy="3937291"/>
          </a:xfrm>
          <a:prstGeom prst="rect">
            <a:avLst/>
          </a:prstGeom>
        </p:spPr>
      </p:pic>
    </p:spTree>
    <p:extLst>
      <p:ext uri="{BB962C8B-B14F-4D97-AF65-F5344CB8AC3E}">
        <p14:creationId xmlns:p14="http://schemas.microsoft.com/office/powerpoint/2010/main" val="3198469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709</TotalTime>
  <Words>3830</Words>
  <Application>Microsoft Office PowerPoint</Application>
  <PresentationFormat>Widescreen</PresentationFormat>
  <Paragraphs>601</Paragraphs>
  <Slides>39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Calibri</vt:lpstr>
      <vt:lpstr>Calibri Light</vt:lpstr>
      <vt:lpstr>Cambria Math</vt:lpstr>
      <vt:lpstr>Office Theme</vt:lpstr>
      <vt:lpstr>Single Sample  Z-Test</vt:lpstr>
      <vt:lpstr>PowerPoint Presentation</vt:lpstr>
      <vt:lpstr>PowerPoint Presentation</vt:lpstr>
      <vt:lpstr>Single Participant versus Single Sample Design</vt:lpstr>
      <vt:lpstr>Single Participant vs Single Sample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2 - Changes </vt:lpstr>
      <vt:lpstr>PowerPoint Presentation</vt:lpstr>
      <vt:lpstr>Step 4 - Changes </vt:lpstr>
      <vt:lpstr>PowerPoint Presentation</vt:lpstr>
      <vt:lpstr>Step 6 - Changes </vt:lpstr>
      <vt:lpstr>PowerPoint Presentation</vt:lpstr>
      <vt:lpstr>PowerPoint Presentation</vt:lpstr>
      <vt:lpstr>PowerPoint Presentation</vt:lpstr>
      <vt:lpstr>Single Sample Example</vt:lpstr>
      <vt:lpstr>Step 1: Define Hypotheses</vt:lpstr>
      <vt:lpstr>PowerPoint Presentation</vt:lpstr>
      <vt:lpstr>Step 2: Select Sampling Distribution</vt:lpstr>
      <vt:lpstr>PowerPoint Presentation</vt:lpstr>
      <vt:lpstr>Step 3: Set a priori Criteria</vt:lpstr>
      <vt:lpstr>PowerPoint Presentation</vt:lpstr>
      <vt:lpstr>Step 4: Compute Statistics</vt:lpstr>
      <vt:lpstr>PowerPoint Presentation</vt:lpstr>
      <vt:lpstr>Step 4: Compute Statistics</vt:lpstr>
      <vt:lpstr>PowerPoint Presentation</vt:lpstr>
      <vt:lpstr>Step 5: Make Statistical Decision</vt:lpstr>
      <vt:lpstr>Step 5: Make Statistical Decision</vt:lpstr>
      <vt:lpstr>PowerPoint Presentation</vt:lpstr>
      <vt:lpstr>Step 6: Interpret your Outcome</vt:lpstr>
      <vt:lpstr>PowerPoint Presentation</vt:lpstr>
      <vt:lpstr>Extra Resources</vt:lpstr>
      <vt:lpstr>Stats Problem Generator</vt:lpstr>
      <vt:lpstr>Extra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Single-Sample  Design</dc:title>
  <dc:creator>Microsoft Office User</dc:creator>
  <cp:lastModifiedBy>Chad Williams</cp:lastModifiedBy>
  <cp:revision>250</cp:revision>
  <dcterms:created xsi:type="dcterms:W3CDTF">2021-06-10T18:06:22Z</dcterms:created>
  <dcterms:modified xsi:type="dcterms:W3CDTF">2026-08-20T21:02:06Z</dcterms:modified>
</cp:coreProperties>
</file>