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7" r:id="rId2"/>
    <p:sldId id="323" r:id="rId3"/>
    <p:sldId id="445" r:id="rId4"/>
    <p:sldId id="439" r:id="rId5"/>
    <p:sldId id="402" r:id="rId6"/>
    <p:sldId id="256" r:id="rId7"/>
    <p:sldId id="474" r:id="rId8"/>
    <p:sldId id="258" r:id="rId9"/>
    <p:sldId id="259" r:id="rId10"/>
    <p:sldId id="260" r:id="rId11"/>
    <p:sldId id="261" r:id="rId12"/>
    <p:sldId id="434" r:id="rId13"/>
    <p:sldId id="438" r:id="rId14"/>
    <p:sldId id="446" r:id="rId15"/>
    <p:sldId id="447" r:id="rId16"/>
    <p:sldId id="397" r:id="rId17"/>
    <p:sldId id="448" r:id="rId18"/>
    <p:sldId id="398" r:id="rId19"/>
    <p:sldId id="449" r:id="rId20"/>
    <p:sldId id="403" r:id="rId21"/>
    <p:sldId id="404" r:id="rId22"/>
    <p:sldId id="405" r:id="rId23"/>
    <p:sldId id="406" r:id="rId24"/>
    <p:sldId id="407" r:id="rId25"/>
    <p:sldId id="408" r:id="rId26"/>
    <p:sldId id="451" r:id="rId27"/>
    <p:sldId id="394" r:id="rId28"/>
    <p:sldId id="401" r:id="rId29"/>
    <p:sldId id="475" r:id="rId30"/>
    <p:sldId id="410" r:id="rId31"/>
    <p:sldId id="414" r:id="rId32"/>
    <p:sldId id="470" r:id="rId33"/>
    <p:sldId id="471" r:id="rId34"/>
    <p:sldId id="472" r:id="rId35"/>
    <p:sldId id="473" r:id="rId36"/>
    <p:sldId id="412" r:id="rId37"/>
    <p:sldId id="453" r:id="rId38"/>
    <p:sldId id="411" r:id="rId39"/>
    <p:sldId id="454" r:id="rId40"/>
    <p:sldId id="413" r:id="rId41"/>
    <p:sldId id="455" r:id="rId42"/>
    <p:sldId id="456" r:id="rId43"/>
    <p:sldId id="435" r:id="rId44"/>
    <p:sldId id="416" r:id="rId45"/>
    <p:sldId id="417" r:id="rId46"/>
    <p:sldId id="457" r:id="rId47"/>
    <p:sldId id="418" r:id="rId48"/>
    <p:sldId id="458" r:id="rId49"/>
    <p:sldId id="419" r:id="rId50"/>
    <p:sldId id="463" r:id="rId51"/>
    <p:sldId id="420" r:id="rId52"/>
    <p:sldId id="460" r:id="rId53"/>
    <p:sldId id="461" r:id="rId54"/>
    <p:sldId id="462" r:id="rId55"/>
    <p:sldId id="427" r:id="rId56"/>
    <p:sldId id="464" r:id="rId57"/>
    <p:sldId id="423" r:id="rId58"/>
    <p:sldId id="428" r:id="rId59"/>
    <p:sldId id="465" r:id="rId60"/>
    <p:sldId id="425" r:id="rId61"/>
    <p:sldId id="426" r:id="rId62"/>
    <p:sldId id="466" r:id="rId63"/>
    <p:sldId id="467" r:id="rId64"/>
    <p:sldId id="468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10" autoAdjust="0"/>
    <p:restoredTop sz="96327"/>
  </p:normalViewPr>
  <p:slideViewPr>
    <p:cSldViewPr snapToGrid="0" snapToObjects="1">
      <p:cViewPr varScale="1">
        <p:scale>
          <a:sx n="99" d="100"/>
          <a:sy n="99" d="100"/>
        </p:scale>
        <p:origin x="4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d Williams" userId="618f96a3-8672-4e43-ae03-eeed93bb7387" providerId="ADAL" clId="{DFF2BB08-185E-495B-B2A0-BE0942C7B81E}"/>
    <pc:docChg chg="undo redo custSel addSld delSld modSld sldOrd">
      <pc:chgData name="Chad Williams" userId="618f96a3-8672-4e43-ae03-eeed93bb7387" providerId="ADAL" clId="{DFF2BB08-185E-495B-B2A0-BE0942C7B81E}" dt="2026-08-17T19:38:08.434" v="4499" actId="167"/>
      <pc:docMkLst>
        <pc:docMk/>
      </pc:docMkLst>
      <pc:sldChg chg="add setBg">
        <pc:chgData name="Chad Williams" userId="618f96a3-8672-4e43-ae03-eeed93bb7387" providerId="ADAL" clId="{DFF2BB08-185E-495B-B2A0-BE0942C7B81E}" dt="2026-07-23T20:53:37.473" v="3468"/>
        <pc:sldMkLst>
          <pc:docMk/>
          <pc:sldMk cId="0" sldId="256"/>
        </pc:sldMkLst>
      </pc:sldChg>
      <pc:sldChg chg="modSp mod">
        <pc:chgData name="Chad Williams" userId="618f96a3-8672-4e43-ae03-eeed93bb7387" providerId="ADAL" clId="{DFF2BB08-185E-495B-B2A0-BE0942C7B81E}" dt="2026-07-22T22:51:38.020" v="2286" actId="20577"/>
        <pc:sldMkLst>
          <pc:docMk/>
          <pc:sldMk cId="3639529187" sldId="257"/>
        </pc:sldMkLst>
        <pc:spChg chg="mod">
          <ac:chgData name="Chad Williams" userId="618f96a3-8672-4e43-ae03-eeed93bb7387" providerId="ADAL" clId="{DFF2BB08-185E-495B-B2A0-BE0942C7B81E}" dt="2026-07-22T22:51:38.020" v="2286" actId="20577"/>
          <ac:spMkLst>
            <pc:docMk/>
            <pc:sldMk cId="3639529187" sldId="257"/>
            <ac:spMk id="2" creationId="{85904505-984A-784F-B784-AEBB8FD005B0}"/>
          </ac:spMkLst>
        </pc:spChg>
      </pc:sldChg>
      <pc:sldChg chg="add setBg">
        <pc:chgData name="Chad Williams" userId="618f96a3-8672-4e43-ae03-eeed93bb7387" providerId="ADAL" clId="{DFF2BB08-185E-495B-B2A0-BE0942C7B81E}" dt="2026-07-23T20:53:37.473" v="3468"/>
        <pc:sldMkLst>
          <pc:docMk/>
          <pc:sldMk cId="0" sldId="258"/>
        </pc:sldMkLst>
      </pc:sldChg>
      <pc:sldChg chg="modSp add del mod ord setBg">
        <pc:chgData name="Chad Williams" userId="618f96a3-8672-4e43-ae03-eeed93bb7387" providerId="ADAL" clId="{DFF2BB08-185E-495B-B2A0-BE0942C7B81E}" dt="2026-07-24T19:13:06.240" v="4236"/>
        <pc:sldMkLst>
          <pc:docMk/>
          <pc:sldMk cId="0" sldId="259"/>
        </pc:sldMkLst>
        <pc:spChg chg="mod">
          <ac:chgData name="Chad Williams" userId="618f96a3-8672-4e43-ae03-eeed93bb7387" providerId="ADAL" clId="{DFF2BB08-185E-495B-B2A0-BE0942C7B81E}" dt="2026-07-24T19:13:06.240" v="4236"/>
          <ac:spMkLst>
            <pc:docMk/>
            <pc:sldMk cId="0" sldId="259"/>
            <ac:spMk id="76" creationId="{00000000-0000-0000-0000-000000000000}"/>
          </ac:spMkLst>
        </pc:spChg>
        <pc:spChg chg="mod">
          <ac:chgData name="Chad Williams" userId="618f96a3-8672-4e43-ae03-eeed93bb7387" providerId="ADAL" clId="{DFF2BB08-185E-495B-B2A0-BE0942C7B81E}" dt="2026-07-24T18:52:22.887" v="4143" actId="313"/>
          <ac:spMkLst>
            <pc:docMk/>
            <pc:sldMk cId="0" sldId="259"/>
            <ac:spMk id="78" creationId="{00000000-0000-0000-0000-000000000000}"/>
          </ac:spMkLst>
        </pc:spChg>
      </pc:sldChg>
      <pc:sldChg chg="modSp add setBg modAnim">
        <pc:chgData name="Chad Williams" userId="618f96a3-8672-4e43-ae03-eeed93bb7387" providerId="ADAL" clId="{DFF2BB08-185E-495B-B2A0-BE0942C7B81E}" dt="2026-07-24T18:52:24.381" v="4144" actId="313"/>
        <pc:sldMkLst>
          <pc:docMk/>
          <pc:sldMk cId="0" sldId="260"/>
        </pc:sldMkLst>
        <pc:spChg chg="mod">
          <ac:chgData name="Chad Williams" userId="618f96a3-8672-4e43-ae03-eeed93bb7387" providerId="ADAL" clId="{DFF2BB08-185E-495B-B2A0-BE0942C7B81E}" dt="2026-07-24T18:52:24.381" v="4144" actId="313"/>
          <ac:spMkLst>
            <pc:docMk/>
            <pc:sldMk cId="0" sldId="260"/>
            <ac:spMk id="165" creationId="{0FCE6092-2F21-1399-2F0B-19D1E7AE1C52}"/>
          </ac:spMkLst>
        </pc:spChg>
      </pc:sldChg>
      <pc:sldChg chg="modSp add mod setBg">
        <pc:chgData name="Chad Williams" userId="618f96a3-8672-4e43-ae03-eeed93bb7387" providerId="ADAL" clId="{DFF2BB08-185E-495B-B2A0-BE0942C7B81E}" dt="2026-07-24T18:52:25.623" v="4145" actId="313"/>
        <pc:sldMkLst>
          <pc:docMk/>
          <pc:sldMk cId="0" sldId="261"/>
        </pc:sldMkLst>
        <pc:spChg chg="mod">
          <ac:chgData name="Chad Williams" userId="618f96a3-8672-4e43-ae03-eeed93bb7387" providerId="ADAL" clId="{DFF2BB08-185E-495B-B2A0-BE0942C7B81E}" dt="2026-07-24T18:52:25.623" v="4145" actId="313"/>
          <ac:spMkLst>
            <pc:docMk/>
            <pc:sldMk cId="0" sldId="261"/>
            <ac:spMk id="163" creationId="{9F9883F1-3CB2-6C8B-2B9C-285B2E688A6E}"/>
          </ac:spMkLst>
        </pc:spChg>
      </pc:sldChg>
      <pc:sldChg chg="modSp mod">
        <pc:chgData name="Chad Williams" userId="618f96a3-8672-4e43-ae03-eeed93bb7387" providerId="ADAL" clId="{DFF2BB08-185E-495B-B2A0-BE0942C7B81E}" dt="2026-07-24T18:50:54.104" v="4124" actId="20577"/>
        <pc:sldMkLst>
          <pc:docMk/>
          <pc:sldMk cId="1322515974" sldId="394"/>
        </pc:sldMkLst>
        <pc:spChg chg="mod">
          <ac:chgData name="Chad Williams" userId="618f96a3-8672-4e43-ae03-eeed93bb7387" providerId="ADAL" clId="{DFF2BB08-185E-495B-B2A0-BE0942C7B81E}" dt="2026-07-23T19:46:34.022" v="3069" actId="20577"/>
          <ac:spMkLst>
            <pc:docMk/>
            <pc:sldMk cId="1322515974" sldId="394"/>
            <ac:spMk id="3" creationId="{AFA697E4-29FA-5846-9A92-5545C75218AC}"/>
          </ac:spMkLst>
        </pc:spChg>
        <pc:spChg chg="mod">
          <ac:chgData name="Chad Williams" userId="618f96a3-8672-4e43-ae03-eeed93bb7387" providerId="ADAL" clId="{DFF2BB08-185E-495B-B2A0-BE0942C7B81E}" dt="2026-07-24T18:50:54.104" v="4124" actId="20577"/>
          <ac:spMkLst>
            <pc:docMk/>
            <pc:sldMk cId="1322515974" sldId="394"/>
            <ac:spMk id="9" creationId="{856245B2-566B-6447-AB7F-25C886772B34}"/>
          </ac:spMkLst>
        </pc:spChg>
      </pc:sldChg>
      <pc:sldChg chg="modSp mod">
        <pc:chgData name="Chad Williams" userId="618f96a3-8672-4e43-ae03-eeed93bb7387" providerId="ADAL" clId="{DFF2BB08-185E-495B-B2A0-BE0942C7B81E}" dt="2026-07-29T21:57:17.332" v="4351"/>
        <pc:sldMkLst>
          <pc:docMk/>
          <pc:sldMk cId="2330517083" sldId="397"/>
        </pc:sldMkLst>
        <pc:graphicFrameChg chg="mod modGraphic">
          <ac:chgData name="Chad Williams" userId="618f96a3-8672-4e43-ae03-eeed93bb7387" providerId="ADAL" clId="{DFF2BB08-185E-495B-B2A0-BE0942C7B81E}" dt="2026-07-29T21:57:17.332" v="4351"/>
          <ac:graphicFrameMkLst>
            <pc:docMk/>
            <pc:sldMk cId="2330517083" sldId="397"/>
            <ac:graphicFrameMk id="6" creationId="{65847B1B-AABC-E341-8F28-A2D6CE0281FD}"/>
          </ac:graphicFrameMkLst>
        </pc:graphicFrameChg>
      </pc:sldChg>
      <pc:sldChg chg="modSp mod">
        <pc:chgData name="Chad Williams" userId="618f96a3-8672-4e43-ae03-eeed93bb7387" providerId="ADAL" clId="{DFF2BB08-185E-495B-B2A0-BE0942C7B81E}" dt="2026-07-23T19:23:06.997" v="2679" actId="207"/>
        <pc:sldMkLst>
          <pc:docMk/>
          <pc:sldMk cId="1316495656" sldId="398"/>
        </pc:sldMkLst>
        <pc:graphicFrameChg chg="mod modGraphic">
          <ac:chgData name="Chad Williams" userId="618f96a3-8672-4e43-ae03-eeed93bb7387" providerId="ADAL" clId="{DFF2BB08-185E-495B-B2A0-BE0942C7B81E}" dt="2026-07-23T19:23:06.997" v="2679" actId="207"/>
          <ac:graphicFrameMkLst>
            <pc:docMk/>
            <pc:sldMk cId="1316495656" sldId="398"/>
            <ac:graphicFrameMk id="6" creationId="{65847B1B-AABC-E341-8F28-A2D6CE0281FD}"/>
          </ac:graphicFrameMkLst>
        </pc:graphicFrameChg>
      </pc:sldChg>
      <pc:sldChg chg="addSp delSp modSp mod addAnim delAnim modAnim">
        <pc:chgData name="Chad Williams" userId="618f96a3-8672-4e43-ae03-eeed93bb7387" providerId="ADAL" clId="{DFF2BB08-185E-495B-B2A0-BE0942C7B81E}" dt="2026-07-24T18:51:19.236" v="4128"/>
        <pc:sldMkLst>
          <pc:docMk/>
          <pc:sldMk cId="575279234" sldId="401"/>
        </pc:sldMkLst>
        <pc:spChg chg="mod">
          <ac:chgData name="Chad Williams" userId="618f96a3-8672-4e43-ae03-eeed93bb7387" providerId="ADAL" clId="{DFF2BB08-185E-495B-B2A0-BE0942C7B81E}" dt="2026-07-24T18:51:13.607" v="4127" actId="1076"/>
          <ac:spMkLst>
            <pc:docMk/>
            <pc:sldMk cId="575279234" sldId="401"/>
            <ac:spMk id="3" creationId="{AFA697E4-29FA-5846-9A92-5545C75218AC}"/>
          </ac:spMkLst>
        </pc:spChg>
      </pc:sldChg>
      <pc:sldChg chg="modSp">
        <pc:chgData name="Chad Williams" userId="618f96a3-8672-4e43-ae03-eeed93bb7387" providerId="ADAL" clId="{DFF2BB08-185E-495B-B2A0-BE0942C7B81E}" dt="2026-07-23T18:46:25.324" v="2321" actId="207"/>
        <pc:sldMkLst>
          <pc:docMk/>
          <pc:sldMk cId="1784672498" sldId="402"/>
        </pc:sldMkLst>
        <pc:spChg chg="mod">
          <ac:chgData name="Chad Williams" userId="618f96a3-8672-4e43-ae03-eeed93bb7387" providerId="ADAL" clId="{DFF2BB08-185E-495B-B2A0-BE0942C7B81E}" dt="2026-07-23T18:46:25.324" v="2321" actId="207"/>
          <ac:spMkLst>
            <pc:docMk/>
            <pc:sldMk cId="1784672498" sldId="402"/>
            <ac:spMk id="3" creationId="{08FC33DC-0B59-D431-F076-692A869AFF57}"/>
          </ac:spMkLst>
        </pc:spChg>
      </pc:sldChg>
      <pc:sldChg chg="modSp modAnim">
        <pc:chgData name="Chad Williams" userId="618f96a3-8672-4e43-ae03-eeed93bb7387" providerId="ADAL" clId="{DFF2BB08-185E-495B-B2A0-BE0942C7B81E}" dt="2026-07-23T19:25:33.732" v="2841" actId="114"/>
        <pc:sldMkLst>
          <pc:docMk/>
          <pc:sldMk cId="1365723377" sldId="403"/>
        </pc:sldMkLst>
        <pc:spChg chg="mod">
          <ac:chgData name="Chad Williams" userId="618f96a3-8672-4e43-ae03-eeed93bb7387" providerId="ADAL" clId="{DFF2BB08-185E-495B-B2A0-BE0942C7B81E}" dt="2026-07-23T19:25:33.732" v="2841" actId="114"/>
          <ac:spMkLst>
            <pc:docMk/>
            <pc:sldMk cId="1365723377" sldId="403"/>
            <ac:spMk id="8" creationId="{14F66760-42F5-6C42-8B8A-13F64F99B56F}"/>
          </ac:spMkLst>
        </pc:spChg>
      </pc:sldChg>
      <pc:sldChg chg="modSp">
        <pc:chgData name="Chad Williams" userId="618f96a3-8672-4e43-ae03-eeed93bb7387" providerId="ADAL" clId="{DFF2BB08-185E-495B-B2A0-BE0942C7B81E}" dt="2026-07-23T19:25:50.120" v="2845" actId="114"/>
        <pc:sldMkLst>
          <pc:docMk/>
          <pc:sldMk cId="1909668979" sldId="404"/>
        </pc:sldMkLst>
        <pc:spChg chg="mod">
          <ac:chgData name="Chad Williams" userId="618f96a3-8672-4e43-ae03-eeed93bb7387" providerId="ADAL" clId="{DFF2BB08-185E-495B-B2A0-BE0942C7B81E}" dt="2026-07-23T19:25:50.120" v="2845" actId="114"/>
          <ac:spMkLst>
            <pc:docMk/>
            <pc:sldMk cId="1909668979" sldId="404"/>
            <ac:spMk id="3" creationId="{3D042D33-F653-D044-BDC9-1ACDD29EF878}"/>
          </ac:spMkLst>
        </pc:spChg>
      </pc:sldChg>
      <pc:sldChg chg="addSp delSp modSp mod delAnim modAnim">
        <pc:chgData name="Chad Williams" userId="618f96a3-8672-4e43-ae03-eeed93bb7387" providerId="ADAL" clId="{DFF2BB08-185E-495B-B2A0-BE0942C7B81E}" dt="2026-07-23T19:41:47.497" v="3009" actId="1076"/>
        <pc:sldMkLst>
          <pc:docMk/>
          <pc:sldMk cId="273828977" sldId="406"/>
        </pc:sldMkLst>
        <pc:spChg chg="add mod">
          <ac:chgData name="Chad Williams" userId="618f96a3-8672-4e43-ae03-eeed93bb7387" providerId="ADAL" clId="{DFF2BB08-185E-495B-B2A0-BE0942C7B81E}" dt="2026-07-23T19:26:39.602" v="2854" actId="1076"/>
          <ac:spMkLst>
            <pc:docMk/>
            <pc:sldMk cId="273828977" sldId="406"/>
            <ac:spMk id="3" creationId="{8F94CA3B-1382-95DC-4355-58FA68F3EDD5}"/>
          </ac:spMkLst>
        </pc:spChg>
        <pc:spChg chg="add mod">
          <ac:chgData name="Chad Williams" userId="618f96a3-8672-4e43-ae03-eeed93bb7387" providerId="ADAL" clId="{DFF2BB08-185E-495B-B2A0-BE0942C7B81E}" dt="2026-07-23T19:40:33.033" v="2926" actId="114"/>
          <ac:spMkLst>
            <pc:docMk/>
            <pc:sldMk cId="273828977" sldId="406"/>
            <ac:spMk id="6" creationId="{6F765B04-ACE4-6963-DD3A-245B754838F0}"/>
          </ac:spMkLst>
        </pc:spChg>
        <pc:spChg chg="add mod">
          <ac:chgData name="Chad Williams" userId="618f96a3-8672-4e43-ae03-eeed93bb7387" providerId="ADAL" clId="{DFF2BB08-185E-495B-B2A0-BE0942C7B81E}" dt="2026-07-23T19:27:28.700" v="2893" actId="1076"/>
          <ac:spMkLst>
            <pc:docMk/>
            <pc:sldMk cId="273828977" sldId="406"/>
            <ac:spMk id="9" creationId="{D603F0B7-3896-07E6-278A-3FCEDA9B88D1}"/>
          </ac:spMkLst>
        </pc:spChg>
        <pc:spChg chg="add mod">
          <ac:chgData name="Chad Williams" userId="618f96a3-8672-4e43-ae03-eeed93bb7387" providerId="ADAL" clId="{DFF2BB08-185E-495B-B2A0-BE0942C7B81E}" dt="2026-07-23T19:27:58.226" v="2917" actId="1076"/>
          <ac:spMkLst>
            <pc:docMk/>
            <pc:sldMk cId="273828977" sldId="406"/>
            <ac:spMk id="10" creationId="{D5F193AA-9EBD-11A4-ED43-C23E0FF64C7A}"/>
          </ac:spMkLst>
        </pc:spChg>
        <pc:spChg chg="add mod ord">
          <ac:chgData name="Chad Williams" userId="618f96a3-8672-4e43-ae03-eeed93bb7387" providerId="ADAL" clId="{DFF2BB08-185E-495B-B2A0-BE0942C7B81E}" dt="2026-07-23T19:27:43.357" v="2899" actId="167"/>
          <ac:spMkLst>
            <pc:docMk/>
            <pc:sldMk cId="273828977" sldId="406"/>
            <ac:spMk id="11" creationId="{BB5B965B-665F-10E6-673D-44F0A18FF2E2}"/>
          </ac:spMkLst>
        </pc:spChg>
        <pc:spChg chg="add mod">
          <ac:chgData name="Chad Williams" userId="618f96a3-8672-4e43-ae03-eeed93bb7387" providerId="ADAL" clId="{DFF2BB08-185E-495B-B2A0-BE0942C7B81E}" dt="2026-07-23T19:40:28.522" v="2922" actId="1076"/>
          <ac:spMkLst>
            <pc:docMk/>
            <pc:sldMk cId="273828977" sldId="406"/>
            <ac:spMk id="14" creationId="{37478A99-3028-52E7-2947-8DD3B12DD2B9}"/>
          </ac:spMkLst>
        </pc:spChg>
        <pc:spChg chg="add mod">
          <ac:chgData name="Chad Williams" userId="618f96a3-8672-4e43-ae03-eeed93bb7387" providerId="ADAL" clId="{DFF2BB08-185E-495B-B2A0-BE0942C7B81E}" dt="2026-07-23T19:41:00.490" v="2945" actId="20577"/>
          <ac:spMkLst>
            <pc:docMk/>
            <pc:sldMk cId="273828977" sldId="406"/>
            <ac:spMk id="15" creationId="{EA6F0B0D-2C13-E008-F586-F7D76A93146C}"/>
          </ac:spMkLst>
        </pc:spChg>
        <pc:spChg chg="add mod">
          <ac:chgData name="Chad Williams" userId="618f96a3-8672-4e43-ae03-eeed93bb7387" providerId="ADAL" clId="{DFF2BB08-185E-495B-B2A0-BE0942C7B81E}" dt="2026-07-23T19:41:15.652" v="2963" actId="1076"/>
          <ac:spMkLst>
            <pc:docMk/>
            <pc:sldMk cId="273828977" sldId="406"/>
            <ac:spMk id="16" creationId="{DFA5F9B6-E29B-0ABA-E60A-81AA50EED58E}"/>
          </ac:spMkLst>
        </pc:spChg>
        <pc:spChg chg="add mod">
          <ac:chgData name="Chad Williams" userId="618f96a3-8672-4e43-ae03-eeed93bb7387" providerId="ADAL" clId="{DFF2BB08-185E-495B-B2A0-BE0942C7B81E}" dt="2026-07-23T19:41:19.556" v="2964" actId="1076"/>
          <ac:spMkLst>
            <pc:docMk/>
            <pc:sldMk cId="273828977" sldId="406"/>
            <ac:spMk id="17" creationId="{8084810D-964C-1AD5-2CA2-985CCC2A3C8C}"/>
          </ac:spMkLst>
        </pc:spChg>
        <pc:spChg chg="add mod">
          <ac:chgData name="Chad Williams" userId="618f96a3-8672-4e43-ae03-eeed93bb7387" providerId="ADAL" clId="{DFF2BB08-185E-495B-B2A0-BE0942C7B81E}" dt="2026-07-23T19:41:29.280" v="2968" actId="1076"/>
          <ac:spMkLst>
            <pc:docMk/>
            <pc:sldMk cId="273828977" sldId="406"/>
            <ac:spMk id="18" creationId="{51F5C806-7640-2BF3-24AE-312B8A6AB361}"/>
          </ac:spMkLst>
        </pc:spChg>
        <pc:spChg chg="add mod">
          <ac:chgData name="Chad Williams" userId="618f96a3-8672-4e43-ae03-eeed93bb7387" providerId="ADAL" clId="{DFF2BB08-185E-495B-B2A0-BE0942C7B81E}" dt="2026-07-23T19:41:47.497" v="3009" actId="1076"/>
          <ac:spMkLst>
            <pc:docMk/>
            <pc:sldMk cId="273828977" sldId="406"/>
            <ac:spMk id="19" creationId="{30C7E237-FDBA-99BA-6EB4-8FF7CCECCBE5}"/>
          </ac:spMkLst>
        </pc:spChg>
      </pc:sldChg>
      <pc:sldChg chg="modSp modAnim">
        <pc:chgData name="Chad Williams" userId="618f96a3-8672-4e43-ae03-eeed93bb7387" providerId="ADAL" clId="{DFF2BB08-185E-495B-B2A0-BE0942C7B81E}" dt="2026-07-23T19:43:52.552" v="3038"/>
        <pc:sldMkLst>
          <pc:docMk/>
          <pc:sldMk cId="2980625870" sldId="407"/>
        </pc:sldMkLst>
        <pc:spChg chg="mod">
          <ac:chgData name="Chad Williams" userId="618f96a3-8672-4e43-ae03-eeed93bb7387" providerId="ADAL" clId="{DFF2BB08-185E-495B-B2A0-BE0942C7B81E}" dt="2026-07-23T19:43:05.908" v="3037" actId="114"/>
          <ac:spMkLst>
            <pc:docMk/>
            <pc:sldMk cId="2980625870" sldId="407"/>
            <ac:spMk id="4" creationId="{EE8496BC-DFD0-8F4D-B5BD-B0DA5B3963DD}"/>
          </ac:spMkLst>
        </pc:spChg>
      </pc:sldChg>
      <pc:sldChg chg="modSp modAnim">
        <pc:chgData name="Chad Williams" userId="618f96a3-8672-4e43-ae03-eeed93bb7387" providerId="ADAL" clId="{DFF2BB08-185E-495B-B2A0-BE0942C7B81E}" dt="2026-07-23T19:45:27.858" v="3051"/>
        <pc:sldMkLst>
          <pc:docMk/>
          <pc:sldMk cId="940411276" sldId="408"/>
        </pc:sldMkLst>
        <pc:spChg chg="mod">
          <ac:chgData name="Chad Williams" userId="618f96a3-8672-4e43-ae03-eeed93bb7387" providerId="ADAL" clId="{DFF2BB08-185E-495B-B2A0-BE0942C7B81E}" dt="2026-07-23T19:44:42.958" v="3046" actId="404"/>
          <ac:spMkLst>
            <pc:docMk/>
            <pc:sldMk cId="940411276" sldId="408"/>
            <ac:spMk id="4" creationId="{EE8496BC-DFD0-8F4D-B5BD-B0DA5B3963DD}"/>
          </ac:spMkLst>
        </pc:spChg>
      </pc:sldChg>
      <pc:sldChg chg="modSp modAnim">
        <pc:chgData name="Chad Williams" userId="618f96a3-8672-4e43-ae03-eeed93bb7387" providerId="ADAL" clId="{DFF2BB08-185E-495B-B2A0-BE0942C7B81E}" dt="2026-07-24T18:41:40.437" v="4020" actId="20577"/>
        <pc:sldMkLst>
          <pc:docMk/>
          <pc:sldMk cId="1315332972" sldId="410"/>
        </pc:sldMkLst>
        <pc:spChg chg="mod">
          <ac:chgData name="Chad Williams" userId="618f96a3-8672-4e43-ae03-eeed93bb7387" providerId="ADAL" clId="{DFF2BB08-185E-495B-B2A0-BE0942C7B81E}" dt="2026-07-24T18:41:40.437" v="4020" actId="20577"/>
          <ac:spMkLst>
            <pc:docMk/>
            <pc:sldMk cId="1315332972" sldId="410"/>
            <ac:spMk id="4" creationId="{FB636B0E-BC06-3B4F-B3DE-0C27B5BA0407}"/>
          </ac:spMkLst>
        </pc:spChg>
      </pc:sldChg>
      <pc:sldChg chg="modSp mod modAnim">
        <pc:chgData name="Chad Williams" userId="618f96a3-8672-4e43-ae03-eeed93bb7387" providerId="ADAL" clId="{DFF2BB08-185E-495B-B2A0-BE0942C7B81E}" dt="2026-07-24T19:09:57.570" v="4217" actId="20577"/>
        <pc:sldMkLst>
          <pc:docMk/>
          <pc:sldMk cId="1948041765" sldId="411"/>
        </pc:sldMkLst>
        <pc:spChg chg="mod">
          <ac:chgData name="Chad Williams" userId="618f96a3-8672-4e43-ae03-eeed93bb7387" providerId="ADAL" clId="{DFF2BB08-185E-495B-B2A0-BE0942C7B81E}" dt="2026-07-24T19:09:57.570" v="4217" actId="20577"/>
          <ac:spMkLst>
            <pc:docMk/>
            <pc:sldMk cId="1948041765" sldId="411"/>
            <ac:spMk id="4" creationId="{FB636B0E-BC06-3B4F-B3DE-0C27B5BA0407}"/>
          </ac:spMkLst>
        </pc:spChg>
        <pc:picChg chg="mod">
          <ac:chgData name="Chad Williams" userId="618f96a3-8672-4e43-ae03-eeed93bb7387" providerId="ADAL" clId="{DFF2BB08-185E-495B-B2A0-BE0942C7B81E}" dt="2026-07-23T20:07:22.627" v="3353" actId="1076"/>
          <ac:picMkLst>
            <pc:docMk/>
            <pc:sldMk cId="1948041765" sldId="411"/>
            <ac:picMk id="5" creationId="{A0A442C2-3C8F-4A46-BC71-41F4C6421919}"/>
          </ac:picMkLst>
        </pc:picChg>
      </pc:sldChg>
      <pc:sldChg chg="delSp modSp mod">
        <pc:chgData name="Chad Williams" userId="618f96a3-8672-4e43-ae03-eeed93bb7387" providerId="ADAL" clId="{DFF2BB08-185E-495B-B2A0-BE0942C7B81E}" dt="2026-07-23T20:06:25.023" v="3341" actId="1076"/>
        <pc:sldMkLst>
          <pc:docMk/>
          <pc:sldMk cId="1285515010" sldId="412"/>
        </pc:sldMkLst>
        <pc:graphicFrameChg chg="mod modGraphic">
          <ac:chgData name="Chad Williams" userId="618f96a3-8672-4e43-ae03-eeed93bb7387" providerId="ADAL" clId="{DFF2BB08-185E-495B-B2A0-BE0942C7B81E}" dt="2026-07-23T20:06:25.023" v="3341" actId="1076"/>
          <ac:graphicFrameMkLst>
            <pc:docMk/>
            <pc:sldMk cId="1285515010" sldId="412"/>
            <ac:graphicFrameMk id="6" creationId="{65847B1B-AABC-E341-8F28-A2D6CE0281FD}"/>
          </ac:graphicFrameMkLst>
        </pc:graphicFrameChg>
      </pc:sldChg>
      <pc:sldChg chg="modSp mod">
        <pc:chgData name="Chad Williams" userId="618f96a3-8672-4e43-ae03-eeed93bb7387" providerId="ADAL" clId="{DFF2BB08-185E-495B-B2A0-BE0942C7B81E}" dt="2026-07-24T19:11:59.286" v="4231" actId="20577"/>
        <pc:sldMkLst>
          <pc:docMk/>
          <pc:sldMk cId="3526856360" sldId="413"/>
        </pc:sldMkLst>
        <pc:graphicFrameChg chg="modGraphic">
          <ac:chgData name="Chad Williams" userId="618f96a3-8672-4e43-ae03-eeed93bb7387" providerId="ADAL" clId="{DFF2BB08-185E-495B-B2A0-BE0942C7B81E}" dt="2026-07-24T19:11:59.286" v="4231" actId="20577"/>
          <ac:graphicFrameMkLst>
            <pc:docMk/>
            <pc:sldMk cId="3526856360" sldId="413"/>
            <ac:graphicFrameMk id="8" creationId="{5CA7A3AE-218A-6B40-A24F-88F3FB2C06DA}"/>
          </ac:graphicFrameMkLst>
        </pc:graphicFrameChg>
      </pc:sldChg>
      <pc:sldChg chg="addSp delSp modSp mod delAnim modAnim">
        <pc:chgData name="Chad Williams" userId="618f96a3-8672-4e43-ae03-eeed93bb7387" providerId="ADAL" clId="{DFF2BB08-185E-495B-B2A0-BE0942C7B81E}" dt="2026-07-24T18:42:09.876" v="4021"/>
        <pc:sldMkLst>
          <pc:docMk/>
          <pc:sldMk cId="53297815" sldId="414"/>
        </pc:sldMkLst>
        <pc:spChg chg="add mod">
          <ac:chgData name="Chad Williams" userId="618f96a3-8672-4e43-ae03-eeed93bb7387" providerId="ADAL" clId="{DFF2BB08-185E-495B-B2A0-BE0942C7B81E}" dt="2026-07-23T19:54:06.835" v="3171" actId="1038"/>
          <ac:spMkLst>
            <pc:docMk/>
            <pc:sldMk cId="53297815" sldId="414"/>
            <ac:spMk id="7" creationId="{1DE3463D-A615-D45A-A92C-6B94FA56DD63}"/>
          </ac:spMkLst>
        </pc:spChg>
        <pc:spChg chg="add mod">
          <ac:chgData name="Chad Williams" userId="618f96a3-8672-4e43-ae03-eeed93bb7387" providerId="ADAL" clId="{DFF2BB08-185E-495B-B2A0-BE0942C7B81E}" dt="2026-07-23T19:55:38.455" v="3209" actId="20577"/>
          <ac:spMkLst>
            <pc:docMk/>
            <pc:sldMk cId="53297815" sldId="414"/>
            <ac:spMk id="10" creationId="{0F0E9F27-3DBF-E9BF-35EF-2E857227D82E}"/>
          </ac:spMkLst>
        </pc:spChg>
        <pc:spChg chg="add mod">
          <ac:chgData name="Chad Williams" userId="618f96a3-8672-4e43-ae03-eeed93bb7387" providerId="ADAL" clId="{DFF2BB08-185E-495B-B2A0-BE0942C7B81E}" dt="2026-07-23T20:00:36.328" v="3299" actId="1076"/>
          <ac:spMkLst>
            <pc:docMk/>
            <pc:sldMk cId="53297815" sldId="414"/>
            <ac:spMk id="12" creationId="{0164A5F3-27E7-FA4C-EEBB-9BF1E7B18B25}"/>
          </ac:spMkLst>
        </pc:spChg>
        <pc:picChg chg="mod modCrop">
          <ac:chgData name="Chad Williams" userId="618f96a3-8672-4e43-ae03-eeed93bb7387" providerId="ADAL" clId="{DFF2BB08-185E-495B-B2A0-BE0942C7B81E}" dt="2026-07-23T19:55:00.727" v="3198" actId="1076"/>
          <ac:picMkLst>
            <pc:docMk/>
            <pc:sldMk cId="53297815" sldId="414"/>
            <ac:picMk id="5" creationId="{A0A442C2-3C8F-4A46-BC71-41F4C6421919}"/>
          </ac:picMkLst>
        </pc:picChg>
        <pc:cxnChg chg="add mod">
          <ac:chgData name="Chad Williams" userId="618f96a3-8672-4e43-ae03-eeed93bb7387" providerId="ADAL" clId="{DFF2BB08-185E-495B-B2A0-BE0942C7B81E}" dt="2026-07-23T19:54:28.690" v="3175"/>
          <ac:cxnSpMkLst>
            <pc:docMk/>
            <pc:sldMk cId="53297815" sldId="414"/>
            <ac:cxnSpMk id="9" creationId="{96F9A921-DA6C-7680-C42B-468052CEF473}"/>
          </ac:cxnSpMkLst>
        </pc:cxnChg>
        <pc:cxnChg chg="add mod">
          <ac:chgData name="Chad Williams" userId="618f96a3-8672-4e43-ae03-eeed93bb7387" providerId="ADAL" clId="{DFF2BB08-185E-495B-B2A0-BE0942C7B81E}" dt="2026-07-23T19:57:04.693" v="3252"/>
          <ac:cxnSpMkLst>
            <pc:docMk/>
            <pc:sldMk cId="53297815" sldId="414"/>
            <ac:cxnSpMk id="13" creationId="{F38FD9BB-A916-B435-0D57-00A2B872C557}"/>
          </ac:cxnSpMkLst>
        </pc:cxnChg>
      </pc:sldChg>
      <pc:sldChg chg="addSp modSp mod">
        <pc:chgData name="Chad Williams" userId="618f96a3-8672-4e43-ae03-eeed93bb7387" providerId="ADAL" clId="{DFF2BB08-185E-495B-B2A0-BE0942C7B81E}" dt="2026-07-24T19:16:15.345" v="4248" actId="313"/>
        <pc:sldMkLst>
          <pc:docMk/>
          <pc:sldMk cId="2185850861" sldId="416"/>
        </pc:sldMkLst>
        <pc:spChg chg="mod">
          <ac:chgData name="Chad Williams" userId="618f96a3-8672-4e43-ae03-eeed93bb7387" providerId="ADAL" clId="{DFF2BB08-185E-495B-B2A0-BE0942C7B81E}" dt="2026-07-24T19:16:15.345" v="4248" actId="313"/>
          <ac:spMkLst>
            <pc:docMk/>
            <pc:sldMk cId="2185850861" sldId="416"/>
            <ac:spMk id="3" creationId="{A4D381D9-1BF6-1646-B2E2-AF1DBEBE6B10}"/>
          </ac:spMkLst>
        </pc:spChg>
        <pc:picChg chg="add mod modCrop">
          <ac:chgData name="Chad Williams" userId="618f96a3-8672-4e43-ae03-eeed93bb7387" providerId="ADAL" clId="{DFF2BB08-185E-495B-B2A0-BE0942C7B81E}" dt="2026-07-24T17:20:52.150" v="3509" actId="1076"/>
          <ac:picMkLst>
            <pc:docMk/>
            <pc:sldMk cId="2185850861" sldId="416"/>
            <ac:picMk id="4" creationId="{03CC7FB8-F158-49A8-1DF6-0DB95EF50D8B}"/>
          </ac:picMkLst>
        </pc:picChg>
        <pc:picChg chg="add mod">
          <ac:chgData name="Chad Williams" userId="618f96a3-8672-4e43-ae03-eeed93bb7387" providerId="ADAL" clId="{DFF2BB08-185E-495B-B2A0-BE0942C7B81E}" dt="2026-07-24T17:27:12.951" v="3838" actId="14100"/>
          <ac:picMkLst>
            <pc:docMk/>
            <pc:sldMk cId="2185850861" sldId="416"/>
            <ac:picMk id="6" creationId="{03BB29B8-FF6A-ED59-D1A8-D28284FB0E1F}"/>
          </ac:picMkLst>
        </pc:picChg>
      </pc:sldChg>
      <pc:sldChg chg="modSp mod modAnim">
        <pc:chgData name="Chad Williams" userId="618f96a3-8672-4e43-ae03-eeed93bb7387" providerId="ADAL" clId="{DFF2BB08-185E-495B-B2A0-BE0942C7B81E}" dt="2026-07-29T22:04:26.637" v="4441" actId="20577"/>
        <pc:sldMkLst>
          <pc:docMk/>
          <pc:sldMk cId="4171850214" sldId="417"/>
        </pc:sldMkLst>
        <pc:spChg chg="mod">
          <ac:chgData name="Chad Williams" userId="618f96a3-8672-4e43-ae03-eeed93bb7387" providerId="ADAL" clId="{DFF2BB08-185E-495B-B2A0-BE0942C7B81E}" dt="2026-07-29T22:04:26.637" v="4441" actId="20577"/>
          <ac:spMkLst>
            <pc:docMk/>
            <pc:sldMk cId="4171850214" sldId="417"/>
            <ac:spMk id="3" creationId="{A4D381D9-1BF6-1646-B2E2-AF1DBEBE6B10}"/>
          </ac:spMkLst>
        </pc:spChg>
      </pc:sldChg>
      <pc:sldChg chg="modSp mod">
        <pc:chgData name="Chad Williams" userId="618f96a3-8672-4e43-ae03-eeed93bb7387" providerId="ADAL" clId="{DFF2BB08-185E-495B-B2A0-BE0942C7B81E}" dt="2026-07-29T22:03:49.809" v="4433" actId="20577"/>
        <pc:sldMkLst>
          <pc:docMk/>
          <pc:sldMk cId="2576442810" sldId="418"/>
        </pc:sldMkLst>
        <pc:spChg chg="mod">
          <ac:chgData name="Chad Williams" userId="618f96a3-8672-4e43-ae03-eeed93bb7387" providerId="ADAL" clId="{DFF2BB08-185E-495B-B2A0-BE0942C7B81E}" dt="2026-07-24T19:16:17.163" v="4250" actId="313"/>
          <ac:spMkLst>
            <pc:docMk/>
            <pc:sldMk cId="2576442810" sldId="418"/>
            <ac:spMk id="3" creationId="{A4D381D9-1BF6-1646-B2E2-AF1DBEBE6B10}"/>
          </ac:spMkLst>
        </pc:spChg>
        <pc:graphicFrameChg chg="mod modGraphic">
          <ac:chgData name="Chad Williams" userId="618f96a3-8672-4e43-ae03-eeed93bb7387" providerId="ADAL" clId="{DFF2BB08-185E-495B-B2A0-BE0942C7B81E}" dt="2026-07-29T22:03:49.809" v="4433" actId="20577"/>
          <ac:graphicFrameMkLst>
            <pc:docMk/>
            <pc:sldMk cId="2576442810" sldId="418"/>
            <ac:graphicFrameMk id="4" creationId="{B85CB4D1-DCD6-414E-A21E-44B5ECC6EEAD}"/>
          </ac:graphicFrameMkLst>
        </pc:graphicFrameChg>
      </pc:sldChg>
      <pc:sldChg chg="modSp">
        <pc:chgData name="Chad Williams" userId="618f96a3-8672-4e43-ae03-eeed93bb7387" providerId="ADAL" clId="{DFF2BB08-185E-495B-B2A0-BE0942C7B81E}" dt="2026-07-24T19:16:17.818" v="4251" actId="313"/>
        <pc:sldMkLst>
          <pc:docMk/>
          <pc:sldMk cId="271680366" sldId="419"/>
        </pc:sldMkLst>
        <pc:spChg chg="mod">
          <ac:chgData name="Chad Williams" userId="618f96a3-8672-4e43-ae03-eeed93bb7387" providerId="ADAL" clId="{DFF2BB08-185E-495B-B2A0-BE0942C7B81E}" dt="2026-07-24T19:16:17.818" v="4251" actId="313"/>
          <ac:spMkLst>
            <pc:docMk/>
            <pc:sldMk cId="271680366" sldId="419"/>
            <ac:spMk id="3" creationId="{A4D381D9-1BF6-1646-B2E2-AF1DBEBE6B10}"/>
          </ac:spMkLst>
        </pc:spChg>
      </pc:sldChg>
      <pc:sldChg chg="addSp delSp modSp mod">
        <pc:chgData name="Chad Williams" userId="618f96a3-8672-4e43-ae03-eeed93bb7387" providerId="ADAL" clId="{DFF2BB08-185E-495B-B2A0-BE0942C7B81E}" dt="2026-07-24T19:16:18.394" v="4252" actId="313"/>
        <pc:sldMkLst>
          <pc:docMk/>
          <pc:sldMk cId="4080300285" sldId="420"/>
        </pc:sldMkLst>
        <pc:spChg chg="mod">
          <ac:chgData name="Chad Williams" userId="618f96a3-8672-4e43-ae03-eeed93bb7387" providerId="ADAL" clId="{DFF2BB08-185E-495B-B2A0-BE0942C7B81E}" dt="2026-07-24T19:16:18.394" v="4252" actId="313"/>
          <ac:spMkLst>
            <pc:docMk/>
            <pc:sldMk cId="4080300285" sldId="420"/>
            <ac:spMk id="3" creationId="{A4D381D9-1BF6-1646-B2E2-AF1DBEBE6B10}"/>
          </ac:spMkLst>
        </pc:spChg>
        <pc:grpChg chg="add del">
          <ac:chgData name="Chad Williams" userId="618f96a3-8672-4e43-ae03-eeed93bb7387" providerId="ADAL" clId="{DFF2BB08-185E-495B-B2A0-BE0942C7B81E}" dt="2026-07-24T17:30:49.724" v="3923" actId="478"/>
          <ac:grpSpMkLst>
            <pc:docMk/>
            <pc:sldMk cId="4080300285" sldId="420"/>
            <ac:grpSpMk id="12" creationId="{05DEBD5D-588A-6449-B920-724E4797610A}"/>
          </ac:grpSpMkLst>
        </pc:grpChg>
      </pc:sldChg>
      <pc:sldChg chg="modSp modAnim">
        <pc:chgData name="Chad Williams" userId="618f96a3-8672-4e43-ae03-eeed93bb7387" providerId="ADAL" clId="{DFF2BB08-185E-495B-B2A0-BE0942C7B81E}" dt="2026-07-29T22:05:03.219" v="4451" actId="313"/>
        <pc:sldMkLst>
          <pc:docMk/>
          <pc:sldMk cId="1051677281" sldId="423"/>
        </pc:sldMkLst>
        <pc:spChg chg="mod">
          <ac:chgData name="Chad Williams" userId="618f96a3-8672-4e43-ae03-eeed93bb7387" providerId="ADAL" clId="{DFF2BB08-185E-495B-B2A0-BE0942C7B81E}" dt="2026-07-29T22:05:01.932" v="4450" actId="313"/>
          <ac:spMkLst>
            <pc:docMk/>
            <pc:sldMk cId="1051677281" sldId="423"/>
            <ac:spMk id="3" creationId="{A4D381D9-1BF6-1646-B2E2-AF1DBEBE6B10}"/>
          </ac:spMkLst>
        </pc:spChg>
      </pc:sldChg>
      <pc:sldChg chg="addSp modSp mod">
        <pc:chgData name="Chad Williams" userId="618f96a3-8672-4e43-ae03-eeed93bb7387" providerId="ADAL" clId="{DFF2BB08-185E-495B-B2A0-BE0942C7B81E}" dt="2026-07-29T22:06:07.706" v="4492" actId="20577"/>
        <pc:sldMkLst>
          <pc:docMk/>
          <pc:sldMk cId="2865414170" sldId="425"/>
        </pc:sldMkLst>
        <pc:spChg chg="mod">
          <ac:chgData name="Chad Williams" userId="618f96a3-8672-4e43-ae03-eeed93bb7387" providerId="ADAL" clId="{DFF2BB08-185E-495B-B2A0-BE0942C7B81E}" dt="2026-07-29T22:06:07.706" v="4492" actId="20577"/>
          <ac:spMkLst>
            <pc:docMk/>
            <pc:sldMk cId="2865414170" sldId="425"/>
            <ac:spMk id="3" creationId="{A4D381D9-1BF6-1646-B2E2-AF1DBEBE6B10}"/>
          </ac:spMkLst>
        </pc:spChg>
        <pc:picChg chg="add">
          <ac:chgData name="Chad Williams" userId="618f96a3-8672-4e43-ae03-eeed93bb7387" providerId="ADAL" clId="{DFF2BB08-185E-495B-B2A0-BE0942C7B81E}" dt="2026-07-24T17:27:20.271" v="3840" actId="22"/>
          <ac:picMkLst>
            <pc:docMk/>
            <pc:sldMk cId="2865414170" sldId="425"/>
            <ac:picMk id="5" creationId="{2A1667C2-F5A2-5C82-D4C7-B9D43A4D0E84}"/>
          </ac:picMkLst>
        </pc:picChg>
        <pc:picChg chg="add">
          <ac:chgData name="Chad Williams" userId="618f96a3-8672-4e43-ae03-eeed93bb7387" providerId="ADAL" clId="{DFF2BB08-185E-495B-B2A0-BE0942C7B81E}" dt="2026-07-24T17:27:20.271" v="3840" actId="22"/>
          <ac:picMkLst>
            <pc:docMk/>
            <pc:sldMk cId="2865414170" sldId="425"/>
            <ac:picMk id="7" creationId="{3338A412-D916-31D4-5677-D444A7EF6943}"/>
          </ac:picMkLst>
        </pc:picChg>
      </pc:sldChg>
      <pc:sldChg chg="modSp mod">
        <pc:chgData name="Chad Williams" userId="618f96a3-8672-4e43-ae03-eeed93bb7387" providerId="ADAL" clId="{DFF2BB08-185E-495B-B2A0-BE0942C7B81E}" dt="2026-07-29T22:05:25.881" v="4476" actId="20577"/>
        <pc:sldMkLst>
          <pc:docMk/>
          <pc:sldMk cId="1106652320" sldId="426"/>
        </pc:sldMkLst>
        <pc:spChg chg="mod">
          <ac:chgData name="Chad Williams" userId="618f96a3-8672-4e43-ae03-eeed93bb7387" providerId="ADAL" clId="{DFF2BB08-185E-495B-B2A0-BE0942C7B81E}" dt="2026-07-29T22:05:12.808" v="4455" actId="313"/>
          <ac:spMkLst>
            <pc:docMk/>
            <pc:sldMk cId="1106652320" sldId="426"/>
            <ac:spMk id="3" creationId="{F1A115E2-4FE8-2E4C-A37A-70FF38E79C49}"/>
          </ac:spMkLst>
        </pc:spChg>
        <pc:spChg chg="mod">
          <ac:chgData name="Chad Williams" userId="618f96a3-8672-4e43-ae03-eeed93bb7387" providerId="ADAL" clId="{DFF2BB08-185E-495B-B2A0-BE0942C7B81E}" dt="2026-07-29T22:05:25.881" v="4476" actId="20577"/>
          <ac:spMkLst>
            <pc:docMk/>
            <pc:sldMk cId="1106652320" sldId="426"/>
            <ac:spMk id="4" creationId="{574432C5-7DF4-5F4D-A83A-EE45D530B8EC}"/>
          </ac:spMkLst>
        </pc:spChg>
      </pc:sldChg>
      <pc:sldChg chg="addSp modSp mod modAnim">
        <pc:chgData name="Chad Williams" userId="618f96a3-8672-4e43-ae03-eeed93bb7387" providerId="ADAL" clId="{DFF2BB08-185E-495B-B2A0-BE0942C7B81E}" dt="2026-07-24T19:16:21.682" v="4256" actId="313"/>
        <pc:sldMkLst>
          <pc:docMk/>
          <pc:sldMk cId="1852557987" sldId="427"/>
        </pc:sldMkLst>
        <pc:spChg chg="mod">
          <ac:chgData name="Chad Williams" userId="618f96a3-8672-4e43-ae03-eeed93bb7387" providerId="ADAL" clId="{DFF2BB08-185E-495B-B2A0-BE0942C7B81E}" dt="2026-07-24T19:16:21.682" v="4256" actId="313"/>
          <ac:spMkLst>
            <pc:docMk/>
            <pc:sldMk cId="1852557987" sldId="427"/>
            <ac:spMk id="3" creationId="{A4D381D9-1BF6-1646-B2E2-AF1DBEBE6B10}"/>
          </ac:spMkLst>
        </pc:spChg>
        <pc:spChg chg="add mod">
          <ac:chgData name="Chad Williams" userId="618f96a3-8672-4e43-ae03-eeed93bb7387" providerId="ADAL" clId="{DFF2BB08-185E-495B-B2A0-BE0942C7B81E}" dt="2026-07-24T17:32:24.468" v="3954" actId="1036"/>
          <ac:spMkLst>
            <pc:docMk/>
            <pc:sldMk cId="1852557987" sldId="427"/>
            <ac:spMk id="4" creationId="{F79F61A5-4FE4-EDB6-22A5-C5246B235796}"/>
          </ac:spMkLst>
        </pc:spChg>
        <pc:spChg chg="mod">
          <ac:chgData name="Chad Williams" userId="618f96a3-8672-4e43-ae03-eeed93bb7387" providerId="ADAL" clId="{DFF2BB08-185E-495B-B2A0-BE0942C7B81E}" dt="2026-07-24T17:32:24.468" v="3954" actId="1036"/>
          <ac:spMkLst>
            <pc:docMk/>
            <pc:sldMk cId="1852557987" sldId="427"/>
            <ac:spMk id="13" creationId="{96A3DED7-AEAC-E341-B57F-FEEEB0A8C488}"/>
          </ac:spMkLst>
        </pc:spChg>
        <pc:cxnChg chg="add mod">
          <ac:chgData name="Chad Williams" userId="618f96a3-8672-4e43-ae03-eeed93bb7387" providerId="ADAL" clId="{DFF2BB08-185E-495B-B2A0-BE0942C7B81E}" dt="2026-07-24T17:33:24.970" v="3964" actId="693"/>
          <ac:cxnSpMkLst>
            <pc:docMk/>
            <pc:sldMk cId="1852557987" sldId="427"/>
            <ac:cxnSpMk id="6" creationId="{13882C87-CC08-28FA-2B28-011ACFCFB88A}"/>
          </ac:cxnSpMkLst>
        </pc:cxnChg>
        <pc:cxnChg chg="add mod">
          <ac:chgData name="Chad Williams" userId="618f96a3-8672-4e43-ae03-eeed93bb7387" providerId="ADAL" clId="{DFF2BB08-185E-495B-B2A0-BE0942C7B81E}" dt="2026-07-24T17:33:33.313" v="3966" actId="1076"/>
          <ac:cxnSpMkLst>
            <pc:docMk/>
            <pc:sldMk cId="1852557987" sldId="427"/>
            <ac:cxnSpMk id="7" creationId="{0F981262-FBD9-1701-9CF8-B5B88BCAD7B7}"/>
          </ac:cxnSpMkLst>
        </pc:cxnChg>
      </pc:sldChg>
      <pc:sldChg chg="modSp mod">
        <pc:chgData name="Chad Williams" userId="618f96a3-8672-4e43-ae03-eeed93bb7387" providerId="ADAL" clId="{DFF2BB08-185E-495B-B2A0-BE0942C7B81E}" dt="2026-07-24T19:16:23.449" v="4258" actId="313"/>
        <pc:sldMkLst>
          <pc:docMk/>
          <pc:sldMk cId="3084597895" sldId="428"/>
        </pc:sldMkLst>
        <pc:spChg chg="mod">
          <ac:chgData name="Chad Williams" userId="618f96a3-8672-4e43-ae03-eeed93bb7387" providerId="ADAL" clId="{DFF2BB08-185E-495B-B2A0-BE0942C7B81E}" dt="2026-07-24T19:16:23.449" v="4258" actId="313"/>
          <ac:spMkLst>
            <pc:docMk/>
            <pc:sldMk cId="3084597895" sldId="428"/>
            <ac:spMk id="3" creationId="{A4D381D9-1BF6-1646-B2E2-AF1DBEBE6B10}"/>
          </ac:spMkLst>
        </pc:spChg>
      </pc:sldChg>
      <pc:sldChg chg="modSp mod">
        <pc:chgData name="Chad Williams" userId="618f96a3-8672-4e43-ae03-eeed93bb7387" providerId="ADAL" clId="{DFF2BB08-185E-495B-B2A0-BE0942C7B81E}" dt="2026-07-22T20:42:52.915" v="2269" actId="20577"/>
        <pc:sldMkLst>
          <pc:docMk/>
          <pc:sldMk cId="2216798811" sldId="435"/>
        </pc:sldMkLst>
        <pc:spChg chg="mod">
          <ac:chgData name="Chad Williams" userId="618f96a3-8672-4e43-ae03-eeed93bb7387" providerId="ADAL" clId="{DFF2BB08-185E-495B-B2A0-BE0942C7B81E}" dt="2026-07-22T20:42:52.915" v="2269" actId="20577"/>
          <ac:spMkLst>
            <pc:docMk/>
            <pc:sldMk cId="2216798811" sldId="435"/>
            <ac:spMk id="20" creationId="{7E4F8C96-B1F8-F340-9530-E0398316CFA5}"/>
          </ac:spMkLst>
        </pc:spChg>
      </pc:sldChg>
      <pc:sldChg chg="modSp modAnim">
        <pc:chgData name="Chad Williams" userId="618f96a3-8672-4e43-ae03-eeed93bb7387" providerId="ADAL" clId="{DFF2BB08-185E-495B-B2A0-BE0942C7B81E}" dt="2026-07-23T18:53:07.143" v="2427" actId="20577"/>
        <pc:sldMkLst>
          <pc:docMk/>
          <pc:sldMk cId="891726079" sldId="438"/>
        </pc:sldMkLst>
        <pc:spChg chg="mod">
          <ac:chgData name="Chad Williams" userId="618f96a3-8672-4e43-ae03-eeed93bb7387" providerId="ADAL" clId="{DFF2BB08-185E-495B-B2A0-BE0942C7B81E}" dt="2026-07-23T18:53:07.143" v="2427" actId="20577"/>
          <ac:spMkLst>
            <pc:docMk/>
            <pc:sldMk cId="891726079" sldId="438"/>
            <ac:spMk id="8" creationId="{14F66760-42F5-6C42-8B8A-13F64F99B56F}"/>
          </ac:spMkLst>
        </pc:spChg>
      </pc:sldChg>
      <pc:sldChg chg="modSp modAnim">
        <pc:chgData name="Chad Williams" userId="618f96a3-8672-4e43-ae03-eeed93bb7387" providerId="ADAL" clId="{DFF2BB08-185E-495B-B2A0-BE0942C7B81E}" dt="2026-07-23T20:11:31.157" v="3377"/>
        <pc:sldMkLst>
          <pc:docMk/>
          <pc:sldMk cId="3805539358" sldId="439"/>
        </pc:sldMkLst>
        <pc:spChg chg="mod">
          <ac:chgData name="Chad Williams" userId="618f96a3-8672-4e43-ae03-eeed93bb7387" providerId="ADAL" clId="{DFF2BB08-185E-495B-B2A0-BE0942C7B81E}" dt="2026-07-23T18:45:57.475" v="2319" actId="20577"/>
          <ac:spMkLst>
            <pc:docMk/>
            <pc:sldMk cId="3805539358" sldId="439"/>
            <ac:spMk id="3" creationId="{0AEDD9E7-2483-7A49-96F8-35144B7D539C}"/>
          </ac:spMkLst>
        </pc:spChg>
      </pc:sldChg>
      <pc:sldChg chg="modSp mod">
        <pc:chgData name="Chad Williams" userId="618f96a3-8672-4e43-ae03-eeed93bb7387" providerId="ADAL" clId="{DFF2BB08-185E-495B-B2A0-BE0942C7B81E}" dt="2026-07-29T21:55:07.350" v="4285" actId="20577"/>
        <pc:sldMkLst>
          <pc:docMk/>
          <pc:sldMk cId="3236708630" sldId="446"/>
        </pc:sldMkLst>
        <pc:spChg chg="mod">
          <ac:chgData name="Chad Williams" userId="618f96a3-8672-4e43-ae03-eeed93bb7387" providerId="ADAL" clId="{DFF2BB08-185E-495B-B2A0-BE0942C7B81E}" dt="2026-07-29T21:55:07.350" v="4285" actId="20577"/>
          <ac:spMkLst>
            <pc:docMk/>
            <pc:sldMk cId="3236708630" sldId="446"/>
            <ac:spMk id="3" creationId="{5168BC0F-B1A1-BDA2-C50B-413E7503A88C}"/>
          </ac:spMkLst>
        </pc:spChg>
        <pc:spChg chg="mod">
          <ac:chgData name="Chad Williams" userId="618f96a3-8672-4e43-ae03-eeed93bb7387" providerId="ADAL" clId="{DFF2BB08-185E-495B-B2A0-BE0942C7B81E}" dt="2026-07-24T18:47:35.592" v="4099" actId="20577"/>
          <ac:spMkLst>
            <pc:docMk/>
            <pc:sldMk cId="3236708630" sldId="446"/>
            <ac:spMk id="4" creationId="{6EB66FE6-FFC1-9B10-4D92-5585764F0986}"/>
          </ac:spMkLst>
        </pc:spChg>
      </pc:sldChg>
      <pc:sldChg chg="modSp mod">
        <pc:chgData name="Chad Williams" userId="618f96a3-8672-4e43-ae03-eeed93bb7387" providerId="ADAL" clId="{DFF2BB08-185E-495B-B2A0-BE0942C7B81E}" dt="2026-07-29T21:55:15.721" v="4286"/>
        <pc:sldMkLst>
          <pc:docMk/>
          <pc:sldMk cId="4256630182" sldId="447"/>
        </pc:sldMkLst>
        <pc:spChg chg="mod">
          <ac:chgData name="Chad Williams" userId="618f96a3-8672-4e43-ae03-eeed93bb7387" providerId="ADAL" clId="{DFF2BB08-185E-495B-B2A0-BE0942C7B81E}" dt="2026-07-29T21:55:15.721" v="4286"/>
          <ac:spMkLst>
            <pc:docMk/>
            <pc:sldMk cId="4256630182" sldId="447"/>
            <ac:spMk id="3" creationId="{BF8F2332-CF64-3383-82C3-209575E82B30}"/>
          </ac:spMkLst>
        </pc:spChg>
        <pc:spChg chg="mod">
          <ac:chgData name="Chad Williams" userId="618f96a3-8672-4e43-ae03-eeed93bb7387" providerId="ADAL" clId="{DFF2BB08-185E-495B-B2A0-BE0942C7B81E}" dt="2026-07-24T18:47:31.192" v="4097" actId="20577"/>
          <ac:spMkLst>
            <pc:docMk/>
            <pc:sldMk cId="4256630182" sldId="447"/>
            <ac:spMk id="4" creationId="{FB61714D-965C-E38C-E567-7A1D81E476DA}"/>
          </ac:spMkLst>
        </pc:spChg>
      </pc:sldChg>
      <pc:sldChg chg="modSp mod">
        <pc:chgData name="Chad Williams" userId="618f96a3-8672-4e43-ae03-eeed93bb7387" providerId="ADAL" clId="{DFF2BB08-185E-495B-B2A0-BE0942C7B81E}" dt="2026-07-29T21:55:21.034" v="4287"/>
        <pc:sldMkLst>
          <pc:docMk/>
          <pc:sldMk cId="1074137951" sldId="448"/>
        </pc:sldMkLst>
        <pc:spChg chg="mod">
          <ac:chgData name="Chad Williams" userId="618f96a3-8672-4e43-ae03-eeed93bb7387" providerId="ADAL" clId="{DFF2BB08-185E-495B-B2A0-BE0942C7B81E}" dt="2026-07-29T21:55:21.034" v="4287"/>
          <ac:spMkLst>
            <pc:docMk/>
            <pc:sldMk cId="1074137951" sldId="448"/>
            <ac:spMk id="3" creationId="{B7B14FFF-54F7-D4FF-13A7-42EBA38CC787}"/>
          </ac:spMkLst>
        </pc:spChg>
        <pc:spChg chg="mod">
          <ac:chgData name="Chad Williams" userId="618f96a3-8672-4e43-ae03-eeed93bb7387" providerId="ADAL" clId="{DFF2BB08-185E-495B-B2A0-BE0942C7B81E}" dt="2026-07-24T18:47:25.031" v="4095" actId="20577"/>
          <ac:spMkLst>
            <pc:docMk/>
            <pc:sldMk cId="1074137951" sldId="448"/>
            <ac:spMk id="4" creationId="{509710F1-FA15-25CE-D575-E1CB035C9E50}"/>
          </ac:spMkLst>
        </pc:spChg>
      </pc:sldChg>
      <pc:sldChg chg="modSp mod">
        <pc:chgData name="Chad Williams" userId="618f96a3-8672-4e43-ae03-eeed93bb7387" providerId="ADAL" clId="{DFF2BB08-185E-495B-B2A0-BE0942C7B81E}" dt="2026-07-29T21:57:23.099" v="4352"/>
        <pc:sldMkLst>
          <pc:docMk/>
          <pc:sldMk cId="3044246910" sldId="449"/>
        </pc:sldMkLst>
        <pc:spChg chg="mod">
          <ac:chgData name="Chad Williams" userId="618f96a3-8672-4e43-ae03-eeed93bb7387" providerId="ADAL" clId="{DFF2BB08-185E-495B-B2A0-BE0942C7B81E}" dt="2026-07-29T21:57:23.099" v="4352"/>
          <ac:spMkLst>
            <pc:docMk/>
            <pc:sldMk cId="3044246910" sldId="449"/>
            <ac:spMk id="3" creationId="{EEA75E01-9481-4B54-9B18-E965F6C680D9}"/>
          </ac:spMkLst>
        </pc:spChg>
        <pc:spChg chg="mod">
          <ac:chgData name="Chad Williams" userId="618f96a3-8672-4e43-ae03-eeed93bb7387" providerId="ADAL" clId="{DFF2BB08-185E-495B-B2A0-BE0942C7B81E}" dt="2026-07-24T18:47:16.804" v="4093" actId="20577"/>
          <ac:spMkLst>
            <pc:docMk/>
            <pc:sldMk cId="3044246910" sldId="449"/>
            <ac:spMk id="4" creationId="{56E9912D-378E-9FFC-CC2A-0AB32B8455D1}"/>
          </ac:spMkLst>
        </pc:spChg>
      </pc:sldChg>
      <pc:sldChg chg="modSp mod">
        <pc:chgData name="Chad Williams" userId="618f96a3-8672-4e43-ae03-eeed93bb7387" providerId="ADAL" clId="{DFF2BB08-185E-495B-B2A0-BE0942C7B81E}" dt="2026-07-29T21:57:29.644" v="4353"/>
        <pc:sldMkLst>
          <pc:docMk/>
          <pc:sldMk cId="536182247" sldId="451"/>
        </pc:sldMkLst>
        <pc:spChg chg="mod">
          <ac:chgData name="Chad Williams" userId="618f96a3-8672-4e43-ae03-eeed93bb7387" providerId="ADAL" clId="{DFF2BB08-185E-495B-B2A0-BE0942C7B81E}" dt="2026-07-29T21:57:29.644" v="4353"/>
          <ac:spMkLst>
            <pc:docMk/>
            <pc:sldMk cId="536182247" sldId="451"/>
            <ac:spMk id="3" creationId="{70F3DF8F-68D0-ED3D-0EF3-E678E4D5DE9E}"/>
          </ac:spMkLst>
        </pc:spChg>
        <pc:spChg chg="mod">
          <ac:chgData name="Chad Williams" userId="618f96a3-8672-4e43-ae03-eeed93bb7387" providerId="ADAL" clId="{DFF2BB08-185E-495B-B2A0-BE0942C7B81E}" dt="2026-07-24T18:47:06.195" v="4091" actId="20577"/>
          <ac:spMkLst>
            <pc:docMk/>
            <pc:sldMk cId="536182247" sldId="451"/>
            <ac:spMk id="4" creationId="{DD66E778-DD84-11D1-B1FC-4A98B0B90E7F}"/>
          </ac:spMkLst>
        </pc:spChg>
      </pc:sldChg>
      <pc:sldChg chg="modSp mod">
        <pc:chgData name="Chad Williams" userId="618f96a3-8672-4e43-ae03-eeed93bb7387" providerId="ADAL" clId="{DFF2BB08-185E-495B-B2A0-BE0942C7B81E}" dt="2026-07-29T21:57:42.066" v="4355"/>
        <pc:sldMkLst>
          <pc:docMk/>
          <pc:sldMk cId="2545559830" sldId="453"/>
        </pc:sldMkLst>
        <pc:spChg chg="mod">
          <ac:chgData name="Chad Williams" userId="618f96a3-8672-4e43-ae03-eeed93bb7387" providerId="ADAL" clId="{DFF2BB08-185E-495B-B2A0-BE0942C7B81E}" dt="2026-07-29T21:57:42.066" v="4355"/>
          <ac:spMkLst>
            <pc:docMk/>
            <pc:sldMk cId="2545559830" sldId="453"/>
            <ac:spMk id="3" creationId="{1D6BDE04-6121-3931-ADB2-15D3468D3164}"/>
          </ac:spMkLst>
        </pc:spChg>
        <pc:spChg chg="mod">
          <ac:chgData name="Chad Williams" userId="618f96a3-8672-4e43-ae03-eeed93bb7387" providerId="ADAL" clId="{DFF2BB08-185E-495B-B2A0-BE0942C7B81E}" dt="2026-07-24T18:46:55.410" v="4089" actId="20577"/>
          <ac:spMkLst>
            <pc:docMk/>
            <pc:sldMk cId="2545559830" sldId="453"/>
            <ac:spMk id="4" creationId="{BD3B7DEC-1286-74FE-E15B-9839AC21F37E}"/>
          </ac:spMkLst>
        </pc:spChg>
      </pc:sldChg>
      <pc:sldChg chg="modSp mod">
        <pc:chgData name="Chad Williams" userId="618f96a3-8672-4e43-ae03-eeed93bb7387" providerId="ADAL" clId="{DFF2BB08-185E-495B-B2A0-BE0942C7B81E}" dt="2026-07-29T21:57:37.970" v="4354"/>
        <pc:sldMkLst>
          <pc:docMk/>
          <pc:sldMk cId="3332687778" sldId="454"/>
        </pc:sldMkLst>
        <pc:spChg chg="mod">
          <ac:chgData name="Chad Williams" userId="618f96a3-8672-4e43-ae03-eeed93bb7387" providerId="ADAL" clId="{DFF2BB08-185E-495B-B2A0-BE0942C7B81E}" dt="2026-07-29T21:57:37.970" v="4354"/>
          <ac:spMkLst>
            <pc:docMk/>
            <pc:sldMk cId="3332687778" sldId="454"/>
            <ac:spMk id="3" creationId="{DBAFEF4E-9B43-FB65-AE70-CC3E24014EEC}"/>
          </ac:spMkLst>
        </pc:spChg>
        <pc:spChg chg="mod">
          <ac:chgData name="Chad Williams" userId="618f96a3-8672-4e43-ae03-eeed93bb7387" providerId="ADAL" clId="{DFF2BB08-185E-495B-B2A0-BE0942C7B81E}" dt="2026-07-24T18:46:43.189" v="4087" actId="20577"/>
          <ac:spMkLst>
            <pc:docMk/>
            <pc:sldMk cId="3332687778" sldId="454"/>
            <ac:spMk id="4" creationId="{4AC53C40-966F-E4CF-A7C5-49EE3798B598}"/>
          </ac:spMkLst>
        </pc:spChg>
      </pc:sldChg>
      <pc:sldChg chg="modSp mod">
        <pc:chgData name="Chad Williams" userId="618f96a3-8672-4e43-ae03-eeed93bb7387" providerId="ADAL" clId="{DFF2BB08-185E-495B-B2A0-BE0942C7B81E}" dt="2026-07-29T21:57:56.206" v="4356"/>
        <pc:sldMkLst>
          <pc:docMk/>
          <pc:sldMk cId="3386705428" sldId="455"/>
        </pc:sldMkLst>
        <pc:spChg chg="mod">
          <ac:chgData name="Chad Williams" userId="618f96a3-8672-4e43-ae03-eeed93bb7387" providerId="ADAL" clId="{DFF2BB08-185E-495B-B2A0-BE0942C7B81E}" dt="2026-07-29T21:57:56.206" v="4356"/>
          <ac:spMkLst>
            <pc:docMk/>
            <pc:sldMk cId="3386705428" sldId="455"/>
            <ac:spMk id="3" creationId="{81F524B1-88B9-24E6-A46A-6A05ABF7A4DE}"/>
          </ac:spMkLst>
        </pc:spChg>
        <pc:spChg chg="mod">
          <ac:chgData name="Chad Williams" userId="618f96a3-8672-4e43-ae03-eeed93bb7387" providerId="ADAL" clId="{DFF2BB08-185E-495B-B2A0-BE0942C7B81E}" dt="2026-07-24T18:46:29.486" v="4084" actId="20577"/>
          <ac:spMkLst>
            <pc:docMk/>
            <pc:sldMk cId="3386705428" sldId="455"/>
            <ac:spMk id="4" creationId="{32F66877-73F0-8EDB-DC53-0A52CCBC3ACB}"/>
          </ac:spMkLst>
        </pc:spChg>
      </pc:sldChg>
      <pc:sldChg chg="modSp mod">
        <pc:chgData name="Chad Williams" userId="618f96a3-8672-4e43-ae03-eeed93bb7387" providerId="ADAL" clId="{DFF2BB08-185E-495B-B2A0-BE0942C7B81E}" dt="2026-07-29T21:57:59.915" v="4357"/>
        <pc:sldMkLst>
          <pc:docMk/>
          <pc:sldMk cId="1538215300" sldId="456"/>
        </pc:sldMkLst>
        <pc:spChg chg="mod">
          <ac:chgData name="Chad Williams" userId="618f96a3-8672-4e43-ae03-eeed93bb7387" providerId="ADAL" clId="{DFF2BB08-185E-495B-B2A0-BE0942C7B81E}" dt="2026-07-29T21:57:59.915" v="4357"/>
          <ac:spMkLst>
            <pc:docMk/>
            <pc:sldMk cId="1538215300" sldId="456"/>
            <ac:spMk id="3" creationId="{96F326CF-E6F6-560D-E841-0419E9AF8ED7}"/>
          </ac:spMkLst>
        </pc:spChg>
        <pc:spChg chg="mod">
          <ac:chgData name="Chad Williams" userId="618f96a3-8672-4e43-ae03-eeed93bb7387" providerId="ADAL" clId="{DFF2BB08-185E-495B-B2A0-BE0942C7B81E}" dt="2026-07-24T18:46:32.272" v="4085" actId="20577"/>
          <ac:spMkLst>
            <pc:docMk/>
            <pc:sldMk cId="1538215300" sldId="456"/>
            <ac:spMk id="4" creationId="{949BC372-C0CE-C1F6-5B1C-A0A172378BE2}"/>
          </ac:spMkLst>
        </pc:spChg>
      </pc:sldChg>
      <pc:sldChg chg="modSp mod">
        <pc:chgData name="Chad Williams" userId="618f96a3-8672-4e43-ae03-eeed93bb7387" providerId="ADAL" clId="{DFF2BB08-185E-495B-B2A0-BE0942C7B81E}" dt="2026-07-29T22:04:42.257" v="4443" actId="313"/>
        <pc:sldMkLst>
          <pc:docMk/>
          <pc:sldMk cId="3772262039" sldId="457"/>
        </pc:sldMkLst>
        <pc:spChg chg="mod">
          <ac:chgData name="Chad Williams" userId="618f96a3-8672-4e43-ae03-eeed93bb7387" providerId="ADAL" clId="{DFF2BB08-185E-495B-B2A0-BE0942C7B81E}" dt="2026-07-29T22:04:42.257" v="4443" actId="313"/>
          <ac:spMkLst>
            <pc:docMk/>
            <pc:sldMk cId="3772262039" sldId="457"/>
            <ac:spMk id="3" creationId="{09983073-A3A0-78EF-CF71-32CD6B9ECC21}"/>
          </ac:spMkLst>
        </pc:spChg>
      </pc:sldChg>
      <pc:sldChg chg="modSp mod">
        <pc:chgData name="Chad Williams" userId="618f96a3-8672-4e43-ae03-eeed93bb7387" providerId="ADAL" clId="{DFF2BB08-185E-495B-B2A0-BE0942C7B81E}" dt="2026-07-29T22:04:46.550" v="4445" actId="313"/>
        <pc:sldMkLst>
          <pc:docMk/>
          <pc:sldMk cId="1539557848" sldId="458"/>
        </pc:sldMkLst>
        <pc:spChg chg="mod">
          <ac:chgData name="Chad Williams" userId="618f96a3-8672-4e43-ae03-eeed93bb7387" providerId="ADAL" clId="{DFF2BB08-185E-495B-B2A0-BE0942C7B81E}" dt="2026-07-29T22:04:46.550" v="4445" actId="313"/>
          <ac:spMkLst>
            <pc:docMk/>
            <pc:sldMk cId="1539557848" sldId="458"/>
            <ac:spMk id="3" creationId="{A63CE83C-EF70-FD74-DC71-5043B2FE20E6}"/>
          </ac:spMkLst>
        </pc:spChg>
      </pc:sldChg>
      <pc:sldChg chg="delSp modSp mod">
        <pc:chgData name="Chad Williams" userId="618f96a3-8672-4e43-ae03-eeed93bb7387" providerId="ADAL" clId="{DFF2BB08-185E-495B-B2A0-BE0942C7B81E}" dt="2026-07-24T19:16:19.317" v="4253" actId="313"/>
        <pc:sldMkLst>
          <pc:docMk/>
          <pc:sldMk cId="3177071817" sldId="460"/>
        </pc:sldMkLst>
        <pc:spChg chg="mod">
          <ac:chgData name="Chad Williams" userId="618f96a3-8672-4e43-ae03-eeed93bb7387" providerId="ADAL" clId="{DFF2BB08-185E-495B-B2A0-BE0942C7B81E}" dt="2026-07-24T19:16:19.317" v="4253" actId="313"/>
          <ac:spMkLst>
            <pc:docMk/>
            <pc:sldMk cId="3177071817" sldId="460"/>
            <ac:spMk id="3" creationId="{A052DA5A-2C13-E7C9-9A7D-6DC8CA8C5670}"/>
          </ac:spMkLst>
        </pc:spChg>
      </pc:sldChg>
      <pc:sldChg chg="delSp modSp mod">
        <pc:chgData name="Chad Williams" userId="618f96a3-8672-4e43-ae03-eeed93bb7387" providerId="ADAL" clId="{DFF2BB08-185E-495B-B2A0-BE0942C7B81E}" dt="2026-07-24T19:16:19.982" v="4254" actId="313"/>
        <pc:sldMkLst>
          <pc:docMk/>
          <pc:sldMk cId="2092808810" sldId="461"/>
        </pc:sldMkLst>
        <pc:spChg chg="mod">
          <ac:chgData name="Chad Williams" userId="618f96a3-8672-4e43-ae03-eeed93bb7387" providerId="ADAL" clId="{DFF2BB08-185E-495B-B2A0-BE0942C7B81E}" dt="2026-07-24T19:16:19.982" v="4254" actId="313"/>
          <ac:spMkLst>
            <pc:docMk/>
            <pc:sldMk cId="2092808810" sldId="461"/>
            <ac:spMk id="3" creationId="{A020EC91-8B3B-46B1-DB52-BC4266AE51B2}"/>
          </ac:spMkLst>
        </pc:spChg>
      </pc:sldChg>
      <pc:sldChg chg="delSp modSp mod">
        <pc:chgData name="Chad Williams" userId="618f96a3-8672-4e43-ae03-eeed93bb7387" providerId="ADAL" clId="{DFF2BB08-185E-495B-B2A0-BE0942C7B81E}" dt="2026-07-24T19:16:20.765" v="4255" actId="313"/>
        <pc:sldMkLst>
          <pc:docMk/>
          <pc:sldMk cId="568324845" sldId="462"/>
        </pc:sldMkLst>
        <pc:spChg chg="mod">
          <ac:chgData name="Chad Williams" userId="618f96a3-8672-4e43-ae03-eeed93bb7387" providerId="ADAL" clId="{DFF2BB08-185E-495B-B2A0-BE0942C7B81E}" dt="2026-07-24T19:16:20.765" v="4255" actId="313"/>
          <ac:spMkLst>
            <pc:docMk/>
            <pc:sldMk cId="568324845" sldId="462"/>
            <ac:spMk id="3" creationId="{B0D434F6-3DB0-E18A-4209-13B92E8628A4}"/>
          </ac:spMkLst>
        </pc:spChg>
      </pc:sldChg>
      <pc:sldChg chg="modSp mod">
        <pc:chgData name="Chad Williams" userId="618f96a3-8672-4e43-ae03-eeed93bb7387" providerId="ADAL" clId="{DFF2BB08-185E-495B-B2A0-BE0942C7B81E}" dt="2026-07-29T22:04:49.969" v="4447" actId="313"/>
        <pc:sldMkLst>
          <pc:docMk/>
          <pc:sldMk cId="4149722812" sldId="463"/>
        </pc:sldMkLst>
        <pc:spChg chg="mod">
          <ac:chgData name="Chad Williams" userId="618f96a3-8672-4e43-ae03-eeed93bb7387" providerId="ADAL" clId="{DFF2BB08-185E-495B-B2A0-BE0942C7B81E}" dt="2026-07-29T22:04:49.969" v="4447" actId="313"/>
          <ac:spMkLst>
            <pc:docMk/>
            <pc:sldMk cId="4149722812" sldId="463"/>
            <ac:spMk id="3" creationId="{3823F3B2-273D-23BC-0DAC-B92DF5B552A9}"/>
          </ac:spMkLst>
        </pc:spChg>
      </pc:sldChg>
      <pc:sldChg chg="modSp mod">
        <pc:chgData name="Chad Williams" userId="618f96a3-8672-4e43-ae03-eeed93bb7387" providerId="ADAL" clId="{DFF2BB08-185E-495B-B2A0-BE0942C7B81E}" dt="2026-07-29T22:04:58.176" v="4449" actId="313"/>
        <pc:sldMkLst>
          <pc:docMk/>
          <pc:sldMk cId="71306520" sldId="464"/>
        </pc:sldMkLst>
        <pc:spChg chg="mod">
          <ac:chgData name="Chad Williams" userId="618f96a3-8672-4e43-ae03-eeed93bb7387" providerId="ADAL" clId="{DFF2BB08-185E-495B-B2A0-BE0942C7B81E}" dt="2026-07-29T22:04:58.176" v="4449" actId="313"/>
          <ac:spMkLst>
            <pc:docMk/>
            <pc:sldMk cId="71306520" sldId="464"/>
            <ac:spMk id="3" creationId="{34BCAA84-1984-CD1E-D448-5CF764721FFD}"/>
          </ac:spMkLst>
        </pc:spChg>
        <pc:spChg chg="mod">
          <ac:chgData name="Chad Williams" userId="618f96a3-8672-4e43-ae03-eeed93bb7387" providerId="ADAL" clId="{DFF2BB08-185E-495B-B2A0-BE0942C7B81E}" dt="2026-07-24T17:34:53.630" v="4007" actId="20577"/>
          <ac:spMkLst>
            <pc:docMk/>
            <pc:sldMk cId="71306520" sldId="464"/>
            <ac:spMk id="4" creationId="{457E5963-7839-7426-222B-CAF126D94A33}"/>
          </ac:spMkLst>
        </pc:spChg>
      </pc:sldChg>
      <pc:sldChg chg="modSp mod">
        <pc:chgData name="Chad Williams" userId="618f96a3-8672-4e43-ae03-eeed93bb7387" providerId="ADAL" clId="{DFF2BB08-185E-495B-B2A0-BE0942C7B81E}" dt="2026-07-29T22:05:08.332" v="4453" actId="313"/>
        <pc:sldMkLst>
          <pc:docMk/>
          <pc:sldMk cId="1813453508" sldId="465"/>
        </pc:sldMkLst>
        <pc:spChg chg="mod">
          <ac:chgData name="Chad Williams" userId="618f96a3-8672-4e43-ae03-eeed93bb7387" providerId="ADAL" clId="{DFF2BB08-185E-495B-B2A0-BE0942C7B81E}" dt="2026-07-29T22:05:08.332" v="4453" actId="313"/>
          <ac:spMkLst>
            <pc:docMk/>
            <pc:sldMk cId="1813453508" sldId="465"/>
            <ac:spMk id="3" creationId="{F4C7CBD2-6CB3-D414-DA14-6FE2E14C49E5}"/>
          </ac:spMkLst>
        </pc:spChg>
        <pc:spChg chg="mod">
          <ac:chgData name="Chad Williams" userId="618f96a3-8672-4e43-ae03-eeed93bb7387" providerId="ADAL" clId="{DFF2BB08-185E-495B-B2A0-BE0942C7B81E}" dt="2026-07-24T17:34:41.705" v="3999" actId="20577"/>
          <ac:spMkLst>
            <pc:docMk/>
            <pc:sldMk cId="1813453508" sldId="465"/>
            <ac:spMk id="4" creationId="{0C472990-3A82-99EC-4DDE-E0433CD19216}"/>
          </ac:spMkLst>
        </pc:spChg>
      </pc:sldChg>
      <pc:sldChg chg="addSp delSp modSp mod">
        <pc:chgData name="Chad Williams" userId="618f96a3-8672-4e43-ae03-eeed93bb7387" providerId="ADAL" clId="{DFF2BB08-185E-495B-B2A0-BE0942C7B81E}" dt="2026-08-17T19:38:08.434" v="4499" actId="167"/>
        <pc:sldMkLst>
          <pc:docMk/>
          <pc:sldMk cId="1619113627" sldId="467"/>
        </pc:sldMkLst>
        <pc:spChg chg="add">
          <ac:chgData name="Chad Williams" userId="618f96a3-8672-4e43-ae03-eeed93bb7387" providerId="ADAL" clId="{DFF2BB08-185E-495B-B2A0-BE0942C7B81E}" dt="2026-08-17T19:37:28.733" v="4494" actId="22"/>
          <ac:spMkLst>
            <pc:docMk/>
            <pc:sldMk cId="1619113627" sldId="467"/>
            <ac:spMk id="4" creationId="{45658D26-FC6D-D0BD-EFC9-C15EB07930C9}"/>
          </ac:spMkLst>
        </pc:spChg>
        <pc:picChg chg="del">
          <ac:chgData name="Chad Williams" userId="618f96a3-8672-4e43-ae03-eeed93bb7387" providerId="ADAL" clId="{DFF2BB08-185E-495B-B2A0-BE0942C7B81E}" dt="2026-08-17T19:37:28.472" v="4493" actId="478"/>
          <ac:picMkLst>
            <pc:docMk/>
            <pc:sldMk cId="1619113627" sldId="467"/>
            <ac:picMk id="5" creationId="{15DA122B-C261-5A74-FE08-718EFA8266E8}"/>
          </ac:picMkLst>
        </pc:picChg>
        <pc:picChg chg="add mod ord">
          <ac:chgData name="Chad Williams" userId="618f96a3-8672-4e43-ae03-eeed93bb7387" providerId="ADAL" clId="{DFF2BB08-185E-495B-B2A0-BE0942C7B81E}" dt="2026-08-17T19:38:08.434" v="4499" actId="167"/>
          <ac:picMkLst>
            <pc:docMk/>
            <pc:sldMk cId="1619113627" sldId="467"/>
            <ac:picMk id="7" creationId="{83B1DE6A-A1C4-1AC2-241E-AEDA590611EF}"/>
          </ac:picMkLst>
        </pc:picChg>
      </pc:sldChg>
      <pc:sldChg chg="addSp delSp modSp add mod modAnim">
        <pc:chgData name="Chad Williams" userId="618f96a3-8672-4e43-ae03-eeed93bb7387" providerId="ADAL" clId="{DFF2BB08-185E-495B-B2A0-BE0942C7B81E}" dt="2026-07-23T20:02:39.631" v="3306"/>
        <pc:sldMkLst>
          <pc:docMk/>
          <pc:sldMk cId="2396230240" sldId="470"/>
        </pc:sldMkLst>
        <pc:spChg chg="add mod">
          <ac:chgData name="Chad Williams" userId="618f96a3-8672-4e43-ae03-eeed93bb7387" providerId="ADAL" clId="{DFF2BB08-185E-495B-B2A0-BE0942C7B81E}" dt="2026-07-23T19:57:36.590" v="3270" actId="1038"/>
          <ac:spMkLst>
            <pc:docMk/>
            <pc:sldMk cId="2396230240" sldId="470"/>
            <ac:spMk id="4" creationId="{F8965DEE-F4E7-24E0-2FAD-B3077E7571C2}"/>
          </ac:spMkLst>
        </pc:spChg>
        <pc:spChg chg="add mod">
          <ac:chgData name="Chad Williams" userId="618f96a3-8672-4e43-ae03-eeed93bb7387" providerId="ADAL" clId="{DFF2BB08-185E-495B-B2A0-BE0942C7B81E}" dt="2026-07-23T19:56:33.206" v="3236" actId="1076"/>
          <ac:spMkLst>
            <pc:docMk/>
            <pc:sldMk cId="2396230240" sldId="470"/>
            <ac:spMk id="8" creationId="{0333268D-30C3-04DF-8D10-AEF843558E7D}"/>
          </ac:spMkLst>
        </pc:spChg>
        <pc:spChg chg="add mod">
          <ac:chgData name="Chad Williams" userId="618f96a3-8672-4e43-ae03-eeed93bb7387" providerId="ADAL" clId="{DFF2BB08-185E-495B-B2A0-BE0942C7B81E}" dt="2026-07-23T19:57:11.902" v="3253" actId="1076"/>
          <ac:spMkLst>
            <pc:docMk/>
            <pc:sldMk cId="2396230240" sldId="470"/>
            <ac:spMk id="13" creationId="{F0E97130-795C-269F-9F87-9E4B6B9C32AC}"/>
          </ac:spMkLst>
        </pc:spChg>
        <pc:spChg chg="add mod">
          <ac:chgData name="Chad Williams" userId="618f96a3-8672-4e43-ae03-eeed93bb7387" providerId="ADAL" clId="{DFF2BB08-185E-495B-B2A0-BE0942C7B81E}" dt="2026-07-23T19:57:23.134" v="3262" actId="1076"/>
          <ac:spMkLst>
            <pc:docMk/>
            <pc:sldMk cId="2396230240" sldId="470"/>
            <ac:spMk id="15" creationId="{BA49821D-6BB6-31BE-A3A9-6AA1CCCA6894}"/>
          </ac:spMkLst>
        </pc:spChg>
        <pc:spChg chg="add mod">
          <ac:chgData name="Chad Williams" userId="618f96a3-8672-4e43-ae03-eeed93bb7387" providerId="ADAL" clId="{DFF2BB08-185E-495B-B2A0-BE0942C7B81E}" dt="2026-07-23T19:58:24.840" v="3277" actId="1076"/>
          <ac:spMkLst>
            <pc:docMk/>
            <pc:sldMk cId="2396230240" sldId="470"/>
            <ac:spMk id="21" creationId="{D6EF1706-D3C2-1A34-62AD-D359A77D88E1}"/>
          </ac:spMkLst>
        </pc:spChg>
        <pc:picChg chg="mod">
          <ac:chgData name="Chad Williams" userId="618f96a3-8672-4e43-ae03-eeed93bb7387" providerId="ADAL" clId="{DFF2BB08-185E-495B-B2A0-BE0942C7B81E}" dt="2026-07-23T19:56:22.989" v="3235" actId="1076"/>
          <ac:picMkLst>
            <pc:docMk/>
            <pc:sldMk cId="2396230240" sldId="470"/>
            <ac:picMk id="5" creationId="{6A8EFD8D-688F-21E1-AB64-39DAB7E5B53E}"/>
          </ac:picMkLst>
        </pc:picChg>
        <pc:cxnChg chg="mod">
          <ac:chgData name="Chad Williams" userId="618f96a3-8672-4e43-ae03-eeed93bb7387" providerId="ADAL" clId="{DFF2BB08-185E-495B-B2A0-BE0942C7B81E}" dt="2026-07-23T19:56:51.400" v="3247" actId="14100"/>
          <ac:cxnSpMkLst>
            <pc:docMk/>
            <pc:sldMk cId="2396230240" sldId="470"/>
            <ac:cxnSpMk id="9" creationId="{C24FED3C-DA3A-EFD5-B667-FA48B6A0B672}"/>
          </ac:cxnSpMkLst>
        </pc:cxnChg>
        <pc:cxnChg chg="add mod">
          <ac:chgData name="Chad Williams" userId="618f96a3-8672-4e43-ae03-eeed93bb7387" providerId="ADAL" clId="{DFF2BB08-185E-495B-B2A0-BE0942C7B81E}" dt="2026-07-23T19:57:02.718" v="3251" actId="1076"/>
          <ac:cxnSpMkLst>
            <pc:docMk/>
            <pc:sldMk cId="2396230240" sldId="470"/>
            <ac:cxnSpMk id="17" creationId="{056066D5-0494-7339-D39B-A02AA1B24738}"/>
          </ac:cxnSpMkLst>
        </pc:cxnChg>
        <pc:cxnChg chg="add mod">
          <ac:chgData name="Chad Williams" userId="618f96a3-8672-4e43-ae03-eeed93bb7387" providerId="ADAL" clId="{DFF2BB08-185E-495B-B2A0-BE0942C7B81E}" dt="2026-07-23T19:57:43.336" v="3271" actId="693"/>
          <ac:cxnSpMkLst>
            <pc:docMk/>
            <pc:sldMk cId="2396230240" sldId="470"/>
            <ac:cxnSpMk id="19" creationId="{96DFB47B-2CD1-E5C0-8217-DFA018407796}"/>
          </ac:cxnSpMkLst>
        </pc:cxnChg>
        <pc:cxnChg chg="add mod">
          <ac:chgData name="Chad Williams" userId="618f96a3-8672-4e43-ae03-eeed93bb7387" providerId="ADAL" clId="{DFF2BB08-185E-495B-B2A0-BE0942C7B81E}" dt="2026-07-23T19:57:47.209" v="3273" actId="1076"/>
          <ac:cxnSpMkLst>
            <pc:docMk/>
            <pc:sldMk cId="2396230240" sldId="470"/>
            <ac:cxnSpMk id="20" creationId="{6CE00787-8B82-11A2-460E-3130AD6FB03F}"/>
          </ac:cxnSpMkLst>
        </pc:cxnChg>
      </pc:sldChg>
      <pc:sldChg chg="delSp modSp add mod">
        <pc:chgData name="Chad Williams" userId="618f96a3-8672-4e43-ae03-eeed93bb7387" providerId="ADAL" clId="{DFF2BB08-185E-495B-B2A0-BE0942C7B81E}" dt="2026-07-23T20:02:48.590" v="3307" actId="478"/>
        <pc:sldMkLst>
          <pc:docMk/>
          <pc:sldMk cId="2899682097" sldId="471"/>
        </pc:sldMkLst>
        <pc:spChg chg="mod">
          <ac:chgData name="Chad Williams" userId="618f96a3-8672-4e43-ae03-eeed93bb7387" providerId="ADAL" clId="{DFF2BB08-185E-495B-B2A0-BE0942C7B81E}" dt="2026-07-23T19:58:58.378" v="3279" actId="14100"/>
          <ac:spMkLst>
            <pc:docMk/>
            <pc:sldMk cId="2899682097" sldId="471"/>
            <ac:spMk id="8" creationId="{DEC56174-5AEE-5994-52E3-5D2EE3C33EF5}"/>
          </ac:spMkLst>
        </pc:spChg>
        <pc:spChg chg="mod">
          <ac:chgData name="Chad Williams" userId="618f96a3-8672-4e43-ae03-eeed93bb7387" providerId="ADAL" clId="{DFF2BB08-185E-495B-B2A0-BE0942C7B81E}" dt="2026-07-23T19:59:37.054" v="3287" actId="20577"/>
          <ac:spMkLst>
            <pc:docMk/>
            <pc:sldMk cId="2899682097" sldId="471"/>
            <ac:spMk id="13" creationId="{628AA297-70B4-6756-0ED9-BEAB197E0563}"/>
          </ac:spMkLst>
        </pc:spChg>
      </pc:sldChg>
      <pc:sldChg chg="modSp add mod modAnim">
        <pc:chgData name="Chad Williams" userId="618f96a3-8672-4e43-ae03-eeed93bb7387" providerId="ADAL" clId="{DFF2BB08-185E-495B-B2A0-BE0942C7B81E}" dt="2026-07-23T20:03:10.145" v="3310"/>
        <pc:sldMkLst>
          <pc:docMk/>
          <pc:sldMk cId="2398986275" sldId="472"/>
        </pc:sldMkLst>
        <pc:spChg chg="mod">
          <ac:chgData name="Chad Williams" userId="618f96a3-8672-4e43-ae03-eeed93bb7387" providerId="ADAL" clId="{DFF2BB08-185E-495B-B2A0-BE0942C7B81E}" dt="2026-07-23T19:59:33.352" v="3284" actId="1076"/>
          <ac:spMkLst>
            <pc:docMk/>
            <pc:sldMk cId="2398986275" sldId="472"/>
            <ac:spMk id="4" creationId="{1B758418-9EE6-D796-5CE4-ED289ACB0928}"/>
          </ac:spMkLst>
        </pc:spChg>
        <pc:spChg chg="mod">
          <ac:chgData name="Chad Williams" userId="618f96a3-8672-4e43-ae03-eeed93bb7387" providerId="ADAL" clId="{DFF2BB08-185E-495B-B2A0-BE0942C7B81E}" dt="2026-07-23T19:59:33.352" v="3284" actId="1076"/>
          <ac:spMkLst>
            <pc:docMk/>
            <pc:sldMk cId="2398986275" sldId="472"/>
            <ac:spMk id="8" creationId="{B4C070AD-F47A-E33F-5EE5-4156A72E913A}"/>
          </ac:spMkLst>
        </pc:spChg>
        <pc:spChg chg="mod">
          <ac:chgData name="Chad Williams" userId="618f96a3-8672-4e43-ae03-eeed93bb7387" providerId="ADAL" clId="{DFF2BB08-185E-495B-B2A0-BE0942C7B81E}" dt="2026-07-23T19:59:50.041" v="3290" actId="1076"/>
          <ac:spMkLst>
            <pc:docMk/>
            <pc:sldMk cId="2398986275" sldId="472"/>
            <ac:spMk id="21" creationId="{34C2B2D9-EA76-2B5F-66A6-DFFE51A33F5E}"/>
          </ac:spMkLst>
        </pc:spChg>
        <pc:cxnChg chg="mod">
          <ac:chgData name="Chad Williams" userId="618f96a3-8672-4e43-ae03-eeed93bb7387" providerId="ADAL" clId="{DFF2BB08-185E-495B-B2A0-BE0942C7B81E}" dt="2026-07-23T19:59:33.352" v="3284" actId="1076"/>
          <ac:cxnSpMkLst>
            <pc:docMk/>
            <pc:sldMk cId="2398986275" sldId="472"/>
            <ac:cxnSpMk id="19" creationId="{2F89D3C9-972B-B3B4-4FD2-22B75F8E76D4}"/>
          </ac:cxnSpMkLst>
        </pc:cxnChg>
        <pc:cxnChg chg="mod">
          <ac:chgData name="Chad Williams" userId="618f96a3-8672-4e43-ae03-eeed93bb7387" providerId="ADAL" clId="{DFF2BB08-185E-495B-B2A0-BE0942C7B81E}" dt="2026-07-23T19:59:33.352" v="3284" actId="1076"/>
          <ac:cxnSpMkLst>
            <pc:docMk/>
            <pc:sldMk cId="2398986275" sldId="472"/>
            <ac:cxnSpMk id="20" creationId="{C3975997-2C32-9937-F5C1-74447254FAA2}"/>
          </ac:cxnSpMkLst>
        </pc:cxnChg>
      </pc:sldChg>
      <pc:sldChg chg="delSp modSp add mod">
        <pc:chgData name="Chad Williams" userId="618f96a3-8672-4e43-ae03-eeed93bb7387" providerId="ADAL" clId="{DFF2BB08-185E-495B-B2A0-BE0942C7B81E}" dt="2026-07-23T20:03:18.972" v="3311" actId="478"/>
        <pc:sldMkLst>
          <pc:docMk/>
          <pc:sldMk cId="4220709588" sldId="473"/>
        </pc:sldMkLst>
        <pc:spChg chg="mod">
          <ac:chgData name="Chad Williams" userId="618f96a3-8672-4e43-ae03-eeed93bb7387" providerId="ADAL" clId="{DFF2BB08-185E-495B-B2A0-BE0942C7B81E}" dt="2026-07-23T20:00:00.569" v="3292" actId="14100"/>
          <ac:spMkLst>
            <pc:docMk/>
            <pc:sldMk cId="4220709588" sldId="473"/>
            <ac:spMk id="8" creationId="{88470429-A395-BCDF-C9E6-42254E46AF90}"/>
          </ac:spMkLst>
        </pc:spChg>
        <pc:spChg chg="mod">
          <ac:chgData name="Chad Williams" userId="618f96a3-8672-4e43-ae03-eeed93bb7387" providerId="ADAL" clId="{DFF2BB08-185E-495B-B2A0-BE0942C7B81E}" dt="2026-07-23T20:00:15.152" v="3297" actId="20577"/>
          <ac:spMkLst>
            <pc:docMk/>
            <pc:sldMk cId="4220709588" sldId="473"/>
            <ac:spMk id="15" creationId="{D9986084-3FEF-A9A9-B847-48366022B201}"/>
          </ac:spMkLst>
        </pc:spChg>
      </pc:sldChg>
      <pc:sldChg chg="add setBg">
        <pc:chgData name="Chad Williams" userId="618f96a3-8672-4e43-ae03-eeed93bb7387" providerId="ADAL" clId="{DFF2BB08-185E-495B-B2A0-BE0942C7B81E}" dt="2026-07-23T20:53:37.473" v="3468"/>
        <pc:sldMkLst>
          <pc:docMk/>
          <pc:sldMk cId="0" sldId="474"/>
        </pc:sldMkLst>
      </pc:sldChg>
      <pc:sldChg chg="addSp modSp add mod modAnim">
        <pc:chgData name="Chad Williams" userId="618f96a3-8672-4e43-ae03-eeed93bb7387" providerId="ADAL" clId="{DFF2BB08-185E-495B-B2A0-BE0942C7B81E}" dt="2026-07-24T18:51:59.047" v="4142" actId="20577"/>
        <pc:sldMkLst>
          <pc:docMk/>
          <pc:sldMk cId="3159134191" sldId="475"/>
        </pc:sldMkLst>
        <pc:spChg chg="add mod">
          <ac:chgData name="Chad Williams" userId="618f96a3-8672-4e43-ae03-eeed93bb7387" providerId="ADAL" clId="{DFF2BB08-185E-495B-B2A0-BE0942C7B81E}" dt="2026-07-24T18:40:37.118" v="4017" actId="1076"/>
          <ac:spMkLst>
            <pc:docMk/>
            <pc:sldMk cId="3159134191" sldId="475"/>
            <ac:spMk id="2" creationId="{17C61E2B-6462-53BA-7E98-156C5CBE66A6}"/>
          </ac:spMkLst>
        </pc:spChg>
        <pc:spChg chg="mod">
          <ac:chgData name="Chad Williams" userId="618f96a3-8672-4e43-ae03-eeed93bb7387" providerId="ADAL" clId="{DFF2BB08-185E-495B-B2A0-BE0942C7B81E}" dt="2026-07-24T18:51:59.047" v="4142" actId="20577"/>
          <ac:spMkLst>
            <pc:docMk/>
            <pc:sldMk cId="3159134191" sldId="475"/>
            <ac:spMk id="165" creationId="{C21F1C4F-A92C-E22B-DBD1-BC7F2B5B265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5D980-D86E-4282-8002-B3B58825746A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831285-9EF1-4A0A-8227-BDC088C397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49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69A9B-552A-775B-3305-D2682BBC2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B14376-7208-1A01-5058-BFB90CB68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DC8D1-8984-2EB8-2D66-2D68C4301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E3B27-6780-8D44-75B0-014E62542D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04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B03C4-A3BC-4448-B9AD-66124D136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24571-4F8A-6C47-9749-2A5682FBB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B04C4-CF9D-4440-900D-7C991A0A3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76E30-EF47-034D-986C-7F95DF322C5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24B8B-B52E-E948-90C4-ED942E1BD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CD585-D83B-0647-A52C-A980F2F6B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77F20-B54B-C14B-80A3-9F4A273A4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547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6F040-F8AA-284D-9A2D-3C5C0FA1D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6C187-7756-4B43-A596-F69A969AF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FC7B6-7C4C-B843-BC73-00857224A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76E30-EF47-034D-986C-7F95DF322C5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62E60-CA7D-3F4C-B11E-5E5EA892F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447CB-12CC-544F-87A0-53D5E7D5C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77F20-B54B-C14B-80A3-9F4A273A4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986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1DB59-25E3-C441-B2B0-CCF144322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13827-7B7B-1B4C-A71D-D7D23EEAC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5A58F-9BF8-2A45-95E2-D8F104752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76E30-EF47-034D-986C-7F95DF322C5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F4517-17F9-DA4A-A018-53C87C985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92181-7F5A-3340-946C-922F12310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77F20-B54B-C14B-80A3-9F4A273A4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26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717A0-493E-9743-A086-603EC3158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090B7-FC87-6F4F-90FF-0035F7395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D8D41-9BC8-9141-92E9-1E612FDEC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1E6FA-F6AF-2742-ABFF-5CCA4E8F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76E30-EF47-034D-986C-7F95DF322C5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41563-6D3C-C44D-834D-EFC5BB95E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7ED32-5B43-8247-8416-6E8E7F704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77F20-B54B-C14B-80A3-9F4A273A4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13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A26CE-92FA-6D4F-8FB1-C52FB4121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41853-295F-9446-90B2-969CC111C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9B1007-CD83-DF48-8442-3B746429C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CAE6B8-0BF2-3947-B63F-914E119586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2C3BAE-5FC4-3942-81D9-F30DE0550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C4E62E-26CB-924C-9EBA-377C70597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76E30-EF47-034D-986C-7F95DF322C5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083954-2A0B-D548-B82D-40079800C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670E39-B94B-D040-8526-FEC79EEF8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77F20-B54B-C14B-80A3-9F4A273A4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893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84BAC-0576-2C41-B0E4-B4A231E1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6F2116-5FE7-6F47-B408-F7207B01E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76E30-EF47-034D-986C-7F95DF322C5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92D576-1803-2644-B0A0-630E57A32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63B4F-5B0D-F248-854F-4810F8302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77F20-B54B-C14B-80A3-9F4A273A4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82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2F5529-CDF8-B741-A95A-1306AF0DA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76E30-EF47-034D-986C-7F95DF322C5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BC69F8-26D0-EC49-BAFB-C437B4A9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658CB-B392-024C-B45D-C0F013C6C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77F20-B54B-C14B-80A3-9F4A273A4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856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0E8B6-920B-0C40-B6CC-42ED3E613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1271C-FF86-0146-AC8D-97EACB527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93A8B-1B9C-3E4E-AAA0-F0DF45A1D5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B7DC0-6562-9342-86AD-2D56E7901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76E30-EF47-034D-986C-7F95DF322C5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95D0B-AD99-D146-8E92-3C98FB60A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894B0-1EB5-4A43-AB4F-73AD4E3F4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77F20-B54B-C14B-80A3-9F4A273A4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12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49751-FCBD-4744-BBD8-8C60FCE07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A0F9FF-E840-624B-BB9E-44F24B035A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0B09-C762-C648-AE8A-A4521F61F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BC6E1F-B250-074F-960A-64BFEF94F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76E30-EF47-034D-986C-7F95DF322C5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8CEF1-DCEF-6B49-9C97-02EFFD64C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804381-F18D-C74A-98E3-97DABB6A4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77F20-B54B-C14B-80A3-9F4A273A4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50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F8BDF-0CC4-0E45-BC8D-6FB5B6FD8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C6823-5CF2-B443-AC3E-0A55408DF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BFB30-E056-4547-A13F-69AD8D4DD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76E30-EF47-034D-986C-7F95DF322C5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7382E-030F-1643-B96C-E19406100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14DDF-7DD4-4C48-9DAF-0118C550A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77F20-B54B-C14B-80A3-9F4A273A4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607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129507-AA0A-8044-90CA-E6EBC7790D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D3057-1ED4-0B46-B3F7-D47919FDB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1E3D0-E06E-8B48-A375-E1989B2EA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76E30-EF47-034D-986C-7F95DF322C5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E205D-414F-A54F-9F7C-8FC87FD1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8C880-15EC-4B40-8CAE-D53E8121C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77F20-B54B-C14B-80A3-9F4A273A4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846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1690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728673-3950-304E-8BC0-174E63D7D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FA893-D190-8749-BD92-95B5B1FDF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18488-94F8-7A4F-8938-5306E07F29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76E30-EF47-034D-986C-7F95DF322C5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D2872-B7A0-4D4A-ADE5-DA5D2B957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BE568-4937-3649-A0C3-53E54C57F5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77F20-B54B-C14B-80A3-9F4A273A4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958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image" Target="../media/image3.png"/><Relationship Id="rId5" Type="http://schemas.openxmlformats.org/officeDocument/2006/relationships/image" Target="../media/image6.png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7.png"/><Relationship Id="rId5" Type="http://schemas.openxmlformats.org/officeDocument/2006/relationships/image" Target="../media/image6.png"/><Relationship Id="rId15" Type="http://schemas.openxmlformats.org/officeDocument/2006/relationships/image" Target="../media/image3.png"/><Relationship Id="rId10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14.png"/><Relationship Id="rId1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16.png"/><Relationship Id="rId15" Type="http://schemas.openxmlformats.org/officeDocument/2006/relationships/image" Target="../media/image3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Relationship Id="rId1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16.png"/><Relationship Id="rId15" Type="http://schemas.openxmlformats.org/officeDocument/2006/relationships/image" Target="../media/image3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Relationship Id="rId1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youtu.be/VPd8DOL13Iw?si=YVDg2YycZgwnYZi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4505-984A-784F-B784-AEBB8FD00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2805" y="1122363"/>
            <a:ext cx="6197089" cy="2387600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Single Sample </a:t>
            </a:r>
            <a:b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t-Test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BDEC7-4CE5-0C42-AD2E-FA8453064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2805" y="3602038"/>
            <a:ext cx="6197089" cy="1655762"/>
          </a:xfrm>
        </p:spPr>
        <p:txBody>
          <a:bodyPr>
            <a:normAutofit/>
          </a:bodyPr>
          <a:lstStyle/>
          <a:p>
            <a:r>
              <a:rPr lang="en-US" sz="3600" dirty="0"/>
              <a:t>Chad Williams</a:t>
            </a:r>
          </a:p>
          <a:p>
            <a:r>
              <a:rPr lang="en-US" sz="2800" dirty="0"/>
              <a:t>University of Victoria</a:t>
            </a:r>
            <a:endParaRPr lang="en-US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93A07B0-5ED5-F74E-A1D2-DB896138B20F}"/>
              </a:ext>
            </a:extLst>
          </p:cNvPr>
          <p:cNvGrpSpPr/>
          <p:nvPr/>
        </p:nvGrpSpPr>
        <p:grpSpPr>
          <a:xfrm>
            <a:off x="1462829" y="602117"/>
            <a:ext cx="5458932" cy="5307690"/>
            <a:chOff x="1462829" y="602117"/>
            <a:chExt cx="5458932" cy="530769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1367C81-ADE9-1F41-8FEA-4AF5AD77BDCE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57A84D5C-C387-1D47-9772-854B66FD33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1AE5A16A-F773-0646-9683-42DD8F3889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6E9A222-DCDE-EB4E-839F-B23FEDA593F5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419066EF-2FB6-1F47-B4D8-42A849FE2AD4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0448620-62B4-4F4D-946A-BF7ACA620963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1D410515-89AE-9540-8E50-AA444F8EC47A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09B93DB-C642-8A4B-85C0-D6AE3FB6D3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9158FB07-577C-1C48-BE6C-59B0CA0BB524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3095749-45C8-8A4A-979E-7C4B025D4FDF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1A4B310-E851-814F-9BAA-0DD6B54C5EB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DBCC1C8-A7F4-9D45-B58E-21EF51AE8B3F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E602794-B522-FC44-BC63-545173E3DBFC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76F9C99-A770-9E43-955D-38F4554386A4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5704A3B-D9E0-7D4E-B43D-C5BABAB8D583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9529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269830"/>
            <a:ext cx="6468542" cy="65881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Single Score versus Sample Mean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Single-Sample T-Test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endParaRPr lang="en-US" sz="3200" dirty="0"/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64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9B56C-5EED-86DF-72C6-AB5A32BAA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BC4BB86-1201-9813-549E-E4F18E32882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9B70ABC-1BB0-C783-E518-5C2D842AB793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9D675E82-284A-5DD5-CB83-0628BB1DDB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8B6EB7EF-722D-31D2-B964-010144DC15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7044164A-72A4-274C-64A9-BFD706DF16A1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4D1E0A2A-D635-27B5-6A8C-197D6D7C0210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8505F05-C93F-26F6-CD01-4646426C3664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E6FB526-BC4E-6017-6536-AAFD96333FE4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03F45BE-068A-7070-884A-0ECFA04DAA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E49FB5C-60DD-67BF-4D96-ABF63894A11B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67E2C82-3A8C-59B7-B2E8-859211B39C65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73D1A81-4A46-149F-E4E0-E3C9F8D69FC0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B5C5D81-4EA3-6283-8B31-27677C9C0DCE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11B178A-F2EF-E9E5-DD48-623A35C0A8D2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29912EC-B5EF-450B-C76D-09AA39E0197E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AD3BF03-6D8B-9795-1BFD-BA2E02ACC26A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D358F0A7-0D83-FAF9-503B-7F47DFBDACA9}"/>
              </a:ext>
            </a:extLst>
          </p:cNvPr>
          <p:cNvSpPr txBox="1">
            <a:spLocks/>
          </p:cNvSpPr>
          <p:nvPr/>
        </p:nvSpPr>
        <p:spPr>
          <a:xfrm>
            <a:off x="5809077" y="269830"/>
            <a:ext cx="6468542" cy="65881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 Score versus Sample Mean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Single-Sample T-Test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endParaRPr lang="en-US" sz="3200" dirty="0"/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105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9B5CD-1111-E645-81C4-C6EB1366F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Participant vs Single Sample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EDD9E7-2483-7A49-96F8-35144B7D53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Single Participant in a Sample (Unit 3.1.)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̅</m:t>
                        </m:r>
                      </m:num>
                      <m:den>
                        <m: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𝑆𝐷</m:t>
                        </m:r>
                      </m:den>
                    </m:f>
                  </m:oMath>
                </a14:m>
                <a:r>
                  <a:rPr lang="en-CA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CA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CA" sz="16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CA" sz="1600" b="0" i="0" smtClean="0">
                        <a:latin typeface="Cambria Math" panose="02040503050406030204" pitchFamily="18" charset="0"/>
                      </a:rPr>
                      <m:t>you</m:t>
                    </m:r>
                    <m:r>
                      <m:rPr>
                        <m:nor/>
                      </m:rPr>
                      <a:rPr lang="en-CA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CA" sz="1600" b="0" i="0" smtClean="0">
                        <a:latin typeface="Cambria Math" panose="02040503050406030204" pitchFamily="18" charset="0"/>
                      </a:rPr>
                      <m:t>calculate</m:t>
                    </m:r>
                    <m:r>
                      <m:rPr>
                        <m:nor/>
                      </m:rPr>
                      <a:rPr lang="en-CA" sz="1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̅</m:t>
                    </m:r>
                    <m:r>
                      <m:rPr>
                        <m:nor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and SD)</a:t>
                </a:r>
              </a:p>
              <a:p>
                <a:endParaRPr lang="en-US" sz="1600" dirty="0"/>
              </a:p>
              <a:p>
                <a:pPr marL="0" indent="0">
                  <a:buNone/>
                </a:pPr>
                <a:r>
                  <a:rPr lang="en-US" dirty="0"/>
                  <a:t>Single Participant in a Population (Unit 3.3.)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i="0" dirty="0"/>
                              <m:t>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i="0" dirty="0"/>
                              <m:t>σ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CA" sz="16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l-GR" sz="1600" i="0" dirty="0" smtClean="0"/>
                      <m:t>μ</m:t>
                    </m:r>
                    <m:r>
                      <m:rPr>
                        <m:nor/>
                      </m:rPr>
                      <a:rPr lang="en-CA" sz="1600" b="0" i="1" baseline="-25000" dirty="0" smtClean="0"/>
                      <m:t>X</m:t>
                    </m:r>
                  </m:oMath>
                </a14:m>
                <a:r>
                  <a:rPr lang="en-US" sz="1600" dirty="0"/>
                  <a:t> &amp;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i="0" dirty="0" smtClean="0"/>
                      <m:t>σ</m:t>
                    </m:r>
                    <m:r>
                      <a:rPr lang="en-CA" sz="1600" b="0" i="1" baseline="-25000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600" dirty="0"/>
                  <a:t> are given to you)</a:t>
                </a:r>
              </a:p>
              <a:p>
                <a:endParaRPr lang="en-US" sz="1600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Single Sample vs a Population where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i="0" dirty="0" smtClean="0">
                        <a:solidFill>
                          <a:schemeClr val="tx1"/>
                        </a:solidFill>
                      </a:rPr>
                      <m:t>μ</m:t>
                    </m:r>
                    <m:r>
                      <m:rPr>
                        <m:nor/>
                      </m:rPr>
                      <a:rPr lang="en-CA" b="0" i="0" dirty="0" smtClean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CA" b="0" i="0" dirty="0" smtClean="0">
                        <a:solidFill>
                          <a:schemeClr val="tx1"/>
                        </a:solidFill>
                      </a:rPr>
                      <m:t>&amp; </m:t>
                    </m:r>
                    <m:r>
                      <m:rPr>
                        <m:nor/>
                      </m:rPr>
                      <a:rPr lang="en-US" i="0" dirty="0" smtClean="0">
                        <a:solidFill>
                          <a:schemeClr val="tx1"/>
                        </a:solidFill>
                      </a:rPr>
                      <m:t>σ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are known (empirical) (Unit 4.2.)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̅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̅</m:t>
                        </m:r>
                        <m:r>
                          <a:rPr lang="en-CA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CA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400" i="0" dirty="0">
                                <a:solidFill>
                                  <a:schemeClr val="tx1"/>
                                </a:solidFill>
                              </a:rPr>
                              <m:t>μ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̅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i="0" dirty="0">
                                <a:solidFill>
                                  <a:schemeClr val="tx1"/>
                                </a:solidFill>
                              </a:rPr>
                              <m:t>σ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̅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0" dirty="0">
                            <a:solidFill>
                              <a:schemeClr val="tx1"/>
                            </a:solidFill>
                          </a:rPr>
                          <m:t>σ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̅̅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i="0" dirty="0">
                            <a:solidFill>
                              <a:schemeClr val="tx1"/>
                            </a:solidFill>
                          </a:rPr>
                          <m:t>σ</m:t>
                        </m:r>
                      </m:num>
                      <m:den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  <m: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Single Sample vs a Population where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i="0" dirty="0">
                        <a:solidFill>
                          <a:srgbClr val="FF0000"/>
                        </a:solidFill>
                      </a:rPr>
                      <m:t>μ</m:t>
                    </m:r>
                    <m:r>
                      <m:rPr>
                        <m:nor/>
                      </m:rPr>
                      <a:rPr lang="en-CA" i="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rgbClr val="FF0000"/>
                        </a:solidFill>
                      </a:rPr>
                      <m:t>is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CA" i="0" dirty="0">
                        <a:solidFill>
                          <a:srgbClr val="FF0000"/>
                        </a:solidFill>
                      </a:rPr>
                      <m:t>known</m:t>
                    </m:r>
                    <m:r>
                      <m:rPr>
                        <m:nor/>
                      </m:rPr>
                      <a:rPr lang="en-CA" i="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CA" i="0" dirty="0">
                        <a:solidFill>
                          <a:srgbClr val="FF0000"/>
                        </a:solidFill>
                      </a:rPr>
                      <m:t>but</m:t>
                    </m:r>
                    <m:r>
                      <m:rPr>
                        <m:nor/>
                      </m:rPr>
                      <a:rPr lang="en-CA" i="0" dirty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1" i="0" dirty="0">
                        <a:solidFill>
                          <a:srgbClr val="FF0000"/>
                        </a:solidFill>
                      </a:rPr>
                      <m:t>σ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is unknown </a:t>
                </a:r>
                <a:r>
                  <a:rPr lang="en-US" dirty="0">
                    <a:solidFill>
                      <a:srgbClr val="FF0000"/>
                    </a:solidFill>
                  </a:rPr>
                  <a:t>(theoretical)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̅</m:t>
                        </m:r>
                      </m:sub>
                    </m:sSub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̅</m:t>
                        </m:r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CA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i="0" dirty="0">
                                <a:solidFill>
                                  <a:srgbClr val="FF0000"/>
                                </a:solidFill>
                              </a:rPr>
                              <m:t>μ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̅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̅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̅̅</m:t>
                        </m:r>
                      </m:sub>
                    </m:sSub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  <m:r>
                          <a:rPr lang="en-CA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𝑆𝑆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rad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EDD9E7-2483-7A49-96F8-35144B7D53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  <a:blipFill>
                <a:blip r:embed="rId2"/>
                <a:stretch>
                  <a:fillRect l="-967" t="-3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5539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1FCD8-9357-C3F5-6CA5-4E93BBF7E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08A8B-59D2-31BD-A098-4F1B72E76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</a:t>
            </a:r>
            <a:r>
              <a:rPr lang="en-US" dirty="0" err="1"/>
              <a:t>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C33DC-0B59-D431-F076-692A869AF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When we know </a:t>
            </a:r>
            <a:r>
              <a:rPr lang="el-GR" b="1" dirty="0"/>
              <a:t>μ</a:t>
            </a:r>
            <a:r>
              <a:rPr lang="en-US" b="1" dirty="0"/>
              <a:t> &amp; σ (Z-Test)</a:t>
            </a:r>
          </a:p>
          <a:p>
            <a:r>
              <a:rPr lang="en-US" dirty="0"/>
              <a:t>The population is empirical</a:t>
            </a:r>
          </a:p>
          <a:p>
            <a:r>
              <a:rPr lang="en-US" dirty="0"/>
              <a:t>We can use the standard normal distribution as our sampling distribution of the mean (i.e., the z-table)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When σ is unknown (T-Test)</a:t>
            </a:r>
          </a:p>
          <a:p>
            <a:r>
              <a:rPr lang="en-US" dirty="0"/>
              <a:t>The population is theoretical</a:t>
            </a:r>
          </a:p>
          <a:p>
            <a:r>
              <a:rPr lang="en-US" dirty="0"/>
              <a:t>We must then estimate </a:t>
            </a:r>
            <a:r>
              <a:rPr lang="en-US" dirty="0" err="1"/>
              <a:t>σ</a:t>
            </a:r>
            <a:r>
              <a:rPr lang="en-US" dirty="0"/>
              <a:t> from our data, which varies depending on </a:t>
            </a:r>
            <a:r>
              <a:rPr lang="en-US" i="1" dirty="0"/>
              <a:t>n</a:t>
            </a:r>
          </a:p>
          <a:p>
            <a:pPr lvl="1"/>
            <a:r>
              <a:rPr lang="en-US" dirty="0"/>
              <a:t>Instead of the standard normal distribution, we will use the </a:t>
            </a:r>
            <a:r>
              <a:rPr lang="en-US" i="1" dirty="0"/>
              <a:t>family of curves </a:t>
            </a:r>
            <a:r>
              <a:rPr lang="en-US" dirty="0"/>
              <a:t>(i.e., the t-tables)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672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051560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97968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68" y="2880360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2499055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1645463" y="287121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463" y="2871216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4083710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3268465" y="295183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𝑆𝑞𝑢𝑎𝑟𝑒𝑑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465" y="2951830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 l="-3939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5759806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4906213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213" y="2880360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7253021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6399428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428" y="2880360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8746236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7892644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i="0" dirty="0"/>
                            <m:t>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𝑆𝐷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644" y="2880360"/>
                <a:ext cx="2011680" cy="502920"/>
              </a:xfrm>
              <a:prstGeom prst="rect">
                <a:avLst/>
              </a:prstGeom>
              <a:blipFill>
                <a:blip r:embed="rId8"/>
                <a:stretch>
                  <a:fillRect t="-609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10559491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705899" y="2880360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1480" y="3456432"/>
            <a:ext cx="640080" cy="658368"/>
          </a:xfrm>
          <a:prstGeom prst="roundRect">
            <a:avLst>
              <a:gd name="adj" fmla="val 12857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456432"/>
            <a:ext cx="6400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56055" y="345643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56055" y="345643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803550" y="345643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803550" y="345643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88206" y="345643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88206" y="345643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64301" y="345643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64301" y="345643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557516" y="345643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57516" y="345643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(SD)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50731" y="3456432"/>
            <a:ext cx="150876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5400">
            <a:solidFill>
              <a:srgbClr val="B85F0F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050731" y="3456432"/>
            <a:ext cx="15087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Participant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(Sample)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863986" y="3456432"/>
            <a:ext cx="9144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863986" y="3456432"/>
            <a:ext cx="914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051560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97968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68" y="2880360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2499055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83710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59806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4906213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213" y="2880360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7253021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6399428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428" y="2880360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8746236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559491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4114800"/>
            <a:ext cx="0" cy="91440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7147" y="5029200"/>
            <a:ext cx="123444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975104" y="5029200"/>
            <a:ext cx="9144" cy="54864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20"/>
              <p:cNvSpPr/>
              <p:nvPr/>
            </p:nvSpPr>
            <p:spPr>
              <a:xfrm>
                <a:off x="411480" y="4544568"/>
                <a:ext cx="2011680" cy="41148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544568"/>
                <a:ext cx="2011680" cy="411480"/>
              </a:xfrm>
              <a:prstGeom prst="rect">
                <a:avLst/>
              </a:prstGeom>
              <a:blipFill>
                <a:blip r:embed="rId6"/>
                <a:stretch>
                  <a:fillRect t="-3134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21"/>
          <p:cNvSpPr/>
          <p:nvPr/>
        </p:nvSpPr>
        <p:spPr>
          <a:xfrm>
            <a:off x="2889504" y="5907024"/>
            <a:ext cx="32004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1480" y="3456432"/>
            <a:ext cx="640080" cy="658368"/>
          </a:xfrm>
          <a:prstGeom prst="roundRect">
            <a:avLst>
              <a:gd name="adj" fmla="val 12857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3456432"/>
            <a:ext cx="6400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56055" y="345643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56055" y="345643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803550" y="345643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803550" y="345643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388206" y="345643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388206" y="345643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64301" y="345643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64301" y="345643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557516" y="345643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557516" y="345643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(SD)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863986" y="3456432"/>
            <a:ext cx="9144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863986" y="3456432"/>
            <a:ext cx="914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1060704" y="5577840"/>
            <a:ext cx="182880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5400">
            <a:solidFill>
              <a:srgbClr val="B85F0F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60704" y="5577840"/>
            <a:ext cx="18288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Participant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(Population)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209544" y="5577840"/>
            <a:ext cx="8229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209544" y="5577840"/>
            <a:ext cx="8229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8">
                <a:extLst>
                  <a:ext uri="{FF2B5EF4-FFF2-40B4-BE49-F238E27FC236}">
                    <a16:creationId xmlns:a16="http://schemas.microsoft.com/office/drawing/2014/main" id="{F8489A7D-ABED-902D-4703-BA3D3E9112E5}"/>
                  </a:ext>
                </a:extLst>
              </p:cNvPr>
              <p:cNvSpPr/>
              <p:nvPr/>
            </p:nvSpPr>
            <p:spPr>
              <a:xfrm>
                <a:off x="3268465" y="295183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𝑆𝑞𝑢𝑎𝑟𝑒𝑑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7" name="Text 8">
                <a:extLst>
                  <a:ext uri="{FF2B5EF4-FFF2-40B4-BE49-F238E27FC236}">
                    <a16:creationId xmlns:a16="http://schemas.microsoft.com/office/drawing/2014/main" id="{F8489A7D-ABED-902D-4703-BA3D3E9112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465" y="2951830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 l="-3939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14">
                <a:extLst>
                  <a:ext uri="{FF2B5EF4-FFF2-40B4-BE49-F238E27FC236}">
                    <a16:creationId xmlns:a16="http://schemas.microsoft.com/office/drawing/2014/main" id="{88FDB24E-0D05-210F-AB74-BBC68D49F9A3}"/>
                  </a:ext>
                </a:extLst>
              </p:cNvPr>
              <p:cNvSpPr/>
              <p:nvPr/>
            </p:nvSpPr>
            <p:spPr>
              <a:xfrm>
                <a:off x="7892644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i="0" dirty="0"/>
                            <m:t>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𝑆𝐷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 14">
                <a:extLst>
                  <a:ext uri="{FF2B5EF4-FFF2-40B4-BE49-F238E27FC236}">
                    <a16:creationId xmlns:a16="http://schemas.microsoft.com/office/drawing/2014/main" id="{88FDB24E-0D05-210F-AB74-BBC68D49F9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644" y="2880360"/>
                <a:ext cx="2011680" cy="502920"/>
              </a:xfrm>
              <a:prstGeom prst="rect">
                <a:avLst/>
              </a:prstGeom>
              <a:blipFill>
                <a:blip r:embed="rId8"/>
                <a:stretch>
                  <a:fillRect t="-609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 16">
            <a:extLst>
              <a:ext uri="{FF2B5EF4-FFF2-40B4-BE49-F238E27FC236}">
                <a16:creationId xmlns:a16="http://schemas.microsoft.com/office/drawing/2014/main" id="{9F1687DE-168F-A842-0A80-85C28836E73B}"/>
              </a:ext>
            </a:extLst>
          </p:cNvPr>
          <p:cNvSpPr/>
          <p:nvPr/>
        </p:nvSpPr>
        <p:spPr>
          <a:xfrm>
            <a:off x="9705899" y="2880360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/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72A61DC0-1DB2-A537-A5C1-ADBC1F07E20F}"/>
              </a:ext>
            </a:extLst>
          </p:cNvPr>
          <p:cNvSpPr/>
          <p:nvPr/>
        </p:nvSpPr>
        <p:spPr>
          <a:xfrm>
            <a:off x="2072030" y="4988052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F30CEB8A-1B59-FE44-8CBE-80B65206972E}"/>
              </a:ext>
            </a:extLst>
          </p:cNvPr>
          <p:cNvSpPr/>
          <p:nvPr/>
        </p:nvSpPr>
        <p:spPr>
          <a:xfrm>
            <a:off x="9058046" y="3465576"/>
            <a:ext cx="15087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28575">
            <a:solidFill>
              <a:srgbClr val="2C5F7C"/>
            </a:solidFill>
            <a:prstDash val="solid"/>
          </a:ln>
          <a:effectLst>
            <a:outerShdw blurRad="76200" dist="25400" dir="5400000" algn="ctr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6">
            <a:extLst>
              <a:ext uri="{FF2B5EF4-FFF2-40B4-BE49-F238E27FC236}">
                <a16:creationId xmlns:a16="http://schemas.microsoft.com/office/drawing/2014/main" id="{AE6B2B05-9C74-B8C1-3775-16662C9F005E}"/>
              </a:ext>
            </a:extLst>
          </p:cNvPr>
          <p:cNvSpPr/>
          <p:nvPr/>
        </p:nvSpPr>
        <p:spPr>
          <a:xfrm>
            <a:off x="9050731" y="3456432"/>
            <a:ext cx="15087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Participant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(Sample)</a:t>
            </a:r>
            <a:endParaRPr lang="en-US" sz="10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6">
                <a:extLst>
                  <a:ext uri="{FF2B5EF4-FFF2-40B4-BE49-F238E27FC236}">
                    <a16:creationId xmlns:a16="http://schemas.microsoft.com/office/drawing/2014/main" id="{7957D7EE-B786-6ACF-5426-E772B283B195}"/>
                  </a:ext>
                </a:extLst>
              </p:cNvPr>
              <p:cNvSpPr/>
              <p:nvPr/>
            </p:nvSpPr>
            <p:spPr>
              <a:xfrm>
                <a:off x="1645463" y="287121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 6">
                <a:extLst>
                  <a:ext uri="{FF2B5EF4-FFF2-40B4-BE49-F238E27FC236}">
                    <a16:creationId xmlns:a16="http://schemas.microsoft.com/office/drawing/2014/main" id="{7957D7EE-B786-6ACF-5426-E772B283B1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463" y="2871216"/>
                <a:ext cx="2011680" cy="5029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051560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97968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68" y="2880360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2499055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83710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59806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4906213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213" y="2880360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7253021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6399428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428" y="2880360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8746236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559491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 flipV="1">
            <a:off x="731520" y="2788920"/>
            <a:ext cx="9144" cy="667512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0" y="2788920"/>
            <a:ext cx="9601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 flipV="1">
            <a:off x="1691640" y="1874520"/>
            <a:ext cx="9144" cy="91440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26"/>
              <p:cNvSpPr/>
              <p:nvPr/>
            </p:nvSpPr>
            <p:spPr>
              <a:xfrm>
                <a:off x="205740" y="2288286"/>
                <a:ext cx="2011680" cy="384048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" y="2288286"/>
                <a:ext cx="2011680" cy="384048"/>
              </a:xfrm>
              <a:prstGeom prst="rect">
                <a:avLst/>
              </a:prstGeom>
              <a:blipFill>
                <a:blip r:embed="rId6"/>
                <a:stretch>
                  <a:fillRect t="-4127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Shape 27"/>
          <p:cNvSpPr/>
          <p:nvPr/>
        </p:nvSpPr>
        <p:spPr>
          <a:xfrm>
            <a:off x="2365578" y="1535512"/>
            <a:ext cx="36576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28"/>
              <p:cNvSpPr/>
              <p:nvPr/>
            </p:nvSpPr>
            <p:spPr>
              <a:xfrm>
                <a:off x="1598224" y="738302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acc>
                                <m:accPr>
                                  <m:chr m:val="̄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acc>
                                <m:accPr>
                                  <m:chr m:val="̄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224" y="738302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 t="-1445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Shape 29"/>
          <p:cNvSpPr/>
          <p:nvPr/>
        </p:nvSpPr>
        <p:spPr>
          <a:xfrm>
            <a:off x="4194378" y="1535512"/>
            <a:ext cx="36576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11480" y="3456432"/>
            <a:ext cx="640080" cy="658368"/>
          </a:xfrm>
          <a:prstGeom prst="roundRect">
            <a:avLst>
              <a:gd name="adj" fmla="val 12857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3456432"/>
            <a:ext cx="6400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356055" y="345643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356055" y="345643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803550" y="345643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803550" y="345643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388206" y="345643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388206" y="345643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064301" y="345643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064301" y="345643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557516" y="345643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557516" y="345643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(SD)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0863986" y="3456432"/>
            <a:ext cx="9144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0863986" y="3456432"/>
            <a:ext cx="914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1085418" y="1206328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085418" y="1206328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(σₓ̄)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731338" y="1206328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5400">
            <a:solidFill>
              <a:srgbClr val="B85F0F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731338" y="1206328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Sample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560138" y="1206328"/>
            <a:ext cx="9144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560138" y="1206328"/>
            <a:ext cx="914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8">
                <a:extLst>
                  <a:ext uri="{FF2B5EF4-FFF2-40B4-BE49-F238E27FC236}">
                    <a16:creationId xmlns:a16="http://schemas.microsoft.com/office/drawing/2014/main" id="{F34514A1-106F-BB92-3F77-D4305D750497}"/>
                  </a:ext>
                </a:extLst>
              </p:cNvPr>
              <p:cNvSpPr/>
              <p:nvPr/>
            </p:nvSpPr>
            <p:spPr>
              <a:xfrm>
                <a:off x="3268465" y="295183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𝑆𝑞𝑢𝑎𝑟𝑒𝑑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1" name="Text 8">
                <a:extLst>
                  <a:ext uri="{FF2B5EF4-FFF2-40B4-BE49-F238E27FC236}">
                    <a16:creationId xmlns:a16="http://schemas.microsoft.com/office/drawing/2014/main" id="{F34514A1-106F-BB92-3F77-D4305D7504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465" y="2951830"/>
                <a:ext cx="2011680" cy="502920"/>
              </a:xfrm>
              <a:prstGeom prst="rect">
                <a:avLst/>
              </a:prstGeom>
              <a:blipFill>
                <a:blip r:embed="rId8"/>
                <a:stretch>
                  <a:fillRect l="-3939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14">
                <a:extLst>
                  <a:ext uri="{FF2B5EF4-FFF2-40B4-BE49-F238E27FC236}">
                    <a16:creationId xmlns:a16="http://schemas.microsoft.com/office/drawing/2014/main" id="{AA86F9D7-FE03-49B8-2195-8F98A2BD24FD}"/>
                  </a:ext>
                </a:extLst>
              </p:cNvPr>
              <p:cNvSpPr/>
              <p:nvPr/>
            </p:nvSpPr>
            <p:spPr>
              <a:xfrm>
                <a:off x="7892644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i="0" dirty="0"/>
                            <m:t>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𝑆𝐷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 14">
                <a:extLst>
                  <a:ext uri="{FF2B5EF4-FFF2-40B4-BE49-F238E27FC236}">
                    <a16:creationId xmlns:a16="http://schemas.microsoft.com/office/drawing/2014/main" id="{AA86F9D7-FE03-49B8-2195-8F98A2BD24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644" y="2880360"/>
                <a:ext cx="2011680" cy="502920"/>
              </a:xfrm>
              <a:prstGeom prst="rect">
                <a:avLst/>
              </a:prstGeom>
              <a:blipFill>
                <a:blip r:embed="rId9"/>
                <a:stretch>
                  <a:fillRect t="-609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 16">
            <a:extLst>
              <a:ext uri="{FF2B5EF4-FFF2-40B4-BE49-F238E27FC236}">
                <a16:creationId xmlns:a16="http://schemas.microsoft.com/office/drawing/2014/main" id="{443BB3B0-27B1-8E9F-F2DA-E84191C16837}"/>
              </a:ext>
            </a:extLst>
          </p:cNvPr>
          <p:cNvSpPr/>
          <p:nvPr/>
        </p:nvSpPr>
        <p:spPr>
          <a:xfrm>
            <a:off x="9705899" y="2880360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/>
          </a:p>
        </p:txBody>
      </p:sp>
      <p:sp>
        <p:nvSpPr>
          <p:cNvPr id="67" name="Shape 17">
            <a:extLst>
              <a:ext uri="{FF2B5EF4-FFF2-40B4-BE49-F238E27FC236}">
                <a16:creationId xmlns:a16="http://schemas.microsoft.com/office/drawing/2014/main" id="{236769DA-BA7C-9F22-3D21-DF38E21AE8A6}"/>
              </a:ext>
            </a:extLst>
          </p:cNvPr>
          <p:cNvSpPr/>
          <p:nvPr/>
        </p:nvSpPr>
        <p:spPr>
          <a:xfrm>
            <a:off x="731520" y="4114800"/>
            <a:ext cx="0" cy="91440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18">
            <a:extLst>
              <a:ext uri="{FF2B5EF4-FFF2-40B4-BE49-F238E27FC236}">
                <a16:creationId xmlns:a16="http://schemas.microsoft.com/office/drawing/2014/main" id="{0813531F-F904-FE5C-2E46-BDB93C4C230F}"/>
              </a:ext>
            </a:extLst>
          </p:cNvPr>
          <p:cNvSpPr/>
          <p:nvPr/>
        </p:nvSpPr>
        <p:spPr>
          <a:xfrm>
            <a:off x="737147" y="5029200"/>
            <a:ext cx="123444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19">
            <a:extLst>
              <a:ext uri="{FF2B5EF4-FFF2-40B4-BE49-F238E27FC236}">
                <a16:creationId xmlns:a16="http://schemas.microsoft.com/office/drawing/2014/main" id="{87E1FF00-2926-73FB-02F3-58CC985E1B1A}"/>
              </a:ext>
            </a:extLst>
          </p:cNvPr>
          <p:cNvSpPr/>
          <p:nvPr/>
        </p:nvSpPr>
        <p:spPr>
          <a:xfrm>
            <a:off x="1975104" y="5029200"/>
            <a:ext cx="9144" cy="54864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 20">
                <a:extLst>
                  <a:ext uri="{FF2B5EF4-FFF2-40B4-BE49-F238E27FC236}">
                    <a16:creationId xmlns:a16="http://schemas.microsoft.com/office/drawing/2014/main" id="{C66951B4-248B-58CF-CB8B-7B668D6508CC}"/>
                  </a:ext>
                </a:extLst>
              </p:cNvPr>
              <p:cNvSpPr/>
              <p:nvPr/>
            </p:nvSpPr>
            <p:spPr>
              <a:xfrm>
                <a:off x="411480" y="4544568"/>
                <a:ext cx="2011680" cy="41148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 20">
                <a:extLst>
                  <a:ext uri="{FF2B5EF4-FFF2-40B4-BE49-F238E27FC236}">
                    <a16:creationId xmlns:a16="http://schemas.microsoft.com/office/drawing/2014/main" id="{C66951B4-248B-58CF-CB8B-7B668D6508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544568"/>
                <a:ext cx="2011680" cy="411480"/>
              </a:xfrm>
              <a:prstGeom prst="rect">
                <a:avLst/>
              </a:prstGeom>
              <a:blipFill>
                <a:blip r:embed="rId10"/>
                <a:stretch>
                  <a:fillRect t="-3134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Shape 21">
            <a:extLst>
              <a:ext uri="{FF2B5EF4-FFF2-40B4-BE49-F238E27FC236}">
                <a16:creationId xmlns:a16="http://schemas.microsoft.com/office/drawing/2014/main" id="{B2295808-C7F3-C45F-65AE-5E41EB355233}"/>
              </a:ext>
            </a:extLst>
          </p:cNvPr>
          <p:cNvSpPr/>
          <p:nvPr/>
        </p:nvSpPr>
        <p:spPr>
          <a:xfrm>
            <a:off x="2889504" y="5907024"/>
            <a:ext cx="32004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39">
            <a:extLst>
              <a:ext uri="{FF2B5EF4-FFF2-40B4-BE49-F238E27FC236}">
                <a16:creationId xmlns:a16="http://schemas.microsoft.com/office/drawing/2014/main" id="{3E253C6D-85FB-A691-E0C1-E2B326D15E0E}"/>
              </a:ext>
            </a:extLst>
          </p:cNvPr>
          <p:cNvSpPr/>
          <p:nvPr/>
        </p:nvSpPr>
        <p:spPr>
          <a:xfrm>
            <a:off x="1060704" y="5577840"/>
            <a:ext cx="18288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25400">
            <a:solidFill>
              <a:srgbClr val="2C5F7C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Text 40">
            <a:extLst>
              <a:ext uri="{FF2B5EF4-FFF2-40B4-BE49-F238E27FC236}">
                <a16:creationId xmlns:a16="http://schemas.microsoft.com/office/drawing/2014/main" id="{03B8BB82-E061-0AE5-C69B-D4DFEBA636BA}"/>
              </a:ext>
            </a:extLst>
          </p:cNvPr>
          <p:cNvSpPr/>
          <p:nvPr/>
        </p:nvSpPr>
        <p:spPr>
          <a:xfrm>
            <a:off x="1060704" y="5715144"/>
            <a:ext cx="1828800" cy="383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Participant</a:t>
            </a:r>
            <a:endParaRPr lang="en-US" sz="1050" dirty="0">
              <a:solidFill>
                <a:srgbClr val="1B3A4B"/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(Population)</a:t>
            </a:r>
            <a:endParaRPr lang="en-US" sz="1050" dirty="0">
              <a:solidFill>
                <a:srgbClr val="1B3A4B"/>
              </a:solidFill>
            </a:endParaRPr>
          </a:p>
        </p:txBody>
      </p:sp>
      <p:sp>
        <p:nvSpPr>
          <p:cNvPr id="81" name="Shape 41">
            <a:extLst>
              <a:ext uri="{FF2B5EF4-FFF2-40B4-BE49-F238E27FC236}">
                <a16:creationId xmlns:a16="http://schemas.microsoft.com/office/drawing/2014/main" id="{C997FD72-B3BB-3303-ED5E-89A984BD2206}"/>
              </a:ext>
            </a:extLst>
          </p:cNvPr>
          <p:cNvSpPr/>
          <p:nvPr/>
        </p:nvSpPr>
        <p:spPr>
          <a:xfrm>
            <a:off x="3209544" y="5577840"/>
            <a:ext cx="8229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42">
            <a:extLst>
              <a:ext uri="{FF2B5EF4-FFF2-40B4-BE49-F238E27FC236}">
                <a16:creationId xmlns:a16="http://schemas.microsoft.com/office/drawing/2014/main" id="{D2A87060-9B79-E81D-A658-D1633F330905}"/>
              </a:ext>
            </a:extLst>
          </p:cNvPr>
          <p:cNvSpPr/>
          <p:nvPr/>
        </p:nvSpPr>
        <p:spPr>
          <a:xfrm>
            <a:off x="3209544" y="5577840"/>
            <a:ext cx="8229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p:sp>
        <p:nvSpPr>
          <p:cNvPr id="85" name="Text 16">
            <a:extLst>
              <a:ext uri="{FF2B5EF4-FFF2-40B4-BE49-F238E27FC236}">
                <a16:creationId xmlns:a16="http://schemas.microsoft.com/office/drawing/2014/main" id="{905C27EE-7DAD-4603-1CA9-D9CF9E82EF8E}"/>
              </a:ext>
            </a:extLst>
          </p:cNvPr>
          <p:cNvSpPr/>
          <p:nvPr/>
        </p:nvSpPr>
        <p:spPr>
          <a:xfrm>
            <a:off x="2072030" y="4988052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/>
          </a:p>
        </p:txBody>
      </p:sp>
      <p:sp>
        <p:nvSpPr>
          <p:cNvPr id="87" name="Text 16">
            <a:extLst>
              <a:ext uri="{FF2B5EF4-FFF2-40B4-BE49-F238E27FC236}">
                <a16:creationId xmlns:a16="http://schemas.microsoft.com/office/drawing/2014/main" id="{9DDB228A-EB56-5A72-E1AA-56854A19740E}"/>
              </a:ext>
            </a:extLst>
          </p:cNvPr>
          <p:cNvSpPr/>
          <p:nvPr/>
        </p:nvSpPr>
        <p:spPr>
          <a:xfrm>
            <a:off x="3371418" y="722376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/>
          </a:p>
        </p:txBody>
      </p:sp>
      <p:sp>
        <p:nvSpPr>
          <p:cNvPr id="93" name="Shape 55">
            <a:extLst>
              <a:ext uri="{FF2B5EF4-FFF2-40B4-BE49-F238E27FC236}">
                <a16:creationId xmlns:a16="http://schemas.microsoft.com/office/drawing/2014/main" id="{6ED44E0C-FA93-423B-27D3-B6DE36D4D055}"/>
              </a:ext>
            </a:extLst>
          </p:cNvPr>
          <p:cNvSpPr/>
          <p:nvPr/>
        </p:nvSpPr>
        <p:spPr>
          <a:xfrm>
            <a:off x="9058046" y="3465576"/>
            <a:ext cx="15087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28575">
            <a:solidFill>
              <a:srgbClr val="2C5F7C"/>
            </a:solidFill>
            <a:prstDash val="solid"/>
          </a:ln>
          <a:effectLst>
            <a:outerShdw blurRad="76200" dist="25400" dir="5400000" algn="ctr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5" name="Text 56">
            <a:extLst>
              <a:ext uri="{FF2B5EF4-FFF2-40B4-BE49-F238E27FC236}">
                <a16:creationId xmlns:a16="http://schemas.microsoft.com/office/drawing/2014/main" id="{DF1C10FC-A75E-77AD-B86D-194B82BB4F6B}"/>
              </a:ext>
            </a:extLst>
          </p:cNvPr>
          <p:cNvSpPr/>
          <p:nvPr/>
        </p:nvSpPr>
        <p:spPr>
          <a:xfrm>
            <a:off x="9050731" y="3456432"/>
            <a:ext cx="15087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Participant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(Sample)</a:t>
            </a:r>
            <a:endParaRPr lang="en-US" sz="10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 6">
                <a:extLst>
                  <a:ext uri="{FF2B5EF4-FFF2-40B4-BE49-F238E27FC236}">
                    <a16:creationId xmlns:a16="http://schemas.microsoft.com/office/drawing/2014/main" id="{B4D304F9-8F68-520C-837C-CCC635F90DFC}"/>
                  </a:ext>
                </a:extLst>
              </p:cNvPr>
              <p:cNvSpPr/>
              <p:nvPr/>
            </p:nvSpPr>
            <p:spPr>
              <a:xfrm>
                <a:off x="1645463" y="287121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Text 6">
                <a:extLst>
                  <a:ext uri="{FF2B5EF4-FFF2-40B4-BE49-F238E27FC236}">
                    <a16:creationId xmlns:a16="http://schemas.microsoft.com/office/drawing/2014/main" id="{B4D304F9-8F68-520C-837C-CCC635F90D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463" y="2871216"/>
                <a:ext cx="2011680" cy="5029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051560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97968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68" y="2880360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2499055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83710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59806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4906213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213" y="2880360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7253021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6399428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428" y="2880360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8746236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559491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 flipV="1">
            <a:off x="731520" y="2788920"/>
            <a:ext cx="9144" cy="667512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0" y="2788920"/>
            <a:ext cx="9601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 flipV="1">
            <a:off x="5074006" y="2650946"/>
            <a:ext cx="0" cy="805486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074006" y="2650947"/>
            <a:ext cx="1271930" cy="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 flipV="1">
            <a:off x="6355080" y="1929383"/>
            <a:ext cx="0" cy="721563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 34"/>
              <p:cNvSpPr/>
              <p:nvPr/>
            </p:nvSpPr>
            <p:spPr>
              <a:xfrm>
                <a:off x="4800600" y="2208276"/>
                <a:ext cx="2011680" cy="384048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2208276"/>
                <a:ext cx="2011680" cy="384048"/>
              </a:xfrm>
              <a:prstGeom prst="rect">
                <a:avLst/>
              </a:prstGeom>
              <a:blipFill>
                <a:blip r:embed="rId6"/>
                <a:stretch>
                  <a:fillRect t="-3968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Shape 35"/>
          <p:cNvSpPr/>
          <p:nvPr/>
        </p:nvSpPr>
        <p:spPr>
          <a:xfrm>
            <a:off x="6812280" y="1581912"/>
            <a:ext cx="24003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36"/>
              <p:cNvSpPr/>
              <p:nvPr/>
            </p:nvSpPr>
            <p:spPr>
              <a:xfrm>
                <a:off x="5926455" y="68580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455" y="685800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Shape 37"/>
          <p:cNvSpPr/>
          <p:nvPr/>
        </p:nvSpPr>
        <p:spPr>
          <a:xfrm>
            <a:off x="7966710" y="1581912"/>
            <a:ext cx="24003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 38"/>
              <p:cNvSpPr/>
              <p:nvPr/>
            </p:nvSpPr>
            <p:spPr>
              <a:xfrm>
                <a:off x="7080885" y="68580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0885" y="685800"/>
                <a:ext cx="2011680" cy="502920"/>
              </a:xfrm>
              <a:prstGeom prst="rect">
                <a:avLst/>
              </a:prstGeom>
              <a:blipFill>
                <a:blip r:embed="rId8"/>
                <a:stretch>
                  <a:fillRect t="-853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Shape 39"/>
          <p:cNvSpPr/>
          <p:nvPr/>
        </p:nvSpPr>
        <p:spPr>
          <a:xfrm>
            <a:off x="9304020" y="1581912"/>
            <a:ext cx="24003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40"/>
              <p:cNvSpPr/>
              <p:nvPr/>
            </p:nvSpPr>
            <p:spPr>
              <a:xfrm>
                <a:off x="8418195" y="68580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acc>
                                <m:accPr>
                                  <m:chr m:val="̄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acc>
                                <m:accPr>
                                  <m:chr m:val="̄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8195" y="685800"/>
                <a:ext cx="2011680" cy="502920"/>
              </a:xfrm>
              <a:prstGeom prst="rect">
                <a:avLst/>
              </a:prstGeom>
              <a:blipFill>
                <a:blip r:embed="rId9"/>
                <a:stretch>
                  <a:fillRect t="-1463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Shape 41"/>
          <p:cNvSpPr/>
          <p:nvPr/>
        </p:nvSpPr>
        <p:spPr>
          <a:xfrm>
            <a:off x="10824210" y="1581912"/>
            <a:ext cx="24003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11480" y="3456432"/>
            <a:ext cx="640080" cy="658368"/>
          </a:xfrm>
          <a:prstGeom prst="roundRect">
            <a:avLst>
              <a:gd name="adj" fmla="val 12857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11480" y="3456432"/>
            <a:ext cx="6400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356055" y="345643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356055" y="345643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803550" y="345643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803550" y="345643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4388206" y="345643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388206" y="345643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064301" y="345643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064301" y="345643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7557516" y="345643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557516" y="345643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(SD)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10863986" y="3456432"/>
            <a:ext cx="9144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0863986" y="3456432"/>
            <a:ext cx="914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5897880" y="1252728"/>
            <a:ext cx="9144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897880" y="1252728"/>
            <a:ext cx="914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(s²)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7052310" y="1252728"/>
            <a:ext cx="9144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052310" y="1252728"/>
            <a:ext cx="914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(s)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8206740" y="1252728"/>
            <a:ext cx="109728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8206740" y="1390032"/>
            <a:ext cx="1097280" cy="383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</a:t>
            </a:r>
            <a:endParaRPr lang="en-US" sz="1050" dirty="0"/>
          </a:p>
          <a:p>
            <a:pPr algn="ctr">
              <a:lnSpc>
                <a:spcPct val="105000"/>
              </a:lnSpc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050" b="1" dirty="0" err="1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050" b="1" baseline="-25000" dirty="0" err="1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050" b="1" baseline="-25000" dirty="0">
                <a:solidFill>
                  <a:srgbClr val="1B3A4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̅</a:t>
            </a: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9544050" y="1252728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5400">
            <a:solidFill>
              <a:srgbClr val="B85F0F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9544050" y="1390032"/>
            <a:ext cx="1280160" cy="383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Sample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t-Score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11064240" y="1252728"/>
            <a:ext cx="7315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11064240" y="1252728"/>
            <a:ext cx="7315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 8">
                <a:extLst>
                  <a:ext uri="{FF2B5EF4-FFF2-40B4-BE49-F238E27FC236}">
                    <a16:creationId xmlns:a16="http://schemas.microsoft.com/office/drawing/2014/main" id="{59613F58-D986-A79E-3B2C-DF2915B4C83D}"/>
                  </a:ext>
                </a:extLst>
              </p:cNvPr>
              <p:cNvSpPr/>
              <p:nvPr/>
            </p:nvSpPr>
            <p:spPr>
              <a:xfrm>
                <a:off x="3268465" y="295183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𝑆𝑞𝑢𝑎𝑟𝑒𝑑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3" name="Text 8">
                <a:extLst>
                  <a:ext uri="{FF2B5EF4-FFF2-40B4-BE49-F238E27FC236}">
                    <a16:creationId xmlns:a16="http://schemas.microsoft.com/office/drawing/2014/main" id="{59613F58-D986-A79E-3B2C-DF2915B4C8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465" y="2951830"/>
                <a:ext cx="2011680" cy="502920"/>
              </a:xfrm>
              <a:prstGeom prst="rect">
                <a:avLst/>
              </a:prstGeom>
              <a:blipFill>
                <a:blip r:embed="rId10"/>
                <a:stretch>
                  <a:fillRect l="-3939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 14">
                <a:extLst>
                  <a:ext uri="{FF2B5EF4-FFF2-40B4-BE49-F238E27FC236}">
                    <a16:creationId xmlns:a16="http://schemas.microsoft.com/office/drawing/2014/main" id="{A024239C-19D1-4A8E-FF84-C29A5FDA13C9}"/>
                  </a:ext>
                </a:extLst>
              </p:cNvPr>
              <p:cNvSpPr/>
              <p:nvPr/>
            </p:nvSpPr>
            <p:spPr>
              <a:xfrm>
                <a:off x="7892644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i="0" dirty="0"/>
                            <m:t>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𝑆𝐷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5" name="Text 14">
                <a:extLst>
                  <a:ext uri="{FF2B5EF4-FFF2-40B4-BE49-F238E27FC236}">
                    <a16:creationId xmlns:a16="http://schemas.microsoft.com/office/drawing/2014/main" id="{A024239C-19D1-4A8E-FF84-C29A5FDA13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644" y="2880360"/>
                <a:ext cx="2011680" cy="502920"/>
              </a:xfrm>
              <a:prstGeom prst="rect">
                <a:avLst/>
              </a:prstGeom>
              <a:blipFill>
                <a:blip r:embed="rId11"/>
                <a:stretch>
                  <a:fillRect t="-609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ext 16">
            <a:extLst>
              <a:ext uri="{FF2B5EF4-FFF2-40B4-BE49-F238E27FC236}">
                <a16:creationId xmlns:a16="http://schemas.microsoft.com/office/drawing/2014/main" id="{833191CA-FF14-77C7-6896-5539EC591695}"/>
              </a:ext>
            </a:extLst>
          </p:cNvPr>
          <p:cNvSpPr/>
          <p:nvPr/>
        </p:nvSpPr>
        <p:spPr>
          <a:xfrm>
            <a:off x="9705899" y="2880360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/>
          </a:p>
        </p:txBody>
      </p:sp>
      <p:sp>
        <p:nvSpPr>
          <p:cNvPr id="89" name="Shape 17">
            <a:extLst>
              <a:ext uri="{FF2B5EF4-FFF2-40B4-BE49-F238E27FC236}">
                <a16:creationId xmlns:a16="http://schemas.microsoft.com/office/drawing/2014/main" id="{C211E39E-5E9C-1AAC-518E-0763CFB34A5B}"/>
              </a:ext>
            </a:extLst>
          </p:cNvPr>
          <p:cNvSpPr/>
          <p:nvPr/>
        </p:nvSpPr>
        <p:spPr>
          <a:xfrm>
            <a:off x="731520" y="4114800"/>
            <a:ext cx="0" cy="91440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18">
            <a:extLst>
              <a:ext uri="{FF2B5EF4-FFF2-40B4-BE49-F238E27FC236}">
                <a16:creationId xmlns:a16="http://schemas.microsoft.com/office/drawing/2014/main" id="{1BEB4424-FACF-C1A8-00E5-7827AE736D4B}"/>
              </a:ext>
            </a:extLst>
          </p:cNvPr>
          <p:cNvSpPr/>
          <p:nvPr/>
        </p:nvSpPr>
        <p:spPr>
          <a:xfrm>
            <a:off x="737147" y="5029200"/>
            <a:ext cx="123444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19">
            <a:extLst>
              <a:ext uri="{FF2B5EF4-FFF2-40B4-BE49-F238E27FC236}">
                <a16:creationId xmlns:a16="http://schemas.microsoft.com/office/drawing/2014/main" id="{F8D08742-4775-7B38-0CD8-30E63C178B3E}"/>
              </a:ext>
            </a:extLst>
          </p:cNvPr>
          <p:cNvSpPr/>
          <p:nvPr/>
        </p:nvSpPr>
        <p:spPr>
          <a:xfrm>
            <a:off x="1975104" y="5029200"/>
            <a:ext cx="9144" cy="54864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 20">
                <a:extLst>
                  <a:ext uri="{FF2B5EF4-FFF2-40B4-BE49-F238E27FC236}">
                    <a16:creationId xmlns:a16="http://schemas.microsoft.com/office/drawing/2014/main" id="{F06CFEC8-5969-177C-1264-49FD35D146E7}"/>
                  </a:ext>
                </a:extLst>
              </p:cNvPr>
              <p:cNvSpPr/>
              <p:nvPr/>
            </p:nvSpPr>
            <p:spPr>
              <a:xfrm>
                <a:off x="411480" y="4544568"/>
                <a:ext cx="2011680" cy="41148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 20">
                <a:extLst>
                  <a:ext uri="{FF2B5EF4-FFF2-40B4-BE49-F238E27FC236}">
                    <a16:creationId xmlns:a16="http://schemas.microsoft.com/office/drawing/2014/main" id="{F06CFEC8-5969-177C-1264-49FD35D146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544568"/>
                <a:ext cx="2011680" cy="411480"/>
              </a:xfrm>
              <a:prstGeom prst="rect">
                <a:avLst/>
              </a:prstGeom>
              <a:blipFill>
                <a:blip r:embed="rId12"/>
                <a:stretch>
                  <a:fillRect t="-3134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Shape 21">
            <a:extLst>
              <a:ext uri="{FF2B5EF4-FFF2-40B4-BE49-F238E27FC236}">
                <a16:creationId xmlns:a16="http://schemas.microsoft.com/office/drawing/2014/main" id="{28DC706C-9281-89C2-E21F-53C3D298DA5D}"/>
              </a:ext>
            </a:extLst>
          </p:cNvPr>
          <p:cNvSpPr/>
          <p:nvPr/>
        </p:nvSpPr>
        <p:spPr>
          <a:xfrm>
            <a:off x="2889504" y="5907024"/>
            <a:ext cx="32004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39">
            <a:extLst>
              <a:ext uri="{FF2B5EF4-FFF2-40B4-BE49-F238E27FC236}">
                <a16:creationId xmlns:a16="http://schemas.microsoft.com/office/drawing/2014/main" id="{59C93481-54B3-70EC-8520-8DB981397714}"/>
              </a:ext>
            </a:extLst>
          </p:cNvPr>
          <p:cNvSpPr/>
          <p:nvPr/>
        </p:nvSpPr>
        <p:spPr>
          <a:xfrm>
            <a:off x="1060704" y="5577840"/>
            <a:ext cx="18288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25400">
            <a:solidFill>
              <a:srgbClr val="2C5F7C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C2213A8-9E3B-74A6-2150-29DE617C35C9}"/>
              </a:ext>
            </a:extLst>
          </p:cNvPr>
          <p:cNvSpPr/>
          <p:nvPr/>
        </p:nvSpPr>
        <p:spPr>
          <a:xfrm>
            <a:off x="1060704" y="5715144"/>
            <a:ext cx="1828800" cy="383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Participant</a:t>
            </a:r>
            <a:endParaRPr lang="en-US" sz="1050" dirty="0">
              <a:solidFill>
                <a:srgbClr val="1B3A4B"/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(Population)</a:t>
            </a:r>
            <a:endParaRPr lang="en-US" sz="1050" dirty="0">
              <a:solidFill>
                <a:srgbClr val="1B3A4B"/>
              </a:solidFill>
            </a:endParaRPr>
          </a:p>
        </p:txBody>
      </p:sp>
      <p:sp>
        <p:nvSpPr>
          <p:cNvPr id="103" name="Shape 41">
            <a:extLst>
              <a:ext uri="{FF2B5EF4-FFF2-40B4-BE49-F238E27FC236}">
                <a16:creationId xmlns:a16="http://schemas.microsoft.com/office/drawing/2014/main" id="{6E899DE8-BFA2-9BEF-BD1D-1D5C93A3771D}"/>
              </a:ext>
            </a:extLst>
          </p:cNvPr>
          <p:cNvSpPr/>
          <p:nvPr/>
        </p:nvSpPr>
        <p:spPr>
          <a:xfrm>
            <a:off x="3209544" y="5577840"/>
            <a:ext cx="8229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42">
            <a:extLst>
              <a:ext uri="{FF2B5EF4-FFF2-40B4-BE49-F238E27FC236}">
                <a16:creationId xmlns:a16="http://schemas.microsoft.com/office/drawing/2014/main" id="{E945620D-51FC-61CD-6265-2DD574F069F0}"/>
              </a:ext>
            </a:extLst>
          </p:cNvPr>
          <p:cNvSpPr/>
          <p:nvPr/>
        </p:nvSpPr>
        <p:spPr>
          <a:xfrm>
            <a:off x="3209544" y="5577840"/>
            <a:ext cx="8229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p:sp>
        <p:nvSpPr>
          <p:cNvPr id="107" name="Text 16">
            <a:extLst>
              <a:ext uri="{FF2B5EF4-FFF2-40B4-BE49-F238E27FC236}">
                <a16:creationId xmlns:a16="http://schemas.microsoft.com/office/drawing/2014/main" id="{853766E7-24FF-527E-07A2-3A12CE46483B}"/>
              </a:ext>
            </a:extLst>
          </p:cNvPr>
          <p:cNvSpPr/>
          <p:nvPr/>
        </p:nvSpPr>
        <p:spPr>
          <a:xfrm>
            <a:off x="2072030" y="4988052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/>
          </a:p>
        </p:txBody>
      </p:sp>
      <p:sp>
        <p:nvSpPr>
          <p:cNvPr id="153" name="Shape 25">
            <a:extLst>
              <a:ext uri="{FF2B5EF4-FFF2-40B4-BE49-F238E27FC236}">
                <a16:creationId xmlns:a16="http://schemas.microsoft.com/office/drawing/2014/main" id="{8C49ABC6-162F-203E-A97E-C476E0715C50}"/>
              </a:ext>
            </a:extLst>
          </p:cNvPr>
          <p:cNvSpPr/>
          <p:nvPr/>
        </p:nvSpPr>
        <p:spPr>
          <a:xfrm flipV="1">
            <a:off x="1691640" y="1874520"/>
            <a:ext cx="9144" cy="91440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 26">
                <a:extLst>
                  <a:ext uri="{FF2B5EF4-FFF2-40B4-BE49-F238E27FC236}">
                    <a16:creationId xmlns:a16="http://schemas.microsoft.com/office/drawing/2014/main" id="{58BD01E4-9819-52C5-7520-EEFE6F9D75AC}"/>
                  </a:ext>
                </a:extLst>
              </p:cNvPr>
              <p:cNvSpPr/>
              <p:nvPr/>
            </p:nvSpPr>
            <p:spPr>
              <a:xfrm>
                <a:off x="205740" y="2288286"/>
                <a:ext cx="2011680" cy="384048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5" name="Text 26">
                <a:extLst>
                  <a:ext uri="{FF2B5EF4-FFF2-40B4-BE49-F238E27FC236}">
                    <a16:creationId xmlns:a16="http://schemas.microsoft.com/office/drawing/2014/main" id="{58BD01E4-9819-52C5-7520-EEFE6F9D75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" y="2288286"/>
                <a:ext cx="2011680" cy="384048"/>
              </a:xfrm>
              <a:prstGeom prst="rect">
                <a:avLst/>
              </a:prstGeom>
              <a:blipFill>
                <a:blip r:embed="rId13"/>
                <a:stretch>
                  <a:fillRect t="-4127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Shape 27">
            <a:extLst>
              <a:ext uri="{FF2B5EF4-FFF2-40B4-BE49-F238E27FC236}">
                <a16:creationId xmlns:a16="http://schemas.microsoft.com/office/drawing/2014/main" id="{C9F8E4D4-FEFF-35CB-9568-A57EF06BF369}"/>
              </a:ext>
            </a:extLst>
          </p:cNvPr>
          <p:cNvSpPr/>
          <p:nvPr/>
        </p:nvSpPr>
        <p:spPr>
          <a:xfrm>
            <a:off x="2365578" y="1535512"/>
            <a:ext cx="36576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 28">
                <a:extLst>
                  <a:ext uri="{FF2B5EF4-FFF2-40B4-BE49-F238E27FC236}">
                    <a16:creationId xmlns:a16="http://schemas.microsoft.com/office/drawing/2014/main" id="{329BA021-1858-62BB-35FE-704FBCED60CB}"/>
                  </a:ext>
                </a:extLst>
              </p:cNvPr>
              <p:cNvSpPr/>
              <p:nvPr/>
            </p:nvSpPr>
            <p:spPr>
              <a:xfrm>
                <a:off x="1598224" y="738302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acc>
                                <m:accPr>
                                  <m:chr m:val="̄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acc>
                                <m:accPr>
                                  <m:chr m:val="̄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9" name="Text 28">
                <a:extLst>
                  <a:ext uri="{FF2B5EF4-FFF2-40B4-BE49-F238E27FC236}">
                    <a16:creationId xmlns:a16="http://schemas.microsoft.com/office/drawing/2014/main" id="{329BA021-1858-62BB-35FE-704FBCED60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224" y="738302"/>
                <a:ext cx="2011680" cy="502920"/>
              </a:xfrm>
              <a:prstGeom prst="rect">
                <a:avLst/>
              </a:prstGeom>
              <a:blipFill>
                <a:blip r:embed="rId14"/>
                <a:stretch>
                  <a:fillRect t="-1445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Shape 29">
            <a:extLst>
              <a:ext uri="{FF2B5EF4-FFF2-40B4-BE49-F238E27FC236}">
                <a16:creationId xmlns:a16="http://schemas.microsoft.com/office/drawing/2014/main" id="{F4D5CE6B-12EF-30F7-18D3-3C98A6A3C95D}"/>
              </a:ext>
            </a:extLst>
          </p:cNvPr>
          <p:cNvSpPr/>
          <p:nvPr/>
        </p:nvSpPr>
        <p:spPr>
          <a:xfrm>
            <a:off x="4194378" y="1535512"/>
            <a:ext cx="36576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51">
            <a:extLst>
              <a:ext uri="{FF2B5EF4-FFF2-40B4-BE49-F238E27FC236}">
                <a16:creationId xmlns:a16="http://schemas.microsoft.com/office/drawing/2014/main" id="{34BE3E67-B788-9959-47F7-233CC5270E7D}"/>
              </a:ext>
            </a:extLst>
          </p:cNvPr>
          <p:cNvSpPr/>
          <p:nvPr/>
        </p:nvSpPr>
        <p:spPr>
          <a:xfrm>
            <a:off x="1085418" y="1206328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 52">
            <a:extLst>
              <a:ext uri="{FF2B5EF4-FFF2-40B4-BE49-F238E27FC236}">
                <a16:creationId xmlns:a16="http://schemas.microsoft.com/office/drawing/2014/main" id="{B1F9EE7D-E6B0-7DC7-7896-67C3019D84CC}"/>
              </a:ext>
            </a:extLst>
          </p:cNvPr>
          <p:cNvSpPr/>
          <p:nvPr/>
        </p:nvSpPr>
        <p:spPr>
          <a:xfrm>
            <a:off x="1085418" y="1206328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(σₓ̄)</a:t>
            </a:r>
            <a:endParaRPr lang="en-US" sz="1050" dirty="0"/>
          </a:p>
        </p:txBody>
      </p:sp>
      <p:sp>
        <p:nvSpPr>
          <p:cNvPr id="167" name="Shape 53">
            <a:extLst>
              <a:ext uri="{FF2B5EF4-FFF2-40B4-BE49-F238E27FC236}">
                <a16:creationId xmlns:a16="http://schemas.microsoft.com/office/drawing/2014/main" id="{BC08A3F3-8933-43B2-D14B-3605E51EC0EF}"/>
              </a:ext>
            </a:extLst>
          </p:cNvPr>
          <p:cNvSpPr/>
          <p:nvPr/>
        </p:nvSpPr>
        <p:spPr>
          <a:xfrm>
            <a:off x="2731338" y="1206328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25400">
            <a:solidFill>
              <a:srgbClr val="2C5F7C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9" name="Text 54">
            <a:extLst>
              <a:ext uri="{FF2B5EF4-FFF2-40B4-BE49-F238E27FC236}">
                <a16:creationId xmlns:a16="http://schemas.microsoft.com/office/drawing/2014/main" id="{C92CDE02-2D50-42E8-9DB6-E45225E18768}"/>
              </a:ext>
            </a:extLst>
          </p:cNvPr>
          <p:cNvSpPr/>
          <p:nvPr/>
        </p:nvSpPr>
        <p:spPr>
          <a:xfrm>
            <a:off x="2731338" y="1343632"/>
            <a:ext cx="1463040" cy="383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Sample</a:t>
            </a:r>
            <a:endParaRPr lang="en-US" sz="1050" dirty="0">
              <a:solidFill>
                <a:srgbClr val="1B3A4B"/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050" dirty="0">
              <a:solidFill>
                <a:srgbClr val="1B3A4B"/>
              </a:solidFill>
            </a:endParaRPr>
          </a:p>
        </p:txBody>
      </p:sp>
      <p:sp>
        <p:nvSpPr>
          <p:cNvPr id="171" name="Shape 55">
            <a:extLst>
              <a:ext uri="{FF2B5EF4-FFF2-40B4-BE49-F238E27FC236}">
                <a16:creationId xmlns:a16="http://schemas.microsoft.com/office/drawing/2014/main" id="{8FF59354-DBFA-71B3-258C-2FD43FBFB286}"/>
              </a:ext>
            </a:extLst>
          </p:cNvPr>
          <p:cNvSpPr/>
          <p:nvPr/>
        </p:nvSpPr>
        <p:spPr>
          <a:xfrm>
            <a:off x="4560138" y="1206328"/>
            <a:ext cx="9144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56">
            <a:extLst>
              <a:ext uri="{FF2B5EF4-FFF2-40B4-BE49-F238E27FC236}">
                <a16:creationId xmlns:a16="http://schemas.microsoft.com/office/drawing/2014/main" id="{FBE020EA-37D8-1434-A873-2C807571CBB3}"/>
              </a:ext>
            </a:extLst>
          </p:cNvPr>
          <p:cNvSpPr/>
          <p:nvPr/>
        </p:nvSpPr>
        <p:spPr>
          <a:xfrm>
            <a:off x="4560138" y="1206328"/>
            <a:ext cx="914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p:sp>
        <p:nvSpPr>
          <p:cNvPr id="175" name="Text 16">
            <a:extLst>
              <a:ext uri="{FF2B5EF4-FFF2-40B4-BE49-F238E27FC236}">
                <a16:creationId xmlns:a16="http://schemas.microsoft.com/office/drawing/2014/main" id="{C5473BF9-609C-FD7F-6807-FE3C18C9682C}"/>
              </a:ext>
            </a:extLst>
          </p:cNvPr>
          <p:cNvSpPr/>
          <p:nvPr/>
        </p:nvSpPr>
        <p:spPr>
          <a:xfrm>
            <a:off x="3371418" y="722376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/>
          </a:p>
        </p:txBody>
      </p:sp>
      <p:sp>
        <p:nvSpPr>
          <p:cNvPr id="177" name="Text 16">
            <a:extLst>
              <a:ext uri="{FF2B5EF4-FFF2-40B4-BE49-F238E27FC236}">
                <a16:creationId xmlns:a16="http://schemas.microsoft.com/office/drawing/2014/main" id="{E38DB911-D3C3-F0D2-2C42-5C1F0C491B7F}"/>
              </a:ext>
            </a:extLst>
          </p:cNvPr>
          <p:cNvSpPr/>
          <p:nvPr/>
        </p:nvSpPr>
        <p:spPr>
          <a:xfrm>
            <a:off x="9938385" y="713232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/>
          </a:p>
        </p:txBody>
      </p:sp>
      <p:sp>
        <p:nvSpPr>
          <p:cNvPr id="179" name="Shape 55">
            <a:extLst>
              <a:ext uri="{FF2B5EF4-FFF2-40B4-BE49-F238E27FC236}">
                <a16:creationId xmlns:a16="http://schemas.microsoft.com/office/drawing/2014/main" id="{591EDAC3-2663-E65A-C50F-2CEC259B6964}"/>
              </a:ext>
            </a:extLst>
          </p:cNvPr>
          <p:cNvSpPr/>
          <p:nvPr/>
        </p:nvSpPr>
        <p:spPr>
          <a:xfrm>
            <a:off x="9058046" y="3465576"/>
            <a:ext cx="15087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28575">
            <a:solidFill>
              <a:srgbClr val="2C5F7C"/>
            </a:solidFill>
            <a:prstDash val="solid"/>
          </a:ln>
          <a:effectLst>
            <a:outerShdw blurRad="76200" dist="25400" dir="5400000" algn="ctr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1" name="Text 56">
            <a:extLst>
              <a:ext uri="{FF2B5EF4-FFF2-40B4-BE49-F238E27FC236}">
                <a16:creationId xmlns:a16="http://schemas.microsoft.com/office/drawing/2014/main" id="{BB5C928B-BA0F-4B85-C28C-77E4868798FD}"/>
              </a:ext>
            </a:extLst>
          </p:cNvPr>
          <p:cNvSpPr/>
          <p:nvPr/>
        </p:nvSpPr>
        <p:spPr>
          <a:xfrm>
            <a:off x="9050731" y="3456432"/>
            <a:ext cx="15087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Participant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(Sample)</a:t>
            </a:r>
            <a:endParaRPr lang="en-US" sz="10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 6">
                <a:extLst>
                  <a:ext uri="{FF2B5EF4-FFF2-40B4-BE49-F238E27FC236}">
                    <a16:creationId xmlns:a16="http://schemas.microsoft.com/office/drawing/2014/main" id="{24150A1E-5501-E89A-726F-C19B7239C877}"/>
                  </a:ext>
                </a:extLst>
              </p:cNvPr>
              <p:cNvSpPr/>
              <p:nvPr/>
            </p:nvSpPr>
            <p:spPr>
              <a:xfrm>
                <a:off x="1645463" y="287121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3" name="Text 6">
                <a:extLst>
                  <a:ext uri="{FF2B5EF4-FFF2-40B4-BE49-F238E27FC236}">
                    <a16:creationId xmlns:a16="http://schemas.microsoft.com/office/drawing/2014/main" id="{24150A1E-5501-E89A-726F-C19B7239C8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463" y="2871216"/>
                <a:ext cx="2011680" cy="5029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55">
            <a:extLst>
              <a:ext uri="{FF2B5EF4-FFF2-40B4-BE49-F238E27FC236}">
                <a16:creationId xmlns:a16="http://schemas.microsoft.com/office/drawing/2014/main" id="{C14BEEA8-E6D9-F773-6F29-378DB627403B}"/>
              </a:ext>
            </a:extLst>
          </p:cNvPr>
          <p:cNvSpPr/>
          <p:nvPr/>
        </p:nvSpPr>
        <p:spPr>
          <a:xfrm>
            <a:off x="9058046" y="3465576"/>
            <a:ext cx="1508760" cy="658368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65000"/>
              </a:schemeClr>
            </a:solidFill>
            <a:prstDash val="solid"/>
          </a:ln>
          <a:effectLst>
            <a:outerShdw blurRad="76200" dist="25400" dir="5400000" algn="ctr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97968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68" y="2880360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2499055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83710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59806" y="3785616"/>
            <a:ext cx="304495" cy="9144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4906213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213" y="2880360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7253021" y="3785616"/>
            <a:ext cx="304495" cy="9144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6399428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428" y="2880360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8746236" y="3785616"/>
            <a:ext cx="304495" cy="9144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559491" y="3785616"/>
            <a:ext cx="304495" cy="9144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 flipV="1">
            <a:off x="731520" y="2788920"/>
            <a:ext cx="9144" cy="667512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11480" y="3456432"/>
            <a:ext cx="640080" cy="658368"/>
          </a:xfrm>
          <a:prstGeom prst="roundRect">
            <a:avLst>
              <a:gd name="adj" fmla="val 12857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11480" y="3456432"/>
            <a:ext cx="6400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356055" y="345643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356055" y="345643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803550" y="345643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803550" y="345643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4388206" y="345643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388206" y="345643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064301" y="3456432"/>
            <a:ext cx="1188720" cy="658368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064301" y="3577898"/>
            <a:ext cx="1188720" cy="415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5" name="Shape 53"/>
          <p:cNvSpPr/>
          <p:nvPr/>
        </p:nvSpPr>
        <p:spPr>
          <a:xfrm>
            <a:off x="7557516" y="3456432"/>
            <a:ext cx="1188720" cy="658368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557516" y="3593736"/>
            <a:ext cx="1188720" cy="383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(SD)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8" name="Text 56"/>
          <p:cNvSpPr/>
          <p:nvPr/>
        </p:nvSpPr>
        <p:spPr>
          <a:xfrm>
            <a:off x="9050731" y="3593736"/>
            <a:ext cx="1508760" cy="383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Participant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(Sample)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0863986" y="3456432"/>
            <a:ext cx="914400" cy="658368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0863986" y="3670808"/>
            <a:ext cx="914400" cy="2296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 8">
                <a:extLst>
                  <a:ext uri="{FF2B5EF4-FFF2-40B4-BE49-F238E27FC236}">
                    <a16:creationId xmlns:a16="http://schemas.microsoft.com/office/drawing/2014/main" id="{C3375308-DE76-E633-1720-465B077EC679}"/>
                  </a:ext>
                </a:extLst>
              </p:cNvPr>
              <p:cNvSpPr/>
              <p:nvPr/>
            </p:nvSpPr>
            <p:spPr>
              <a:xfrm>
                <a:off x="3268465" y="295183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𝑆𝑞𝑢𝑎𝑟𝑒𝑑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3" name="Text 8">
                <a:extLst>
                  <a:ext uri="{FF2B5EF4-FFF2-40B4-BE49-F238E27FC236}">
                    <a16:creationId xmlns:a16="http://schemas.microsoft.com/office/drawing/2014/main" id="{C3375308-DE76-E633-1720-465B077EC6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465" y="2951830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l="-3939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 14">
                <a:extLst>
                  <a:ext uri="{FF2B5EF4-FFF2-40B4-BE49-F238E27FC236}">
                    <a16:creationId xmlns:a16="http://schemas.microsoft.com/office/drawing/2014/main" id="{BCC7FEDE-DECD-22B2-198F-5BBA96FC4194}"/>
                  </a:ext>
                </a:extLst>
              </p:cNvPr>
              <p:cNvSpPr/>
              <p:nvPr/>
            </p:nvSpPr>
            <p:spPr>
              <a:xfrm>
                <a:off x="7892644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i="0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</a:rPr>
                            <m:t> 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𝑆𝐷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5" name="Text 14">
                <a:extLst>
                  <a:ext uri="{FF2B5EF4-FFF2-40B4-BE49-F238E27FC236}">
                    <a16:creationId xmlns:a16="http://schemas.microsoft.com/office/drawing/2014/main" id="{BCC7FEDE-DECD-22B2-198F-5BBA96FC41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644" y="2880360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 t="-609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ext 16">
            <a:extLst>
              <a:ext uri="{FF2B5EF4-FFF2-40B4-BE49-F238E27FC236}">
                <a16:creationId xmlns:a16="http://schemas.microsoft.com/office/drawing/2014/main" id="{F9136D41-B785-829E-AB54-E55DC51FA5E7}"/>
              </a:ext>
            </a:extLst>
          </p:cNvPr>
          <p:cNvSpPr/>
          <p:nvPr/>
        </p:nvSpPr>
        <p:spPr>
          <a:xfrm>
            <a:off x="9705899" y="2880360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9" name="Shape 17">
            <a:extLst>
              <a:ext uri="{FF2B5EF4-FFF2-40B4-BE49-F238E27FC236}">
                <a16:creationId xmlns:a16="http://schemas.microsoft.com/office/drawing/2014/main" id="{EE9AF995-347E-5FB5-54E8-100EF91A282F}"/>
              </a:ext>
            </a:extLst>
          </p:cNvPr>
          <p:cNvSpPr/>
          <p:nvPr/>
        </p:nvSpPr>
        <p:spPr>
          <a:xfrm>
            <a:off x="731520" y="4114800"/>
            <a:ext cx="0" cy="914400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18">
            <a:extLst>
              <a:ext uri="{FF2B5EF4-FFF2-40B4-BE49-F238E27FC236}">
                <a16:creationId xmlns:a16="http://schemas.microsoft.com/office/drawing/2014/main" id="{83656457-2FD2-83E4-AE9B-2F1EA69D6DC1}"/>
              </a:ext>
            </a:extLst>
          </p:cNvPr>
          <p:cNvSpPr/>
          <p:nvPr/>
        </p:nvSpPr>
        <p:spPr>
          <a:xfrm>
            <a:off x="737147" y="5029200"/>
            <a:ext cx="1234440" cy="9144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19">
            <a:extLst>
              <a:ext uri="{FF2B5EF4-FFF2-40B4-BE49-F238E27FC236}">
                <a16:creationId xmlns:a16="http://schemas.microsoft.com/office/drawing/2014/main" id="{0BA0287C-0F34-DDF5-399E-7DB0C72887E7}"/>
              </a:ext>
            </a:extLst>
          </p:cNvPr>
          <p:cNvSpPr/>
          <p:nvPr/>
        </p:nvSpPr>
        <p:spPr>
          <a:xfrm>
            <a:off x="1975104" y="5029200"/>
            <a:ext cx="9144" cy="548640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 20">
                <a:extLst>
                  <a:ext uri="{FF2B5EF4-FFF2-40B4-BE49-F238E27FC236}">
                    <a16:creationId xmlns:a16="http://schemas.microsoft.com/office/drawing/2014/main" id="{164D4969-9BA0-F93C-AED4-C01E925DA260}"/>
                  </a:ext>
                </a:extLst>
              </p:cNvPr>
              <p:cNvSpPr/>
              <p:nvPr/>
            </p:nvSpPr>
            <p:spPr>
              <a:xfrm>
                <a:off x="411480" y="4544568"/>
                <a:ext cx="2011680" cy="41148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5" name="Text 20">
                <a:extLst>
                  <a:ext uri="{FF2B5EF4-FFF2-40B4-BE49-F238E27FC236}">
                    <a16:creationId xmlns:a16="http://schemas.microsoft.com/office/drawing/2014/main" id="{164D4969-9BA0-F93C-AED4-C01E925DA2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544568"/>
                <a:ext cx="2011680" cy="411480"/>
              </a:xfrm>
              <a:prstGeom prst="rect">
                <a:avLst/>
              </a:prstGeom>
              <a:blipFill>
                <a:blip r:embed="rId8"/>
                <a:stretch>
                  <a:fillRect t="-3134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Shape 21">
            <a:extLst>
              <a:ext uri="{FF2B5EF4-FFF2-40B4-BE49-F238E27FC236}">
                <a16:creationId xmlns:a16="http://schemas.microsoft.com/office/drawing/2014/main" id="{A5ACAFB2-678C-BB4A-7107-B7844669B931}"/>
              </a:ext>
            </a:extLst>
          </p:cNvPr>
          <p:cNvSpPr/>
          <p:nvPr/>
        </p:nvSpPr>
        <p:spPr>
          <a:xfrm>
            <a:off x="2889504" y="5907024"/>
            <a:ext cx="320040" cy="9144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39">
            <a:extLst>
              <a:ext uri="{FF2B5EF4-FFF2-40B4-BE49-F238E27FC236}">
                <a16:creationId xmlns:a16="http://schemas.microsoft.com/office/drawing/2014/main" id="{49B30E35-0F2C-B9D1-8D1C-4069A465F559}"/>
              </a:ext>
            </a:extLst>
          </p:cNvPr>
          <p:cNvSpPr/>
          <p:nvPr/>
        </p:nvSpPr>
        <p:spPr>
          <a:xfrm>
            <a:off x="1060704" y="5577840"/>
            <a:ext cx="1828800" cy="658368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65000"/>
              </a:schemeClr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59FE48DE-8EC7-0C8E-31C4-F40459B10E5B}"/>
              </a:ext>
            </a:extLst>
          </p:cNvPr>
          <p:cNvSpPr/>
          <p:nvPr/>
        </p:nvSpPr>
        <p:spPr>
          <a:xfrm>
            <a:off x="1060704" y="5715144"/>
            <a:ext cx="1828800" cy="383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Participant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(Population)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3" name="Shape 41">
            <a:extLst>
              <a:ext uri="{FF2B5EF4-FFF2-40B4-BE49-F238E27FC236}">
                <a16:creationId xmlns:a16="http://schemas.microsoft.com/office/drawing/2014/main" id="{8B04FA3A-35EB-BDA3-0D1E-2A920E917481}"/>
              </a:ext>
            </a:extLst>
          </p:cNvPr>
          <p:cNvSpPr/>
          <p:nvPr/>
        </p:nvSpPr>
        <p:spPr>
          <a:xfrm>
            <a:off x="3209544" y="5577840"/>
            <a:ext cx="822960" cy="658368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42">
            <a:extLst>
              <a:ext uri="{FF2B5EF4-FFF2-40B4-BE49-F238E27FC236}">
                <a16:creationId xmlns:a16="http://schemas.microsoft.com/office/drawing/2014/main" id="{51F45C0F-3DB7-1553-84BF-BEE175618919}"/>
              </a:ext>
            </a:extLst>
          </p:cNvPr>
          <p:cNvSpPr/>
          <p:nvPr/>
        </p:nvSpPr>
        <p:spPr>
          <a:xfrm>
            <a:off x="3209544" y="5792216"/>
            <a:ext cx="822960" cy="2296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7" name="Text 16">
            <a:extLst>
              <a:ext uri="{FF2B5EF4-FFF2-40B4-BE49-F238E27FC236}">
                <a16:creationId xmlns:a16="http://schemas.microsoft.com/office/drawing/2014/main" id="{C6AFA527-674F-1D16-30E3-3AF1E8DE8463}"/>
              </a:ext>
            </a:extLst>
          </p:cNvPr>
          <p:cNvSpPr/>
          <p:nvPr/>
        </p:nvSpPr>
        <p:spPr>
          <a:xfrm>
            <a:off x="2072030" y="4988052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9" name="Shape 25">
            <a:extLst>
              <a:ext uri="{FF2B5EF4-FFF2-40B4-BE49-F238E27FC236}">
                <a16:creationId xmlns:a16="http://schemas.microsoft.com/office/drawing/2014/main" id="{196C5B92-94AE-2993-AF0F-E407E6137D61}"/>
              </a:ext>
            </a:extLst>
          </p:cNvPr>
          <p:cNvSpPr/>
          <p:nvPr/>
        </p:nvSpPr>
        <p:spPr>
          <a:xfrm flipV="1">
            <a:off x="1691640" y="1874520"/>
            <a:ext cx="9144" cy="914400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 26">
                <a:extLst>
                  <a:ext uri="{FF2B5EF4-FFF2-40B4-BE49-F238E27FC236}">
                    <a16:creationId xmlns:a16="http://schemas.microsoft.com/office/drawing/2014/main" id="{22DFB371-7C2B-498F-80ED-5F8BF5EB8412}"/>
                  </a:ext>
                </a:extLst>
              </p:cNvPr>
              <p:cNvSpPr/>
              <p:nvPr/>
            </p:nvSpPr>
            <p:spPr>
              <a:xfrm>
                <a:off x="205740" y="2288286"/>
                <a:ext cx="2011680" cy="384048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1" name="Text 26">
                <a:extLst>
                  <a:ext uri="{FF2B5EF4-FFF2-40B4-BE49-F238E27FC236}">
                    <a16:creationId xmlns:a16="http://schemas.microsoft.com/office/drawing/2014/main" id="{22DFB371-7C2B-498F-80ED-5F8BF5EB84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" y="2288286"/>
                <a:ext cx="2011680" cy="384048"/>
              </a:xfrm>
              <a:prstGeom prst="rect">
                <a:avLst/>
              </a:prstGeom>
              <a:blipFill>
                <a:blip r:embed="rId9"/>
                <a:stretch>
                  <a:fillRect t="-4127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Shape 27">
            <a:extLst>
              <a:ext uri="{FF2B5EF4-FFF2-40B4-BE49-F238E27FC236}">
                <a16:creationId xmlns:a16="http://schemas.microsoft.com/office/drawing/2014/main" id="{DA77D019-77B5-A379-81E7-2998D373ECA6}"/>
              </a:ext>
            </a:extLst>
          </p:cNvPr>
          <p:cNvSpPr/>
          <p:nvPr/>
        </p:nvSpPr>
        <p:spPr>
          <a:xfrm>
            <a:off x="2365578" y="1535512"/>
            <a:ext cx="365760" cy="9144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 28">
                <a:extLst>
                  <a:ext uri="{FF2B5EF4-FFF2-40B4-BE49-F238E27FC236}">
                    <a16:creationId xmlns:a16="http://schemas.microsoft.com/office/drawing/2014/main" id="{DEAB942A-7A3D-2FDB-C72D-8734BBEDD911}"/>
                  </a:ext>
                </a:extLst>
              </p:cNvPr>
              <p:cNvSpPr/>
              <p:nvPr/>
            </p:nvSpPr>
            <p:spPr>
              <a:xfrm>
                <a:off x="1598224" y="738302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̄"/>
                              <m:ctrlP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acc>
                                <m:accPr>
                                  <m:chr m:val="̄"/>
                                  <m:ctrlPr>
                                    <a:rPr lang="en-US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acc>
                                <m:accPr>
                                  <m:chr m:val="̄"/>
                                  <m:ctrlPr>
                                    <a:rPr lang="en-US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5" name="Text 28">
                <a:extLst>
                  <a:ext uri="{FF2B5EF4-FFF2-40B4-BE49-F238E27FC236}">
                    <a16:creationId xmlns:a16="http://schemas.microsoft.com/office/drawing/2014/main" id="{DEAB942A-7A3D-2FDB-C72D-8734BBEDD9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224" y="738302"/>
                <a:ext cx="2011680" cy="502920"/>
              </a:xfrm>
              <a:prstGeom prst="rect">
                <a:avLst/>
              </a:prstGeom>
              <a:blipFill>
                <a:blip r:embed="rId10"/>
                <a:stretch>
                  <a:fillRect t="-1445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Shape 29">
            <a:extLst>
              <a:ext uri="{FF2B5EF4-FFF2-40B4-BE49-F238E27FC236}">
                <a16:creationId xmlns:a16="http://schemas.microsoft.com/office/drawing/2014/main" id="{5F85CB08-0F9A-0763-7D44-569547C7E345}"/>
              </a:ext>
            </a:extLst>
          </p:cNvPr>
          <p:cNvSpPr/>
          <p:nvPr/>
        </p:nvSpPr>
        <p:spPr>
          <a:xfrm>
            <a:off x="4194378" y="1535512"/>
            <a:ext cx="365760" cy="9144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51">
            <a:extLst>
              <a:ext uri="{FF2B5EF4-FFF2-40B4-BE49-F238E27FC236}">
                <a16:creationId xmlns:a16="http://schemas.microsoft.com/office/drawing/2014/main" id="{1B54AB5D-1317-CC4A-327B-A1F59791F94A}"/>
              </a:ext>
            </a:extLst>
          </p:cNvPr>
          <p:cNvSpPr/>
          <p:nvPr/>
        </p:nvSpPr>
        <p:spPr>
          <a:xfrm>
            <a:off x="1085418" y="1206328"/>
            <a:ext cx="1280160" cy="658368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52">
            <a:extLst>
              <a:ext uri="{FF2B5EF4-FFF2-40B4-BE49-F238E27FC236}">
                <a16:creationId xmlns:a16="http://schemas.microsoft.com/office/drawing/2014/main" id="{4F354BD5-DA4B-3D88-B04A-AE18BD97B6BF}"/>
              </a:ext>
            </a:extLst>
          </p:cNvPr>
          <p:cNvSpPr/>
          <p:nvPr/>
        </p:nvSpPr>
        <p:spPr>
          <a:xfrm>
            <a:off x="1085418" y="1343632"/>
            <a:ext cx="1280160" cy="383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(σₓ̄)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3" name="Shape 53">
            <a:extLst>
              <a:ext uri="{FF2B5EF4-FFF2-40B4-BE49-F238E27FC236}">
                <a16:creationId xmlns:a16="http://schemas.microsoft.com/office/drawing/2014/main" id="{E0134785-5480-CBEA-A84F-7244C45B49FD}"/>
              </a:ext>
            </a:extLst>
          </p:cNvPr>
          <p:cNvSpPr/>
          <p:nvPr/>
        </p:nvSpPr>
        <p:spPr>
          <a:xfrm>
            <a:off x="2731338" y="1206328"/>
            <a:ext cx="1463040" cy="658368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65000"/>
              </a:schemeClr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5" name="Text 54">
            <a:extLst>
              <a:ext uri="{FF2B5EF4-FFF2-40B4-BE49-F238E27FC236}">
                <a16:creationId xmlns:a16="http://schemas.microsoft.com/office/drawing/2014/main" id="{504BAA40-CD1D-98FE-327F-890F06FE8D9C}"/>
              </a:ext>
            </a:extLst>
          </p:cNvPr>
          <p:cNvSpPr/>
          <p:nvPr/>
        </p:nvSpPr>
        <p:spPr>
          <a:xfrm>
            <a:off x="2731338" y="1343632"/>
            <a:ext cx="1463040" cy="383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Sample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7" name="Shape 55">
            <a:extLst>
              <a:ext uri="{FF2B5EF4-FFF2-40B4-BE49-F238E27FC236}">
                <a16:creationId xmlns:a16="http://schemas.microsoft.com/office/drawing/2014/main" id="{5514BB0E-1B4E-37D6-9EE3-30B69148DABF}"/>
              </a:ext>
            </a:extLst>
          </p:cNvPr>
          <p:cNvSpPr/>
          <p:nvPr/>
        </p:nvSpPr>
        <p:spPr>
          <a:xfrm>
            <a:off x="4560138" y="1206328"/>
            <a:ext cx="914400" cy="658368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56">
            <a:extLst>
              <a:ext uri="{FF2B5EF4-FFF2-40B4-BE49-F238E27FC236}">
                <a16:creationId xmlns:a16="http://schemas.microsoft.com/office/drawing/2014/main" id="{AA5509B2-3E49-CF4C-9D7F-7CF8514C108F}"/>
              </a:ext>
            </a:extLst>
          </p:cNvPr>
          <p:cNvSpPr/>
          <p:nvPr/>
        </p:nvSpPr>
        <p:spPr>
          <a:xfrm>
            <a:off x="4560138" y="1420704"/>
            <a:ext cx="914400" cy="2296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1" name="Text 16">
            <a:extLst>
              <a:ext uri="{FF2B5EF4-FFF2-40B4-BE49-F238E27FC236}">
                <a16:creationId xmlns:a16="http://schemas.microsoft.com/office/drawing/2014/main" id="{52AE5E6C-9709-53E1-744C-5F65FEE26277}"/>
              </a:ext>
            </a:extLst>
          </p:cNvPr>
          <p:cNvSpPr/>
          <p:nvPr/>
        </p:nvSpPr>
        <p:spPr>
          <a:xfrm>
            <a:off x="3371418" y="722376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3" name="Shape 24">
            <a:extLst>
              <a:ext uri="{FF2B5EF4-FFF2-40B4-BE49-F238E27FC236}">
                <a16:creationId xmlns:a16="http://schemas.microsoft.com/office/drawing/2014/main" id="{63E7647E-D882-A3A5-BC82-5C76BABFAB1D}"/>
              </a:ext>
            </a:extLst>
          </p:cNvPr>
          <p:cNvSpPr/>
          <p:nvPr/>
        </p:nvSpPr>
        <p:spPr>
          <a:xfrm>
            <a:off x="731520" y="2788920"/>
            <a:ext cx="960120" cy="9144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33">
            <a:extLst>
              <a:ext uri="{FF2B5EF4-FFF2-40B4-BE49-F238E27FC236}">
                <a16:creationId xmlns:a16="http://schemas.microsoft.com/office/drawing/2014/main" id="{7BE74861-42FC-267F-A6C9-1B56BD9091F7}"/>
              </a:ext>
            </a:extLst>
          </p:cNvPr>
          <p:cNvSpPr/>
          <p:nvPr/>
        </p:nvSpPr>
        <p:spPr>
          <a:xfrm flipV="1">
            <a:off x="6355080" y="1929383"/>
            <a:ext cx="0" cy="721563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35">
            <a:extLst>
              <a:ext uri="{FF2B5EF4-FFF2-40B4-BE49-F238E27FC236}">
                <a16:creationId xmlns:a16="http://schemas.microsoft.com/office/drawing/2014/main" id="{72CE29A6-45E6-3DE6-79B9-D11AED99D92E}"/>
              </a:ext>
            </a:extLst>
          </p:cNvPr>
          <p:cNvSpPr/>
          <p:nvPr/>
        </p:nvSpPr>
        <p:spPr>
          <a:xfrm>
            <a:off x="6812280" y="1581912"/>
            <a:ext cx="24003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 36">
                <a:extLst>
                  <a:ext uri="{FF2B5EF4-FFF2-40B4-BE49-F238E27FC236}">
                    <a16:creationId xmlns:a16="http://schemas.microsoft.com/office/drawing/2014/main" id="{15D60525-82B9-8645-E7EA-334BC648E72A}"/>
                  </a:ext>
                </a:extLst>
              </p:cNvPr>
              <p:cNvSpPr/>
              <p:nvPr/>
            </p:nvSpPr>
            <p:spPr>
              <a:xfrm>
                <a:off x="5926455" y="68580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9" name="Text 36">
                <a:extLst>
                  <a:ext uri="{FF2B5EF4-FFF2-40B4-BE49-F238E27FC236}">
                    <a16:creationId xmlns:a16="http://schemas.microsoft.com/office/drawing/2014/main" id="{15D60525-82B9-8645-E7EA-334BC648E7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455" y="685800"/>
                <a:ext cx="2011680" cy="5029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Shape 37">
            <a:extLst>
              <a:ext uri="{FF2B5EF4-FFF2-40B4-BE49-F238E27FC236}">
                <a16:creationId xmlns:a16="http://schemas.microsoft.com/office/drawing/2014/main" id="{4BDD57CE-E7D5-4FEA-AD86-478030229660}"/>
              </a:ext>
            </a:extLst>
          </p:cNvPr>
          <p:cNvSpPr/>
          <p:nvPr/>
        </p:nvSpPr>
        <p:spPr>
          <a:xfrm>
            <a:off x="7966710" y="1581912"/>
            <a:ext cx="24003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 38">
                <a:extLst>
                  <a:ext uri="{FF2B5EF4-FFF2-40B4-BE49-F238E27FC236}">
                    <a16:creationId xmlns:a16="http://schemas.microsoft.com/office/drawing/2014/main" id="{9DAFDB3B-471D-6FE6-61BF-EE935E854928}"/>
                  </a:ext>
                </a:extLst>
              </p:cNvPr>
              <p:cNvSpPr/>
              <p:nvPr/>
            </p:nvSpPr>
            <p:spPr>
              <a:xfrm>
                <a:off x="7080885" y="68580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3" name="Text 38">
                <a:extLst>
                  <a:ext uri="{FF2B5EF4-FFF2-40B4-BE49-F238E27FC236}">
                    <a16:creationId xmlns:a16="http://schemas.microsoft.com/office/drawing/2014/main" id="{9DAFDB3B-471D-6FE6-61BF-EE935E8549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0885" y="685800"/>
                <a:ext cx="2011680" cy="502920"/>
              </a:xfrm>
              <a:prstGeom prst="rect">
                <a:avLst/>
              </a:prstGeom>
              <a:blipFill>
                <a:blip r:embed="rId12"/>
                <a:stretch>
                  <a:fillRect t="-853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Shape 39">
            <a:extLst>
              <a:ext uri="{FF2B5EF4-FFF2-40B4-BE49-F238E27FC236}">
                <a16:creationId xmlns:a16="http://schemas.microsoft.com/office/drawing/2014/main" id="{1FB08DE3-AB5A-DB94-3A96-00BCA91EE5BD}"/>
              </a:ext>
            </a:extLst>
          </p:cNvPr>
          <p:cNvSpPr/>
          <p:nvPr/>
        </p:nvSpPr>
        <p:spPr>
          <a:xfrm>
            <a:off x="9304020" y="1581912"/>
            <a:ext cx="24003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 40">
                <a:extLst>
                  <a:ext uri="{FF2B5EF4-FFF2-40B4-BE49-F238E27FC236}">
                    <a16:creationId xmlns:a16="http://schemas.microsoft.com/office/drawing/2014/main" id="{52ABA1FB-A567-E164-D9F3-07E736B2625E}"/>
                  </a:ext>
                </a:extLst>
              </p:cNvPr>
              <p:cNvSpPr/>
              <p:nvPr/>
            </p:nvSpPr>
            <p:spPr>
              <a:xfrm>
                <a:off x="8418195" y="68580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acc>
                                <m:accPr>
                                  <m:chr m:val="̄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acc>
                                <m:accPr>
                                  <m:chr m:val="̄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7" name="Text 40">
                <a:extLst>
                  <a:ext uri="{FF2B5EF4-FFF2-40B4-BE49-F238E27FC236}">
                    <a16:creationId xmlns:a16="http://schemas.microsoft.com/office/drawing/2014/main" id="{52ABA1FB-A567-E164-D9F3-07E736B262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8195" y="685800"/>
                <a:ext cx="2011680" cy="502920"/>
              </a:xfrm>
              <a:prstGeom prst="rect">
                <a:avLst/>
              </a:prstGeom>
              <a:blipFill>
                <a:blip r:embed="rId13"/>
                <a:stretch>
                  <a:fillRect t="-1463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Shape 41">
            <a:extLst>
              <a:ext uri="{FF2B5EF4-FFF2-40B4-BE49-F238E27FC236}">
                <a16:creationId xmlns:a16="http://schemas.microsoft.com/office/drawing/2014/main" id="{0DE9161A-1BF9-A853-3708-847E1819782C}"/>
              </a:ext>
            </a:extLst>
          </p:cNvPr>
          <p:cNvSpPr/>
          <p:nvPr/>
        </p:nvSpPr>
        <p:spPr>
          <a:xfrm>
            <a:off x="10824210" y="1581912"/>
            <a:ext cx="24003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69">
            <a:extLst>
              <a:ext uri="{FF2B5EF4-FFF2-40B4-BE49-F238E27FC236}">
                <a16:creationId xmlns:a16="http://schemas.microsoft.com/office/drawing/2014/main" id="{66B96D55-B0F4-54D0-1313-A740006D2794}"/>
              </a:ext>
            </a:extLst>
          </p:cNvPr>
          <p:cNvSpPr/>
          <p:nvPr/>
        </p:nvSpPr>
        <p:spPr>
          <a:xfrm>
            <a:off x="5897880" y="1252728"/>
            <a:ext cx="9144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70">
            <a:extLst>
              <a:ext uri="{FF2B5EF4-FFF2-40B4-BE49-F238E27FC236}">
                <a16:creationId xmlns:a16="http://schemas.microsoft.com/office/drawing/2014/main" id="{DBB3578E-C135-B849-BDD2-5C8169FF9DC7}"/>
              </a:ext>
            </a:extLst>
          </p:cNvPr>
          <p:cNvSpPr/>
          <p:nvPr/>
        </p:nvSpPr>
        <p:spPr>
          <a:xfrm>
            <a:off x="5897880" y="1252728"/>
            <a:ext cx="914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(s²)</a:t>
            </a:r>
            <a:endParaRPr lang="en-US" sz="1150" dirty="0"/>
          </a:p>
        </p:txBody>
      </p:sp>
      <p:sp>
        <p:nvSpPr>
          <p:cNvPr id="155" name="Shape 71">
            <a:extLst>
              <a:ext uri="{FF2B5EF4-FFF2-40B4-BE49-F238E27FC236}">
                <a16:creationId xmlns:a16="http://schemas.microsoft.com/office/drawing/2014/main" id="{9E04B4A0-85B0-E026-9102-3D96FE65E66E}"/>
              </a:ext>
            </a:extLst>
          </p:cNvPr>
          <p:cNvSpPr/>
          <p:nvPr/>
        </p:nvSpPr>
        <p:spPr>
          <a:xfrm>
            <a:off x="7052310" y="1252728"/>
            <a:ext cx="9144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72">
            <a:extLst>
              <a:ext uri="{FF2B5EF4-FFF2-40B4-BE49-F238E27FC236}">
                <a16:creationId xmlns:a16="http://schemas.microsoft.com/office/drawing/2014/main" id="{67195A54-EC73-130B-42ED-2C4B06142CF0}"/>
              </a:ext>
            </a:extLst>
          </p:cNvPr>
          <p:cNvSpPr/>
          <p:nvPr/>
        </p:nvSpPr>
        <p:spPr>
          <a:xfrm>
            <a:off x="7052310" y="1252728"/>
            <a:ext cx="914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(s)</a:t>
            </a:r>
            <a:endParaRPr lang="en-US" sz="1050" dirty="0"/>
          </a:p>
        </p:txBody>
      </p:sp>
      <p:sp>
        <p:nvSpPr>
          <p:cNvPr id="159" name="Shape 73">
            <a:extLst>
              <a:ext uri="{FF2B5EF4-FFF2-40B4-BE49-F238E27FC236}">
                <a16:creationId xmlns:a16="http://schemas.microsoft.com/office/drawing/2014/main" id="{64ED3217-6926-0368-F681-30DFF16605AA}"/>
              </a:ext>
            </a:extLst>
          </p:cNvPr>
          <p:cNvSpPr/>
          <p:nvPr/>
        </p:nvSpPr>
        <p:spPr>
          <a:xfrm>
            <a:off x="8206740" y="1252728"/>
            <a:ext cx="109728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74">
            <a:extLst>
              <a:ext uri="{FF2B5EF4-FFF2-40B4-BE49-F238E27FC236}">
                <a16:creationId xmlns:a16="http://schemas.microsoft.com/office/drawing/2014/main" id="{472EA794-5173-0298-E5DA-6A3F91D16056}"/>
              </a:ext>
            </a:extLst>
          </p:cNvPr>
          <p:cNvSpPr/>
          <p:nvPr/>
        </p:nvSpPr>
        <p:spPr>
          <a:xfrm>
            <a:off x="8206740" y="1390032"/>
            <a:ext cx="1097280" cy="383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050" b="1" dirty="0" err="1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050" b="1" baseline="-25000" dirty="0" err="1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050" b="1" baseline="-25000" dirty="0">
                <a:solidFill>
                  <a:srgbClr val="1B3A4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̅</a:t>
            </a: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163" name="Shape 75">
            <a:extLst>
              <a:ext uri="{FF2B5EF4-FFF2-40B4-BE49-F238E27FC236}">
                <a16:creationId xmlns:a16="http://schemas.microsoft.com/office/drawing/2014/main" id="{F6EDAEB4-2AC3-A859-28D7-3C16ABCD9C83}"/>
              </a:ext>
            </a:extLst>
          </p:cNvPr>
          <p:cNvSpPr/>
          <p:nvPr/>
        </p:nvSpPr>
        <p:spPr>
          <a:xfrm>
            <a:off x="9544050" y="1252728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5400">
            <a:solidFill>
              <a:srgbClr val="B85F0F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5" name="Text 76">
            <a:extLst>
              <a:ext uri="{FF2B5EF4-FFF2-40B4-BE49-F238E27FC236}">
                <a16:creationId xmlns:a16="http://schemas.microsoft.com/office/drawing/2014/main" id="{0FCE6092-2F21-1399-2F0B-19D1E7AE1C52}"/>
              </a:ext>
            </a:extLst>
          </p:cNvPr>
          <p:cNvSpPr/>
          <p:nvPr/>
        </p:nvSpPr>
        <p:spPr>
          <a:xfrm>
            <a:off x="9544050" y="1390032"/>
            <a:ext cx="1280160" cy="383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Sample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t-Score</a:t>
            </a:r>
            <a:endParaRPr lang="en-US" sz="1050" dirty="0"/>
          </a:p>
        </p:txBody>
      </p:sp>
      <p:sp>
        <p:nvSpPr>
          <p:cNvPr id="167" name="Shape 77">
            <a:extLst>
              <a:ext uri="{FF2B5EF4-FFF2-40B4-BE49-F238E27FC236}">
                <a16:creationId xmlns:a16="http://schemas.microsoft.com/office/drawing/2014/main" id="{9269DE67-3BB3-4D07-AEF6-16F37189132A}"/>
              </a:ext>
            </a:extLst>
          </p:cNvPr>
          <p:cNvSpPr/>
          <p:nvPr/>
        </p:nvSpPr>
        <p:spPr>
          <a:xfrm>
            <a:off x="11064240" y="1252728"/>
            <a:ext cx="7315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Text 78">
            <a:extLst>
              <a:ext uri="{FF2B5EF4-FFF2-40B4-BE49-F238E27FC236}">
                <a16:creationId xmlns:a16="http://schemas.microsoft.com/office/drawing/2014/main" id="{204EC446-07B2-CF54-1E57-8986ACA3A7BC}"/>
              </a:ext>
            </a:extLst>
          </p:cNvPr>
          <p:cNvSpPr/>
          <p:nvPr/>
        </p:nvSpPr>
        <p:spPr>
          <a:xfrm>
            <a:off x="11064240" y="1252728"/>
            <a:ext cx="7315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p:sp>
        <p:nvSpPr>
          <p:cNvPr id="171" name="Text 16">
            <a:extLst>
              <a:ext uri="{FF2B5EF4-FFF2-40B4-BE49-F238E27FC236}">
                <a16:creationId xmlns:a16="http://schemas.microsoft.com/office/drawing/2014/main" id="{BC66638A-8DA7-1242-319C-209303488958}"/>
              </a:ext>
            </a:extLst>
          </p:cNvPr>
          <p:cNvSpPr/>
          <p:nvPr/>
        </p:nvSpPr>
        <p:spPr>
          <a:xfrm>
            <a:off x="9938385" y="713232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/>
          </a:p>
        </p:txBody>
      </p:sp>
      <p:sp>
        <p:nvSpPr>
          <p:cNvPr id="173" name="Shape 31">
            <a:extLst>
              <a:ext uri="{FF2B5EF4-FFF2-40B4-BE49-F238E27FC236}">
                <a16:creationId xmlns:a16="http://schemas.microsoft.com/office/drawing/2014/main" id="{D8000687-0B3E-B79C-05A2-CA96A9EBC047}"/>
              </a:ext>
            </a:extLst>
          </p:cNvPr>
          <p:cNvSpPr/>
          <p:nvPr/>
        </p:nvSpPr>
        <p:spPr>
          <a:xfrm flipV="1">
            <a:off x="5074006" y="2650946"/>
            <a:ext cx="0" cy="805486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32">
            <a:extLst>
              <a:ext uri="{FF2B5EF4-FFF2-40B4-BE49-F238E27FC236}">
                <a16:creationId xmlns:a16="http://schemas.microsoft.com/office/drawing/2014/main" id="{D4C23A69-AC07-98F8-F241-F410FBD9A0AF}"/>
              </a:ext>
            </a:extLst>
          </p:cNvPr>
          <p:cNvSpPr/>
          <p:nvPr/>
        </p:nvSpPr>
        <p:spPr>
          <a:xfrm>
            <a:off x="5074006" y="2650947"/>
            <a:ext cx="1271930" cy="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 34">
                <a:extLst>
                  <a:ext uri="{FF2B5EF4-FFF2-40B4-BE49-F238E27FC236}">
                    <a16:creationId xmlns:a16="http://schemas.microsoft.com/office/drawing/2014/main" id="{BFABD933-74EF-F7F9-AD91-49872CEE01AA}"/>
                  </a:ext>
                </a:extLst>
              </p:cNvPr>
              <p:cNvSpPr/>
              <p:nvPr/>
            </p:nvSpPr>
            <p:spPr>
              <a:xfrm>
                <a:off x="4800600" y="2208276"/>
                <a:ext cx="2011680" cy="384048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7" name="Text 34">
                <a:extLst>
                  <a:ext uri="{FF2B5EF4-FFF2-40B4-BE49-F238E27FC236}">
                    <a16:creationId xmlns:a16="http://schemas.microsoft.com/office/drawing/2014/main" id="{BFABD933-74EF-F7F9-AD91-49872CEE01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2208276"/>
                <a:ext cx="2011680" cy="384048"/>
              </a:xfrm>
              <a:prstGeom prst="rect">
                <a:avLst/>
              </a:prstGeom>
              <a:blipFill>
                <a:blip r:embed="rId14"/>
                <a:stretch>
                  <a:fillRect t="-3968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 6">
                <a:extLst>
                  <a:ext uri="{FF2B5EF4-FFF2-40B4-BE49-F238E27FC236}">
                    <a16:creationId xmlns:a16="http://schemas.microsoft.com/office/drawing/2014/main" id="{4D5BCA95-CF17-23BF-AAEC-7445FE7CB0F6}"/>
                  </a:ext>
                </a:extLst>
              </p:cNvPr>
              <p:cNvSpPr/>
              <p:nvPr/>
            </p:nvSpPr>
            <p:spPr>
              <a:xfrm>
                <a:off x="1645463" y="287121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3" name="Text 6">
                <a:extLst>
                  <a:ext uri="{FF2B5EF4-FFF2-40B4-BE49-F238E27FC236}">
                    <a16:creationId xmlns:a16="http://schemas.microsoft.com/office/drawing/2014/main" id="{4D5BCA95-CF17-23BF-AAEC-7445FE7CB0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463" y="2871216"/>
                <a:ext cx="2011680" cy="5029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animBg="1"/>
      <p:bldP spid="137" grpId="0" animBg="1"/>
      <p:bldP spid="139" grpId="0" animBg="1"/>
      <p:bldP spid="141" grpId="0" animBg="1"/>
      <p:bldP spid="143" grpId="0" animBg="1"/>
      <p:bldP spid="145" grpId="0" animBg="1"/>
      <p:bldP spid="147" grpId="0" animBg="1"/>
      <p:bldP spid="149" grpId="0" animBg="1"/>
      <p:bldP spid="151" grpId="0" animBg="1"/>
      <p:bldP spid="153" grpId="0" animBg="1"/>
      <p:bldP spid="155" grpId="0" animBg="1"/>
      <p:bldP spid="157" grpId="0" animBg="1"/>
      <p:bldP spid="159" grpId="0" animBg="1"/>
      <p:bldP spid="161" grpId="0" animBg="1"/>
      <p:bldP spid="163" grpId="0" animBg="1"/>
      <p:bldP spid="165" grpId="0" animBg="1"/>
      <p:bldP spid="167" grpId="0" animBg="1"/>
      <p:bldP spid="169" grpId="0" animBg="1"/>
      <p:bldP spid="171" grpId="0" animBg="1"/>
      <p:bldP spid="173" grpId="0" animBg="1"/>
      <p:bldP spid="175" grpId="0" animBg="1"/>
      <p:bldP spid="17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1051560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97968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68" y="2880360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2499055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083710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59806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4906213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213" y="2880360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7253021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6399428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428" y="2880360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8746236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559491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 flipV="1">
            <a:off x="731520" y="2788920"/>
            <a:ext cx="9144" cy="667512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0" y="2788920"/>
            <a:ext cx="96012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11480" y="3456432"/>
            <a:ext cx="640080" cy="658368"/>
          </a:xfrm>
          <a:prstGeom prst="roundRect">
            <a:avLst>
              <a:gd name="adj" fmla="val 12857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11480" y="3456432"/>
            <a:ext cx="6400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356055" y="345643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356055" y="345643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803550" y="345643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803550" y="345643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4388206" y="345643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388206" y="345643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064301" y="345643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064301" y="345643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7557516" y="3456432"/>
            <a:ext cx="11887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557516" y="3456432"/>
            <a:ext cx="11887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(SD)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9050731" y="3456432"/>
            <a:ext cx="15087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28575">
            <a:solidFill>
              <a:srgbClr val="2C5F7C"/>
            </a:solidFill>
            <a:prstDash val="solid"/>
          </a:ln>
          <a:effectLst>
            <a:outerShdw blurRad="76200" dist="25400" dir="5400000" algn="ctr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050731" y="3456432"/>
            <a:ext cx="15087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Participant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(Sample)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10863986" y="3456432"/>
            <a:ext cx="9144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0863986" y="3456432"/>
            <a:ext cx="914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 8">
                <a:extLst>
                  <a:ext uri="{FF2B5EF4-FFF2-40B4-BE49-F238E27FC236}">
                    <a16:creationId xmlns:a16="http://schemas.microsoft.com/office/drawing/2014/main" id="{50EF700E-2D17-AF9D-7F0F-28666D8824D7}"/>
                  </a:ext>
                </a:extLst>
              </p:cNvPr>
              <p:cNvSpPr/>
              <p:nvPr/>
            </p:nvSpPr>
            <p:spPr>
              <a:xfrm>
                <a:off x="3268465" y="295183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𝑆𝑞𝑢𝑎𝑟𝑒𝑑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3" name="Text 8">
                <a:extLst>
                  <a:ext uri="{FF2B5EF4-FFF2-40B4-BE49-F238E27FC236}">
                    <a16:creationId xmlns:a16="http://schemas.microsoft.com/office/drawing/2014/main" id="{50EF700E-2D17-AF9D-7F0F-28666D8824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465" y="2951830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l="-3939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 14">
                <a:extLst>
                  <a:ext uri="{FF2B5EF4-FFF2-40B4-BE49-F238E27FC236}">
                    <a16:creationId xmlns:a16="http://schemas.microsoft.com/office/drawing/2014/main" id="{ABF5C0FD-FD13-A0BF-78E6-B5C5B214D5BC}"/>
                  </a:ext>
                </a:extLst>
              </p:cNvPr>
              <p:cNvSpPr/>
              <p:nvPr/>
            </p:nvSpPr>
            <p:spPr>
              <a:xfrm>
                <a:off x="7892644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i="0" dirty="0"/>
                            <m:t>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𝑆𝐷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5" name="Text 14">
                <a:extLst>
                  <a:ext uri="{FF2B5EF4-FFF2-40B4-BE49-F238E27FC236}">
                    <a16:creationId xmlns:a16="http://schemas.microsoft.com/office/drawing/2014/main" id="{ABF5C0FD-FD13-A0BF-78E6-B5C5B214D5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644" y="2880360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 t="-609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ext 16">
            <a:extLst>
              <a:ext uri="{FF2B5EF4-FFF2-40B4-BE49-F238E27FC236}">
                <a16:creationId xmlns:a16="http://schemas.microsoft.com/office/drawing/2014/main" id="{36F9ECA9-741E-41BA-4FAC-46D7330C1414}"/>
              </a:ext>
            </a:extLst>
          </p:cNvPr>
          <p:cNvSpPr/>
          <p:nvPr/>
        </p:nvSpPr>
        <p:spPr>
          <a:xfrm>
            <a:off x="9705899" y="2880360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/>
          </a:p>
        </p:txBody>
      </p:sp>
      <p:sp>
        <p:nvSpPr>
          <p:cNvPr id="89" name="Shape 17">
            <a:extLst>
              <a:ext uri="{FF2B5EF4-FFF2-40B4-BE49-F238E27FC236}">
                <a16:creationId xmlns:a16="http://schemas.microsoft.com/office/drawing/2014/main" id="{0563D0EE-6CAE-EE11-6C36-CD2BE4116D9A}"/>
              </a:ext>
            </a:extLst>
          </p:cNvPr>
          <p:cNvSpPr/>
          <p:nvPr/>
        </p:nvSpPr>
        <p:spPr>
          <a:xfrm>
            <a:off x="731520" y="4114800"/>
            <a:ext cx="0" cy="91440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18">
            <a:extLst>
              <a:ext uri="{FF2B5EF4-FFF2-40B4-BE49-F238E27FC236}">
                <a16:creationId xmlns:a16="http://schemas.microsoft.com/office/drawing/2014/main" id="{5F399AB5-1C5A-924C-DD19-0830E575AAE9}"/>
              </a:ext>
            </a:extLst>
          </p:cNvPr>
          <p:cNvSpPr/>
          <p:nvPr/>
        </p:nvSpPr>
        <p:spPr>
          <a:xfrm>
            <a:off x="737147" y="5029200"/>
            <a:ext cx="123444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19">
            <a:extLst>
              <a:ext uri="{FF2B5EF4-FFF2-40B4-BE49-F238E27FC236}">
                <a16:creationId xmlns:a16="http://schemas.microsoft.com/office/drawing/2014/main" id="{98B43513-F497-8262-3CDB-488A96C90020}"/>
              </a:ext>
            </a:extLst>
          </p:cNvPr>
          <p:cNvSpPr/>
          <p:nvPr/>
        </p:nvSpPr>
        <p:spPr>
          <a:xfrm>
            <a:off x="1975104" y="5029200"/>
            <a:ext cx="9144" cy="54864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 20">
                <a:extLst>
                  <a:ext uri="{FF2B5EF4-FFF2-40B4-BE49-F238E27FC236}">
                    <a16:creationId xmlns:a16="http://schemas.microsoft.com/office/drawing/2014/main" id="{60610A51-E554-CCE0-A9EE-EF32B5E28D40}"/>
                  </a:ext>
                </a:extLst>
              </p:cNvPr>
              <p:cNvSpPr/>
              <p:nvPr/>
            </p:nvSpPr>
            <p:spPr>
              <a:xfrm>
                <a:off x="411480" y="4544568"/>
                <a:ext cx="2011680" cy="41148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 20">
                <a:extLst>
                  <a:ext uri="{FF2B5EF4-FFF2-40B4-BE49-F238E27FC236}">
                    <a16:creationId xmlns:a16="http://schemas.microsoft.com/office/drawing/2014/main" id="{60610A51-E554-CCE0-A9EE-EF32B5E28D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544568"/>
                <a:ext cx="2011680" cy="411480"/>
              </a:xfrm>
              <a:prstGeom prst="rect">
                <a:avLst/>
              </a:prstGeom>
              <a:blipFill>
                <a:blip r:embed="rId8"/>
                <a:stretch>
                  <a:fillRect t="-3134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Shape 21">
            <a:extLst>
              <a:ext uri="{FF2B5EF4-FFF2-40B4-BE49-F238E27FC236}">
                <a16:creationId xmlns:a16="http://schemas.microsoft.com/office/drawing/2014/main" id="{05F47FC2-6FE9-6EB9-EF8C-43099FFC19B6}"/>
              </a:ext>
            </a:extLst>
          </p:cNvPr>
          <p:cNvSpPr/>
          <p:nvPr/>
        </p:nvSpPr>
        <p:spPr>
          <a:xfrm>
            <a:off x="2889504" y="5907024"/>
            <a:ext cx="32004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39">
            <a:extLst>
              <a:ext uri="{FF2B5EF4-FFF2-40B4-BE49-F238E27FC236}">
                <a16:creationId xmlns:a16="http://schemas.microsoft.com/office/drawing/2014/main" id="{7154F807-EDF8-8897-0825-3E33C12147E3}"/>
              </a:ext>
            </a:extLst>
          </p:cNvPr>
          <p:cNvSpPr/>
          <p:nvPr/>
        </p:nvSpPr>
        <p:spPr>
          <a:xfrm>
            <a:off x="1060704" y="5577840"/>
            <a:ext cx="18288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25400">
            <a:solidFill>
              <a:srgbClr val="2C5F7C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21CDBEC6-7F71-D645-9307-F952F2CBB0F0}"/>
              </a:ext>
            </a:extLst>
          </p:cNvPr>
          <p:cNvSpPr/>
          <p:nvPr/>
        </p:nvSpPr>
        <p:spPr>
          <a:xfrm>
            <a:off x="1060704" y="5715144"/>
            <a:ext cx="1828800" cy="383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Participant</a:t>
            </a:r>
            <a:endParaRPr lang="en-US" sz="1050" dirty="0">
              <a:solidFill>
                <a:srgbClr val="1B3A4B"/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(Population)</a:t>
            </a:r>
            <a:endParaRPr lang="en-US" sz="1050" dirty="0">
              <a:solidFill>
                <a:srgbClr val="1B3A4B"/>
              </a:solidFill>
            </a:endParaRPr>
          </a:p>
        </p:txBody>
      </p:sp>
      <p:sp>
        <p:nvSpPr>
          <p:cNvPr id="103" name="Shape 41">
            <a:extLst>
              <a:ext uri="{FF2B5EF4-FFF2-40B4-BE49-F238E27FC236}">
                <a16:creationId xmlns:a16="http://schemas.microsoft.com/office/drawing/2014/main" id="{9367C3F8-6BA5-7D99-E4AD-6F0136C18C07}"/>
              </a:ext>
            </a:extLst>
          </p:cNvPr>
          <p:cNvSpPr/>
          <p:nvPr/>
        </p:nvSpPr>
        <p:spPr>
          <a:xfrm>
            <a:off x="3209544" y="5577840"/>
            <a:ext cx="8229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42">
            <a:extLst>
              <a:ext uri="{FF2B5EF4-FFF2-40B4-BE49-F238E27FC236}">
                <a16:creationId xmlns:a16="http://schemas.microsoft.com/office/drawing/2014/main" id="{88DF236C-5AD6-69B0-CBEF-AC8905B96D96}"/>
              </a:ext>
            </a:extLst>
          </p:cNvPr>
          <p:cNvSpPr/>
          <p:nvPr/>
        </p:nvSpPr>
        <p:spPr>
          <a:xfrm>
            <a:off x="3209544" y="5577840"/>
            <a:ext cx="8229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p:sp>
        <p:nvSpPr>
          <p:cNvPr id="107" name="Text 16">
            <a:extLst>
              <a:ext uri="{FF2B5EF4-FFF2-40B4-BE49-F238E27FC236}">
                <a16:creationId xmlns:a16="http://schemas.microsoft.com/office/drawing/2014/main" id="{1E8C5A63-AA33-E82A-024A-DFBB968D7711}"/>
              </a:ext>
            </a:extLst>
          </p:cNvPr>
          <p:cNvSpPr/>
          <p:nvPr/>
        </p:nvSpPr>
        <p:spPr>
          <a:xfrm>
            <a:off x="2072030" y="4988052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/>
          </a:p>
        </p:txBody>
      </p:sp>
      <p:sp>
        <p:nvSpPr>
          <p:cNvPr id="109" name="Shape 25">
            <a:extLst>
              <a:ext uri="{FF2B5EF4-FFF2-40B4-BE49-F238E27FC236}">
                <a16:creationId xmlns:a16="http://schemas.microsoft.com/office/drawing/2014/main" id="{075E122B-3AAF-13C6-CB50-E26152D3F079}"/>
              </a:ext>
            </a:extLst>
          </p:cNvPr>
          <p:cNvSpPr/>
          <p:nvPr/>
        </p:nvSpPr>
        <p:spPr>
          <a:xfrm flipV="1">
            <a:off x="1691640" y="1874520"/>
            <a:ext cx="9144" cy="91440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 26">
                <a:extLst>
                  <a:ext uri="{FF2B5EF4-FFF2-40B4-BE49-F238E27FC236}">
                    <a16:creationId xmlns:a16="http://schemas.microsoft.com/office/drawing/2014/main" id="{28A4A62F-1191-542A-12EC-7EFC84C1A185}"/>
                  </a:ext>
                </a:extLst>
              </p:cNvPr>
              <p:cNvSpPr/>
              <p:nvPr/>
            </p:nvSpPr>
            <p:spPr>
              <a:xfrm>
                <a:off x="205740" y="2288286"/>
                <a:ext cx="2011680" cy="384048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1" name="Text 26">
                <a:extLst>
                  <a:ext uri="{FF2B5EF4-FFF2-40B4-BE49-F238E27FC236}">
                    <a16:creationId xmlns:a16="http://schemas.microsoft.com/office/drawing/2014/main" id="{28A4A62F-1191-542A-12EC-7EFC84C1A1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" y="2288286"/>
                <a:ext cx="2011680" cy="384048"/>
              </a:xfrm>
              <a:prstGeom prst="rect">
                <a:avLst/>
              </a:prstGeom>
              <a:blipFill>
                <a:blip r:embed="rId9"/>
                <a:stretch>
                  <a:fillRect t="-4127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Shape 27">
            <a:extLst>
              <a:ext uri="{FF2B5EF4-FFF2-40B4-BE49-F238E27FC236}">
                <a16:creationId xmlns:a16="http://schemas.microsoft.com/office/drawing/2014/main" id="{C99C5076-455F-490F-F094-DCC3EFD928DE}"/>
              </a:ext>
            </a:extLst>
          </p:cNvPr>
          <p:cNvSpPr/>
          <p:nvPr/>
        </p:nvSpPr>
        <p:spPr>
          <a:xfrm>
            <a:off x="2365578" y="1535512"/>
            <a:ext cx="36576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 28">
                <a:extLst>
                  <a:ext uri="{FF2B5EF4-FFF2-40B4-BE49-F238E27FC236}">
                    <a16:creationId xmlns:a16="http://schemas.microsoft.com/office/drawing/2014/main" id="{6B6DBE5C-44DD-7267-8673-E32005285CA0}"/>
                  </a:ext>
                </a:extLst>
              </p:cNvPr>
              <p:cNvSpPr/>
              <p:nvPr/>
            </p:nvSpPr>
            <p:spPr>
              <a:xfrm>
                <a:off x="1598224" y="738302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acc>
                                <m:accPr>
                                  <m:chr m:val="̄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acc>
                                <m:accPr>
                                  <m:chr m:val="̄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5" name="Text 28">
                <a:extLst>
                  <a:ext uri="{FF2B5EF4-FFF2-40B4-BE49-F238E27FC236}">
                    <a16:creationId xmlns:a16="http://schemas.microsoft.com/office/drawing/2014/main" id="{6B6DBE5C-44DD-7267-8673-E32005285C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224" y="738302"/>
                <a:ext cx="2011680" cy="502920"/>
              </a:xfrm>
              <a:prstGeom prst="rect">
                <a:avLst/>
              </a:prstGeom>
              <a:blipFill>
                <a:blip r:embed="rId10"/>
                <a:stretch>
                  <a:fillRect t="-1445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Shape 29">
            <a:extLst>
              <a:ext uri="{FF2B5EF4-FFF2-40B4-BE49-F238E27FC236}">
                <a16:creationId xmlns:a16="http://schemas.microsoft.com/office/drawing/2014/main" id="{49713BE3-AD13-5AB8-DD2C-6A148BF94668}"/>
              </a:ext>
            </a:extLst>
          </p:cNvPr>
          <p:cNvSpPr/>
          <p:nvPr/>
        </p:nvSpPr>
        <p:spPr>
          <a:xfrm>
            <a:off x="4194378" y="1535512"/>
            <a:ext cx="36576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51">
            <a:extLst>
              <a:ext uri="{FF2B5EF4-FFF2-40B4-BE49-F238E27FC236}">
                <a16:creationId xmlns:a16="http://schemas.microsoft.com/office/drawing/2014/main" id="{8B12F07B-BE53-3DCB-50F4-FA2BE705C80A}"/>
              </a:ext>
            </a:extLst>
          </p:cNvPr>
          <p:cNvSpPr/>
          <p:nvPr/>
        </p:nvSpPr>
        <p:spPr>
          <a:xfrm>
            <a:off x="1085418" y="1206328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52">
            <a:extLst>
              <a:ext uri="{FF2B5EF4-FFF2-40B4-BE49-F238E27FC236}">
                <a16:creationId xmlns:a16="http://schemas.microsoft.com/office/drawing/2014/main" id="{20541634-170F-E06A-4D3E-820C3316247B}"/>
              </a:ext>
            </a:extLst>
          </p:cNvPr>
          <p:cNvSpPr/>
          <p:nvPr/>
        </p:nvSpPr>
        <p:spPr>
          <a:xfrm>
            <a:off x="1085418" y="1206328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(σₓ̄)</a:t>
            </a:r>
            <a:endParaRPr lang="en-US" sz="1050" dirty="0"/>
          </a:p>
        </p:txBody>
      </p:sp>
      <p:sp>
        <p:nvSpPr>
          <p:cNvPr id="123" name="Shape 53">
            <a:extLst>
              <a:ext uri="{FF2B5EF4-FFF2-40B4-BE49-F238E27FC236}">
                <a16:creationId xmlns:a16="http://schemas.microsoft.com/office/drawing/2014/main" id="{6F4A2F62-5414-E730-3392-40CDB1663F59}"/>
              </a:ext>
            </a:extLst>
          </p:cNvPr>
          <p:cNvSpPr/>
          <p:nvPr/>
        </p:nvSpPr>
        <p:spPr>
          <a:xfrm>
            <a:off x="2731338" y="1206328"/>
            <a:ext cx="146304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25400">
            <a:solidFill>
              <a:srgbClr val="2C5F7C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5" name="Text 54">
            <a:extLst>
              <a:ext uri="{FF2B5EF4-FFF2-40B4-BE49-F238E27FC236}">
                <a16:creationId xmlns:a16="http://schemas.microsoft.com/office/drawing/2014/main" id="{2AD9F1EB-1C1A-FEE2-73D3-5836115BB25E}"/>
              </a:ext>
            </a:extLst>
          </p:cNvPr>
          <p:cNvSpPr/>
          <p:nvPr/>
        </p:nvSpPr>
        <p:spPr>
          <a:xfrm>
            <a:off x="2731338" y="1343632"/>
            <a:ext cx="1463040" cy="383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Sample</a:t>
            </a:r>
            <a:endParaRPr lang="en-US" sz="1050" dirty="0">
              <a:solidFill>
                <a:srgbClr val="1B3A4B"/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050" dirty="0">
              <a:solidFill>
                <a:srgbClr val="1B3A4B"/>
              </a:solidFill>
            </a:endParaRPr>
          </a:p>
        </p:txBody>
      </p:sp>
      <p:sp>
        <p:nvSpPr>
          <p:cNvPr id="127" name="Shape 55">
            <a:extLst>
              <a:ext uri="{FF2B5EF4-FFF2-40B4-BE49-F238E27FC236}">
                <a16:creationId xmlns:a16="http://schemas.microsoft.com/office/drawing/2014/main" id="{3934EAB4-2C2A-CDB3-A912-09DC7CE2D4B0}"/>
              </a:ext>
            </a:extLst>
          </p:cNvPr>
          <p:cNvSpPr/>
          <p:nvPr/>
        </p:nvSpPr>
        <p:spPr>
          <a:xfrm>
            <a:off x="4560138" y="1206328"/>
            <a:ext cx="9144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56">
            <a:extLst>
              <a:ext uri="{FF2B5EF4-FFF2-40B4-BE49-F238E27FC236}">
                <a16:creationId xmlns:a16="http://schemas.microsoft.com/office/drawing/2014/main" id="{FFB7545B-3597-0AF5-D1BB-FE00C5667914}"/>
              </a:ext>
            </a:extLst>
          </p:cNvPr>
          <p:cNvSpPr/>
          <p:nvPr/>
        </p:nvSpPr>
        <p:spPr>
          <a:xfrm>
            <a:off x="4560138" y="1206328"/>
            <a:ext cx="914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p:sp>
        <p:nvSpPr>
          <p:cNvPr id="131" name="Text 16">
            <a:extLst>
              <a:ext uri="{FF2B5EF4-FFF2-40B4-BE49-F238E27FC236}">
                <a16:creationId xmlns:a16="http://schemas.microsoft.com/office/drawing/2014/main" id="{78C0CB88-BFEB-1376-EA75-26F7826ADC3E}"/>
              </a:ext>
            </a:extLst>
          </p:cNvPr>
          <p:cNvSpPr/>
          <p:nvPr/>
        </p:nvSpPr>
        <p:spPr>
          <a:xfrm>
            <a:off x="3371418" y="722376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/>
          </a:p>
        </p:txBody>
      </p:sp>
      <p:sp>
        <p:nvSpPr>
          <p:cNvPr id="133" name="Shape 33">
            <a:extLst>
              <a:ext uri="{FF2B5EF4-FFF2-40B4-BE49-F238E27FC236}">
                <a16:creationId xmlns:a16="http://schemas.microsoft.com/office/drawing/2014/main" id="{1014FD5B-69E9-9AA1-532A-CCC8914D8465}"/>
              </a:ext>
            </a:extLst>
          </p:cNvPr>
          <p:cNvSpPr/>
          <p:nvPr/>
        </p:nvSpPr>
        <p:spPr>
          <a:xfrm flipV="1">
            <a:off x="6355080" y="1929383"/>
            <a:ext cx="0" cy="721563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35">
            <a:extLst>
              <a:ext uri="{FF2B5EF4-FFF2-40B4-BE49-F238E27FC236}">
                <a16:creationId xmlns:a16="http://schemas.microsoft.com/office/drawing/2014/main" id="{9E4DABD5-7B28-93DC-7394-3EA2AF85892A}"/>
              </a:ext>
            </a:extLst>
          </p:cNvPr>
          <p:cNvSpPr/>
          <p:nvPr/>
        </p:nvSpPr>
        <p:spPr>
          <a:xfrm>
            <a:off x="6812280" y="1581912"/>
            <a:ext cx="24003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 36">
                <a:extLst>
                  <a:ext uri="{FF2B5EF4-FFF2-40B4-BE49-F238E27FC236}">
                    <a16:creationId xmlns:a16="http://schemas.microsoft.com/office/drawing/2014/main" id="{E786B2A7-3F67-AE47-60DE-721AA8765989}"/>
                  </a:ext>
                </a:extLst>
              </p:cNvPr>
              <p:cNvSpPr/>
              <p:nvPr/>
            </p:nvSpPr>
            <p:spPr>
              <a:xfrm>
                <a:off x="5926455" y="68580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7" name="Text 36">
                <a:extLst>
                  <a:ext uri="{FF2B5EF4-FFF2-40B4-BE49-F238E27FC236}">
                    <a16:creationId xmlns:a16="http://schemas.microsoft.com/office/drawing/2014/main" id="{E786B2A7-3F67-AE47-60DE-721AA87659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455" y="685800"/>
                <a:ext cx="2011680" cy="5029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Shape 37">
            <a:extLst>
              <a:ext uri="{FF2B5EF4-FFF2-40B4-BE49-F238E27FC236}">
                <a16:creationId xmlns:a16="http://schemas.microsoft.com/office/drawing/2014/main" id="{27D32C91-4B76-042F-64C3-29CB48DBDF0C}"/>
              </a:ext>
            </a:extLst>
          </p:cNvPr>
          <p:cNvSpPr/>
          <p:nvPr/>
        </p:nvSpPr>
        <p:spPr>
          <a:xfrm>
            <a:off x="7966710" y="1581912"/>
            <a:ext cx="24003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 38">
                <a:extLst>
                  <a:ext uri="{FF2B5EF4-FFF2-40B4-BE49-F238E27FC236}">
                    <a16:creationId xmlns:a16="http://schemas.microsoft.com/office/drawing/2014/main" id="{BF7D359F-8329-7A6A-0091-1CE8965CBDF5}"/>
                  </a:ext>
                </a:extLst>
              </p:cNvPr>
              <p:cNvSpPr/>
              <p:nvPr/>
            </p:nvSpPr>
            <p:spPr>
              <a:xfrm>
                <a:off x="7080885" y="68580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1" name="Text 38">
                <a:extLst>
                  <a:ext uri="{FF2B5EF4-FFF2-40B4-BE49-F238E27FC236}">
                    <a16:creationId xmlns:a16="http://schemas.microsoft.com/office/drawing/2014/main" id="{BF7D359F-8329-7A6A-0091-1CE8965CBD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0885" y="685800"/>
                <a:ext cx="2011680" cy="502920"/>
              </a:xfrm>
              <a:prstGeom prst="rect">
                <a:avLst/>
              </a:prstGeom>
              <a:blipFill>
                <a:blip r:embed="rId12"/>
                <a:stretch>
                  <a:fillRect t="-853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Shape 39">
            <a:extLst>
              <a:ext uri="{FF2B5EF4-FFF2-40B4-BE49-F238E27FC236}">
                <a16:creationId xmlns:a16="http://schemas.microsoft.com/office/drawing/2014/main" id="{DA8C3C18-B9B8-D8BE-7BCB-6C6BF88DFC84}"/>
              </a:ext>
            </a:extLst>
          </p:cNvPr>
          <p:cNvSpPr/>
          <p:nvPr/>
        </p:nvSpPr>
        <p:spPr>
          <a:xfrm>
            <a:off x="9304020" y="1581912"/>
            <a:ext cx="24003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 40">
                <a:extLst>
                  <a:ext uri="{FF2B5EF4-FFF2-40B4-BE49-F238E27FC236}">
                    <a16:creationId xmlns:a16="http://schemas.microsoft.com/office/drawing/2014/main" id="{D817B87B-519A-3CB9-7611-1E8826303BD8}"/>
                  </a:ext>
                </a:extLst>
              </p:cNvPr>
              <p:cNvSpPr/>
              <p:nvPr/>
            </p:nvSpPr>
            <p:spPr>
              <a:xfrm>
                <a:off x="8418195" y="68580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acc>
                                <m:accPr>
                                  <m:chr m:val="̄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acc>
                                <m:accPr>
                                  <m:chr m:val="̄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5" name="Text 40">
                <a:extLst>
                  <a:ext uri="{FF2B5EF4-FFF2-40B4-BE49-F238E27FC236}">
                    <a16:creationId xmlns:a16="http://schemas.microsoft.com/office/drawing/2014/main" id="{D817B87B-519A-3CB9-7611-1E8826303B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8195" y="685800"/>
                <a:ext cx="2011680" cy="502920"/>
              </a:xfrm>
              <a:prstGeom prst="rect">
                <a:avLst/>
              </a:prstGeom>
              <a:blipFill>
                <a:blip r:embed="rId13"/>
                <a:stretch>
                  <a:fillRect t="-1463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Shape 41">
            <a:extLst>
              <a:ext uri="{FF2B5EF4-FFF2-40B4-BE49-F238E27FC236}">
                <a16:creationId xmlns:a16="http://schemas.microsoft.com/office/drawing/2014/main" id="{0352DC4E-0833-8E29-C52B-49AC76908261}"/>
              </a:ext>
            </a:extLst>
          </p:cNvPr>
          <p:cNvSpPr/>
          <p:nvPr/>
        </p:nvSpPr>
        <p:spPr>
          <a:xfrm>
            <a:off x="10824210" y="1581912"/>
            <a:ext cx="24003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69">
            <a:extLst>
              <a:ext uri="{FF2B5EF4-FFF2-40B4-BE49-F238E27FC236}">
                <a16:creationId xmlns:a16="http://schemas.microsoft.com/office/drawing/2014/main" id="{F0392C31-A88E-A05E-7CB6-25C3344BF367}"/>
              </a:ext>
            </a:extLst>
          </p:cNvPr>
          <p:cNvSpPr/>
          <p:nvPr/>
        </p:nvSpPr>
        <p:spPr>
          <a:xfrm>
            <a:off x="5897880" y="1252728"/>
            <a:ext cx="9144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70">
            <a:extLst>
              <a:ext uri="{FF2B5EF4-FFF2-40B4-BE49-F238E27FC236}">
                <a16:creationId xmlns:a16="http://schemas.microsoft.com/office/drawing/2014/main" id="{7CA3E246-1D2D-04A1-6E81-500C416FBE20}"/>
              </a:ext>
            </a:extLst>
          </p:cNvPr>
          <p:cNvSpPr/>
          <p:nvPr/>
        </p:nvSpPr>
        <p:spPr>
          <a:xfrm>
            <a:off x="5897880" y="1252728"/>
            <a:ext cx="914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(s²)</a:t>
            </a:r>
            <a:endParaRPr lang="en-US" sz="1150" dirty="0"/>
          </a:p>
        </p:txBody>
      </p:sp>
      <p:sp>
        <p:nvSpPr>
          <p:cNvPr id="153" name="Shape 71">
            <a:extLst>
              <a:ext uri="{FF2B5EF4-FFF2-40B4-BE49-F238E27FC236}">
                <a16:creationId xmlns:a16="http://schemas.microsoft.com/office/drawing/2014/main" id="{FC539649-FC63-C1AD-804D-084C7BCBD053}"/>
              </a:ext>
            </a:extLst>
          </p:cNvPr>
          <p:cNvSpPr/>
          <p:nvPr/>
        </p:nvSpPr>
        <p:spPr>
          <a:xfrm>
            <a:off x="7052310" y="1252728"/>
            <a:ext cx="9144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 72">
            <a:extLst>
              <a:ext uri="{FF2B5EF4-FFF2-40B4-BE49-F238E27FC236}">
                <a16:creationId xmlns:a16="http://schemas.microsoft.com/office/drawing/2014/main" id="{9BB9E002-5C80-31C4-5B60-E1AA4FF330F0}"/>
              </a:ext>
            </a:extLst>
          </p:cNvPr>
          <p:cNvSpPr/>
          <p:nvPr/>
        </p:nvSpPr>
        <p:spPr>
          <a:xfrm>
            <a:off x="7052310" y="1252728"/>
            <a:ext cx="914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(s)</a:t>
            </a:r>
            <a:endParaRPr lang="en-US" sz="1050" dirty="0"/>
          </a:p>
        </p:txBody>
      </p:sp>
      <p:sp>
        <p:nvSpPr>
          <p:cNvPr id="157" name="Shape 73">
            <a:extLst>
              <a:ext uri="{FF2B5EF4-FFF2-40B4-BE49-F238E27FC236}">
                <a16:creationId xmlns:a16="http://schemas.microsoft.com/office/drawing/2014/main" id="{6FB7719A-725A-62EC-0111-646E62591010}"/>
              </a:ext>
            </a:extLst>
          </p:cNvPr>
          <p:cNvSpPr/>
          <p:nvPr/>
        </p:nvSpPr>
        <p:spPr>
          <a:xfrm>
            <a:off x="8206740" y="1252728"/>
            <a:ext cx="109728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 74">
            <a:extLst>
              <a:ext uri="{FF2B5EF4-FFF2-40B4-BE49-F238E27FC236}">
                <a16:creationId xmlns:a16="http://schemas.microsoft.com/office/drawing/2014/main" id="{19034455-8416-E0C7-08AC-779983AC2736}"/>
              </a:ext>
            </a:extLst>
          </p:cNvPr>
          <p:cNvSpPr/>
          <p:nvPr/>
        </p:nvSpPr>
        <p:spPr>
          <a:xfrm>
            <a:off x="8206740" y="1390032"/>
            <a:ext cx="1097280" cy="383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</a:t>
            </a:r>
            <a:endParaRPr lang="en-US" sz="1050" dirty="0"/>
          </a:p>
          <a:p>
            <a:pPr algn="ctr">
              <a:lnSpc>
                <a:spcPct val="105000"/>
              </a:lnSpc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050" b="1" dirty="0" err="1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050" b="1" baseline="-25000" dirty="0" err="1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050" b="1" baseline="-25000" dirty="0">
                <a:solidFill>
                  <a:srgbClr val="1B3A4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̅</a:t>
            </a: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161" name="Shape 75">
            <a:extLst>
              <a:ext uri="{FF2B5EF4-FFF2-40B4-BE49-F238E27FC236}">
                <a16:creationId xmlns:a16="http://schemas.microsoft.com/office/drawing/2014/main" id="{FD0947FA-8B3F-70B0-4E42-2DB423F62746}"/>
              </a:ext>
            </a:extLst>
          </p:cNvPr>
          <p:cNvSpPr/>
          <p:nvPr/>
        </p:nvSpPr>
        <p:spPr>
          <a:xfrm>
            <a:off x="9544050" y="1252728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25400">
            <a:solidFill>
              <a:srgbClr val="2C5F7C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3" name="Text 76">
            <a:extLst>
              <a:ext uri="{FF2B5EF4-FFF2-40B4-BE49-F238E27FC236}">
                <a16:creationId xmlns:a16="http://schemas.microsoft.com/office/drawing/2014/main" id="{9F9883F1-3CB2-6C8B-2B9C-285B2E688A6E}"/>
              </a:ext>
            </a:extLst>
          </p:cNvPr>
          <p:cNvSpPr/>
          <p:nvPr/>
        </p:nvSpPr>
        <p:spPr>
          <a:xfrm>
            <a:off x="9544050" y="1390032"/>
            <a:ext cx="1280160" cy="383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Sample</a:t>
            </a:r>
            <a:endParaRPr lang="en-US" sz="1050" dirty="0">
              <a:solidFill>
                <a:srgbClr val="1B3A4B"/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t-Score</a:t>
            </a:r>
            <a:endParaRPr lang="en-US" sz="1050" dirty="0">
              <a:solidFill>
                <a:srgbClr val="1B3A4B"/>
              </a:solidFill>
            </a:endParaRPr>
          </a:p>
        </p:txBody>
      </p:sp>
      <p:sp>
        <p:nvSpPr>
          <p:cNvPr id="165" name="Shape 77">
            <a:extLst>
              <a:ext uri="{FF2B5EF4-FFF2-40B4-BE49-F238E27FC236}">
                <a16:creationId xmlns:a16="http://schemas.microsoft.com/office/drawing/2014/main" id="{933AECA8-F1F7-EAA5-05A4-313100EF4CC4}"/>
              </a:ext>
            </a:extLst>
          </p:cNvPr>
          <p:cNvSpPr/>
          <p:nvPr/>
        </p:nvSpPr>
        <p:spPr>
          <a:xfrm>
            <a:off x="11064240" y="1252728"/>
            <a:ext cx="7315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Text 78">
            <a:extLst>
              <a:ext uri="{FF2B5EF4-FFF2-40B4-BE49-F238E27FC236}">
                <a16:creationId xmlns:a16="http://schemas.microsoft.com/office/drawing/2014/main" id="{0D14F30D-58C5-A0B4-BCD9-B50BA609516D}"/>
              </a:ext>
            </a:extLst>
          </p:cNvPr>
          <p:cNvSpPr/>
          <p:nvPr/>
        </p:nvSpPr>
        <p:spPr>
          <a:xfrm>
            <a:off x="11064240" y="1252728"/>
            <a:ext cx="7315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p:sp>
        <p:nvSpPr>
          <p:cNvPr id="169" name="Text 16">
            <a:extLst>
              <a:ext uri="{FF2B5EF4-FFF2-40B4-BE49-F238E27FC236}">
                <a16:creationId xmlns:a16="http://schemas.microsoft.com/office/drawing/2014/main" id="{16CF6FD7-FA7D-7C77-784C-E5FC1FB25D35}"/>
              </a:ext>
            </a:extLst>
          </p:cNvPr>
          <p:cNvSpPr/>
          <p:nvPr/>
        </p:nvSpPr>
        <p:spPr>
          <a:xfrm>
            <a:off x="9938385" y="713232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/>
          </a:p>
        </p:txBody>
      </p:sp>
      <p:sp>
        <p:nvSpPr>
          <p:cNvPr id="171" name="Shape 31">
            <a:extLst>
              <a:ext uri="{FF2B5EF4-FFF2-40B4-BE49-F238E27FC236}">
                <a16:creationId xmlns:a16="http://schemas.microsoft.com/office/drawing/2014/main" id="{18E82F7E-5558-99D2-BB2B-AC41886B1A0F}"/>
              </a:ext>
            </a:extLst>
          </p:cNvPr>
          <p:cNvSpPr/>
          <p:nvPr/>
        </p:nvSpPr>
        <p:spPr>
          <a:xfrm flipV="1">
            <a:off x="5074006" y="2650946"/>
            <a:ext cx="0" cy="805486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32">
            <a:extLst>
              <a:ext uri="{FF2B5EF4-FFF2-40B4-BE49-F238E27FC236}">
                <a16:creationId xmlns:a16="http://schemas.microsoft.com/office/drawing/2014/main" id="{53138097-2903-F0F3-570B-350276EB074A}"/>
              </a:ext>
            </a:extLst>
          </p:cNvPr>
          <p:cNvSpPr/>
          <p:nvPr/>
        </p:nvSpPr>
        <p:spPr>
          <a:xfrm>
            <a:off x="5074006" y="2650947"/>
            <a:ext cx="1271930" cy="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 34">
                <a:extLst>
                  <a:ext uri="{FF2B5EF4-FFF2-40B4-BE49-F238E27FC236}">
                    <a16:creationId xmlns:a16="http://schemas.microsoft.com/office/drawing/2014/main" id="{1838F68E-0A31-C041-D5F1-0C338890534D}"/>
                  </a:ext>
                </a:extLst>
              </p:cNvPr>
              <p:cNvSpPr/>
              <p:nvPr/>
            </p:nvSpPr>
            <p:spPr>
              <a:xfrm>
                <a:off x="4800600" y="2208276"/>
                <a:ext cx="2011680" cy="384048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5" name="Text 34">
                <a:extLst>
                  <a:ext uri="{FF2B5EF4-FFF2-40B4-BE49-F238E27FC236}">
                    <a16:creationId xmlns:a16="http://schemas.microsoft.com/office/drawing/2014/main" id="{1838F68E-0A31-C041-D5F1-0C33889053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2208276"/>
                <a:ext cx="2011680" cy="384048"/>
              </a:xfrm>
              <a:prstGeom prst="rect">
                <a:avLst/>
              </a:prstGeom>
              <a:blipFill>
                <a:blip r:embed="rId14"/>
                <a:stretch>
                  <a:fillRect t="-3968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 6">
                <a:extLst>
                  <a:ext uri="{FF2B5EF4-FFF2-40B4-BE49-F238E27FC236}">
                    <a16:creationId xmlns:a16="http://schemas.microsoft.com/office/drawing/2014/main" id="{FE4B069C-6526-CF4E-28EE-5B6A82C942B2}"/>
                  </a:ext>
                </a:extLst>
              </p:cNvPr>
              <p:cNvSpPr/>
              <p:nvPr/>
            </p:nvSpPr>
            <p:spPr>
              <a:xfrm>
                <a:off x="1645463" y="287121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7" name="Text 6">
                <a:extLst>
                  <a:ext uri="{FF2B5EF4-FFF2-40B4-BE49-F238E27FC236}">
                    <a16:creationId xmlns:a16="http://schemas.microsoft.com/office/drawing/2014/main" id="{FE4B069C-6526-CF4E-28EE-5B6A82C942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463" y="2871216"/>
                <a:ext cx="2011680" cy="5029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269830"/>
            <a:ext cx="6468542" cy="65881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Single Score versus Sample Mean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Single-Sample T-Test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endParaRPr lang="en-US" sz="3200" dirty="0"/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023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66C81-C7DB-7F4D-9FD6-22D25007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of a T-Test</a:t>
            </a:r>
          </a:p>
        </p:txBody>
      </p:sp>
      <p:pic>
        <p:nvPicPr>
          <p:cNvPr id="1028" name="Picture 4" descr="PPT - t distribution with 20 degrees of freedom PowerPoint Presentation -  ID:2862804">
            <a:extLst>
              <a:ext uri="{FF2B5EF4-FFF2-40B4-BE49-F238E27FC236}">
                <a16:creationId xmlns:a16="http://schemas.microsoft.com/office/drawing/2014/main" id="{E7B5F326-3D91-6F43-88E4-99CE4D36D2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88"/>
          <a:stretch/>
        </p:blipFill>
        <p:spPr bwMode="auto">
          <a:xfrm>
            <a:off x="6067578" y="3083442"/>
            <a:ext cx="6124421" cy="3629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4F66760-42F5-6C42-8B8A-13F64F99B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229378" cy="488708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Assumptions are criteria that need to be met for a test to be applied:</a:t>
            </a:r>
          </a:p>
          <a:p>
            <a:r>
              <a:rPr lang="en-US" dirty="0"/>
              <a:t>Random sampling</a:t>
            </a:r>
          </a:p>
          <a:p>
            <a:r>
              <a:rPr lang="en-US" dirty="0"/>
              <a:t>DV is normally distributed in population</a:t>
            </a:r>
          </a:p>
          <a:p>
            <a:r>
              <a:rPr lang="en-US" dirty="0"/>
              <a:t>Data are scores</a:t>
            </a:r>
          </a:p>
          <a:p>
            <a:r>
              <a:rPr lang="en-US" i="1" dirty="0"/>
              <a:t>n </a:t>
            </a:r>
            <a:r>
              <a:rPr lang="en-CA" dirty="0"/>
              <a:t>≥ 7</a:t>
            </a:r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726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A19D9-A4DF-F6B5-AE40-B18BF1A0C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8BC0F-B1A1-BDA2-C50B-413E7503A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6596"/>
            <a:ext cx="5257800" cy="6271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1:</a:t>
            </a:r>
          </a:p>
          <a:p>
            <a:r>
              <a:rPr lang="en-US" b="1" i="1" dirty="0"/>
              <a:t>H</a:t>
            </a:r>
            <a:r>
              <a:rPr lang="en-US" b="1" i="1" baseline="-25000" dirty="0"/>
              <a:t>0</a:t>
            </a:r>
            <a:r>
              <a:rPr lang="en-US" b="1" dirty="0"/>
              <a:t>: </a:t>
            </a:r>
            <a:r>
              <a:rPr lang="el-GR" i="1" dirty="0"/>
              <a:t>μ</a:t>
            </a:r>
            <a:r>
              <a:rPr lang="en-CA" dirty="0"/>
              <a:t> =</a:t>
            </a:r>
            <a:r>
              <a:rPr lang="el-GR" dirty="0"/>
              <a:t> </a:t>
            </a:r>
            <a:r>
              <a:rPr lang="en-US" dirty="0"/>
              <a:t>75.00</a:t>
            </a:r>
            <a:endParaRPr lang="en-CA" dirty="0"/>
          </a:p>
          <a:p>
            <a:r>
              <a:rPr lang="en-US" b="1" i="1" dirty="0"/>
              <a:t>H</a:t>
            </a:r>
            <a:r>
              <a:rPr lang="en-US" b="1" i="1" baseline="-25000" dirty="0"/>
              <a:t>1</a:t>
            </a:r>
            <a:r>
              <a:rPr lang="en-US" b="1" dirty="0"/>
              <a:t>: </a:t>
            </a:r>
            <a:r>
              <a:rPr lang="el-GR" i="1" dirty="0"/>
              <a:t>μ</a:t>
            </a:r>
            <a:r>
              <a:rPr lang="en-CA" dirty="0"/>
              <a:t> ≠ </a:t>
            </a:r>
            <a:r>
              <a:rPr lang="en-US" dirty="0"/>
              <a:t>75.00</a:t>
            </a:r>
            <a:endParaRPr lang="en-CA" dirty="0"/>
          </a:p>
          <a:p>
            <a:pPr lvl="1"/>
            <a:r>
              <a:rPr lang="en-CA" dirty="0"/>
              <a:t>Thus, two-tailed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Step 2: </a:t>
            </a:r>
            <a:endParaRPr lang="en-US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Type of Research Design</a:t>
            </a:r>
            <a:r>
              <a:rPr lang="en-US" sz="1200" dirty="0"/>
              <a:t>: Single-Sample Design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Model of Hypothesis Testing</a:t>
            </a:r>
            <a:r>
              <a:rPr lang="en-US" sz="1200" dirty="0"/>
              <a:t>: Random Sampling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Nature of Data (Scales of measurement)</a:t>
            </a:r>
            <a:r>
              <a:rPr lang="en-US" sz="1200" dirty="0"/>
              <a:t>: Score data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Statistic Being Analyzed</a:t>
            </a:r>
            <a:r>
              <a:rPr lang="en-US" sz="1200" dirty="0"/>
              <a:t>: </a:t>
            </a:r>
            <a:r>
              <a:rPr lang="en-CA" sz="1200" dirty="0"/>
              <a:t>x̅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Information about the Population</a:t>
            </a:r>
            <a:r>
              <a:rPr lang="en-US" sz="1200" dirty="0"/>
              <a:t>: </a:t>
            </a:r>
            <a:r>
              <a:rPr lang="el-GR" sz="1200" dirty="0"/>
              <a:t>μ</a:t>
            </a:r>
            <a:r>
              <a:rPr lang="en-US" sz="1200" dirty="0"/>
              <a:t> = 75.00, σ = unknown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Sample Size</a:t>
            </a:r>
            <a:r>
              <a:rPr lang="en-US" sz="1200" dirty="0"/>
              <a:t>: </a:t>
            </a:r>
            <a:r>
              <a:rPr lang="en-US" sz="1200" i="1" dirty="0"/>
              <a:t>n</a:t>
            </a:r>
            <a:r>
              <a:rPr lang="en-US" sz="1200" dirty="0"/>
              <a:t> = 25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Shape</a:t>
            </a:r>
            <a:r>
              <a:rPr lang="en-US" sz="1200" dirty="0"/>
              <a:t>: Normally distributed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Step 3:</a:t>
            </a:r>
          </a:p>
          <a:p>
            <a:r>
              <a:rPr lang="en-CA" i="1" dirty="0"/>
              <a:t>p(</a:t>
            </a:r>
            <a:r>
              <a:rPr lang="el-GR" i="1" dirty="0"/>
              <a:t>α</a:t>
            </a:r>
            <a:r>
              <a:rPr lang="en-CA" i="1" dirty="0"/>
              <a:t>) </a:t>
            </a:r>
            <a:r>
              <a:rPr lang="en-CA" dirty="0"/>
              <a:t>= .05, </a:t>
            </a:r>
            <a:r>
              <a:rPr lang="en-CA" i="1" dirty="0"/>
              <a:t>t(crit)</a:t>
            </a:r>
            <a:r>
              <a:rPr lang="en-CA" dirty="0"/>
              <a:t> = 2.0639</a:t>
            </a:r>
            <a:endParaRPr lang="en-US" dirty="0"/>
          </a:p>
          <a:p>
            <a:pPr marL="0" indent="0">
              <a:buNone/>
            </a:pPr>
            <a:endParaRPr lang="en-CA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EB66FE6-FFC1-9B10-4D92-5585764F09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633816"/>
                <a:ext cx="5257800" cy="62714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dirty="0"/>
                  <a:t>Step 4:</a:t>
                </a:r>
              </a:p>
              <a:p>
                <a:r>
                  <a:rPr lang="en-US" i="1" dirty="0"/>
                  <a:t>t</a:t>
                </a:r>
                <a:r>
                  <a:rPr lang="en-US" dirty="0"/>
                  <a:t>(</a:t>
                </a:r>
                <a:r>
                  <a:rPr lang="en-US" dirty="0" err="1"/>
                  <a:t>obs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0000</m:t>
                        </m:r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0000</m:t>
                        </m:r>
                      </m:num>
                      <m:den>
                        <m:r>
                          <m:rPr>
                            <m:nor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2.4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00</m:t>
                        </m:r>
                        <m:r>
                          <m:rPr>
                            <m:nor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US" dirty="0"/>
                  <a:t>  = 2.9167</a:t>
                </a:r>
              </a:p>
              <a:p>
                <a:r>
                  <a:rPr lang="en-US" i="1" dirty="0"/>
                  <a:t>p</a:t>
                </a:r>
                <a:r>
                  <a:rPr lang="en-US" dirty="0"/>
                  <a:t>(</a:t>
                </a:r>
                <a:r>
                  <a:rPr lang="en-US" i="1" dirty="0" err="1"/>
                  <a:t>obs</a:t>
                </a:r>
                <a:r>
                  <a:rPr lang="en-US" dirty="0"/>
                  <a:t>) &lt; .01</a:t>
                </a:r>
                <a:endParaRPr lang="en-US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CA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CA" b="1" dirty="0"/>
                  <a:t>Step 5: </a:t>
                </a:r>
                <a:endParaRPr lang="en-US" b="1" dirty="0"/>
              </a:p>
              <a:p>
                <a:r>
                  <a:rPr lang="en-US" sz="2000" i="1" dirty="0"/>
                  <a:t>t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CA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|2.9167| &gt; </a:t>
                </a:r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(crit) = |2.0639|</a:t>
                </a:r>
              </a:p>
              <a:p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 &lt; .01 &lt;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CA" sz="2000" i="1" dirty="0"/>
                  <a:t>p(</a:t>
                </a:r>
                <a:r>
                  <a:rPr lang="el-GR" sz="2000" i="1" dirty="0"/>
                  <a:t>α</a:t>
                </a:r>
                <a:r>
                  <a:rPr lang="en-CA" sz="2000" i="1" dirty="0"/>
                  <a:t>) </a:t>
                </a:r>
                <a:r>
                  <a:rPr lang="en-CA" sz="2000" dirty="0"/>
                  <a:t>= .05</a:t>
                </a:r>
              </a:p>
              <a:p>
                <a:pPr lvl="1"/>
                <a:r>
                  <a:rPr lang="en-CA" sz="1600" dirty="0"/>
                  <a:t>Reject the null, accept the alternative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b="1" dirty="0"/>
                  <a:t>Step 6: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en-US" sz="2000" dirty="0"/>
                  <a:t>The stats problem generator group’s final exam scores (</a:t>
                </a:r>
                <a:r>
                  <a:rPr lang="en-CA" sz="2000" i="1" dirty="0"/>
                  <a:t>x̅ </a:t>
                </a:r>
                <a:r>
                  <a:rPr lang="en-CA" sz="2000" dirty="0"/>
                  <a:t>= 82.00%, </a:t>
                </a:r>
                <a:r>
                  <a:rPr lang="en-CA" sz="2000" i="1" dirty="0"/>
                  <a:t>s</a:t>
                </a:r>
                <a:r>
                  <a:rPr lang="en-CA" sz="2000" dirty="0"/>
                  <a:t> = 12.00%, </a:t>
                </a:r>
                <a:r>
                  <a:rPr lang="en-CA" sz="2000" i="1" dirty="0"/>
                  <a:t>n </a:t>
                </a:r>
                <a:r>
                  <a:rPr lang="en-CA" sz="2000" dirty="0"/>
                  <a:t>= 25</a:t>
                </a:r>
                <a:r>
                  <a:rPr lang="en-US" sz="2000" dirty="0"/>
                  <a:t>) were statistically higher than the average of the class (</a:t>
                </a:r>
                <a:r>
                  <a:rPr lang="el-GR" sz="2000" dirty="0"/>
                  <a:t>μ</a:t>
                </a:r>
                <a:r>
                  <a:rPr lang="en-CA" sz="2000" dirty="0"/>
                  <a:t> = 75.00%</a:t>
                </a:r>
                <a:r>
                  <a:rPr lang="en-US" sz="2000" dirty="0"/>
                  <a:t>), </a:t>
                </a:r>
                <a:r>
                  <a:rPr lang="en-US" sz="2000" i="1" dirty="0"/>
                  <a:t>t</a:t>
                </a:r>
                <a:r>
                  <a:rPr lang="en-US" sz="2000" dirty="0"/>
                  <a:t>(24) = 2.92, </a:t>
                </a:r>
                <a:r>
                  <a:rPr lang="en-US" sz="2000" i="1" dirty="0"/>
                  <a:t>p</a:t>
                </a:r>
                <a:r>
                  <a:rPr lang="en-US" sz="2000" dirty="0"/>
                  <a:t> &lt; .01. The problem generator increased the group’s exam score.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CA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EB66FE6-FFC1-9B10-4D92-5585764F0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33816"/>
                <a:ext cx="5257800" cy="6271404"/>
              </a:xfrm>
              <a:prstGeom prst="rect">
                <a:avLst/>
              </a:prstGeom>
              <a:blipFill>
                <a:blip r:embed="rId2"/>
                <a:stretch>
                  <a:fillRect l="-2317" t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0E4A9C0-604F-92AC-E9B9-C6230F8EBD34}"/>
              </a:ext>
            </a:extLst>
          </p:cNvPr>
          <p:cNvSpPr/>
          <p:nvPr/>
        </p:nvSpPr>
        <p:spPr>
          <a:xfrm>
            <a:off x="838200" y="2961861"/>
            <a:ext cx="4588565" cy="200770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B1D4611-B3F7-49AF-BEF3-8DAE84F3CFA6}"/>
              </a:ext>
            </a:extLst>
          </p:cNvPr>
          <p:cNvSpPr/>
          <p:nvPr/>
        </p:nvSpPr>
        <p:spPr>
          <a:xfrm>
            <a:off x="838199" y="5299363"/>
            <a:ext cx="4588565" cy="125654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CE6D9DC-2367-58D7-6B29-1D636E9EEBC3}"/>
              </a:ext>
            </a:extLst>
          </p:cNvPr>
          <p:cNvSpPr/>
          <p:nvPr/>
        </p:nvSpPr>
        <p:spPr>
          <a:xfrm>
            <a:off x="6096000" y="350279"/>
            <a:ext cx="4588565" cy="200770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8741460-0072-16CC-DB4C-396375555B11}"/>
              </a:ext>
            </a:extLst>
          </p:cNvPr>
          <p:cNvSpPr/>
          <p:nvPr/>
        </p:nvSpPr>
        <p:spPr>
          <a:xfrm>
            <a:off x="6095999" y="4381536"/>
            <a:ext cx="5379077" cy="232191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08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DA562-CADD-2D1E-4BF5-93E8E1E8A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2332-CF64-3383-82C3-209575E82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6596"/>
            <a:ext cx="5257800" cy="6271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1:</a:t>
            </a:r>
          </a:p>
          <a:p>
            <a:r>
              <a:rPr lang="en-US" b="1" i="1" dirty="0"/>
              <a:t>H</a:t>
            </a:r>
            <a:r>
              <a:rPr lang="en-US" b="1" i="1" baseline="-25000" dirty="0"/>
              <a:t>0</a:t>
            </a:r>
            <a:r>
              <a:rPr lang="en-US" b="1" dirty="0"/>
              <a:t>: </a:t>
            </a:r>
            <a:r>
              <a:rPr lang="el-GR" i="1" dirty="0"/>
              <a:t>μ</a:t>
            </a:r>
            <a:r>
              <a:rPr lang="en-CA" dirty="0"/>
              <a:t> =</a:t>
            </a:r>
            <a:r>
              <a:rPr lang="el-GR" dirty="0"/>
              <a:t> </a:t>
            </a:r>
            <a:r>
              <a:rPr lang="en-US" dirty="0"/>
              <a:t>75.00</a:t>
            </a:r>
            <a:endParaRPr lang="en-CA" dirty="0"/>
          </a:p>
          <a:p>
            <a:r>
              <a:rPr lang="en-US" b="1" i="1" dirty="0"/>
              <a:t>H</a:t>
            </a:r>
            <a:r>
              <a:rPr lang="en-US" b="1" i="1" baseline="-25000" dirty="0"/>
              <a:t>1</a:t>
            </a:r>
            <a:r>
              <a:rPr lang="en-US" b="1" dirty="0"/>
              <a:t>: </a:t>
            </a:r>
            <a:r>
              <a:rPr lang="el-GR" i="1" dirty="0"/>
              <a:t>μ</a:t>
            </a:r>
            <a:r>
              <a:rPr lang="en-CA" dirty="0"/>
              <a:t> ≠ </a:t>
            </a:r>
            <a:r>
              <a:rPr lang="en-US" dirty="0"/>
              <a:t>75.00</a:t>
            </a:r>
            <a:endParaRPr lang="en-CA" dirty="0"/>
          </a:p>
          <a:p>
            <a:pPr lvl="1"/>
            <a:r>
              <a:rPr lang="en-CA" dirty="0"/>
              <a:t>Thus, two-tailed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Step 2: </a:t>
            </a:r>
            <a:endParaRPr lang="en-US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Type of Research Design</a:t>
            </a:r>
            <a:r>
              <a:rPr lang="en-US" sz="1200" dirty="0"/>
              <a:t>: Single-Sample Design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Model of Hypothesis Testing</a:t>
            </a:r>
            <a:r>
              <a:rPr lang="en-US" sz="1200" dirty="0"/>
              <a:t>: Random Sampling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Nature of Data (Scales of measurement)</a:t>
            </a:r>
            <a:r>
              <a:rPr lang="en-US" sz="1200" dirty="0"/>
              <a:t>: Score data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Statistic Being Analyzed</a:t>
            </a:r>
            <a:r>
              <a:rPr lang="en-US" sz="1200" dirty="0"/>
              <a:t>: </a:t>
            </a:r>
            <a:r>
              <a:rPr lang="en-CA" sz="1200" dirty="0"/>
              <a:t>x̅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Information about the Population</a:t>
            </a:r>
            <a:r>
              <a:rPr lang="en-US" sz="1200" dirty="0"/>
              <a:t>: </a:t>
            </a:r>
            <a:r>
              <a:rPr lang="el-GR" sz="1200" dirty="0"/>
              <a:t>μ</a:t>
            </a:r>
            <a:r>
              <a:rPr lang="en-US" sz="1200" dirty="0"/>
              <a:t> = 75.00, </a:t>
            </a:r>
            <a:r>
              <a:rPr lang="en-US" sz="1200" dirty="0">
                <a:solidFill>
                  <a:srgbClr val="FF0000"/>
                </a:solidFill>
              </a:rPr>
              <a:t>σ = unknown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Sample Size</a:t>
            </a:r>
            <a:r>
              <a:rPr lang="en-US" sz="1200" dirty="0"/>
              <a:t>: </a:t>
            </a:r>
            <a:r>
              <a:rPr lang="en-US" sz="1200" i="1" dirty="0"/>
              <a:t>n</a:t>
            </a:r>
            <a:r>
              <a:rPr lang="en-US" sz="1200" dirty="0"/>
              <a:t> = 25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Shape</a:t>
            </a:r>
            <a:r>
              <a:rPr lang="en-US" sz="1200" dirty="0"/>
              <a:t>: Normally distributed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Step 3:</a:t>
            </a:r>
          </a:p>
          <a:p>
            <a:r>
              <a:rPr lang="en-CA" i="1" dirty="0"/>
              <a:t>p(</a:t>
            </a:r>
            <a:r>
              <a:rPr lang="el-GR" i="1" dirty="0"/>
              <a:t>α</a:t>
            </a:r>
            <a:r>
              <a:rPr lang="en-CA" i="1" dirty="0"/>
              <a:t>) </a:t>
            </a:r>
            <a:r>
              <a:rPr lang="en-CA" dirty="0"/>
              <a:t>= .05, </a:t>
            </a:r>
            <a:r>
              <a:rPr lang="en-CA" i="1" dirty="0">
                <a:solidFill>
                  <a:srgbClr val="FF0000"/>
                </a:solidFill>
              </a:rPr>
              <a:t>t(crit)</a:t>
            </a:r>
            <a:r>
              <a:rPr lang="en-CA" dirty="0">
                <a:solidFill>
                  <a:srgbClr val="FF0000"/>
                </a:solidFill>
              </a:rPr>
              <a:t> = 2.0639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CA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B61714D-965C-E38C-E567-7A1D81E476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633816"/>
                <a:ext cx="5257800" cy="62714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dirty="0"/>
                  <a:t>Step 4:</a:t>
                </a:r>
              </a:p>
              <a:p>
                <a:r>
                  <a:rPr lang="en-US" i="1" dirty="0">
                    <a:solidFill>
                      <a:srgbClr val="FF0000"/>
                    </a:solidFill>
                  </a:rPr>
                  <a:t>t</a:t>
                </a:r>
                <a:r>
                  <a:rPr lang="en-US" dirty="0">
                    <a:solidFill>
                      <a:srgbClr val="FF0000"/>
                    </a:solidFill>
                  </a:rPr>
                  <a:t>(</a:t>
                </a:r>
                <a:r>
                  <a:rPr lang="en-US" dirty="0" err="1">
                    <a:solidFill>
                      <a:srgbClr val="FF0000"/>
                    </a:solidFill>
                  </a:rPr>
                  <a:t>obs</a:t>
                </a:r>
                <a:r>
                  <a:rPr lang="en-US" dirty="0">
                    <a:solidFill>
                      <a:srgbClr val="FF0000"/>
                    </a:solidFill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82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0000</m:t>
                        </m:r>
                        <m:r>
                          <a:rPr lang="en-CA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CA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0000</m:t>
                        </m:r>
                      </m:num>
                      <m:den>
                        <m:r>
                          <m:rPr>
                            <m:nor/>
                          </m:rPr>
                          <a:rPr lang="en-CA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2.4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  <m:r>
                          <m:rPr>
                            <m:nor/>
                          </m:rPr>
                          <a:rPr lang="en-CA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 = 2.9167</a:t>
                </a:r>
              </a:p>
              <a:p>
                <a:r>
                  <a:rPr lang="en-US" i="1" dirty="0">
                    <a:solidFill>
                      <a:srgbClr val="FF0000"/>
                    </a:solidFill>
                  </a:rPr>
                  <a:t>p</a:t>
                </a:r>
                <a:r>
                  <a:rPr lang="en-US" dirty="0">
                    <a:solidFill>
                      <a:srgbClr val="FF0000"/>
                    </a:solidFill>
                  </a:rPr>
                  <a:t>(</a:t>
                </a:r>
                <a:r>
                  <a:rPr lang="en-US" i="1" dirty="0" err="1">
                    <a:solidFill>
                      <a:srgbClr val="FF0000"/>
                    </a:solidFill>
                  </a:rPr>
                  <a:t>obs</a:t>
                </a:r>
                <a:r>
                  <a:rPr lang="en-US" dirty="0">
                    <a:solidFill>
                      <a:srgbClr val="FF0000"/>
                    </a:solidFill>
                  </a:rPr>
                  <a:t>) &lt; .01</a:t>
                </a:r>
                <a:endParaRPr lang="en-US" i="1" dirty="0">
                  <a:solidFill>
                    <a:srgbClr val="FF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CA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CA" b="1" dirty="0"/>
                  <a:t>Step 5: </a:t>
                </a:r>
                <a:endParaRPr lang="en-US" b="1" dirty="0"/>
              </a:p>
              <a:p>
                <a:r>
                  <a:rPr lang="en-US" sz="2000" i="1" dirty="0"/>
                  <a:t>t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CA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|2.9167| &gt; </a:t>
                </a:r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(crit) = |2.0639|</a:t>
                </a:r>
              </a:p>
              <a:p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 &lt; .01 &lt;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CA" sz="2000" i="1" dirty="0"/>
                  <a:t>p(</a:t>
                </a:r>
                <a:r>
                  <a:rPr lang="el-GR" sz="2000" i="1" dirty="0"/>
                  <a:t>α</a:t>
                </a:r>
                <a:r>
                  <a:rPr lang="en-CA" sz="2000" i="1" dirty="0"/>
                  <a:t>) </a:t>
                </a:r>
                <a:r>
                  <a:rPr lang="en-CA" sz="2000" dirty="0"/>
                  <a:t>= .05</a:t>
                </a:r>
              </a:p>
              <a:p>
                <a:pPr lvl="1"/>
                <a:r>
                  <a:rPr lang="en-CA" sz="1600" dirty="0"/>
                  <a:t>Reject the null, accept the alternative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b="1" dirty="0"/>
                  <a:t>Step 6: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en-US" sz="2000" dirty="0"/>
                  <a:t>The stats problem generator group’s final exam scores (</a:t>
                </a:r>
                <a:r>
                  <a:rPr lang="en-CA" sz="2000" i="1" dirty="0"/>
                  <a:t>x̅ </a:t>
                </a:r>
                <a:r>
                  <a:rPr lang="en-CA" sz="2000" dirty="0"/>
                  <a:t>= 82.00%, </a:t>
                </a:r>
                <a:r>
                  <a:rPr lang="en-CA" sz="2000" i="1" dirty="0">
                    <a:solidFill>
                      <a:srgbClr val="FF0000"/>
                    </a:solidFill>
                  </a:rPr>
                  <a:t>s</a:t>
                </a:r>
                <a:r>
                  <a:rPr lang="en-CA" sz="2000" dirty="0">
                    <a:solidFill>
                      <a:srgbClr val="FF0000"/>
                    </a:solidFill>
                  </a:rPr>
                  <a:t> = 12.00%</a:t>
                </a:r>
                <a:r>
                  <a:rPr lang="en-CA" sz="2000" dirty="0"/>
                  <a:t>, </a:t>
                </a:r>
                <a:r>
                  <a:rPr lang="en-CA" sz="2000" i="1" dirty="0"/>
                  <a:t>n </a:t>
                </a:r>
                <a:r>
                  <a:rPr lang="en-CA" sz="2000" dirty="0"/>
                  <a:t>= 25</a:t>
                </a:r>
                <a:r>
                  <a:rPr lang="en-US" sz="2000" dirty="0"/>
                  <a:t>) were statistically higher than the average of the class (</a:t>
                </a:r>
                <a:r>
                  <a:rPr lang="el-GR" sz="2000" dirty="0"/>
                  <a:t>μ</a:t>
                </a:r>
                <a:r>
                  <a:rPr lang="en-CA" sz="2000" dirty="0"/>
                  <a:t> = 75.00%</a:t>
                </a:r>
                <a:r>
                  <a:rPr lang="en-US" sz="2000" dirty="0"/>
                  <a:t>), </a:t>
                </a:r>
                <a:r>
                  <a:rPr lang="en-US" sz="2000" i="1" dirty="0">
                    <a:solidFill>
                      <a:srgbClr val="FF0000"/>
                    </a:solidFill>
                  </a:rPr>
                  <a:t>t</a:t>
                </a:r>
                <a:r>
                  <a:rPr lang="en-US" sz="2000" dirty="0">
                    <a:solidFill>
                      <a:srgbClr val="FF0000"/>
                    </a:solidFill>
                  </a:rPr>
                  <a:t>(24)</a:t>
                </a:r>
                <a:r>
                  <a:rPr lang="en-US" sz="2000" dirty="0"/>
                  <a:t> = 2.92, </a:t>
                </a:r>
                <a:r>
                  <a:rPr lang="en-US" sz="2000" i="1" dirty="0">
                    <a:solidFill>
                      <a:srgbClr val="FF0000"/>
                    </a:solidFill>
                  </a:rPr>
                  <a:t>p</a:t>
                </a:r>
                <a:r>
                  <a:rPr lang="en-US" sz="2000" dirty="0">
                    <a:solidFill>
                      <a:srgbClr val="FF0000"/>
                    </a:solidFill>
                  </a:rPr>
                  <a:t> &lt; .01</a:t>
                </a:r>
                <a:r>
                  <a:rPr lang="en-US" sz="2000" dirty="0"/>
                  <a:t>. The problem generator increased the group’s exam score.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CA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B61714D-965C-E38C-E567-7A1D81E47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33816"/>
                <a:ext cx="5257800" cy="6271404"/>
              </a:xfrm>
              <a:prstGeom prst="rect">
                <a:avLst/>
              </a:prstGeom>
              <a:blipFill>
                <a:blip r:embed="rId2"/>
                <a:stretch>
                  <a:fillRect l="-2317" t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37D5A1B-BFE2-5EAA-B33E-4B9DF90E9997}"/>
              </a:ext>
            </a:extLst>
          </p:cNvPr>
          <p:cNvSpPr/>
          <p:nvPr/>
        </p:nvSpPr>
        <p:spPr>
          <a:xfrm>
            <a:off x="838200" y="2961861"/>
            <a:ext cx="4588565" cy="200770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4369C69-0C12-2BF4-0897-0575F52B6CDD}"/>
              </a:ext>
            </a:extLst>
          </p:cNvPr>
          <p:cNvSpPr/>
          <p:nvPr/>
        </p:nvSpPr>
        <p:spPr>
          <a:xfrm>
            <a:off x="838199" y="5299363"/>
            <a:ext cx="4588565" cy="125654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4BD805C-2C31-EC74-1458-17401DBBDD4C}"/>
              </a:ext>
            </a:extLst>
          </p:cNvPr>
          <p:cNvSpPr/>
          <p:nvPr/>
        </p:nvSpPr>
        <p:spPr>
          <a:xfrm>
            <a:off x="6096000" y="350279"/>
            <a:ext cx="4588565" cy="200770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AD6B11C-9DFD-5A92-D0A1-CC8802BB0AF9}"/>
              </a:ext>
            </a:extLst>
          </p:cNvPr>
          <p:cNvSpPr/>
          <p:nvPr/>
        </p:nvSpPr>
        <p:spPr>
          <a:xfrm>
            <a:off x="6095999" y="4381536"/>
            <a:ext cx="5379077" cy="232191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30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22E6D-D057-A647-BB2F-24B9AF0C5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 – No Changes 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5847B1B-AABC-E341-8F28-A2D6CE028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588428"/>
              </p:ext>
            </p:extLst>
          </p:nvPr>
        </p:nvGraphicFramePr>
        <p:xfrm>
          <a:off x="1262742" y="1690688"/>
          <a:ext cx="10196946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047">
                  <a:extLst>
                    <a:ext uri="{9D8B030D-6E8A-4147-A177-3AD203B41FA5}">
                      <a16:colId xmlns:a16="http://schemas.microsoft.com/office/drawing/2014/main" val="4004983389"/>
                    </a:ext>
                  </a:extLst>
                </a:gridCol>
                <a:gridCol w="2949112">
                  <a:extLst>
                    <a:ext uri="{9D8B030D-6E8A-4147-A177-3AD203B41FA5}">
                      <a16:colId xmlns:a16="http://schemas.microsoft.com/office/drawing/2014/main" val="3608128689"/>
                    </a:ext>
                  </a:extLst>
                </a:gridCol>
                <a:gridCol w="2793484">
                  <a:extLst>
                    <a:ext uri="{9D8B030D-6E8A-4147-A177-3AD203B41FA5}">
                      <a16:colId xmlns:a16="http://schemas.microsoft.com/office/drawing/2014/main" val="3990134810"/>
                    </a:ext>
                  </a:extLst>
                </a:gridCol>
                <a:gridCol w="2810303">
                  <a:extLst>
                    <a:ext uri="{9D8B030D-6E8A-4147-A177-3AD203B41FA5}">
                      <a16:colId xmlns:a16="http://schemas.microsoft.com/office/drawing/2014/main" val="3783285588"/>
                    </a:ext>
                  </a:extLst>
                </a:gridCol>
              </a:tblGrid>
              <a:tr h="5207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Single Participant Design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Single Sample Design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(parameters known)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Single Sample Design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sz="2400" dirty="0" err="1">
                          <a:solidFill>
                            <a:srgbClr val="FF0000"/>
                          </a:solidFill>
                        </a:rPr>
                        <a:t>σ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 unknown)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681456"/>
                  </a:ext>
                </a:extLst>
              </a:tr>
              <a:tr h="52073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Non-Directional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1" dirty="0"/>
                        <a:t>H</a:t>
                      </a:r>
                      <a:r>
                        <a:rPr lang="en-US" sz="2400" b="1" i="1" baseline="-25000" dirty="0"/>
                        <a:t>0</a:t>
                      </a:r>
                      <a:r>
                        <a:rPr lang="en-US" sz="2400" b="1" dirty="0"/>
                        <a:t>: </a:t>
                      </a:r>
                      <a:r>
                        <a:rPr lang="el-GR" sz="2400" i="1" dirty="0"/>
                        <a:t>μ</a:t>
                      </a:r>
                      <a:r>
                        <a:rPr lang="en-CA" sz="2400" dirty="0"/>
                        <a:t> =</a:t>
                      </a:r>
                      <a:r>
                        <a:rPr lang="el-GR" sz="2400" dirty="0"/>
                        <a:t> </a:t>
                      </a:r>
                      <a:r>
                        <a:rPr lang="en-US" sz="2400" dirty="0"/>
                        <a:t>75.00</a:t>
                      </a:r>
                      <a:endParaRPr lang="en-CA" sz="2400" dirty="0"/>
                    </a:p>
                    <a:p>
                      <a:pPr algn="ctr"/>
                      <a:r>
                        <a:rPr lang="en-US" sz="2400" b="1" i="1" dirty="0"/>
                        <a:t>H</a:t>
                      </a:r>
                      <a:r>
                        <a:rPr lang="en-US" sz="2400" b="1" i="1" baseline="-25000" dirty="0"/>
                        <a:t>1</a:t>
                      </a:r>
                      <a:r>
                        <a:rPr lang="en-US" sz="2400" b="1" dirty="0"/>
                        <a:t>: </a:t>
                      </a:r>
                      <a:r>
                        <a:rPr lang="el-GR" sz="2400" i="1" dirty="0"/>
                        <a:t>μ</a:t>
                      </a:r>
                      <a:r>
                        <a:rPr lang="en-CA" sz="2400" dirty="0"/>
                        <a:t> ≠ </a:t>
                      </a:r>
                      <a:r>
                        <a:rPr lang="en-US" sz="2400" dirty="0"/>
                        <a:t>75.00</a:t>
                      </a:r>
                      <a:endParaRPr lang="en-CA" sz="2400" dirty="0"/>
                    </a:p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1" dirty="0"/>
                        <a:t>H</a:t>
                      </a:r>
                      <a:r>
                        <a:rPr lang="en-US" sz="2400" b="1" i="1" baseline="-25000" dirty="0"/>
                        <a:t>0</a:t>
                      </a:r>
                      <a:r>
                        <a:rPr lang="en-US" sz="2400" b="1" dirty="0"/>
                        <a:t>: </a:t>
                      </a:r>
                      <a:r>
                        <a:rPr lang="el-GR" sz="2400" i="1" dirty="0"/>
                        <a:t>μ</a:t>
                      </a:r>
                      <a:r>
                        <a:rPr lang="en-CA" sz="2400" dirty="0"/>
                        <a:t> =</a:t>
                      </a:r>
                      <a:r>
                        <a:rPr lang="el-GR" sz="2400" dirty="0"/>
                        <a:t> </a:t>
                      </a:r>
                      <a:r>
                        <a:rPr lang="en-US" sz="2400" dirty="0"/>
                        <a:t>75.00</a:t>
                      </a:r>
                      <a:endParaRPr lang="en-CA" sz="2400" dirty="0"/>
                    </a:p>
                    <a:p>
                      <a:pPr algn="ctr"/>
                      <a:r>
                        <a:rPr lang="en-US" sz="2400" b="1" i="1" dirty="0"/>
                        <a:t>H</a:t>
                      </a:r>
                      <a:r>
                        <a:rPr lang="en-US" sz="2400" b="1" i="1" baseline="-25000" dirty="0"/>
                        <a:t>1</a:t>
                      </a:r>
                      <a:r>
                        <a:rPr lang="en-US" sz="2400" b="1" dirty="0"/>
                        <a:t>: </a:t>
                      </a:r>
                      <a:r>
                        <a:rPr lang="el-GR" sz="2400" i="1" dirty="0"/>
                        <a:t>μ</a:t>
                      </a:r>
                      <a:r>
                        <a:rPr lang="en-CA" sz="2400" dirty="0"/>
                        <a:t> ≠ </a:t>
                      </a:r>
                      <a:r>
                        <a:rPr lang="en-US" sz="2400" dirty="0"/>
                        <a:t>75.00</a:t>
                      </a:r>
                      <a:endParaRPr lang="en-CA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1" dirty="0"/>
                        <a:t>H</a:t>
                      </a:r>
                      <a:r>
                        <a:rPr lang="en-US" sz="2400" b="1" i="1" baseline="-25000" dirty="0"/>
                        <a:t>0</a:t>
                      </a:r>
                      <a:r>
                        <a:rPr lang="en-US" sz="2400" b="1" dirty="0"/>
                        <a:t>: </a:t>
                      </a:r>
                      <a:r>
                        <a:rPr lang="el-GR" sz="2400" i="1" dirty="0"/>
                        <a:t>μ</a:t>
                      </a:r>
                      <a:r>
                        <a:rPr lang="en-CA" sz="2400" dirty="0"/>
                        <a:t> =</a:t>
                      </a:r>
                      <a:r>
                        <a:rPr lang="el-GR" sz="2400" dirty="0"/>
                        <a:t> </a:t>
                      </a:r>
                      <a:r>
                        <a:rPr lang="en-US" sz="2400" dirty="0"/>
                        <a:t>75.00</a:t>
                      </a:r>
                      <a:endParaRPr lang="en-CA" sz="2400" dirty="0"/>
                    </a:p>
                    <a:p>
                      <a:pPr algn="ctr"/>
                      <a:r>
                        <a:rPr lang="en-US" sz="2400" b="1" i="1" dirty="0"/>
                        <a:t>H</a:t>
                      </a:r>
                      <a:r>
                        <a:rPr lang="en-US" sz="2400" b="1" i="1" baseline="-25000" dirty="0"/>
                        <a:t>1</a:t>
                      </a:r>
                      <a:r>
                        <a:rPr lang="en-US" sz="2400" b="1" dirty="0"/>
                        <a:t>: </a:t>
                      </a:r>
                      <a:r>
                        <a:rPr lang="el-GR" sz="2400" i="1" dirty="0"/>
                        <a:t>μ</a:t>
                      </a:r>
                      <a:r>
                        <a:rPr lang="en-CA" sz="2400" dirty="0"/>
                        <a:t> ≠ </a:t>
                      </a:r>
                      <a:r>
                        <a:rPr lang="en-US" sz="2400" dirty="0"/>
                        <a:t>75.00</a:t>
                      </a:r>
                      <a:endParaRPr lang="en-CA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834762"/>
                  </a:ext>
                </a:extLst>
              </a:tr>
              <a:tr h="52073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Directional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1" dirty="0">
                          <a:solidFill>
                            <a:schemeClr val="tx1"/>
                          </a:solidFill>
                        </a:rPr>
                        <a:t>H</a:t>
                      </a:r>
                      <a:r>
                        <a:rPr lang="en-US" sz="2400" b="1" i="1" baseline="-250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l-GR" sz="2400" i="1" dirty="0"/>
                        <a:t>μ</a:t>
                      </a:r>
                      <a:r>
                        <a:rPr lang="en-CA" sz="2400" dirty="0">
                          <a:solidFill>
                            <a:schemeClr val="tx1"/>
                          </a:solidFill>
                        </a:rPr>
                        <a:t> ≤ </a:t>
                      </a:r>
                      <a:r>
                        <a:rPr lang="en-US" sz="2400" dirty="0"/>
                        <a:t>75.00</a:t>
                      </a:r>
                      <a:r>
                        <a:rPr lang="en-CA" sz="2400" dirty="0">
                          <a:solidFill>
                            <a:schemeClr val="tx1"/>
                          </a:solidFill>
                        </a:rPr>
                        <a:t>    </a:t>
                      </a:r>
                    </a:p>
                    <a:p>
                      <a:pPr algn="ctr"/>
                      <a:r>
                        <a:rPr lang="en-US" sz="2400" b="1" i="1" dirty="0">
                          <a:solidFill>
                            <a:schemeClr val="tx1"/>
                          </a:solidFill>
                        </a:rPr>
                        <a:t>H</a:t>
                      </a:r>
                      <a:r>
                        <a:rPr lang="en-US" sz="2400" b="1" i="1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l-GR" sz="2400" i="1" dirty="0"/>
                        <a:t>μ</a:t>
                      </a:r>
                      <a:r>
                        <a:rPr lang="en-CA" sz="240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en-US" sz="2400" dirty="0"/>
                        <a:t>75.00</a:t>
                      </a:r>
                      <a:endParaRPr lang="en-CA" sz="2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CA" sz="24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1" dirty="0">
                          <a:solidFill>
                            <a:schemeClr val="tx1"/>
                          </a:solidFill>
                        </a:rPr>
                        <a:t>H</a:t>
                      </a:r>
                      <a:r>
                        <a:rPr lang="en-US" sz="2400" b="1" i="1" baseline="-250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l-GR" sz="2400" i="1" dirty="0"/>
                        <a:t>μ</a:t>
                      </a:r>
                      <a:r>
                        <a:rPr lang="en-CA" sz="2400" dirty="0">
                          <a:solidFill>
                            <a:schemeClr val="tx1"/>
                          </a:solidFill>
                        </a:rPr>
                        <a:t> ≥ </a:t>
                      </a:r>
                      <a:r>
                        <a:rPr lang="en-US" sz="2400" dirty="0"/>
                        <a:t>75.00</a:t>
                      </a:r>
                      <a:r>
                        <a:rPr lang="en-CA" sz="2400" dirty="0">
                          <a:solidFill>
                            <a:schemeClr val="tx1"/>
                          </a:solidFill>
                        </a:rPr>
                        <a:t>   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1" dirty="0">
                          <a:solidFill>
                            <a:schemeClr val="tx1"/>
                          </a:solidFill>
                        </a:rPr>
                        <a:t>H</a:t>
                      </a:r>
                      <a:r>
                        <a:rPr lang="en-US" sz="2400" b="1" i="1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l-GR" sz="2400" i="1" dirty="0"/>
                        <a:t>μ</a:t>
                      </a:r>
                      <a:r>
                        <a:rPr lang="en-CA" sz="2400" dirty="0">
                          <a:solidFill>
                            <a:schemeClr val="tx1"/>
                          </a:solidFill>
                        </a:rPr>
                        <a:t> &lt; </a:t>
                      </a:r>
                      <a:r>
                        <a:rPr lang="en-US" sz="2400" dirty="0"/>
                        <a:t>75.00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1" dirty="0">
                          <a:solidFill>
                            <a:schemeClr val="tx1"/>
                          </a:solidFill>
                        </a:rPr>
                        <a:t>H</a:t>
                      </a:r>
                      <a:r>
                        <a:rPr lang="en-US" sz="2400" b="1" i="1" baseline="-250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l-GR" sz="2400" i="1" dirty="0"/>
                        <a:t>μ</a:t>
                      </a:r>
                      <a:r>
                        <a:rPr lang="en-CA" sz="2400" dirty="0">
                          <a:solidFill>
                            <a:schemeClr val="tx1"/>
                          </a:solidFill>
                        </a:rPr>
                        <a:t> ≤ </a:t>
                      </a:r>
                      <a:r>
                        <a:rPr lang="en-US" sz="2400" dirty="0"/>
                        <a:t>75.00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400" b="1" i="1" dirty="0">
                          <a:solidFill>
                            <a:schemeClr val="tx1"/>
                          </a:solidFill>
                        </a:rPr>
                        <a:t>H</a:t>
                      </a:r>
                      <a:r>
                        <a:rPr lang="en-US" sz="2400" b="1" i="1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l-GR" sz="2400" i="1" dirty="0"/>
                        <a:t>μ</a:t>
                      </a:r>
                      <a:r>
                        <a:rPr lang="en-CA" sz="240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en-US" sz="2400" dirty="0"/>
                        <a:t>75.00</a:t>
                      </a:r>
                      <a:endParaRPr lang="en-CA" sz="24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i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1" dirty="0">
                          <a:solidFill>
                            <a:schemeClr val="tx1"/>
                          </a:solidFill>
                        </a:rPr>
                        <a:t>H</a:t>
                      </a:r>
                      <a:r>
                        <a:rPr lang="en-US" sz="2400" b="1" i="1" baseline="-250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l-GR" sz="2400" i="1" dirty="0"/>
                        <a:t>μ</a:t>
                      </a:r>
                      <a:r>
                        <a:rPr lang="en-CA" sz="2400" dirty="0">
                          <a:solidFill>
                            <a:schemeClr val="tx1"/>
                          </a:solidFill>
                        </a:rPr>
                        <a:t> ≥ </a:t>
                      </a:r>
                      <a:r>
                        <a:rPr lang="en-US" sz="2400" dirty="0"/>
                        <a:t>75.00</a:t>
                      </a:r>
                      <a:r>
                        <a:rPr lang="en-CA" sz="2400" dirty="0">
                          <a:solidFill>
                            <a:schemeClr val="tx1"/>
                          </a:solidFill>
                        </a:rPr>
                        <a:t>   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1" dirty="0">
                          <a:solidFill>
                            <a:schemeClr val="tx1"/>
                          </a:solidFill>
                        </a:rPr>
                        <a:t>H</a:t>
                      </a:r>
                      <a:r>
                        <a:rPr lang="en-US" sz="2400" b="1" i="1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l-GR" sz="2400" i="1" dirty="0"/>
                        <a:t>μ</a:t>
                      </a:r>
                      <a:r>
                        <a:rPr lang="en-CA" sz="2400" dirty="0">
                          <a:solidFill>
                            <a:schemeClr val="tx1"/>
                          </a:solidFill>
                        </a:rPr>
                        <a:t> &lt; </a:t>
                      </a:r>
                      <a:r>
                        <a:rPr lang="en-US" sz="2400" dirty="0"/>
                        <a:t>75.00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1" dirty="0">
                          <a:solidFill>
                            <a:schemeClr val="tx1"/>
                          </a:solidFill>
                        </a:rPr>
                        <a:t>H</a:t>
                      </a:r>
                      <a:r>
                        <a:rPr lang="en-US" sz="2400" b="1" i="1" baseline="-250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l-GR" sz="2400" i="1" dirty="0"/>
                        <a:t>μ</a:t>
                      </a:r>
                      <a:r>
                        <a:rPr lang="en-CA" sz="2400" dirty="0">
                          <a:solidFill>
                            <a:schemeClr val="tx1"/>
                          </a:solidFill>
                        </a:rPr>
                        <a:t> ≤ </a:t>
                      </a:r>
                      <a:r>
                        <a:rPr lang="en-US" sz="2400" dirty="0"/>
                        <a:t>75.00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400" b="1" i="1" dirty="0">
                          <a:solidFill>
                            <a:schemeClr val="tx1"/>
                          </a:solidFill>
                        </a:rPr>
                        <a:t>H</a:t>
                      </a:r>
                      <a:r>
                        <a:rPr lang="en-US" sz="2400" b="1" i="1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l-GR" sz="2400" i="1" dirty="0"/>
                        <a:t>μ</a:t>
                      </a:r>
                      <a:r>
                        <a:rPr lang="en-CA" sz="240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en-US" sz="2400" dirty="0"/>
                        <a:t>75.00</a:t>
                      </a:r>
                      <a:r>
                        <a:rPr lang="en-CA" sz="2400" dirty="0">
                          <a:solidFill>
                            <a:schemeClr val="tx1"/>
                          </a:solidFill>
                        </a:rPr>
                        <a:t>    </a:t>
                      </a:r>
                    </a:p>
                    <a:p>
                      <a:pPr algn="ctr"/>
                      <a:endParaRPr lang="en-CA" sz="2400" b="1" i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400" b="1" i="1" dirty="0">
                          <a:solidFill>
                            <a:schemeClr val="tx1"/>
                          </a:solidFill>
                        </a:rPr>
                        <a:t>H</a:t>
                      </a:r>
                      <a:r>
                        <a:rPr lang="en-US" sz="2400" b="1" i="1" baseline="-250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l-GR" sz="2400" i="1" dirty="0"/>
                        <a:t>μ</a:t>
                      </a:r>
                      <a:r>
                        <a:rPr lang="en-CA" sz="2400" dirty="0">
                          <a:solidFill>
                            <a:schemeClr val="tx1"/>
                          </a:solidFill>
                        </a:rPr>
                        <a:t> ≥ </a:t>
                      </a:r>
                      <a:r>
                        <a:rPr lang="en-US" sz="2400" dirty="0"/>
                        <a:t>75.00</a:t>
                      </a:r>
                      <a:endParaRPr lang="en-CA" sz="24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2400" b="1" i="1" dirty="0">
                          <a:solidFill>
                            <a:schemeClr val="tx1"/>
                          </a:solidFill>
                        </a:rPr>
                        <a:t>H</a:t>
                      </a:r>
                      <a:r>
                        <a:rPr lang="en-US" sz="2400" b="1" i="1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l-GR" sz="2400" i="1" dirty="0"/>
                        <a:t>μ</a:t>
                      </a:r>
                      <a:r>
                        <a:rPr lang="en-CA" sz="2400" dirty="0">
                          <a:solidFill>
                            <a:schemeClr val="tx1"/>
                          </a:solidFill>
                        </a:rPr>
                        <a:t> &lt; </a:t>
                      </a:r>
                      <a:r>
                        <a:rPr lang="en-US" sz="2400" dirty="0"/>
                        <a:t>75.00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837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0517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6619B-7498-6B21-A04E-8BC611AAF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14FFF-54F7-D4FF-13A7-42EBA38CC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6596"/>
            <a:ext cx="5257800" cy="6271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1:</a:t>
            </a:r>
          </a:p>
          <a:p>
            <a:r>
              <a:rPr lang="en-US" b="1" i="1" dirty="0"/>
              <a:t>H</a:t>
            </a:r>
            <a:r>
              <a:rPr lang="en-US" b="1" i="1" baseline="-25000" dirty="0"/>
              <a:t>0</a:t>
            </a:r>
            <a:r>
              <a:rPr lang="en-US" b="1" dirty="0"/>
              <a:t>: </a:t>
            </a:r>
            <a:r>
              <a:rPr lang="el-GR" i="1" dirty="0"/>
              <a:t>μ</a:t>
            </a:r>
            <a:r>
              <a:rPr lang="en-CA" dirty="0"/>
              <a:t> =</a:t>
            </a:r>
            <a:r>
              <a:rPr lang="el-GR" dirty="0"/>
              <a:t> </a:t>
            </a:r>
            <a:r>
              <a:rPr lang="en-US" dirty="0"/>
              <a:t>75.00</a:t>
            </a:r>
            <a:endParaRPr lang="en-CA" dirty="0"/>
          </a:p>
          <a:p>
            <a:r>
              <a:rPr lang="en-US" b="1" i="1" dirty="0"/>
              <a:t>H</a:t>
            </a:r>
            <a:r>
              <a:rPr lang="en-US" b="1" i="1" baseline="-25000" dirty="0"/>
              <a:t>1</a:t>
            </a:r>
            <a:r>
              <a:rPr lang="en-US" b="1" dirty="0"/>
              <a:t>: </a:t>
            </a:r>
            <a:r>
              <a:rPr lang="el-GR" i="1" dirty="0"/>
              <a:t>μ</a:t>
            </a:r>
            <a:r>
              <a:rPr lang="en-CA" dirty="0"/>
              <a:t> ≠ </a:t>
            </a:r>
            <a:r>
              <a:rPr lang="en-US" dirty="0"/>
              <a:t>75.00</a:t>
            </a:r>
            <a:endParaRPr lang="en-CA" dirty="0"/>
          </a:p>
          <a:p>
            <a:pPr lvl="1"/>
            <a:r>
              <a:rPr lang="en-CA" dirty="0"/>
              <a:t>Thus, two-tailed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Step 2: </a:t>
            </a:r>
            <a:endParaRPr lang="en-US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Type of Research Design</a:t>
            </a:r>
            <a:r>
              <a:rPr lang="en-US" sz="1200" dirty="0"/>
              <a:t>: Single-Sample Design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Model of Hypothesis Testing</a:t>
            </a:r>
            <a:r>
              <a:rPr lang="en-US" sz="1200" dirty="0"/>
              <a:t>: Random Sampling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Nature of Data (Scales of measurement)</a:t>
            </a:r>
            <a:r>
              <a:rPr lang="en-US" sz="1200" dirty="0"/>
              <a:t>: Score data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Statistic Being Analyzed</a:t>
            </a:r>
            <a:r>
              <a:rPr lang="en-US" sz="1200" dirty="0"/>
              <a:t>: </a:t>
            </a:r>
            <a:r>
              <a:rPr lang="en-CA" sz="1200" dirty="0"/>
              <a:t>x̅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Information about the Population</a:t>
            </a:r>
            <a:r>
              <a:rPr lang="en-US" sz="1200" dirty="0"/>
              <a:t>: </a:t>
            </a:r>
            <a:r>
              <a:rPr lang="el-GR" sz="1200" dirty="0"/>
              <a:t>μ</a:t>
            </a:r>
            <a:r>
              <a:rPr lang="en-US" sz="1200" dirty="0"/>
              <a:t> = 75.00, σ = unknown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Sample Size</a:t>
            </a:r>
            <a:r>
              <a:rPr lang="en-US" sz="1200" dirty="0"/>
              <a:t>: </a:t>
            </a:r>
            <a:r>
              <a:rPr lang="en-US" sz="1200" i="1" dirty="0"/>
              <a:t>n</a:t>
            </a:r>
            <a:r>
              <a:rPr lang="en-US" sz="1200" dirty="0"/>
              <a:t> = 25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Shape</a:t>
            </a:r>
            <a:r>
              <a:rPr lang="en-US" sz="1200" dirty="0"/>
              <a:t>: Normally distributed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Step 3:</a:t>
            </a:r>
          </a:p>
          <a:p>
            <a:r>
              <a:rPr lang="en-CA" i="1" dirty="0"/>
              <a:t>p(</a:t>
            </a:r>
            <a:r>
              <a:rPr lang="el-GR" i="1" dirty="0"/>
              <a:t>α</a:t>
            </a:r>
            <a:r>
              <a:rPr lang="en-CA" i="1" dirty="0"/>
              <a:t>) </a:t>
            </a:r>
            <a:r>
              <a:rPr lang="en-CA" dirty="0"/>
              <a:t>= .05, </a:t>
            </a:r>
            <a:r>
              <a:rPr lang="en-CA" i="1" dirty="0"/>
              <a:t>t(crit)</a:t>
            </a:r>
            <a:r>
              <a:rPr lang="en-CA" dirty="0"/>
              <a:t> = 2.0639</a:t>
            </a:r>
            <a:endParaRPr lang="en-US" dirty="0"/>
          </a:p>
          <a:p>
            <a:pPr marL="0" indent="0">
              <a:buNone/>
            </a:pPr>
            <a:endParaRPr lang="en-CA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09710F1-FA15-25CE-D575-E1CB035C9E5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633816"/>
                <a:ext cx="5257800" cy="62714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dirty="0"/>
                  <a:t>Step 4:</a:t>
                </a:r>
              </a:p>
              <a:p>
                <a:r>
                  <a:rPr lang="en-US" i="1" dirty="0"/>
                  <a:t>t</a:t>
                </a:r>
                <a:r>
                  <a:rPr lang="en-US" dirty="0"/>
                  <a:t>(</a:t>
                </a:r>
                <a:r>
                  <a:rPr lang="en-US" dirty="0" err="1"/>
                  <a:t>obs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0000</m:t>
                        </m:r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0000</m:t>
                        </m:r>
                      </m:num>
                      <m:den>
                        <m:r>
                          <m:rPr>
                            <m:nor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2.4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00</m:t>
                        </m:r>
                        <m:r>
                          <m:rPr>
                            <m:nor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US" dirty="0"/>
                  <a:t>  = 2.9167</a:t>
                </a:r>
              </a:p>
              <a:p>
                <a:r>
                  <a:rPr lang="en-US" i="1" dirty="0"/>
                  <a:t>p</a:t>
                </a:r>
                <a:r>
                  <a:rPr lang="en-US" dirty="0"/>
                  <a:t>(</a:t>
                </a:r>
                <a:r>
                  <a:rPr lang="en-US" i="1" dirty="0" err="1"/>
                  <a:t>obs</a:t>
                </a:r>
                <a:r>
                  <a:rPr lang="en-US" dirty="0"/>
                  <a:t>) &lt; .01</a:t>
                </a:r>
                <a:endParaRPr lang="en-US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CA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CA" b="1" dirty="0"/>
                  <a:t>Step 5: </a:t>
                </a:r>
                <a:endParaRPr lang="en-US" b="1" dirty="0"/>
              </a:p>
              <a:p>
                <a:r>
                  <a:rPr lang="en-US" sz="2400" i="1" dirty="0"/>
                  <a:t>t</a:t>
                </a:r>
                <a:r>
                  <a:rPr lang="en-CA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CA" sz="24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</a:t>
                </a:r>
                <a:r>
                  <a:rPr lang="en-CA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 |2.9167| &gt; </a:t>
                </a:r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(crit) = |2.0639|</a:t>
                </a:r>
              </a:p>
              <a:p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 &lt; .01 &lt;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CA" sz="2000" i="1" dirty="0"/>
                  <a:t>p(</a:t>
                </a:r>
                <a:r>
                  <a:rPr lang="el-GR" sz="2000" i="1" dirty="0"/>
                  <a:t>α</a:t>
                </a:r>
                <a:r>
                  <a:rPr lang="en-CA" sz="2000" i="1" dirty="0"/>
                  <a:t>) </a:t>
                </a:r>
                <a:r>
                  <a:rPr lang="en-CA" sz="2000" dirty="0"/>
                  <a:t>= .05</a:t>
                </a:r>
              </a:p>
              <a:p>
                <a:pPr lvl="1"/>
                <a:r>
                  <a:rPr lang="en-CA" sz="1600" dirty="0"/>
                  <a:t>Reject the null, accept the alternative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b="1" dirty="0"/>
                  <a:t>Step 6: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en-US" sz="2000" dirty="0"/>
                  <a:t>The stats problem generator group’s final exam scores (</a:t>
                </a:r>
                <a:r>
                  <a:rPr lang="en-CA" sz="2000" i="1" dirty="0"/>
                  <a:t>x̅ </a:t>
                </a:r>
                <a:r>
                  <a:rPr lang="en-CA" sz="2000" dirty="0"/>
                  <a:t>= 82.00%, </a:t>
                </a:r>
                <a:r>
                  <a:rPr lang="en-CA" sz="2000" i="1" dirty="0"/>
                  <a:t>s</a:t>
                </a:r>
                <a:r>
                  <a:rPr lang="en-CA" sz="2000" dirty="0"/>
                  <a:t> = 12.00%, </a:t>
                </a:r>
                <a:r>
                  <a:rPr lang="en-CA" sz="2000" i="1" dirty="0"/>
                  <a:t>n </a:t>
                </a:r>
                <a:r>
                  <a:rPr lang="en-CA" sz="2000" dirty="0"/>
                  <a:t>= 25</a:t>
                </a:r>
                <a:r>
                  <a:rPr lang="en-US" sz="2000" dirty="0"/>
                  <a:t>) were statistically higher than the average of the class (</a:t>
                </a:r>
                <a:r>
                  <a:rPr lang="el-GR" sz="2000" dirty="0"/>
                  <a:t>μ</a:t>
                </a:r>
                <a:r>
                  <a:rPr lang="en-CA" sz="2000" dirty="0"/>
                  <a:t> = 75.00%</a:t>
                </a:r>
                <a:r>
                  <a:rPr lang="en-US" sz="2000" dirty="0"/>
                  <a:t>), </a:t>
                </a:r>
                <a:r>
                  <a:rPr lang="en-US" sz="2000" i="1" dirty="0"/>
                  <a:t>t</a:t>
                </a:r>
                <a:r>
                  <a:rPr lang="en-US" sz="2000" dirty="0"/>
                  <a:t>(24) = 2.92, </a:t>
                </a:r>
                <a:r>
                  <a:rPr lang="en-US" sz="2000" i="1" dirty="0"/>
                  <a:t>p</a:t>
                </a:r>
                <a:r>
                  <a:rPr lang="en-US" sz="2000" dirty="0"/>
                  <a:t> &lt; .01. The problem generator increased the group’s exam score.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CA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09710F1-FA15-25CE-D575-E1CB035C9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33816"/>
                <a:ext cx="5257800" cy="6271404"/>
              </a:xfrm>
              <a:prstGeom prst="rect">
                <a:avLst/>
              </a:prstGeom>
              <a:blipFill>
                <a:blip r:embed="rId2"/>
                <a:stretch>
                  <a:fillRect l="-2317" t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4">
            <a:extLst>
              <a:ext uri="{FF2B5EF4-FFF2-40B4-BE49-F238E27FC236}">
                <a16:creationId xmlns:a16="http://schemas.microsoft.com/office/drawing/2014/main" id="{7743F0A5-BC31-704D-D73C-A17590E4D4A3}"/>
              </a:ext>
            </a:extLst>
          </p:cNvPr>
          <p:cNvSpPr/>
          <p:nvPr/>
        </p:nvSpPr>
        <p:spPr>
          <a:xfrm>
            <a:off x="645017" y="579877"/>
            <a:ext cx="4588565" cy="200770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37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22E6D-D057-A647-BB2F-24B9AF0C5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2 - Changes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65847B1B-AABC-E341-8F28-A2D6CE0281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810281"/>
                  </p:ext>
                </p:extLst>
              </p:nvPr>
            </p:nvGraphicFramePr>
            <p:xfrm>
              <a:off x="185650" y="1638833"/>
              <a:ext cx="11820700" cy="48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55175">
                      <a:extLst>
                        <a:ext uri="{9D8B030D-6E8A-4147-A177-3AD203B41FA5}">
                          <a16:colId xmlns:a16="http://schemas.microsoft.com/office/drawing/2014/main" val="4004983389"/>
                        </a:ext>
                      </a:extLst>
                    </a:gridCol>
                    <a:gridCol w="2955175">
                      <a:extLst>
                        <a:ext uri="{9D8B030D-6E8A-4147-A177-3AD203B41FA5}">
                          <a16:colId xmlns:a16="http://schemas.microsoft.com/office/drawing/2014/main" val="3608128689"/>
                        </a:ext>
                      </a:extLst>
                    </a:gridCol>
                    <a:gridCol w="2955175">
                      <a:extLst>
                        <a:ext uri="{9D8B030D-6E8A-4147-A177-3AD203B41FA5}">
                          <a16:colId xmlns:a16="http://schemas.microsoft.com/office/drawing/2014/main" val="3990134810"/>
                        </a:ext>
                      </a:extLst>
                    </a:gridCol>
                    <a:gridCol w="2955175">
                      <a:extLst>
                        <a:ext uri="{9D8B030D-6E8A-4147-A177-3AD203B41FA5}">
                          <a16:colId xmlns:a16="http://schemas.microsoft.com/office/drawing/2014/main" val="4020798331"/>
                        </a:ext>
                      </a:extLst>
                    </a:gridCol>
                  </a:tblGrid>
                  <a:tr h="520734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Single Participant Design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Single Sample Design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el-GR" sz="2000" dirty="0">
                              <a:solidFill>
                                <a:schemeClr val="tx1"/>
                              </a:solidFill>
                            </a:rPr>
                            <a:t>μ</a:t>
                          </a: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&amp; σ known)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FF0000"/>
                              </a:solidFill>
                            </a:rPr>
                            <a:t>Single Sample Design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rgbClr val="FF0000"/>
                              </a:solidFill>
                            </a:rPr>
                            <a:t>(</a:t>
                          </a:r>
                          <a:r>
                            <a:rPr lang="el-GR" sz="2000" dirty="0">
                              <a:solidFill>
                                <a:srgbClr val="FF0000"/>
                              </a:solidFill>
                            </a:rPr>
                            <a:t>μ</a:t>
                          </a:r>
                          <a:r>
                            <a:rPr lang="en-US" sz="2000" dirty="0">
                              <a:solidFill>
                                <a:srgbClr val="FF0000"/>
                              </a:solidFill>
                            </a:rPr>
                            <a:t> known, σ unknown)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94681456"/>
                      </a:ext>
                    </a:extLst>
                  </a:tr>
                  <a:tr h="520734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Model of Hypothesis Testing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Random Sampling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Random Sampling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Random Sampling</a:t>
                          </a:r>
                        </a:p>
                        <a:p>
                          <a:pPr algn="ctr"/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5834762"/>
                      </a:ext>
                    </a:extLst>
                  </a:tr>
                  <a:tr h="520734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Nature of Data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Score data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Score data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Score data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3837357"/>
                      </a:ext>
                    </a:extLst>
                  </a:tr>
                  <a:tr h="520734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Statistic Being Analyzed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x̅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i="0" kern="1200" dirty="0" smtClean="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sz="2000" i="0" kern="1200" dirty="0" smtClean="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̅</m:t>
                                </m:r>
                              </m:oMath>
                            </m:oMathPara>
                          </a14:m>
                          <a:endParaRPr lang="en-US" sz="2000" kern="120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47493759"/>
                      </a:ext>
                    </a:extLst>
                  </a:tr>
                  <a:tr h="520734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Information of Population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000" dirty="0"/>
                            <a:t>μ</a:t>
                          </a:r>
                          <a:r>
                            <a:rPr lang="en-US" sz="2000" dirty="0"/>
                            <a:t> &amp; </a:t>
                          </a:r>
                          <a:r>
                            <a:rPr lang="en-US" sz="2000" dirty="0" err="1"/>
                            <a:t>σ</a:t>
                          </a:r>
                          <a:r>
                            <a:rPr lang="en-US" sz="2000" dirty="0"/>
                            <a:t> known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2000" dirty="0">
                              <a:solidFill>
                                <a:schemeClr val="tx1"/>
                              </a:solidFill>
                            </a:rPr>
                            <a:t>μ</a:t>
                          </a: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&amp; </a:t>
                          </a: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</a:rPr>
                            <a:t>σ</a:t>
                          </a: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known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2000" dirty="0">
                              <a:solidFill>
                                <a:schemeClr val="tx1"/>
                              </a:solidFill>
                            </a:rPr>
                            <a:t>μ</a:t>
                          </a: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known, </a:t>
                          </a:r>
                          <a:r>
                            <a:rPr lang="en-US" sz="2000" dirty="0" err="1">
                              <a:solidFill>
                                <a:srgbClr val="FF0000"/>
                              </a:solidFill>
                            </a:rPr>
                            <a:t>σ</a:t>
                          </a:r>
                          <a:r>
                            <a:rPr lang="en-US" sz="2000" dirty="0">
                              <a:solidFill>
                                <a:srgbClr val="FF0000"/>
                              </a:solidFill>
                            </a:rPr>
                            <a:t> unknown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61844694"/>
                      </a:ext>
                    </a:extLst>
                  </a:tr>
                  <a:tr h="520734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Sample Size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solidFill>
                                <a:schemeClr val="tx1"/>
                              </a:solidFill>
                            </a:rPr>
                            <a:t>n</a:t>
                          </a: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= 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solidFill>
                                <a:schemeClr val="tx1"/>
                              </a:solidFill>
                            </a:rPr>
                            <a:t>n</a:t>
                          </a: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= ___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i="1" dirty="0">
                              <a:solidFill>
                                <a:schemeClr val="tx1"/>
                              </a:solidFill>
                            </a:rPr>
                            <a:t>n</a:t>
                          </a: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= ___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93408113"/>
                      </a:ext>
                    </a:extLst>
                  </a:tr>
                  <a:tr h="520734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Sampling Distribution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Sampling Distribution of a score when population parameters are known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Sampling Distribution of the Mean when n = ___ and population parameters are known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rgbClr val="FF0000"/>
                              </a:solidFill>
                            </a:rPr>
                            <a:t>Sampling Distribution of the Mean for </a:t>
                          </a:r>
                          <a:r>
                            <a:rPr lang="en-US" sz="1800" i="1" dirty="0">
                              <a:solidFill>
                                <a:srgbClr val="FF0000"/>
                              </a:solidFill>
                            </a:rPr>
                            <a:t>t-scores</a:t>
                          </a:r>
                          <a:r>
                            <a:rPr lang="en-US" sz="1800" i="0" dirty="0">
                              <a:solidFill>
                                <a:srgbClr val="FF0000"/>
                              </a:solidFill>
                            </a:rPr>
                            <a:t> when         </a:t>
                          </a:r>
                          <a:r>
                            <a:rPr lang="en-US" sz="1800" i="1" dirty="0">
                              <a:solidFill>
                                <a:srgbClr val="FF0000"/>
                              </a:solidFill>
                            </a:rPr>
                            <a:t>df</a:t>
                          </a:r>
                          <a:r>
                            <a:rPr lang="en-US" sz="1800" i="0" dirty="0">
                              <a:solidFill>
                                <a:srgbClr val="FF0000"/>
                              </a:solidFill>
                            </a:rPr>
                            <a:t> = ___ and </a:t>
                          </a:r>
                          <a:r>
                            <a:rPr lang="en-US" sz="1800" dirty="0" err="1">
                              <a:solidFill>
                                <a:srgbClr val="FF0000"/>
                              </a:solidFill>
                            </a:rPr>
                            <a:t>σ</a:t>
                          </a:r>
                          <a:r>
                            <a:rPr lang="en-US" sz="1800" dirty="0">
                              <a:solidFill>
                                <a:srgbClr val="FF0000"/>
                              </a:solidFill>
                            </a:rPr>
                            <a:t> is unknown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5994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65847B1B-AABC-E341-8F28-A2D6CE0281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810281"/>
                  </p:ext>
                </p:extLst>
              </p:nvPr>
            </p:nvGraphicFramePr>
            <p:xfrm>
              <a:off x="185650" y="1638833"/>
              <a:ext cx="11820700" cy="48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55175">
                      <a:extLst>
                        <a:ext uri="{9D8B030D-6E8A-4147-A177-3AD203B41FA5}">
                          <a16:colId xmlns:a16="http://schemas.microsoft.com/office/drawing/2014/main" val="4004983389"/>
                        </a:ext>
                      </a:extLst>
                    </a:gridCol>
                    <a:gridCol w="2955175">
                      <a:extLst>
                        <a:ext uri="{9D8B030D-6E8A-4147-A177-3AD203B41FA5}">
                          <a16:colId xmlns:a16="http://schemas.microsoft.com/office/drawing/2014/main" val="3608128689"/>
                        </a:ext>
                      </a:extLst>
                    </a:gridCol>
                    <a:gridCol w="2955175">
                      <a:extLst>
                        <a:ext uri="{9D8B030D-6E8A-4147-A177-3AD203B41FA5}">
                          <a16:colId xmlns:a16="http://schemas.microsoft.com/office/drawing/2014/main" val="3990134810"/>
                        </a:ext>
                      </a:extLst>
                    </a:gridCol>
                    <a:gridCol w="2955175">
                      <a:extLst>
                        <a:ext uri="{9D8B030D-6E8A-4147-A177-3AD203B41FA5}">
                          <a16:colId xmlns:a16="http://schemas.microsoft.com/office/drawing/2014/main" val="4020798331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Single Participant Design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Single Sample Design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el-GR" sz="2000" dirty="0">
                              <a:solidFill>
                                <a:schemeClr val="tx1"/>
                              </a:solidFill>
                            </a:rPr>
                            <a:t>μ</a:t>
                          </a: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&amp; σ known)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rgbClr val="FF0000"/>
                              </a:solidFill>
                            </a:rPr>
                            <a:t>Single Sample Design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rgbClr val="FF0000"/>
                              </a:solidFill>
                            </a:rPr>
                            <a:t>(</a:t>
                          </a:r>
                          <a:r>
                            <a:rPr lang="el-GR" sz="2000" dirty="0">
                              <a:solidFill>
                                <a:srgbClr val="FF0000"/>
                              </a:solidFill>
                            </a:rPr>
                            <a:t>μ</a:t>
                          </a:r>
                          <a:r>
                            <a:rPr lang="en-US" sz="2000" dirty="0">
                              <a:solidFill>
                                <a:srgbClr val="FF0000"/>
                              </a:solidFill>
                            </a:rPr>
                            <a:t> known, σ unknown)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94681456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Model of Hypothesis Testing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Random Sampling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Random Sampling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Random Sampling</a:t>
                          </a:r>
                        </a:p>
                        <a:p>
                          <a:pPr algn="ctr"/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5834762"/>
                      </a:ext>
                    </a:extLst>
                  </a:tr>
                  <a:tr h="520734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Nature of Data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Score data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Score data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Score data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3837357"/>
                      </a:ext>
                    </a:extLst>
                  </a:tr>
                  <a:tr h="520734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Statistic Being Analyzed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kern="120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x̅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206" t="-373256" r="-412" b="-4779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7493759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Information of Population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2000" dirty="0"/>
                            <a:t>μ</a:t>
                          </a:r>
                          <a:r>
                            <a:rPr lang="en-US" sz="2000" dirty="0"/>
                            <a:t> &amp; </a:t>
                          </a:r>
                          <a:r>
                            <a:rPr lang="en-US" sz="2000" dirty="0" err="1"/>
                            <a:t>σ</a:t>
                          </a:r>
                          <a:r>
                            <a:rPr lang="en-US" sz="2000" dirty="0"/>
                            <a:t> known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2000" dirty="0">
                              <a:solidFill>
                                <a:schemeClr val="tx1"/>
                              </a:solidFill>
                            </a:rPr>
                            <a:t>μ</a:t>
                          </a: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&amp; </a:t>
                          </a:r>
                          <a:r>
                            <a:rPr lang="en-US" sz="2000" dirty="0" err="1">
                              <a:solidFill>
                                <a:schemeClr val="tx1"/>
                              </a:solidFill>
                            </a:rPr>
                            <a:t>σ</a:t>
                          </a: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known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sz="2000" dirty="0">
                              <a:solidFill>
                                <a:schemeClr val="tx1"/>
                              </a:solidFill>
                            </a:rPr>
                            <a:t>μ</a:t>
                          </a: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known, </a:t>
                          </a:r>
                          <a:r>
                            <a:rPr lang="en-US" sz="2000" dirty="0" err="1">
                              <a:solidFill>
                                <a:srgbClr val="FF0000"/>
                              </a:solidFill>
                            </a:rPr>
                            <a:t>σ</a:t>
                          </a:r>
                          <a:r>
                            <a:rPr lang="en-US" sz="2000" dirty="0">
                              <a:solidFill>
                                <a:srgbClr val="FF0000"/>
                              </a:solidFill>
                            </a:rPr>
                            <a:t> unknown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0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61844694"/>
                      </a:ext>
                    </a:extLst>
                  </a:tr>
                  <a:tr h="520734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Sample Size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solidFill>
                                <a:schemeClr val="tx1"/>
                              </a:solidFill>
                            </a:rPr>
                            <a:t>n</a:t>
                          </a: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= 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solidFill>
                                <a:schemeClr val="tx1"/>
                              </a:solidFill>
                            </a:rPr>
                            <a:t>n</a:t>
                          </a: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= ___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i="1" dirty="0">
                              <a:solidFill>
                                <a:schemeClr val="tx1"/>
                              </a:solidFill>
                            </a:rPr>
                            <a:t>n</a:t>
                          </a:r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 = ___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93408113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Sampling Distribution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Sampling Distribution of a score when population parameters are known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Sampling Distribution of the Mean when n = ___ and population parameters are known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rgbClr val="FF0000"/>
                              </a:solidFill>
                            </a:rPr>
                            <a:t>Sampling Distribution of the Mean for </a:t>
                          </a:r>
                          <a:r>
                            <a:rPr lang="en-US" sz="1800" i="1" dirty="0">
                              <a:solidFill>
                                <a:srgbClr val="FF0000"/>
                              </a:solidFill>
                            </a:rPr>
                            <a:t>t-scores</a:t>
                          </a:r>
                          <a:r>
                            <a:rPr lang="en-US" sz="1800" i="0" dirty="0">
                              <a:solidFill>
                                <a:srgbClr val="FF0000"/>
                              </a:solidFill>
                            </a:rPr>
                            <a:t> when         </a:t>
                          </a:r>
                          <a:r>
                            <a:rPr lang="en-US" sz="1800" i="1" dirty="0">
                              <a:solidFill>
                                <a:srgbClr val="FF0000"/>
                              </a:solidFill>
                            </a:rPr>
                            <a:t>df</a:t>
                          </a:r>
                          <a:r>
                            <a:rPr lang="en-US" sz="1800" i="0" dirty="0">
                              <a:solidFill>
                                <a:srgbClr val="FF0000"/>
                              </a:solidFill>
                            </a:rPr>
                            <a:t> = ___ and </a:t>
                          </a:r>
                          <a:r>
                            <a:rPr lang="en-US" sz="1800" dirty="0" err="1">
                              <a:solidFill>
                                <a:srgbClr val="FF0000"/>
                              </a:solidFill>
                            </a:rPr>
                            <a:t>σ</a:t>
                          </a:r>
                          <a:r>
                            <a:rPr lang="en-US" sz="1800" dirty="0">
                              <a:solidFill>
                                <a:srgbClr val="FF0000"/>
                              </a:solidFill>
                            </a:rPr>
                            <a:t> is unknown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5994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16495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E76F0-3C75-E9AD-1134-C533DC11D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75E01-9481-4B54-9B18-E965F6C68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6596"/>
            <a:ext cx="5257800" cy="6271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1:</a:t>
            </a:r>
          </a:p>
          <a:p>
            <a:r>
              <a:rPr lang="en-US" b="1" i="1" dirty="0"/>
              <a:t>H</a:t>
            </a:r>
            <a:r>
              <a:rPr lang="en-US" b="1" i="1" baseline="-25000" dirty="0"/>
              <a:t>0</a:t>
            </a:r>
            <a:r>
              <a:rPr lang="en-US" b="1" dirty="0"/>
              <a:t>: </a:t>
            </a:r>
            <a:r>
              <a:rPr lang="el-GR" i="1" dirty="0"/>
              <a:t>μ</a:t>
            </a:r>
            <a:r>
              <a:rPr lang="en-CA" dirty="0"/>
              <a:t> =</a:t>
            </a:r>
            <a:r>
              <a:rPr lang="el-GR" dirty="0"/>
              <a:t> </a:t>
            </a:r>
            <a:r>
              <a:rPr lang="en-US" dirty="0"/>
              <a:t>75.00</a:t>
            </a:r>
            <a:endParaRPr lang="en-CA" dirty="0"/>
          </a:p>
          <a:p>
            <a:r>
              <a:rPr lang="en-US" b="1" i="1" dirty="0"/>
              <a:t>H</a:t>
            </a:r>
            <a:r>
              <a:rPr lang="en-US" b="1" i="1" baseline="-25000" dirty="0"/>
              <a:t>1</a:t>
            </a:r>
            <a:r>
              <a:rPr lang="en-US" b="1" dirty="0"/>
              <a:t>: </a:t>
            </a:r>
            <a:r>
              <a:rPr lang="el-GR" i="1" dirty="0"/>
              <a:t>μ</a:t>
            </a:r>
            <a:r>
              <a:rPr lang="en-CA" dirty="0"/>
              <a:t> ≠ </a:t>
            </a:r>
            <a:r>
              <a:rPr lang="en-US" dirty="0"/>
              <a:t>75.00</a:t>
            </a:r>
            <a:endParaRPr lang="en-CA" dirty="0"/>
          </a:p>
          <a:p>
            <a:pPr lvl="1"/>
            <a:r>
              <a:rPr lang="en-CA" dirty="0"/>
              <a:t>Thus, two-tailed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Step 2: </a:t>
            </a:r>
            <a:endParaRPr lang="en-US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Type of Research Design</a:t>
            </a:r>
            <a:r>
              <a:rPr lang="en-US" sz="1200" dirty="0"/>
              <a:t>: Single-Sample Design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Model of Hypothesis Testing</a:t>
            </a:r>
            <a:r>
              <a:rPr lang="en-US" sz="1200" dirty="0"/>
              <a:t>: Random Sampling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Nature of Data (Scales of measurement)</a:t>
            </a:r>
            <a:r>
              <a:rPr lang="en-US" sz="1200" dirty="0"/>
              <a:t>: Score data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Statistic Being Analyzed</a:t>
            </a:r>
            <a:r>
              <a:rPr lang="en-US" sz="1200" dirty="0"/>
              <a:t>: </a:t>
            </a:r>
            <a:r>
              <a:rPr lang="en-CA" sz="1200" dirty="0"/>
              <a:t>x̅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Information about the Population</a:t>
            </a:r>
            <a:r>
              <a:rPr lang="en-US" sz="1200" dirty="0"/>
              <a:t>: </a:t>
            </a:r>
            <a:r>
              <a:rPr lang="el-GR" sz="1200" dirty="0"/>
              <a:t>μ</a:t>
            </a:r>
            <a:r>
              <a:rPr lang="en-US" sz="1200" dirty="0"/>
              <a:t> = 75.00, </a:t>
            </a:r>
            <a:r>
              <a:rPr lang="en-US" sz="1200" dirty="0">
                <a:solidFill>
                  <a:srgbClr val="FF0000"/>
                </a:solidFill>
              </a:rPr>
              <a:t>σ = unknown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Sample Size</a:t>
            </a:r>
            <a:r>
              <a:rPr lang="en-US" sz="1200" dirty="0"/>
              <a:t>: </a:t>
            </a:r>
            <a:r>
              <a:rPr lang="en-US" sz="1200" i="1" dirty="0"/>
              <a:t>n</a:t>
            </a:r>
            <a:r>
              <a:rPr lang="en-US" sz="1200" dirty="0"/>
              <a:t> = 25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Shape</a:t>
            </a:r>
            <a:r>
              <a:rPr lang="en-US" sz="1200" dirty="0"/>
              <a:t>: Normally distributed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Step 3:</a:t>
            </a:r>
          </a:p>
          <a:p>
            <a:r>
              <a:rPr lang="en-CA" i="1" dirty="0"/>
              <a:t>p(</a:t>
            </a:r>
            <a:r>
              <a:rPr lang="el-GR" i="1" dirty="0"/>
              <a:t>α</a:t>
            </a:r>
            <a:r>
              <a:rPr lang="en-CA" i="1" dirty="0"/>
              <a:t>) </a:t>
            </a:r>
            <a:r>
              <a:rPr lang="en-CA" dirty="0"/>
              <a:t>= .05, </a:t>
            </a:r>
            <a:r>
              <a:rPr lang="en-CA" i="1" dirty="0"/>
              <a:t>t(crit)</a:t>
            </a:r>
            <a:r>
              <a:rPr lang="en-CA" dirty="0"/>
              <a:t> = 2.0639</a:t>
            </a:r>
            <a:endParaRPr lang="en-US" dirty="0"/>
          </a:p>
          <a:p>
            <a:pPr marL="0" indent="0">
              <a:buNone/>
            </a:pPr>
            <a:endParaRPr lang="en-CA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6E9912D-378E-9FFC-CC2A-0AB32B8455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633816"/>
                <a:ext cx="5257800" cy="62714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dirty="0"/>
                  <a:t>Step 4:</a:t>
                </a:r>
              </a:p>
              <a:p>
                <a:r>
                  <a:rPr lang="en-US" i="1" dirty="0"/>
                  <a:t>t</a:t>
                </a:r>
                <a:r>
                  <a:rPr lang="en-US" dirty="0"/>
                  <a:t>(</a:t>
                </a:r>
                <a:r>
                  <a:rPr lang="en-US" dirty="0" err="1"/>
                  <a:t>obs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82.0000</m:t>
                        </m:r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 −75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.0000</m:t>
                        </m:r>
                      </m:num>
                      <m:den>
                        <m:r>
                          <m:rPr>
                            <m:nor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2.4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00</m:t>
                        </m:r>
                        <m:r>
                          <m:rPr>
                            <m:nor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US" dirty="0"/>
                  <a:t>  = 2.9167</a:t>
                </a:r>
              </a:p>
              <a:p>
                <a:r>
                  <a:rPr lang="en-US" i="1" dirty="0"/>
                  <a:t>p</a:t>
                </a:r>
                <a:r>
                  <a:rPr lang="en-US" dirty="0"/>
                  <a:t>(</a:t>
                </a:r>
                <a:r>
                  <a:rPr lang="en-US" i="1" dirty="0" err="1"/>
                  <a:t>obs</a:t>
                </a:r>
                <a:r>
                  <a:rPr lang="en-US" dirty="0"/>
                  <a:t>) &lt; .01</a:t>
                </a:r>
                <a:endParaRPr lang="en-US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CA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CA" b="1" dirty="0"/>
                  <a:t>Step 5: </a:t>
                </a:r>
                <a:endParaRPr lang="en-US" b="1" dirty="0"/>
              </a:p>
              <a:p>
                <a:r>
                  <a:rPr lang="en-US" sz="2000" i="1" dirty="0"/>
                  <a:t>t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CA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|2.9167| &gt; </a:t>
                </a:r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(crit) = |2.0639|</a:t>
                </a:r>
              </a:p>
              <a:p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 &lt; .01 &lt;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CA" sz="2000" i="1" dirty="0"/>
                  <a:t>p(</a:t>
                </a:r>
                <a:r>
                  <a:rPr lang="el-GR" sz="2000" i="1" dirty="0"/>
                  <a:t>α</a:t>
                </a:r>
                <a:r>
                  <a:rPr lang="en-CA" sz="2000" i="1" dirty="0"/>
                  <a:t>) </a:t>
                </a:r>
                <a:r>
                  <a:rPr lang="en-CA" sz="2000" dirty="0"/>
                  <a:t>= .05</a:t>
                </a:r>
              </a:p>
              <a:p>
                <a:pPr lvl="1"/>
                <a:r>
                  <a:rPr lang="en-CA" sz="1600" dirty="0"/>
                  <a:t>Reject the null, accept the alternative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b="1" dirty="0"/>
                  <a:t>Step 6: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en-US" sz="2000" dirty="0"/>
                  <a:t>The stats problem generator group’s final exam scores (</a:t>
                </a:r>
                <a:r>
                  <a:rPr lang="en-CA" sz="2000" i="1" dirty="0"/>
                  <a:t>x̅ </a:t>
                </a:r>
                <a:r>
                  <a:rPr lang="en-CA" sz="2000" dirty="0"/>
                  <a:t>= 82.00%, </a:t>
                </a:r>
                <a:r>
                  <a:rPr lang="en-CA" sz="2000" i="1" dirty="0"/>
                  <a:t>s</a:t>
                </a:r>
                <a:r>
                  <a:rPr lang="en-CA" sz="2000" dirty="0"/>
                  <a:t> = 12.00%, </a:t>
                </a:r>
                <a:r>
                  <a:rPr lang="en-CA" sz="2000" i="1" dirty="0"/>
                  <a:t>n </a:t>
                </a:r>
                <a:r>
                  <a:rPr lang="en-CA" sz="2000" dirty="0"/>
                  <a:t>= 25</a:t>
                </a:r>
                <a:r>
                  <a:rPr lang="en-US" sz="2000" dirty="0"/>
                  <a:t>) were statistically higher than the average of the class (</a:t>
                </a:r>
                <a:r>
                  <a:rPr lang="el-GR" sz="2000" dirty="0"/>
                  <a:t>μ</a:t>
                </a:r>
                <a:r>
                  <a:rPr lang="en-CA" sz="2000" dirty="0"/>
                  <a:t> = 75.00%</a:t>
                </a:r>
                <a:r>
                  <a:rPr lang="en-US" sz="2000" dirty="0"/>
                  <a:t>), </a:t>
                </a:r>
                <a:r>
                  <a:rPr lang="en-US" sz="2000" i="1" dirty="0"/>
                  <a:t>t</a:t>
                </a:r>
                <a:r>
                  <a:rPr lang="en-US" sz="2000" dirty="0"/>
                  <a:t>(24) = 2.92, </a:t>
                </a:r>
                <a:r>
                  <a:rPr lang="en-US" sz="2000" i="1" dirty="0"/>
                  <a:t>p</a:t>
                </a:r>
                <a:r>
                  <a:rPr lang="en-US" sz="2000" dirty="0"/>
                  <a:t> &lt; .01. The problem generator increased the group’s exam score.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CA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6E9912D-378E-9FFC-CC2A-0AB32B845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33816"/>
                <a:ext cx="5257800" cy="6271404"/>
              </a:xfrm>
              <a:prstGeom prst="rect">
                <a:avLst/>
              </a:prstGeom>
              <a:blipFill>
                <a:blip r:embed="rId2"/>
                <a:stretch>
                  <a:fillRect l="-2317" t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4">
            <a:extLst>
              <a:ext uri="{FF2B5EF4-FFF2-40B4-BE49-F238E27FC236}">
                <a16:creationId xmlns:a16="http://schemas.microsoft.com/office/drawing/2014/main" id="{35E2F5F6-E85F-E28D-0616-5F88218EA301}"/>
              </a:ext>
            </a:extLst>
          </p:cNvPr>
          <p:cNvSpPr/>
          <p:nvPr/>
        </p:nvSpPr>
        <p:spPr>
          <a:xfrm>
            <a:off x="580622" y="2936710"/>
            <a:ext cx="4588565" cy="200770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246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66C81-C7DB-7F4D-9FD6-22D25007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3 - Changes</a:t>
            </a:r>
          </a:p>
        </p:txBody>
      </p:sp>
      <p:pic>
        <p:nvPicPr>
          <p:cNvPr id="1028" name="Picture 4" descr="PPT - t distribution with 20 degrees of freedom PowerPoint Presentation -  ID:2862804">
            <a:extLst>
              <a:ext uri="{FF2B5EF4-FFF2-40B4-BE49-F238E27FC236}">
                <a16:creationId xmlns:a16="http://schemas.microsoft.com/office/drawing/2014/main" id="{E7B5F326-3D91-6F43-88E4-99CE4D36D2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88"/>
          <a:stretch/>
        </p:blipFill>
        <p:spPr bwMode="auto">
          <a:xfrm>
            <a:off x="6067578" y="3083442"/>
            <a:ext cx="6124421" cy="3629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4F66760-42F5-6C42-8B8A-13F64F99B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229378" cy="488708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Changes to step 3</a:t>
            </a:r>
          </a:p>
          <a:p>
            <a:r>
              <a:rPr lang="en-US" i="1" dirty="0"/>
              <a:t>z</a:t>
            </a:r>
            <a:r>
              <a:rPr lang="en-US" dirty="0"/>
              <a:t>(crit) becomes </a:t>
            </a:r>
            <a:r>
              <a:rPr lang="en-US" i="1" dirty="0"/>
              <a:t>t</a:t>
            </a:r>
            <a:r>
              <a:rPr lang="en-US" dirty="0"/>
              <a:t>(crit)</a:t>
            </a:r>
          </a:p>
          <a:p>
            <a:r>
              <a:rPr lang="en-US" dirty="0"/>
              <a:t>But the </a:t>
            </a:r>
            <a:r>
              <a:rPr lang="en-US" i="1" dirty="0"/>
              <a:t>t</a:t>
            </a:r>
            <a:r>
              <a:rPr lang="en-US" dirty="0"/>
              <a:t>(crit) will </a:t>
            </a:r>
            <a:r>
              <a:rPr lang="en-US" i="1" dirty="0"/>
              <a:t>change</a:t>
            </a:r>
            <a:r>
              <a:rPr lang="en-US" dirty="0"/>
              <a:t> for each degrees of freedom (</a:t>
            </a:r>
            <a:r>
              <a:rPr lang="en-US" i="1" dirty="0" err="1"/>
              <a:t>df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We will see degrees of freedom equals </a:t>
            </a:r>
            <a:r>
              <a:rPr lang="en-US" i="1" dirty="0"/>
              <a:t>n-1</a:t>
            </a:r>
            <a:r>
              <a:rPr lang="en-US" dirty="0"/>
              <a:t>, so it changes for each </a:t>
            </a:r>
            <a:r>
              <a:rPr lang="en-US" i="1" dirty="0"/>
              <a:t>n</a:t>
            </a:r>
            <a:endParaRPr lang="en-US" dirty="0"/>
          </a:p>
          <a:p>
            <a:r>
              <a:rPr lang="en-US" dirty="0"/>
              <a:t>Thus, we need a different table for each degrees of freedom</a:t>
            </a:r>
          </a:p>
        </p:txBody>
      </p:sp>
    </p:spTree>
    <p:extLst>
      <p:ext uri="{BB962C8B-B14F-4D97-AF65-F5344CB8AC3E}">
        <p14:creationId xmlns:p14="http://schemas.microsoft.com/office/powerpoint/2010/main" val="1365723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7797-DCB6-AD42-A3A1-516BAC1C9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3 -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42D33-F653-D044-BDC9-1ACDD29EF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38873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Sampling Distributions</a:t>
            </a:r>
          </a:p>
          <a:p>
            <a:r>
              <a:rPr lang="en-US" dirty="0"/>
              <a:t>The family of curves reflects a series of different sampling distributions, each specific to a certain </a:t>
            </a:r>
            <a:r>
              <a:rPr lang="en-US" i="1" dirty="0"/>
              <a:t>df</a:t>
            </a:r>
          </a:p>
          <a:p>
            <a:pPr lvl="1"/>
            <a:r>
              <a:rPr lang="en-US" dirty="0"/>
              <a:t>At small </a:t>
            </a:r>
            <a:r>
              <a:rPr lang="en-US" i="1" dirty="0"/>
              <a:t>df</a:t>
            </a:r>
            <a:r>
              <a:rPr lang="en-US" dirty="0"/>
              <a:t>, </a:t>
            </a:r>
            <a:r>
              <a:rPr lang="en-US" dirty="0" err="1"/>
              <a:t>dist</a:t>
            </a:r>
            <a:r>
              <a:rPr lang="en-US" dirty="0"/>
              <a:t> is platykurtic</a:t>
            </a:r>
          </a:p>
          <a:p>
            <a:pPr lvl="1"/>
            <a:r>
              <a:rPr lang="en-US" dirty="0"/>
              <a:t>At large </a:t>
            </a:r>
            <a:r>
              <a:rPr lang="en-US" i="1" dirty="0"/>
              <a:t>df</a:t>
            </a:r>
            <a:r>
              <a:rPr lang="en-US" dirty="0"/>
              <a:t>, </a:t>
            </a:r>
            <a:r>
              <a:rPr lang="en-US" dirty="0" err="1"/>
              <a:t>dist</a:t>
            </a:r>
            <a:r>
              <a:rPr lang="en-US" dirty="0"/>
              <a:t> is mesokurtic</a:t>
            </a:r>
          </a:p>
          <a:p>
            <a:pPr lvl="2"/>
            <a:r>
              <a:rPr lang="en-US" dirty="0"/>
              <a:t>Becomes the same as the standard normal distribution (z-table) at high </a:t>
            </a:r>
            <a:r>
              <a:rPr lang="en-US" i="1" dirty="0"/>
              <a:t>df</a:t>
            </a:r>
          </a:p>
        </p:txBody>
      </p:sp>
      <p:pic>
        <p:nvPicPr>
          <p:cNvPr id="4" name="Picture 4" descr="PPT - t distribution with 20 degrees of freedom PowerPoint Presentation -  ID:2862804">
            <a:extLst>
              <a:ext uri="{FF2B5EF4-FFF2-40B4-BE49-F238E27FC236}">
                <a16:creationId xmlns:a16="http://schemas.microsoft.com/office/drawing/2014/main" id="{C0CC2E5F-C25A-024A-B233-C79E77BD6D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88"/>
          <a:stretch/>
        </p:blipFill>
        <p:spPr bwMode="auto">
          <a:xfrm>
            <a:off x="6067578" y="3083442"/>
            <a:ext cx="6124421" cy="3629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9668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7797-DCB6-AD42-A3A1-516BAC1C9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3 - Changes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1571F2-5BFE-824E-8809-10E82BD156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65" t="8498" r="10118" b="41318"/>
          <a:stretch/>
        </p:blipFill>
        <p:spPr>
          <a:xfrm>
            <a:off x="2768675" y="1301261"/>
            <a:ext cx="6654649" cy="540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248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row: Up 10">
            <a:extLst>
              <a:ext uri="{FF2B5EF4-FFF2-40B4-BE49-F238E27FC236}">
                <a16:creationId xmlns:a16="http://schemas.microsoft.com/office/drawing/2014/main" id="{BB5B965B-665F-10E6-673D-44F0A18FF2E2}"/>
              </a:ext>
            </a:extLst>
          </p:cNvPr>
          <p:cNvSpPr/>
          <p:nvPr/>
        </p:nvSpPr>
        <p:spPr>
          <a:xfrm rot="8642019">
            <a:off x="858076" y="1828262"/>
            <a:ext cx="325257" cy="799832"/>
          </a:xfrm>
          <a:prstGeom prst="up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507797-DCB6-AD42-A3A1-516BAC1C9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3 - Changes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1571F2-5BFE-824E-8809-10E82BD156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65" t="24641" r="10118" b="50366"/>
          <a:stretch/>
        </p:blipFill>
        <p:spPr>
          <a:xfrm>
            <a:off x="5614011" y="2518118"/>
            <a:ext cx="6577989" cy="2658794"/>
          </a:xfrm>
          <a:prstGeom prst="rect">
            <a:avLst/>
          </a:prstGeom>
        </p:spPr>
      </p:pic>
      <p:pic>
        <p:nvPicPr>
          <p:cNvPr id="4" name="Picture 3" descr="A picture containing text, white&#10;&#10;Description automatically generated">
            <a:extLst>
              <a:ext uri="{FF2B5EF4-FFF2-40B4-BE49-F238E27FC236}">
                <a16:creationId xmlns:a16="http://schemas.microsoft.com/office/drawing/2014/main" id="{C9D678B1-73DD-254F-B348-594B6EEE7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18116"/>
            <a:ext cx="5641417" cy="26587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89B3E9-D835-2E43-8FD0-B51EF15F575E}"/>
              </a:ext>
            </a:extLst>
          </p:cNvPr>
          <p:cNvSpPr txBox="1"/>
          <p:nvPr/>
        </p:nvSpPr>
        <p:spPr>
          <a:xfrm>
            <a:off x="2394469" y="2148783"/>
            <a:ext cx="852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Z-Table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4FFD7A-CF3B-9246-81B2-4F71F1FD7B5E}"/>
              </a:ext>
            </a:extLst>
          </p:cNvPr>
          <p:cNvSpPr txBox="1"/>
          <p:nvPr/>
        </p:nvSpPr>
        <p:spPr>
          <a:xfrm>
            <a:off x="8476766" y="2148783"/>
            <a:ext cx="852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T-Table</a:t>
            </a:r>
          </a:p>
        </p:txBody>
      </p:sp>
      <p:sp>
        <p:nvSpPr>
          <p:cNvPr id="3" name="Arrow: Up 2">
            <a:extLst>
              <a:ext uri="{FF2B5EF4-FFF2-40B4-BE49-F238E27FC236}">
                <a16:creationId xmlns:a16="http://schemas.microsoft.com/office/drawing/2014/main" id="{8F94CA3B-1382-95DC-4355-58FA68F3EDD5}"/>
              </a:ext>
            </a:extLst>
          </p:cNvPr>
          <p:cNvSpPr/>
          <p:nvPr/>
        </p:nvSpPr>
        <p:spPr>
          <a:xfrm rot="20800561">
            <a:off x="3324848" y="3976719"/>
            <a:ext cx="325257" cy="1656967"/>
          </a:xfrm>
          <a:prstGeom prst="up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765B04-ACE4-6963-DD3A-245B754838F0}"/>
              </a:ext>
            </a:extLst>
          </p:cNvPr>
          <p:cNvSpPr txBox="1"/>
          <p:nvPr/>
        </p:nvSpPr>
        <p:spPr>
          <a:xfrm>
            <a:off x="3138295" y="5636591"/>
            <a:ext cx="1264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FF0000"/>
                </a:solidFill>
              </a:rPr>
              <a:t>p</a:t>
            </a:r>
            <a:r>
              <a:rPr lang="en-US" dirty="0">
                <a:solidFill>
                  <a:srgbClr val="FF0000"/>
                </a:solidFill>
              </a:rPr>
              <a:t>-values on the inside</a:t>
            </a:r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D603F0B7-3896-07E6-278A-3FCEDA9B88D1}"/>
              </a:ext>
            </a:extLst>
          </p:cNvPr>
          <p:cNvSpPr/>
          <p:nvPr/>
        </p:nvSpPr>
        <p:spPr>
          <a:xfrm rot="12408813">
            <a:off x="430673" y="1710502"/>
            <a:ext cx="325257" cy="996027"/>
          </a:xfrm>
          <a:prstGeom prst="up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F193AA-9EBD-11A4-ED43-C23E0FF64C7A}"/>
              </a:ext>
            </a:extLst>
          </p:cNvPr>
          <p:cNvSpPr txBox="1"/>
          <p:nvPr/>
        </p:nvSpPr>
        <p:spPr>
          <a:xfrm>
            <a:off x="223510" y="1131257"/>
            <a:ext cx="1264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z-scores on the outside</a:t>
            </a:r>
          </a:p>
        </p:txBody>
      </p:sp>
      <p:sp>
        <p:nvSpPr>
          <p:cNvPr id="14" name="Arrow: Up 13">
            <a:extLst>
              <a:ext uri="{FF2B5EF4-FFF2-40B4-BE49-F238E27FC236}">
                <a16:creationId xmlns:a16="http://schemas.microsoft.com/office/drawing/2014/main" id="{37478A99-3028-52E7-2947-8DD3B12DD2B9}"/>
              </a:ext>
            </a:extLst>
          </p:cNvPr>
          <p:cNvSpPr/>
          <p:nvPr/>
        </p:nvSpPr>
        <p:spPr>
          <a:xfrm rot="20800561">
            <a:off x="9214683" y="3964445"/>
            <a:ext cx="325257" cy="1656967"/>
          </a:xfrm>
          <a:prstGeom prst="up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6F0B0D-2C13-E008-F586-F7D76A93146C}"/>
              </a:ext>
            </a:extLst>
          </p:cNvPr>
          <p:cNvSpPr txBox="1"/>
          <p:nvPr/>
        </p:nvSpPr>
        <p:spPr>
          <a:xfrm>
            <a:off x="9028130" y="5624317"/>
            <a:ext cx="1264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FF0000"/>
                </a:solidFill>
              </a:rPr>
              <a:t>t</a:t>
            </a:r>
            <a:r>
              <a:rPr lang="en-US" dirty="0">
                <a:solidFill>
                  <a:srgbClr val="FF0000"/>
                </a:solidFill>
              </a:rPr>
              <a:t>-scores on the inside</a:t>
            </a:r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DFA5F9B6-E29B-0ABA-E60A-81AA50EED58E}"/>
              </a:ext>
            </a:extLst>
          </p:cNvPr>
          <p:cNvSpPr/>
          <p:nvPr/>
        </p:nvSpPr>
        <p:spPr>
          <a:xfrm rot="9535800">
            <a:off x="8098344" y="1777916"/>
            <a:ext cx="325257" cy="799832"/>
          </a:xfrm>
          <a:prstGeom prst="up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84810D-964C-1AD5-2CA2-985CCC2A3C8C}"/>
              </a:ext>
            </a:extLst>
          </p:cNvPr>
          <p:cNvSpPr txBox="1"/>
          <p:nvPr/>
        </p:nvSpPr>
        <p:spPr>
          <a:xfrm>
            <a:off x="7501400" y="1116486"/>
            <a:ext cx="1264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FF0000"/>
                </a:solidFill>
              </a:rPr>
              <a:t>p</a:t>
            </a:r>
            <a:r>
              <a:rPr lang="en-US" dirty="0">
                <a:solidFill>
                  <a:srgbClr val="FF0000"/>
                </a:solidFill>
              </a:rPr>
              <a:t>-values on the top</a:t>
            </a:r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51F5C806-7640-2BF3-24AE-312B8A6AB361}"/>
              </a:ext>
            </a:extLst>
          </p:cNvPr>
          <p:cNvSpPr/>
          <p:nvPr/>
        </p:nvSpPr>
        <p:spPr>
          <a:xfrm rot="10800000">
            <a:off x="5909482" y="2046073"/>
            <a:ext cx="325257" cy="799832"/>
          </a:xfrm>
          <a:prstGeom prst="up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C7E237-FDBA-99BA-6EB4-8FF7CCECCBE5}"/>
              </a:ext>
            </a:extLst>
          </p:cNvPr>
          <p:cNvSpPr txBox="1"/>
          <p:nvPr/>
        </p:nvSpPr>
        <p:spPr>
          <a:xfrm>
            <a:off x="5464455" y="1352644"/>
            <a:ext cx="1264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>
                <a:solidFill>
                  <a:srgbClr val="FF0000"/>
                </a:solidFill>
              </a:rPr>
              <a:t>df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on the left</a:t>
            </a:r>
          </a:p>
        </p:txBody>
      </p:sp>
    </p:spTree>
    <p:extLst>
      <p:ext uri="{BB962C8B-B14F-4D97-AF65-F5344CB8AC3E}">
        <p14:creationId xmlns:p14="http://schemas.microsoft.com/office/powerpoint/2010/main" val="273828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 animBg="1"/>
      <p:bldP spid="6" grpId="0"/>
      <p:bldP spid="9" grpId="0" animBg="1"/>
      <p:bldP spid="10" grpId="0"/>
      <p:bldP spid="14" grpId="0" animBg="1"/>
      <p:bldP spid="15" grpId="0"/>
      <p:bldP spid="16" grpId="0" animBg="1"/>
      <p:bldP spid="17" grpId="0"/>
      <p:bldP spid="18" grpId="0" animBg="1"/>
      <p:bldP spid="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7797-DCB6-AD42-A3A1-516BAC1C9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3 - Changes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1571F2-5BFE-824E-8809-10E82BD156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65" t="8498" r="10118" b="54495"/>
          <a:stretch/>
        </p:blipFill>
        <p:spPr>
          <a:xfrm>
            <a:off x="4644477" y="2340773"/>
            <a:ext cx="7547523" cy="451722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8496BC-DFD0-8F4D-B5BD-B0DA5B396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29378" cy="4351338"/>
          </a:xfrm>
        </p:spPr>
        <p:txBody>
          <a:bodyPr/>
          <a:lstStyle/>
          <a:p>
            <a:pPr marL="0" indent="0">
              <a:buNone/>
            </a:pPr>
            <a:r>
              <a:rPr lang="en-CA" i="1" dirty="0"/>
              <a:t>p(</a:t>
            </a:r>
            <a:r>
              <a:rPr lang="el-GR" i="1" dirty="0"/>
              <a:t>α</a:t>
            </a:r>
            <a:r>
              <a:rPr lang="en-CA" i="1" dirty="0"/>
              <a:t>) </a:t>
            </a:r>
            <a:r>
              <a:rPr lang="en-CA" dirty="0"/>
              <a:t>= .05</a:t>
            </a:r>
            <a:r>
              <a:rPr lang="en-CA" baseline="-25000" dirty="0"/>
              <a:t>two-tailed</a:t>
            </a:r>
          </a:p>
          <a:p>
            <a:pPr marL="0" indent="0">
              <a:buNone/>
            </a:pPr>
            <a:r>
              <a:rPr lang="en-CA" i="1" dirty="0"/>
              <a:t>df</a:t>
            </a:r>
            <a:r>
              <a:rPr lang="en-CA" dirty="0"/>
              <a:t> = </a:t>
            </a:r>
            <a:r>
              <a:rPr lang="en-CA" i="1" dirty="0"/>
              <a:t>n-1 </a:t>
            </a:r>
            <a:endParaRPr lang="en-CA" dirty="0"/>
          </a:p>
          <a:p>
            <a:r>
              <a:rPr lang="en-CA" sz="2400" i="1" dirty="0"/>
              <a:t>e.g., if n = 10, </a:t>
            </a:r>
            <a:r>
              <a:rPr lang="en-CA" sz="2400" i="1" dirty="0" err="1"/>
              <a:t>df</a:t>
            </a:r>
            <a:r>
              <a:rPr lang="en-CA" sz="2400" i="1" dirty="0"/>
              <a:t> = 10 - 1 = 9</a:t>
            </a:r>
            <a:endParaRPr lang="en-CA" sz="2400" dirty="0"/>
          </a:p>
          <a:p>
            <a:pPr marL="0" indent="0">
              <a:buNone/>
            </a:pPr>
            <a:r>
              <a:rPr lang="en-CA" i="1" dirty="0"/>
              <a:t>t</a:t>
            </a:r>
            <a:r>
              <a:rPr lang="en-CA" dirty="0"/>
              <a:t>(crit) = 2.2622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7AF3F81-2646-D94F-9054-B8DABE1A8F47}"/>
              </a:ext>
            </a:extLst>
          </p:cNvPr>
          <p:cNvSpPr/>
          <p:nvPr/>
        </p:nvSpPr>
        <p:spPr>
          <a:xfrm>
            <a:off x="5065160" y="6311900"/>
            <a:ext cx="256853" cy="1809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4866492-9316-EC4D-B76B-C7236A13EA2E}"/>
              </a:ext>
            </a:extLst>
          </p:cNvPr>
          <p:cNvSpPr/>
          <p:nvPr/>
        </p:nvSpPr>
        <p:spPr>
          <a:xfrm>
            <a:off x="7262118" y="4695290"/>
            <a:ext cx="2806556" cy="15200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218C04A-C9C4-8B41-B07D-923FBAD05AE5}"/>
              </a:ext>
            </a:extLst>
          </p:cNvPr>
          <p:cNvSpPr/>
          <p:nvPr/>
        </p:nvSpPr>
        <p:spPr>
          <a:xfrm>
            <a:off x="9001362" y="4855717"/>
            <a:ext cx="337847" cy="15200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FB35CC8-C596-984E-BF14-5D3F2EA698BC}"/>
              </a:ext>
            </a:extLst>
          </p:cNvPr>
          <p:cNvCxnSpPr/>
          <p:nvPr/>
        </p:nvCxnSpPr>
        <p:spPr>
          <a:xfrm>
            <a:off x="9123453" y="5007724"/>
            <a:ext cx="0" cy="1304176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847CD1F-C05F-DE4B-A3E4-7FD05592DC71}"/>
              </a:ext>
            </a:extLst>
          </p:cNvPr>
          <p:cNvCxnSpPr>
            <a:cxnSpLocks/>
          </p:cNvCxnSpPr>
          <p:nvPr/>
        </p:nvCxnSpPr>
        <p:spPr>
          <a:xfrm>
            <a:off x="5322013" y="6411074"/>
            <a:ext cx="3493214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62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7797-DCB6-AD42-A3A1-516BAC1C9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3 - Changes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1571F2-5BFE-824E-8809-10E82BD156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65" t="8498" r="10118" b="54495"/>
          <a:stretch/>
        </p:blipFill>
        <p:spPr>
          <a:xfrm>
            <a:off x="4644477" y="2340773"/>
            <a:ext cx="7547523" cy="451722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8496BC-DFD0-8F4D-B5BD-B0DA5B396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29378" cy="4351338"/>
          </a:xfrm>
        </p:spPr>
        <p:txBody>
          <a:bodyPr/>
          <a:lstStyle/>
          <a:p>
            <a:pPr marL="0" indent="0">
              <a:buNone/>
            </a:pPr>
            <a:r>
              <a:rPr lang="en-CA" i="1" dirty="0"/>
              <a:t>p(</a:t>
            </a:r>
            <a:r>
              <a:rPr lang="el-GR" i="1" dirty="0"/>
              <a:t>α</a:t>
            </a:r>
            <a:r>
              <a:rPr lang="en-CA" i="1" dirty="0"/>
              <a:t>) </a:t>
            </a:r>
            <a:r>
              <a:rPr lang="en-CA" dirty="0"/>
              <a:t>= .05</a:t>
            </a:r>
            <a:r>
              <a:rPr lang="en-CA" baseline="-25000" dirty="0"/>
              <a:t>one-tailed</a:t>
            </a:r>
          </a:p>
          <a:p>
            <a:pPr marL="0" indent="0">
              <a:buNone/>
            </a:pPr>
            <a:r>
              <a:rPr lang="en-CA" i="1" dirty="0"/>
              <a:t>df</a:t>
            </a:r>
            <a:r>
              <a:rPr lang="en-CA" dirty="0"/>
              <a:t> = </a:t>
            </a:r>
            <a:r>
              <a:rPr lang="en-CA" i="1" dirty="0"/>
              <a:t>n-1 </a:t>
            </a:r>
          </a:p>
          <a:p>
            <a:r>
              <a:rPr lang="en-CA" sz="2400" i="1" dirty="0"/>
              <a:t>e.g., if n = 10, </a:t>
            </a:r>
            <a:r>
              <a:rPr lang="en-CA" sz="2400" i="1" dirty="0" err="1"/>
              <a:t>df</a:t>
            </a:r>
            <a:r>
              <a:rPr lang="en-CA" sz="2400" i="1" dirty="0"/>
              <a:t> = 10 - 1 = 9</a:t>
            </a:r>
            <a:endParaRPr lang="en-CA" sz="2400" dirty="0"/>
          </a:p>
          <a:p>
            <a:pPr marL="0" indent="0">
              <a:buNone/>
            </a:pPr>
            <a:r>
              <a:rPr lang="en-CA" dirty="0"/>
              <a:t>t(crit) = 1.8331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7AF3F81-2646-D94F-9054-B8DABE1A8F47}"/>
              </a:ext>
            </a:extLst>
          </p:cNvPr>
          <p:cNvSpPr/>
          <p:nvPr/>
        </p:nvSpPr>
        <p:spPr>
          <a:xfrm>
            <a:off x="5065160" y="6311900"/>
            <a:ext cx="256853" cy="18097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4866492-9316-EC4D-B76B-C7236A13EA2E}"/>
              </a:ext>
            </a:extLst>
          </p:cNvPr>
          <p:cNvSpPr/>
          <p:nvPr/>
        </p:nvSpPr>
        <p:spPr>
          <a:xfrm>
            <a:off x="7241569" y="4359859"/>
            <a:ext cx="2806556" cy="15200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218C04A-C9C4-8B41-B07D-923FBAD05AE5}"/>
              </a:ext>
            </a:extLst>
          </p:cNvPr>
          <p:cNvSpPr/>
          <p:nvPr/>
        </p:nvSpPr>
        <p:spPr>
          <a:xfrm>
            <a:off x="8317274" y="4526112"/>
            <a:ext cx="337847" cy="15200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FB35CC8-C596-984E-BF14-5D3F2EA698BC}"/>
              </a:ext>
            </a:extLst>
          </p:cNvPr>
          <p:cNvCxnSpPr>
            <a:cxnSpLocks/>
          </p:cNvCxnSpPr>
          <p:nvPr/>
        </p:nvCxnSpPr>
        <p:spPr>
          <a:xfrm>
            <a:off x="8418238" y="4678119"/>
            <a:ext cx="0" cy="1633781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847CD1F-C05F-DE4B-A3E4-7FD05592DC71}"/>
              </a:ext>
            </a:extLst>
          </p:cNvPr>
          <p:cNvCxnSpPr>
            <a:cxnSpLocks/>
          </p:cNvCxnSpPr>
          <p:nvPr/>
        </p:nvCxnSpPr>
        <p:spPr>
          <a:xfrm>
            <a:off x="5322013" y="6411074"/>
            <a:ext cx="2804845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411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FE24C-5DDF-3EB7-716F-17E6BCB6F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3DF8F-68D0-ED3D-0EF3-E678E4D5D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6596"/>
            <a:ext cx="5257800" cy="6271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1:</a:t>
            </a:r>
          </a:p>
          <a:p>
            <a:r>
              <a:rPr lang="en-US" b="1" i="1" dirty="0"/>
              <a:t>H</a:t>
            </a:r>
            <a:r>
              <a:rPr lang="en-US" b="1" i="1" baseline="-25000" dirty="0"/>
              <a:t>0</a:t>
            </a:r>
            <a:r>
              <a:rPr lang="en-US" b="1" dirty="0"/>
              <a:t>: </a:t>
            </a:r>
            <a:r>
              <a:rPr lang="el-GR" i="1" dirty="0"/>
              <a:t>μ</a:t>
            </a:r>
            <a:r>
              <a:rPr lang="en-CA" dirty="0"/>
              <a:t> =</a:t>
            </a:r>
            <a:r>
              <a:rPr lang="el-GR" dirty="0"/>
              <a:t> </a:t>
            </a:r>
            <a:r>
              <a:rPr lang="en-US" dirty="0"/>
              <a:t>75.00</a:t>
            </a:r>
            <a:endParaRPr lang="en-CA" dirty="0"/>
          </a:p>
          <a:p>
            <a:r>
              <a:rPr lang="en-US" b="1" i="1" dirty="0"/>
              <a:t>H</a:t>
            </a:r>
            <a:r>
              <a:rPr lang="en-US" b="1" i="1" baseline="-25000" dirty="0"/>
              <a:t>1</a:t>
            </a:r>
            <a:r>
              <a:rPr lang="en-US" b="1" dirty="0"/>
              <a:t>: </a:t>
            </a:r>
            <a:r>
              <a:rPr lang="el-GR" i="1" dirty="0"/>
              <a:t>μ</a:t>
            </a:r>
            <a:r>
              <a:rPr lang="en-CA" dirty="0"/>
              <a:t> ≠ </a:t>
            </a:r>
            <a:r>
              <a:rPr lang="en-US" dirty="0"/>
              <a:t>75.00</a:t>
            </a:r>
            <a:endParaRPr lang="en-CA" dirty="0"/>
          </a:p>
          <a:p>
            <a:pPr lvl="1"/>
            <a:r>
              <a:rPr lang="en-CA" dirty="0"/>
              <a:t>Thus, two-tailed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Step 2: </a:t>
            </a:r>
            <a:endParaRPr lang="en-US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Type of Research Design</a:t>
            </a:r>
            <a:r>
              <a:rPr lang="en-US" sz="1200" dirty="0"/>
              <a:t>: Single-Sample Design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Model of Hypothesis Testing</a:t>
            </a:r>
            <a:r>
              <a:rPr lang="en-US" sz="1200" dirty="0"/>
              <a:t>: Random Sampling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Nature of Data (Scales of measurement)</a:t>
            </a:r>
            <a:r>
              <a:rPr lang="en-US" sz="1200" dirty="0"/>
              <a:t>: Score data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Statistic Being Analyzed</a:t>
            </a:r>
            <a:r>
              <a:rPr lang="en-US" sz="1200" dirty="0"/>
              <a:t>: </a:t>
            </a:r>
            <a:r>
              <a:rPr lang="en-CA" sz="1200" dirty="0"/>
              <a:t>x̅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Information about the Population</a:t>
            </a:r>
            <a:r>
              <a:rPr lang="en-US" sz="1200" dirty="0"/>
              <a:t>: </a:t>
            </a:r>
            <a:r>
              <a:rPr lang="el-GR" sz="1200" dirty="0"/>
              <a:t>μ</a:t>
            </a:r>
            <a:r>
              <a:rPr lang="en-US" sz="1200" dirty="0"/>
              <a:t> = 75.00, </a:t>
            </a:r>
            <a:r>
              <a:rPr lang="en-US" sz="1200" dirty="0">
                <a:solidFill>
                  <a:srgbClr val="FF0000"/>
                </a:solidFill>
              </a:rPr>
              <a:t>σ = unknown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Sample Size</a:t>
            </a:r>
            <a:r>
              <a:rPr lang="en-US" sz="1200" dirty="0"/>
              <a:t>: </a:t>
            </a:r>
            <a:r>
              <a:rPr lang="en-US" sz="1200" i="1" dirty="0"/>
              <a:t>n</a:t>
            </a:r>
            <a:r>
              <a:rPr lang="en-US" sz="1200" dirty="0"/>
              <a:t> = 25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Shape</a:t>
            </a:r>
            <a:r>
              <a:rPr lang="en-US" sz="1200" dirty="0"/>
              <a:t>: Normally distributed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Step 3:</a:t>
            </a:r>
          </a:p>
          <a:p>
            <a:r>
              <a:rPr lang="en-CA" i="1" dirty="0"/>
              <a:t>p(</a:t>
            </a:r>
            <a:r>
              <a:rPr lang="el-GR" i="1" dirty="0"/>
              <a:t>α</a:t>
            </a:r>
            <a:r>
              <a:rPr lang="en-CA" i="1" dirty="0"/>
              <a:t>) </a:t>
            </a:r>
            <a:r>
              <a:rPr lang="en-CA" dirty="0"/>
              <a:t>= .05, </a:t>
            </a:r>
            <a:r>
              <a:rPr lang="en-CA" i="1" dirty="0">
                <a:solidFill>
                  <a:srgbClr val="FF0000"/>
                </a:solidFill>
              </a:rPr>
              <a:t>t(crit)</a:t>
            </a:r>
            <a:r>
              <a:rPr lang="en-CA" dirty="0">
                <a:solidFill>
                  <a:srgbClr val="FF0000"/>
                </a:solidFill>
              </a:rPr>
              <a:t> = 2.0639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CA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D66E778-DD84-11D1-B1FC-4A98B0B90E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633816"/>
                <a:ext cx="5257800" cy="62714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dirty="0"/>
                  <a:t>Step 4:</a:t>
                </a:r>
              </a:p>
              <a:p>
                <a:r>
                  <a:rPr lang="en-US" i="1" dirty="0"/>
                  <a:t>t</a:t>
                </a:r>
                <a:r>
                  <a:rPr lang="en-US" dirty="0"/>
                  <a:t>(</a:t>
                </a:r>
                <a:r>
                  <a:rPr lang="en-US" dirty="0" err="1"/>
                  <a:t>obs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82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0000</m:t>
                        </m:r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0000</m:t>
                        </m:r>
                      </m:num>
                      <m:den>
                        <m:r>
                          <m:rPr>
                            <m:nor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2.4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00</m:t>
                        </m:r>
                        <m:r>
                          <m:rPr>
                            <m:nor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US" dirty="0"/>
                  <a:t>  = 2.9167</a:t>
                </a:r>
              </a:p>
              <a:p>
                <a:r>
                  <a:rPr lang="en-US" i="1" dirty="0"/>
                  <a:t>p</a:t>
                </a:r>
                <a:r>
                  <a:rPr lang="en-US" dirty="0"/>
                  <a:t>(</a:t>
                </a:r>
                <a:r>
                  <a:rPr lang="en-US" i="1" dirty="0" err="1"/>
                  <a:t>obs</a:t>
                </a:r>
                <a:r>
                  <a:rPr lang="en-US" dirty="0"/>
                  <a:t>) &lt; .01</a:t>
                </a:r>
                <a:endParaRPr lang="en-US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CA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CA" b="1" dirty="0"/>
                  <a:t>Step 5: </a:t>
                </a:r>
                <a:endParaRPr lang="en-US" b="1" dirty="0"/>
              </a:p>
              <a:p>
                <a:r>
                  <a:rPr lang="en-US" sz="2000" i="1" dirty="0"/>
                  <a:t>t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CA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|2.9167| &gt; </a:t>
                </a:r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(crit) = |2.0639|</a:t>
                </a:r>
              </a:p>
              <a:p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 &lt; .01 &lt;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CA" sz="2000" i="1" dirty="0"/>
                  <a:t>p(</a:t>
                </a:r>
                <a:r>
                  <a:rPr lang="el-GR" sz="2000" i="1" dirty="0"/>
                  <a:t>α</a:t>
                </a:r>
                <a:r>
                  <a:rPr lang="en-CA" sz="2000" i="1" dirty="0"/>
                  <a:t>) </a:t>
                </a:r>
                <a:r>
                  <a:rPr lang="en-CA" sz="2000" dirty="0"/>
                  <a:t>= .05</a:t>
                </a:r>
              </a:p>
              <a:p>
                <a:pPr lvl="1"/>
                <a:r>
                  <a:rPr lang="en-CA" sz="1600" dirty="0"/>
                  <a:t>Reject the null, accept the alternative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b="1" dirty="0"/>
                  <a:t>Step 6: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en-US" sz="2000" dirty="0"/>
                  <a:t>The stats problem generator group’s final exam scores (</a:t>
                </a:r>
                <a:r>
                  <a:rPr lang="en-CA" sz="2000" i="1" dirty="0"/>
                  <a:t>x̅ </a:t>
                </a:r>
                <a:r>
                  <a:rPr lang="en-CA" sz="2000" dirty="0"/>
                  <a:t>= 82.00%, </a:t>
                </a:r>
                <a:r>
                  <a:rPr lang="en-CA" sz="2000" i="1" dirty="0"/>
                  <a:t>s</a:t>
                </a:r>
                <a:r>
                  <a:rPr lang="en-CA" sz="2000" dirty="0"/>
                  <a:t> = 12.00%, </a:t>
                </a:r>
                <a:r>
                  <a:rPr lang="en-CA" sz="2000" i="1" dirty="0"/>
                  <a:t>n </a:t>
                </a:r>
                <a:r>
                  <a:rPr lang="en-CA" sz="2000" dirty="0"/>
                  <a:t>= 25</a:t>
                </a:r>
                <a:r>
                  <a:rPr lang="en-US" sz="2000" dirty="0"/>
                  <a:t>) were statistically higher than the average of the class (</a:t>
                </a:r>
                <a:r>
                  <a:rPr lang="el-GR" sz="2000" dirty="0"/>
                  <a:t>μ</a:t>
                </a:r>
                <a:r>
                  <a:rPr lang="en-CA" sz="2000" dirty="0"/>
                  <a:t> = 75.00%</a:t>
                </a:r>
                <a:r>
                  <a:rPr lang="en-US" sz="2000" dirty="0"/>
                  <a:t>), </a:t>
                </a:r>
                <a:r>
                  <a:rPr lang="en-US" sz="2000" i="1" dirty="0"/>
                  <a:t>t</a:t>
                </a:r>
                <a:r>
                  <a:rPr lang="en-US" sz="2000" dirty="0"/>
                  <a:t>(24) = 2.92, </a:t>
                </a:r>
                <a:r>
                  <a:rPr lang="en-US" sz="2000" i="1" dirty="0"/>
                  <a:t>p</a:t>
                </a:r>
                <a:r>
                  <a:rPr lang="en-US" sz="2000" dirty="0"/>
                  <a:t> &lt; .01. The problem generator increased the group’s exam score.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CA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D66E778-DD84-11D1-B1FC-4A98B0B90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33816"/>
                <a:ext cx="5257800" cy="6271404"/>
              </a:xfrm>
              <a:prstGeom prst="rect">
                <a:avLst/>
              </a:prstGeom>
              <a:blipFill>
                <a:blip r:embed="rId2"/>
                <a:stretch>
                  <a:fillRect l="-2317" t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4">
            <a:extLst>
              <a:ext uri="{FF2B5EF4-FFF2-40B4-BE49-F238E27FC236}">
                <a16:creationId xmlns:a16="http://schemas.microsoft.com/office/drawing/2014/main" id="{C6DBE550-38F2-57DE-5CD8-08036E1D0A19}"/>
              </a:ext>
            </a:extLst>
          </p:cNvPr>
          <p:cNvSpPr/>
          <p:nvPr/>
        </p:nvSpPr>
        <p:spPr>
          <a:xfrm>
            <a:off x="580622" y="5396248"/>
            <a:ext cx="4588565" cy="114514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822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75923-CF61-2C4D-8D5D-87E9EA266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4 -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697E4-29FA-5846-9A92-5545C7521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b="1" dirty="0"/>
              <a:t>We know standard deviation (SD) as: </a:t>
            </a:r>
          </a:p>
          <a:p>
            <a:pPr marL="0" indent="0">
              <a:buNone/>
            </a:pPr>
            <a:endParaRPr lang="en-CA" b="1" dirty="0"/>
          </a:p>
          <a:p>
            <a:r>
              <a:rPr lang="en-CA" dirty="0"/>
              <a:t>We’re now going to use standard deviation to estimate </a:t>
            </a:r>
            <a:r>
              <a:rPr lang="en-US" dirty="0" err="1"/>
              <a:t>σ</a:t>
            </a:r>
            <a:endParaRPr lang="en-US" dirty="0"/>
          </a:p>
          <a:p>
            <a:r>
              <a:rPr lang="en-US" dirty="0"/>
              <a:t>But it underestimates it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So, we will now compute standard deviation (s) as: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Degrees of Freedom (df; n-1): </a:t>
            </a:r>
            <a:r>
              <a:rPr lang="en-US" dirty="0"/>
              <a:t>df is a </a:t>
            </a:r>
            <a:r>
              <a:rPr lang="en-US" i="1" dirty="0"/>
              <a:t>correction</a:t>
            </a:r>
            <a:r>
              <a:rPr lang="en-US" dirty="0"/>
              <a:t> to our equation so that it no longer underestimates </a:t>
            </a:r>
            <a:r>
              <a:rPr lang="en-US" dirty="0" err="1"/>
              <a:t>σ</a:t>
            </a:r>
            <a:endParaRPr lang="en-US" dirty="0"/>
          </a:p>
          <a:p>
            <a:pPr lvl="1"/>
            <a:r>
              <a:rPr lang="en-US" dirty="0"/>
              <a:t>We correct it by the </a:t>
            </a:r>
            <a:r>
              <a:rPr lang="en-US" i="1" dirty="0"/>
              <a:t>number of parameters</a:t>
            </a:r>
            <a:r>
              <a:rPr lang="en-US" dirty="0"/>
              <a:t> we are estimating (here σ)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2" descr="Calculate Standard Deviation with Hair">
            <a:extLst>
              <a:ext uri="{FF2B5EF4-FFF2-40B4-BE49-F238E27FC236}">
                <a16:creationId xmlns:a16="http://schemas.microsoft.com/office/drawing/2014/main" id="{1FD59B4F-89C3-F44A-83F7-0368A26461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66"/>
          <a:stretch/>
        </p:blipFill>
        <p:spPr bwMode="auto">
          <a:xfrm>
            <a:off x="6433317" y="1690688"/>
            <a:ext cx="1465357" cy="1210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2CB6AB9-4547-3843-BA59-5EEF123FD2E9}"/>
              </a:ext>
            </a:extLst>
          </p:cNvPr>
          <p:cNvGrpSpPr/>
          <p:nvPr/>
        </p:nvGrpSpPr>
        <p:grpSpPr>
          <a:xfrm>
            <a:off x="8563199" y="4279465"/>
            <a:ext cx="1465357" cy="1210058"/>
            <a:chOff x="8258399" y="4341811"/>
            <a:chExt cx="1465357" cy="1210058"/>
          </a:xfrm>
        </p:grpSpPr>
        <p:pic>
          <p:nvPicPr>
            <p:cNvPr id="6" name="Picture 2" descr="Calculate Standard Deviation with Hair">
              <a:extLst>
                <a:ext uri="{FF2B5EF4-FFF2-40B4-BE49-F238E27FC236}">
                  <a16:creationId xmlns:a16="http://schemas.microsoft.com/office/drawing/2014/main" id="{6D615704-7ABF-7E46-89D4-01F6964C2B4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866"/>
            <a:stretch/>
          </p:blipFill>
          <p:spPr bwMode="auto">
            <a:xfrm>
              <a:off x="8258399" y="4341811"/>
              <a:ext cx="1465357" cy="12100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0DC9882-7E72-084A-81A3-FC38864795BC}"/>
                </a:ext>
              </a:extLst>
            </p:cNvPr>
            <p:cNvSpPr/>
            <p:nvPr/>
          </p:nvSpPr>
          <p:spPr>
            <a:xfrm>
              <a:off x="8884693" y="5131558"/>
              <a:ext cx="491319" cy="2866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22CB701-C6F9-094A-ACA4-E3F4F6008489}"/>
                </a:ext>
              </a:extLst>
            </p:cNvPr>
            <p:cNvGrpSpPr/>
            <p:nvPr/>
          </p:nvGrpSpPr>
          <p:grpSpPr>
            <a:xfrm>
              <a:off x="8787994" y="5069149"/>
              <a:ext cx="588018" cy="369332"/>
              <a:chOff x="8391754" y="4307451"/>
              <a:chExt cx="588018" cy="369332"/>
            </a:xfrm>
          </p:grpSpPr>
          <p:pic>
            <p:nvPicPr>
              <p:cNvPr id="7" name="Picture 2" descr="Calculate Standard Deviation with Hair">
                <a:extLst>
                  <a:ext uri="{FF2B5EF4-FFF2-40B4-BE49-F238E27FC236}">
                    <a16:creationId xmlns:a16="http://schemas.microsoft.com/office/drawing/2014/main" id="{C6C5C670-D89F-5D4E-87C8-55D5D3409F5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2998" t="66075" r="22631" b="8675"/>
              <a:stretch/>
            </p:blipFill>
            <p:spPr bwMode="auto">
              <a:xfrm>
                <a:off x="8391754" y="4332452"/>
                <a:ext cx="300250" cy="3055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6245B2-566B-6447-AB7F-25C886772B34}"/>
                  </a:ext>
                </a:extLst>
              </p:cNvPr>
              <p:cNvSpPr txBox="1"/>
              <p:nvPr/>
            </p:nvSpPr>
            <p:spPr>
              <a:xfrm>
                <a:off x="8538626" y="4307451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- 1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2251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75923-CF61-2C4D-8D5D-87E9EA266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4 - Changes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A697E4-29FA-5846-9A92-5545C75218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New Test Ratio</a:t>
                </a:r>
                <a:r>
                  <a:rPr lang="en-US" b="1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̅</m:t>
                        </m:r>
                      </m:sub>
                    </m:sSub>
                    <m:r>
                      <a:rPr lang="en-US" sz="3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̅</m:t>
                        </m:r>
                        <m:r>
                          <a:rPr lang="en-CA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CA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3200" i="0" dirty="0">
                                <a:solidFill>
                                  <a:schemeClr val="tx1"/>
                                </a:solidFill>
                              </a:rPr>
                              <m:t>μ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̅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3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3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3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3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̅</m:t>
                            </m:r>
                          </m:sub>
                        </m:sSub>
                      </m:den>
                    </m:f>
                  </m:oMath>
                </a14:m>
                <a:endParaRPr lang="en-US" b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tx1"/>
                    </a:solidFill>
                  </a:rPr>
                  <a:t>	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̅̅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b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/>
                  <a:t>	</a:t>
                </a:r>
              </a:p>
              <a:p>
                <a:pPr marL="0" indent="0">
                  <a:buNone/>
                </a:pPr>
                <a:r>
                  <a:rPr lang="en-US" b="1" dirty="0"/>
                  <a:t>	where </a:t>
                </a:r>
                <a:r>
                  <a:rPr lang="en-US" i="1" dirty="0"/>
                  <a:t>s</a:t>
                </a:r>
                <a:r>
                  <a:rPr lang="en-US" dirty="0"/>
                  <a:t> =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𝑆𝑆</m:t>
                            </m:r>
                          </m:num>
                          <m:den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∑</m:t>
                            </m:r>
                            <m:sSup>
                              <m:sSupPr>
                                <m:ctrlPr>
                                  <a:rPr lang="en-US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̅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rad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b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A697E4-29FA-5846-9A92-5545C75218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5279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AD3D9-09FE-B887-8A33-E48082247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55">
            <a:extLst>
              <a:ext uri="{FF2B5EF4-FFF2-40B4-BE49-F238E27FC236}">
                <a16:creationId xmlns:a16="http://schemas.microsoft.com/office/drawing/2014/main" id="{C52DD19D-F54A-67EB-C44C-6AAC60C23EB5}"/>
              </a:ext>
            </a:extLst>
          </p:cNvPr>
          <p:cNvSpPr/>
          <p:nvPr/>
        </p:nvSpPr>
        <p:spPr>
          <a:xfrm>
            <a:off x="9058046" y="3465576"/>
            <a:ext cx="1508760" cy="658368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65000"/>
              </a:schemeClr>
            </a:solidFill>
            <a:prstDash val="solid"/>
          </a:ln>
          <a:effectLst>
            <a:outerShdw blurRad="76200" dist="25400" dir="5400000" algn="ctr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A86F138-C734-69B8-A22A-C55223987B28}"/>
              </a:ext>
            </a:extLst>
          </p:cNvPr>
          <p:cNvSpPr/>
          <p:nvPr/>
        </p:nvSpPr>
        <p:spPr>
          <a:xfrm>
            <a:off x="1051560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>
                <a:extLst>
                  <a:ext uri="{FF2B5EF4-FFF2-40B4-BE49-F238E27FC236}">
                    <a16:creationId xmlns:a16="http://schemas.microsoft.com/office/drawing/2014/main" id="{AE069FB8-A571-F088-9AF7-CD270A4A5540}"/>
                  </a:ext>
                </a:extLst>
              </p:cNvPr>
              <p:cNvSpPr/>
              <p:nvPr/>
            </p:nvSpPr>
            <p:spPr>
              <a:xfrm>
                <a:off x="197968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̄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68" y="2880360"/>
                <a:ext cx="2011680" cy="5029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>
            <a:extLst>
              <a:ext uri="{FF2B5EF4-FFF2-40B4-BE49-F238E27FC236}">
                <a16:creationId xmlns:a16="http://schemas.microsoft.com/office/drawing/2014/main" id="{19596F26-1154-3A6F-F747-CD387ED3D506}"/>
              </a:ext>
            </a:extLst>
          </p:cNvPr>
          <p:cNvSpPr/>
          <p:nvPr/>
        </p:nvSpPr>
        <p:spPr>
          <a:xfrm>
            <a:off x="2499055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237B7B2-2C14-4F2B-EE77-2BF4ECD2E0B0}"/>
              </a:ext>
            </a:extLst>
          </p:cNvPr>
          <p:cNvSpPr/>
          <p:nvPr/>
        </p:nvSpPr>
        <p:spPr>
          <a:xfrm>
            <a:off x="4083710" y="3785616"/>
            <a:ext cx="304495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E099C15-EEEC-CECE-3FFE-BB6A979D1A58}"/>
              </a:ext>
            </a:extLst>
          </p:cNvPr>
          <p:cNvSpPr/>
          <p:nvPr/>
        </p:nvSpPr>
        <p:spPr>
          <a:xfrm>
            <a:off x="5759806" y="3785616"/>
            <a:ext cx="304495" cy="9144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>
                <a:extLst>
                  <a:ext uri="{FF2B5EF4-FFF2-40B4-BE49-F238E27FC236}">
                    <a16:creationId xmlns:a16="http://schemas.microsoft.com/office/drawing/2014/main" id="{DC6DDA76-A61D-75BD-7E37-D4A3CBE4D22A}"/>
                  </a:ext>
                </a:extLst>
              </p:cNvPr>
              <p:cNvSpPr/>
              <p:nvPr/>
            </p:nvSpPr>
            <p:spPr>
              <a:xfrm>
                <a:off x="4906213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6213" y="2880360"/>
                <a:ext cx="2011680" cy="502920"/>
              </a:xfrm>
              <a:prstGeom prst="rect">
                <a:avLst/>
              </a:prstGeom>
              <a:blipFill>
                <a:blip r:embed="rId4"/>
                <a:stretch>
                  <a:fillRect t="-73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>
            <a:extLst>
              <a:ext uri="{FF2B5EF4-FFF2-40B4-BE49-F238E27FC236}">
                <a16:creationId xmlns:a16="http://schemas.microsoft.com/office/drawing/2014/main" id="{4D3C63DF-8DE2-797E-837B-6D8EC7CDF427}"/>
              </a:ext>
            </a:extLst>
          </p:cNvPr>
          <p:cNvSpPr/>
          <p:nvPr/>
        </p:nvSpPr>
        <p:spPr>
          <a:xfrm>
            <a:off x="7253021" y="3785616"/>
            <a:ext cx="304495" cy="9144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>
                <a:extLst>
                  <a:ext uri="{FF2B5EF4-FFF2-40B4-BE49-F238E27FC236}">
                    <a16:creationId xmlns:a16="http://schemas.microsoft.com/office/drawing/2014/main" id="{F0ADC96E-6C6E-F76D-8DB7-AF2CF50D3220}"/>
                  </a:ext>
                </a:extLst>
              </p:cNvPr>
              <p:cNvSpPr/>
              <p:nvPr/>
            </p:nvSpPr>
            <p:spPr>
              <a:xfrm>
                <a:off x="6399428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𝑆𝐷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428" y="2880360"/>
                <a:ext cx="2011680" cy="5029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>
            <a:extLst>
              <a:ext uri="{FF2B5EF4-FFF2-40B4-BE49-F238E27FC236}">
                <a16:creationId xmlns:a16="http://schemas.microsoft.com/office/drawing/2014/main" id="{9F6731C3-F460-AC00-4F47-941563126299}"/>
              </a:ext>
            </a:extLst>
          </p:cNvPr>
          <p:cNvSpPr/>
          <p:nvPr/>
        </p:nvSpPr>
        <p:spPr>
          <a:xfrm>
            <a:off x="8746236" y="3785616"/>
            <a:ext cx="304495" cy="9144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4B31C31-F658-F445-F525-20F3177878C4}"/>
              </a:ext>
            </a:extLst>
          </p:cNvPr>
          <p:cNvSpPr/>
          <p:nvPr/>
        </p:nvSpPr>
        <p:spPr>
          <a:xfrm>
            <a:off x="10559491" y="3785616"/>
            <a:ext cx="304495" cy="9144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0DB7528-4ECD-2BDF-7D2F-08581FFE5AF9}"/>
              </a:ext>
            </a:extLst>
          </p:cNvPr>
          <p:cNvSpPr/>
          <p:nvPr/>
        </p:nvSpPr>
        <p:spPr>
          <a:xfrm flipV="1">
            <a:off x="731520" y="2788920"/>
            <a:ext cx="9144" cy="667512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E066A38E-4E5F-1FA4-F7D7-325D65849D0A}"/>
              </a:ext>
            </a:extLst>
          </p:cNvPr>
          <p:cNvSpPr/>
          <p:nvPr/>
        </p:nvSpPr>
        <p:spPr>
          <a:xfrm>
            <a:off x="411480" y="3456432"/>
            <a:ext cx="640080" cy="658368"/>
          </a:xfrm>
          <a:prstGeom prst="roundRect">
            <a:avLst>
              <a:gd name="adj" fmla="val 12857"/>
            </a:avLst>
          </a:prstGeom>
          <a:solidFill>
            <a:srgbClr val="1B3A4B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D7294566-21D2-020B-F9E9-AAADF6D51E71}"/>
              </a:ext>
            </a:extLst>
          </p:cNvPr>
          <p:cNvSpPr/>
          <p:nvPr/>
        </p:nvSpPr>
        <p:spPr>
          <a:xfrm>
            <a:off x="411480" y="3456432"/>
            <a:ext cx="6400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A0D9B736-89DF-19B8-9894-B691CA5D7449}"/>
              </a:ext>
            </a:extLst>
          </p:cNvPr>
          <p:cNvSpPr/>
          <p:nvPr/>
        </p:nvSpPr>
        <p:spPr>
          <a:xfrm>
            <a:off x="1356055" y="3456432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B6FF66BF-BD8E-8B5B-BB26-DB4520AAF519}"/>
              </a:ext>
            </a:extLst>
          </p:cNvPr>
          <p:cNvSpPr/>
          <p:nvPr/>
        </p:nvSpPr>
        <p:spPr>
          <a:xfrm>
            <a:off x="1356055" y="3456432"/>
            <a:ext cx="11430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B3F468C4-2CF0-E968-8C7D-ACC0B8F694FA}"/>
              </a:ext>
            </a:extLst>
          </p:cNvPr>
          <p:cNvSpPr/>
          <p:nvPr/>
        </p:nvSpPr>
        <p:spPr>
          <a:xfrm>
            <a:off x="2803550" y="3456432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04A7E497-F8F0-E36E-5AFF-1698AC92EB2E}"/>
              </a:ext>
            </a:extLst>
          </p:cNvPr>
          <p:cNvSpPr/>
          <p:nvPr/>
        </p:nvSpPr>
        <p:spPr>
          <a:xfrm>
            <a:off x="2803550" y="3456432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</a:t>
            </a:r>
            <a:endParaRPr lang="en-US" sz="115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BCCAACA2-D38C-EE33-2CF5-8D591FC349D8}"/>
              </a:ext>
            </a:extLst>
          </p:cNvPr>
          <p:cNvSpPr/>
          <p:nvPr/>
        </p:nvSpPr>
        <p:spPr>
          <a:xfrm>
            <a:off x="4388206" y="3456432"/>
            <a:ext cx="13716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434D5029-3565-E85B-C4DF-5F9F992F26D6}"/>
              </a:ext>
            </a:extLst>
          </p:cNvPr>
          <p:cNvSpPr/>
          <p:nvPr/>
        </p:nvSpPr>
        <p:spPr>
          <a:xfrm>
            <a:off x="4388206" y="3456432"/>
            <a:ext cx="13716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Squares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(SS)</a:t>
            </a:r>
            <a:endParaRPr lang="en-US" sz="105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41799BDB-02EC-D5BD-8D12-8CC230FE4705}"/>
              </a:ext>
            </a:extLst>
          </p:cNvPr>
          <p:cNvSpPr/>
          <p:nvPr/>
        </p:nvSpPr>
        <p:spPr>
          <a:xfrm>
            <a:off x="6064301" y="3456432"/>
            <a:ext cx="1188720" cy="658368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B544ED1A-7815-BD24-D6D0-B9371F7EEFD4}"/>
              </a:ext>
            </a:extLst>
          </p:cNvPr>
          <p:cNvSpPr/>
          <p:nvPr/>
        </p:nvSpPr>
        <p:spPr>
          <a:xfrm>
            <a:off x="6064301" y="3577898"/>
            <a:ext cx="1188720" cy="415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(SD²)</a:t>
            </a:r>
            <a:endParaRPr lang="en-US" sz="11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22A77F84-DE46-2EC5-A23F-2FF93B5085B9}"/>
              </a:ext>
            </a:extLst>
          </p:cNvPr>
          <p:cNvSpPr/>
          <p:nvPr/>
        </p:nvSpPr>
        <p:spPr>
          <a:xfrm>
            <a:off x="7557516" y="3456432"/>
            <a:ext cx="1188720" cy="658368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12C76832-FF3E-8F18-C3EE-D06BB79C54E3}"/>
              </a:ext>
            </a:extLst>
          </p:cNvPr>
          <p:cNvSpPr/>
          <p:nvPr/>
        </p:nvSpPr>
        <p:spPr>
          <a:xfrm>
            <a:off x="7557516" y="3593736"/>
            <a:ext cx="1188720" cy="383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(SD)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A5A1C905-F5AA-E1FE-9756-5A5D8E18D93A}"/>
              </a:ext>
            </a:extLst>
          </p:cNvPr>
          <p:cNvSpPr/>
          <p:nvPr/>
        </p:nvSpPr>
        <p:spPr>
          <a:xfrm>
            <a:off x="9050731" y="3593736"/>
            <a:ext cx="1508760" cy="383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Participant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(Sample)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2C92ABDA-3BBA-35F0-FDFB-4348C442F5E4}"/>
              </a:ext>
            </a:extLst>
          </p:cNvPr>
          <p:cNvSpPr/>
          <p:nvPr/>
        </p:nvSpPr>
        <p:spPr>
          <a:xfrm>
            <a:off x="10863986" y="3456432"/>
            <a:ext cx="914400" cy="658368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4FB7839C-01B4-58A6-94C4-722177C4CA76}"/>
              </a:ext>
            </a:extLst>
          </p:cNvPr>
          <p:cNvSpPr/>
          <p:nvPr/>
        </p:nvSpPr>
        <p:spPr>
          <a:xfrm>
            <a:off x="10863986" y="3670808"/>
            <a:ext cx="914400" cy="2296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>
              <a:solidFill>
                <a:schemeClr val="bg1">
                  <a:lumMod val="6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 8">
                <a:extLst>
                  <a:ext uri="{FF2B5EF4-FFF2-40B4-BE49-F238E27FC236}">
                    <a16:creationId xmlns:a16="http://schemas.microsoft.com/office/drawing/2014/main" id="{98B4CC54-9F60-13C4-A6E3-5E0AB71B5BCD}"/>
                  </a:ext>
                </a:extLst>
              </p:cNvPr>
              <p:cNvSpPr/>
              <p:nvPr/>
            </p:nvSpPr>
            <p:spPr>
              <a:xfrm>
                <a:off x="3268465" y="295183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10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𝑆𝑞𝑢𝑎𝑟𝑒𝑑</m:t>
                                  </m:r>
                                </m:e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𝐷𝑒𝑣𝑖𝑎𝑡𝑖𝑜𝑛𝑠</m:t>
                                  </m:r>
                                </m:e>
                              </m:eqArr>
                            </m:e>
                          </m:d>
                        </m:e>
                      </m:nary>
                    </m:oMath>
                  </m:oMathPara>
                </a14:m>
                <a:endParaRPr lang="en-US" sz="11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3" name="Text 8">
                <a:extLst>
                  <a:ext uri="{FF2B5EF4-FFF2-40B4-BE49-F238E27FC236}">
                    <a16:creationId xmlns:a16="http://schemas.microsoft.com/office/drawing/2014/main" id="{C3375308-DE76-E633-1720-465B077EC6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465" y="2951830"/>
                <a:ext cx="2011680" cy="502920"/>
              </a:xfrm>
              <a:prstGeom prst="rect">
                <a:avLst/>
              </a:prstGeom>
              <a:blipFill>
                <a:blip r:embed="rId6"/>
                <a:stretch>
                  <a:fillRect l="-3939" t="-113253" b="-1590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 14">
                <a:extLst>
                  <a:ext uri="{FF2B5EF4-FFF2-40B4-BE49-F238E27FC236}">
                    <a16:creationId xmlns:a16="http://schemas.microsoft.com/office/drawing/2014/main" id="{78F70BC5-D845-DD81-2105-D3C842385B86}"/>
                  </a:ext>
                </a:extLst>
              </p:cNvPr>
              <p:cNvSpPr/>
              <p:nvPr/>
            </p:nvSpPr>
            <p:spPr>
              <a:xfrm>
                <a:off x="7892644" y="288036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acc>
                            <m:accPr>
                              <m:chr m:val="̄"/>
                              <m:ctrlP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i="0" dirty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</a:rPr>
                            <m:t> 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𝑆𝐷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5" name="Text 14">
                <a:extLst>
                  <a:ext uri="{FF2B5EF4-FFF2-40B4-BE49-F238E27FC236}">
                    <a16:creationId xmlns:a16="http://schemas.microsoft.com/office/drawing/2014/main" id="{BCC7FEDE-DECD-22B2-198F-5BBA96FC41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644" y="2880360"/>
                <a:ext cx="2011680" cy="502920"/>
              </a:xfrm>
              <a:prstGeom prst="rect">
                <a:avLst/>
              </a:prstGeom>
              <a:blipFill>
                <a:blip r:embed="rId7"/>
                <a:stretch>
                  <a:fillRect t="-609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ext 16">
            <a:extLst>
              <a:ext uri="{FF2B5EF4-FFF2-40B4-BE49-F238E27FC236}">
                <a16:creationId xmlns:a16="http://schemas.microsoft.com/office/drawing/2014/main" id="{68BDD7C9-EE92-B79A-71AD-C3F8827A4B8B}"/>
              </a:ext>
            </a:extLst>
          </p:cNvPr>
          <p:cNvSpPr/>
          <p:nvPr/>
        </p:nvSpPr>
        <p:spPr>
          <a:xfrm>
            <a:off x="9705899" y="2880360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9" name="Shape 17">
            <a:extLst>
              <a:ext uri="{FF2B5EF4-FFF2-40B4-BE49-F238E27FC236}">
                <a16:creationId xmlns:a16="http://schemas.microsoft.com/office/drawing/2014/main" id="{E5414018-49C6-6518-4853-2C7AEB96C80D}"/>
              </a:ext>
            </a:extLst>
          </p:cNvPr>
          <p:cNvSpPr/>
          <p:nvPr/>
        </p:nvSpPr>
        <p:spPr>
          <a:xfrm>
            <a:off x="731520" y="4114800"/>
            <a:ext cx="0" cy="914400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18">
            <a:extLst>
              <a:ext uri="{FF2B5EF4-FFF2-40B4-BE49-F238E27FC236}">
                <a16:creationId xmlns:a16="http://schemas.microsoft.com/office/drawing/2014/main" id="{C3D0474D-7F98-CBE6-4408-EA9E7ECDEAB4}"/>
              </a:ext>
            </a:extLst>
          </p:cNvPr>
          <p:cNvSpPr/>
          <p:nvPr/>
        </p:nvSpPr>
        <p:spPr>
          <a:xfrm>
            <a:off x="737147" y="5029200"/>
            <a:ext cx="1234440" cy="9144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19">
            <a:extLst>
              <a:ext uri="{FF2B5EF4-FFF2-40B4-BE49-F238E27FC236}">
                <a16:creationId xmlns:a16="http://schemas.microsoft.com/office/drawing/2014/main" id="{E6ACE5E5-A438-34D9-0064-D8F3CEE0EB73}"/>
              </a:ext>
            </a:extLst>
          </p:cNvPr>
          <p:cNvSpPr/>
          <p:nvPr/>
        </p:nvSpPr>
        <p:spPr>
          <a:xfrm>
            <a:off x="1975104" y="5029200"/>
            <a:ext cx="9144" cy="548640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 20">
                <a:extLst>
                  <a:ext uri="{FF2B5EF4-FFF2-40B4-BE49-F238E27FC236}">
                    <a16:creationId xmlns:a16="http://schemas.microsoft.com/office/drawing/2014/main" id="{D5D260A8-5FC5-7347-B1FD-665D36F80B10}"/>
                  </a:ext>
                </a:extLst>
              </p:cNvPr>
              <p:cNvSpPr/>
              <p:nvPr/>
            </p:nvSpPr>
            <p:spPr>
              <a:xfrm>
                <a:off x="411480" y="4544568"/>
                <a:ext cx="2011680" cy="41148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5" name="Text 20">
                <a:extLst>
                  <a:ext uri="{FF2B5EF4-FFF2-40B4-BE49-F238E27FC236}">
                    <a16:creationId xmlns:a16="http://schemas.microsoft.com/office/drawing/2014/main" id="{164D4969-9BA0-F93C-AED4-C01E925DA2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4544568"/>
                <a:ext cx="2011680" cy="411480"/>
              </a:xfrm>
              <a:prstGeom prst="rect">
                <a:avLst/>
              </a:prstGeom>
              <a:blipFill>
                <a:blip r:embed="rId8"/>
                <a:stretch>
                  <a:fillRect t="-3134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Shape 21">
            <a:extLst>
              <a:ext uri="{FF2B5EF4-FFF2-40B4-BE49-F238E27FC236}">
                <a16:creationId xmlns:a16="http://schemas.microsoft.com/office/drawing/2014/main" id="{3F095DAA-A211-46B7-1641-92D09AE46CBA}"/>
              </a:ext>
            </a:extLst>
          </p:cNvPr>
          <p:cNvSpPr/>
          <p:nvPr/>
        </p:nvSpPr>
        <p:spPr>
          <a:xfrm>
            <a:off x="2889504" y="5907024"/>
            <a:ext cx="320040" cy="9144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39">
            <a:extLst>
              <a:ext uri="{FF2B5EF4-FFF2-40B4-BE49-F238E27FC236}">
                <a16:creationId xmlns:a16="http://schemas.microsoft.com/office/drawing/2014/main" id="{AEBC65B0-E25A-53A0-2A61-7428870DE865}"/>
              </a:ext>
            </a:extLst>
          </p:cNvPr>
          <p:cNvSpPr/>
          <p:nvPr/>
        </p:nvSpPr>
        <p:spPr>
          <a:xfrm>
            <a:off x="1060704" y="5577840"/>
            <a:ext cx="1828800" cy="658368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65000"/>
              </a:schemeClr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EDDC51D3-D590-376E-F29C-237E14B4CB86}"/>
              </a:ext>
            </a:extLst>
          </p:cNvPr>
          <p:cNvSpPr/>
          <p:nvPr/>
        </p:nvSpPr>
        <p:spPr>
          <a:xfrm>
            <a:off x="1060704" y="5715144"/>
            <a:ext cx="1828800" cy="383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Participant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(Population)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3" name="Shape 41">
            <a:extLst>
              <a:ext uri="{FF2B5EF4-FFF2-40B4-BE49-F238E27FC236}">
                <a16:creationId xmlns:a16="http://schemas.microsoft.com/office/drawing/2014/main" id="{1566EFE1-5367-AF73-42FC-7EAD461AE158}"/>
              </a:ext>
            </a:extLst>
          </p:cNvPr>
          <p:cNvSpPr/>
          <p:nvPr/>
        </p:nvSpPr>
        <p:spPr>
          <a:xfrm>
            <a:off x="3209544" y="5577840"/>
            <a:ext cx="822960" cy="658368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42">
            <a:extLst>
              <a:ext uri="{FF2B5EF4-FFF2-40B4-BE49-F238E27FC236}">
                <a16:creationId xmlns:a16="http://schemas.microsoft.com/office/drawing/2014/main" id="{82518A49-DF72-6F21-7DF9-A69634CE6DDE}"/>
              </a:ext>
            </a:extLst>
          </p:cNvPr>
          <p:cNvSpPr/>
          <p:nvPr/>
        </p:nvSpPr>
        <p:spPr>
          <a:xfrm>
            <a:off x="3209544" y="5792216"/>
            <a:ext cx="822960" cy="2296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7" name="Text 16">
            <a:extLst>
              <a:ext uri="{FF2B5EF4-FFF2-40B4-BE49-F238E27FC236}">
                <a16:creationId xmlns:a16="http://schemas.microsoft.com/office/drawing/2014/main" id="{4870E6E2-4699-5484-8B2A-B7BE14FD91FE}"/>
              </a:ext>
            </a:extLst>
          </p:cNvPr>
          <p:cNvSpPr/>
          <p:nvPr/>
        </p:nvSpPr>
        <p:spPr>
          <a:xfrm>
            <a:off x="2072030" y="4988052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9" name="Shape 25">
            <a:extLst>
              <a:ext uri="{FF2B5EF4-FFF2-40B4-BE49-F238E27FC236}">
                <a16:creationId xmlns:a16="http://schemas.microsoft.com/office/drawing/2014/main" id="{602B56F8-F6F6-85B4-9784-CF019E904BEF}"/>
              </a:ext>
            </a:extLst>
          </p:cNvPr>
          <p:cNvSpPr/>
          <p:nvPr/>
        </p:nvSpPr>
        <p:spPr>
          <a:xfrm flipV="1">
            <a:off x="1691640" y="1874520"/>
            <a:ext cx="9144" cy="914400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 26">
                <a:extLst>
                  <a:ext uri="{FF2B5EF4-FFF2-40B4-BE49-F238E27FC236}">
                    <a16:creationId xmlns:a16="http://schemas.microsoft.com/office/drawing/2014/main" id="{B147AAFD-F68B-DCED-6700-B8DAC87369D4}"/>
                  </a:ext>
                </a:extLst>
              </p:cNvPr>
              <p:cNvSpPr/>
              <p:nvPr/>
            </p:nvSpPr>
            <p:spPr>
              <a:xfrm>
                <a:off x="205740" y="2288286"/>
                <a:ext cx="2011680" cy="384048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1" name="Text 26">
                <a:extLst>
                  <a:ext uri="{FF2B5EF4-FFF2-40B4-BE49-F238E27FC236}">
                    <a16:creationId xmlns:a16="http://schemas.microsoft.com/office/drawing/2014/main" id="{22DFB371-7C2B-498F-80ED-5F8BF5EB84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" y="2288286"/>
                <a:ext cx="2011680" cy="384048"/>
              </a:xfrm>
              <a:prstGeom prst="rect">
                <a:avLst/>
              </a:prstGeom>
              <a:blipFill>
                <a:blip r:embed="rId9"/>
                <a:stretch>
                  <a:fillRect t="-4127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Shape 27">
            <a:extLst>
              <a:ext uri="{FF2B5EF4-FFF2-40B4-BE49-F238E27FC236}">
                <a16:creationId xmlns:a16="http://schemas.microsoft.com/office/drawing/2014/main" id="{9F5DA404-07AA-7AE7-7945-D6DCD93C76A6}"/>
              </a:ext>
            </a:extLst>
          </p:cNvPr>
          <p:cNvSpPr/>
          <p:nvPr/>
        </p:nvSpPr>
        <p:spPr>
          <a:xfrm>
            <a:off x="2365578" y="1535512"/>
            <a:ext cx="365760" cy="9144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 28">
                <a:extLst>
                  <a:ext uri="{FF2B5EF4-FFF2-40B4-BE49-F238E27FC236}">
                    <a16:creationId xmlns:a16="http://schemas.microsoft.com/office/drawing/2014/main" id="{F9128284-ABC7-16EA-C903-00C058CBB23F}"/>
                  </a:ext>
                </a:extLst>
              </p:cNvPr>
              <p:cNvSpPr/>
              <p:nvPr/>
            </p:nvSpPr>
            <p:spPr>
              <a:xfrm>
                <a:off x="1598224" y="738302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̄"/>
                              <m:ctrlP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acc>
                                <m:accPr>
                                  <m:chr m:val="̄"/>
                                  <m:ctrlPr>
                                    <a:rPr lang="en-US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acc>
                                <m:accPr>
                                  <m:chr m:val="̄"/>
                                  <m:ctrlPr>
                                    <a:rPr lang="en-US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chemeClr val="bg1">
                                          <a:lumMod val="6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5" name="Text 28">
                <a:extLst>
                  <a:ext uri="{FF2B5EF4-FFF2-40B4-BE49-F238E27FC236}">
                    <a16:creationId xmlns:a16="http://schemas.microsoft.com/office/drawing/2014/main" id="{DEAB942A-7A3D-2FDB-C72D-8734BBEDD9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224" y="738302"/>
                <a:ext cx="2011680" cy="502920"/>
              </a:xfrm>
              <a:prstGeom prst="rect">
                <a:avLst/>
              </a:prstGeom>
              <a:blipFill>
                <a:blip r:embed="rId10"/>
                <a:stretch>
                  <a:fillRect t="-1445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Shape 29">
            <a:extLst>
              <a:ext uri="{FF2B5EF4-FFF2-40B4-BE49-F238E27FC236}">
                <a16:creationId xmlns:a16="http://schemas.microsoft.com/office/drawing/2014/main" id="{CB9E33B2-6897-B565-C68C-58D0F0783F3E}"/>
              </a:ext>
            </a:extLst>
          </p:cNvPr>
          <p:cNvSpPr/>
          <p:nvPr/>
        </p:nvSpPr>
        <p:spPr>
          <a:xfrm>
            <a:off x="4194378" y="1535512"/>
            <a:ext cx="365760" cy="9144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51">
            <a:extLst>
              <a:ext uri="{FF2B5EF4-FFF2-40B4-BE49-F238E27FC236}">
                <a16:creationId xmlns:a16="http://schemas.microsoft.com/office/drawing/2014/main" id="{A4DAC0B2-7DAF-5147-1536-2641570539C6}"/>
              </a:ext>
            </a:extLst>
          </p:cNvPr>
          <p:cNvSpPr/>
          <p:nvPr/>
        </p:nvSpPr>
        <p:spPr>
          <a:xfrm>
            <a:off x="1085418" y="1206328"/>
            <a:ext cx="1280160" cy="658368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52">
            <a:extLst>
              <a:ext uri="{FF2B5EF4-FFF2-40B4-BE49-F238E27FC236}">
                <a16:creationId xmlns:a16="http://schemas.microsoft.com/office/drawing/2014/main" id="{48D0CA72-42FA-4883-21B7-0B3C0B32EA26}"/>
              </a:ext>
            </a:extLst>
          </p:cNvPr>
          <p:cNvSpPr/>
          <p:nvPr/>
        </p:nvSpPr>
        <p:spPr>
          <a:xfrm>
            <a:off x="1085418" y="1343632"/>
            <a:ext cx="1280160" cy="383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(σₓ̄)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3" name="Shape 53">
            <a:extLst>
              <a:ext uri="{FF2B5EF4-FFF2-40B4-BE49-F238E27FC236}">
                <a16:creationId xmlns:a16="http://schemas.microsoft.com/office/drawing/2014/main" id="{B12CB580-0F89-3C32-C0BD-652A21F67EBF}"/>
              </a:ext>
            </a:extLst>
          </p:cNvPr>
          <p:cNvSpPr/>
          <p:nvPr/>
        </p:nvSpPr>
        <p:spPr>
          <a:xfrm>
            <a:off x="2731338" y="1206328"/>
            <a:ext cx="1463040" cy="658368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 w="25400">
            <a:solidFill>
              <a:schemeClr val="bg1">
                <a:lumMod val="65000"/>
              </a:schemeClr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5" name="Text 54">
            <a:extLst>
              <a:ext uri="{FF2B5EF4-FFF2-40B4-BE49-F238E27FC236}">
                <a16:creationId xmlns:a16="http://schemas.microsoft.com/office/drawing/2014/main" id="{427388BB-7C7E-2CC6-D840-83FF3217F9F4}"/>
              </a:ext>
            </a:extLst>
          </p:cNvPr>
          <p:cNvSpPr/>
          <p:nvPr/>
        </p:nvSpPr>
        <p:spPr>
          <a:xfrm>
            <a:off x="2731338" y="1343632"/>
            <a:ext cx="1463040" cy="383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Sample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7" name="Shape 55">
            <a:extLst>
              <a:ext uri="{FF2B5EF4-FFF2-40B4-BE49-F238E27FC236}">
                <a16:creationId xmlns:a16="http://schemas.microsoft.com/office/drawing/2014/main" id="{5A7039A2-FC7E-0521-BC75-F6DEDBFD7305}"/>
              </a:ext>
            </a:extLst>
          </p:cNvPr>
          <p:cNvSpPr/>
          <p:nvPr/>
        </p:nvSpPr>
        <p:spPr>
          <a:xfrm>
            <a:off x="4560138" y="1206328"/>
            <a:ext cx="914400" cy="658368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 w="15875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56">
            <a:extLst>
              <a:ext uri="{FF2B5EF4-FFF2-40B4-BE49-F238E27FC236}">
                <a16:creationId xmlns:a16="http://schemas.microsoft.com/office/drawing/2014/main" id="{2B0C595A-0D24-BC27-B678-8E23274D5EDF}"/>
              </a:ext>
            </a:extLst>
          </p:cNvPr>
          <p:cNvSpPr/>
          <p:nvPr/>
        </p:nvSpPr>
        <p:spPr>
          <a:xfrm>
            <a:off x="4560138" y="1420704"/>
            <a:ext cx="914400" cy="2296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chemeClr val="bg1">
                    <a:lumMod val="6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1" name="Text 16">
            <a:extLst>
              <a:ext uri="{FF2B5EF4-FFF2-40B4-BE49-F238E27FC236}">
                <a16:creationId xmlns:a16="http://schemas.microsoft.com/office/drawing/2014/main" id="{6FBFAB38-60C2-1DFB-4B0A-03A145FDF457}"/>
              </a:ext>
            </a:extLst>
          </p:cNvPr>
          <p:cNvSpPr/>
          <p:nvPr/>
        </p:nvSpPr>
        <p:spPr>
          <a:xfrm>
            <a:off x="3371418" y="722376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Z-score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chemeClr val="bg1">
                    <a:lumMod val="65000"/>
                  </a:schemeClr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3" name="Shape 24">
            <a:extLst>
              <a:ext uri="{FF2B5EF4-FFF2-40B4-BE49-F238E27FC236}">
                <a16:creationId xmlns:a16="http://schemas.microsoft.com/office/drawing/2014/main" id="{7F68BC57-3EE6-E256-0999-A533F9E75BE6}"/>
              </a:ext>
            </a:extLst>
          </p:cNvPr>
          <p:cNvSpPr/>
          <p:nvPr/>
        </p:nvSpPr>
        <p:spPr>
          <a:xfrm>
            <a:off x="731520" y="2788920"/>
            <a:ext cx="960120" cy="9144"/>
          </a:xfrm>
          <a:prstGeom prst="line">
            <a:avLst/>
          </a:prstGeom>
          <a:noFill/>
          <a:ln w="22225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33">
            <a:extLst>
              <a:ext uri="{FF2B5EF4-FFF2-40B4-BE49-F238E27FC236}">
                <a16:creationId xmlns:a16="http://schemas.microsoft.com/office/drawing/2014/main" id="{8C602A8F-FB34-920A-F992-D24D757A378B}"/>
              </a:ext>
            </a:extLst>
          </p:cNvPr>
          <p:cNvSpPr/>
          <p:nvPr/>
        </p:nvSpPr>
        <p:spPr>
          <a:xfrm flipV="1">
            <a:off x="6355080" y="1929383"/>
            <a:ext cx="0" cy="721563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35">
            <a:extLst>
              <a:ext uri="{FF2B5EF4-FFF2-40B4-BE49-F238E27FC236}">
                <a16:creationId xmlns:a16="http://schemas.microsoft.com/office/drawing/2014/main" id="{F8377F04-AECA-B0C5-FCB9-E0B7A0533BB9}"/>
              </a:ext>
            </a:extLst>
          </p:cNvPr>
          <p:cNvSpPr/>
          <p:nvPr/>
        </p:nvSpPr>
        <p:spPr>
          <a:xfrm>
            <a:off x="6812280" y="1581912"/>
            <a:ext cx="24003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 36">
                <a:extLst>
                  <a:ext uri="{FF2B5EF4-FFF2-40B4-BE49-F238E27FC236}">
                    <a16:creationId xmlns:a16="http://schemas.microsoft.com/office/drawing/2014/main" id="{C9B63A5F-59C0-E3E3-EF2F-63A7098B4896}"/>
                  </a:ext>
                </a:extLst>
              </p:cNvPr>
              <p:cNvSpPr/>
              <p:nvPr/>
            </p:nvSpPr>
            <p:spPr>
              <a:xfrm>
                <a:off x="5926455" y="68580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9" name="Text 36">
                <a:extLst>
                  <a:ext uri="{FF2B5EF4-FFF2-40B4-BE49-F238E27FC236}">
                    <a16:creationId xmlns:a16="http://schemas.microsoft.com/office/drawing/2014/main" id="{15D60525-82B9-8645-E7EA-334BC648E7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455" y="685800"/>
                <a:ext cx="2011680" cy="5029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Shape 37">
            <a:extLst>
              <a:ext uri="{FF2B5EF4-FFF2-40B4-BE49-F238E27FC236}">
                <a16:creationId xmlns:a16="http://schemas.microsoft.com/office/drawing/2014/main" id="{C3EC4DEC-E3A0-18F4-E238-A1BFFD2083C7}"/>
              </a:ext>
            </a:extLst>
          </p:cNvPr>
          <p:cNvSpPr/>
          <p:nvPr/>
        </p:nvSpPr>
        <p:spPr>
          <a:xfrm>
            <a:off x="7966710" y="1581912"/>
            <a:ext cx="24003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 38">
                <a:extLst>
                  <a:ext uri="{FF2B5EF4-FFF2-40B4-BE49-F238E27FC236}">
                    <a16:creationId xmlns:a16="http://schemas.microsoft.com/office/drawing/2014/main" id="{D71C5EE5-3353-D5EF-CD53-92DC21903B7A}"/>
                  </a:ext>
                </a:extLst>
              </p:cNvPr>
              <p:cNvSpPr/>
              <p:nvPr/>
            </p:nvSpPr>
            <p:spPr>
              <a:xfrm>
                <a:off x="7080885" y="68580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3" name="Text 38">
                <a:extLst>
                  <a:ext uri="{FF2B5EF4-FFF2-40B4-BE49-F238E27FC236}">
                    <a16:creationId xmlns:a16="http://schemas.microsoft.com/office/drawing/2014/main" id="{9DAFDB3B-471D-6FE6-61BF-EE935E8549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0885" y="685800"/>
                <a:ext cx="2011680" cy="502920"/>
              </a:xfrm>
              <a:prstGeom prst="rect">
                <a:avLst/>
              </a:prstGeom>
              <a:blipFill>
                <a:blip r:embed="rId12"/>
                <a:stretch>
                  <a:fillRect t="-853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Shape 39">
            <a:extLst>
              <a:ext uri="{FF2B5EF4-FFF2-40B4-BE49-F238E27FC236}">
                <a16:creationId xmlns:a16="http://schemas.microsoft.com/office/drawing/2014/main" id="{35FC5B3D-040B-84B1-D0B7-BEC6215AD3EF}"/>
              </a:ext>
            </a:extLst>
          </p:cNvPr>
          <p:cNvSpPr/>
          <p:nvPr/>
        </p:nvSpPr>
        <p:spPr>
          <a:xfrm>
            <a:off x="9304020" y="1581912"/>
            <a:ext cx="24003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 40">
                <a:extLst>
                  <a:ext uri="{FF2B5EF4-FFF2-40B4-BE49-F238E27FC236}">
                    <a16:creationId xmlns:a16="http://schemas.microsoft.com/office/drawing/2014/main" id="{567E44EB-6AB7-FA68-BFF2-2170C611E49C}"/>
                  </a:ext>
                </a:extLst>
              </p:cNvPr>
              <p:cNvSpPr/>
              <p:nvPr/>
            </p:nvSpPr>
            <p:spPr>
              <a:xfrm>
                <a:off x="8418195" y="685800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̄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acc>
                                <m:accPr>
                                  <m:chr m:val="̄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acc>
                                <m:accPr>
                                  <m:chr m:val="̄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7" name="Text 40">
                <a:extLst>
                  <a:ext uri="{FF2B5EF4-FFF2-40B4-BE49-F238E27FC236}">
                    <a16:creationId xmlns:a16="http://schemas.microsoft.com/office/drawing/2014/main" id="{52ABA1FB-A567-E164-D9F3-07E736B262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8195" y="685800"/>
                <a:ext cx="2011680" cy="502920"/>
              </a:xfrm>
              <a:prstGeom prst="rect">
                <a:avLst/>
              </a:prstGeom>
              <a:blipFill>
                <a:blip r:embed="rId13"/>
                <a:stretch>
                  <a:fillRect t="-1463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Shape 41">
            <a:extLst>
              <a:ext uri="{FF2B5EF4-FFF2-40B4-BE49-F238E27FC236}">
                <a16:creationId xmlns:a16="http://schemas.microsoft.com/office/drawing/2014/main" id="{C65DE34F-5152-E111-9E7D-5A13388654D3}"/>
              </a:ext>
            </a:extLst>
          </p:cNvPr>
          <p:cNvSpPr/>
          <p:nvPr/>
        </p:nvSpPr>
        <p:spPr>
          <a:xfrm>
            <a:off x="10824210" y="1581912"/>
            <a:ext cx="240030" cy="9144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69">
            <a:extLst>
              <a:ext uri="{FF2B5EF4-FFF2-40B4-BE49-F238E27FC236}">
                <a16:creationId xmlns:a16="http://schemas.microsoft.com/office/drawing/2014/main" id="{1641751C-0A51-632C-A73B-F37207AE24D3}"/>
              </a:ext>
            </a:extLst>
          </p:cNvPr>
          <p:cNvSpPr/>
          <p:nvPr/>
        </p:nvSpPr>
        <p:spPr>
          <a:xfrm>
            <a:off x="5897880" y="1252728"/>
            <a:ext cx="9144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70">
            <a:extLst>
              <a:ext uri="{FF2B5EF4-FFF2-40B4-BE49-F238E27FC236}">
                <a16:creationId xmlns:a16="http://schemas.microsoft.com/office/drawing/2014/main" id="{056349C5-AA2F-3BBC-4006-5610E7CE82A1}"/>
              </a:ext>
            </a:extLst>
          </p:cNvPr>
          <p:cNvSpPr/>
          <p:nvPr/>
        </p:nvSpPr>
        <p:spPr>
          <a:xfrm>
            <a:off x="5897880" y="1252728"/>
            <a:ext cx="914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(s²)</a:t>
            </a:r>
            <a:endParaRPr lang="en-US" sz="1150" dirty="0"/>
          </a:p>
        </p:txBody>
      </p:sp>
      <p:sp>
        <p:nvSpPr>
          <p:cNvPr id="155" name="Shape 71">
            <a:extLst>
              <a:ext uri="{FF2B5EF4-FFF2-40B4-BE49-F238E27FC236}">
                <a16:creationId xmlns:a16="http://schemas.microsoft.com/office/drawing/2014/main" id="{EB6CF9B4-EA44-5646-8327-CCD424A8093A}"/>
              </a:ext>
            </a:extLst>
          </p:cNvPr>
          <p:cNvSpPr/>
          <p:nvPr/>
        </p:nvSpPr>
        <p:spPr>
          <a:xfrm>
            <a:off x="7052310" y="1252728"/>
            <a:ext cx="91440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72">
            <a:extLst>
              <a:ext uri="{FF2B5EF4-FFF2-40B4-BE49-F238E27FC236}">
                <a16:creationId xmlns:a16="http://schemas.microsoft.com/office/drawing/2014/main" id="{CD2FA968-A978-6C61-BDF7-C9F8F1120634}"/>
              </a:ext>
            </a:extLst>
          </p:cNvPr>
          <p:cNvSpPr/>
          <p:nvPr/>
        </p:nvSpPr>
        <p:spPr>
          <a:xfrm>
            <a:off x="7052310" y="1252728"/>
            <a:ext cx="91440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(s)</a:t>
            </a:r>
            <a:endParaRPr lang="en-US" sz="1050" dirty="0"/>
          </a:p>
        </p:txBody>
      </p:sp>
      <p:sp>
        <p:nvSpPr>
          <p:cNvPr id="159" name="Shape 73">
            <a:extLst>
              <a:ext uri="{FF2B5EF4-FFF2-40B4-BE49-F238E27FC236}">
                <a16:creationId xmlns:a16="http://schemas.microsoft.com/office/drawing/2014/main" id="{5E16DBC9-795F-AF74-7D0A-369A47EF5301}"/>
              </a:ext>
            </a:extLst>
          </p:cNvPr>
          <p:cNvSpPr/>
          <p:nvPr/>
        </p:nvSpPr>
        <p:spPr>
          <a:xfrm>
            <a:off x="8206740" y="1252728"/>
            <a:ext cx="109728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74">
            <a:extLst>
              <a:ext uri="{FF2B5EF4-FFF2-40B4-BE49-F238E27FC236}">
                <a16:creationId xmlns:a16="http://schemas.microsoft.com/office/drawing/2014/main" id="{39B84146-D407-35BA-4ABA-44A39A88F639}"/>
              </a:ext>
            </a:extLst>
          </p:cNvPr>
          <p:cNvSpPr/>
          <p:nvPr/>
        </p:nvSpPr>
        <p:spPr>
          <a:xfrm>
            <a:off x="8206740" y="1390032"/>
            <a:ext cx="1097280" cy="383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050" b="1" dirty="0" err="1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050" b="1" baseline="-25000" dirty="0" err="1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050" b="1" baseline="-25000" dirty="0">
                <a:solidFill>
                  <a:srgbClr val="1B3A4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̅</a:t>
            </a:r>
            <a:r>
              <a:rPr lang="en-US" sz="10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163" name="Shape 75">
            <a:extLst>
              <a:ext uri="{FF2B5EF4-FFF2-40B4-BE49-F238E27FC236}">
                <a16:creationId xmlns:a16="http://schemas.microsoft.com/office/drawing/2014/main" id="{42284BC1-4819-8BC6-166E-04150F9DACF4}"/>
              </a:ext>
            </a:extLst>
          </p:cNvPr>
          <p:cNvSpPr/>
          <p:nvPr/>
        </p:nvSpPr>
        <p:spPr>
          <a:xfrm>
            <a:off x="9544050" y="1252728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E8871E"/>
          </a:solidFill>
          <a:ln w="25400">
            <a:solidFill>
              <a:srgbClr val="B85F0F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5" name="Text 76">
            <a:extLst>
              <a:ext uri="{FF2B5EF4-FFF2-40B4-BE49-F238E27FC236}">
                <a16:creationId xmlns:a16="http://schemas.microsoft.com/office/drawing/2014/main" id="{C21F1C4F-A92C-E22B-DBD1-BC7F2B5B265A}"/>
              </a:ext>
            </a:extLst>
          </p:cNvPr>
          <p:cNvSpPr/>
          <p:nvPr/>
        </p:nvSpPr>
        <p:spPr>
          <a:xfrm>
            <a:off x="9544050" y="1390032"/>
            <a:ext cx="1280160" cy="3837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Sample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t-Score</a:t>
            </a:r>
            <a:endParaRPr lang="en-US" sz="1050" dirty="0"/>
          </a:p>
        </p:txBody>
      </p:sp>
      <p:sp>
        <p:nvSpPr>
          <p:cNvPr id="167" name="Shape 77">
            <a:extLst>
              <a:ext uri="{FF2B5EF4-FFF2-40B4-BE49-F238E27FC236}">
                <a16:creationId xmlns:a16="http://schemas.microsoft.com/office/drawing/2014/main" id="{66262B06-23FA-C20E-A158-EAC55BB5C19A}"/>
              </a:ext>
            </a:extLst>
          </p:cNvPr>
          <p:cNvSpPr/>
          <p:nvPr/>
        </p:nvSpPr>
        <p:spPr>
          <a:xfrm>
            <a:off x="11064240" y="1252728"/>
            <a:ext cx="731520" cy="658368"/>
          </a:xfrm>
          <a:prstGeom prst="roundRect">
            <a:avLst>
              <a:gd name="adj" fmla="val 12500"/>
            </a:avLst>
          </a:prstGeom>
          <a:solidFill>
            <a:srgbClr val="EAF2F7"/>
          </a:solidFill>
          <a:ln w="1587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Text 78">
            <a:extLst>
              <a:ext uri="{FF2B5EF4-FFF2-40B4-BE49-F238E27FC236}">
                <a16:creationId xmlns:a16="http://schemas.microsoft.com/office/drawing/2014/main" id="{AAE63DAF-38BF-50F7-4A83-DE4A98D660F2}"/>
              </a:ext>
            </a:extLst>
          </p:cNvPr>
          <p:cNvSpPr/>
          <p:nvPr/>
        </p:nvSpPr>
        <p:spPr>
          <a:xfrm>
            <a:off x="11064240" y="1252728"/>
            <a:ext cx="73152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p:sp>
        <p:nvSpPr>
          <p:cNvPr id="171" name="Text 16">
            <a:extLst>
              <a:ext uri="{FF2B5EF4-FFF2-40B4-BE49-F238E27FC236}">
                <a16:creationId xmlns:a16="http://schemas.microsoft.com/office/drawing/2014/main" id="{2C76A642-FC5D-4424-BF19-5D62C65D878F}"/>
              </a:ext>
            </a:extLst>
          </p:cNvPr>
          <p:cNvSpPr/>
          <p:nvPr/>
        </p:nvSpPr>
        <p:spPr>
          <a:xfrm>
            <a:off x="9938385" y="713232"/>
            <a:ext cx="2011680" cy="502920"/>
          </a:xfrm>
          <a:prstGeom prst="rect">
            <a:avLst/>
          </a:prstGeom>
          <a:noFill/>
          <a:ln/>
        </p:spPr>
        <p:txBody>
          <a:bodyPr wrap="none" rtlCol="0" anchor="b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t-score</a:t>
            </a:r>
          </a:p>
          <a:p>
            <a:pPr marL="0" indent="0" algn="ctr">
              <a:buNone/>
            </a:pPr>
            <a:r>
              <a:rPr lang="en-US" sz="1600" i="1" dirty="0">
                <a:solidFill>
                  <a:srgbClr val="5B6B7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Table</a:t>
            </a:r>
            <a:endParaRPr lang="en-US" sz="1600" dirty="0"/>
          </a:p>
        </p:txBody>
      </p:sp>
      <p:sp>
        <p:nvSpPr>
          <p:cNvPr id="173" name="Shape 31">
            <a:extLst>
              <a:ext uri="{FF2B5EF4-FFF2-40B4-BE49-F238E27FC236}">
                <a16:creationId xmlns:a16="http://schemas.microsoft.com/office/drawing/2014/main" id="{C17CA7ED-FE97-0F58-F162-7DCDD7B8A120}"/>
              </a:ext>
            </a:extLst>
          </p:cNvPr>
          <p:cNvSpPr/>
          <p:nvPr/>
        </p:nvSpPr>
        <p:spPr>
          <a:xfrm flipV="1">
            <a:off x="5074006" y="2650946"/>
            <a:ext cx="0" cy="805486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32">
            <a:extLst>
              <a:ext uri="{FF2B5EF4-FFF2-40B4-BE49-F238E27FC236}">
                <a16:creationId xmlns:a16="http://schemas.microsoft.com/office/drawing/2014/main" id="{B65270AD-9E54-8F42-AF84-ABCE392D5EBA}"/>
              </a:ext>
            </a:extLst>
          </p:cNvPr>
          <p:cNvSpPr/>
          <p:nvPr/>
        </p:nvSpPr>
        <p:spPr>
          <a:xfrm>
            <a:off x="5074006" y="2650947"/>
            <a:ext cx="1271930" cy="0"/>
          </a:xfrm>
          <a:prstGeom prst="line">
            <a:avLst/>
          </a:prstGeom>
          <a:noFill/>
          <a:ln w="22225">
            <a:solidFill>
              <a:srgbClr val="2C5F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7" name="Text 34">
                <a:extLst>
                  <a:ext uri="{FF2B5EF4-FFF2-40B4-BE49-F238E27FC236}">
                    <a16:creationId xmlns:a16="http://schemas.microsoft.com/office/drawing/2014/main" id="{E0C26A95-6105-BD1C-C01D-9CCABF17AED6}"/>
                  </a:ext>
                </a:extLst>
              </p:cNvPr>
              <p:cNvSpPr/>
              <p:nvPr/>
            </p:nvSpPr>
            <p:spPr>
              <a:xfrm>
                <a:off x="4800600" y="2208276"/>
                <a:ext cx="2011680" cy="384048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7" name="Text 34">
                <a:extLst>
                  <a:ext uri="{FF2B5EF4-FFF2-40B4-BE49-F238E27FC236}">
                    <a16:creationId xmlns:a16="http://schemas.microsoft.com/office/drawing/2014/main" id="{BFABD933-74EF-F7F9-AD91-49872CEE01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2208276"/>
                <a:ext cx="2011680" cy="384048"/>
              </a:xfrm>
              <a:prstGeom prst="rect">
                <a:avLst/>
              </a:prstGeom>
              <a:blipFill>
                <a:blip r:embed="rId14"/>
                <a:stretch>
                  <a:fillRect t="-3968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 6">
                <a:extLst>
                  <a:ext uri="{FF2B5EF4-FFF2-40B4-BE49-F238E27FC236}">
                    <a16:creationId xmlns:a16="http://schemas.microsoft.com/office/drawing/2014/main" id="{EA9E848C-6C34-C5E4-6243-D2F2DC89D567}"/>
                  </a:ext>
                </a:extLst>
              </p:cNvPr>
              <p:cNvSpPr/>
              <p:nvPr/>
            </p:nvSpPr>
            <p:spPr>
              <a:xfrm>
                <a:off x="1645463" y="2871216"/>
                <a:ext cx="2011680" cy="502920"/>
              </a:xfrm>
              <a:prstGeom prst="rect">
                <a:avLst/>
              </a:prstGeom>
              <a:noFill/>
              <a:ln/>
            </p:spPr>
            <p:txBody>
              <a:bodyPr wrap="none" rtlCol="0" anchor="b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𝑑𝑒𝑣𝑖𝑎𝑡𝑖𝑜𝑛𝑠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3" name="Text 6">
                <a:extLst>
                  <a:ext uri="{FF2B5EF4-FFF2-40B4-BE49-F238E27FC236}">
                    <a16:creationId xmlns:a16="http://schemas.microsoft.com/office/drawing/2014/main" id="{4D5BCA95-CF17-23BF-AAEC-7445FE7CB0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463" y="2871216"/>
                <a:ext cx="2011680" cy="5029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17C61E2B-6462-53BA-7E98-156C5CBE66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57516" y="4526280"/>
                <a:ext cx="10515600" cy="503237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b="1" dirty="0"/>
                  <a:t>New Test Ratio: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̅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̅</m:t>
                        </m:r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CA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400" i="0" dirty="0"/>
                              <m:t>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̅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̅</m:t>
                            </m:r>
                          </m:sub>
                        </m:sSub>
                      </m:den>
                    </m:f>
                  </m:oMath>
                </a14:m>
                <a:endParaRPr lang="en-US" sz="2000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b="1" dirty="0"/>
                  <a:t>	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000" i="1" dirty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̅̅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  <m:r>
                          <a:rPr lang="en-CA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sz="2000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b="1" dirty="0"/>
                  <a:t>	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b="1" dirty="0"/>
                  <a:t>	where </a:t>
                </a:r>
                <a:r>
                  <a:rPr lang="en-US" sz="2000" i="1" dirty="0"/>
                  <a:t>s</a:t>
                </a:r>
                <a:r>
                  <a:rPr lang="en-US" sz="2000" dirty="0"/>
                  <a:t> =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𝑆𝑆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dirty="0"/>
                  <a:t>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∑</m:t>
                            </m:r>
                            <m:sSup>
                              <m:sSup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̅</m:t>
                                </m:r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r>
                              <a:rPr lang="en-US" sz="20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rad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dirty="0">
                  <a:solidFill>
                    <a:srgbClr val="FF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17C61E2B-6462-53BA-7E98-156C5CBE6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7516" y="4526280"/>
                <a:ext cx="10515600" cy="5032375"/>
              </a:xfrm>
              <a:prstGeom prst="rect">
                <a:avLst/>
              </a:prstGeom>
              <a:blipFill>
                <a:blip r:embed="rId16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9134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animBg="1"/>
      <p:bldP spid="137" grpId="0" animBg="1"/>
      <p:bldP spid="139" grpId="0" animBg="1"/>
      <p:bldP spid="141" grpId="0" animBg="1"/>
      <p:bldP spid="143" grpId="0" animBg="1"/>
      <p:bldP spid="145" grpId="0" animBg="1"/>
      <p:bldP spid="147" grpId="0" animBg="1"/>
      <p:bldP spid="149" grpId="0" animBg="1"/>
      <p:bldP spid="151" grpId="0" animBg="1"/>
      <p:bldP spid="153" grpId="0" animBg="1"/>
      <p:bldP spid="155" grpId="0" animBg="1"/>
      <p:bldP spid="157" grpId="0" animBg="1"/>
      <p:bldP spid="159" grpId="0" animBg="1"/>
      <p:bldP spid="161" grpId="0" animBg="1"/>
      <p:bldP spid="163" grpId="0" animBg="1"/>
      <p:bldP spid="165" grpId="0" animBg="1"/>
      <p:bldP spid="167" grpId="0" animBg="1"/>
      <p:bldP spid="169" grpId="0" animBg="1"/>
      <p:bldP spid="171" grpId="0" animBg="1"/>
      <p:bldP spid="173" grpId="0" animBg="1"/>
      <p:bldP spid="175" grpId="0" animBg="1"/>
      <p:bldP spid="17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58827-47E9-5F4A-ACB7-2D065CE77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4 - Changes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636B0E-BC06-3B4F-B3DE-0C27B5BA0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4455013" cy="5032375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/>
              <a:t>p</a:t>
            </a:r>
            <a:r>
              <a:rPr lang="en-US" b="1" dirty="0"/>
              <a:t>-Value:</a:t>
            </a:r>
            <a:r>
              <a:rPr lang="en-US" dirty="0"/>
              <a:t> Now </a:t>
            </a:r>
            <a:r>
              <a:rPr lang="en-US" i="1" dirty="0"/>
              <a:t>estimated </a:t>
            </a:r>
            <a:r>
              <a:rPr lang="en-US" dirty="0"/>
              <a:t>from the t-table</a:t>
            </a:r>
          </a:p>
          <a:p>
            <a:r>
              <a:rPr lang="en-US" dirty="0"/>
              <a:t>e.g., </a:t>
            </a:r>
            <a:r>
              <a:rPr lang="en-US" i="1" dirty="0"/>
              <a:t>t</a:t>
            </a:r>
            <a:r>
              <a:rPr lang="en-US" dirty="0"/>
              <a:t> = 2.3000, </a:t>
            </a:r>
            <a:r>
              <a:rPr lang="en-US" i="1" dirty="0"/>
              <a:t>df</a:t>
            </a:r>
            <a:r>
              <a:rPr lang="en-US" dirty="0"/>
              <a:t> = 5</a:t>
            </a:r>
          </a:p>
          <a:p>
            <a:pPr lvl="1"/>
            <a:r>
              <a:rPr lang="en-US" i="1" dirty="0"/>
              <a:t>p</a:t>
            </a:r>
            <a:r>
              <a:rPr lang="en-US" dirty="0"/>
              <a:t> is </a:t>
            </a:r>
            <a:r>
              <a:rPr lang="en-US" i="1" dirty="0"/>
              <a:t>in-between </a:t>
            </a:r>
            <a:r>
              <a:rPr lang="en-US" dirty="0"/>
              <a:t>.05 and .10</a:t>
            </a:r>
          </a:p>
          <a:p>
            <a:pPr lvl="1"/>
            <a:r>
              <a:rPr lang="en-US" i="1" dirty="0"/>
              <a:t>p &gt; .05</a:t>
            </a:r>
          </a:p>
          <a:p>
            <a:pPr lvl="1"/>
            <a:r>
              <a:rPr lang="en-US" i="1" dirty="0"/>
              <a:t>p</a:t>
            </a:r>
            <a:r>
              <a:rPr lang="en-US" dirty="0"/>
              <a:t> &lt; .10</a:t>
            </a:r>
            <a:endParaRPr lang="en-US" i="1" dirty="0"/>
          </a:p>
          <a:p>
            <a:pPr lvl="1"/>
            <a:r>
              <a:rPr lang="en-US" dirty="0"/>
              <a:t>.10 </a:t>
            </a:r>
            <a:r>
              <a:rPr lang="en-US" i="1" dirty="0"/>
              <a:t>&gt; p &gt; </a:t>
            </a:r>
            <a:r>
              <a:rPr lang="en-US" dirty="0"/>
              <a:t>.05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A442C2-3C8F-4A46-BC71-41F4C64219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65" t="8498" r="10118" b="54495"/>
          <a:stretch/>
        </p:blipFill>
        <p:spPr>
          <a:xfrm>
            <a:off x="5196236" y="1825624"/>
            <a:ext cx="6995764" cy="4186997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F6FA207-EEAD-084A-AE99-EDCEAC0125D1}"/>
              </a:ext>
            </a:extLst>
          </p:cNvPr>
          <p:cNvSpPr/>
          <p:nvPr/>
        </p:nvSpPr>
        <p:spPr>
          <a:xfrm>
            <a:off x="8412480" y="4921857"/>
            <a:ext cx="1141792" cy="15606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5751EC1-7188-984B-87E9-4039A7BB7120}"/>
              </a:ext>
            </a:extLst>
          </p:cNvPr>
          <p:cNvSpPr/>
          <p:nvPr/>
        </p:nvSpPr>
        <p:spPr>
          <a:xfrm>
            <a:off x="8412480" y="4142126"/>
            <a:ext cx="1141792" cy="15606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93E57A4-6F8F-EB48-AEE9-FEF3BF79376E}"/>
              </a:ext>
            </a:extLst>
          </p:cNvPr>
          <p:cNvCxnSpPr>
            <a:stCxn id="12" idx="1"/>
            <a:endCxn id="13" idx="1"/>
          </p:cNvCxnSpPr>
          <p:nvPr/>
        </p:nvCxnSpPr>
        <p:spPr>
          <a:xfrm flipV="1">
            <a:off x="8412480" y="4220159"/>
            <a:ext cx="0" cy="779731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8F1CB0C-0230-6D49-A78A-FB3BE23CAB39}"/>
              </a:ext>
            </a:extLst>
          </p:cNvPr>
          <p:cNvCxnSpPr/>
          <p:nvPr/>
        </p:nvCxnSpPr>
        <p:spPr>
          <a:xfrm flipV="1">
            <a:off x="9557858" y="4220159"/>
            <a:ext cx="0" cy="779731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332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58827-47E9-5F4A-ACB7-2D065CE77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4 - Changes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A442C2-3C8F-4A46-BC71-41F4C64219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65" t="24480" r="10118" b="54495"/>
          <a:stretch>
            <a:fillRect/>
          </a:stretch>
        </p:blipFill>
        <p:spPr>
          <a:xfrm>
            <a:off x="907467" y="2242889"/>
            <a:ext cx="10377065" cy="3528517"/>
          </a:xfrm>
          <a:prstGeom prst="rect">
            <a:avLst/>
          </a:prstGeom>
        </p:spPr>
      </p:pic>
      <p:sp>
        <p:nvSpPr>
          <p:cNvPr id="7" name="Rounded Rectangle 12">
            <a:extLst>
              <a:ext uri="{FF2B5EF4-FFF2-40B4-BE49-F238E27FC236}">
                <a16:creationId xmlns:a16="http://schemas.microsoft.com/office/drawing/2014/main" id="{1DE3463D-A615-D45A-A92C-6B94FA56DD63}"/>
              </a:ext>
            </a:extLst>
          </p:cNvPr>
          <p:cNvSpPr/>
          <p:nvPr/>
        </p:nvSpPr>
        <p:spPr>
          <a:xfrm>
            <a:off x="6506490" y="3016334"/>
            <a:ext cx="1141792" cy="21901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6F9A921-DA6C-7680-C42B-468052CEF473}"/>
              </a:ext>
            </a:extLst>
          </p:cNvPr>
          <p:cNvCxnSpPr/>
          <p:nvPr/>
        </p:nvCxnSpPr>
        <p:spPr>
          <a:xfrm>
            <a:off x="7083631" y="3235352"/>
            <a:ext cx="0" cy="288637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F0E9F27-3DBF-E9BF-35EF-2E857227D82E}"/>
              </a:ext>
            </a:extLst>
          </p:cNvPr>
          <p:cNvSpPr txBox="1"/>
          <p:nvPr/>
        </p:nvSpPr>
        <p:spPr>
          <a:xfrm>
            <a:off x="2882731" y="4007147"/>
            <a:ext cx="2706190" cy="110799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6600" b="1" dirty="0">
                <a:solidFill>
                  <a:srgbClr val="FF0000"/>
                </a:solidFill>
              </a:rPr>
              <a:t>p &gt; ___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64A5F3-27E7-FA4C-EEBB-9BF1E7B18B25}"/>
              </a:ext>
            </a:extLst>
          </p:cNvPr>
          <p:cNvSpPr txBox="1"/>
          <p:nvPr/>
        </p:nvSpPr>
        <p:spPr>
          <a:xfrm>
            <a:off x="8521531" y="4007147"/>
            <a:ext cx="2706190" cy="110799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6600" b="1" dirty="0">
                <a:solidFill>
                  <a:srgbClr val="FF0000"/>
                </a:solidFill>
              </a:rPr>
              <a:t>p &lt; ___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8FD9BB-A916-B435-0D57-00A2B872C557}"/>
              </a:ext>
            </a:extLst>
          </p:cNvPr>
          <p:cNvCxnSpPr>
            <a:cxnSpLocks/>
          </p:cNvCxnSpPr>
          <p:nvPr/>
        </p:nvCxnSpPr>
        <p:spPr>
          <a:xfrm>
            <a:off x="7077386" y="1389764"/>
            <a:ext cx="0" cy="162657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297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6D9B1-AB7B-0E11-6AA7-6978F8D3D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053C-1EC4-486D-E546-C25FCD052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4 - Changes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8EFD8D-688F-21E1-AB64-39DAB7E5B5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65" t="24480" r="10118" b="54495"/>
          <a:stretch>
            <a:fillRect/>
          </a:stretch>
        </p:blipFill>
        <p:spPr>
          <a:xfrm>
            <a:off x="907467" y="2242889"/>
            <a:ext cx="10377065" cy="3528517"/>
          </a:xfrm>
          <a:prstGeom prst="rect">
            <a:avLst/>
          </a:prstGeom>
        </p:spPr>
      </p:pic>
      <p:sp>
        <p:nvSpPr>
          <p:cNvPr id="7" name="Rounded Rectangle 12">
            <a:extLst>
              <a:ext uri="{FF2B5EF4-FFF2-40B4-BE49-F238E27FC236}">
                <a16:creationId xmlns:a16="http://schemas.microsoft.com/office/drawing/2014/main" id="{FE5DA727-E36B-65F8-1E6F-2DB5946ED146}"/>
              </a:ext>
            </a:extLst>
          </p:cNvPr>
          <p:cNvSpPr/>
          <p:nvPr/>
        </p:nvSpPr>
        <p:spPr>
          <a:xfrm>
            <a:off x="6506490" y="3016334"/>
            <a:ext cx="1141792" cy="21901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4FED3C-DA3A-EFD5-B667-FA48B6A0B672}"/>
              </a:ext>
            </a:extLst>
          </p:cNvPr>
          <p:cNvCxnSpPr>
            <a:cxnSpLocks/>
          </p:cNvCxnSpPr>
          <p:nvPr/>
        </p:nvCxnSpPr>
        <p:spPr>
          <a:xfrm>
            <a:off x="7083631" y="3235352"/>
            <a:ext cx="0" cy="288637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12">
            <a:extLst>
              <a:ext uri="{FF2B5EF4-FFF2-40B4-BE49-F238E27FC236}">
                <a16:creationId xmlns:a16="http://schemas.microsoft.com/office/drawing/2014/main" id="{F8965DEE-F4E7-24E0-2FAD-B3077E7571C2}"/>
              </a:ext>
            </a:extLst>
          </p:cNvPr>
          <p:cNvSpPr/>
          <p:nvPr/>
        </p:nvSpPr>
        <p:spPr>
          <a:xfrm>
            <a:off x="3725684" y="4610598"/>
            <a:ext cx="1956655" cy="21901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12">
            <a:extLst>
              <a:ext uri="{FF2B5EF4-FFF2-40B4-BE49-F238E27FC236}">
                <a16:creationId xmlns:a16="http://schemas.microsoft.com/office/drawing/2014/main" id="{0333268D-30C3-04DF-8D10-AEF843558E7D}"/>
              </a:ext>
            </a:extLst>
          </p:cNvPr>
          <p:cNvSpPr/>
          <p:nvPr/>
        </p:nvSpPr>
        <p:spPr>
          <a:xfrm>
            <a:off x="3728856" y="3010714"/>
            <a:ext cx="1956655" cy="21901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E97130-795C-269F-9F87-9E4B6B9C32AC}"/>
              </a:ext>
            </a:extLst>
          </p:cNvPr>
          <p:cNvSpPr txBox="1"/>
          <p:nvPr/>
        </p:nvSpPr>
        <p:spPr>
          <a:xfrm>
            <a:off x="3898072" y="1443119"/>
            <a:ext cx="1410964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p &gt; ___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49821D-6BB6-31BE-A3A9-6AA1CCCA6894}"/>
              </a:ext>
            </a:extLst>
          </p:cNvPr>
          <p:cNvSpPr txBox="1"/>
          <p:nvPr/>
        </p:nvSpPr>
        <p:spPr>
          <a:xfrm>
            <a:off x="8567980" y="1443119"/>
            <a:ext cx="1410964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p &lt; ___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56066D5-0494-7339-D39B-A02AA1B24738}"/>
              </a:ext>
            </a:extLst>
          </p:cNvPr>
          <p:cNvCxnSpPr>
            <a:cxnSpLocks/>
          </p:cNvCxnSpPr>
          <p:nvPr/>
        </p:nvCxnSpPr>
        <p:spPr>
          <a:xfrm>
            <a:off x="7077386" y="1389764"/>
            <a:ext cx="0" cy="162657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6DFB47B-2CD1-E5C0-8217-DFA018407796}"/>
              </a:ext>
            </a:extLst>
          </p:cNvPr>
          <p:cNvCxnSpPr>
            <a:cxnSpLocks/>
          </p:cNvCxnSpPr>
          <p:nvPr/>
        </p:nvCxnSpPr>
        <p:spPr>
          <a:xfrm>
            <a:off x="3728856" y="3193862"/>
            <a:ext cx="0" cy="162657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CE00787-8B82-11A2-460E-3130AD6FB03F}"/>
              </a:ext>
            </a:extLst>
          </p:cNvPr>
          <p:cNvCxnSpPr>
            <a:cxnSpLocks/>
          </p:cNvCxnSpPr>
          <p:nvPr/>
        </p:nvCxnSpPr>
        <p:spPr>
          <a:xfrm>
            <a:off x="5685511" y="3193862"/>
            <a:ext cx="0" cy="162657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D6EF1706-D3C2-1A34-62AD-D359A77D88E1}"/>
              </a:ext>
            </a:extLst>
          </p:cNvPr>
          <p:cNvSpPr/>
          <p:nvPr/>
        </p:nvSpPr>
        <p:spPr>
          <a:xfrm>
            <a:off x="4330884" y="2719768"/>
            <a:ext cx="860954" cy="290946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23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2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A08F4-4F0E-CF26-B49A-7904A1BB4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67E1E-AF39-25AC-86B8-3E3D95705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4 - Changes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B94624-F664-E88B-4E09-236D464023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65" t="24480" r="10118" b="54495"/>
          <a:stretch>
            <a:fillRect/>
          </a:stretch>
        </p:blipFill>
        <p:spPr>
          <a:xfrm>
            <a:off x="907467" y="2242889"/>
            <a:ext cx="10377065" cy="3528517"/>
          </a:xfrm>
          <a:prstGeom prst="rect">
            <a:avLst/>
          </a:prstGeom>
        </p:spPr>
      </p:pic>
      <p:sp>
        <p:nvSpPr>
          <p:cNvPr id="7" name="Rounded Rectangle 12">
            <a:extLst>
              <a:ext uri="{FF2B5EF4-FFF2-40B4-BE49-F238E27FC236}">
                <a16:creationId xmlns:a16="http://schemas.microsoft.com/office/drawing/2014/main" id="{D95F0BA4-F2E3-B098-BFF3-062A86BD330E}"/>
              </a:ext>
            </a:extLst>
          </p:cNvPr>
          <p:cNvSpPr/>
          <p:nvPr/>
        </p:nvSpPr>
        <p:spPr>
          <a:xfrm>
            <a:off x="6506490" y="3016334"/>
            <a:ext cx="1141792" cy="21901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C0BE4BD-66E6-5B42-BD36-6817266A1C4C}"/>
              </a:ext>
            </a:extLst>
          </p:cNvPr>
          <p:cNvCxnSpPr>
            <a:cxnSpLocks/>
          </p:cNvCxnSpPr>
          <p:nvPr/>
        </p:nvCxnSpPr>
        <p:spPr>
          <a:xfrm>
            <a:off x="7083631" y="3235352"/>
            <a:ext cx="0" cy="288637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12">
            <a:extLst>
              <a:ext uri="{FF2B5EF4-FFF2-40B4-BE49-F238E27FC236}">
                <a16:creationId xmlns:a16="http://schemas.microsoft.com/office/drawing/2014/main" id="{DEC56174-5AEE-5994-52E3-5D2EE3C33EF5}"/>
              </a:ext>
            </a:extLst>
          </p:cNvPr>
          <p:cNvSpPr/>
          <p:nvPr/>
        </p:nvSpPr>
        <p:spPr>
          <a:xfrm>
            <a:off x="4824557" y="3010714"/>
            <a:ext cx="860954" cy="2246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8AA297-70B4-6756-0ED9-BEAB197E0563}"/>
              </a:ext>
            </a:extLst>
          </p:cNvPr>
          <p:cNvSpPr txBox="1"/>
          <p:nvPr/>
        </p:nvSpPr>
        <p:spPr>
          <a:xfrm>
            <a:off x="3898072" y="1443119"/>
            <a:ext cx="1321196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p &gt; .20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DEE17C-E368-2738-3AA0-373F85DE360C}"/>
              </a:ext>
            </a:extLst>
          </p:cNvPr>
          <p:cNvCxnSpPr>
            <a:cxnSpLocks/>
          </p:cNvCxnSpPr>
          <p:nvPr/>
        </p:nvCxnSpPr>
        <p:spPr>
          <a:xfrm>
            <a:off x="7077386" y="1389764"/>
            <a:ext cx="0" cy="162657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03C5DA3-AF33-5E24-56AA-928210BA36FB}"/>
              </a:ext>
            </a:extLst>
          </p:cNvPr>
          <p:cNvSpPr/>
          <p:nvPr/>
        </p:nvSpPr>
        <p:spPr>
          <a:xfrm>
            <a:off x="4330884" y="2719768"/>
            <a:ext cx="860954" cy="290946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6820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DF4B0-0F6F-8F8B-09B2-3673651AF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ABA9C-F8E0-B42F-F09E-904FC1DFC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4 - Changes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C3A6D8-97F4-607D-1939-B20BC1B9B0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65" t="24480" r="10118" b="54495"/>
          <a:stretch>
            <a:fillRect/>
          </a:stretch>
        </p:blipFill>
        <p:spPr>
          <a:xfrm>
            <a:off x="907467" y="2242889"/>
            <a:ext cx="10377065" cy="3528517"/>
          </a:xfrm>
          <a:prstGeom prst="rect">
            <a:avLst/>
          </a:prstGeom>
        </p:spPr>
      </p:pic>
      <p:sp>
        <p:nvSpPr>
          <p:cNvPr id="7" name="Rounded Rectangle 12">
            <a:extLst>
              <a:ext uri="{FF2B5EF4-FFF2-40B4-BE49-F238E27FC236}">
                <a16:creationId xmlns:a16="http://schemas.microsoft.com/office/drawing/2014/main" id="{A0F839A2-05AE-676C-7CA5-E8A6729DE235}"/>
              </a:ext>
            </a:extLst>
          </p:cNvPr>
          <p:cNvSpPr/>
          <p:nvPr/>
        </p:nvSpPr>
        <p:spPr>
          <a:xfrm>
            <a:off x="6506490" y="3016334"/>
            <a:ext cx="1141792" cy="21901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B859D48-CCFA-7343-A354-2A5D643AB9A6}"/>
              </a:ext>
            </a:extLst>
          </p:cNvPr>
          <p:cNvCxnSpPr>
            <a:cxnSpLocks/>
          </p:cNvCxnSpPr>
          <p:nvPr/>
        </p:nvCxnSpPr>
        <p:spPr>
          <a:xfrm>
            <a:off x="7083631" y="3235352"/>
            <a:ext cx="0" cy="288637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12">
            <a:extLst>
              <a:ext uri="{FF2B5EF4-FFF2-40B4-BE49-F238E27FC236}">
                <a16:creationId xmlns:a16="http://schemas.microsoft.com/office/drawing/2014/main" id="{1B758418-9EE6-D796-5CE4-ED289ACB0928}"/>
              </a:ext>
            </a:extLst>
          </p:cNvPr>
          <p:cNvSpPr/>
          <p:nvPr/>
        </p:nvSpPr>
        <p:spPr>
          <a:xfrm>
            <a:off x="9235834" y="4610598"/>
            <a:ext cx="1956655" cy="21901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12">
            <a:extLst>
              <a:ext uri="{FF2B5EF4-FFF2-40B4-BE49-F238E27FC236}">
                <a16:creationId xmlns:a16="http://schemas.microsoft.com/office/drawing/2014/main" id="{B4C070AD-F47A-E33F-5EE5-4156A72E913A}"/>
              </a:ext>
            </a:extLst>
          </p:cNvPr>
          <p:cNvSpPr/>
          <p:nvPr/>
        </p:nvSpPr>
        <p:spPr>
          <a:xfrm>
            <a:off x="9239006" y="3010714"/>
            <a:ext cx="1956655" cy="21901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94675C-7392-5326-1BB0-672453381B2B}"/>
              </a:ext>
            </a:extLst>
          </p:cNvPr>
          <p:cNvSpPr txBox="1"/>
          <p:nvPr/>
        </p:nvSpPr>
        <p:spPr>
          <a:xfrm>
            <a:off x="3898072" y="1443119"/>
            <a:ext cx="1410964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p &gt; ___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6DDF26-10AE-EC75-AB4B-A114E140D54F}"/>
              </a:ext>
            </a:extLst>
          </p:cNvPr>
          <p:cNvSpPr txBox="1"/>
          <p:nvPr/>
        </p:nvSpPr>
        <p:spPr>
          <a:xfrm>
            <a:off x="8567980" y="1443119"/>
            <a:ext cx="1410964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p &lt; ___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57DD015-E4CA-9946-166C-2782DE157023}"/>
              </a:ext>
            </a:extLst>
          </p:cNvPr>
          <p:cNvCxnSpPr>
            <a:cxnSpLocks/>
          </p:cNvCxnSpPr>
          <p:nvPr/>
        </p:nvCxnSpPr>
        <p:spPr>
          <a:xfrm>
            <a:off x="7077386" y="1389764"/>
            <a:ext cx="0" cy="162657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F89D3C9-972B-B3B4-4FD2-22B75F8E76D4}"/>
              </a:ext>
            </a:extLst>
          </p:cNvPr>
          <p:cNvCxnSpPr>
            <a:cxnSpLocks/>
          </p:cNvCxnSpPr>
          <p:nvPr/>
        </p:nvCxnSpPr>
        <p:spPr>
          <a:xfrm>
            <a:off x="9239006" y="3193862"/>
            <a:ext cx="0" cy="162657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3975997-2C32-9937-F5C1-74447254FAA2}"/>
              </a:ext>
            </a:extLst>
          </p:cNvPr>
          <p:cNvCxnSpPr>
            <a:cxnSpLocks/>
          </p:cNvCxnSpPr>
          <p:nvPr/>
        </p:nvCxnSpPr>
        <p:spPr>
          <a:xfrm>
            <a:off x="11195661" y="3193862"/>
            <a:ext cx="0" cy="1626570"/>
          </a:xfrm>
          <a:prstGeom prst="straightConnector1">
            <a:avLst/>
          </a:prstGeom>
          <a:ln w="38100">
            <a:solidFill>
              <a:srgbClr val="FF0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34C2B2D9-EA76-2B5F-66A6-DFFE51A33F5E}"/>
              </a:ext>
            </a:extLst>
          </p:cNvPr>
          <p:cNvSpPr/>
          <p:nvPr/>
        </p:nvSpPr>
        <p:spPr>
          <a:xfrm rot="10800000">
            <a:off x="9876661" y="2650246"/>
            <a:ext cx="860954" cy="290946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986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2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39DAC-321F-A35C-5C13-4F20BD0A9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7B06D-CD66-B204-817A-395338BA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4 - Changes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430A50-00B6-AD29-D1E8-F7B99BEEB3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65" t="24480" r="10118" b="54495"/>
          <a:stretch>
            <a:fillRect/>
          </a:stretch>
        </p:blipFill>
        <p:spPr>
          <a:xfrm>
            <a:off x="907467" y="2242889"/>
            <a:ext cx="10377065" cy="3528517"/>
          </a:xfrm>
          <a:prstGeom prst="rect">
            <a:avLst/>
          </a:prstGeom>
        </p:spPr>
      </p:pic>
      <p:sp>
        <p:nvSpPr>
          <p:cNvPr id="7" name="Rounded Rectangle 12">
            <a:extLst>
              <a:ext uri="{FF2B5EF4-FFF2-40B4-BE49-F238E27FC236}">
                <a16:creationId xmlns:a16="http://schemas.microsoft.com/office/drawing/2014/main" id="{55FEB685-F051-0802-2C13-3B177D4D3B27}"/>
              </a:ext>
            </a:extLst>
          </p:cNvPr>
          <p:cNvSpPr/>
          <p:nvPr/>
        </p:nvSpPr>
        <p:spPr>
          <a:xfrm>
            <a:off x="6506490" y="3016334"/>
            <a:ext cx="1141792" cy="21901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F9E2628-48CB-7912-867B-F5B3E8B1A89D}"/>
              </a:ext>
            </a:extLst>
          </p:cNvPr>
          <p:cNvCxnSpPr>
            <a:cxnSpLocks/>
          </p:cNvCxnSpPr>
          <p:nvPr/>
        </p:nvCxnSpPr>
        <p:spPr>
          <a:xfrm>
            <a:off x="7083631" y="3235352"/>
            <a:ext cx="0" cy="288637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12">
            <a:extLst>
              <a:ext uri="{FF2B5EF4-FFF2-40B4-BE49-F238E27FC236}">
                <a16:creationId xmlns:a16="http://schemas.microsoft.com/office/drawing/2014/main" id="{88470429-A395-BCDF-C9E6-42254E46AF90}"/>
              </a:ext>
            </a:extLst>
          </p:cNvPr>
          <p:cNvSpPr/>
          <p:nvPr/>
        </p:nvSpPr>
        <p:spPr>
          <a:xfrm>
            <a:off x="9239007" y="3016334"/>
            <a:ext cx="1141792" cy="21339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986084-3FEF-A9A9-B847-48366022B201}"/>
              </a:ext>
            </a:extLst>
          </p:cNvPr>
          <p:cNvSpPr txBox="1"/>
          <p:nvPr/>
        </p:nvSpPr>
        <p:spPr>
          <a:xfrm>
            <a:off x="8567980" y="1443119"/>
            <a:ext cx="1529586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p &lt; .005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4B287B7-9663-A168-E6B9-16DAB0584FB1}"/>
              </a:ext>
            </a:extLst>
          </p:cNvPr>
          <p:cNvCxnSpPr>
            <a:cxnSpLocks/>
          </p:cNvCxnSpPr>
          <p:nvPr/>
        </p:nvCxnSpPr>
        <p:spPr>
          <a:xfrm>
            <a:off x="7077386" y="1389764"/>
            <a:ext cx="0" cy="162657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603472D-C5CB-D94E-DD8D-E3ADC4AF9641}"/>
              </a:ext>
            </a:extLst>
          </p:cNvPr>
          <p:cNvSpPr/>
          <p:nvPr/>
        </p:nvSpPr>
        <p:spPr>
          <a:xfrm rot="10800000">
            <a:off x="9876661" y="2650246"/>
            <a:ext cx="860954" cy="290946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095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22E6D-D057-A647-BB2F-24B9AF0C5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4 - Changes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65847B1B-AABC-E341-8F28-A2D6CE0281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5532899"/>
                  </p:ext>
                </p:extLst>
              </p:nvPr>
            </p:nvGraphicFramePr>
            <p:xfrm>
              <a:off x="290623" y="1399743"/>
              <a:ext cx="11834083" cy="53345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82265">
                      <a:extLst>
                        <a:ext uri="{9D8B030D-6E8A-4147-A177-3AD203B41FA5}">
                          <a16:colId xmlns:a16="http://schemas.microsoft.com/office/drawing/2014/main" val="4004983389"/>
                        </a:ext>
                      </a:extLst>
                    </a:gridCol>
                    <a:gridCol w="2796639">
                      <a:extLst>
                        <a:ext uri="{9D8B030D-6E8A-4147-A177-3AD203B41FA5}">
                          <a16:colId xmlns:a16="http://schemas.microsoft.com/office/drawing/2014/main" val="3608128689"/>
                        </a:ext>
                      </a:extLst>
                    </a:gridCol>
                    <a:gridCol w="3105398">
                      <a:extLst>
                        <a:ext uri="{9D8B030D-6E8A-4147-A177-3AD203B41FA5}">
                          <a16:colId xmlns:a16="http://schemas.microsoft.com/office/drawing/2014/main" val="3990134810"/>
                        </a:ext>
                      </a:extLst>
                    </a:gridCol>
                    <a:gridCol w="3449781">
                      <a:extLst>
                        <a:ext uri="{9D8B030D-6E8A-4147-A177-3AD203B41FA5}">
                          <a16:colId xmlns:a16="http://schemas.microsoft.com/office/drawing/2014/main" val="2938925849"/>
                        </a:ext>
                      </a:extLst>
                    </a:gridCol>
                  </a:tblGrid>
                  <a:tr h="520734"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Single Participant Design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Single Sample Design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μ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&amp; σ known)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Single Sample Design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(</a:t>
                          </a:r>
                          <a:r>
                            <a:rPr lang="el-GR" sz="2400" dirty="0">
                              <a:solidFill>
                                <a:srgbClr val="FF0000"/>
                              </a:solidFill>
                            </a:rPr>
                            <a:t>μ</a:t>
                          </a:r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 known, σ unknown)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94681456"/>
                      </a:ext>
                    </a:extLst>
                  </a:tr>
                  <a:tr h="520734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Test Ratio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>
                              <a:solidFill>
                                <a:schemeClr val="tx1"/>
                              </a:solidFill>
                            </a:rPr>
                            <a:t>z</a:t>
                          </a:r>
                          <a:r>
                            <a:rPr lang="en-CA" sz="3200" baseline="-25000" dirty="0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  <a:r>
                            <a:rPr lang="en-US" sz="320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3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sz="32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CA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r>
                                    <m:rPr>
                                      <m:nor/>
                                    </m:rPr>
                                    <a:rPr lang="el-GR" sz="3200" i="0" dirty="0" smtClean="0">
                                      <a:solidFill>
                                        <a:schemeClr val="tx1"/>
                                      </a:solidFill>
                                    </a:rPr>
                                    <m:t>μ</m:t>
                                  </m:r>
                                  <m:r>
                                    <m:rPr>
                                      <m:nor/>
                                    </m:rPr>
                                    <a:rPr lang="en-CA" sz="3200" i="0" baseline="-25000" smtClean="0">
                                      <a:solidFill>
                                        <a:schemeClr val="tx1"/>
                                      </a:solidFill>
                                    </a:rPr>
                                    <m:t>X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en-US" sz="3200" i="0" dirty="0" smtClean="0">
                                      <a:solidFill>
                                        <a:schemeClr val="tx1"/>
                                      </a:solidFill>
                                    </a:rPr>
                                    <m:t>σ</m:t>
                                  </m:r>
                                  <m:r>
                                    <m:rPr>
                                      <m:nor/>
                                    </m:rPr>
                                    <a:rPr lang="en-CA" sz="3200" b="0" i="0" baseline="-25000" smtClean="0">
                                      <a:solidFill>
                                        <a:schemeClr val="tx1"/>
                                      </a:solidFill>
                                    </a:rPr>
                                    <m:t>X</m:t>
                                  </m:r>
                                </m:den>
                              </m:f>
                            </m:oMath>
                          </a14:m>
                          <a:endParaRPr 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̅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3200" dirty="0">
                              <a:solidFill>
                                <a:schemeClr val="tx1"/>
                              </a:solidFill>
                            </a:rPr>
                            <a:t> 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3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̅</m:t>
                                  </m:r>
                                  <m:r>
                                    <a:rPr lang="en-CA" sz="3200" i="1"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sSub>
                                    <m:sSubPr>
                                      <m:ctrlPr>
                                        <a:rPr lang="en-CA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l-GR" sz="3200" i="0" dirty="0"/>
                                        <m:t>μ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̅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3200" i="0" dirty="0" smtClean="0">
                                          <a:solidFill>
                                            <a:schemeClr val="tx1"/>
                                          </a:solidFill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3200" i="1" dirty="0">
                                          <a:latin typeface="Cambria Math" panose="02040503050406030204" pitchFamily="18" charset="0"/>
                                        </a:rPr>
                                        <m:t>̅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endParaRPr lang="en-CA" sz="2800" baseline="-250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̅</m:t>
                                    </m:r>
                                  </m:sub>
                                </m:s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̅</m:t>
                                    </m:r>
                                    <m:r>
                                      <a:rPr lang="en-CA" sz="2800" i="1">
                                        <a:latin typeface="Cambria Math" panose="02040503050406030204" pitchFamily="18" charset="0"/>
                                      </a:rPr>
                                      <m:t> − </m:t>
                                    </m:r>
                                    <m:sSub>
                                      <m:sSubPr>
                                        <m:ctrlPr>
                                          <a:rPr lang="en-CA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l-GR" sz="2800" i="0" dirty="0"/>
                                          <m:t>μ</m:t>
                                        </m:r>
                                      </m:e>
                                      <m:sub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  <m:t>̅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en-US" sz="2800" i="1" dirty="0"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a:rPr lang="en-US" sz="2800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800" i="1" dirty="0">
                                            <a:latin typeface="Cambria Math" panose="02040503050406030204" pitchFamily="18" charset="0"/>
                                          </a:rPr>
                                          <m:t>̅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5834762"/>
                      </a:ext>
                    </a:extLst>
                  </a:tr>
                  <a:tr h="520734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Population Mean</a:t>
                          </a:r>
                        </a:p>
                        <a:p>
                          <a:endParaRPr lang="en-US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l-GR" sz="2800" i="0" dirty="0" smtClean="0">
                                  <a:solidFill>
                                    <a:schemeClr val="tx1"/>
                                  </a:solidFill>
                                </a:rPr>
                                <m:t>μ</m:t>
                              </m:r>
                              <m:r>
                                <m:rPr>
                                  <m:nor/>
                                </m:rPr>
                                <a:rPr lang="en-CA" sz="2800" i="0" baseline="-25000" smtClean="0">
                                  <a:solidFill>
                                    <a:schemeClr val="tx1"/>
                                  </a:solidFill>
                                </a:rPr>
                                <m:t>X</m:t>
                              </m:r>
                            </m:oMath>
                          </a14:m>
                          <a:r>
                            <a:rPr lang="en-US" sz="2800" baseline="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l-GR" sz="2800" i="0" dirty="0" smtClean="0">
                                  <a:solidFill>
                                    <a:schemeClr val="tx1"/>
                                  </a:solidFill>
                                </a:rPr>
                                <m:t>μ</m:t>
                              </m:r>
                            </m:oMath>
                          </a14:m>
                          <a:endParaRPr lang="en-US" sz="2800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l-GR" sz="2800" i="0" dirty="0" smtClean="0">
                                  <a:solidFill>
                                    <a:schemeClr val="tx1"/>
                                  </a:solidFill>
                                </a:rPr>
                                <m:t>μ</m:t>
                              </m:r>
                              <m:r>
                                <m:rPr>
                                  <m:nor/>
                                </m:rPr>
                                <a:rPr lang="en-US" sz="2800" b="0" i="0" baseline="-25000" dirty="0" smtClean="0">
                                  <a:solidFill>
                                    <a:schemeClr val="tx1"/>
                                  </a:solidFill>
                                </a:rPr>
                                <m:t>x</m:t>
                              </m:r>
                              <m:r>
                                <a:rPr lang="en-US" sz="2800" b="0" i="1" baseline="-250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̅</m:t>
                              </m:r>
                            </m:oMath>
                          </a14:m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l-GR" sz="2800" i="0" dirty="0" smtClean="0">
                                  <a:solidFill>
                                    <a:schemeClr val="tx1"/>
                                  </a:solidFill>
                                </a:rPr>
                                <m:t>μ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l-GR" sz="2800" i="0" dirty="0" smtClean="0">
                                  <a:solidFill>
                                    <a:schemeClr val="tx1"/>
                                  </a:solidFill>
                                </a:rPr>
                                <m:t>μ</m:t>
                              </m:r>
                              <m:r>
                                <m:rPr>
                                  <m:nor/>
                                </m:rPr>
                                <a:rPr lang="en-US" sz="2800" b="0" i="0" baseline="-25000" dirty="0" smtClean="0">
                                  <a:solidFill>
                                    <a:schemeClr val="tx1"/>
                                  </a:solidFill>
                                </a:rPr>
                                <m:t>x</m:t>
                              </m:r>
                              <m:r>
                                <a:rPr lang="en-US" sz="2800" b="0" i="1" baseline="-2500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̅</m:t>
                              </m:r>
                            </m:oMath>
                          </a14:m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l-GR" sz="2800" i="0" dirty="0" smtClean="0">
                                  <a:solidFill>
                                    <a:schemeClr val="tx1"/>
                                  </a:solidFill>
                                </a:rPr>
                                <m:t>μ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32413151"/>
                      </a:ext>
                    </a:extLst>
                  </a:tr>
                  <a:tr h="520734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Standard Error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2800" i="0" dirty="0" smtClean="0">
                                  <a:solidFill>
                                    <a:schemeClr val="tx1"/>
                                  </a:solidFill>
                                </a:rPr>
                                <m:t>σ</m:t>
                              </m:r>
                            </m:oMath>
                          </a14:m>
                          <a:r>
                            <a:rPr lang="en-US" sz="2800" baseline="-25000" dirty="0">
                              <a:solidFill>
                                <a:schemeClr val="tx1"/>
                              </a:solidFill>
                            </a:rPr>
                            <a:t>X</a:t>
                          </a:r>
                          <a:r>
                            <a:rPr lang="en-US" sz="2800" baseline="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2800" i="0" dirty="0" smtClean="0">
                                  <a:solidFill>
                                    <a:schemeClr val="tx1"/>
                                  </a:solidFill>
                                </a:rPr>
                                <m:t>σ</m:t>
                              </m:r>
                            </m:oMath>
                          </a14:m>
                          <a:endParaRPr lang="en-US" sz="2800" baseline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2800" i="0" dirty="0" smtClean="0">
                                  <a:solidFill>
                                    <a:schemeClr val="tx1"/>
                                  </a:solidFill>
                                </a:rPr>
                                <m:t>σ</m:t>
                              </m:r>
                              <m:r>
                                <m:rPr>
                                  <m:nor/>
                                </m:rPr>
                                <a:rPr lang="en-CA" sz="2800" i="0" baseline="-25000" smtClean="0">
                                  <a:solidFill>
                                    <a:schemeClr val="tx1"/>
                                  </a:solidFill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CA" sz="2800" i="0" baseline="-25000" smtClean="0">
                                  <a:solidFill>
                                    <a:schemeClr val="tx1"/>
                                  </a:solidFill>
                                </a:rPr>
                                <m:t>̄</m:t>
                              </m:r>
                            </m:oMath>
                          </a14:m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en-US" sz="2800" i="0" dirty="0" smtClean="0">
                                      <a:solidFill>
                                        <a:schemeClr val="tx1"/>
                                      </a:solidFill>
                                    </a:rPr>
                                    <m:t>σ</m:t>
                                  </m:r>
                                </m:num>
                                <m:den>
                                  <m: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√</m:t>
                                  </m:r>
                                  <m:r>
                                    <a:rPr lang="en-CA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8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en-US" sz="28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8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̅̅</m:t>
                                    </m:r>
                                  </m:sub>
                                </m:sSub>
                                <m:r>
                                  <a:rPr lang="en-US" sz="2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num>
                                  <m:den>
                                    <m:r>
                                      <a:rPr 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√</m:t>
                                    </m:r>
                                    <m:r>
                                      <a:rPr lang="en-CA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s </a:t>
                          </a:r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=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𝑆𝑆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 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OR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sz="2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∑</m:t>
                                      </m:r>
                                      <m:sSup>
                                        <m:sSupPr>
                                          <m:ctrlPr>
                                            <a:rPr lang="en-US" sz="240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− </m:t>
                                          </m:r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̅</m:t>
                                          </m:r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en-US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− </m:t>
                                      </m:r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endParaRPr lang="en-US" sz="2800" dirty="0">
                            <a:solidFill>
                              <a:schemeClr val="bg1"/>
                            </a:solidFill>
                          </a:endParaRPr>
                        </a:p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638373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65847B1B-AABC-E341-8F28-A2D6CE0281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5532899"/>
                  </p:ext>
                </p:extLst>
              </p:nvPr>
            </p:nvGraphicFramePr>
            <p:xfrm>
              <a:off x="290623" y="1399743"/>
              <a:ext cx="11834083" cy="53345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82265">
                      <a:extLst>
                        <a:ext uri="{9D8B030D-6E8A-4147-A177-3AD203B41FA5}">
                          <a16:colId xmlns:a16="http://schemas.microsoft.com/office/drawing/2014/main" val="4004983389"/>
                        </a:ext>
                      </a:extLst>
                    </a:gridCol>
                    <a:gridCol w="2796639">
                      <a:extLst>
                        <a:ext uri="{9D8B030D-6E8A-4147-A177-3AD203B41FA5}">
                          <a16:colId xmlns:a16="http://schemas.microsoft.com/office/drawing/2014/main" val="3608128689"/>
                        </a:ext>
                      </a:extLst>
                    </a:gridCol>
                    <a:gridCol w="3105398">
                      <a:extLst>
                        <a:ext uri="{9D8B030D-6E8A-4147-A177-3AD203B41FA5}">
                          <a16:colId xmlns:a16="http://schemas.microsoft.com/office/drawing/2014/main" val="3990134810"/>
                        </a:ext>
                      </a:extLst>
                    </a:gridCol>
                    <a:gridCol w="3449781">
                      <a:extLst>
                        <a:ext uri="{9D8B030D-6E8A-4147-A177-3AD203B41FA5}">
                          <a16:colId xmlns:a16="http://schemas.microsoft.com/office/drawing/2014/main" val="2938925849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Single Participant Design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Single Sample Design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:r>
                            <a:rPr lang="el-GR" sz="2400" dirty="0">
                              <a:solidFill>
                                <a:schemeClr val="tx1"/>
                              </a:solidFill>
                            </a:rPr>
                            <a:t>μ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&amp; σ known)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Single Sample Design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(</a:t>
                          </a:r>
                          <a:r>
                            <a:rPr lang="el-GR" sz="2400" dirty="0">
                              <a:solidFill>
                                <a:srgbClr val="FF0000"/>
                              </a:solidFill>
                            </a:rPr>
                            <a:t>μ</a:t>
                          </a:r>
                          <a:r>
                            <a:rPr lang="en-US" sz="2400" dirty="0">
                              <a:solidFill>
                                <a:srgbClr val="FF0000"/>
                              </a:solidFill>
                            </a:rPr>
                            <a:t> known, σ unknown)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94681456"/>
                      </a:ext>
                    </a:extLst>
                  </a:tr>
                  <a:tr h="1212025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Test Ratio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8889" t="-71357" r="-235076" b="-2733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0000" t="-71357" r="-111569" b="-2733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3286" t="-71357" r="-530" b="-2733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5834762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Population Mean</a:t>
                          </a:r>
                        </a:p>
                        <a:p>
                          <a:endParaRPr lang="en-US" sz="2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8889" t="-252593" r="-235076" b="-30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0000" t="-252593" r="-111569" b="-30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3286" t="-252593" r="-530" b="-3029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2413151"/>
                      </a:ext>
                    </a:extLst>
                  </a:tr>
                  <a:tr h="2476627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Standard Error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8889" t="-116953" r="-235076" b="-4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0000" t="-116953" r="-111569" b="-4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3286" t="-116953" r="-530" b="-4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383735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855150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D7704-E406-F181-80BB-A7F0E0128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BDE04-6121-3931-ADB2-15D3468D3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6596"/>
            <a:ext cx="5257800" cy="6271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1:</a:t>
            </a:r>
          </a:p>
          <a:p>
            <a:r>
              <a:rPr lang="en-US" b="1" i="1" dirty="0"/>
              <a:t>H</a:t>
            </a:r>
            <a:r>
              <a:rPr lang="en-US" b="1" i="1" baseline="-25000" dirty="0"/>
              <a:t>0</a:t>
            </a:r>
            <a:r>
              <a:rPr lang="en-US" b="1" dirty="0"/>
              <a:t>: </a:t>
            </a:r>
            <a:r>
              <a:rPr lang="el-GR" i="1" dirty="0"/>
              <a:t>μ</a:t>
            </a:r>
            <a:r>
              <a:rPr lang="en-CA" dirty="0"/>
              <a:t> =</a:t>
            </a:r>
            <a:r>
              <a:rPr lang="el-GR" dirty="0"/>
              <a:t> </a:t>
            </a:r>
            <a:r>
              <a:rPr lang="en-US" dirty="0"/>
              <a:t>75.00</a:t>
            </a:r>
            <a:endParaRPr lang="en-CA" dirty="0"/>
          </a:p>
          <a:p>
            <a:r>
              <a:rPr lang="en-US" b="1" i="1" dirty="0"/>
              <a:t>H</a:t>
            </a:r>
            <a:r>
              <a:rPr lang="en-US" b="1" i="1" baseline="-25000" dirty="0"/>
              <a:t>1</a:t>
            </a:r>
            <a:r>
              <a:rPr lang="en-US" b="1" dirty="0"/>
              <a:t>: </a:t>
            </a:r>
            <a:r>
              <a:rPr lang="el-GR" i="1" dirty="0"/>
              <a:t>μ</a:t>
            </a:r>
            <a:r>
              <a:rPr lang="en-CA" dirty="0"/>
              <a:t> ≠ </a:t>
            </a:r>
            <a:r>
              <a:rPr lang="en-US" dirty="0"/>
              <a:t>75.00</a:t>
            </a:r>
            <a:endParaRPr lang="en-CA" dirty="0"/>
          </a:p>
          <a:p>
            <a:pPr lvl="1"/>
            <a:r>
              <a:rPr lang="en-CA" dirty="0"/>
              <a:t>Thus, two-tailed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Step 2: </a:t>
            </a:r>
            <a:endParaRPr lang="en-US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Type of Research Design</a:t>
            </a:r>
            <a:r>
              <a:rPr lang="en-US" sz="1200" dirty="0"/>
              <a:t>: Single-Sample Design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Model of Hypothesis Testing</a:t>
            </a:r>
            <a:r>
              <a:rPr lang="en-US" sz="1200" dirty="0"/>
              <a:t>: Random Sampling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Nature of Data (Scales of measurement)</a:t>
            </a:r>
            <a:r>
              <a:rPr lang="en-US" sz="1200" dirty="0"/>
              <a:t>: Score data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Statistic Being Analyzed</a:t>
            </a:r>
            <a:r>
              <a:rPr lang="en-US" sz="1200" dirty="0"/>
              <a:t>: </a:t>
            </a:r>
            <a:r>
              <a:rPr lang="en-CA" sz="1200" dirty="0"/>
              <a:t>x̅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Information about the Population</a:t>
            </a:r>
            <a:r>
              <a:rPr lang="en-US" sz="1200" dirty="0"/>
              <a:t>: </a:t>
            </a:r>
            <a:r>
              <a:rPr lang="el-GR" sz="1200" dirty="0"/>
              <a:t>μ</a:t>
            </a:r>
            <a:r>
              <a:rPr lang="en-US" sz="1200" dirty="0"/>
              <a:t> = 75.00, </a:t>
            </a:r>
            <a:r>
              <a:rPr lang="en-US" sz="1200" dirty="0">
                <a:solidFill>
                  <a:srgbClr val="FF0000"/>
                </a:solidFill>
              </a:rPr>
              <a:t>σ = unknown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Sample Size</a:t>
            </a:r>
            <a:r>
              <a:rPr lang="en-US" sz="1200" dirty="0"/>
              <a:t>: </a:t>
            </a:r>
            <a:r>
              <a:rPr lang="en-US" sz="1200" i="1" dirty="0"/>
              <a:t>n</a:t>
            </a:r>
            <a:r>
              <a:rPr lang="en-US" sz="1200" dirty="0"/>
              <a:t> = 25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Shape</a:t>
            </a:r>
            <a:r>
              <a:rPr lang="en-US" sz="1200" dirty="0"/>
              <a:t>: Normally distributed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Step 3:</a:t>
            </a:r>
          </a:p>
          <a:p>
            <a:r>
              <a:rPr lang="en-CA" i="1" dirty="0"/>
              <a:t>p(</a:t>
            </a:r>
            <a:r>
              <a:rPr lang="el-GR" i="1" dirty="0"/>
              <a:t>α</a:t>
            </a:r>
            <a:r>
              <a:rPr lang="en-CA" i="1" dirty="0"/>
              <a:t>) </a:t>
            </a:r>
            <a:r>
              <a:rPr lang="en-CA" dirty="0"/>
              <a:t>= .05, </a:t>
            </a:r>
            <a:r>
              <a:rPr lang="en-CA" i="1" dirty="0">
                <a:solidFill>
                  <a:srgbClr val="FF0000"/>
                </a:solidFill>
              </a:rPr>
              <a:t>t(crit)</a:t>
            </a:r>
            <a:r>
              <a:rPr lang="en-CA" dirty="0">
                <a:solidFill>
                  <a:srgbClr val="FF0000"/>
                </a:solidFill>
              </a:rPr>
              <a:t> = 2.0639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CA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BD3B7DEC-1286-74FE-E15B-9839AC21F3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633816"/>
                <a:ext cx="5257800" cy="62714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dirty="0"/>
                  <a:t>Step 4:</a:t>
                </a:r>
              </a:p>
              <a:p>
                <a:r>
                  <a:rPr lang="en-US" i="1" dirty="0">
                    <a:solidFill>
                      <a:srgbClr val="FF0000"/>
                    </a:solidFill>
                  </a:rPr>
                  <a:t>t</a:t>
                </a:r>
                <a:r>
                  <a:rPr lang="en-US" dirty="0">
                    <a:solidFill>
                      <a:srgbClr val="FF0000"/>
                    </a:solidFill>
                  </a:rPr>
                  <a:t>(</a:t>
                </a:r>
                <a:r>
                  <a:rPr lang="en-US" dirty="0" err="1">
                    <a:solidFill>
                      <a:srgbClr val="FF0000"/>
                    </a:solidFill>
                  </a:rPr>
                  <a:t>obs</a:t>
                </a:r>
                <a:r>
                  <a:rPr lang="en-US" dirty="0">
                    <a:solidFill>
                      <a:srgbClr val="FF0000"/>
                    </a:solidFill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82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0000</m:t>
                        </m:r>
                        <m:r>
                          <a:rPr lang="en-CA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CA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0000</m:t>
                        </m:r>
                      </m:num>
                      <m:den>
                        <m:r>
                          <m:rPr>
                            <m:nor/>
                          </m:rPr>
                          <a:rPr lang="en-CA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2.4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  <m:r>
                          <m:rPr>
                            <m:nor/>
                          </m:rPr>
                          <a:rPr lang="en-CA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 = 2.9167</a:t>
                </a:r>
              </a:p>
              <a:p>
                <a:r>
                  <a:rPr lang="en-US" i="1" dirty="0">
                    <a:solidFill>
                      <a:srgbClr val="FF0000"/>
                    </a:solidFill>
                  </a:rPr>
                  <a:t>p</a:t>
                </a:r>
                <a:r>
                  <a:rPr lang="en-US" dirty="0">
                    <a:solidFill>
                      <a:srgbClr val="FF0000"/>
                    </a:solidFill>
                  </a:rPr>
                  <a:t>(</a:t>
                </a:r>
                <a:r>
                  <a:rPr lang="en-US" i="1" dirty="0" err="1">
                    <a:solidFill>
                      <a:srgbClr val="FF0000"/>
                    </a:solidFill>
                  </a:rPr>
                  <a:t>obs</a:t>
                </a:r>
                <a:r>
                  <a:rPr lang="en-US" dirty="0">
                    <a:solidFill>
                      <a:srgbClr val="FF0000"/>
                    </a:solidFill>
                  </a:rPr>
                  <a:t>) &lt; .01</a:t>
                </a:r>
                <a:endParaRPr lang="en-US" i="1" dirty="0">
                  <a:solidFill>
                    <a:srgbClr val="FF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CA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CA" b="1" dirty="0"/>
                  <a:t>Step 5: </a:t>
                </a:r>
                <a:endParaRPr lang="en-US" b="1" dirty="0"/>
              </a:p>
              <a:p>
                <a:r>
                  <a:rPr lang="en-US" sz="2000" i="1" dirty="0"/>
                  <a:t>t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CA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|2.9167| &gt; </a:t>
                </a:r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(crit) = |2.0639|</a:t>
                </a:r>
              </a:p>
              <a:p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 &lt; .01 &lt;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CA" sz="2000" i="1" dirty="0"/>
                  <a:t>p(</a:t>
                </a:r>
                <a:r>
                  <a:rPr lang="el-GR" sz="2000" i="1" dirty="0"/>
                  <a:t>α</a:t>
                </a:r>
                <a:r>
                  <a:rPr lang="en-CA" sz="2000" i="1" dirty="0"/>
                  <a:t>) </a:t>
                </a:r>
                <a:r>
                  <a:rPr lang="en-CA" sz="2000" dirty="0"/>
                  <a:t>= .05</a:t>
                </a:r>
              </a:p>
              <a:p>
                <a:pPr lvl="1"/>
                <a:r>
                  <a:rPr lang="en-CA" sz="1600" dirty="0"/>
                  <a:t>Reject the null, accept the alternative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b="1" dirty="0"/>
                  <a:t>Step 6: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en-US" sz="2000" dirty="0"/>
                  <a:t>The stats problem generator group’s final exam scores (</a:t>
                </a:r>
                <a:r>
                  <a:rPr lang="en-CA" sz="2000" i="1" dirty="0"/>
                  <a:t>x̅ </a:t>
                </a:r>
                <a:r>
                  <a:rPr lang="en-CA" sz="2000" dirty="0"/>
                  <a:t>= 82.00%, </a:t>
                </a:r>
                <a:r>
                  <a:rPr lang="en-CA" sz="2000" i="1" dirty="0"/>
                  <a:t>s</a:t>
                </a:r>
                <a:r>
                  <a:rPr lang="en-CA" sz="2000" dirty="0"/>
                  <a:t> = 12.00%, </a:t>
                </a:r>
                <a:r>
                  <a:rPr lang="en-CA" sz="2000" i="1" dirty="0"/>
                  <a:t>n </a:t>
                </a:r>
                <a:r>
                  <a:rPr lang="en-CA" sz="2000" dirty="0"/>
                  <a:t>= 25</a:t>
                </a:r>
                <a:r>
                  <a:rPr lang="en-US" sz="2000" dirty="0"/>
                  <a:t>) were statistically higher than the average of the class (</a:t>
                </a:r>
                <a:r>
                  <a:rPr lang="el-GR" sz="2000" dirty="0"/>
                  <a:t>μ</a:t>
                </a:r>
                <a:r>
                  <a:rPr lang="en-CA" sz="2000" dirty="0"/>
                  <a:t> = 75.00%</a:t>
                </a:r>
                <a:r>
                  <a:rPr lang="en-US" sz="2000" dirty="0"/>
                  <a:t>), </a:t>
                </a:r>
                <a:r>
                  <a:rPr lang="en-US" sz="2000" i="1" dirty="0"/>
                  <a:t>t</a:t>
                </a:r>
                <a:r>
                  <a:rPr lang="en-US" sz="2000" dirty="0"/>
                  <a:t>(24) = 2.92, </a:t>
                </a:r>
                <a:r>
                  <a:rPr lang="en-US" sz="2000" i="1" dirty="0"/>
                  <a:t>p</a:t>
                </a:r>
                <a:r>
                  <a:rPr lang="en-US" sz="2000" dirty="0"/>
                  <a:t> &lt; .01. The problem generator increased the group’s exam score.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CA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BD3B7DEC-1286-74FE-E15B-9839AC21F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33816"/>
                <a:ext cx="5257800" cy="6271404"/>
              </a:xfrm>
              <a:prstGeom prst="rect">
                <a:avLst/>
              </a:prstGeom>
              <a:blipFill>
                <a:blip r:embed="rId2"/>
                <a:stretch>
                  <a:fillRect l="-2317" t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4">
            <a:extLst>
              <a:ext uri="{FF2B5EF4-FFF2-40B4-BE49-F238E27FC236}">
                <a16:creationId xmlns:a16="http://schemas.microsoft.com/office/drawing/2014/main" id="{B2250924-C090-C032-174E-3468A00638E7}"/>
              </a:ext>
            </a:extLst>
          </p:cNvPr>
          <p:cNvSpPr/>
          <p:nvPr/>
        </p:nvSpPr>
        <p:spPr>
          <a:xfrm>
            <a:off x="5989749" y="586595"/>
            <a:ext cx="4751231" cy="157061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5598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A442C2-3C8F-4A46-BC71-41F4C64219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65" t="8498" r="10118" b="54495"/>
          <a:stretch/>
        </p:blipFill>
        <p:spPr>
          <a:xfrm>
            <a:off x="5479476" y="1953492"/>
            <a:ext cx="6653148" cy="39819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058827-47E9-5F4A-ACB7-2D065CE77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5 - No Changes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636B0E-BC06-3B4F-B3DE-0C27B5BA0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4873832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Changes to step 5</a:t>
            </a:r>
          </a:p>
          <a:p>
            <a:r>
              <a:rPr lang="en-US" dirty="0"/>
              <a:t>No change, but remember the p-values are less specific due to t-table</a:t>
            </a:r>
          </a:p>
          <a:p>
            <a:pPr lvl="1"/>
            <a:r>
              <a:rPr lang="en-US" dirty="0"/>
              <a:t>e.g., </a:t>
            </a:r>
            <a:r>
              <a:rPr lang="en-US" i="1" dirty="0"/>
              <a:t>p </a:t>
            </a:r>
            <a:r>
              <a:rPr lang="en-US" dirty="0"/>
              <a:t>&gt; .10 instead of </a:t>
            </a:r>
            <a:r>
              <a:rPr lang="en-US" i="1" dirty="0"/>
              <a:t>p </a:t>
            </a:r>
            <a:r>
              <a:rPr lang="en-US" dirty="0"/>
              <a:t>= .1223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CA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CA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obs</a:t>
            </a:r>
            <a:r>
              <a:rPr lang="en-CA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= ___ vs t(crit) = </a:t>
            </a:r>
            <a:r>
              <a:rPr lang="en-CA" dirty="0"/>
              <a:t>___</a:t>
            </a:r>
          </a:p>
          <a:p>
            <a:r>
              <a:rPr lang="en-CA" sz="2000" dirty="0">
                <a:latin typeface="Calibri" panose="020F0502020204030204" pitchFamily="34" charset="0"/>
                <a:cs typeface="Calibri" panose="020F0502020204030204" pitchFamily="34" charset="0"/>
              </a:rPr>
              <a:t>E.g.,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CA" sz="20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CA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obs</a:t>
            </a:r>
            <a:r>
              <a:rPr lang="en-CA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= |2.9167| &gt; t(crit) = |</a:t>
            </a:r>
            <a:r>
              <a:rPr lang="en-CA" sz="2000" dirty="0"/>
              <a:t>2.0639|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obs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___ vs </a:t>
            </a:r>
            <a:r>
              <a:rPr lang="en-CA" i="1" dirty="0"/>
              <a:t>p(</a:t>
            </a:r>
            <a:r>
              <a:rPr lang="el-GR" i="1" dirty="0"/>
              <a:t>α</a:t>
            </a:r>
            <a:r>
              <a:rPr lang="en-CA" i="1" dirty="0"/>
              <a:t>) </a:t>
            </a:r>
            <a:r>
              <a:rPr lang="en-CA" dirty="0"/>
              <a:t>= .05</a:t>
            </a:r>
          </a:p>
          <a:p>
            <a:r>
              <a:rPr lang="en-CA" sz="2000" dirty="0"/>
              <a:t>E.g., </a:t>
            </a: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obs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 &lt; .01 &lt; </a:t>
            </a:r>
            <a:r>
              <a:rPr lang="en-CA" sz="2000" i="1" dirty="0"/>
              <a:t>p(</a:t>
            </a:r>
            <a:r>
              <a:rPr lang="el-GR" sz="2000" i="1" dirty="0"/>
              <a:t>α</a:t>
            </a:r>
            <a:r>
              <a:rPr lang="en-CA" sz="2000" i="1" dirty="0"/>
              <a:t>) </a:t>
            </a:r>
            <a:r>
              <a:rPr lang="en-CA" sz="2000" dirty="0"/>
              <a:t>= .05</a:t>
            </a:r>
          </a:p>
          <a:p>
            <a:endParaRPr lang="en-CA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04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973EE-7F35-BE11-3031-32E17A36E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FEF4E-9B43-FB65-AE70-CC3E24014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6596"/>
            <a:ext cx="5257800" cy="6271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1:</a:t>
            </a:r>
          </a:p>
          <a:p>
            <a:r>
              <a:rPr lang="en-US" b="1" i="1" dirty="0"/>
              <a:t>H</a:t>
            </a:r>
            <a:r>
              <a:rPr lang="en-US" b="1" i="1" baseline="-25000" dirty="0"/>
              <a:t>0</a:t>
            </a:r>
            <a:r>
              <a:rPr lang="en-US" b="1" dirty="0"/>
              <a:t>: </a:t>
            </a:r>
            <a:r>
              <a:rPr lang="el-GR" i="1" dirty="0"/>
              <a:t>μ</a:t>
            </a:r>
            <a:r>
              <a:rPr lang="en-CA" dirty="0"/>
              <a:t> =</a:t>
            </a:r>
            <a:r>
              <a:rPr lang="el-GR" dirty="0"/>
              <a:t> </a:t>
            </a:r>
            <a:r>
              <a:rPr lang="en-US" dirty="0"/>
              <a:t>75.00</a:t>
            </a:r>
            <a:endParaRPr lang="en-CA" dirty="0"/>
          </a:p>
          <a:p>
            <a:r>
              <a:rPr lang="en-US" b="1" i="1" dirty="0"/>
              <a:t>H</a:t>
            </a:r>
            <a:r>
              <a:rPr lang="en-US" b="1" i="1" baseline="-25000" dirty="0"/>
              <a:t>1</a:t>
            </a:r>
            <a:r>
              <a:rPr lang="en-US" b="1" dirty="0"/>
              <a:t>: </a:t>
            </a:r>
            <a:r>
              <a:rPr lang="el-GR" i="1" dirty="0"/>
              <a:t>μ</a:t>
            </a:r>
            <a:r>
              <a:rPr lang="en-CA" dirty="0"/>
              <a:t> ≠ </a:t>
            </a:r>
            <a:r>
              <a:rPr lang="en-US" dirty="0"/>
              <a:t>75.00</a:t>
            </a:r>
            <a:endParaRPr lang="en-CA" dirty="0"/>
          </a:p>
          <a:p>
            <a:pPr lvl="1"/>
            <a:r>
              <a:rPr lang="en-CA" dirty="0"/>
              <a:t>Thus, two-tailed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Step 2: </a:t>
            </a:r>
            <a:endParaRPr lang="en-US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Type of Research Design</a:t>
            </a:r>
            <a:r>
              <a:rPr lang="en-US" sz="1200" dirty="0"/>
              <a:t>: Single-Sample Design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Model of Hypothesis Testing</a:t>
            </a:r>
            <a:r>
              <a:rPr lang="en-US" sz="1200" dirty="0"/>
              <a:t>: Random Sampling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Nature of Data (Scales of measurement)</a:t>
            </a:r>
            <a:r>
              <a:rPr lang="en-US" sz="1200" dirty="0"/>
              <a:t>: Score data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Statistic Being Analyzed</a:t>
            </a:r>
            <a:r>
              <a:rPr lang="en-US" sz="1200" dirty="0"/>
              <a:t>: </a:t>
            </a:r>
            <a:r>
              <a:rPr lang="en-CA" sz="1200" dirty="0"/>
              <a:t>x̅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Information about the Population</a:t>
            </a:r>
            <a:r>
              <a:rPr lang="en-US" sz="1200" dirty="0"/>
              <a:t>: </a:t>
            </a:r>
            <a:r>
              <a:rPr lang="el-GR" sz="1200" dirty="0"/>
              <a:t>μ</a:t>
            </a:r>
            <a:r>
              <a:rPr lang="en-US" sz="1200" dirty="0"/>
              <a:t> = 75.00, </a:t>
            </a:r>
            <a:r>
              <a:rPr lang="en-US" sz="1200" dirty="0">
                <a:solidFill>
                  <a:srgbClr val="FF0000"/>
                </a:solidFill>
              </a:rPr>
              <a:t>σ = unknown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Sample Size</a:t>
            </a:r>
            <a:r>
              <a:rPr lang="en-US" sz="1200" dirty="0"/>
              <a:t>: </a:t>
            </a:r>
            <a:r>
              <a:rPr lang="en-US" sz="1200" i="1" dirty="0"/>
              <a:t>n</a:t>
            </a:r>
            <a:r>
              <a:rPr lang="en-US" sz="1200" dirty="0"/>
              <a:t> = 25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Shape</a:t>
            </a:r>
            <a:r>
              <a:rPr lang="en-US" sz="1200" dirty="0"/>
              <a:t>: Normally distributed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Step 3:</a:t>
            </a:r>
          </a:p>
          <a:p>
            <a:r>
              <a:rPr lang="en-CA" i="1" dirty="0"/>
              <a:t>p(</a:t>
            </a:r>
            <a:r>
              <a:rPr lang="el-GR" i="1" dirty="0"/>
              <a:t>α</a:t>
            </a:r>
            <a:r>
              <a:rPr lang="en-CA" i="1" dirty="0"/>
              <a:t>) </a:t>
            </a:r>
            <a:r>
              <a:rPr lang="en-CA" dirty="0"/>
              <a:t>= .05, </a:t>
            </a:r>
            <a:r>
              <a:rPr lang="en-CA" i="1" dirty="0">
                <a:solidFill>
                  <a:srgbClr val="FF0000"/>
                </a:solidFill>
              </a:rPr>
              <a:t>t(crit)</a:t>
            </a:r>
            <a:r>
              <a:rPr lang="en-CA" dirty="0">
                <a:solidFill>
                  <a:srgbClr val="FF0000"/>
                </a:solidFill>
              </a:rPr>
              <a:t> = 2.0639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CA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AC53C40-966F-E4CF-A7C5-49EE3798B5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633816"/>
                <a:ext cx="5257800" cy="62714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dirty="0"/>
                  <a:t>Step 4:</a:t>
                </a:r>
              </a:p>
              <a:p>
                <a:r>
                  <a:rPr lang="en-US" i="1" dirty="0">
                    <a:solidFill>
                      <a:srgbClr val="FF0000"/>
                    </a:solidFill>
                  </a:rPr>
                  <a:t>t</a:t>
                </a:r>
                <a:r>
                  <a:rPr lang="en-US" dirty="0">
                    <a:solidFill>
                      <a:srgbClr val="FF0000"/>
                    </a:solidFill>
                  </a:rPr>
                  <a:t>(</a:t>
                </a:r>
                <a:r>
                  <a:rPr lang="en-US" dirty="0" err="1">
                    <a:solidFill>
                      <a:srgbClr val="FF0000"/>
                    </a:solidFill>
                  </a:rPr>
                  <a:t>obs</a:t>
                </a:r>
                <a:r>
                  <a:rPr lang="en-US" dirty="0">
                    <a:solidFill>
                      <a:srgbClr val="FF0000"/>
                    </a:solidFill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82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0000</m:t>
                        </m:r>
                        <m:r>
                          <a:rPr lang="en-CA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CA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0000</m:t>
                        </m:r>
                      </m:num>
                      <m:den>
                        <m:r>
                          <m:rPr>
                            <m:nor/>
                          </m:rPr>
                          <a:rPr lang="en-CA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2.4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  <m:r>
                          <m:rPr>
                            <m:nor/>
                          </m:rPr>
                          <a:rPr lang="en-CA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 = 2.9167</a:t>
                </a:r>
              </a:p>
              <a:p>
                <a:r>
                  <a:rPr lang="en-US" i="1" dirty="0">
                    <a:solidFill>
                      <a:srgbClr val="FF0000"/>
                    </a:solidFill>
                  </a:rPr>
                  <a:t>p</a:t>
                </a:r>
                <a:r>
                  <a:rPr lang="en-US" dirty="0">
                    <a:solidFill>
                      <a:srgbClr val="FF0000"/>
                    </a:solidFill>
                  </a:rPr>
                  <a:t>(</a:t>
                </a:r>
                <a:r>
                  <a:rPr lang="en-US" i="1" dirty="0" err="1">
                    <a:solidFill>
                      <a:srgbClr val="FF0000"/>
                    </a:solidFill>
                  </a:rPr>
                  <a:t>obs</a:t>
                </a:r>
                <a:r>
                  <a:rPr lang="en-US" dirty="0">
                    <a:solidFill>
                      <a:srgbClr val="FF0000"/>
                    </a:solidFill>
                  </a:rPr>
                  <a:t>) &lt; .01</a:t>
                </a:r>
                <a:endParaRPr lang="en-US" i="1" dirty="0">
                  <a:solidFill>
                    <a:srgbClr val="FF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CA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CA" b="1" dirty="0"/>
                  <a:t>Step 5: </a:t>
                </a:r>
                <a:endParaRPr lang="en-US" b="1" dirty="0"/>
              </a:p>
              <a:p>
                <a:r>
                  <a:rPr lang="en-US" sz="2000" i="1" dirty="0"/>
                  <a:t>t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CA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|2.9167| &gt; </a:t>
                </a:r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(crit) = |2.0639|</a:t>
                </a:r>
              </a:p>
              <a:p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 &lt; .01 &lt;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CA" sz="2000" i="1" dirty="0"/>
                  <a:t>p(</a:t>
                </a:r>
                <a:r>
                  <a:rPr lang="el-GR" sz="2000" i="1" dirty="0"/>
                  <a:t>α</a:t>
                </a:r>
                <a:r>
                  <a:rPr lang="en-CA" sz="2000" i="1" dirty="0"/>
                  <a:t>) </a:t>
                </a:r>
                <a:r>
                  <a:rPr lang="en-CA" sz="2000" dirty="0"/>
                  <a:t>= .05</a:t>
                </a:r>
              </a:p>
              <a:p>
                <a:pPr lvl="1"/>
                <a:r>
                  <a:rPr lang="en-CA" sz="1600" dirty="0"/>
                  <a:t>Reject the null, accept the alternative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b="1" dirty="0"/>
                  <a:t>Step 6: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en-US" sz="2000" dirty="0"/>
                  <a:t>The stats problem generator group’s final exam scores (</a:t>
                </a:r>
                <a:r>
                  <a:rPr lang="en-CA" sz="2000" i="1" dirty="0"/>
                  <a:t>x̅ </a:t>
                </a:r>
                <a:r>
                  <a:rPr lang="en-CA" sz="2000" dirty="0"/>
                  <a:t>= 82.00%, </a:t>
                </a:r>
                <a:r>
                  <a:rPr lang="en-CA" sz="2000" i="1" dirty="0"/>
                  <a:t>s</a:t>
                </a:r>
                <a:r>
                  <a:rPr lang="en-CA" sz="2000" dirty="0"/>
                  <a:t> = 12.00%, </a:t>
                </a:r>
                <a:r>
                  <a:rPr lang="en-CA" sz="2000" i="1" dirty="0"/>
                  <a:t>n </a:t>
                </a:r>
                <a:r>
                  <a:rPr lang="en-CA" sz="2000" dirty="0"/>
                  <a:t>= 25</a:t>
                </a:r>
                <a:r>
                  <a:rPr lang="en-US" sz="2000" dirty="0"/>
                  <a:t>) were statistically higher than the average of the class (</a:t>
                </a:r>
                <a:r>
                  <a:rPr lang="el-GR" sz="2000" dirty="0"/>
                  <a:t>μ</a:t>
                </a:r>
                <a:r>
                  <a:rPr lang="en-CA" sz="2000" dirty="0"/>
                  <a:t> = 75.00%</a:t>
                </a:r>
                <a:r>
                  <a:rPr lang="en-US" sz="2000" dirty="0"/>
                  <a:t>), </a:t>
                </a:r>
                <a:r>
                  <a:rPr lang="en-US" sz="2000" i="1" dirty="0"/>
                  <a:t>t</a:t>
                </a:r>
                <a:r>
                  <a:rPr lang="en-US" sz="2000" dirty="0"/>
                  <a:t>(24) = 2.92, </a:t>
                </a:r>
                <a:r>
                  <a:rPr lang="en-US" sz="2000" i="1" dirty="0"/>
                  <a:t>p</a:t>
                </a:r>
                <a:r>
                  <a:rPr lang="en-US" sz="2000" dirty="0"/>
                  <a:t> &lt; .01. The problem generator increased the group’s exam score.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CA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AC53C40-966F-E4CF-A7C5-49EE3798B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33816"/>
                <a:ext cx="5257800" cy="6271404"/>
              </a:xfrm>
              <a:prstGeom prst="rect">
                <a:avLst/>
              </a:prstGeom>
              <a:blipFill>
                <a:blip r:embed="rId2"/>
                <a:stretch>
                  <a:fillRect l="-2317" t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4">
            <a:extLst>
              <a:ext uri="{FF2B5EF4-FFF2-40B4-BE49-F238E27FC236}">
                <a16:creationId xmlns:a16="http://schemas.microsoft.com/office/drawing/2014/main" id="{B751229B-1FE2-D72F-934D-B9700376EB1F}"/>
              </a:ext>
            </a:extLst>
          </p:cNvPr>
          <p:cNvSpPr/>
          <p:nvPr/>
        </p:nvSpPr>
        <p:spPr>
          <a:xfrm>
            <a:off x="5944673" y="2466911"/>
            <a:ext cx="4751231" cy="157061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6877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58827-47E9-5F4A-ACB7-2D065CE77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6 - Changes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5CA7A3AE-218A-6B40-A24F-88F3FB2C0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463413"/>
              </p:ext>
            </p:extLst>
          </p:nvPr>
        </p:nvGraphicFramePr>
        <p:xfrm>
          <a:off x="547467" y="2468017"/>
          <a:ext cx="11097065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030">
                  <a:extLst>
                    <a:ext uri="{9D8B030D-6E8A-4147-A177-3AD203B41FA5}">
                      <a16:colId xmlns:a16="http://schemas.microsoft.com/office/drawing/2014/main" val="4004983389"/>
                    </a:ext>
                  </a:extLst>
                </a:gridCol>
                <a:gridCol w="3180423">
                  <a:extLst>
                    <a:ext uri="{9D8B030D-6E8A-4147-A177-3AD203B41FA5}">
                      <a16:colId xmlns:a16="http://schemas.microsoft.com/office/drawing/2014/main" val="3608128689"/>
                    </a:ext>
                  </a:extLst>
                </a:gridCol>
                <a:gridCol w="3380806">
                  <a:extLst>
                    <a:ext uri="{9D8B030D-6E8A-4147-A177-3AD203B41FA5}">
                      <a16:colId xmlns:a16="http://schemas.microsoft.com/office/drawing/2014/main" val="3990134810"/>
                    </a:ext>
                  </a:extLst>
                </a:gridCol>
                <a:gridCol w="3380806">
                  <a:extLst>
                    <a:ext uri="{9D8B030D-6E8A-4147-A177-3AD203B41FA5}">
                      <a16:colId xmlns:a16="http://schemas.microsoft.com/office/drawing/2014/main" val="2791155024"/>
                    </a:ext>
                  </a:extLst>
                </a:gridCol>
              </a:tblGrid>
              <a:tr h="5207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Single Participant Design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Single Sample Design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(parameters known)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Single Sample Design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σ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unknown)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681456"/>
                  </a:ext>
                </a:extLst>
              </a:tr>
              <a:tr h="520734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Report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Jo’s final exam score of x = 72% was not statistically different than the average of the class (</a:t>
                      </a:r>
                      <a:r>
                        <a:rPr lang="el-GR" sz="1600" dirty="0"/>
                        <a:t>μ</a:t>
                      </a:r>
                      <a:r>
                        <a:rPr lang="en-CA" sz="1600" dirty="0"/>
                        <a:t> = 90, </a:t>
                      </a:r>
                      <a:r>
                        <a:rPr lang="en-US" sz="1600" dirty="0"/>
                        <a:t>σ = 10.20), </a:t>
                      </a:r>
                      <a:r>
                        <a:rPr lang="en-US" sz="1600" i="1" dirty="0"/>
                        <a:t>z</a:t>
                      </a:r>
                      <a:r>
                        <a:rPr lang="en-US" sz="1600" dirty="0"/>
                        <a:t> = -1.76, </a:t>
                      </a:r>
                      <a:r>
                        <a:rPr lang="en-US" sz="1600" i="1" dirty="0"/>
                        <a:t>p</a:t>
                      </a:r>
                      <a:r>
                        <a:rPr lang="en-US" sz="1600" dirty="0"/>
                        <a:t> = .078. The problem generator did not affect Jo’s exam score.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 stats problem generator groups final exam scores (</a:t>
                      </a:r>
                      <a:r>
                        <a:rPr lang="en-CA" sz="1600" i="1" baseline="0" dirty="0">
                          <a:solidFill>
                            <a:schemeClr val="tx1"/>
                          </a:solidFill>
                        </a:rPr>
                        <a:t>x̅ </a:t>
                      </a:r>
                      <a:r>
                        <a:rPr lang="en-CA" sz="1600" baseline="0" dirty="0">
                          <a:solidFill>
                            <a:schemeClr val="tx1"/>
                          </a:solidFill>
                        </a:rPr>
                        <a:t>= 72%, </a:t>
                      </a:r>
                      <a:r>
                        <a:rPr lang="en-CA" sz="1600" i="1" baseline="0" dirty="0">
                          <a:solidFill>
                            <a:schemeClr val="tx1"/>
                          </a:solidFill>
                        </a:rPr>
                        <a:t>SD</a:t>
                      </a:r>
                      <a:r>
                        <a:rPr lang="en-CA" sz="1600" baseline="0" dirty="0">
                          <a:solidFill>
                            <a:schemeClr val="tx1"/>
                          </a:solidFill>
                        </a:rPr>
                        <a:t> = 1.37, </a:t>
                      </a:r>
                      <a:r>
                        <a:rPr lang="en-CA" sz="1600" i="1" baseline="0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en-CA" sz="1600" i="0" baseline="0" dirty="0">
                          <a:solidFill>
                            <a:schemeClr val="tx1"/>
                          </a:solidFill>
                        </a:rPr>
                        <a:t> = 25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) were not statistically different than the average of the </a:t>
                      </a:r>
                      <a:r>
                        <a:rPr lang="en-US" sz="1600" dirty="0"/>
                        <a:t>class (</a:t>
                      </a:r>
                      <a:r>
                        <a:rPr lang="el-GR" sz="1600" dirty="0"/>
                        <a:t>μ</a:t>
                      </a:r>
                      <a:r>
                        <a:rPr lang="en-CA" sz="1600" dirty="0"/>
                        <a:t> = 90, </a:t>
                      </a:r>
                      <a:r>
                        <a:rPr lang="en-US" sz="1600" dirty="0"/>
                        <a:t>σ = 51.00), </a:t>
                      </a:r>
                      <a:r>
                        <a:rPr lang="en-US" sz="1600" i="1" dirty="0"/>
                        <a:t>z</a:t>
                      </a:r>
                      <a:r>
                        <a:rPr lang="en-US" sz="1600" dirty="0"/>
                        <a:t> = -1.76, </a:t>
                      </a:r>
                      <a:r>
                        <a:rPr lang="en-US" sz="1600" i="1" dirty="0"/>
                        <a:t>p</a:t>
                      </a:r>
                      <a:r>
                        <a:rPr lang="en-US" sz="1600" dirty="0"/>
                        <a:t> = .078. The problem generator did not affect the groups exam scores.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r>
                        <a:rPr lang="en-US" sz="1600" dirty="0"/>
                        <a:t>The stats problem generator group’s final exam scores (</a:t>
                      </a:r>
                      <a:r>
                        <a:rPr lang="en-CA" sz="1600" i="1" dirty="0"/>
                        <a:t>x̅ </a:t>
                      </a:r>
                      <a:r>
                        <a:rPr lang="en-CA" sz="1600" dirty="0"/>
                        <a:t>= 82.00%, </a:t>
                      </a:r>
                      <a:r>
                        <a:rPr lang="en-CA" sz="1600" i="1" dirty="0">
                          <a:solidFill>
                            <a:srgbClr val="FF0000"/>
                          </a:solidFill>
                        </a:rPr>
                        <a:t>s</a:t>
                      </a:r>
                      <a:r>
                        <a:rPr lang="en-CA" sz="1600" dirty="0">
                          <a:solidFill>
                            <a:srgbClr val="FF0000"/>
                          </a:solidFill>
                        </a:rPr>
                        <a:t> = 12.00%</a:t>
                      </a:r>
                      <a:r>
                        <a:rPr lang="en-CA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CA" sz="1600" i="1" dirty="0">
                          <a:solidFill>
                            <a:schemeClr val="tx1"/>
                          </a:solidFill>
                        </a:rPr>
                        <a:t>n </a:t>
                      </a:r>
                      <a:r>
                        <a:rPr lang="en-CA" sz="1600" dirty="0">
                          <a:solidFill>
                            <a:schemeClr val="tx1"/>
                          </a:solidFill>
                        </a:rPr>
                        <a:t>= 25</a:t>
                      </a:r>
                      <a:r>
                        <a:rPr lang="en-US" sz="1600" dirty="0"/>
                        <a:t>) were statistically higher than the average of the class (</a:t>
                      </a:r>
                      <a:r>
                        <a:rPr lang="el-GR" sz="1600" dirty="0"/>
                        <a:t>μ</a:t>
                      </a:r>
                      <a:r>
                        <a:rPr lang="en-CA" sz="1600" dirty="0"/>
                        <a:t> = 75.00%</a:t>
                      </a:r>
                      <a:r>
                        <a:rPr lang="en-US" sz="1600" dirty="0"/>
                        <a:t>), </a:t>
                      </a:r>
                      <a:r>
                        <a:rPr lang="en-US" sz="1600" i="1" dirty="0">
                          <a:solidFill>
                            <a:srgbClr val="FF0000"/>
                          </a:solidFill>
                        </a:rPr>
                        <a:t>t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(24)</a:t>
                      </a:r>
                      <a:r>
                        <a:rPr lang="en-US" sz="1600" dirty="0"/>
                        <a:t> = 2.92, </a:t>
                      </a:r>
                      <a:r>
                        <a:rPr lang="en-US" sz="1600" i="1" dirty="0">
                          <a:solidFill>
                            <a:srgbClr val="FF0000"/>
                          </a:solidFill>
                        </a:rPr>
                        <a:t>p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 &lt; .01</a:t>
                      </a:r>
                      <a:r>
                        <a:rPr lang="en-US" sz="1600" dirty="0"/>
                        <a:t>. The problem generator increased the group’s exam score.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834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68563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E7B1A-DAF8-63C6-1A12-203090A7D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524B1-88B9-24E6-A46A-6A05ABF7A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6596"/>
            <a:ext cx="5257800" cy="6271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1:</a:t>
            </a:r>
          </a:p>
          <a:p>
            <a:r>
              <a:rPr lang="en-US" b="1" i="1" dirty="0"/>
              <a:t>H</a:t>
            </a:r>
            <a:r>
              <a:rPr lang="en-US" b="1" i="1" baseline="-25000" dirty="0"/>
              <a:t>0</a:t>
            </a:r>
            <a:r>
              <a:rPr lang="en-US" b="1" dirty="0"/>
              <a:t>: </a:t>
            </a:r>
            <a:r>
              <a:rPr lang="el-GR" i="1" dirty="0"/>
              <a:t>μ</a:t>
            </a:r>
            <a:r>
              <a:rPr lang="en-CA" dirty="0"/>
              <a:t> =</a:t>
            </a:r>
            <a:r>
              <a:rPr lang="el-GR" dirty="0"/>
              <a:t> </a:t>
            </a:r>
            <a:r>
              <a:rPr lang="en-US" dirty="0"/>
              <a:t>75.00</a:t>
            </a:r>
            <a:endParaRPr lang="en-CA" dirty="0"/>
          </a:p>
          <a:p>
            <a:r>
              <a:rPr lang="en-US" b="1" i="1" dirty="0"/>
              <a:t>H</a:t>
            </a:r>
            <a:r>
              <a:rPr lang="en-US" b="1" i="1" baseline="-25000" dirty="0"/>
              <a:t>1</a:t>
            </a:r>
            <a:r>
              <a:rPr lang="en-US" b="1" dirty="0"/>
              <a:t>: </a:t>
            </a:r>
            <a:r>
              <a:rPr lang="el-GR" i="1" dirty="0"/>
              <a:t>μ</a:t>
            </a:r>
            <a:r>
              <a:rPr lang="en-CA" dirty="0"/>
              <a:t> ≠ </a:t>
            </a:r>
            <a:r>
              <a:rPr lang="en-US" dirty="0"/>
              <a:t>75.00</a:t>
            </a:r>
            <a:endParaRPr lang="en-CA" dirty="0"/>
          </a:p>
          <a:p>
            <a:pPr lvl="1"/>
            <a:r>
              <a:rPr lang="en-CA" dirty="0"/>
              <a:t>Thus, two-tailed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Step 2: </a:t>
            </a:r>
            <a:endParaRPr lang="en-US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Type of Research Design</a:t>
            </a:r>
            <a:r>
              <a:rPr lang="en-US" sz="1200" dirty="0"/>
              <a:t>: Single-Sample Design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Model of Hypothesis Testing</a:t>
            </a:r>
            <a:r>
              <a:rPr lang="en-US" sz="1200" dirty="0"/>
              <a:t>: Random Sampling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Nature of Data (Scales of measurement)</a:t>
            </a:r>
            <a:r>
              <a:rPr lang="en-US" sz="1200" dirty="0"/>
              <a:t>: Score data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Statistic Being Analyzed</a:t>
            </a:r>
            <a:r>
              <a:rPr lang="en-US" sz="1200" dirty="0"/>
              <a:t>: </a:t>
            </a:r>
            <a:r>
              <a:rPr lang="en-CA" sz="1200" dirty="0"/>
              <a:t>x̅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Information about the Population</a:t>
            </a:r>
            <a:r>
              <a:rPr lang="en-US" sz="1200" dirty="0"/>
              <a:t>: </a:t>
            </a:r>
            <a:r>
              <a:rPr lang="el-GR" sz="1200" dirty="0"/>
              <a:t>μ</a:t>
            </a:r>
            <a:r>
              <a:rPr lang="en-US" sz="1200" dirty="0"/>
              <a:t> = 75.00, </a:t>
            </a:r>
            <a:r>
              <a:rPr lang="en-US" sz="1200" dirty="0">
                <a:solidFill>
                  <a:srgbClr val="FF0000"/>
                </a:solidFill>
              </a:rPr>
              <a:t>σ = unknown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Sample Size</a:t>
            </a:r>
            <a:r>
              <a:rPr lang="en-US" sz="1200" dirty="0"/>
              <a:t>: </a:t>
            </a:r>
            <a:r>
              <a:rPr lang="en-US" sz="1200" i="1" dirty="0"/>
              <a:t>n</a:t>
            </a:r>
            <a:r>
              <a:rPr lang="en-US" sz="1200" dirty="0"/>
              <a:t> = 25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Shape</a:t>
            </a:r>
            <a:r>
              <a:rPr lang="en-US" sz="1200" dirty="0"/>
              <a:t>: Normally distributed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Step 3:</a:t>
            </a:r>
          </a:p>
          <a:p>
            <a:r>
              <a:rPr lang="en-CA" i="1" dirty="0"/>
              <a:t>p(</a:t>
            </a:r>
            <a:r>
              <a:rPr lang="el-GR" i="1" dirty="0"/>
              <a:t>α</a:t>
            </a:r>
            <a:r>
              <a:rPr lang="en-CA" i="1" dirty="0"/>
              <a:t>) </a:t>
            </a:r>
            <a:r>
              <a:rPr lang="en-CA" dirty="0"/>
              <a:t>= .05, </a:t>
            </a:r>
            <a:r>
              <a:rPr lang="en-CA" i="1" dirty="0">
                <a:solidFill>
                  <a:srgbClr val="FF0000"/>
                </a:solidFill>
              </a:rPr>
              <a:t>t(crit)</a:t>
            </a:r>
            <a:r>
              <a:rPr lang="en-CA" dirty="0">
                <a:solidFill>
                  <a:srgbClr val="FF0000"/>
                </a:solidFill>
              </a:rPr>
              <a:t> = 2.0639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CA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2F66877-73F0-8EDB-DC53-0A52CCBC3A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633816"/>
                <a:ext cx="5257800" cy="62714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dirty="0"/>
                  <a:t>Step 4:</a:t>
                </a:r>
              </a:p>
              <a:p>
                <a:r>
                  <a:rPr lang="en-US" i="1" dirty="0">
                    <a:solidFill>
                      <a:srgbClr val="FF0000"/>
                    </a:solidFill>
                  </a:rPr>
                  <a:t>t</a:t>
                </a:r>
                <a:r>
                  <a:rPr lang="en-US" dirty="0">
                    <a:solidFill>
                      <a:srgbClr val="FF0000"/>
                    </a:solidFill>
                  </a:rPr>
                  <a:t>(</a:t>
                </a:r>
                <a:r>
                  <a:rPr lang="en-US" dirty="0" err="1">
                    <a:solidFill>
                      <a:srgbClr val="FF0000"/>
                    </a:solidFill>
                  </a:rPr>
                  <a:t>obs</a:t>
                </a:r>
                <a:r>
                  <a:rPr lang="en-US" dirty="0">
                    <a:solidFill>
                      <a:srgbClr val="FF0000"/>
                    </a:solidFill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82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0000</m:t>
                        </m:r>
                        <m:r>
                          <a:rPr lang="en-CA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CA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0000</m:t>
                        </m:r>
                      </m:num>
                      <m:den>
                        <m:r>
                          <m:rPr>
                            <m:nor/>
                          </m:rPr>
                          <a:rPr lang="en-CA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2.4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  <m:r>
                          <m:rPr>
                            <m:nor/>
                          </m:rPr>
                          <a:rPr lang="en-CA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 = 2.9167 </a:t>
                </a:r>
              </a:p>
              <a:p>
                <a:r>
                  <a:rPr lang="en-US" i="1" dirty="0">
                    <a:solidFill>
                      <a:srgbClr val="FF0000"/>
                    </a:solidFill>
                  </a:rPr>
                  <a:t>p</a:t>
                </a:r>
                <a:r>
                  <a:rPr lang="en-US" dirty="0">
                    <a:solidFill>
                      <a:srgbClr val="FF0000"/>
                    </a:solidFill>
                  </a:rPr>
                  <a:t>(</a:t>
                </a:r>
                <a:r>
                  <a:rPr lang="en-US" i="1" dirty="0" err="1">
                    <a:solidFill>
                      <a:srgbClr val="FF0000"/>
                    </a:solidFill>
                  </a:rPr>
                  <a:t>obs</a:t>
                </a:r>
                <a:r>
                  <a:rPr lang="en-US" dirty="0">
                    <a:solidFill>
                      <a:srgbClr val="FF0000"/>
                    </a:solidFill>
                  </a:rPr>
                  <a:t>) &lt; .01</a:t>
                </a:r>
                <a:endParaRPr lang="en-US" i="1" dirty="0">
                  <a:solidFill>
                    <a:srgbClr val="FF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CA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CA" b="1" dirty="0"/>
                  <a:t>Step 5: </a:t>
                </a:r>
                <a:endParaRPr lang="en-US" b="1" dirty="0"/>
              </a:p>
              <a:p>
                <a:r>
                  <a:rPr lang="en-US" sz="2000" i="1" dirty="0"/>
                  <a:t>t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CA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|2.9167| &gt; </a:t>
                </a:r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(crit) = |2.0639|</a:t>
                </a:r>
              </a:p>
              <a:p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 &lt; .01 &lt;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CA" sz="2000" i="1" dirty="0"/>
                  <a:t>p(</a:t>
                </a:r>
                <a:r>
                  <a:rPr lang="el-GR" sz="2000" i="1" dirty="0"/>
                  <a:t>α</a:t>
                </a:r>
                <a:r>
                  <a:rPr lang="en-CA" sz="2000" i="1" dirty="0"/>
                  <a:t>) </a:t>
                </a:r>
                <a:r>
                  <a:rPr lang="en-CA" sz="2000" dirty="0"/>
                  <a:t>= .05</a:t>
                </a:r>
              </a:p>
              <a:p>
                <a:pPr lvl="1"/>
                <a:r>
                  <a:rPr lang="en-CA" sz="1600" dirty="0"/>
                  <a:t>Reject the null, accept the alternative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b="1" dirty="0"/>
                  <a:t>Step 6: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en-US" sz="2000" dirty="0"/>
                  <a:t>The stats problem generator group’s final exam scores (</a:t>
                </a:r>
                <a:r>
                  <a:rPr lang="en-CA" sz="2000" i="1" dirty="0"/>
                  <a:t>x̅ </a:t>
                </a:r>
                <a:r>
                  <a:rPr lang="en-CA" sz="2000" dirty="0"/>
                  <a:t>= 82.00%, </a:t>
                </a:r>
                <a:r>
                  <a:rPr lang="en-CA" sz="2000" i="1" dirty="0">
                    <a:solidFill>
                      <a:srgbClr val="FF0000"/>
                    </a:solidFill>
                  </a:rPr>
                  <a:t>s</a:t>
                </a:r>
                <a:r>
                  <a:rPr lang="en-CA" sz="2000" dirty="0">
                    <a:solidFill>
                      <a:srgbClr val="FF0000"/>
                    </a:solidFill>
                  </a:rPr>
                  <a:t> = 12.00%</a:t>
                </a:r>
                <a:r>
                  <a:rPr lang="en-CA" sz="2000" dirty="0"/>
                  <a:t>, </a:t>
                </a:r>
                <a:r>
                  <a:rPr lang="en-CA" sz="2000" i="1" dirty="0"/>
                  <a:t>n </a:t>
                </a:r>
                <a:r>
                  <a:rPr lang="en-CA" sz="2000" dirty="0"/>
                  <a:t>= 25</a:t>
                </a:r>
                <a:r>
                  <a:rPr lang="en-US" sz="2000" dirty="0"/>
                  <a:t>) were statistically higher than the average of the class (</a:t>
                </a:r>
                <a:r>
                  <a:rPr lang="el-GR" sz="2000" dirty="0"/>
                  <a:t>μ</a:t>
                </a:r>
                <a:r>
                  <a:rPr lang="en-CA" sz="2000" dirty="0"/>
                  <a:t> = 75.00%</a:t>
                </a:r>
                <a:r>
                  <a:rPr lang="en-US" sz="2000" dirty="0"/>
                  <a:t>), </a:t>
                </a:r>
                <a:r>
                  <a:rPr lang="en-US" sz="2000" i="1" dirty="0">
                    <a:solidFill>
                      <a:srgbClr val="FF0000"/>
                    </a:solidFill>
                  </a:rPr>
                  <a:t>t</a:t>
                </a:r>
                <a:r>
                  <a:rPr lang="en-US" sz="2000" dirty="0">
                    <a:solidFill>
                      <a:srgbClr val="FF0000"/>
                    </a:solidFill>
                  </a:rPr>
                  <a:t>(24)</a:t>
                </a:r>
                <a:r>
                  <a:rPr lang="en-US" sz="2000" dirty="0"/>
                  <a:t> = 2.92, </a:t>
                </a:r>
                <a:r>
                  <a:rPr lang="en-US" sz="2000" i="1" dirty="0">
                    <a:solidFill>
                      <a:srgbClr val="FF0000"/>
                    </a:solidFill>
                  </a:rPr>
                  <a:t>p</a:t>
                </a:r>
                <a:r>
                  <a:rPr lang="en-US" sz="2000" dirty="0">
                    <a:solidFill>
                      <a:srgbClr val="FF0000"/>
                    </a:solidFill>
                  </a:rPr>
                  <a:t> &lt; .01</a:t>
                </a:r>
                <a:r>
                  <a:rPr lang="en-US" sz="2000" dirty="0"/>
                  <a:t>. The problem generator increased the group’s exam score.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CA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2F66877-73F0-8EDB-DC53-0A52CCBC3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33816"/>
                <a:ext cx="5257800" cy="6271404"/>
              </a:xfrm>
              <a:prstGeom prst="rect">
                <a:avLst/>
              </a:prstGeom>
              <a:blipFill>
                <a:blip r:embed="rId2"/>
                <a:stretch>
                  <a:fillRect l="-2317" t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4">
            <a:extLst>
              <a:ext uri="{FF2B5EF4-FFF2-40B4-BE49-F238E27FC236}">
                <a16:creationId xmlns:a16="http://schemas.microsoft.com/office/drawing/2014/main" id="{603A908D-FA0B-5367-EC47-8FB8D63B4484}"/>
              </a:ext>
            </a:extLst>
          </p:cNvPr>
          <p:cNvSpPr/>
          <p:nvPr/>
        </p:nvSpPr>
        <p:spPr>
          <a:xfrm>
            <a:off x="6096000" y="4450258"/>
            <a:ext cx="5257800" cy="225963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7054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518C4-A257-8E5B-2489-46EE4A5CE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326CF-E6F6-560D-E841-0419E9AF8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6596"/>
            <a:ext cx="5257800" cy="6271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1:</a:t>
            </a:r>
          </a:p>
          <a:p>
            <a:r>
              <a:rPr lang="en-US" b="1" i="1" dirty="0"/>
              <a:t>H</a:t>
            </a:r>
            <a:r>
              <a:rPr lang="en-US" b="1" i="1" baseline="-25000" dirty="0"/>
              <a:t>0</a:t>
            </a:r>
            <a:r>
              <a:rPr lang="en-US" b="1" dirty="0"/>
              <a:t>: </a:t>
            </a:r>
            <a:r>
              <a:rPr lang="el-GR" i="1" dirty="0"/>
              <a:t>μ</a:t>
            </a:r>
            <a:r>
              <a:rPr lang="en-CA" dirty="0"/>
              <a:t> =</a:t>
            </a:r>
            <a:r>
              <a:rPr lang="el-GR" dirty="0"/>
              <a:t> </a:t>
            </a:r>
            <a:r>
              <a:rPr lang="en-US" dirty="0"/>
              <a:t>75.00</a:t>
            </a:r>
            <a:endParaRPr lang="en-CA" dirty="0"/>
          </a:p>
          <a:p>
            <a:r>
              <a:rPr lang="en-US" b="1" i="1" dirty="0"/>
              <a:t>H</a:t>
            </a:r>
            <a:r>
              <a:rPr lang="en-US" b="1" i="1" baseline="-25000" dirty="0"/>
              <a:t>1</a:t>
            </a:r>
            <a:r>
              <a:rPr lang="en-US" b="1" dirty="0"/>
              <a:t>: </a:t>
            </a:r>
            <a:r>
              <a:rPr lang="el-GR" i="1" dirty="0"/>
              <a:t>μ</a:t>
            </a:r>
            <a:r>
              <a:rPr lang="en-CA" dirty="0"/>
              <a:t> ≠ </a:t>
            </a:r>
            <a:r>
              <a:rPr lang="en-US" dirty="0"/>
              <a:t>75.00</a:t>
            </a:r>
            <a:endParaRPr lang="en-CA" dirty="0"/>
          </a:p>
          <a:p>
            <a:pPr lvl="1"/>
            <a:r>
              <a:rPr lang="en-CA" dirty="0"/>
              <a:t>Thus, two-tailed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Step 2: </a:t>
            </a:r>
            <a:endParaRPr lang="en-US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Type of Research Design</a:t>
            </a:r>
            <a:r>
              <a:rPr lang="en-US" sz="1200" dirty="0"/>
              <a:t>: Single-Sample Design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Model of Hypothesis Testing</a:t>
            </a:r>
            <a:r>
              <a:rPr lang="en-US" sz="1200" dirty="0"/>
              <a:t>: Random Sampling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Nature of Data (Scales of measurement)</a:t>
            </a:r>
            <a:r>
              <a:rPr lang="en-US" sz="1200" dirty="0"/>
              <a:t>: Score data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Statistic Being Analyzed</a:t>
            </a:r>
            <a:r>
              <a:rPr lang="en-US" sz="1200" dirty="0"/>
              <a:t>: </a:t>
            </a:r>
            <a:r>
              <a:rPr lang="en-CA" sz="1200" dirty="0"/>
              <a:t>x̅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Information about the Population</a:t>
            </a:r>
            <a:r>
              <a:rPr lang="en-US" sz="1200" dirty="0"/>
              <a:t>: </a:t>
            </a:r>
            <a:r>
              <a:rPr lang="el-GR" sz="1200" dirty="0"/>
              <a:t>μ</a:t>
            </a:r>
            <a:r>
              <a:rPr lang="en-US" sz="1200" dirty="0"/>
              <a:t> = 75.00, </a:t>
            </a:r>
            <a:r>
              <a:rPr lang="en-US" sz="1200" dirty="0">
                <a:solidFill>
                  <a:srgbClr val="FF0000"/>
                </a:solidFill>
              </a:rPr>
              <a:t>σ = unknown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Sample Size</a:t>
            </a:r>
            <a:r>
              <a:rPr lang="en-US" sz="1200" dirty="0"/>
              <a:t>: </a:t>
            </a:r>
            <a:r>
              <a:rPr lang="en-US" sz="1200" i="1" dirty="0"/>
              <a:t>n</a:t>
            </a:r>
            <a:r>
              <a:rPr lang="en-US" sz="1200" dirty="0"/>
              <a:t> = 25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Shape</a:t>
            </a:r>
            <a:r>
              <a:rPr lang="en-US" sz="1200" dirty="0"/>
              <a:t>: Normally distributed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Step 3:</a:t>
            </a:r>
          </a:p>
          <a:p>
            <a:r>
              <a:rPr lang="en-CA" i="1" dirty="0"/>
              <a:t>p(</a:t>
            </a:r>
            <a:r>
              <a:rPr lang="el-GR" i="1" dirty="0"/>
              <a:t>α</a:t>
            </a:r>
            <a:r>
              <a:rPr lang="en-CA" i="1" dirty="0"/>
              <a:t>) </a:t>
            </a:r>
            <a:r>
              <a:rPr lang="en-CA" dirty="0"/>
              <a:t>= .05, </a:t>
            </a:r>
            <a:r>
              <a:rPr lang="en-CA" i="1" dirty="0">
                <a:solidFill>
                  <a:srgbClr val="FF0000"/>
                </a:solidFill>
              </a:rPr>
              <a:t>t(crit)</a:t>
            </a:r>
            <a:r>
              <a:rPr lang="en-CA" dirty="0">
                <a:solidFill>
                  <a:srgbClr val="FF0000"/>
                </a:solidFill>
              </a:rPr>
              <a:t> = 2.0639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CA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49BC372-C0CE-C1F6-5B1C-A0A172378B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633816"/>
                <a:ext cx="5257800" cy="62714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dirty="0"/>
                  <a:t>Step 4:</a:t>
                </a:r>
              </a:p>
              <a:p>
                <a:r>
                  <a:rPr lang="en-US" i="1" dirty="0">
                    <a:solidFill>
                      <a:srgbClr val="FF0000"/>
                    </a:solidFill>
                  </a:rPr>
                  <a:t>t</a:t>
                </a:r>
                <a:r>
                  <a:rPr lang="en-US" dirty="0">
                    <a:solidFill>
                      <a:srgbClr val="FF0000"/>
                    </a:solidFill>
                  </a:rPr>
                  <a:t>(</a:t>
                </a:r>
                <a:r>
                  <a:rPr lang="en-US" dirty="0" err="1">
                    <a:solidFill>
                      <a:srgbClr val="FF0000"/>
                    </a:solidFill>
                  </a:rPr>
                  <a:t>obs</a:t>
                </a:r>
                <a:r>
                  <a:rPr lang="en-US" dirty="0">
                    <a:solidFill>
                      <a:srgbClr val="FF0000"/>
                    </a:solidFill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82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0000</m:t>
                        </m:r>
                        <m:r>
                          <a:rPr lang="en-CA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CA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0000</m:t>
                        </m:r>
                      </m:num>
                      <m:den>
                        <m:r>
                          <m:rPr>
                            <m:nor/>
                          </m:rPr>
                          <a:rPr lang="en-CA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2.4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  <m:r>
                          <m:rPr>
                            <m:nor/>
                          </m:rPr>
                          <a:rPr lang="en-CA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 = 2.9167 </a:t>
                </a:r>
              </a:p>
              <a:p>
                <a:r>
                  <a:rPr lang="en-US" i="1" dirty="0">
                    <a:solidFill>
                      <a:srgbClr val="FF0000"/>
                    </a:solidFill>
                  </a:rPr>
                  <a:t>p</a:t>
                </a:r>
                <a:r>
                  <a:rPr lang="en-US" dirty="0">
                    <a:solidFill>
                      <a:srgbClr val="FF0000"/>
                    </a:solidFill>
                  </a:rPr>
                  <a:t>(</a:t>
                </a:r>
                <a:r>
                  <a:rPr lang="en-US" i="1" dirty="0" err="1">
                    <a:solidFill>
                      <a:srgbClr val="FF0000"/>
                    </a:solidFill>
                  </a:rPr>
                  <a:t>obs</a:t>
                </a:r>
                <a:r>
                  <a:rPr lang="en-US" dirty="0">
                    <a:solidFill>
                      <a:srgbClr val="FF0000"/>
                    </a:solidFill>
                  </a:rPr>
                  <a:t>) &lt; .01</a:t>
                </a:r>
                <a:endParaRPr lang="en-US" i="1" dirty="0">
                  <a:solidFill>
                    <a:srgbClr val="FF000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CA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CA" b="1" dirty="0"/>
                  <a:t>Step 5: </a:t>
                </a:r>
                <a:endParaRPr lang="en-US" b="1" dirty="0"/>
              </a:p>
              <a:p>
                <a:r>
                  <a:rPr lang="en-US" sz="2000" i="1" dirty="0"/>
                  <a:t>t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CA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= |2.9167| &gt; </a:t>
                </a:r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(crit) = |2.0639|</a:t>
                </a:r>
              </a:p>
              <a:p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 &lt; .01 &lt;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CA" sz="2000" i="1" dirty="0"/>
                  <a:t>p(</a:t>
                </a:r>
                <a:r>
                  <a:rPr lang="el-GR" sz="2000" i="1" dirty="0"/>
                  <a:t>α</a:t>
                </a:r>
                <a:r>
                  <a:rPr lang="en-CA" sz="2000" i="1" dirty="0"/>
                  <a:t>) </a:t>
                </a:r>
                <a:r>
                  <a:rPr lang="en-CA" sz="2000" dirty="0"/>
                  <a:t>= .05</a:t>
                </a:r>
              </a:p>
              <a:p>
                <a:pPr lvl="1"/>
                <a:r>
                  <a:rPr lang="en-CA" sz="1600" dirty="0"/>
                  <a:t>Reject the null, accept the alternative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b="1" dirty="0"/>
                  <a:t>Step 6: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en-US" sz="2000" dirty="0"/>
                  <a:t>The stats problem generator group’s final exam scores (</a:t>
                </a:r>
                <a:r>
                  <a:rPr lang="en-CA" sz="2000" i="1" dirty="0"/>
                  <a:t>x̅ </a:t>
                </a:r>
                <a:r>
                  <a:rPr lang="en-CA" sz="2000" dirty="0"/>
                  <a:t>= 82.00%, </a:t>
                </a:r>
                <a:r>
                  <a:rPr lang="en-CA" sz="2000" i="1" dirty="0">
                    <a:solidFill>
                      <a:srgbClr val="FF0000"/>
                    </a:solidFill>
                  </a:rPr>
                  <a:t>s</a:t>
                </a:r>
                <a:r>
                  <a:rPr lang="en-CA" sz="2000" dirty="0">
                    <a:solidFill>
                      <a:srgbClr val="FF0000"/>
                    </a:solidFill>
                  </a:rPr>
                  <a:t> = 12.00%, </a:t>
                </a:r>
                <a:r>
                  <a:rPr lang="en-CA" sz="2000" i="1" dirty="0">
                    <a:solidFill>
                      <a:srgbClr val="FF0000"/>
                    </a:solidFill>
                  </a:rPr>
                  <a:t>n </a:t>
                </a:r>
                <a:r>
                  <a:rPr lang="en-CA" sz="2000" dirty="0">
                    <a:solidFill>
                      <a:srgbClr val="FF0000"/>
                    </a:solidFill>
                  </a:rPr>
                  <a:t>= 25</a:t>
                </a:r>
                <a:r>
                  <a:rPr lang="en-US" sz="2000" dirty="0"/>
                  <a:t>) were statistically higher than the average of the class (</a:t>
                </a:r>
                <a:r>
                  <a:rPr lang="el-GR" sz="2000" dirty="0"/>
                  <a:t>μ</a:t>
                </a:r>
                <a:r>
                  <a:rPr lang="en-CA" sz="2000" dirty="0"/>
                  <a:t> = 75.00%</a:t>
                </a:r>
                <a:r>
                  <a:rPr lang="en-US" sz="2000" dirty="0"/>
                  <a:t>), </a:t>
                </a:r>
                <a:r>
                  <a:rPr lang="en-US" sz="2000" i="1" dirty="0">
                    <a:solidFill>
                      <a:srgbClr val="FF0000"/>
                    </a:solidFill>
                  </a:rPr>
                  <a:t>t</a:t>
                </a:r>
                <a:r>
                  <a:rPr lang="en-US" sz="2000" dirty="0">
                    <a:solidFill>
                      <a:srgbClr val="FF0000"/>
                    </a:solidFill>
                  </a:rPr>
                  <a:t>(24)</a:t>
                </a:r>
                <a:r>
                  <a:rPr lang="en-US" sz="2000" dirty="0"/>
                  <a:t> = 2.92, </a:t>
                </a:r>
                <a:r>
                  <a:rPr lang="en-US" sz="2000" i="1" dirty="0">
                    <a:solidFill>
                      <a:srgbClr val="FF0000"/>
                    </a:solidFill>
                  </a:rPr>
                  <a:t>p</a:t>
                </a:r>
                <a:r>
                  <a:rPr lang="en-US" sz="2000" dirty="0">
                    <a:solidFill>
                      <a:srgbClr val="FF0000"/>
                    </a:solidFill>
                  </a:rPr>
                  <a:t> &lt; .01</a:t>
                </a:r>
                <a:r>
                  <a:rPr lang="en-US" sz="2000" dirty="0"/>
                  <a:t>. The problem generator increased the group’s exam score.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CA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949BC372-C0CE-C1F6-5B1C-A0A172378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33816"/>
                <a:ext cx="5257800" cy="6271404"/>
              </a:xfrm>
              <a:prstGeom prst="rect">
                <a:avLst/>
              </a:prstGeom>
              <a:blipFill>
                <a:blip r:embed="rId2"/>
                <a:stretch>
                  <a:fillRect l="-2317" t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82153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269830"/>
            <a:ext cx="6468542" cy="65881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Single Score versus Sample Mean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Single-Sample T-Test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endParaRPr lang="en-US" sz="3200" dirty="0">
              <a:solidFill>
                <a:srgbClr val="FF0000"/>
              </a:solidFill>
            </a:endParaRP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7988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66C81-C7DB-7F4D-9FD6-22D25007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Sample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381D9-1BF6-1646-B2E2-AF1DBEBE6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56438" cy="46672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dirty="0"/>
              <a:t>Researchers want to help patients recover faster after surgery. They introduce an Early Mobilization Protocol, encouraging patients to get out of bed and start walking within a day of surgery instead of waiting several days. They ask whether this increases patients' 6-week mobility scores compared to the expected average (</a:t>
            </a:r>
            <a:r>
              <a:rPr lang="en-US" sz="3200" b="1" i="1" dirty="0"/>
              <a:t>μ</a:t>
            </a:r>
            <a:r>
              <a:rPr lang="en-US" sz="3200" b="1" dirty="0"/>
              <a:t> = 75.00</a:t>
            </a:r>
            <a:r>
              <a:rPr lang="en-US" sz="3200" dirty="0"/>
              <a:t>). With </a:t>
            </a:r>
            <a:r>
              <a:rPr lang="en-US" sz="3200" b="1" dirty="0"/>
              <a:t>twenty-five patients </a:t>
            </a:r>
            <a:r>
              <a:rPr lang="en-US" sz="3200" dirty="0"/>
              <a:t>following the new protocol, mobility scores had a mean of        </a:t>
            </a:r>
            <a:r>
              <a:rPr lang="en-US" sz="3200" b="1" i="1" dirty="0"/>
              <a:t>x</a:t>
            </a:r>
            <a:r>
              <a:rPr lang="en-US" sz="32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̅</a:t>
            </a:r>
            <a:r>
              <a:rPr lang="en-US" sz="3200" b="1" dirty="0"/>
              <a:t> = 83.00 </a:t>
            </a:r>
            <a:r>
              <a:rPr lang="en-US" sz="3200" dirty="0"/>
              <a:t>and a </a:t>
            </a:r>
            <a:r>
              <a:rPr lang="en-US" sz="3200" b="1" dirty="0"/>
              <a:t>sum of squares of 5400.00</a:t>
            </a:r>
            <a:r>
              <a:rPr lang="en-US" sz="3200" dirty="0"/>
              <a:t>. Did the new protocol increase patients' recovery scores?</a:t>
            </a:r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CC7FB8-F158-49A8-1DF6-0DB95EF50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20" r="20921"/>
          <a:stretch>
            <a:fillRect/>
          </a:stretch>
        </p:blipFill>
        <p:spPr>
          <a:xfrm>
            <a:off x="8897272" y="694661"/>
            <a:ext cx="2810671" cy="30255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BB29B8-FF6A-ED59-D1A8-D28284FB0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997" y="3962400"/>
            <a:ext cx="3380481" cy="281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8508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66C81-C7DB-7F4D-9FD6-22D25007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Define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381D9-1BF6-1646-B2E2-AF1DBEBE6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800" dirty="0"/>
              <a:t>Researchers want to help patients recover faster after surgery. They introduce an Early Mobilization Protocol, encouraging patients to get out of bed and start walking within a day of surgery instead of waiting several days. They ask whether this increases patients' 6-week mobility scores compared to the expected average (</a:t>
            </a:r>
            <a:r>
              <a:rPr lang="en-US" sz="1800" i="1" dirty="0"/>
              <a:t>μ</a:t>
            </a:r>
            <a:r>
              <a:rPr lang="en-US" sz="1800" dirty="0"/>
              <a:t> = 75.00). With twenty-five patients following the new protocol, mobility scores had a mean of </a:t>
            </a:r>
            <a:r>
              <a:rPr lang="en-US" sz="1800" i="1" dirty="0"/>
              <a:t>x</a:t>
            </a:r>
            <a:r>
              <a:rPr lang="en-US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̅</a:t>
            </a:r>
            <a:r>
              <a:rPr lang="en-US" sz="1800" dirty="0"/>
              <a:t> = 83.00 and a sum of squares of 5400.00. Did the new protocol increase patients' recovery scores?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3600" b="1" i="1" dirty="0"/>
              <a:t>H</a:t>
            </a:r>
            <a:r>
              <a:rPr lang="en-US" sz="3600" b="1" i="1" baseline="-25000" dirty="0"/>
              <a:t>0</a:t>
            </a:r>
            <a:r>
              <a:rPr lang="en-US" sz="3600" b="1" dirty="0"/>
              <a:t>: </a:t>
            </a:r>
            <a:r>
              <a:rPr lang="el-GR" sz="3600" i="1" dirty="0"/>
              <a:t>μ</a:t>
            </a:r>
            <a:r>
              <a:rPr lang="en-CA" sz="3600" dirty="0"/>
              <a:t> ≤ </a:t>
            </a:r>
            <a:r>
              <a:rPr lang="en-US" sz="3600" dirty="0"/>
              <a:t>75.00</a:t>
            </a:r>
            <a:r>
              <a:rPr lang="en-CA" sz="3600" dirty="0"/>
              <a:t>    	</a:t>
            </a:r>
            <a:r>
              <a:rPr lang="en-US" sz="3600" b="1" i="1" dirty="0"/>
              <a:t> </a:t>
            </a:r>
            <a:endParaRPr lang="en-US" sz="3600" dirty="0"/>
          </a:p>
          <a:p>
            <a:r>
              <a:rPr lang="en-CA" sz="3600" dirty="0"/>
              <a:t>Mobility scores will be the same or less than the population average</a:t>
            </a:r>
          </a:p>
          <a:p>
            <a:endParaRPr lang="en-CA" sz="3600" dirty="0"/>
          </a:p>
          <a:p>
            <a:r>
              <a:rPr lang="en-US" sz="3600" b="1" i="1" dirty="0"/>
              <a:t>H</a:t>
            </a:r>
            <a:r>
              <a:rPr lang="en-US" sz="3600" b="1" i="1" baseline="-25000" dirty="0"/>
              <a:t>1</a:t>
            </a:r>
            <a:r>
              <a:rPr lang="en-US" sz="3600" b="1" dirty="0"/>
              <a:t>: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l-GR" sz="3600" i="1" dirty="0"/>
              <a:t>μ</a:t>
            </a:r>
            <a:r>
              <a:rPr lang="en-CA" sz="3600" dirty="0"/>
              <a:t> &gt; </a:t>
            </a:r>
            <a:r>
              <a:rPr lang="en-US" sz="3600" dirty="0"/>
              <a:t>75.00</a:t>
            </a:r>
            <a:r>
              <a:rPr lang="en-CA" sz="3600" dirty="0"/>
              <a:t> </a:t>
            </a:r>
          </a:p>
          <a:p>
            <a:r>
              <a:rPr lang="en-CA" sz="3600" dirty="0"/>
              <a:t>Mobility scores will be higher than the population average</a:t>
            </a:r>
          </a:p>
          <a:p>
            <a:endParaRPr lang="en-CA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71850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3DCD5-248F-EDD3-A902-B2588E54C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83073-A3A0-78EF-CF71-32CD6B9EC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6596"/>
            <a:ext cx="5257800" cy="6271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1:</a:t>
            </a:r>
          </a:p>
          <a:p>
            <a:r>
              <a:rPr lang="en-US" b="1" i="1" dirty="0"/>
              <a:t>H</a:t>
            </a:r>
            <a:r>
              <a:rPr lang="en-US" b="1" i="1" baseline="-25000" dirty="0"/>
              <a:t>0</a:t>
            </a:r>
            <a:r>
              <a:rPr lang="en-US" b="1" dirty="0"/>
              <a:t>: </a:t>
            </a:r>
            <a:r>
              <a:rPr lang="el-GR" i="1" dirty="0"/>
              <a:t>μ</a:t>
            </a:r>
            <a:r>
              <a:rPr lang="en-CA" dirty="0"/>
              <a:t> ≤ </a:t>
            </a:r>
            <a:r>
              <a:rPr lang="en-US" dirty="0"/>
              <a:t>75.00 </a:t>
            </a:r>
            <a:r>
              <a:rPr lang="en-CA" dirty="0"/>
              <a:t>	</a:t>
            </a:r>
            <a:r>
              <a:rPr lang="en-US" b="1" i="1" dirty="0"/>
              <a:t> </a:t>
            </a:r>
            <a:endParaRPr lang="en-CA" dirty="0"/>
          </a:p>
          <a:p>
            <a:r>
              <a:rPr lang="en-US" b="1" i="1" dirty="0"/>
              <a:t>H</a:t>
            </a:r>
            <a:r>
              <a:rPr lang="en-US" b="1" i="1" baseline="-25000" dirty="0"/>
              <a:t>1</a:t>
            </a:r>
            <a:r>
              <a:rPr lang="en-US" b="1" dirty="0"/>
              <a:t>: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l-GR" i="1" dirty="0"/>
              <a:t>μ</a:t>
            </a:r>
            <a:r>
              <a:rPr lang="en-CA" dirty="0"/>
              <a:t> &gt; </a:t>
            </a:r>
            <a:r>
              <a:rPr lang="en-US" dirty="0"/>
              <a:t>75.00</a:t>
            </a:r>
            <a:endParaRPr lang="en-CA" dirty="0"/>
          </a:p>
          <a:p>
            <a:pPr lvl="1"/>
            <a:r>
              <a:rPr lang="en-CA" dirty="0"/>
              <a:t>Thus, one-tailed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2620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66C81-C7DB-7F4D-9FD6-22D25007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Select Sampling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381D9-1BF6-1646-B2E2-AF1DBEBE6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Researchers want to help patients recover faster after surgery. They introduce an Early Mobilization Protocol, encouraging patients to get out of bed and start walking within a day of surgery instead of waiting several days. They ask whether this increases patients' 6-week mobility scores compared to the expected average (</a:t>
            </a:r>
            <a:r>
              <a:rPr lang="en-US" sz="1600" i="1" dirty="0"/>
              <a:t>μ</a:t>
            </a:r>
            <a:r>
              <a:rPr lang="en-US" sz="1600" dirty="0"/>
              <a:t> = 75.00). With twenty-five patients following the new protocol, mobility scores had a mean of </a:t>
            </a:r>
            <a:r>
              <a:rPr lang="en-US" sz="1600" i="1" dirty="0"/>
              <a:t>x</a:t>
            </a:r>
            <a:r>
              <a:rPr lang="en-US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̅</a:t>
            </a:r>
            <a:r>
              <a:rPr lang="en-US" sz="1600" dirty="0"/>
              <a:t> = 83.00 and a sum of squares of 5400.00. Did the new protocol increase patients' recovery scores?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B85CB4D1-DCD6-414E-A21E-44B5ECC6E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75798"/>
              </p:ext>
            </p:extLst>
          </p:nvPr>
        </p:nvGraphicFramePr>
        <p:xfrm>
          <a:off x="2155767" y="3261213"/>
          <a:ext cx="7880466" cy="34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0233">
                  <a:extLst>
                    <a:ext uri="{9D8B030D-6E8A-4147-A177-3AD203B41FA5}">
                      <a16:colId xmlns:a16="http://schemas.microsoft.com/office/drawing/2014/main" val="4004983389"/>
                    </a:ext>
                  </a:extLst>
                </a:gridCol>
                <a:gridCol w="3940233">
                  <a:extLst>
                    <a:ext uri="{9D8B030D-6E8A-4147-A177-3AD203B41FA5}">
                      <a16:colId xmlns:a16="http://schemas.microsoft.com/office/drawing/2014/main" val="3990134810"/>
                    </a:ext>
                  </a:extLst>
                </a:gridCol>
              </a:tblGrid>
              <a:tr h="327234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Type of Research Design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Single Sample Design (σ unknown)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681456"/>
                  </a:ext>
                </a:extLst>
              </a:tr>
              <a:tr h="327234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Model of Hypothesis 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Random Sampling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834762"/>
                  </a:ext>
                </a:extLst>
              </a:tr>
              <a:tr h="327234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Nature of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837357"/>
                  </a:ext>
                </a:extLst>
              </a:tr>
              <a:tr h="327234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Statistic Being Analyzed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493759"/>
                  </a:ext>
                </a:extLst>
              </a:tr>
              <a:tr h="327234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Information of Population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sz="2000" dirty="0"/>
                        <a:t>μ</a:t>
                      </a:r>
                      <a:r>
                        <a:rPr lang="en-CA" sz="2000" dirty="0"/>
                        <a:t> = 75.00</a:t>
                      </a:r>
                      <a:r>
                        <a:rPr lang="en-US" sz="2000" dirty="0"/>
                        <a:t> &amp; σ unknown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844694"/>
                  </a:ext>
                </a:extLst>
              </a:tr>
              <a:tr h="327234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Sample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= 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408113"/>
                  </a:ext>
                </a:extLst>
              </a:tr>
              <a:tr h="327234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Shape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Normally Distributed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51104"/>
                  </a:ext>
                </a:extLst>
              </a:tr>
              <a:tr h="62756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Sampling Distribution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Sampling Distribution of the Mean for  </a:t>
                      </a:r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t-scores</a:t>
                      </a:r>
                      <a:r>
                        <a:rPr lang="en-US" sz="1800" i="0" dirty="0">
                          <a:solidFill>
                            <a:schemeClr val="tx1"/>
                          </a:solidFill>
                        </a:rPr>
                        <a:t> when </a:t>
                      </a:r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df</a:t>
                      </a:r>
                      <a:r>
                        <a:rPr lang="en-US" sz="1800" i="0" dirty="0">
                          <a:solidFill>
                            <a:schemeClr val="tx1"/>
                          </a:solidFill>
                        </a:rPr>
                        <a:t> = 24 and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σ is unknown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599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64428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681C-D5D1-2BCB-1720-FFD9F3754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CE83C-EF70-FD74-DC71-5043B2FE2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6596"/>
            <a:ext cx="5257800" cy="6271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1:</a:t>
            </a:r>
          </a:p>
          <a:p>
            <a:r>
              <a:rPr lang="en-US" b="1" i="1" dirty="0"/>
              <a:t>H</a:t>
            </a:r>
            <a:r>
              <a:rPr lang="en-US" b="1" i="1" baseline="-25000" dirty="0"/>
              <a:t>0</a:t>
            </a:r>
            <a:r>
              <a:rPr lang="en-US" b="1" dirty="0"/>
              <a:t>: </a:t>
            </a:r>
            <a:r>
              <a:rPr lang="el-GR" i="1" dirty="0"/>
              <a:t>μ</a:t>
            </a:r>
            <a:r>
              <a:rPr lang="en-CA" dirty="0"/>
              <a:t> ≤ </a:t>
            </a:r>
            <a:r>
              <a:rPr lang="en-US" dirty="0"/>
              <a:t>75.00 </a:t>
            </a:r>
            <a:r>
              <a:rPr lang="en-CA" dirty="0"/>
              <a:t>	</a:t>
            </a:r>
            <a:r>
              <a:rPr lang="en-US" b="1" i="1" dirty="0"/>
              <a:t> </a:t>
            </a:r>
            <a:endParaRPr lang="en-CA" dirty="0"/>
          </a:p>
          <a:p>
            <a:r>
              <a:rPr lang="en-US" b="1" i="1" dirty="0"/>
              <a:t>H</a:t>
            </a:r>
            <a:r>
              <a:rPr lang="en-US" b="1" i="1" baseline="-25000" dirty="0"/>
              <a:t>1</a:t>
            </a:r>
            <a:r>
              <a:rPr lang="en-US" b="1" dirty="0"/>
              <a:t>: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l-GR" i="1" dirty="0"/>
              <a:t>μ</a:t>
            </a:r>
            <a:r>
              <a:rPr lang="en-CA" dirty="0"/>
              <a:t> &gt; </a:t>
            </a:r>
            <a:r>
              <a:rPr lang="en-US" dirty="0"/>
              <a:t>75.00</a:t>
            </a:r>
            <a:endParaRPr lang="en-CA" dirty="0"/>
          </a:p>
          <a:p>
            <a:pPr lvl="1"/>
            <a:r>
              <a:rPr lang="en-CA" dirty="0"/>
              <a:t>Thus, one-tailed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Step 2: </a:t>
            </a:r>
            <a:endParaRPr lang="en-US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Type of Research Design</a:t>
            </a:r>
            <a:r>
              <a:rPr lang="en-US" sz="1200" dirty="0"/>
              <a:t>: Single-Sample Design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Model of Hypothesis Testing</a:t>
            </a:r>
            <a:r>
              <a:rPr lang="en-US" sz="1200" dirty="0"/>
              <a:t>: Random Sampling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Nature of Data (Scales of measurement)</a:t>
            </a:r>
            <a:r>
              <a:rPr lang="en-US" sz="1200" dirty="0"/>
              <a:t>: Score data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Statistic Being Analyzed</a:t>
            </a:r>
            <a:r>
              <a:rPr lang="en-US" sz="1200" dirty="0"/>
              <a:t>: x̅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Information about the Population</a:t>
            </a:r>
            <a:r>
              <a:rPr lang="en-US" sz="1200" dirty="0"/>
              <a:t>: </a:t>
            </a:r>
            <a:r>
              <a:rPr lang="el-GR" sz="1200" dirty="0"/>
              <a:t>μ</a:t>
            </a:r>
            <a:r>
              <a:rPr lang="en-US" sz="1200" dirty="0"/>
              <a:t> = 75.00, σ = unknown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Sample Size</a:t>
            </a:r>
            <a:r>
              <a:rPr lang="en-US" sz="1200" dirty="0"/>
              <a:t>: </a:t>
            </a:r>
            <a:r>
              <a:rPr lang="en-US" sz="1200" i="1" dirty="0"/>
              <a:t>n</a:t>
            </a:r>
            <a:r>
              <a:rPr lang="en-US" sz="1200" dirty="0"/>
              <a:t> = 25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Shape</a:t>
            </a:r>
            <a:r>
              <a:rPr lang="en-US" sz="1200" dirty="0"/>
              <a:t>: Normally distributed</a:t>
            </a:r>
            <a:endParaRPr lang="en-CA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5578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66C81-C7DB-7F4D-9FD6-22D25007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Set </a:t>
            </a:r>
            <a:r>
              <a:rPr lang="en-US" i="1" dirty="0"/>
              <a:t>a priori </a:t>
            </a:r>
            <a:r>
              <a:rPr lang="en-US" dirty="0"/>
              <a:t>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381D9-1BF6-1646-B2E2-AF1DBEBE6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Researchers want to help patients recover faster after surgery. They introduce an Early Mobilization Protocol, encouraging patients to get out of bed and start walking within a day of surgery instead of waiting several days. They ask whether this increases patients' 6-week mobility scores compared to the expected average (</a:t>
            </a:r>
            <a:r>
              <a:rPr lang="en-US" sz="1600" i="1" dirty="0"/>
              <a:t>μ</a:t>
            </a:r>
            <a:r>
              <a:rPr lang="en-US" sz="1600" dirty="0"/>
              <a:t> = 75.00). With twenty-five patients following the new protocol, mobility scores had a mean of </a:t>
            </a:r>
            <a:r>
              <a:rPr lang="en-US" sz="1600" i="1" dirty="0"/>
              <a:t>x</a:t>
            </a:r>
            <a:r>
              <a:rPr lang="en-US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̅</a:t>
            </a:r>
            <a:r>
              <a:rPr lang="en-US" sz="1600" dirty="0"/>
              <a:t> = 83.00 and a sum of squares of 5400.00. Did the new protocol increase patients' recovery scores?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CA" b="1" i="1" dirty="0"/>
              <a:t>p(</a:t>
            </a:r>
            <a:r>
              <a:rPr lang="el-GR" b="1" i="1" dirty="0"/>
              <a:t>α</a:t>
            </a:r>
            <a:r>
              <a:rPr lang="en-CA" b="1" i="1" dirty="0"/>
              <a:t>)</a:t>
            </a:r>
            <a:r>
              <a:rPr lang="en-CA" b="1" dirty="0"/>
              <a:t>: </a:t>
            </a:r>
            <a:r>
              <a:rPr lang="en-CA" dirty="0"/>
              <a:t>= .05 (one-tailed)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US" b="1" dirty="0"/>
              <a:t>t(crit)</a:t>
            </a:r>
            <a:r>
              <a:rPr lang="en-US" dirty="0"/>
              <a:t>: +1.7109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E8D65A-90FB-BF42-9C38-46AEC5E73A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65" t="8498" r="10118" b="54495"/>
          <a:stretch/>
        </p:blipFill>
        <p:spPr>
          <a:xfrm>
            <a:off x="5496025" y="3068725"/>
            <a:ext cx="6108834" cy="3656165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44110C8-44DF-8946-9E7B-109894F044BA}"/>
              </a:ext>
            </a:extLst>
          </p:cNvPr>
          <p:cNvSpPr/>
          <p:nvPr/>
        </p:nvSpPr>
        <p:spPr>
          <a:xfrm>
            <a:off x="8441356" y="4822257"/>
            <a:ext cx="336884" cy="12512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050208-9662-1443-8875-3EDF2C9D91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04" t="47896" r="10979" b="35849"/>
          <a:stretch/>
        </p:blipFill>
        <p:spPr>
          <a:xfrm>
            <a:off x="5419025" y="5252057"/>
            <a:ext cx="6108834" cy="1605943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B79EE58-58F3-C740-A83F-AAE13C31DF3C}"/>
              </a:ext>
            </a:extLst>
          </p:cNvPr>
          <p:cNvSpPr/>
          <p:nvPr/>
        </p:nvSpPr>
        <p:spPr>
          <a:xfrm>
            <a:off x="5759116" y="6599763"/>
            <a:ext cx="336884" cy="12512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9153C37-C908-D543-A89D-41118272E577}"/>
              </a:ext>
            </a:extLst>
          </p:cNvPr>
          <p:cNvSpPr/>
          <p:nvPr/>
        </p:nvSpPr>
        <p:spPr>
          <a:xfrm>
            <a:off x="7269496" y="4679522"/>
            <a:ext cx="2806556" cy="15200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5A43589-F349-804A-A3F3-F56F966CE3D8}"/>
              </a:ext>
            </a:extLst>
          </p:cNvPr>
          <p:cNvCxnSpPr>
            <a:cxnSpLocks/>
          </p:cNvCxnSpPr>
          <p:nvPr/>
        </p:nvCxnSpPr>
        <p:spPr>
          <a:xfrm>
            <a:off x="8590544" y="4965982"/>
            <a:ext cx="0" cy="1633781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DF7197D-58C4-DD4E-8DC6-681273B7685E}"/>
              </a:ext>
            </a:extLst>
          </p:cNvPr>
          <p:cNvCxnSpPr>
            <a:cxnSpLocks/>
          </p:cNvCxnSpPr>
          <p:nvPr/>
        </p:nvCxnSpPr>
        <p:spPr>
          <a:xfrm>
            <a:off x="6096000" y="6640943"/>
            <a:ext cx="2239478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8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4BD63-BEFD-46A1-F434-99D0420C8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3F3B2-273D-23BC-0DAC-B92DF5B55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6596"/>
            <a:ext cx="5257800" cy="6271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1:</a:t>
            </a:r>
          </a:p>
          <a:p>
            <a:r>
              <a:rPr lang="en-US" b="1" i="1" dirty="0"/>
              <a:t>H</a:t>
            </a:r>
            <a:r>
              <a:rPr lang="en-US" b="1" i="1" baseline="-25000" dirty="0"/>
              <a:t>0</a:t>
            </a:r>
            <a:r>
              <a:rPr lang="en-US" b="1" dirty="0"/>
              <a:t>: </a:t>
            </a:r>
            <a:r>
              <a:rPr lang="el-GR" i="1" dirty="0"/>
              <a:t>μ</a:t>
            </a:r>
            <a:r>
              <a:rPr lang="en-CA" dirty="0"/>
              <a:t> ≤ </a:t>
            </a:r>
            <a:r>
              <a:rPr lang="en-US" dirty="0"/>
              <a:t>75.00 </a:t>
            </a:r>
            <a:r>
              <a:rPr lang="en-CA" dirty="0"/>
              <a:t>	</a:t>
            </a:r>
            <a:r>
              <a:rPr lang="en-US" b="1" i="1" dirty="0"/>
              <a:t> </a:t>
            </a:r>
            <a:endParaRPr lang="en-CA" dirty="0"/>
          </a:p>
          <a:p>
            <a:r>
              <a:rPr lang="en-US" b="1" i="1" dirty="0"/>
              <a:t>H</a:t>
            </a:r>
            <a:r>
              <a:rPr lang="en-US" b="1" i="1" baseline="-25000" dirty="0"/>
              <a:t>1</a:t>
            </a:r>
            <a:r>
              <a:rPr lang="en-US" b="1" dirty="0"/>
              <a:t>: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l-GR" i="1" dirty="0"/>
              <a:t>μ</a:t>
            </a:r>
            <a:r>
              <a:rPr lang="en-CA" dirty="0"/>
              <a:t> &gt; </a:t>
            </a:r>
            <a:r>
              <a:rPr lang="en-US" dirty="0"/>
              <a:t>75.00</a:t>
            </a:r>
            <a:endParaRPr lang="en-CA" dirty="0"/>
          </a:p>
          <a:p>
            <a:pPr lvl="1"/>
            <a:r>
              <a:rPr lang="en-CA" dirty="0"/>
              <a:t>Thus, one-tailed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Step 2: </a:t>
            </a:r>
            <a:endParaRPr lang="en-US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Type of Research Design</a:t>
            </a:r>
            <a:r>
              <a:rPr lang="en-US" sz="1200" dirty="0"/>
              <a:t>: Single-Sample Design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Model of Hypothesis Testing</a:t>
            </a:r>
            <a:r>
              <a:rPr lang="en-US" sz="1200" dirty="0"/>
              <a:t>: Random Sampling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Nature of Data (Scales of measurement)</a:t>
            </a:r>
            <a:r>
              <a:rPr lang="en-US" sz="1200" dirty="0"/>
              <a:t>: Score data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Statistic Being Analyzed</a:t>
            </a:r>
            <a:r>
              <a:rPr lang="en-US" sz="1200" dirty="0"/>
              <a:t>: </a:t>
            </a:r>
            <a:r>
              <a:rPr lang="en-CA" sz="1200" dirty="0"/>
              <a:t>x̅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Information about the Population</a:t>
            </a:r>
            <a:r>
              <a:rPr lang="en-US" sz="1200" dirty="0"/>
              <a:t>: </a:t>
            </a:r>
            <a:r>
              <a:rPr lang="el-GR" sz="1200" dirty="0"/>
              <a:t>μ</a:t>
            </a:r>
            <a:r>
              <a:rPr lang="en-US" sz="1200" dirty="0"/>
              <a:t> = 75.00, σ = unknown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Sample Size</a:t>
            </a:r>
            <a:r>
              <a:rPr lang="en-US" sz="1200" dirty="0"/>
              <a:t>: </a:t>
            </a:r>
            <a:r>
              <a:rPr lang="en-US" sz="1200" i="1" dirty="0"/>
              <a:t>n</a:t>
            </a:r>
            <a:r>
              <a:rPr lang="en-US" sz="1200" dirty="0"/>
              <a:t> = 25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Shape</a:t>
            </a:r>
            <a:r>
              <a:rPr lang="en-US" sz="1200" dirty="0"/>
              <a:t>: Normally distributed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Step 3:</a:t>
            </a:r>
          </a:p>
          <a:p>
            <a:r>
              <a:rPr lang="en-CA" i="1" dirty="0"/>
              <a:t>p(</a:t>
            </a:r>
            <a:r>
              <a:rPr lang="el-GR" i="1" dirty="0"/>
              <a:t>α</a:t>
            </a:r>
            <a:r>
              <a:rPr lang="en-CA" i="1" dirty="0"/>
              <a:t>) </a:t>
            </a:r>
            <a:r>
              <a:rPr lang="en-CA" dirty="0"/>
              <a:t>= .05, </a:t>
            </a:r>
            <a:r>
              <a:rPr lang="en-CA" i="1" dirty="0"/>
              <a:t>t(crit)</a:t>
            </a:r>
            <a:r>
              <a:rPr lang="en-CA" dirty="0"/>
              <a:t> = 1.7109</a:t>
            </a:r>
            <a:endParaRPr lang="en-US" dirty="0"/>
          </a:p>
          <a:p>
            <a:pPr marL="0" indent="0">
              <a:buNone/>
            </a:pPr>
            <a:endParaRPr lang="en-CA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7228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5DEBD5D-588A-6449-B920-724E4797610A}"/>
              </a:ext>
            </a:extLst>
          </p:cNvPr>
          <p:cNvGrpSpPr/>
          <p:nvPr/>
        </p:nvGrpSpPr>
        <p:grpSpPr>
          <a:xfrm>
            <a:off x="7623571" y="4060072"/>
            <a:ext cx="4406696" cy="2699423"/>
            <a:chOff x="5419025" y="3068725"/>
            <a:chExt cx="6185834" cy="378927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523224A-2058-584B-BF44-2618F5CC29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9865" t="8498" r="10118" b="54495"/>
            <a:stretch/>
          </p:blipFill>
          <p:spPr>
            <a:xfrm>
              <a:off x="5496025" y="3068725"/>
              <a:ext cx="6108834" cy="365616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C14C268-AD88-0147-B8B3-1C5406784F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9004" t="47896" r="10979" b="35849"/>
            <a:stretch/>
          </p:blipFill>
          <p:spPr>
            <a:xfrm>
              <a:off x="5419025" y="5252057"/>
              <a:ext cx="6108834" cy="160594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066C81-C7DB-7F4D-9FD6-22D25007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Compute Statistics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D381D9-1BF6-1646-B2E2-AF1DBEBE6B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dirty="0"/>
                  <a:t>Researchers want to help patients recover faster after surgery. They introduce an Early Mobilization Protocol, encouraging patients to get out of bed and start walking within a day of surgery instead of waiting several days. They ask whether this increases patients' 6-week mobility scores compared to the expected average (</a:t>
                </a:r>
                <a:r>
                  <a:rPr lang="en-US" sz="1600" i="1" dirty="0">
                    <a:solidFill>
                      <a:srgbClr val="FF0000"/>
                    </a:solidFill>
                  </a:rPr>
                  <a:t>μ</a:t>
                </a:r>
                <a:r>
                  <a:rPr lang="en-US" sz="1600" dirty="0">
                    <a:solidFill>
                      <a:srgbClr val="FF0000"/>
                    </a:solidFill>
                  </a:rPr>
                  <a:t> = 75.00</a:t>
                </a:r>
                <a:r>
                  <a:rPr lang="en-US" sz="1600" dirty="0"/>
                  <a:t>). With </a:t>
                </a:r>
                <a:r>
                  <a:rPr lang="en-US" sz="1600" dirty="0">
                    <a:solidFill>
                      <a:srgbClr val="FF0000"/>
                    </a:solidFill>
                  </a:rPr>
                  <a:t>twenty-five patients </a:t>
                </a:r>
                <a:r>
                  <a:rPr lang="en-US" sz="1600" dirty="0"/>
                  <a:t>following the new protocol, mobility scores had a mean of</a:t>
                </a:r>
                <a:r>
                  <a:rPr lang="en-US" sz="1600" dirty="0">
                    <a:solidFill>
                      <a:srgbClr val="FF0000"/>
                    </a:solidFill>
                  </a:rPr>
                  <a:t> </a:t>
                </a:r>
                <a:r>
                  <a:rPr lang="en-US" sz="1600" i="1" dirty="0">
                    <a:solidFill>
                      <a:srgbClr val="FF0000"/>
                    </a:solidFill>
                  </a:rPr>
                  <a:t>x</a:t>
                </a:r>
                <a:r>
                  <a:rPr lang="en-US" sz="1600" i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̅</a:t>
                </a:r>
                <a:r>
                  <a:rPr lang="en-US" sz="1600" dirty="0">
                    <a:solidFill>
                      <a:srgbClr val="FF0000"/>
                    </a:solidFill>
                  </a:rPr>
                  <a:t> = 83.00 </a:t>
                </a:r>
                <a:r>
                  <a:rPr lang="en-US" sz="1600" dirty="0"/>
                  <a:t>and a </a:t>
                </a:r>
                <a:r>
                  <a:rPr lang="en-US" sz="1600" dirty="0">
                    <a:solidFill>
                      <a:srgbClr val="FF0000"/>
                    </a:solidFill>
                  </a:rPr>
                  <a:t>sum of squares of 5400.00</a:t>
                </a:r>
                <a:r>
                  <a:rPr lang="en-US" sz="1600" dirty="0"/>
                  <a:t>. Did the new protocol increase patients' recovery scores?</a:t>
                </a:r>
              </a:p>
              <a:p>
                <a:pPr marL="0" indent="0">
                  <a:buNone/>
                </a:pPr>
                <a:r>
                  <a:rPr lang="en-US" sz="3200" b="1" dirty="0"/>
                  <a:t>New Test Ratio: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̅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̅</m:t>
                        </m:r>
                        <m:r>
                          <a:rPr lang="en-CA" sz="3200" i="1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CA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3200" i="0" dirty="0"/>
                              <m:t>μ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̅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̅</m:t>
                            </m:r>
                          </m:sub>
                        </m:sSub>
                      </m:den>
                    </m:f>
                  </m:oMath>
                </a14:m>
                <a:endParaRPr lang="en-US" sz="3200" b="1" dirty="0"/>
              </a:p>
              <a:p>
                <a:pPr marL="0" indent="0">
                  <a:buNone/>
                </a:pPr>
                <a:r>
                  <a:rPr lang="en-US" sz="3200" b="1" dirty="0"/>
                  <a:t>	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3200" i="1" dirty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̅̅</m:t>
                        </m:r>
                      </m:sub>
                    </m:sSub>
                    <m:r>
                      <a:rPr lang="en-US" sz="32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3200" i="1"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  <m:r>
                          <a:rPr lang="en-CA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sz="3200" b="1" dirty="0"/>
              </a:p>
              <a:p>
                <a:pPr marL="0" indent="0">
                  <a:buNone/>
                </a:pPr>
                <a:endParaRPr lang="en-US" sz="3200" b="1" dirty="0"/>
              </a:p>
              <a:p>
                <a:pPr marL="0" indent="0">
                  <a:buNone/>
                </a:pPr>
                <a:r>
                  <a:rPr lang="en-US" sz="3200" b="1" dirty="0"/>
                  <a:t>	where </a:t>
                </a:r>
                <a:r>
                  <a:rPr lang="en-US" sz="3200" i="1" dirty="0"/>
                  <a:t>s</a:t>
                </a:r>
                <a:r>
                  <a:rPr lang="en-US" sz="3200" dirty="0">
                    <a:solidFill>
                      <a:schemeClr val="tx1"/>
                    </a:solidFill>
                  </a:rPr>
                  <a:t> =</a:t>
                </a:r>
                <a:r>
                  <a:rPr lang="en-US" sz="32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𝑆𝑆</m:t>
                            </m:r>
                          </m:num>
                          <m:den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rad>
                  </m:oMath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D381D9-1BF6-1646-B2E2-AF1DBEBE6B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4"/>
                <a:stretch>
                  <a:fillRect l="-1507" t="-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03002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C996F-22D9-269E-D0BF-1869B8BA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7B8F3-DDE9-88FD-E86F-0B111867D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Compute Statistics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52DA5A-2C13-E7C9-9A7D-6DC8CA8C56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dirty="0"/>
                  <a:t>Researchers want to help patients recover faster after surgery. They introduce an Early Mobilization Protocol, encouraging patients to get out of bed and start walking within a day of surgery instead of waiting several days. They ask whether this increases patients' 6-week mobility scores compared to the expected average (</a:t>
                </a:r>
                <a:r>
                  <a:rPr lang="en-US" sz="1600" i="1" dirty="0">
                    <a:solidFill>
                      <a:srgbClr val="FF0000"/>
                    </a:solidFill>
                  </a:rPr>
                  <a:t>μ</a:t>
                </a:r>
                <a:r>
                  <a:rPr lang="en-US" sz="1600" dirty="0">
                    <a:solidFill>
                      <a:srgbClr val="FF0000"/>
                    </a:solidFill>
                  </a:rPr>
                  <a:t> = 75.00</a:t>
                </a:r>
                <a:r>
                  <a:rPr lang="en-US" sz="1600" dirty="0"/>
                  <a:t>). With </a:t>
                </a:r>
                <a:r>
                  <a:rPr lang="en-US" sz="1600" dirty="0">
                    <a:solidFill>
                      <a:srgbClr val="FF0000"/>
                    </a:solidFill>
                  </a:rPr>
                  <a:t>twenty-five patients </a:t>
                </a:r>
                <a:r>
                  <a:rPr lang="en-US" sz="1600" dirty="0"/>
                  <a:t>following the new protocol, mobility scores had a mean of</a:t>
                </a:r>
                <a:r>
                  <a:rPr lang="en-US" sz="1600" dirty="0">
                    <a:solidFill>
                      <a:srgbClr val="FF0000"/>
                    </a:solidFill>
                  </a:rPr>
                  <a:t> </a:t>
                </a:r>
                <a:r>
                  <a:rPr lang="en-US" sz="1600" i="1" dirty="0">
                    <a:solidFill>
                      <a:srgbClr val="FF0000"/>
                    </a:solidFill>
                  </a:rPr>
                  <a:t>x</a:t>
                </a:r>
                <a:r>
                  <a:rPr lang="en-US" sz="1600" i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̅</a:t>
                </a:r>
                <a:r>
                  <a:rPr lang="en-US" sz="1600" dirty="0">
                    <a:solidFill>
                      <a:srgbClr val="FF0000"/>
                    </a:solidFill>
                  </a:rPr>
                  <a:t> = 83.00 </a:t>
                </a:r>
                <a:r>
                  <a:rPr lang="en-US" sz="1600" dirty="0"/>
                  <a:t>and a </a:t>
                </a:r>
                <a:r>
                  <a:rPr lang="en-US" sz="1600" dirty="0">
                    <a:solidFill>
                      <a:srgbClr val="FF0000"/>
                    </a:solidFill>
                  </a:rPr>
                  <a:t>sum of squares of 5400.00</a:t>
                </a:r>
                <a:r>
                  <a:rPr lang="en-US" sz="1600" dirty="0"/>
                  <a:t>. Did the new protocol increase patients' recovery scores?</a:t>
                </a:r>
              </a:p>
              <a:p>
                <a:pPr marL="0" indent="0">
                  <a:buNone/>
                </a:pPr>
                <a:r>
                  <a:rPr lang="en-US" sz="3200" b="1" dirty="0"/>
                  <a:t>New Test Ratio: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̅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̅</m:t>
                        </m:r>
                        <m:r>
                          <a:rPr lang="en-CA" sz="3200" i="1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CA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3200" i="0" dirty="0"/>
                              <m:t>μ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̅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̅</m:t>
                            </m:r>
                          </m:sub>
                        </m:sSub>
                      </m:den>
                    </m:f>
                  </m:oMath>
                </a14:m>
                <a:endParaRPr lang="en-US" sz="3200" b="1" dirty="0"/>
              </a:p>
              <a:p>
                <a:pPr marL="0" indent="0">
                  <a:buNone/>
                </a:pPr>
                <a:r>
                  <a:rPr lang="en-US" sz="3200" b="1" dirty="0"/>
                  <a:t>	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3200" i="1" dirty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̅̅</m:t>
                        </m:r>
                      </m:sub>
                    </m:sSub>
                    <m:r>
                      <a:rPr lang="en-US" sz="32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3200" i="1"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  <m:r>
                          <a:rPr lang="en-CA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sz="3200" b="1" dirty="0"/>
              </a:p>
              <a:p>
                <a:pPr marL="0" indent="0">
                  <a:buNone/>
                </a:pPr>
                <a:endParaRPr lang="en-US" sz="3200" b="1" dirty="0"/>
              </a:p>
              <a:p>
                <a:pPr marL="0" indent="0">
                  <a:buNone/>
                </a:pPr>
                <a:r>
                  <a:rPr lang="en-US" sz="3200" b="1" dirty="0"/>
                  <a:t>	where </a:t>
                </a:r>
                <a:r>
                  <a:rPr lang="en-US" sz="3200" i="1" dirty="0"/>
                  <a:t>s</a:t>
                </a:r>
                <a:r>
                  <a:rPr lang="en-US" sz="3200" dirty="0">
                    <a:solidFill>
                      <a:schemeClr val="tx1"/>
                    </a:solidFill>
                  </a:rPr>
                  <a:t> =</a:t>
                </a:r>
                <a:r>
                  <a:rPr lang="en-US" sz="32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𝑆𝑆</m:t>
                            </m:r>
                          </m:num>
                          <m:den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sz="3200" b="1" dirty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5400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0000</m:t>
                            </m:r>
                          </m:num>
                          <m:den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25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sz="3200" b="1" dirty="0"/>
                  <a:t> </a:t>
                </a:r>
                <a:r>
                  <a:rPr lang="en-US" sz="3200" dirty="0"/>
                  <a:t>= </a:t>
                </a:r>
                <a:r>
                  <a:rPr lang="en-US" dirty="0"/>
                  <a:t>15.0000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52DA5A-2C13-E7C9-9A7D-6DC8CA8C56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507" t="-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70718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ADEF-9DA0-47E9-C1BE-FB1F9B808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56F17-C784-C13C-6BAC-BFFB599CD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Compute Statistics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20EC91-8B3B-46B1-DB52-BC4266AE51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dirty="0"/>
                  <a:t>Researchers want to help patients recover faster after surgery. They introduce an Early Mobilization Protocol, encouraging patients to get out of bed and start walking within a day of surgery instead of waiting several days. They ask whether this increases patients' 6-week mobility scores compared to the expected average (</a:t>
                </a:r>
                <a:r>
                  <a:rPr lang="en-US" sz="1600" i="1" dirty="0">
                    <a:solidFill>
                      <a:srgbClr val="FF0000"/>
                    </a:solidFill>
                  </a:rPr>
                  <a:t>μ</a:t>
                </a:r>
                <a:r>
                  <a:rPr lang="en-US" sz="1600" dirty="0">
                    <a:solidFill>
                      <a:srgbClr val="FF0000"/>
                    </a:solidFill>
                  </a:rPr>
                  <a:t> = 75.00</a:t>
                </a:r>
                <a:r>
                  <a:rPr lang="en-US" sz="1600" dirty="0"/>
                  <a:t>). With </a:t>
                </a:r>
                <a:r>
                  <a:rPr lang="en-US" sz="1600" dirty="0">
                    <a:solidFill>
                      <a:srgbClr val="FF0000"/>
                    </a:solidFill>
                  </a:rPr>
                  <a:t>twenty-five patients </a:t>
                </a:r>
                <a:r>
                  <a:rPr lang="en-US" sz="1600" dirty="0"/>
                  <a:t>following the new protocol, mobility scores had a mean of</a:t>
                </a:r>
                <a:r>
                  <a:rPr lang="en-US" sz="1600" dirty="0">
                    <a:solidFill>
                      <a:srgbClr val="FF0000"/>
                    </a:solidFill>
                  </a:rPr>
                  <a:t> </a:t>
                </a:r>
                <a:r>
                  <a:rPr lang="en-US" sz="1600" i="1" dirty="0">
                    <a:solidFill>
                      <a:srgbClr val="FF0000"/>
                    </a:solidFill>
                  </a:rPr>
                  <a:t>x</a:t>
                </a:r>
                <a:r>
                  <a:rPr lang="en-US" sz="1600" i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̅</a:t>
                </a:r>
                <a:r>
                  <a:rPr lang="en-US" sz="1600" dirty="0">
                    <a:solidFill>
                      <a:srgbClr val="FF0000"/>
                    </a:solidFill>
                  </a:rPr>
                  <a:t> = 83.00 </a:t>
                </a:r>
                <a:r>
                  <a:rPr lang="en-US" sz="1600" dirty="0"/>
                  <a:t>and a </a:t>
                </a:r>
                <a:r>
                  <a:rPr lang="en-US" sz="1600" dirty="0">
                    <a:solidFill>
                      <a:srgbClr val="FF0000"/>
                    </a:solidFill>
                  </a:rPr>
                  <a:t>sum of squares of 5400.00</a:t>
                </a:r>
                <a:r>
                  <a:rPr lang="en-US" sz="1600" dirty="0"/>
                  <a:t>. Did the new protocol increase patients' recovery scores?</a:t>
                </a:r>
              </a:p>
              <a:p>
                <a:pPr marL="0" indent="0">
                  <a:buNone/>
                </a:pPr>
                <a:r>
                  <a:rPr lang="en-US" sz="3200" b="1" dirty="0"/>
                  <a:t>New Test Ratio: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̅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̅</m:t>
                        </m:r>
                        <m:r>
                          <a:rPr lang="en-CA" sz="3200" i="1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CA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3200" i="0" dirty="0"/>
                              <m:t>μ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̅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̅</m:t>
                            </m:r>
                          </m:sub>
                        </m:sSub>
                      </m:den>
                    </m:f>
                  </m:oMath>
                </a14:m>
                <a:endParaRPr lang="en-US" sz="3200" b="1" dirty="0"/>
              </a:p>
              <a:p>
                <a:pPr marL="0" indent="0">
                  <a:buNone/>
                </a:pPr>
                <a:r>
                  <a:rPr lang="en-US" sz="3200" b="1" dirty="0"/>
                  <a:t>	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3200" i="1" dirty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̅̅</m:t>
                        </m:r>
                      </m:sub>
                    </m:sSub>
                    <m:r>
                      <a:rPr lang="en-US" sz="32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3200" i="1"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  <m:r>
                          <a:rPr lang="en-CA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3200" b="1" dirty="0"/>
                  <a:t> </a:t>
                </a:r>
                <a:r>
                  <a:rPr lang="en-US" sz="3200" dirty="0"/>
                  <a:t>=</a:t>
                </a:r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15.0000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lang="en-US" sz="3200" b="1" dirty="0"/>
                  <a:t> </a:t>
                </a:r>
                <a:r>
                  <a:rPr lang="en-US" sz="3200" dirty="0"/>
                  <a:t>= 3.0000</a:t>
                </a:r>
              </a:p>
              <a:p>
                <a:pPr marL="0" indent="0">
                  <a:buNone/>
                </a:pPr>
                <a:endParaRPr lang="en-US" sz="3200" b="1" dirty="0"/>
              </a:p>
              <a:p>
                <a:pPr marL="0" indent="0">
                  <a:buNone/>
                </a:pPr>
                <a:r>
                  <a:rPr lang="en-US" sz="3200" b="1" dirty="0"/>
                  <a:t>	where </a:t>
                </a:r>
                <a:r>
                  <a:rPr lang="en-US" sz="3200" i="1" dirty="0"/>
                  <a:t>s</a:t>
                </a:r>
                <a:r>
                  <a:rPr lang="en-US" sz="3200" dirty="0">
                    <a:solidFill>
                      <a:schemeClr val="tx1"/>
                    </a:solidFill>
                  </a:rPr>
                  <a:t> =</a:t>
                </a:r>
                <a:r>
                  <a:rPr lang="en-US" sz="32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𝑆𝑆</m:t>
                            </m:r>
                          </m:num>
                          <m:den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sz="3200" b="1" dirty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5400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0000</m:t>
                            </m:r>
                          </m:num>
                          <m:den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25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sz="3200" b="1" dirty="0"/>
                  <a:t> </a:t>
                </a:r>
                <a:r>
                  <a:rPr lang="en-US" sz="3200" dirty="0"/>
                  <a:t>= </a:t>
                </a:r>
                <a:r>
                  <a:rPr lang="en-US" dirty="0"/>
                  <a:t>15.0000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20EC91-8B3B-46B1-DB52-BC4266AE51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507" t="-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28088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6A5FB-F4F7-EF55-8FA1-8E054387D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E3FC9-407E-64AC-30E0-2DE83099F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Compute Statistics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434F6-3DB0-E18A-4209-13B92E8628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dirty="0"/>
                  <a:t>Researchers want to help patients recover faster after surgery. They introduce an Early Mobilization Protocol, encouraging patients to get out of bed and start walking within a day of surgery instead of waiting several days. They ask whether this increases patients' 6-week mobility scores compared to the expected average (</a:t>
                </a:r>
                <a:r>
                  <a:rPr lang="en-US" sz="1600" i="1" dirty="0">
                    <a:solidFill>
                      <a:srgbClr val="FF0000"/>
                    </a:solidFill>
                  </a:rPr>
                  <a:t>μ</a:t>
                </a:r>
                <a:r>
                  <a:rPr lang="en-US" sz="1600" dirty="0">
                    <a:solidFill>
                      <a:srgbClr val="FF0000"/>
                    </a:solidFill>
                  </a:rPr>
                  <a:t> = 75.00</a:t>
                </a:r>
                <a:r>
                  <a:rPr lang="en-US" sz="1600" dirty="0"/>
                  <a:t>). With </a:t>
                </a:r>
                <a:r>
                  <a:rPr lang="en-US" sz="1600" dirty="0">
                    <a:solidFill>
                      <a:srgbClr val="FF0000"/>
                    </a:solidFill>
                  </a:rPr>
                  <a:t>twenty-five patients </a:t>
                </a:r>
                <a:r>
                  <a:rPr lang="en-US" sz="1600" dirty="0"/>
                  <a:t>following the new protocol, mobility scores had a mean of</a:t>
                </a:r>
                <a:r>
                  <a:rPr lang="en-US" sz="1600" dirty="0">
                    <a:solidFill>
                      <a:srgbClr val="FF0000"/>
                    </a:solidFill>
                  </a:rPr>
                  <a:t> </a:t>
                </a:r>
                <a:r>
                  <a:rPr lang="en-US" sz="1600" i="1" dirty="0">
                    <a:solidFill>
                      <a:srgbClr val="FF0000"/>
                    </a:solidFill>
                  </a:rPr>
                  <a:t>x</a:t>
                </a:r>
                <a:r>
                  <a:rPr lang="en-US" sz="1600" i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̅</a:t>
                </a:r>
                <a:r>
                  <a:rPr lang="en-US" sz="1600" dirty="0">
                    <a:solidFill>
                      <a:srgbClr val="FF0000"/>
                    </a:solidFill>
                  </a:rPr>
                  <a:t> = 83.00 </a:t>
                </a:r>
                <a:r>
                  <a:rPr lang="en-US" sz="1600" dirty="0"/>
                  <a:t>and a </a:t>
                </a:r>
                <a:r>
                  <a:rPr lang="en-US" sz="1600" dirty="0">
                    <a:solidFill>
                      <a:srgbClr val="FF0000"/>
                    </a:solidFill>
                  </a:rPr>
                  <a:t>sum of squares of 5400.00</a:t>
                </a:r>
                <a:r>
                  <a:rPr lang="en-US" sz="1600" dirty="0"/>
                  <a:t>. Did the new protocol increase patients' recovery scores?</a:t>
                </a:r>
              </a:p>
              <a:p>
                <a:pPr marL="0" indent="0">
                  <a:buNone/>
                </a:pPr>
                <a:r>
                  <a:rPr lang="en-US" sz="3200" b="1" dirty="0"/>
                  <a:t>New Test Ratio: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̅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̅</m:t>
                        </m:r>
                        <m:r>
                          <a:rPr lang="en-CA" sz="3200" i="1"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CA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3200" i="0" dirty="0"/>
                              <m:t>μ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̅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3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̅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3200" b="1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83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0000</m:t>
                        </m:r>
                        <m:r>
                          <a:rPr lang="en-CA" sz="3200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0000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0000</m:t>
                        </m:r>
                      </m:den>
                    </m:f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3200" dirty="0"/>
                  <a:t>2.6667</a:t>
                </a:r>
              </a:p>
              <a:p>
                <a:pPr marL="0" indent="0">
                  <a:buNone/>
                </a:pPr>
                <a:r>
                  <a:rPr lang="en-US" sz="3200" b="1" dirty="0"/>
                  <a:t>	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3200" i="1" dirty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̅̅</m:t>
                        </m:r>
                      </m:sub>
                    </m:sSub>
                    <m:r>
                      <a:rPr lang="en-US" sz="32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3200" i="1">
                            <a:latin typeface="Cambria Math" panose="02040503050406030204" pitchFamily="18" charset="0"/>
                          </a:rPr>
                          <m:t>s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  <m:r>
                          <a:rPr lang="en-CA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3200" b="1" dirty="0"/>
                  <a:t> </a:t>
                </a:r>
                <a:r>
                  <a:rPr lang="en-US" sz="3200" dirty="0"/>
                  <a:t>=</a:t>
                </a:r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15.0000</m:t>
                        </m:r>
                      </m:num>
                      <m:den>
                        <m:r>
                          <a:rPr lang="en-US" sz="24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lang="en-US" sz="3200" b="1" dirty="0"/>
                  <a:t> </a:t>
                </a:r>
                <a:r>
                  <a:rPr lang="en-US" sz="3200" dirty="0"/>
                  <a:t>= 3.0000</a:t>
                </a:r>
              </a:p>
              <a:p>
                <a:pPr marL="0" indent="0">
                  <a:buNone/>
                </a:pPr>
                <a:endParaRPr lang="en-US" sz="3200" b="1" dirty="0"/>
              </a:p>
              <a:p>
                <a:pPr marL="0" indent="0">
                  <a:buNone/>
                </a:pPr>
                <a:r>
                  <a:rPr lang="en-US" sz="3200" b="1" dirty="0"/>
                  <a:t>	where </a:t>
                </a:r>
                <a:r>
                  <a:rPr lang="en-US" sz="3200" i="1" dirty="0"/>
                  <a:t>s</a:t>
                </a:r>
                <a:r>
                  <a:rPr lang="en-US" sz="3200" dirty="0">
                    <a:solidFill>
                      <a:schemeClr val="tx1"/>
                    </a:solidFill>
                  </a:rPr>
                  <a:t> =</a:t>
                </a:r>
                <a:r>
                  <a:rPr lang="en-US" sz="32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𝑆𝑆</m:t>
                            </m:r>
                          </m:num>
                          <m:den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sz="3200" b="1" dirty="0"/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5400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0000</m:t>
                            </m:r>
                          </m:num>
                          <m:den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25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sz="3200" b="1" dirty="0"/>
                  <a:t> </a:t>
                </a:r>
                <a:r>
                  <a:rPr lang="en-US" sz="3200" dirty="0"/>
                  <a:t>= </a:t>
                </a:r>
                <a:r>
                  <a:rPr lang="en-US" dirty="0"/>
                  <a:t>15.0000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434F6-3DB0-E18A-4209-13B92E8628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507" t="-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83248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5DEBD5D-588A-6449-B920-724E4797610A}"/>
              </a:ext>
            </a:extLst>
          </p:cNvPr>
          <p:cNvGrpSpPr/>
          <p:nvPr/>
        </p:nvGrpSpPr>
        <p:grpSpPr>
          <a:xfrm>
            <a:off x="3735660" y="2891738"/>
            <a:ext cx="7973120" cy="3870944"/>
            <a:chOff x="5440852" y="3068725"/>
            <a:chExt cx="6164007" cy="299262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523224A-2058-584B-BF44-2618F5CC29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9865" t="8498" r="10118" b="65248"/>
            <a:stretch/>
          </p:blipFill>
          <p:spPr>
            <a:xfrm>
              <a:off x="5496025" y="3068725"/>
              <a:ext cx="6108834" cy="259380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C14C268-AD88-0147-B8B3-1C5406784F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9004" t="55917" r="10979" b="35849"/>
            <a:stretch/>
          </p:blipFill>
          <p:spPr>
            <a:xfrm>
              <a:off x="5440852" y="5247836"/>
              <a:ext cx="6108834" cy="813511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066C81-C7DB-7F4D-9FD6-22D25007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Compute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381D9-1BF6-1646-B2E2-AF1DBEBE6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Researchers want to help patients recover faster after surgery. They introduce an Early Mobilization Protocol, encouraging patients to get out of bed and start walking within a day of surgery instead of waiting several days. They ask whether this increases patients' 6-week mobility scores compared to the expected average (</a:t>
            </a:r>
            <a:r>
              <a:rPr lang="en-US" sz="1600" i="1" dirty="0">
                <a:solidFill>
                  <a:srgbClr val="FF0000"/>
                </a:solidFill>
              </a:rPr>
              <a:t>μ</a:t>
            </a:r>
            <a:r>
              <a:rPr lang="en-US" sz="1600" dirty="0">
                <a:solidFill>
                  <a:srgbClr val="FF0000"/>
                </a:solidFill>
              </a:rPr>
              <a:t> = 75.00</a:t>
            </a:r>
            <a:r>
              <a:rPr lang="en-US" sz="1600" dirty="0"/>
              <a:t>). With </a:t>
            </a:r>
            <a:r>
              <a:rPr lang="en-US" sz="1600" dirty="0">
                <a:solidFill>
                  <a:srgbClr val="FF0000"/>
                </a:solidFill>
              </a:rPr>
              <a:t>twenty-five patients </a:t>
            </a:r>
            <a:r>
              <a:rPr lang="en-US" sz="1600" dirty="0"/>
              <a:t>following the new protocol, mobility scores had a mean of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i="1" dirty="0">
                <a:solidFill>
                  <a:srgbClr val="FF0000"/>
                </a:solidFill>
              </a:rPr>
              <a:t>x</a:t>
            </a:r>
            <a:r>
              <a:rPr lang="en-US" sz="1600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̅</a:t>
            </a:r>
            <a:r>
              <a:rPr lang="en-US" sz="1600" dirty="0">
                <a:solidFill>
                  <a:srgbClr val="FF0000"/>
                </a:solidFill>
              </a:rPr>
              <a:t> = 83.00 </a:t>
            </a:r>
            <a:r>
              <a:rPr lang="en-US" sz="1600" dirty="0"/>
              <a:t>and a </a:t>
            </a:r>
            <a:r>
              <a:rPr lang="en-US" sz="1600" dirty="0">
                <a:solidFill>
                  <a:srgbClr val="FF0000"/>
                </a:solidFill>
              </a:rPr>
              <a:t>sum of squares of 5400.00</a:t>
            </a:r>
            <a:r>
              <a:rPr lang="en-US" sz="1600" dirty="0"/>
              <a:t>. Did the new protocol increase patients' recovery scores?</a:t>
            </a:r>
          </a:p>
          <a:p>
            <a:pPr marL="0" indent="0">
              <a:buNone/>
            </a:pPr>
            <a:r>
              <a:rPr lang="en-US" sz="3600" i="1" dirty="0">
                <a:solidFill>
                  <a:schemeClr val="tx1"/>
                </a:solidFill>
              </a:rPr>
              <a:t>t</a:t>
            </a:r>
            <a:r>
              <a:rPr lang="en-CA" sz="3600" dirty="0"/>
              <a:t>(</a:t>
            </a:r>
            <a:r>
              <a:rPr lang="en-CA" sz="3600" dirty="0" err="1"/>
              <a:t>obs</a:t>
            </a:r>
            <a:r>
              <a:rPr lang="en-CA" sz="3600" dirty="0"/>
              <a:t>)</a:t>
            </a:r>
            <a:r>
              <a:rPr lang="en-US" sz="3600" dirty="0">
                <a:solidFill>
                  <a:schemeClr val="tx1"/>
                </a:solidFill>
              </a:rPr>
              <a:t> = </a:t>
            </a:r>
            <a:r>
              <a:rPr lang="en-US" sz="3200" dirty="0">
                <a:solidFill>
                  <a:schemeClr val="tx1"/>
                </a:solidFill>
              </a:rPr>
              <a:t>2.6667</a:t>
            </a:r>
          </a:p>
          <a:p>
            <a:pPr marL="0" indent="0">
              <a:buNone/>
            </a:pPr>
            <a:r>
              <a:rPr lang="en-US" sz="3200" i="1" dirty="0"/>
              <a:t>p</a:t>
            </a:r>
            <a:r>
              <a:rPr lang="en-US" sz="3200" dirty="0"/>
              <a:t>(</a:t>
            </a:r>
            <a:r>
              <a:rPr lang="en-US" sz="3200" dirty="0" err="1"/>
              <a:t>obs</a:t>
            </a:r>
            <a:r>
              <a:rPr lang="en-US" sz="3200" dirty="0"/>
              <a:t>) &lt; .01</a:t>
            </a:r>
          </a:p>
          <a:p>
            <a:r>
              <a:rPr lang="en-US" sz="3200" i="1" dirty="0"/>
              <a:t>p</a:t>
            </a:r>
            <a:r>
              <a:rPr lang="en-US" sz="3200" dirty="0"/>
              <a:t> &lt; .01</a:t>
            </a:r>
          </a:p>
          <a:p>
            <a:r>
              <a:rPr lang="en-US" sz="3200" i="1" dirty="0"/>
              <a:t>p</a:t>
            </a:r>
            <a:r>
              <a:rPr lang="en-US" sz="3200" dirty="0"/>
              <a:t> &gt; .005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6A3DED7-AEAC-E341-B57F-FEEEB0A8C488}"/>
              </a:ext>
            </a:extLst>
          </p:cNvPr>
          <p:cNvSpPr/>
          <p:nvPr/>
        </p:nvSpPr>
        <p:spPr>
          <a:xfrm>
            <a:off x="8925986" y="6388841"/>
            <a:ext cx="1251641" cy="18712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12">
            <a:extLst>
              <a:ext uri="{FF2B5EF4-FFF2-40B4-BE49-F238E27FC236}">
                <a16:creationId xmlns:a16="http://schemas.microsoft.com/office/drawing/2014/main" id="{F79F61A5-4FE4-EDB6-22A5-C5246B235796}"/>
              </a:ext>
            </a:extLst>
          </p:cNvPr>
          <p:cNvSpPr/>
          <p:nvPr/>
        </p:nvSpPr>
        <p:spPr>
          <a:xfrm>
            <a:off x="8925986" y="5181868"/>
            <a:ext cx="1251641" cy="18712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882C87-CC08-28FA-2B28-011ACFCFB88A}"/>
              </a:ext>
            </a:extLst>
          </p:cNvPr>
          <p:cNvCxnSpPr>
            <a:stCxn id="4" idx="1"/>
          </p:cNvCxnSpPr>
          <p:nvPr/>
        </p:nvCxnSpPr>
        <p:spPr>
          <a:xfrm>
            <a:off x="8925986" y="5275431"/>
            <a:ext cx="0" cy="1224606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F981262-FBD9-1701-9CF8-B5B88BCAD7B7}"/>
              </a:ext>
            </a:extLst>
          </p:cNvPr>
          <p:cNvCxnSpPr/>
          <p:nvPr/>
        </p:nvCxnSpPr>
        <p:spPr>
          <a:xfrm>
            <a:off x="10177627" y="5275431"/>
            <a:ext cx="0" cy="1224606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557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F472A-3C04-4A68-D39D-375543BFE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CAA84-1984-CD1E-D448-5CF764721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6596"/>
            <a:ext cx="5257800" cy="6271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1:</a:t>
            </a:r>
          </a:p>
          <a:p>
            <a:r>
              <a:rPr lang="en-US" b="1" i="1" dirty="0"/>
              <a:t>H</a:t>
            </a:r>
            <a:r>
              <a:rPr lang="en-US" b="1" i="1" baseline="-25000" dirty="0"/>
              <a:t>0</a:t>
            </a:r>
            <a:r>
              <a:rPr lang="en-US" b="1" dirty="0"/>
              <a:t>: </a:t>
            </a:r>
            <a:r>
              <a:rPr lang="el-GR" i="1" dirty="0"/>
              <a:t>μ</a:t>
            </a:r>
            <a:r>
              <a:rPr lang="en-CA" dirty="0"/>
              <a:t> ≤ </a:t>
            </a:r>
            <a:r>
              <a:rPr lang="en-US" dirty="0"/>
              <a:t>75.00 </a:t>
            </a:r>
            <a:r>
              <a:rPr lang="en-CA" dirty="0"/>
              <a:t>	</a:t>
            </a:r>
            <a:r>
              <a:rPr lang="en-US" b="1" i="1" dirty="0"/>
              <a:t> </a:t>
            </a:r>
            <a:endParaRPr lang="en-CA" dirty="0"/>
          </a:p>
          <a:p>
            <a:r>
              <a:rPr lang="en-US" b="1" i="1" dirty="0"/>
              <a:t>H</a:t>
            </a:r>
            <a:r>
              <a:rPr lang="en-US" b="1" i="1" baseline="-25000" dirty="0"/>
              <a:t>1</a:t>
            </a:r>
            <a:r>
              <a:rPr lang="en-US" b="1" dirty="0"/>
              <a:t>: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l-GR" i="1" dirty="0"/>
              <a:t>μ</a:t>
            </a:r>
            <a:r>
              <a:rPr lang="en-CA" dirty="0"/>
              <a:t> &gt; </a:t>
            </a:r>
            <a:r>
              <a:rPr lang="en-US" dirty="0"/>
              <a:t>75.00</a:t>
            </a:r>
            <a:endParaRPr lang="en-CA" dirty="0"/>
          </a:p>
          <a:p>
            <a:pPr lvl="1"/>
            <a:r>
              <a:rPr lang="en-CA" dirty="0"/>
              <a:t>Thus, one-tailed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Step 2: </a:t>
            </a:r>
            <a:endParaRPr lang="en-US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Type of Research Design</a:t>
            </a:r>
            <a:r>
              <a:rPr lang="en-US" sz="1200" dirty="0"/>
              <a:t>: Single-Sample Design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Model of Hypothesis Testing</a:t>
            </a:r>
            <a:r>
              <a:rPr lang="en-US" sz="1200" dirty="0"/>
              <a:t>: Random Sampling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Nature of Data (Scales of measurement)</a:t>
            </a:r>
            <a:r>
              <a:rPr lang="en-US" sz="1200" dirty="0"/>
              <a:t>: Score data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Statistic Being Analyzed</a:t>
            </a:r>
            <a:r>
              <a:rPr lang="en-US" sz="1200" dirty="0"/>
              <a:t>: </a:t>
            </a:r>
            <a:r>
              <a:rPr lang="en-CA" sz="1200" dirty="0"/>
              <a:t>x̅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Information about the Population</a:t>
            </a:r>
            <a:r>
              <a:rPr lang="en-US" sz="1200" dirty="0"/>
              <a:t>: </a:t>
            </a:r>
            <a:r>
              <a:rPr lang="el-GR" sz="1200" dirty="0"/>
              <a:t>μ</a:t>
            </a:r>
            <a:r>
              <a:rPr lang="en-US" sz="1200" dirty="0"/>
              <a:t> = 75.00, </a:t>
            </a:r>
            <a:r>
              <a:rPr lang="en-US" sz="1200" dirty="0" err="1"/>
              <a:t>σ</a:t>
            </a:r>
            <a:r>
              <a:rPr lang="en-US" sz="1200" dirty="0"/>
              <a:t> = unknown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Sample Size</a:t>
            </a:r>
            <a:r>
              <a:rPr lang="en-US" sz="1200" dirty="0"/>
              <a:t>: </a:t>
            </a:r>
            <a:r>
              <a:rPr lang="en-US" sz="1200" i="1" dirty="0"/>
              <a:t>n</a:t>
            </a:r>
            <a:r>
              <a:rPr lang="en-US" sz="1200" dirty="0"/>
              <a:t> = 25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Shape</a:t>
            </a:r>
            <a:r>
              <a:rPr lang="en-US" sz="1200" dirty="0"/>
              <a:t>: Normally distributed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Step 3:</a:t>
            </a:r>
          </a:p>
          <a:p>
            <a:r>
              <a:rPr lang="en-CA" i="1" dirty="0"/>
              <a:t>p(</a:t>
            </a:r>
            <a:r>
              <a:rPr lang="el-GR" i="1" dirty="0"/>
              <a:t>α</a:t>
            </a:r>
            <a:r>
              <a:rPr lang="en-CA" i="1" dirty="0"/>
              <a:t>) </a:t>
            </a:r>
            <a:r>
              <a:rPr lang="en-CA" dirty="0"/>
              <a:t>= .05, </a:t>
            </a:r>
            <a:r>
              <a:rPr lang="en-CA" i="1" dirty="0"/>
              <a:t>t(crit)</a:t>
            </a:r>
            <a:r>
              <a:rPr lang="en-CA" dirty="0"/>
              <a:t> = 1.7109</a:t>
            </a:r>
            <a:endParaRPr lang="en-US" dirty="0"/>
          </a:p>
          <a:p>
            <a:pPr marL="0" indent="0">
              <a:buNone/>
            </a:pPr>
            <a:endParaRPr lang="en-CA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57E5963-7839-7426-222B-CAF126D94A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633816"/>
                <a:ext cx="5257800" cy="62714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dirty="0"/>
                  <a:t>Step 4:</a:t>
                </a:r>
              </a:p>
              <a:p>
                <a:r>
                  <a:rPr lang="en-US" i="1" dirty="0"/>
                  <a:t>t</a:t>
                </a:r>
                <a:r>
                  <a:rPr lang="en-US" dirty="0"/>
                  <a:t>(</a:t>
                </a:r>
                <a:r>
                  <a:rPr lang="en-US" dirty="0" err="1"/>
                  <a:t>obs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83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0000</m:t>
                        </m:r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0000</m:t>
                        </m:r>
                      </m:num>
                      <m:den>
                        <m:r>
                          <m:rPr>
                            <m:nor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3.00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</m:oMath>
                </a14:m>
                <a:r>
                  <a:rPr lang="en-US" dirty="0"/>
                  <a:t>  = 2.6667</a:t>
                </a:r>
              </a:p>
              <a:p>
                <a:r>
                  <a:rPr lang="en-US" i="1" dirty="0"/>
                  <a:t>p</a:t>
                </a:r>
                <a:r>
                  <a:rPr lang="en-US" dirty="0"/>
                  <a:t>(</a:t>
                </a:r>
                <a:r>
                  <a:rPr lang="en-US" i="1" dirty="0" err="1"/>
                  <a:t>obs</a:t>
                </a:r>
                <a:r>
                  <a:rPr lang="en-US" dirty="0"/>
                  <a:t>) &lt; .01</a:t>
                </a:r>
                <a:endParaRPr lang="en-US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CA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57E5963-7839-7426-222B-CAF126D94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33816"/>
                <a:ext cx="5257800" cy="6271404"/>
              </a:xfrm>
              <a:prstGeom prst="rect">
                <a:avLst/>
              </a:prstGeom>
              <a:blipFill>
                <a:blip r:embed="rId2"/>
                <a:stretch>
                  <a:fillRect l="-2317" t="-16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3065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66C81-C7DB-7F4D-9FD6-22D25007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5: Make Statistical Decision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381D9-1BF6-1646-B2E2-AF1DBEBE6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Researchers want to help patients recover faster after surgery. They introduce an Early Mobilization Protocol, encouraging patients to get out of bed and start walking within a day of surgery instead of waiting several days. They ask whether this increases patients' 6-week mobility scores compared to the expected average (</a:t>
            </a:r>
            <a:r>
              <a:rPr lang="en-US" sz="1600" i="1" dirty="0"/>
              <a:t>μ</a:t>
            </a:r>
            <a:r>
              <a:rPr lang="en-US" sz="1600" dirty="0"/>
              <a:t> = 75.00). With twenty-five patients following the new protocol, mobility scores had a mean of </a:t>
            </a:r>
            <a:r>
              <a:rPr lang="en-US" sz="1600" i="1" dirty="0"/>
              <a:t>x</a:t>
            </a:r>
            <a:r>
              <a:rPr lang="en-US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̅</a:t>
            </a:r>
            <a:r>
              <a:rPr lang="en-US" sz="1600" dirty="0"/>
              <a:t> = 83.00 and a sum of squares of 5400.00. Did the new protocol increase patients' recovery scores?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36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CA" sz="3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CA" sz="3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obs</a:t>
            </a:r>
            <a:r>
              <a:rPr lang="en-CA" sz="3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3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= 2.6667		</a:t>
            </a:r>
            <a:r>
              <a:rPr lang="en-US" sz="3600" i="1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(crit) = +</a:t>
            </a:r>
            <a:r>
              <a:rPr lang="en-US" sz="3600" dirty="0"/>
              <a:t>1.7109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3600" i="1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obs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) &lt; .01			</a:t>
            </a:r>
            <a:r>
              <a:rPr lang="en-CA" sz="3600" i="1" dirty="0"/>
              <a:t> p(</a:t>
            </a:r>
            <a:r>
              <a:rPr lang="el-GR" sz="3600" i="1" dirty="0"/>
              <a:t>α</a:t>
            </a:r>
            <a:r>
              <a:rPr lang="en-CA" sz="3600" i="1" dirty="0"/>
              <a:t>) </a:t>
            </a:r>
            <a:r>
              <a:rPr lang="en-CA" sz="3600" dirty="0"/>
              <a:t>= .05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51677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66C81-C7DB-7F4D-9FD6-22D25007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5: Make Statistical Decision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381D9-1BF6-1646-B2E2-AF1DBEBE6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Researchers want to help patients recover faster after surgery. They introduce an Early Mobilization Protocol, encouraging patients to get out of bed and start walking within a day of surgery instead of waiting several days. They ask whether this increases patients' 6-week mobility scores compared to the expected average (</a:t>
            </a:r>
            <a:r>
              <a:rPr lang="en-US" sz="1600" i="1" dirty="0"/>
              <a:t>μ</a:t>
            </a:r>
            <a:r>
              <a:rPr lang="en-US" sz="1600" dirty="0"/>
              <a:t> = 75.00). With twenty-five patients following the new protocol, mobility scores had a mean of </a:t>
            </a:r>
            <a:r>
              <a:rPr lang="en-US" sz="1600" i="1" dirty="0"/>
              <a:t>x</a:t>
            </a:r>
            <a:r>
              <a:rPr lang="en-US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̅</a:t>
            </a:r>
            <a:r>
              <a:rPr lang="en-US" sz="1600" dirty="0"/>
              <a:t> = 83.00 and a sum of squares of 5400.00. Did the new protocol increase patients' recovery scores?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36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CA" sz="3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CA" sz="36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obs</a:t>
            </a:r>
            <a:r>
              <a:rPr lang="en-CA" sz="3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sz="3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= 2.6667	&gt; 	</a:t>
            </a:r>
            <a:r>
              <a:rPr lang="en-US" sz="3600" i="1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(crit) = +</a:t>
            </a:r>
            <a:r>
              <a:rPr lang="en-US" sz="3600" dirty="0"/>
              <a:t>1.7109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3600" i="1" dirty="0"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3600" dirty="0" err="1">
                <a:latin typeface="Calibri" panose="020F0502020204030204" pitchFamily="34" charset="0"/>
                <a:cs typeface="Calibri" panose="020F0502020204030204" pitchFamily="34" charset="0"/>
              </a:rPr>
              <a:t>obs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) &lt; .01		&lt;	</a:t>
            </a:r>
            <a:r>
              <a:rPr lang="en-CA" sz="3600" i="1" dirty="0"/>
              <a:t> p(</a:t>
            </a:r>
            <a:r>
              <a:rPr lang="el-GR" sz="3600" i="1" dirty="0"/>
              <a:t>α</a:t>
            </a:r>
            <a:r>
              <a:rPr lang="en-CA" sz="3600" i="1" dirty="0"/>
              <a:t>) </a:t>
            </a:r>
            <a:r>
              <a:rPr lang="en-CA" sz="3600" dirty="0"/>
              <a:t>= .05</a:t>
            </a:r>
          </a:p>
          <a:p>
            <a:pPr marL="0" indent="0">
              <a:buNone/>
            </a:pPr>
            <a:endParaRPr lang="en-CA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CA" dirty="0">
                <a:latin typeface="Calibri" panose="020F0502020204030204" pitchFamily="34" charset="0"/>
                <a:cs typeface="Calibri" panose="020F0502020204030204" pitchFamily="34" charset="0"/>
              </a:rPr>
              <a:t>Reject the null hypothesis, accept the alternative hypothesis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845978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FB61F-B19E-28AC-2F9D-0766238F0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7CBD2-6CB3-D414-DA14-6FE2E14C4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6596"/>
            <a:ext cx="5257800" cy="6271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1:</a:t>
            </a:r>
          </a:p>
          <a:p>
            <a:r>
              <a:rPr lang="en-US" b="1" i="1" dirty="0"/>
              <a:t>H</a:t>
            </a:r>
            <a:r>
              <a:rPr lang="en-US" b="1" i="1" baseline="-25000" dirty="0"/>
              <a:t>0</a:t>
            </a:r>
            <a:r>
              <a:rPr lang="en-US" b="1" dirty="0"/>
              <a:t>: </a:t>
            </a:r>
            <a:r>
              <a:rPr lang="el-GR" i="1" dirty="0"/>
              <a:t>μ</a:t>
            </a:r>
            <a:r>
              <a:rPr lang="en-CA" dirty="0"/>
              <a:t> ≤ </a:t>
            </a:r>
            <a:r>
              <a:rPr lang="en-US" dirty="0"/>
              <a:t>75.00 </a:t>
            </a:r>
            <a:r>
              <a:rPr lang="en-CA" dirty="0"/>
              <a:t>	</a:t>
            </a:r>
            <a:r>
              <a:rPr lang="en-US" b="1" i="1" dirty="0"/>
              <a:t> </a:t>
            </a:r>
            <a:endParaRPr lang="en-CA" dirty="0"/>
          </a:p>
          <a:p>
            <a:r>
              <a:rPr lang="en-US" b="1" i="1" dirty="0"/>
              <a:t>H</a:t>
            </a:r>
            <a:r>
              <a:rPr lang="en-US" b="1" i="1" baseline="-25000" dirty="0"/>
              <a:t>1</a:t>
            </a:r>
            <a:r>
              <a:rPr lang="en-US" b="1" dirty="0"/>
              <a:t>: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l-GR" i="1" dirty="0"/>
              <a:t>μ</a:t>
            </a:r>
            <a:r>
              <a:rPr lang="en-CA" dirty="0"/>
              <a:t> &gt; </a:t>
            </a:r>
            <a:r>
              <a:rPr lang="en-US" dirty="0"/>
              <a:t>75.00</a:t>
            </a:r>
            <a:endParaRPr lang="en-CA" dirty="0"/>
          </a:p>
          <a:p>
            <a:pPr lvl="1"/>
            <a:r>
              <a:rPr lang="en-CA" dirty="0"/>
              <a:t>Thus, one-tailed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Step 2: </a:t>
            </a:r>
            <a:endParaRPr lang="en-US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Type of Research Design</a:t>
            </a:r>
            <a:r>
              <a:rPr lang="en-US" sz="1200" dirty="0"/>
              <a:t>: Single-Sample Design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Model of Hypothesis Testing</a:t>
            </a:r>
            <a:r>
              <a:rPr lang="en-US" sz="1200" dirty="0"/>
              <a:t>: Random Sampling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Nature of Data (Scales of measurement)</a:t>
            </a:r>
            <a:r>
              <a:rPr lang="en-US" sz="1200" dirty="0"/>
              <a:t>: Score data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Statistic Being Analyzed</a:t>
            </a:r>
            <a:r>
              <a:rPr lang="en-US" sz="1200" dirty="0"/>
              <a:t>: </a:t>
            </a:r>
            <a:r>
              <a:rPr lang="en-CA" sz="1200" dirty="0"/>
              <a:t>x̅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Information about the Population</a:t>
            </a:r>
            <a:r>
              <a:rPr lang="en-US" sz="1200" dirty="0"/>
              <a:t>: </a:t>
            </a:r>
            <a:r>
              <a:rPr lang="el-GR" sz="1200" dirty="0"/>
              <a:t>μ</a:t>
            </a:r>
            <a:r>
              <a:rPr lang="en-US" sz="1200" dirty="0"/>
              <a:t> = 75.00, </a:t>
            </a:r>
            <a:r>
              <a:rPr lang="en-US" sz="1200" dirty="0" err="1"/>
              <a:t>σ</a:t>
            </a:r>
            <a:r>
              <a:rPr lang="en-US" sz="1200" dirty="0"/>
              <a:t> = unknown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Sample Size</a:t>
            </a:r>
            <a:r>
              <a:rPr lang="en-US" sz="1200" dirty="0"/>
              <a:t>: </a:t>
            </a:r>
            <a:r>
              <a:rPr lang="en-US" sz="1200" i="1" dirty="0"/>
              <a:t>n</a:t>
            </a:r>
            <a:r>
              <a:rPr lang="en-US" sz="1200" dirty="0"/>
              <a:t> = 25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Shape</a:t>
            </a:r>
            <a:r>
              <a:rPr lang="en-US" sz="1200" dirty="0"/>
              <a:t>: Normally distributed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Step 3:</a:t>
            </a:r>
          </a:p>
          <a:p>
            <a:r>
              <a:rPr lang="en-CA" i="1" dirty="0"/>
              <a:t>p(</a:t>
            </a:r>
            <a:r>
              <a:rPr lang="el-GR" i="1" dirty="0"/>
              <a:t>α</a:t>
            </a:r>
            <a:r>
              <a:rPr lang="en-CA" i="1" dirty="0"/>
              <a:t>) </a:t>
            </a:r>
            <a:r>
              <a:rPr lang="en-CA" dirty="0"/>
              <a:t>= .05, </a:t>
            </a:r>
            <a:r>
              <a:rPr lang="en-CA" i="1" dirty="0"/>
              <a:t>t(crit)</a:t>
            </a:r>
            <a:r>
              <a:rPr lang="en-CA" dirty="0"/>
              <a:t> = 1.7109</a:t>
            </a:r>
            <a:endParaRPr lang="en-US" dirty="0"/>
          </a:p>
          <a:p>
            <a:pPr marL="0" indent="0">
              <a:buNone/>
            </a:pPr>
            <a:endParaRPr lang="en-CA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C472990-3A82-99EC-4DDE-E0433CD192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633816"/>
                <a:ext cx="5257800" cy="62714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dirty="0"/>
                  <a:t>Step 4:</a:t>
                </a:r>
              </a:p>
              <a:p>
                <a:r>
                  <a:rPr lang="en-US" i="1" dirty="0"/>
                  <a:t>t</a:t>
                </a:r>
                <a:r>
                  <a:rPr lang="en-US" dirty="0"/>
                  <a:t>(</a:t>
                </a:r>
                <a:r>
                  <a:rPr lang="en-US" dirty="0" err="1"/>
                  <a:t>obs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83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0000</m:t>
                        </m:r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0000</m:t>
                        </m:r>
                      </m:num>
                      <m:den>
                        <m:r>
                          <m:rPr>
                            <m:nor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3.00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</m:oMath>
                </a14:m>
                <a:r>
                  <a:rPr lang="en-US" dirty="0"/>
                  <a:t>  = 2.6667</a:t>
                </a:r>
              </a:p>
              <a:p>
                <a:r>
                  <a:rPr lang="en-US" i="1" dirty="0"/>
                  <a:t>p</a:t>
                </a:r>
                <a:r>
                  <a:rPr lang="en-US" dirty="0"/>
                  <a:t>(</a:t>
                </a:r>
                <a:r>
                  <a:rPr lang="en-US" i="1" dirty="0" err="1"/>
                  <a:t>obs</a:t>
                </a:r>
                <a:r>
                  <a:rPr lang="en-US" dirty="0"/>
                  <a:t>) &lt; .01</a:t>
                </a:r>
                <a:endParaRPr lang="en-US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CA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CA" b="1" dirty="0"/>
                  <a:t>Step 5: </a:t>
                </a:r>
                <a:endParaRPr lang="en-US" b="1" dirty="0"/>
              </a:p>
              <a:p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CA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2.6667 &gt; </a:t>
                </a:r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(crit) = </a:t>
                </a:r>
                <a:r>
                  <a:rPr lang="en-CA" sz="2000" dirty="0"/>
                  <a:t>1.7109</a:t>
                </a:r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 &lt; .01 &lt;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CA" sz="2000" i="1" dirty="0"/>
                  <a:t>p(</a:t>
                </a:r>
                <a:r>
                  <a:rPr lang="el-GR" sz="2000" i="1" dirty="0"/>
                  <a:t>α</a:t>
                </a:r>
                <a:r>
                  <a:rPr lang="en-CA" sz="2000" i="1" dirty="0"/>
                  <a:t>) </a:t>
                </a:r>
                <a:r>
                  <a:rPr lang="en-CA" sz="2000" dirty="0"/>
                  <a:t>= .05</a:t>
                </a:r>
              </a:p>
              <a:p>
                <a:pPr lvl="1"/>
                <a:r>
                  <a:rPr lang="en-CA" sz="1600" dirty="0"/>
                  <a:t>Reject the null, accept the alternative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C472990-3A82-99EC-4DDE-E0433CD19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33816"/>
                <a:ext cx="5257800" cy="6271404"/>
              </a:xfrm>
              <a:prstGeom prst="rect">
                <a:avLst/>
              </a:prstGeom>
              <a:blipFill>
                <a:blip r:embed="rId2"/>
                <a:stretch>
                  <a:fillRect l="-2317" t="-16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34535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66C81-C7DB-7F4D-9FD6-22D25007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6: Interpret your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381D9-1BF6-1646-B2E2-AF1DBEBE6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901763" cy="5032375"/>
          </a:xfrm>
        </p:spPr>
        <p:txBody>
          <a:bodyPr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3200" dirty="0"/>
              <a:t>The Early Mobilization Protocol group’s mobility scores (</a:t>
            </a:r>
            <a:r>
              <a:rPr lang="en-CA" sz="3200" i="1" dirty="0"/>
              <a:t>x̅ </a:t>
            </a:r>
            <a:r>
              <a:rPr lang="en-CA" sz="3200" dirty="0"/>
              <a:t>= 83.00, </a:t>
            </a:r>
            <a:r>
              <a:rPr lang="en-CA" sz="3200" i="1" dirty="0"/>
              <a:t>s</a:t>
            </a:r>
            <a:r>
              <a:rPr lang="en-CA" sz="3200" dirty="0"/>
              <a:t> = 15.00, </a:t>
            </a:r>
            <a:r>
              <a:rPr lang="en-CA" sz="3200" i="1" dirty="0"/>
              <a:t>n</a:t>
            </a:r>
            <a:r>
              <a:rPr lang="en-CA" sz="3200" dirty="0"/>
              <a:t> = 25</a:t>
            </a:r>
            <a:r>
              <a:rPr lang="en-US" sz="3200" dirty="0"/>
              <a:t>) were statistically higher than the population average without this </a:t>
            </a:r>
            <a:r>
              <a:rPr lang="en-US" sz="3200"/>
              <a:t>protocol (</a:t>
            </a:r>
            <a:r>
              <a:rPr lang="el-GR" sz="3200" dirty="0"/>
              <a:t>μ</a:t>
            </a:r>
            <a:r>
              <a:rPr lang="en-CA" sz="3200" dirty="0"/>
              <a:t> = 75.00</a:t>
            </a:r>
            <a:r>
              <a:rPr lang="en-US" sz="3200" dirty="0"/>
              <a:t>), </a:t>
            </a:r>
            <a:r>
              <a:rPr lang="en-US" sz="3200" i="1" dirty="0"/>
              <a:t>t</a:t>
            </a:r>
            <a:r>
              <a:rPr lang="en-US" sz="3200" dirty="0"/>
              <a:t>(24)= 2.67, </a:t>
            </a:r>
            <a:r>
              <a:rPr lang="en-US" sz="3200" i="1" dirty="0"/>
              <a:t>p</a:t>
            </a:r>
            <a:r>
              <a:rPr lang="en-US" sz="3200" dirty="0"/>
              <a:t> &lt; .01. The Early Mobilization Protocol increased their mobility scores during recovery.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1667C2-F5A2-5C82-D4C7-B9D43A4D0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20" r="20921"/>
          <a:stretch>
            <a:fillRect/>
          </a:stretch>
        </p:blipFill>
        <p:spPr>
          <a:xfrm>
            <a:off x="8897272" y="694661"/>
            <a:ext cx="2810671" cy="30255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38A412-D916-31D4-5677-D444A7EF6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997" y="3962400"/>
            <a:ext cx="3380481" cy="281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4141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115E2-4FE8-2E4C-A37A-70FF38E79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6596"/>
            <a:ext cx="5257800" cy="6271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1:</a:t>
            </a:r>
          </a:p>
          <a:p>
            <a:r>
              <a:rPr lang="en-US" b="1" i="1" dirty="0"/>
              <a:t>H</a:t>
            </a:r>
            <a:r>
              <a:rPr lang="en-US" b="1" i="1" baseline="-25000" dirty="0"/>
              <a:t>0</a:t>
            </a:r>
            <a:r>
              <a:rPr lang="en-US" b="1" dirty="0"/>
              <a:t>: </a:t>
            </a:r>
            <a:r>
              <a:rPr lang="el-GR" i="1" dirty="0"/>
              <a:t>μ</a:t>
            </a:r>
            <a:r>
              <a:rPr lang="en-CA" dirty="0"/>
              <a:t> ≤ </a:t>
            </a:r>
            <a:r>
              <a:rPr lang="en-US" dirty="0"/>
              <a:t>75.00 </a:t>
            </a:r>
            <a:r>
              <a:rPr lang="en-CA" dirty="0"/>
              <a:t>	</a:t>
            </a:r>
            <a:r>
              <a:rPr lang="en-US" b="1" i="1" dirty="0"/>
              <a:t> </a:t>
            </a:r>
            <a:endParaRPr lang="en-CA" dirty="0"/>
          </a:p>
          <a:p>
            <a:r>
              <a:rPr lang="en-US" b="1" i="1" dirty="0"/>
              <a:t>H</a:t>
            </a:r>
            <a:r>
              <a:rPr lang="en-US" b="1" i="1" baseline="-25000" dirty="0"/>
              <a:t>1</a:t>
            </a:r>
            <a:r>
              <a:rPr lang="en-US" b="1" dirty="0"/>
              <a:t>: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l-GR" i="1" dirty="0"/>
              <a:t>μ</a:t>
            </a:r>
            <a:r>
              <a:rPr lang="en-CA" dirty="0"/>
              <a:t> &gt; </a:t>
            </a:r>
            <a:r>
              <a:rPr lang="en-US" dirty="0"/>
              <a:t>75.00</a:t>
            </a:r>
            <a:endParaRPr lang="en-CA" dirty="0"/>
          </a:p>
          <a:p>
            <a:pPr lvl="1"/>
            <a:r>
              <a:rPr lang="en-CA" dirty="0"/>
              <a:t>Thus, one-tailed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Step 2: </a:t>
            </a:r>
            <a:endParaRPr lang="en-US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Type of Research Design</a:t>
            </a:r>
            <a:r>
              <a:rPr lang="en-US" sz="1200" dirty="0"/>
              <a:t>: Single-Sample Design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Model of Hypothesis Testing</a:t>
            </a:r>
            <a:r>
              <a:rPr lang="en-US" sz="1200" dirty="0"/>
              <a:t>: Random Sampling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Nature of Data (Scales of measurement)</a:t>
            </a:r>
            <a:r>
              <a:rPr lang="en-US" sz="1200" dirty="0"/>
              <a:t>: Score data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Statistic Being Analyzed</a:t>
            </a:r>
            <a:r>
              <a:rPr lang="en-US" sz="1200" dirty="0"/>
              <a:t>: </a:t>
            </a:r>
            <a:r>
              <a:rPr lang="en-CA" sz="1200" dirty="0"/>
              <a:t>x̅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Information about the Population</a:t>
            </a:r>
            <a:r>
              <a:rPr lang="en-US" sz="1200" dirty="0"/>
              <a:t>: </a:t>
            </a:r>
            <a:r>
              <a:rPr lang="el-GR" sz="1200" dirty="0"/>
              <a:t>μ</a:t>
            </a:r>
            <a:r>
              <a:rPr lang="en-US" sz="1200" dirty="0"/>
              <a:t> = 75.00, </a:t>
            </a:r>
            <a:r>
              <a:rPr lang="en-US" sz="1200" dirty="0" err="1"/>
              <a:t>σ</a:t>
            </a:r>
            <a:r>
              <a:rPr lang="en-US" sz="1200" dirty="0"/>
              <a:t> = unknown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Sample Size</a:t>
            </a:r>
            <a:r>
              <a:rPr lang="en-US" sz="1200" dirty="0"/>
              <a:t>: </a:t>
            </a:r>
            <a:r>
              <a:rPr lang="en-US" sz="1200" i="1" dirty="0"/>
              <a:t>n</a:t>
            </a:r>
            <a:r>
              <a:rPr lang="en-US" sz="1200" dirty="0"/>
              <a:t> = 25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Shape</a:t>
            </a:r>
            <a:r>
              <a:rPr lang="en-US" sz="1200" dirty="0"/>
              <a:t>: Normally distributed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Step 3:</a:t>
            </a:r>
          </a:p>
          <a:p>
            <a:r>
              <a:rPr lang="en-CA" i="1" dirty="0"/>
              <a:t>p(</a:t>
            </a:r>
            <a:r>
              <a:rPr lang="el-GR" i="1" dirty="0"/>
              <a:t>α</a:t>
            </a:r>
            <a:r>
              <a:rPr lang="en-CA" i="1" dirty="0"/>
              <a:t>) </a:t>
            </a:r>
            <a:r>
              <a:rPr lang="en-CA" dirty="0"/>
              <a:t>= .05, </a:t>
            </a:r>
            <a:r>
              <a:rPr lang="en-CA" i="1" dirty="0"/>
              <a:t>t(crit)</a:t>
            </a:r>
            <a:r>
              <a:rPr lang="en-CA" dirty="0"/>
              <a:t> = 1.7109</a:t>
            </a:r>
            <a:endParaRPr lang="en-US" dirty="0"/>
          </a:p>
          <a:p>
            <a:pPr marL="0" indent="0">
              <a:buNone/>
            </a:pPr>
            <a:endParaRPr lang="en-CA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74432C5-7DF4-5F4D-A83A-EE45D530B8E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633816"/>
                <a:ext cx="5257800" cy="62714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dirty="0"/>
                  <a:t>Step 4:</a:t>
                </a:r>
              </a:p>
              <a:p>
                <a:r>
                  <a:rPr lang="en-US" i="1" dirty="0"/>
                  <a:t>t</a:t>
                </a:r>
                <a:r>
                  <a:rPr lang="en-US" dirty="0"/>
                  <a:t>(</a:t>
                </a:r>
                <a:r>
                  <a:rPr lang="en-US" dirty="0" err="1"/>
                  <a:t>obs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83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0000</m:t>
                        </m:r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0000</m:t>
                        </m:r>
                      </m:num>
                      <m:den>
                        <m:r>
                          <m:rPr>
                            <m:nor/>
                          </m:rPr>
                          <a:rPr lang="en-CA" sz="2000" b="0" i="0" smtClean="0">
                            <a:latin typeface="Cambria Math" panose="02040503050406030204" pitchFamily="18" charset="0"/>
                          </a:rPr>
                          <m:t>3.00</m:t>
                        </m:r>
                        <m:r>
                          <m:rPr>
                            <m:nor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</m:oMath>
                </a14:m>
                <a:r>
                  <a:rPr lang="en-US" dirty="0"/>
                  <a:t>  = 2.6667</a:t>
                </a:r>
              </a:p>
              <a:p>
                <a:r>
                  <a:rPr lang="en-US" i="1" dirty="0"/>
                  <a:t>p</a:t>
                </a:r>
                <a:r>
                  <a:rPr lang="en-US" dirty="0"/>
                  <a:t>(</a:t>
                </a:r>
                <a:r>
                  <a:rPr lang="en-US" i="1" dirty="0" err="1"/>
                  <a:t>obs</a:t>
                </a:r>
                <a:r>
                  <a:rPr lang="en-US" dirty="0"/>
                  <a:t>) &lt; .01</a:t>
                </a:r>
                <a:endParaRPr lang="en-US" i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CA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CA" b="1" dirty="0"/>
                  <a:t>Step 5: </a:t>
                </a:r>
                <a:endParaRPr lang="en-US" b="1" dirty="0"/>
              </a:p>
              <a:p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CA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= 2.6667 &gt; </a:t>
                </a:r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(crit) = </a:t>
                </a:r>
                <a:r>
                  <a:rPr lang="en-CA" sz="2000" dirty="0"/>
                  <a:t>1.7109</a:t>
                </a:r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20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US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 &lt; .01 &lt;</a:t>
                </a:r>
                <a:r>
                  <a:rPr lang="en-CA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CA" sz="2000" i="1" dirty="0"/>
                  <a:t>p(</a:t>
                </a:r>
                <a:r>
                  <a:rPr lang="el-GR" sz="2000" i="1" dirty="0"/>
                  <a:t>α</a:t>
                </a:r>
                <a:r>
                  <a:rPr lang="en-CA" sz="2000" i="1" dirty="0"/>
                  <a:t>) </a:t>
                </a:r>
                <a:r>
                  <a:rPr lang="en-CA" sz="2000" dirty="0"/>
                  <a:t>= .05</a:t>
                </a:r>
              </a:p>
              <a:p>
                <a:pPr lvl="1"/>
                <a:r>
                  <a:rPr lang="en-CA" sz="1600" dirty="0"/>
                  <a:t>Reject the null, accept the alternative</a:t>
                </a:r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lnSpc>
                    <a:spcPct val="100000"/>
                  </a:lnSpc>
                  <a:buFont typeface="Arial" panose="020B0604020202020204" pitchFamily="34" charset="0"/>
                  <a:buNone/>
                </a:pPr>
                <a:r>
                  <a:rPr lang="en-US" b="1" dirty="0"/>
                  <a:t>Step 6: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en-US" sz="2000" dirty="0"/>
                  <a:t>The Early Mobilization Protocol group’s mobility scores (</a:t>
                </a:r>
                <a:r>
                  <a:rPr lang="en-CA" sz="2000" i="1" dirty="0"/>
                  <a:t>x̅ </a:t>
                </a:r>
                <a:r>
                  <a:rPr lang="en-CA" sz="2000" dirty="0"/>
                  <a:t>= 83.00, </a:t>
                </a:r>
                <a:r>
                  <a:rPr lang="en-CA" sz="2000" i="1" dirty="0"/>
                  <a:t>s</a:t>
                </a:r>
                <a:r>
                  <a:rPr lang="en-CA" sz="2000" dirty="0"/>
                  <a:t> = 15.00, </a:t>
                </a:r>
                <a:r>
                  <a:rPr lang="en-CA" sz="2000" i="1" dirty="0"/>
                  <a:t>n</a:t>
                </a:r>
                <a:r>
                  <a:rPr lang="en-CA" sz="2000" dirty="0"/>
                  <a:t> = 25</a:t>
                </a:r>
                <a:r>
                  <a:rPr lang="en-US" sz="2000" dirty="0"/>
                  <a:t>) were statistically higher than the population average without this protocol (</a:t>
                </a:r>
                <a:r>
                  <a:rPr lang="el-GR" sz="2000" dirty="0"/>
                  <a:t>μ</a:t>
                </a:r>
                <a:r>
                  <a:rPr lang="en-CA" sz="2000" dirty="0"/>
                  <a:t> = 75.00</a:t>
                </a:r>
                <a:r>
                  <a:rPr lang="en-US" sz="2000" dirty="0"/>
                  <a:t>), </a:t>
                </a:r>
                <a:r>
                  <a:rPr lang="en-US" sz="2000" i="1" dirty="0"/>
                  <a:t>t</a:t>
                </a:r>
                <a:r>
                  <a:rPr lang="en-US" sz="2000" dirty="0"/>
                  <a:t>(24)= 2.67, </a:t>
                </a:r>
                <a:r>
                  <a:rPr lang="en-US" sz="2000" i="1" dirty="0"/>
                  <a:t>p</a:t>
                </a:r>
                <a:r>
                  <a:rPr lang="en-US" sz="2000" dirty="0"/>
                  <a:t> &lt; .01. The Early Mobilization Protocol increased their mobility scores during recovery.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CA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74432C5-7DF4-5F4D-A83A-EE45D530B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33816"/>
                <a:ext cx="5257800" cy="6271404"/>
              </a:xfrm>
              <a:prstGeom prst="rect">
                <a:avLst/>
              </a:prstGeom>
              <a:blipFill>
                <a:blip r:embed="rId2"/>
                <a:stretch>
                  <a:fillRect l="-2317" t="-2235" r="-1738" b="-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66523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33129-C00B-120B-3925-17A6B35FB5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Extra Resources</a:t>
            </a:r>
          </a:p>
        </p:txBody>
      </p:sp>
    </p:spTree>
    <p:extLst>
      <p:ext uri="{BB962C8B-B14F-4D97-AF65-F5344CB8AC3E}">
        <p14:creationId xmlns:p14="http://schemas.microsoft.com/office/powerpoint/2010/main" val="5168810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B1DE6A-A1C4-1AC2-241E-AEDA59061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153" y="1283328"/>
            <a:ext cx="9653693" cy="54775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17E15C-0FDA-F478-4D2A-BC2551672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Stats Problem Generator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658D26-FC6D-D0BD-EFC9-C15EB07930C9}"/>
              </a:ext>
            </a:extLst>
          </p:cNvPr>
          <p:cNvSpPr txBox="1"/>
          <p:nvPr/>
        </p:nvSpPr>
        <p:spPr>
          <a:xfrm>
            <a:off x="6354792" y="63915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https://chadcwilliams.shinyapps.io/StatsProblemGenerator/</a:t>
            </a:r>
          </a:p>
        </p:txBody>
      </p:sp>
    </p:spTree>
    <p:extLst>
      <p:ext uri="{BB962C8B-B14F-4D97-AF65-F5344CB8AC3E}">
        <p14:creationId xmlns:p14="http://schemas.microsoft.com/office/powerpoint/2010/main" val="16191136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E08B6-FA1C-69B2-DAB9-1E7CFEE8D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Resources</a:t>
            </a:r>
          </a:p>
        </p:txBody>
      </p:sp>
      <p:pic>
        <p:nvPicPr>
          <p:cNvPr id="5" name="Picture 4" descr="A screenshot of a test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80888A6A-625B-A5A9-4903-94E8C4AD1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105" y="1813628"/>
            <a:ext cx="8065790" cy="450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13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c61d377-9894-427c-b13b-1d6a51662b4e}" enabled="0" method="" siteId="{9c61d377-9894-427c-b13b-1d6a51662b4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1029</TotalTime>
  <Words>5782</Words>
  <Application>Microsoft Office PowerPoint</Application>
  <PresentationFormat>Widescreen</PresentationFormat>
  <Paragraphs>969</Paragraphs>
  <Slides>64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0" baseType="lpstr">
      <vt:lpstr>Aptos</vt:lpstr>
      <vt:lpstr>Arial</vt:lpstr>
      <vt:lpstr>Calibri</vt:lpstr>
      <vt:lpstr>Calibri Light</vt:lpstr>
      <vt:lpstr>Cambria Math</vt:lpstr>
      <vt:lpstr>Office Theme</vt:lpstr>
      <vt:lpstr>Single Sample  t-Test</vt:lpstr>
      <vt:lpstr>PowerPoint Presentation</vt:lpstr>
      <vt:lpstr>PowerPoint Presentation</vt:lpstr>
      <vt:lpstr>Single Participant vs Single Sample</vt:lpstr>
      <vt:lpstr>Estimating σ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Assumptions of a T-Test</vt:lpstr>
      <vt:lpstr>PowerPoint Presentation</vt:lpstr>
      <vt:lpstr>PowerPoint Presentation</vt:lpstr>
      <vt:lpstr>Step 1 – No Changes </vt:lpstr>
      <vt:lpstr>PowerPoint Presentation</vt:lpstr>
      <vt:lpstr>Step 2 - Changes </vt:lpstr>
      <vt:lpstr>PowerPoint Presentation</vt:lpstr>
      <vt:lpstr>Step 3 - Changes</vt:lpstr>
      <vt:lpstr>Step 3 - Changes</vt:lpstr>
      <vt:lpstr>Step 3 - Changes</vt:lpstr>
      <vt:lpstr>Step 3 - Changes</vt:lpstr>
      <vt:lpstr>Step 3 - Changes</vt:lpstr>
      <vt:lpstr>Step 3 - Changes</vt:lpstr>
      <vt:lpstr>PowerPoint Presentation</vt:lpstr>
      <vt:lpstr>Step 4 - Changes</vt:lpstr>
      <vt:lpstr>Step 4 - Changes</vt:lpstr>
      <vt:lpstr>PowerPoint Presentation</vt:lpstr>
      <vt:lpstr>Step 4 - Changes</vt:lpstr>
      <vt:lpstr>Step 4 - Changes</vt:lpstr>
      <vt:lpstr>Step 4 - Changes</vt:lpstr>
      <vt:lpstr>Step 4 - Changes</vt:lpstr>
      <vt:lpstr>Step 4 - Changes</vt:lpstr>
      <vt:lpstr>Step 4 - Changes</vt:lpstr>
      <vt:lpstr>Step 4 - Changes </vt:lpstr>
      <vt:lpstr>PowerPoint Presentation</vt:lpstr>
      <vt:lpstr>Step 5 - No Changes</vt:lpstr>
      <vt:lpstr>PowerPoint Presentation</vt:lpstr>
      <vt:lpstr>Step 6 - Changes</vt:lpstr>
      <vt:lpstr>PowerPoint Presentation</vt:lpstr>
      <vt:lpstr>PowerPoint Presentation</vt:lpstr>
      <vt:lpstr>PowerPoint Presentation</vt:lpstr>
      <vt:lpstr>Single Sample Example</vt:lpstr>
      <vt:lpstr>Step 1: Define Hypotheses</vt:lpstr>
      <vt:lpstr>PowerPoint Presentation</vt:lpstr>
      <vt:lpstr>Step 2: Select Sampling Distribution</vt:lpstr>
      <vt:lpstr>PowerPoint Presentation</vt:lpstr>
      <vt:lpstr>Step 3: Set a priori Criteria</vt:lpstr>
      <vt:lpstr>PowerPoint Presentation</vt:lpstr>
      <vt:lpstr>Step 4: Compute Statistics</vt:lpstr>
      <vt:lpstr>Step 4: Compute Statistics</vt:lpstr>
      <vt:lpstr>Step 4: Compute Statistics</vt:lpstr>
      <vt:lpstr>Step 4: Compute Statistics</vt:lpstr>
      <vt:lpstr>Step 4: Compute Statistics</vt:lpstr>
      <vt:lpstr>PowerPoint Presentation</vt:lpstr>
      <vt:lpstr>Step 5: Make Statistical Decision</vt:lpstr>
      <vt:lpstr>Step 5: Make Statistical Decision</vt:lpstr>
      <vt:lpstr>PowerPoint Presentation</vt:lpstr>
      <vt:lpstr>Step 6: Interpret your Outcome</vt:lpstr>
      <vt:lpstr>PowerPoint Presentation</vt:lpstr>
      <vt:lpstr>Extra Resources</vt:lpstr>
      <vt:lpstr>Stats Problem Generator</vt:lpstr>
      <vt:lpstr>Extra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Single-Sample  Design</dc:title>
  <dc:creator>Microsoft Office User</dc:creator>
  <cp:lastModifiedBy>Chad Williams</cp:lastModifiedBy>
  <cp:revision>250</cp:revision>
  <dcterms:created xsi:type="dcterms:W3CDTF">2021-06-10T18:06:22Z</dcterms:created>
  <dcterms:modified xsi:type="dcterms:W3CDTF">2026-08-17T19:38:11Z</dcterms:modified>
</cp:coreProperties>
</file>