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323" r:id="rId3"/>
    <p:sldId id="347" r:id="rId4"/>
    <p:sldId id="333" r:id="rId5"/>
    <p:sldId id="334" r:id="rId6"/>
    <p:sldId id="338" r:id="rId7"/>
    <p:sldId id="348" r:id="rId8"/>
    <p:sldId id="335" r:id="rId9"/>
    <p:sldId id="326" r:id="rId10"/>
    <p:sldId id="332" r:id="rId11"/>
    <p:sldId id="336" r:id="rId12"/>
    <p:sldId id="446" r:id="rId13"/>
    <p:sldId id="337" r:id="rId14"/>
    <p:sldId id="346" r:id="rId15"/>
    <p:sldId id="447" r:id="rId16"/>
    <p:sldId id="350" r:id="rId17"/>
    <p:sldId id="325" r:id="rId18"/>
    <p:sldId id="352" r:id="rId19"/>
    <p:sldId id="320" r:id="rId20"/>
    <p:sldId id="444" r:id="rId21"/>
    <p:sldId id="35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FF"/>
    <a:srgbClr val="A65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473157-9536-46C7-8932-A9CF6EC61231}" v="764" dt="2026-07-20T20:33:14.2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8"/>
    <p:restoredTop sz="96327"/>
  </p:normalViewPr>
  <p:slideViewPr>
    <p:cSldViewPr snapToGrid="0" snapToObjects="1">
      <p:cViewPr>
        <p:scale>
          <a:sx n="111" d="100"/>
          <a:sy n="111" d="100"/>
        </p:scale>
        <p:origin x="5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Williams" userId="618f96a3-8672-4e43-ae03-eeed93bb7387" providerId="ADAL" clId="{DFF2BB08-185E-495B-B2A0-BE0942C7B81E}"/>
    <pc:docChg chg="undo custSel addSld delSld modSld sldOrd">
      <pc:chgData name="Chad Williams" userId="618f96a3-8672-4e43-ae03-eeed93bb7387" providerId="ADAL" clId="{DFF2BB08-185E-495B-B2A0-BE0942C7B81E}" dt="2026-07-20T20:33:14.272" v="1176" actId="20577"/>
      <pc:docMkLst>
        <pc:docMk/>
      </pc:docMkLst>
      <pc:sldChg chg="modSp mod">
        <pc:chgData name="Chad Williams" userId="618f96a3-8672-4e43-ae03-eeed93bb7387" providerId="ADAL" clId="{DFF2BB08-185E-495B-B2A0-BE0942C7B81E}" dt="2026-07-20T19:32:53.157" v="38" actId="20577"/>
        <pc:sldMkLst>
          <pc:docMk/>
          <pc:sldMk cId="3639529187" sldId="257"/>
        </pc:sldMkLst>
        <pc:spChg chg="mod">
          <ac:chgData name="Chad Williams" userId="618f96a3-8672-4e43-ae03-eeed93bb7387" providerId="ADAL" clId="{DFF2BB08-185E-495B-B2A0-BE0942C7B81E}" dt="2026-07-20T19:32:53.157" v="38" actId="20577"/>
          <ac:spMkLst>
            <pc:docMk/>
            <pc:sldMk cId="3639529187" sldId="257"/>
            <ac:spMk id="2" creationId="{85904505-984A-784F-B784-AEBB8FD005B0}"/>
          </ac:spMkLst>
        </pc:spChg>
      </pc:sldChg>
      <pc:sldChg chg="addSp delSp modSp add mod modAnim">
        <pc:chgData name="Chad Williams" userId="618f96a3-8672-4e43-ae03-eeed93bb7387" providerId="ADAL" clId="{DFF2BB08-185E-495B-B2A0-BE0942C7B81E}" dt="2026-07-20T20:30:22.917" v="1126" actId="20577"/>
        <pc:sldMkLst>
          <pc:docMk/>
          <pc:sldMk cId="3894352205" sldId="320"/>
        </pc:sldMkLst>
        <pc:spChg chg="mod">
          <ac:chgData name="Chad Williams" userId="618f96a3-8672-4e43-ae03-eeed93bb7387" providerId="ADAL" clId="{DFF2BB08-185E-495B-B2A0-BE0942C7B81E}" dt="2026-07-20T20:20:03.369" v="883"/>
          <ac:spMkLst>
            <pc:docMk/>
            <pc:sldMk cId="3894352205" sldId="320"/>
            <ac:spMk id="2" creationId="{0796AFAE-3446-8340-AD64-6B59838261A1}"/>
          </ac:spMkLst>
        </pc:spChg>
        <pc:spChg chg="mod">
          <ac:chgData name="Chad Williams" userId="618f96a3-8672-4e43-ae03-eeed93bb7387" providerId="ADAL" clId="{DFF2BB08-185E-495B-B2A0-BE0942C7B81E}" dt="2026-07-20T20:30:22.917" v="1126" actId="20577"/>
          <ac:spMkLst>
            <pc:docMk/>
            <pc:sldMk cId="3894352205" sldId="320"/>
            <ac:spMk id="6" creationId="{E2186E47-8D53-C243-BE8B-CDF44B0FDA1A}"/>
          </ac:spMkLst>
        </pc:spChg>
        <pc:spChg chg="mod">
          <ac:chgData name="Chad Williams" userId="618f96a3-8672-4e43-ae03-eeed93bb7387" providerId="ADAL" clId="{DFF2BB08-185E-495B-B2A0-BE0942C7B81E}" dt="2026-07-20T20:25:03.814" v="1039" actId="1037"/>
          <ac:spMkLst>
            <pc:docMk/>
            <pc:sldMk cId="3894352205" sldId="320"/>
            <ac:spMk id="7" creationId="{1CCCBD88-A829-E712-F649-0112FE2DD77E}"/>
          </ac:spMkLst>
        </pc:spChg>
        <pc:spChg chg="mod">
          <ac:chgData name="Chad Williams" userId="618f96a3-8672-4e43-ae03-eeed93bb7387" providerId="ADAL" clId="{DFF2BB08-185E-495B-B2A0-BE0942C7B81E}" dt="2026-07-20T20:24:32.077" v="1013" actId="1076"/>
          <ac:spMkLst>
            <pc:docMk/>
            <pc:sldMk cId="3894352205" sldId="320"/>
            <ac:spMk id="9" creationId="{0C399510-8DC3-9C09-0D81-574C09831F0E}"/>
          </ac:spMkLst>
        </pc:spChg>
        <pc:spChg chg="mod">
          <ac:chgData name="Chad Williams" userId="618f96a3-8672-4e43-ae03-eeed93bb7387" providerId="ADAL" clId="{DFF2BB08-185E-495B-B2A0-BE0942C7B81E}" dt="2026-07-20T20:24:27.522" v="1012" actId="1076"/>
          <ac:spMkLst>
            <pc:docMk/>
            <pc:sldMk cId="3894352205" sldId="320"/>
            <ac:spMk id="12" creationId="{409ED0ED-325B-317D-45B0-308FB4F1EB4E}"/>
          </ac:spMkLst>
        </pc:spChg>
        <pc:spChg chg="add del">
          <ac:chgData name="Chad Williams" userId="618f96a3-8672-4e43-ae03-eeed93bb7387" providerId="ADAL" clId="{DFF2BB08-185E-495B-B2A0-BE0942C7B81E}" dt="2026-07-20T20:27:03.335" v="1054" actId="22"/>
          <ac:spMkLst>
            <pc:docMk/>
            <pc:sldMk cId="3894352205" sldId="320"/>
            <ac:spMk id="21" creationId="{4EA8E8B3-E944-12FC-450C-38749CFCD3E1}"/>
          </ac:spMkLst>
        </pc:spChg>
        <pc:picChg chg="mod">
          <ac:chgData name="Chad Williams" userId="618f96a3-8672-4e43-ae03-eeed93bb7387" providerId="ADAL" clId="{DFF2BB08-185E-495B-B2A0-BE0942C7B81E}" dt="2026-07-20T20:24:14.350" v="1011" actId="1076"/>
          <ac:picMkLst>
            <pc:docMk/>
            <pc:sldMk cId="3894352205" sldId="320"/>
            <ac:picMk id="8" creationId="{838181A0-68A7-AA4C-B4A2-DB019B616478}"/>
          </ac:picMkLst>
        </pc:picChg>
        <pc:picChg chg="del">
          <ac:chgData name="Chad Williams" userId="618f96a3-8672-4e43-ae03-eeed93bb7387" providerId="ADAL" clId="{DFF2BB08-185E-495B-B2A0-BE0942C7B81E}" dt="2026-07-20T20:28:02.767" v="1063" actId="478"/>
          <ac:picMkLst>
            <pc:docMk/>
            <pc:sldMk cId="3894352205" sldId="320"/>
            <ac:picMk id="14" creationId="{C7D85D38-9065-E8F4-A1A8-E486D4D429C6}"/>
          </ac:picMkLst>
        </pc:picChg>
        <pc:picChg chg="del mod">
          <ac:chgData name="Chad Williams" userId="618f96a3-8672-4e43-ae03-eeed93bb7387" providerId="ADAL" clId="{DFF2BB08-185E-495B-B2A0-BE0942C7B81E}" dt="2026-07-20T20:24:55.317" v="1019" actId="478"/>
          <ac:picMkLst>
            <pc:docMk/>
            <pc:sldMk cId="3894352205" sldId="320"/>
            <ac:picMk id="16" creationId="{CC5BCF95-22A5-523D-1760-5EFA677C9CA2}"/>
          </ac:picMkLst>
        </pc:picChg>
        <pc:picChg chg="add mod">
          <ac:chgData name="Chad Williams" userId="618f96a3-8672-4e43-ae03-eeed93bb7387" providerId="ADAL" clId="{DFF2BB08-185E-495B-B2A0-BE0942C7B81E}" dt="2026-07-20T20:29:34.744" v="1095" actId="14100"/>
          <ac:picMkLst>
            <pc:docMk/>
            <pc:sldMk cId="3894352205" sldId="320"/>
            <ac:picMk id="23" creationId="{E59AE71D-B42F-5481-8D45-AB95D8DD4682}"/>
          </ac:picMkLst>
        </pc:picChg>
        <pc:picChg chg="add mod ord">
          <ac:chgData name="Chad Williams" userId="618f96a3-8672-4e43-ae03-eeed93bb7387" providerId="ADAL" clId="{DFF2BB08-185E-495B-B2A0-BE0942C7B81E}" dt="2026-07-20T20:28:50.931" v="1087" actId="167"/>
          <ac:picMkLst>
            <pc:docMk/>
            <pc:sldMk cId="3894352205" sldId="320"/>
            <ac:picMk id="25" creationId="{184B14BC-8535-59C5-9E34-5FA80AAF0633}"/>
          </ac:picMkLst>
        </pc:picChg>
        <pc:cxnChg chg="mod">
          <ac:chgData name="Chad Williams" userId="618f96a3-8672-4e43-ae03-eeed93bb7387" providerId="ADAL" clId="{DFF2BB08-185E-495B-B2A0-BE0942C7B81E}" dt="2026-07-20T20:25:08.380" v="1040" actId="14100"/>
          <ac:cxnSpMkLst>
            <pc:docMk/>
            <pc:sldMk cId="3894352205" sldId="320"/>
            <ac:cxnSpMk id="10" creationId="{21DA7D8B-918A-6158-3A2F-D1F33BF57033}"/>
          </ac:cxnSpMkLst>
        </pc:cxnChg>
        <pc:cxnChg chg="mod">
          <ac:chgData name="Chad Williams" userId="618f96a3-8672-4e43-ae03-eeed93bb7387" providerId="ADAL" clId="{DFF2BB08-185E-495B-B2A0-BE0942C7B81E}" dt="2026-07-20T20:24:40.945" v="1015" actId="14100"/>
          <ac:cxnSpMkLst>
            <pc:docMk/>
            <pc:sldMk cId="3894352205" sldId="320"/>
            <ac:cxnSpMk id="11" creationId="{2E376123-3BA6-FB8C-D87B-8CF499547F90}"/>
          </ac:cxnSpMkLst>
        </pc:cxnChg>
      </pc:sldChg>
      <pc:sldChg chg="modSp mod modAnim">
        <pc:chgData name="Chad Williams" userId="618f96a3-8672-4e43-ae03-eeed93bb7387" providerId="ADAL" clId="{DFF2BB08-185E-495B-B2A0-BE0942C7B81E}" dt="2026-07-20T19:45:41.673" v="91"/>
        <pc:sldMkLst>
          <pc:docMk/>
          <pc:sldMk cId="2423649610" sldId="323"/>
        </pc:sldMkLst>
        <pc:spChg chg="mod">
          <ac:chgData name="Chad Williams" userId="618f96a3-8672-4e43-ae03-eeed93bb7387" providerId="ADAL" clId="{DFF2BB08-185E-495B-B2A0-BE0942C7B81E}" dt="2026-07-20T19:42:47.940" v="43" actId="20577"/>
          <ac:spMkLst>
            <pc:docMk/>
            <pc:sldMk cId="2423649610" sldId="323"/>
            <ac:spMk id="20" creationId="{7E4F8C96-B1F8-F340-9530-E0398316CFA5}"/>
          </ac:spMkLst>
        </pc:spChg>
      </pc:sldChg>
      <pc:sldChg chg="modSp">
        <pc:chgData name="Chad Williams" userId="618f96a3-8672-4e43-ae03-eeed93bb7387" providerId="ADAL" clId="{DFF2BB08-185E-495B-B2A0-BE0942C7B81E}" dt="2026-07-20T19:44:20.669" v="63" actId="20577"/>
        <pc:sldMkLst>
          <pc:docMk/>
          <pc:sldMk cId="1088111023" sldId="325"/>
        </pc:sldMkLst>
        <pc:spChg chg="mod">
          <ac:chgData name="Chad Williams" userId="618f96a3-8672-4e43-ae03-eeed93bb7387" providerId="ADAL" clId="{DFF2BB08-185E-495B-B2A0-BE0942C7B81E}" dt="2026-07-20T19:44:20.669" v="63" actId="20577"/>
          <ac:spMkLst>
            <pc:docMk/>
            <pc:sldMk cId="1088111023" sldId="325"/>
            <ac:spMk id="3" creationId="{5C7EFB34-147C-AE49-8867-B65982F964E0}"/>
          </ac:spMkLst>
        </pc:spChg>
      </pc:sldChg>
      <pc:sldChg chg="del">
        <pc:chgData name="Chad Williams" userId="618f96a3-8672-4e43-ae03-eeed93bb7387" providerId="ADAL" clId="{DFF2BB08-185E-495B-B2A0-BE0942C7B81E}" dt="2026-07-20T19:44:59.796" v="66" actId="47"/>
        <pc:sldMkLst>
          <pc:docMk/>
          <pc:sldMk cId="1957749468" sldId="327"/>
        </pc:sldMkLst>
      </pc:sldChg>
      <pc:sldChg chg="del">
        <pc:chgData name="Chad Williams" userId="618f96a3-8672-4e43-ae03-eeed93bb7387" providerId="ADAL" clId="{DFF2BB08-185E-495B-B2A0-BE0942C7B81E}" dt="2026-07-20T19:44:59.796" v="66" actId="47"/>
        <pc:sldMkLst>
          <pc:docMk/>
          <pc:sldMk cId="3203980065" sldId="328"/>
        </pc:sldMkLst>
      </pc:sldChg>
      <pc:sldChg chg="del ord">
        <pc:chgData name="Chad Williams" userId="618f96a3-8672-4e43-ae03-eeed93bb7387" providerId="ADAL" clId="{DFF2BB08-185E-495B-B2A0-BE0942C7B81E}" dt="2026-07-20T19:44:59.796" v="66" actId="47"/>
        <pc:sldMkLst>
          <pc:docMk/>
          <pc:sldMk cId="1214177240" sldId="330"/>
        </pc:sldMkLst>
      </pc:sldChg>
      <pc:sldChg chg="modSp mod modAnim">
        <pc:chgData name="Chad Williams" userId="618f96a3-8672-4e43-ae03-eeed93bb7387" providerId="ADAL" clId="{DFF2BB08-185E-495B-B2A0-BE0942C7B81E}" dt="2026-07-20T20:31:41.864" v="1156" actId="14100"/>
        <pc:sldMkLst>
          <pc:docMk/>
          <pc:sldMk cId="1874175318" sldId="336"/>
        </pc:sldMkLst>
        <pc:spChg chg="mod">
          <ac:chgData name="Chad Williams" userId="618f96a3-8672-4e43-ae03-eeed93bb7387" providerId="ADAL" clId="{DFF2BB08-185E-495B-B2A0-BE0942C7B81E}" dt="2026-07-20T20:31:41.864" v="1156" actId="14100"/>
          <ac:spMkLst>
            <pc:docMk/>
            <pc:sldMk cId="1874175318" sldId="336"/>
            <ac:spMk id="3" creationId="{5C7EFB34-147C-AE49-8867-B65982F964E0}"/>
          </ac:spMkLst>
        </pc:spChg>
      </pc:sldChg>
      <pc:sldChg chg="modSp">
        <pc:chgData name="Chad Williams" userId="618f96a3-8672-4e43-ae03-eeed93bb7387" providerId="ADAL" clId="{DFF2BB08-185E-495B-B2A0-BE0942C7B81E}" dt="2026-07-20T20:18:14.535" v="879" actId="14"/>
        <pc:sldMkLst>
          <pc:docMk/>
          <pc:sldMk cId="3956768853" sldId="337"/>
        </pc:sldMkLst>
        <pc:spChg chg="mod">
          <ac:chgData name="Chad Williams" userId="618f96a3-8672-4e43-ae03-eeed93bb7387" providerId="ADAL" clId="{DFF2BB08-185E-495B-B2A0-BE0942C7B81E}" dt="2026-07-20T20:18:14.535" v="879" actId="14"/>
          <ac:spMkLst>
            <pc:docMk/>
            <pc:sldMk cId="3956768853" sldId="337"/>
            <ac:spMk id="3" creationId="{5C7EFB34-147C-AE49-8867-B65982F964E0}"/>
          </ac:spMkLst>
        </pc:spChg>
      </pc:sldChg>
      <pc:sldChg chg="addSp modSp mod">
        <pc:chgData name="Chad Williams" userId="618f96a3-8672-4e43-ae03-eeed93bb7387" providerId="ADAL" clId="{DFF2BB08-185E-495B-B2A0-BE0942C7B81E}" dt="2026-07-20T20:31:27.497" v="1155" actId="20577"/>
        <pc:sldMkLst>
          <pc:docMk/>
          <pc:sldMk cId="3345731052" sldId="338"/>
        </pc:sldMkLst>
        <pc:spChg chg="add mod">
          <ac:chgData name="Chad Williams" userId="618f96a3-8672-4e43-ae03-eeed93bb7387" providerId="ADAL" clId="{DFF2BB08-185E-495B-B2A0-BE0942C7B81E}" dt="2026-07-20T20:31:27.497" v="1155" actId="20577"/>
          <ac:spMkLst>
            <pc:docMk/>
            <pc:sldMk cId="3345731052" sldId="338"/>
            <ac:spMk id="3" creationId="{2C939470-1BE3-A99C-6BA7-A91C8470F897}"/>
          </ac:spMkLst>
        </pc:spChg>
      </pc:sldChg>
      <pc:sldChg chg="del">
        <pc:chgData name="Chad Williams" userId="618f96a3-8672-4e43-ae03-eeed93bb7387" providerId="ADAL" clId="{DFF2BB08-185E-495B-B2A0-BE0942C7B81E}" dt="2026-07-20T19:42:38.890" v="39" actId="47"/>
        <pc:sldMkLst>
          <pc:docMk/>
          <pc:sldMk cId="1755708323" sldId="340"/>
        </pc:sldMkLst>
      </pc:sldChg>
      <pc:sldChg chg="del">
        <pc:chgData name="Chad Williams" userId="618f96a3-8672-4e43-ae03-eeed93bb7387" providerId="ADAL" clId="{DFF2BB08-185E-495B-B2A0-BE0942C7B81E}" dt="2026-07-20T19:42:38.890" v="39" actId="47"/>
        <pc:sldMkLst>
          <pc:docMk/>
          <pc:sldMk cId="3869174352" sldId="343"/>
        </pc:sldMkLst>
      </pc:sldChg>
      <pc:sldChg chg="del">
        <pc:chgData name="Chad Williams" userId="618f96a3-8672-4e43-ae03-eeed93bb7387" providerId="ADAL" clId="{DFF2BB08-185E-495B-B2A0-BE0942C7B81E}" dt="2026-07-20T19:42:38.890" v="39" actId="47"/>
        <pc:sldMkLst>
          <pc:docMk/>
          <pc:sldMk cId="885720688" sldId="344"/>
        </pc:sldMkLst>
      </pc:sldChg>
      <pc:sldChg chg="del">
        <pc:chgData name="Chad Williams" userId="618f96a3-8672-4e43-ae03-eeed93bb7387" providerId="ADAL" clId="{DFF2BB08-185E-495B-B2A0-BE0942C7B81E}" dt="2026-07-20T19:42:38.890" v="39" actId="47"/>
        <pc:sldMkLst>
          <pc:docMk/>
          <pc:sldMk cId="985358539" sldId="345"/>
        </pc:sldMkLst>
      </pc:sldChg>
      <pc:sldChg chg="modSp">
        <pc:chgData name="Chad Williams" userId="618f96a3-8672-4e43-ae03-eeed93bb7387" providerId="ADAL" clId="{DFF2BB08-185E-495B-B2A0-BE0942C7B81E}" dt="2026-07-20T20:18:18.322" v="881" actId="14"/>
        <pc:sldMkLst>
          <pc:docMk/>
          <pc:sldMk cId="3341239261" sldId="346"/>
        </pc:sldMkLst>
        <pc:spChg chg="mod">
          <ac:chgData name="Chad Williams" userId="618f96a3-8672-4e43-ae03-eeed93bb7387" providerId="ADAL" clId="{DFF2BB08-185E-495B-B2A0-BE0942C7B81E}" dt="2026-07-20T20:18:18.322" v="881" actId="14"/>
          <ac:spMkLst>
            <pc:docMk/>
            <pc:sldMk cId="3341239261" sldId="346"/>
            <ac:spMk id="3" creationId="{5C7EFB34-147C-AE49-8867-B65982F964E0}"/>
          </ac:spMkLst>
        </pc:spChg>
      </pc:sldChg>
      <pc:sldChg chg="modSp mod">
        <pc:chgData name="Chad Williams" userId="618f96a3-8672-4e43-ae03-eeed93bb7387" providerId="ADAL" clId="{DFF2BB08-185E-495B-B2A0-BE0942C7B81E}" dt="2026-07-20T19:42:51.720" v="47" actId="20577"/>
        <pc:sldMkLst>
          <pc:docMk/>
          <pc:sldMk cId="2971458197" sldId="347"/>
        </pc:sldMkLst>
        <pc:spChg chg="mod">
          <ac:chgData name="Chad Williams" userId="618f96a3-8672-4e43-ae03-eeed93bb7387" providerId="ADAL" clId="{DFF2BB08-185E-495B-B2A0-BE0942C7B81E}" dt="2026-07-20T19:42:51.720" v="47" actId="20577"/>
          <ac:spMkLst>
            <pc:docMk/>
            <pc:sldMk cId="2971458197" sldId="347"/>
            <ac:spMk id="20" creationId="{7E4F8C96-B1F8-F340-9530-E0398316CFA5}"/>
          </ac:spMkLst>
        </pc:spChg>
      </pc:sldChg>
      <pc:sldChg chg="modSp mod">
        <pc:chgData name="Chad Williams" userId="618f96a3-8672-4e43-ae03-eeed93bb7387" providerId="ADAL" clId="{DFF2BB08-185E-495B-B2A0-BE0942C7B81E}" dt="2026-07-20T19:42:55.183" v="51" actId="20577"/>
        <pc:sldMkLst>
          <pc:docMk/>
          <pc:sldMk cId="2537179385" sldId="348"/>
        </pc:sldMkLst>
        <pc:spChg chg="mod">
          <ac:chgData name="Chad Williams" userId="618f96a3-8672-4e43-ae03-eeed93bb7387" providerId="ADAL" clId="{DFF2BB08-185E-495B-B2A0-BE0942C7B81E}" dt="2026-07-20T19:42:55.183" v="51" actId="20577"/>
          <ac:spMkLst>
            <pc:docMk/>
            <pc:sldMk cId="2537179385" sldId="348"/>
            <ac:spMk id="20" creationId="{7E4F8C96-B1F8-F340-9530-E0398316CFA5}"/>
          </ac:spMkLst>
        </pc:spChg>
      </pc:sldChg>
      <pc:sldChg chg="modSp mod">
        <pc:chgData name="Chad Williams" userId="618f96a3-8672-4e43-ae03-eeed93bb7387" providerId="ADAL" clId="{DFF2BB08-185E-495B-B2A0-BE0942C7B81E}" dt="2026-07-20T19:43:02.310" v="55" actId="20577"/>
        <pc:sldMkLst>
          <pc:docMk/>
          <pc:sldMk cId="2827077971" sldId="350"/>
        </pc:sldMkLst>
        <pc:spChg chg="mod">
          <ac:chgData name="Chad Williams" userId="618f96a3-8672-4e43-ae03-eeed93bb7387" providerId="ADAL" clId="{DFF2BB08-185E-495B-B2A0-BE0942C7B81E}" dt="2026-07-20T19:43:02.310" v="55" actId="20577"/>
          <ac:spMkLst>
            <pc:docMk/>
            <pc:sldMk cId="2827077971" sldId="350"/>
            <ac:spMk id="20" creationId="{7E4F8C96-B1F8-F340-9530-E0398316CFA5}"/>
          </ac:spMkLst>
        </pc:spChg>
      </pc:sldChg>
      <pc:sldChg chg="del">
        <pc:chgData name="Chad Williams" userId="618f96a3-8672-4e43-ae03-eeed93bb7387" providerId="ADAL" clId="{DFF2BB08-185E-495B-B2A0-BE0942C7B81E}" dt="2026-07-20T19:42:38.890" v="39" actId="47"/>
        <pc:sldMkLst>
          <pc:docMk/>
          <pc:sldMk cId="540924872" sldId="351"/>
        </pc:sldMkLst>
      </pc:sldChg>
      <pc:sldChg chg="modSp modAnim">
        <pc:chgData name="Chad Williams" userId="618f96a3-8672-4e43-ae03-eeed93bb7387" providerId="ADAL" clId="{DFF2BB08-185E-495B-B2A0-BE0942C7B81E}" dt="2026-07-20T20:33:14.272" v="1176" actId="20577"/>
        <pc:sldMkLst>
          <pc:docMk/>
          <pc:sldMk cId="500151439" sldId="352"/>
        </pc:sldMkLst>
        <pc:spChg chg="mod">
          <ac:chgData name="Chad Williams" userId="618f96a3-8672-4e43-ae03-eeed93bb7387" providerId="ADAL" clId="{DFF2BB08-185E-495B-B2A0-BE0942C7B81E}" dt="2026-07-20T20:33:14.272" v="1176" actId="20577"/>
          <ac:spMkLst>
            <pc:docMk/>
            <pc:sldMk cId="500151439" sldId="352"/>
            <ac:spMk id="3" creationId="{4E02017F-320E-0771-B991-BD2B25282BCB}"/>
          </ac:spMkLst>
        </pc:spChg>
      </pc:sldChg>
      <pc:sldChg chg="del">
        <pc:chgData name="Chad Williams" userId="618f96a3-8672-4e43-ae03-eeed93bb7387" providerId="ADAL" clId="{DFF2BB08-185E-495B-B2A0-BE0942C7B81E}" dt="2026-07-20T19:42:38.890" v="39" actId="47"/>
        <pc:sldMkLst>
          <pc:docMk/>
          <pc:sldMk cId="3314877628" sldId="353"/>
        </pc:sldMkLst>
      </pc:sldChg>
      <pc:sldChg chg="del">
        <pc:chgData name="Chad Williams" userId="618f96a3-8672-4e43-ae03-eeed93bb7387" providerId="ADAL" clId="{DFF2BB08-185E-495B-B2A0-BE0942C7B81E}" dt="2026-07-20T19:42:38.890" v="39" actId="47"/>
        <pc:sldMkLst>
          <pc:docMk/>
          <pc:sldMk cId="3956462771" sldId="354"/>
        </pc:sldMkLst>
      </pc:sldChg>
      <pc:sldChg chg="del">
        <pc:chgData name="Chad Williams" userId="618f96a3-8672-4e43-ae03-eeed93bb7387" providerId="ADAL" clId="{DFF2BB08-185E-495B-B2A0-BE0942C7B81E}" dt="2026-07-20T19:42:38.890" v="39" actId="47"/>
        <pc:sldMkLst>
          <pc:docMk/>
          <pc:sldMk cId="2046598466" sldId="355"/>
        </pc:sldMkLst>
      </pc:sldChg>
      <pc:sldChg chg="del">
        <pc:chgData name="Chad Williams" userId="618f96a3-8672-4e43-ae03-eeed93bb7387" providerId="ADAL" clId="{DFF2BB08-185E-495B-B2A0-BE0942C7B81E}" dt="2026-07-20T19:42:38.890" v="39" actId="47"/>
        <pc:sldMkLst>
          <pc:docMk/>
          <pc:sldMk cId="3122689387" sldId="356"/>
        </pc:sldMkLst>
      </pc:sldChg>
      <pc:sldChg chg="del">
        <pc:chgData name="Chad Williams" userId="618f96a3-8672-4e43-ae03-eeed93bb7387" providerId="ADAL" clId="{DFF2BB08-185E-495B-B2A0-BE0942C7B81E}" dt="2026-07-20T19:42:38.890" v="39" actId="47"/>
        <pc:sldMkLst>
          <pc:docMk/>
          <pc:sldMk cId="2656741993" sldId="357"/>
        </pc:sldMkLst>
      </pc:sldChg>
      <pc:sldChg chg="delSp modSp mod">
        <pc:chgData name="Chad Williams" userId="618f96a3-8672-4e43-ae03-eeed93bb7387" providerId="ADAL" clId="{DFF2BB08-185E-495B-B2A0-BE0942C7B81E}" dt="2026-07-20T19:43:20.271" v="59" actId="1076"/>
        <pc:sldMkLst>
          <pc:docMk/>
          <pc:sldMk cId="3873501358" sldId="358"/>
        </pc:sldMkLst>
        <pc:picChg chg="mod">
          <ac:chgData name="Chad Williams" userId="618f96a3-8672-4e43-ae03-eeed93bb7387" providerId="ADAL" clId="{DFF2BB08-185E-495B-B2A0-BE0942C7B81E}" dt="2026-07-20T19:43:20.271" v="59" actId="1076"/>
          <ac:picMkLst>
            <pc:docMk/>
            <pc:sldMk cId="3873501358" sldId="358"/>
            <ac:picMk id="5" creationId="{DDD4BD50-9CF4-249D-49D6-C0B136A36BEF}"/>
          </ac:picMkLst>
        </pc:picChg>
        <pc:picChg chg="del">
          <ac:chgData name="Chad Williams" userId="618f96a3-8672-4e43-ae03-eeed93bb7387" providerId="ADAL" clId="{DFF2BB08-185E-495B-B2A0-BE0942C7B81E}" dt="2026-07-20T19:43:09.841" v="56" actId="478"/>
          <ac:picMkLst>
            <pc:docMk/>
            <pc:sldMk cId="3873501358" sldId="358"/>
            <ac:picMk id="7" creationId="{180F9879-DF14-CF87-3192-EC7302B78438}"/>
          </ac:picMkLst>
        </pc:picChg>
      </pc:sldChg>
      <pc:sldChg chg="modSp new del mod">
        <pc:chgData name="Chad Williams" userId="618f96a3-8672-4e43-ae03-eeed93bb7387" providerId="ADAL" clId="{DFF2BB08-185E-495B-B2A0-BE0942C7B81E}" dt="2026-07-20T20:30:49.261" v="1127" actId="47"/>
        <pc:sldMkLst>
          <pc:docMk/>
          <pc:sldMk cId="3540667751" sldId="445"/>
        </pc:sldMkLst>
        <pc:spChg chg="mod">
          <ac:chgData name="Chad Williams" userId="618f96a3-8672-4e43-ae03-eeed93bb7387" providerId="ADAL" clId="{DFF2BB08-185E-495B-B2A0-BE0942C7B81E}" dt="2026-07-20T19:45:09.242" v="89" actId="20577"/>
          <ac:spMkLst>
            <pc:docMk/>
            <pc:sldMk cId="3540667751" sldId="445"/>
            <ac:spMk id="2" creationId="{445A7130-B56B-69CF-BF0B-522249F700D5}"/>
          </ac:spMkLst>
        </pc:spChg>
      </pc:sldChg>
      <pc:sldChg chg="modSp add modAnim">
        <pc:chgData name="Chad Williams" userId="618f96a3-8672-4e43-ae03-eeed93bb7387" providerId="ADAL" clId="{DFF2BB08-185E-495B-B2A0-BE0942C7B81E}" dt="2026-07-20T20:18:10.080" v="877" actId="14"/>
        <pc:sldMkLst>
          <pc:docMk/>
          <pc:sldMk cId="2524649974" sldId="446"/>
        </pc:sldMkLst>
        <pc:spChg chg="mod">
          <ac:chgData name="Chad Williams" userId="618f96a3-8672-4e43-ae03-eeed93bb7387" providerId="ADAL" clId="{DFF2BB08-185E-495B-B2A0-BE0942C7B81E}" dt="2026-07-20T20:18:10.080" v="877" actId="14"/>
          <ac:spMkLst>
            <pc:docMk/>
            <pc:sldMk cId="2524649974" sldId="446"/>
            <ac:spMk id="3" creationId="{199D493F-F821-081B-C1FC-A2562BB279D1}"/>
          </ac:spMkLst>
        </pc:spChg>
      </pc:sldChg>
      <pc:sldChg chg="addSp modSp add mod modAnim">
        <pc:chgData name="Chad Williams" userId="618f96a3-8672-4e43-ae03-eeed93bb7387" providerId="ADAL" clId="{DFF2BB08-185E-495B-B2A0-BE0942C7B81E}" dt="2026-07-20T20:32:27.541" v="1175" actId="20577"/>
        <pc:sldMkLst>
          <pc:docMk/>
          <pc:sldMk cId="2734468923" sldId="447"/>
        </pc:sldMkLst>
        <pc:spChg chg="mod">
          <ac:chgData name="Chad Williams" userId="618f96a3-8672-4e43-ae03-eeed93bb7387" providerId="ADAL" clId="{DFF2BB08-185E-495B-B2A0-BE0942C7B81E}" dt="2026-07-20T20:32:27.541" v="1175" actId="20577"/>
          <ac:spMkLst>
            <pc:docMk/>
            <pc:sldMk cId="2734468923" sldId="447"/>
            <ac:spMk id="3" creationId="{01FCEC9C-95A4-BD2D-3566-5B6881A0D8D6}"/>
          </ac:spMkLst>
        </pc:spChg>
        <pc:spChg chg="add mod">
          <ac:chgData name="Chad Williams" userId="618f96a3-8672-4e43-ae03-eeed93bb7387" providerId="ADAL" clId="{DFF2BB08-185E-495B-B2A0-BE0942C7B81E}" dt="2026-07-20T20:03:33.998" v="411" actId="114"/>
          <ac:spMkLst>
            <pc:docMk/>
            <pc:sldMk cId="2734468923" sldId="447"/>
            <ac:spMk id="4" creationId="{8D3E08A5-AF21-D92C-5697-84E6F9C27BAA}"/>
          </ac:spMkLst>
        </pc:spChg>
      </pc:sldChg>
      <pc:sldChg chg="modSp add del modAnim">
        <pc:chgData name="Chad Williams" userId="618f96a3-8672-4e43-ae03-eeed93bb7387" providerId="ADAL" clId="{DFF2BB08-185E-495B-B2A0-BE0942C7B81E}" dt="2026-07-20T20:17:51.629" v="873" actId="47"/>
        <pc:sldMkLst>
          <pc:docMk/>
          <pc:sldMk cId="1150951559" sldId="448"/>
        </pc:sldMkLst>
        <pc:spChg chg="mod">
          <ac:chgData name="Chad Williams" userId="618f96a3-8672-4e43-ae03-eeed93bb7387" providerId="ADAL" clId="{DFF2BB08-185E-495B-B2A0-BE0942C7B81E}" dt="2026-07-20T20:17:31.119" v="863" actId="20577"/>
          <ac:spMkLst>
            <pc:docMk/>
            <pc:sldMk cId="1150951559" sldId="448"/>
            <ac:spMk id="3" creationId="{3796FFA6-1019-9D69-63A4-A8964EB2BA6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DD995-4CA9-A64A-AB56-80E701660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CB4D8-14F1-7D43-95B4-EE663E9BD8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E2C33-7FBB-F247-AF63-BB9EBA8CA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2FA20-706C-804A-BE89-7CF3167956E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7FE5A-17D6-0F45-87C3-3C960E33A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61BCA-395E-184B-8BEC-0858689B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0053-B6A6-B347-BE8C-94A2159D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2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DA6E9-81CC-124C-B3CC-C75EE853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C606D-8568-4F41-A301-3DCBDA62C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E6377-E5D4-8F4A-B509-736FDE3A4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2FA20-706C-804A-BE89-7CF3167956E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9FCAF-C7A0-C642-9003-72049CB4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6303D-2FEA-1049-A14D-0F9066B50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0053-B6A6-B347-BE8C-94A2159D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64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920E-1046-AB4F-9C51-3F1E449F3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3FC7A-AEE7-F64F-8684-FF1A8EDD0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3A1A4-A473-9E41-8323-3905BFCF2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2FA20-706C-804A-BE89-7CF3167956E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3D78A-155F-FB43-B447-C7AB5553D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698F1-3B0A-A049-8077-25B2DCC3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0053-B6A6-B347-BE8C-94A2159D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57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D9AD-5D31-714F-9BE7-7B32DFC49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B9A8E-712D-B049-B39F-ADA4993D5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B5DCE-4543-2C45-AB42-70E86422E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59941-2FC9-6949-A103-04A83DA38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2FA20-706C-804A-BE89-7CF3167956E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B6328-83D2-5E41-9A68-2D58A5528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97487-247A-AA44-942F-1B2CC50C9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0053-B6A6-B347-BE8C-94A2159D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63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CEE3-4BEE-6148-9A18-A8FEE2474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82D1A-E1C5-5B47-A66B-F1D9F0ACE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085602-F125-4B43-B700-6092CB20B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915E2E-DFD2-4D42-BF98-FFCCFEEB11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FA9EB3-E09E-1442-8B79-5CE89E72E7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75EE9-8D7B-6E45-B1A2-F3D1B4F8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2FA20-706C-804A-BE89-7CF3167956E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44ECF-4C64-244A-80A1-44A636603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E13C64-EF5E-5B44-B7AC-8894BF66C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0053-B6A6-B347-BE8C-94A2159D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4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65B49-8113-8D4D-8100-DE26B376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1C4678-9A45-BD4D-8F58-8932BE6D2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2FA20-706C-804A-BE89-7CF3167956E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CDF6DF-4207-454A-98B5-3C9509DA7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F144A8-579A-854C-93A3-B21672B9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0053-B6A6-B347-BE8C-94A2159D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1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D3B3BF-D9DA-1E4A-8861-85F349A8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2FA20-706C-804A-BE89-7CF3167956E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35AF36-3B90-A247-8A9F-F5931D74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CA687-577D-B242-BBF2-3C0AE1DB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0053-B6A6-B347-BE8C-94A2159D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65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B8F5-AABD-4248-817E-2F20077BF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99941-DA09-B84A-A66D-1E7890351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B4E3FB-B56C-CB40-BCA4-7E608E52D8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316D9-8959-F841-99CA-8A955D71D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2FA20-706C-804A-BE89-7CF3167956E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5FFBC-7BB3-F844-8B3F-8D5AD779E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0730D-C840-1E4F-9400-94B7EE702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0053-B6A6-B347-BE8C-94A2159D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83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AE0D-1B4C-844F-9E6D-0ECAC72EC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0E13A5-7173-704D-85E9-A25CB6E68D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4D8B9-659B-3544-BEAB-E25FA0861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60A72-FD90-3440-AF50-37DB3C4F4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2FA20-706C-804A-BE89-7CF3167956E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E0A15-120C-1540-A9C2-10B89875D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B2DDB-CA2A-BC44-812E-7F92834A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0053-B6A6-B347-BE8C-94A2159D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62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F062-BB5D-4543-87E9-5B6ED5DF2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5DBAAC-8B83-F64C-8734-492E6EFD5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AED5A-3D5A-6746-8FC8-33F85874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2FA20-706C-804A-BE89-7CF3167956E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D935A-33F6-F149-AE02-6E5DA0010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75292-06A5-C947-986F-FAF848DF8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0053-B6A6-B347-BE8C-94A2159D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1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1BF26-ED75-BD4F-BEB9-3BC35FD85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079AA6-F814-CB48-BCF4-0BAD7D992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46E56-E1A7-A443-B755-181716D75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2FA20-706C-804A-BE89-7CF3167956E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57761-A954-1042-90A6-07277E80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0CEEE-D7C7-E74C-805A-3A0B2E1F5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0053-B6A6-B347-BE8C-94A2159D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9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4A5725-82A5-2445-9D88-0E381F68C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2731F-3E4E-C844-B77E-1868949A4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03FCB-612C-3D47-863A-8F711F1DBD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2FA20-706C-804A-BE89-7CF3167956E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430EB-F6CF-BE4D-8289-0E898013A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202F4-D959-DE4A-8DF9-1165A9CE5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70053-B6A6-B347-BE8C-94A2159DB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86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youtu.be/fSmedyVv-Us?si=7PVf1Y5uwcXjpgjH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4505-984A-784F-B784-AEBB8FD00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9315" y="1122363"/>
            <a:ext cx="6878304" cy="2387600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Populations, Samples,  and Sampling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BDEC7-4CE5-0C42-AD2E-FA8453064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7187" y="3602038"/>
            <a:ext cx="6404813" cy="1655762"/>
          </a:xfrm>
        </p:spPr>
        <p:txBody>
          <a:bodyPr>
            <a:normAutofit/>
          </a:bodyPr>
          <a:lstStyle/>
          <a:p>
            <a:r>
              <a:rPr lang="en-US" sz="3600" dirty="0"/>
              <a:t>Chad Williams</a:t>
            </a:r>
          </a:p>
          <a:p>
            <a:r>
              <a:rPr lang="en-US" sz="2800" dirty="0"/>
              <a:t>University of Victoria</a:t>
            </a:r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3A07B0-5ED5-F74E-A1D2-DB896138B20F}"/>
              </a:ext>
            </a:extLst>
          </p:cNvPr>
          <p:cNvGrpSpPr/>
          <p:nvPr/>
        </p:nvGrpSpPr>
        <p:grpSpPr>
          <a:xfrm>
            <a:off x="1462829" y="602117"/>
            <a:ext cx="5458932" cy="5307690"/>
            <a:chOff x="1462829" y="602117"/>
            <a:chExt cx="5458932" cy="530769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1367C81-ADE9-1F41-8FEA-4AF5AD77BDCE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57A84D5C-C387-1D47-9772-854B66FD33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1AE5A16A-F773-0646-9683-42DD8F3889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6E9A222-DCDE-EB4E-839F-B23FEDA593F5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419066EF-2FB6-1F47-B4D8-42A849FE2AD4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0448620-62B4-4F4D-946A-BF7ACA620963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D410515-89AE-9540-8E50-AA444F8EC47A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09B93DB-C642-8A4B-85C0-D6AE3FB6D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9158FB07-577C-1C48-BE6C-59B0CA0BB524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3095749-45C8-8A4A-979E-7C4B025D4FDF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1A4B310-E851-814F-9BAA-0DD6B54C5EB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DBCC1C8-A7F4-9D45-B58E-21EF51AE8B3F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E602794-B522-FC44-BC63-545173E3DBFC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76F9C99-A770-9E43-955D-38F4554386A4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5704A3B-D9E0-7D4E-B43D-C5BABAB8D583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9529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6255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Population and Sample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Models of Hypothesis Testing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242364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6255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Population and Sample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Models of Hypothesis Testing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2971458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FCFE6-D407-484D-88C5-30140B50A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Populations and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EFB34-147C-AE49-8867-B65982F96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24537" cy="580239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Population: </a:t>
            </a:r>
            <a:r>
              <a:rPr lang="en-US" dirty="0"/>
              <a:t>An entire set of data trying to be estimated by statistics</a:t>
            </a:r>
          </a:p>
          <a:p>
            <a:r>
              <a:rPr lang="en-US" dirty="0"/>
              <a:t>Can be empirical if we can measure every single thing (person, animal, event, etc.) in the population</a:t>
            </a:r>
          </a:p>
          <a:p>
            <a:r>
              <a:rPr lang="en-US" dirty="0"/>
              <a:t>Most often theoretical when we define it mathematically without all data</a:t>
            </a:r>
          </a:p>
          <a:p>
            <a:r>
              <a:rPr lang="en-US" dirty="0"/>
              <a:t>The population of interest is decided by the experimenter</a:t>
            </a:r>
          </a:p>
          <a:p>
            <a:pPr lvl="1"/>
            <a:r>
              <a:rPr lang="en-US" dirty="0"/>
              <a:t>E.g., every Canadian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C5409A5-3547-984C-A2BF-FD6492FAEF68}"/>
              </a:ext>
            </a:extLst>
          </p:cNvPr>
          <p:cNvGrpSpPr/>
          <p:nvPr/>
        </p:nvGrpSpPr>
        <p:grpSpPr>
          <a:xfrm>
            <a:off x="8115843" y="2477729"/>
            <a:ext cx="4076157" cy="2838371"/>
            <a:chOff x="5661498" y="1191901"/>
            <a:chExt cx="6530502" cy="454741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2D9B9BF-58FE-9A4F-83A2-A1864F941E39}"/>
                </a:ext>
              </a:extLst>
            </p:cNvPr>
            <p:cNvGrpSpPr/>
            <p:nvPr/>
          </p:nvGrpSpPr>
          <p:grpSpPr>
            <a:xfrm>
              <a:off x="5661498" y="1191901"/>
              <a:ext cx="6530502" cy="4547418"/>
              <a:chOff x="5661498" y="1191901"/>
              <a:chExt cx="6530502" cy="4547418"/>
            </a:xfrm>
          </p:grpSpPr>
          <p:pic>
            <p:nvPicPr>
              <p:cNvPr id="5124" name="Picture 4" descr="Population vs Sample | Definitions, Differences &amp; Examples">
                <a:extLst>
                  <a:ext uri="{FF2B5EF4-FFF2-40B4-BE49-F238E27FC236}">
                    <a16:creationId xmlns:a16="http://schemas.microsoft.com/office/drawing/2014/main" id="{9FB702B2-D126-DC4A-80D2-B44C70F8BA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48" t="7028" b="16121"/>
              <a:stretch/>
            </p:blipFill>
            <p:spPr bwMode="auto">
              <a:xfrm>
                <a:off x="6080038" y="1191901"/>
                <a:ext cx="6111962" cy="4313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3B79949-E58F-264E-99F9-7D4FC77CC007}"/>
                  </a:ext>
                </a:extLst>
              </p:cNvPr>
              <p:cNvSpPr/>
              <p:nvPr/>
            </p:nvSpPr>
            <p:spPr>
              <a:xfrm>
                <a:off x="5661498" y="4941651"/>
                <a:ext cx="1614791" cy="7976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4FAE037-DF27-BF40-A0D6-EFFC76697153}"/>
                </a:ext>
              </a:extLst>
            </p:cNvPr>
            <p:cNvSpPr/>
            <p:nvPr/>
          </p:nvSpPr>
          <p:spPr>
            <a:xfrm>
              <a:off x="10361697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DE11EE6-3245-C947-9E94-B1E0DD93A2D9}"/>
                </a:ext>
              </a:extLst>
            </p:cNvPr>
            <p:cNvSpPr/>
            <p:nvPr/>
          </p:nvSpPr>
          <p:spPr>
            <a:xfrm>
              <a:off x="8370193" y="1828167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9C293A5-A0F1-D345-87B4-503489BB099B}"/>
                </a:ext>
              </a:extLst>
            </p:cNvPr>
            <p:cNvSpPr/>
            <p:nvPr/>
          </p:nvSpPr>
          <p:spPr>
            <a:xfrm>
              <a:off x="11107627" y="183029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50F4D4-B2C3-4A4F-8AA5-FD2DFAFA8ED6}"/>
                </a:ext>
              </a:extLst>
            </p:cNvPr>
            <p:cNvSpPr/>
            <p:nvPr/>
          </p:nvSpPr>
          <p:spPr>
            <a:xfrm>
              <a:off x="9935022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5867C42-0A54-0541-A288-D466BB5371EF}"/>
                </a:ext>
              </a:extLst>
            </p:cNvPr>
            <p:cNvSpPr/>
            <p:nvPr/>
          </p:nvSpPr>
          <p:spPr>
            <a:xfrm>
              <a:off x="6379062" y="1830296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19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FCFE6-D407-484D-88C5-30140B50A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Populations and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EFB34-147C-AE49-8867-B65982F96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24537" cy="580239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Sample: </a:t>
            </a:r>
            <a:r>
              <a:rPr lang="en-US" dirty="0"/>
              <a:t>Subset of observations from persons, animals, events, etc. for a given population</a:t>
            </a:r>
          </a:p>
          <a:p>
            <a:r>
              <a:rPr lang="en-US" dirty="0"/>
              <a:t>Always empirical – our collected, observed data</a:t>
            </a:r>
          </a:p>
          <a:p>
            <a:r>
              <a:rPr lang="en-US" dirty="0"/>
              <a:t>We assume that it represents the population of interest because of our sampling models used:</a:t>
            </a:r>
          </a:p>
          <a:p>
            <a:pPr lvl="1"/>
            <a:r>
              <a:rPr lang="en-US" b="1" dirty="0"/>
              <a:t>Random Sampling</a:t>
            </a:r>
          </a:p>
          <a:p>
            <a:pPr lvl="1"/>
            <a:r>
              <a:rPr lang="en-US" b="1" dirty="0"/>
              <a:t>Random Assignment</a:t>
            </a:r>
          </a:p>
          <a:p>
            <a:r>
              <a:rPr lang="en-US" dirty="0"/>
              <a:t>The samples included are decided by the experimenter</a:t>
            </a:r>
          </a:p>
          <a:p>
            <a:pPr lvl="1"/>
            <a:r>
              <a:rPr lang="en-US" dirty="0"/>
              <a:t>E.g., The first thousand Canadians to respond to my survey</a:t>
            </a:r>
          </a:p>
          <a:p>
            <a:pPr lvl="1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317941E-218A-A840-A343-7E6497D81C35}"/>
              </a:ext>
            </a:extLst>
          </p:cNvPr>
          <p:cNvGrpSpPr/>
          <p:nvPr/>
        </p:nvGrpSpPr>
        <p:grpSpPr>
          <a:xfrm>
            <a:off x="8115843" y="2477729"/>
            <a:ext cx="4076157" cy="2838371"/>
            <a:chOff x="5661498" y="1191901"/>
            <a:chExt cx="6530502" cy="45474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D8FA824-9145-C14A-966C-073BF6D18DE1}"/>
                </a:ext>
              </a:extLst>
            </p:cNvPr>
            <p:cNvGrpSpPr/>
            <p:nvPr/>
          </p:nvGrpSpPr>
          <p:grpSpPr>
            <a:xfrm>
              <a:off x="5661498" y="1191901"/>
              <a:ext cx="6530502" cy="4547418"/>
              <a:chOff x="5661498" y="1191901"/>
              <a:chExt cx="6530502" cy="4547418"/>
            </a:xfrm>
          </p:grpSpPr>
          <p:pic>
            <p:nvPicPr>
              <p:cNvPr id="12" name="Picture 4" descr="Population vs Sample | Definitions, Differences &amp; Examples">
                <a:extLst>
                  <a:ext uri="{FF2B5EF4-FFF2-40B4-BE49-F238E27FC236}">
                    <a16:creationId xmlns:a16="http://schemas.microsoft.com/office/drawing/2014/main" id="{AFB70663-37A6-614D-8A1A-9BB1A7175E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48" t="7028" b="16121"/>
              <a:stretch/>
            </p:blipFill>
            <p:spPr bwMode="auto">
              <a:xfrm>
                <a:off x="6080038" y="1191901"/>
                <a:ext cx="6111962" cy="4313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29E90D8-49DA-6F47-96B2-FBDFB558A99D}"/>
                  </a:ext>
                </a:extLst>
              </p:cNvPr>
              <p:cNvSpPr/>
              <p:nvPr/>
            </p:nvSpPr>
            <p:spPr>
              <a:xfrm>
                <a:off x="5661498" y="4941651"/>
                <a:ext cx="1614791" cy="7976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AE9965E-DDE8-7846-9740-0B4D9D043F67}"/>
                </a:ext>
              </a:extLst>
            </p:cNvPr>
            <p:cNvSpPr/>
            <p:nvPr/>
          </p:nvSpPr>
          <p:spPr>
            <a:xfrm>
              <a:off x="10361697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AE22182-AD28-2842-B96E-9E6BD2B103D9}"/>
                </a:ext>
              </a:extLst>
            </p:cNvPr>
            <p:cNvSpPr/>
            <p:nvPr/>
          </p:nvSpPr>
          <p:spPr>
            <a:xfrm>
              <a:off x="8370193" y="1828167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60A4BB9-AEE4-024E-B60F-E2E4959FAC7A}"/>
                </a:ext>
              </a:extLst>
            </p:cNvPr>
            <p:cNvSpPr/>
            <p:nvPr/>
          </p:nvSpPr>
          <p:spPr>
            <a:xfrm>
              <a:off x="11107627" y="183029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E634FA7-1959-B747-A011-5EDE25E4FC08}"/>
                </a:ext>
              </a:extLst>
            </p:cNvPr>
            <p:cNvSpPr/>
            <p:nvPr/>
          </p:nvSpPr>
          <p:spPr>
            <a:xfrm>
              <a:off x="9935022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2FA36B2-0732-DC43-A37B-12ABD21DC8FD}"/>
                </a:ext>
              </a:extLst>
            </p:cNvPr>
            <p:cNvSpPr/>
            <p:nvPr/>
          </p:nvSpPr>
          <p:spPr>
            <a:xfrm>
              <a:off x="6379062" y="1830296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990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FCFE6-D407-484D-88C5-30140B50A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Populations and Samples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3B03FE3-7CF3-7746-84E8-21DA8F146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045395"/>
              </p:ext>
            </p:extLst>
          </p:nvPr>
        </p:nvGraphicFramePr>
        <p:xfrm>
          <a:off x="838200" y="1714480"/>
          <a:ext cx="7632033" cy="4036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4011">
                  <a:extLst>
                    <a:ext uri="{9D8B030D-6E8A-4147-A177-3AD203B41FA5}">
                      <a16:colId xmlns:a16="http://schemas.microsoft.com/office/drawing/2014/main" val="2638131297"/>
                    </a:ext>
                  </a:extLst>
                </a:gridCol>
                <a:gridCol w="2544011">
                  <a:extLst>
                    <a:ext uri="{9D8B030D-6E8A-4147-A177-3AD203B41FA5}">
                      <a16:colId xmlns:a16="http://schemas.microsoft.com/office/drawing/2014/main" val="1033335362"/>
                    </a:ext>
                  </a:extLst>
                </a:gridCol>
                <a:gridCol w="2544011">
                  <a:extLst>
                    <a:ext uri="{9D8B030D-6E8A-4147-A177-3AD203B41FA5}">
                      <a16:colId xmlns:a16="http://schemas.microsoft.com/office/drawing/2014/main" val="276195180"/>
                    </a:ext>
                  </a:extLst>
                </a:gridCol>
              </a:tblGrid>
              <a:tr h="742319">
                <a:tc>
                  <a:txBody>
                    <a:bodyPr/>
                    <a:lstStyle/>
                    <a:p>
                      <a:pPr algn="ctr"/>
                      <a:endParaRPr 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Populations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Samples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1792308"/>
                  </a:ext>
                </a:extLst>
              </a:tr>
              <a:tr h="742319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Descriptive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Parameters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</a:rPr>
                        <a:t>Statistics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000574"/>
                  </a:ext>
                </a:extLst>
              </a:tr>
              <a:tr h="742319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 err="1">
                          <a:solidFill>
                            <a:schemeClr val="tx1"/>
                          </a:solidFill>
                        </a:rPr>
                        <a:t>μ</a:t>
                      </a:r>
                      <a:endParaRPr lang="en-US" sz="32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3200" i="1" dirty="0"/>
                        <a:t>x̄</a:t>
                      </a:r>
                      <a:endParaRPr lang="en-US" sz="320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90607"/>
                  </a:ext>
                </a:extLst>
              </a:tr>
              <a:tr h="742319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Standard Deviation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 err="1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sz="3200" b="0" i="1" dirty="0">
                          <a:solidFill>
                            <a:schemeClr val="tx1"/>
                          </a:solidFill>
                        </a:rPr>
                        <a:t> (sigma)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i="1" dirty="0">
                          <a:solidFill>
                            <a:schemeClr val="tx1"/>
                          </a:solidFill>
                        </a:rPr>
                        <a:t>SD </a:t>
                      </a:r>
                      <a:r>
                        <a:rPr lang="en-US" sz="3200" b="1" i="1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3200" i="1" dirty="0">
                          <a:solidFill>
                            <a:schemeClr val="tx1"/>
                          </a:solidFill>
                        </a:rPr>
                        <a:t> s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637715"/>
                  </a:ext>
                </a:extLst>
              </a:tr>
              <a:tr h="742319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Variance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1" dirty="0">
                          <a:solidFill>
                            <a:schemeClr val="tx1"/>
                          </a:solidFill>
                        </a:rPr>
                        <a:t>σ</a:t>
                      </a:r>
                      <a:r>
                        <a:rPr lang="en-US" sz="3200" b="0" i="1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3200" b="0" i="1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0" i="1" baseline="0" dirty="0">
                          <a:solidFill>
                            <a:schemeClr val="tx1"/>
                          </a:solidFill>
                        </a:rPr>
                        <a:t>(sigma-squared)</a:t>
                      </a:r>
                      <a:endParaRPr lang="en-US" sz="3200" b="0" i="1" baseline="30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i="1" dirty="0">
                          <a:solidFill>
                            <a:schemeClr val="tx1"/>
                          </a:solidFill>
                        </a:rPr>
                        <a:t>SD</a:t>
                      </a:r>
                      <a:r>
                        <a:rPr lang="en-US" sz="3200" i="1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3200" i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3200" b="1" i="1" dirty="0">
                          <a:solidFill>
                            <a:schemeClr val="tx1"/>
                          </a:solidFill>
                        </a:rPr>
                        <a:t>or</a:t>
                      </a:r>
                      <a:r>
                        <a:rPr lang="en-US" sz="3200" i="1" dirty="0">
                          <a:solidFill>
                            <a:schemeClr val="tx1"/>
                          </a:solidFill>
                        </a:rPr>
                        <a:t> s</a:t>
                      </a:r>
                      <a:r>
                        <a:rPr lang="en-US" sz="3200" i="1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7031991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14351A00-3C7E-6D4E-A122-F625F79AE11D}"/>
              </a:ext>
            </a:extLst>
          </p:cNvPr>
          <p:cNvGrpSpPr/>
          <p:nvPr/>
        </p:nvGrpSpPr>
        <p:grpSpPr>
          <a:xfrm>
            <a:off x="8115843" y="2477729"/>
            <a:ext cx="4076157" cy="2838371"/>
            <a:chOff x="5661498" y="1191901"/>
            <a:chExt cx="6530502" cy="4547418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198615B-5BFA-BA4F-8EC6-7B35DEBF6EBB}"/>
                </a:ext>
              </a:extLst>
            </p:cNvPr>
            <p:cNvGrpSpPr/>
            <p:nvPr/>
          </p:nvGrpSpPr>
          <p:grpSpPr>
            <a:xfrm>
              <a:off x="5661498" y="1191901"/>
              <a:ext cx="6530502" cy="4547418"/>
              <a:chOff x="5661498" y="1191901"/>
              <a:chExt cx="6530502" cy="4547418"/>
            </a:xfrm>
          </p:grpSpPr>
          <p:pic>
            <p:nvPicPr>
              <p:cNvPr id="13" name="Picture 4" descr="Population vs Sample | Definitions, Differences &amp; Examples">
                <a:extLst>
                  <a:ext uri="{FF2B5EF4-FFF2-40B4-BE49-F238E27FC236}">
                    <a16:creationId xmlns:a16="http://schemas.microsoft.com/office/drawing/2014/main" id="{AC898C69-D59C-564D-9633-888C596544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48" t="7028" b="16121"/>
              <a:stretch/>
            </p:blipFill>
            <p:spPr bwMode="auto">
              <a:xfrm>
                <a:off x="6080038" y="1191901"/>
                <a:ext cx="6111962" cy="4313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EF7F3C1-B1C1-BF40-AB70-12175E16DFFF}"/>
                  </a:ext>
                </a:extLst>
              </p:cNvPr>
              <p:cNvSpPr/>
              <p:nvPr/>
            </p:nvSpPr>
            <p:spPr>
              <a:xfrm>
                <a:off x="5661498" y="4941651"/>
                <a:ext cx="1614791" cy="7976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3FBDDB9-B00C-BC4E-8C11-18FB8A69D320}"/>
                </a:ext>
              </a:extLst>
            </p:cNvPr>
            <p:cNvSpPr/>
            <p:nvPr/>
          </p:nvSpPr>
          <p:spPr>
            <a:xfrm>
              <a:off x="10361697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8507684-74CC-084A-9B53-6327CD9F7CCE}"/>
                </a:ext>
              </a:extLst>
            </p:cNvPr>
            <p:cNvSpPr/>
            <p:nvPr/>
          </p:nvSpPr>
          <p:spPr>
            <a:xfrm>
              <a:off x="8370193" y="1828167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124CE14-8E75-CA40-9249-6F87083DB291}"/>
                </a:ext>
              </a:extLst>
            </p:cNvPr>
            <p:cNvSpPr/>
            <p:nvPr/>
          </p:nvSpPr>
          <p:spPr>
            <a:xfrm>
              <a:off x="11107627" y="183029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72E9A6C-7CF3-DB44-8093-4A4A0BEE1AB7}"/>
                </a:ext>
              </a:extLst>
            </p:cNvPr>
            <p:cNvSpPr/>
            <p:nvPr/>
          </p:nvSpPr>
          <p:spPr>
            <a:xfrm>
              <a:off x="9935022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9D73941-0042-D746-9D8B-3A576AF5AD2D}"/>
                </a:ext>
              </a:extLst>
            </p:cNvPr>
            <p:cNvSpPr/>
            <p:nvPr/>
          </p:nvSpPr>
          <p:spPr>
            <a:xfrm>
              <a:off x="6379062" y="1830296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C939470-1BE3-A99C-6BA7-A91C8470F897}"/>
              </a:ext>
            </a:extLst>
          </p:cNvPr>
          <p:cNvSpPr txBox="1"/>
          <p:nvPr/>
        </p:nvSpPr>
        <p:spPr>
          <a:xfrm>
            <a:off x="135924" y="6469448"/>
            <a:ext cx="11506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Note: SD</a:t>
            </a:r>
            <a:r>
              <a:rPr lang="en-US" i="1" baseline="30000" dirty="0"/>
              <a:t>2</a:t>
            </a:r>
            <a:r>
              <a:rPr lang="en-US" i="1" dirty="0"/>
              <a:t> and SD are for descriptive statistics (Unit 1.3.), while s and s</a:t>
            </a:r>
            <a:r>
              <a:rPr lang="en-US" i="1" baseline="30000" dirty="0"/>
              <a:t>2</a:t>
            </a:r>
            <a:r>
              <a:rPr lang="en-US" i="1" dirty="0"/>
              <a:t> are for inferential statistics (Unit 4.3. &amp; </a:t>
            </a:r>
            <a:r>
              <a:rPr lang="en-US" i="1" dirty="0" err="1"/>
              <a:t>Psyc</a:t>
            </a:r>
            <a:r>
              <a:rPr lang="en-US" i="1" dirty="0"/>
              <a:t> 300B)</a:t>
            </a:r>
          </a:p>
        </p:txBody>
      </p:sp>
    </p:spTree>
    <p:extLst>
      <p:ext uri="{BB962C8B-B14F-4D97-AF65-F5344CB8AC3E}">
        <p14:creationId xmlns:p14="http://schemas.microsoft.com/office/powerpoint/2010/main" val="3345731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6255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Population and Sample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Models of Hypothesis Testing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2537179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2907C44-6E90-2441-9A76-92627ECBCDD2}"/>
              </a:ext>
            </a:extLst>
          </p:cNvPr>
          <p:cNvGrpSpPr/>
          <p:nvPr/>
        </p:nvGrpSpPr>
        <p:grpSpPr>
          <a:xfrm>
            <a:off x="8115843" y="2477729"/>
            <a:ext cx="4076157" cy="2838371"/>
            <a:chOff x="5661498" y="1191901"/>
            <a:chExt cx="6530502" cy="45474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D1A49C1-5648-1547-AAEB-6C801DB7E648}"/>
                </a:ext>
              </a:extLst>
            </p:cNvPr>
            <p:cNvGrpSpPr/>
            <p:nvPr/>
          </p:nvGrpSpPr>
          <p:grpSpPr>
            <a:xfrm>
              <a:off x="5661498" y="1191901"/>
              <a:ext cx="6530502" cy="4547418"/>
              <a:chOff x="5661498" y="1191901"/>
              <a:chExt cx="6530502" cy="4547418"/>
            </a:xfrm>
          </p:grpSpPr>
          <p:pic>
            <p:nvPicPr>
              <p:cNvPr id="12" name="Picture 4" descr="Population vs Sample | Definitions, Differences &amp; Examples">
                <a:extLst>
                  <a:ext uri="{FF2B5EF4-FFF2-40B4-BE49-F238E27FC236}">
                    <a16:creationId xmlns:a16="http://schemas.microsoft.com/office/drawing/2014/main" id="{D64B37D4-E597-B549-8D8D-2F5213C7D3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48" t="7028" b="16121"/>
              <a:stretch/>
            </p:blipFill>
            <p:spPr bwMode="auto">
              <a:xfrm>
                <a:off x="6080038" y="1191901"/>
                <a:ext cx="6111962" cy="4313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E1DF0E0-5520-4248-A3D4-9C689A1F448A}"/>
                  </a:ext>
                </a:extLst>
              </p:cNvPr>
              <p:cNvSpPr/>
              <p:nvPr/>
            </p:nvSpPr>
            <p:spPr>
              <a:xfrm>
                <a:off x="5661498" y="4941651"/>
                <a:ext cx="1614791" cy="7976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4DD9F04-4AA3-8545-89DD-1227B23F0728}"/>
                </a:ext>
              </a:extLst>
            </p:cNvPr>
            <p:cNvSpPr/>
            <p:nvPr/>
          </p:nvSpPr>
          <p:spPr>
            <a:xfrm>
              <a:off x="10361697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00DFA6C-9955-514D-92AF-576647F0EEDD}"/>
                </a:ext>
              </a:extLst>
            </p:cNvPr>
            <p:cNvSpPr/>
            <p:nvPr/>
          </p:nvSpPr>
          <p:spPr>
            <a:xfrm>
              <a:off x="8370193" y="1828167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948C18B-2D2B-5047-B699-2BFBBD6E9E7F}"/>
                </a:ext>
              </a:extLst>
            </p:cNvPr>
            <p:cNvSpPr/>
            <p:nvPr/>
          </p:nvSpPr>
          <p:spPr>
            <a:xfrm>
              <a:off x="11107627" y="183029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C4D9E8-76FA-CB43-8744-41BF816A21C3}"/>
                </a:ext>
              </a:extLst>
            </p:cNvPr>
            <p:cNvSpPr/>
            <p:nvPr/>
          </p:nvSpPr>
          <p:spPr>
            <a:xfrm>
              <a:off x="9935022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1156DA4-6202-9241-8513-FA10F0E82FAC}"/>
                </a:ext>
              </a:extLst>
            </p:cNvPr>
            <p:cNvSpPr/>
            <p:nvPr/>
          </p:nvSpPr>
          <p:spPr>
            <a:xfrm>
              <a:off x="6379062" y="1830296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BE6A730-785B-1448-98A4-7C6981B5B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of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2C6D4-C227-CE42-A116-6C9D9E381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3203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assume that our sample represents the population of interest because of our sampling models used</a:t>
            </a:r>
          </a:p>
          <a:p>
            <a:r>
              <a:rPr lang="en-US" dirty="0"/>
              <a:t>Requires a random process: </a:t>
            </a:r>
            <a:r>
              <a:rPr lang="en-US" i="1" dirty="0"/>
              <a:t>random sampling </a:t>
            </a:r>
            <a:r>
              <a:rPr lang="en-US" dirty="0"/>
              <a:t>or </a:t>
            </a:r>
            <a:r>
              <a:rPr lang="en-US" i="1" dirty="0"/>
              <a:t>random assignment</a:t>
            </a:r>
          </a:p>
          <a:p>
            <a:r>
              <a:rPr lang="en-US" dirty="0"/>
              <a:t>Each datum is independent from each other</a:t>
            </a:r>
          </a:p>
          <a:p>
            <a:pPr lvl="1"/>
            <a:r>
              <a:rPr lang="en-US" dirty="0"/>
              <a:t>e.g., same event/person/etc. cannot be recorded twice</a:t>
            </a:r>
          </a:p>
          <a:p>
            <a:pPr lvl="1"/>
            <a:r>
              <a:rPr lang="en-US" dirty="0"/>
              <a:t>But also if a person that gets chosen from a study that has learned about the study from a friend who did the study earlier is not independent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33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EE6594F-94C4-F940-B1E8-D7FD0275B6B5}"/>
              </a:ext>
            </a:extLst>
          </p:cNvPr>
          <p:cNvGrpSpPr/>
          <p:nvPr/>
        </p:nvGrpSpPr>
        <p:grpSpPr>
          <a:xfrm>
            <a:off x="8115843" y="2477729"/>
            <a:ext cx="4076157" cy="2838371"/>
            <a:chOff x="5661498" y="1191901"/>
            <a:chExt cx="6530502" cy="45474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D53BA13-E682-4B4B-8683-0B82DA044C40}"/>
                </a:ext>
              </a:extLst>
            </p:cNvPr>
            <p:cNvGrpSpPr/>
            <p:nvPr/>
          </p:nvGrpSpPr>
          <p:grpSpPr>
            <a:xfrm>
              <a:off x="5661498" y="1191901"/>
              <a:ext cx="6530502" cy="4547418"/>
              <a:chOff x="5661498" y="1191901"/>
              <a:chExt cx="6530502" cy="4547418"/>
            </a:xfrm>
          </p:grpSpPr>
          <p:pic>
            <p:nvPicPr>
              <p:cNvPr id="12" name="Picture 4" descr="Population vs Sample | Definitions, Differences &amp; Examples">
                <a:extLst>
                  <a:ext uri="{FF2B5EF4-FFF2-40B4-BE49-F238E27FC236}">
                    <a16:creationId xmlns:a16="http://schemas.microsoft.com/office/drawing/2014/main" id="{7D2C59C0-C526-0B49-9057-705BACEBEA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48" t="7028" b="16121"/>
              <a:stretch/>
            </p:blipFill>
            <p:spPr bwMode="auto">
              <a:xfrm>
                <a:off x="6080038" y="1191901"/>
                <a:ext cx="6111962" cy="4313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79E276F-D1D0-DE43-ACA9-C6AC9024AEB8}"/>
                  </a:ext>
                </a:extLst>
              </p:cNvPr>
              <p:cNvSpPr/>
              <p:nvPr/>
            </p:nvSpPr>
            <p:spPr>
              <a:xfrm>
                <a:off x="5661498" y="4941651"/>
                <a:ext cx="1614791" cy="7976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2D680E1-1833-2B41-AE9B-208A2BB62F89}"/>
                </a:ext>
              </a:extLst>
            </p:cNvPr>
            <p:cNvSpPr/>
            <p:nvPr/>
          </p:nvSpPr>
          <p:spPr>
            <a:xfrm>
              <a:off x="10361697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EFB70CB-BBD7-1C4D-B9DA-D7203871A2A2}"/>
                </a:ext>
              </a:extLst>
            </p:cNvPr>
            <p:cNvSpPr/>
            <p:nvPr/>
          </p:nvSpPr>
          <p:spPr>
            <a:xfrm>
              <a:off x="8370193" y="1828167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917D62A-0363-5444-B5B4-2F5C1138D726}"/>
                </a:ext>
              </a:extLst>
            </p:cNvPr>
            <p:cNvSpPr/>
            <p:nvPr/>
          </p:nvSpPr>
          <p:spPr>
            <a:xfrm>
              <a:off x="11107627" y="183029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DF248AC-0A56-9F45-B0FA-6EE5FC00653A}"/>
                </a:ext>
              </a:extLst>
            </p:cNvPr>
            <p:cNvSpPr/>
            <p:nvPr/>
          </p:nvSpPr>
          <p:spPr>
            <a:xfrm>
              <a:off x="9935022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250E5F5-965E-6247-9B5B-BE29C71EAFDF}"/>
                </a:ext>
              </a:extLst>
            </p:cNvPr>
            <p:cNvSpPr/>
            <p:nvPr/>
          </p:nvSpPr>
          <p:spPr>
            <a:xfrm>
              <a:off x="6379062" y="1830296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8FCFE6-D407-484D-88C5-30140B50A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of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EFB34-147C-AE49-8867-B65982F96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24537" cy="5802396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Samples are a subset of the population, but who gets to be in that subset?</a:t>
            </a:r>
          </a:p>
          <a:p>
            <a:r>
              <a:rPr lang="en-US" sz="3200" b="1" dirty="0"/>
              <a:t>Random Sampling Model</a:t>
            </a:r>
            <a:r>
              <a:rPr lang="en-US" sz="3200" dirty="0"/>
              <a:t>: A scientific method for determining a sample, which presumes every person in the population has an equal </a:t>
            </a:r>
            <a:r>
              <a:rPr lang="en-US" sz="3200" i="1" dirty="0"/>
              <a:t>chance</a:t>
            </a:r>
            <a:r>
              <a:rPr lang="en-US" sz="3200" dirty="0"/>
              <a:t> of being selected as part of the sample</a:t>
            </a:r>
          </a:p>
          <a:p>
            <a:pPr lvl="1"/>
            <a:r>
              <a:rPr lang="en-US" sz="2800" dirty="0"/>
              <a:t>Necessary as we are trying to represent the population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61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001C481-3C20-A443-9E46-47D875FF0E5A}"/>
              </a:ext>
            </a:extLst>
          </p:cNvPr>
          <p:cNvGrpSpPr/>
          <p:nvPr/>
        </p:nvGrpSpPr>
        <p:grpSpPr>
          <a:xfrm>
            <a:off x="8115843" y="2477729"/>
            <a:ext cx="4076157" cy="2838371"/>
            <a:chOff x="5661498" y="1191901"/>
            <a:chExt cx="6530502" cy="45474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04C0C6C-A3C5-C64F-AF22-9A8878FF97FE}"/>
                </a:ext>
              </a:extLst>
            </p:cNvPr>
            <p:cNvGrpSpPr/>
            <p:nvPr/>
          </p:nvGrpSpPr>
          <p:grpSpPr>
            <a:xfrm>
              <a:off x="5661498" y="1191901"/>
              <a:ext cx="6530502" cy="4547418"/>
              <a:chOff x="5661498" y="1191901"/>
              <a:chExt cx="6530502" cy="4547418"/>
            </a:xfrm>
          </p:grpSpPr>
          <p:pic>
            <p:nvPicPr>
              <p:cNvPr id="12" name="Picture 4" descr="Population vs Sample | Definitions, Differences &amp; Examples">
                <a:extLst>
                  <a:ext uri="{FF2B5EF4-FFF2-40B4-BE49-F238E27FC236}">
                    <a16:creationId xmlns:a16="http://schemas.microsoft.com/office/drawing/2014/main" id="{515BCD09-18B9-0D44-BDAC-EBFEC479E2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48" t="7028" b="16121"/>
              <a:stretch/>
            </p:blipFill>
            <p:spPr bwMode="auto">
              <a:xfrm>
                <a:off x="6080038" y="1191901"/>
                <a:ext cx="6111962" cy="4313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5E6B719-177D-8546-A4B9-C57DD85245F1}"/>
                  </a:ext>
                </a:extLst>
              </p:cNvPr>
              <p:cNvSpPr/>
              <p:nvPr/>
            </p:nvSpPr>
            <p:spPr>
              <a:xfrm>
                <a:off x="5661498" y="4941651"/>
                <a:ext cx="1614791" cy="7976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2558DB2-9697-AB45-B80B-AC17013A6B70}"/>
                </a:ext>
              </a:extLst>
            </p:cNvPr>
            <p:cNvSpPr/>
            <p:nvPr/>
          </p:nvSpPr>
          <p:spPr>
            <a:xfrm>
              <a:off x="10361697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7356F6A-CB84-494C-A018-B694131E64E2}"/>
                </a:ext>
              </a:extLst>
            </p:cNvPr>
            <p:cNvSpPr/>
            <p:nvPr/>
          </p:nvSpPr>
          <p:spPr>
            <a:xfrm>
              <a:off x="8370193" y="1828167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AA327BA-E90A-8A44-865B-D3BCD63C36BC}"/>
                </a:ext>
              </a:extLst>
            </p:cNvPr>
            <p:cNvSpPr/>
            <p:nvPr/>
          </p:nvSpPr>
          <p:spPr>
            <a:xfrm>
              <a:off x="11107627" y="183029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CD4CA48-0D4A-DD49-A0AC-CF4E8F265683}"/>
                </a:ext>
              </a:extLst>
            </p:cNvPr>
            <p:cNvSpPr/>
            <p:nvPr/>
          </p:nvSpPr>
          <p:spPr>
            <a:xfrm>
              <a:off x="9935022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178A31E-DD86-9548-A513-6A9385536299}"/>
                </a:ext>
              </a:extLst>
            </p:cNvPr>
            <p:cNvSpPr/>
            <p:nvPr/>
          </p:nvSpPr>
          <p:spPr>
            <a:xfrm>
              <a:off x="6379062" y="1830296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8FCFE6-D407-484D-88C5-30140B50A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of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EFB34-147C-AE49-8867-B65982F96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24537" cy="5802396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Samples are a subset of the population, but who gets to be in that subset?</a:t>
            </a:r>
          </a:p>
          <a:p>
            <a:r>
              <a:rPr lang="en-US" sz="3200" b="1" dirty="0"/>
              <a:t>Random Assignment Model</a:t>
            </a:r>
            <a:r>
              <a:rPr lang="en-US" sz="3200" dirty="0"/>
              <a:t>: A scientific method for determining a sample, which presumes every person has an equal </a:t>
            </a:r>
            <a:r>
              <a:rPr lang="en-US" sz="3200" i="1" dirty="0"/>
              <a:t>chance </a:t>
            </a:r>
            <a:r>
              <a:rPr lang="en-US" sz="3200" dirty="0"/>
              <a:t>of being assigned to either condition (e.g., drug group vs placebo group)</a:t>
            </a:r>
          </a:p>
          <a:p>
            <a:pPr lvl="1"/>
            <a:r>
              <a:rPr lang="en-US" sz="2800" dirty="0"/>
              <a:t>Necessary as we are trying to represent the population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46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4314E02-475D-0542-8092-8EB780300C5A}"/>
              </a:ext>
            </a:extLst>
          </p:cNvPr>
          <p:cNvGrpSpPr/>
          <p:nvPr/>
        </p:nvGrpSpPr>
        <p:grpSpPr>
          <a:xfrm>
            <a:off x="8115843" y="2477729"/>
            <a:ext cx="4076157" cy="2838371"/>
            <a:chOff x="5661498" y="1191901"/>
            <a:chExt cx="6530502" cy="45474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3F2895F-7782-9C43-89E9-307256D8E6D4}"/>
                </a:ext>
              </a:extLst>
            </p:cNvPr>
            <p:cNvGrpSpPr/>
            <p:nvPr/>
          </p:nvGrpSpPr>
          <p:grpSpPr>
            <a:xfrm>
              <a:off x="5661498" y="1191901"/>
              <a:ext cx="6530502" cy="4547418"/>
              <a:chOff x="5661498" y="1191901"/>
              <a:chExt cx="6530502" cy="4547418"/>
            </a:xfrm>
          </p:grpSpPr>
          <p:pic>
            <p:nvPicPr>
              <p:cNvPr id="12" name="Picture 4" descr="Population vs Sample | Definitions, Differences &amp; Examples">
                <a:extLst>
                  <a:ext uri="{FF2B5EF4-FFF2-40B4-BE49-F238E27FC236}">
                    <a16:creationId xmlns:a16="http://schemas.microsoft.com/office/drawing/2014/main" id="{25082D42-7035-A44A-9171-A38B59101E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48" t="7028" b="16121"/>
              <a:stretch/>
            </p:blipFill>
            <p:spPr bwMode="auto">
              <a:xfrm>
                <a:off x="6080038" y="1191901"/>
                <a:ext cx="6111962" cy="4313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DA18F83-3E84-D644-B978-983262575F6B}"/>
                  </a:ext>
                </a:extLst>
              </p:cNvPr>
              <p:cNvSpPr/>
              <p:nvPr/>
            </p:nvSpPr>
            <p:spPr>
              <a:xfrm>
                <a:off x="5661498" y="4941651"/>
                <a:ext cx="1614791" cy="7976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7DCE751-53CC-6143-9731-5C19050DBEAC}"/>
                </a:ext>
              </a:extLst>
            </p:cNvPr>
            <p:cNvSpPr/>
            <p:nvPr/>
          </p:nvSpPr>
          <p:spPr>
            <a:xfrm>
              <a:off x="10361697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5D25CC-BA64-DF40-9F4B-3960DFEB4D3D}"/>
                </a:ext>
              </a:extLst>
            </p:cNvPr>
            <p:cNvSpPr/>
            <p:nvPr/>
          </p:nvSpPr>
          <p:spPr>
            <a:xfrm>
              <a:off x="8370193" y="1828167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0678A36-ACEC-3344-8950-A885C8F970E9}"/>
                </a:ext>
              </a:extLst>
            </p:cNvPr>
            <p:cNvSpPr/>
            <p:nvPr/>
          </p:nvSpPr>
          <p:spPr>
            <a:xfrm>
              <a:off x="11107627" y="183029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51C4C58-B568-2543-8380-4DDC1947BAD2}"/>
                </a:ext>
              </a:extLst>
            </p:cNvPr>
            <p:cNvSpPr/>
            <p:nvPr/>
          </p:nvSpPr>
          <p:spPr>
            <a:xfrm>
              <a:off x="9935022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4D1CE2-B224-6A4A-8CBD-D62258759C12}"/>
                </a:ext>
              </a:extLst>
            </p:cNvPr>
            <p:cNvSpPr/>
            <p:nvPr/>
          </p:nvSpPr>
          <p:spPr>
            <a:xfrm>
              <a:off x="6379062" y="1830296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8FCFE6-D407-484D-88C5-30140B50A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of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EFB34-147C-AE49-8867-B65982F96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725526" cy="5802396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Forms of Random Sampling/Assignment</a:t>
            </a:r>
            <a:endParaRPr lang="en-US" sz="3200" dirty="0"/>
          </a:p>
          <a:p>
            <a:r>
              <a:rPr lang="en-US" sz="3200" b="1" dirty="0"/>
              <a:t>Simple Random Sampling</a:t>
            </a:r>
            <a:r>
              <a:rPr lang="en-US" sz="3200" dirty="0"/>
              <a:t>: Every person of the population has an equal chance of being selected</a:t>
            </a:r>
          </a:p>
          <a:p>
            <a:pPr lvl="1"/>
            <a:r>
              <a:rPr lang="en-US" sz="2800" dirty="0"/>
              <a:t>Most often impossible</a:t>
            </a:r>
          </a:p>
          <a:p>
            <a:pPr lvl="1"/>
            <a:r>
              <a:rPr lang="en-US" sz="2800" dirty="0"/>
              <a:t>Also called True Random Sampling</a:t>
            </a:r>
          </a:p>
        </p:txBody>
      </p:sp>
    </p:spTree>
    <p:extLst>
      <p:ext uri="{BB962C8B-B14F-4D97-AF65-F5344CB8AC3E}">
        <p14:creationId xmlns:p14="http://schemas.microsoft.com/office/powerpoint/2010/main" val="187417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1DD9F-B676-87FD-BA12-764BACEB8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C48063F-5F26-4A37-1B1E-99366CC693CB}"/>
              </a:ext>
            </a:extLst>
          </p:cNvPr>
          <p:cNvGrpSpPr/>
          <p:nvPr/>
        </p:nvGrpSpPr>
        <p:grpSpPr>
          <a:xfrm>
            <a:off x="8115843" y="2477729"/>
            <a:ext cx="4076157" cy="2838371"/>
            <a:chOff x="5661498" y="1191901"/>
            <a:chExt cx="6530502" cy="45474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B2F848E-F574-4127-9FBE-D831B733BEA9}"/>
                </a:ext>
              </a:extLst>
            </p:cNvPr>
            <p:cNvGrpSpPr/>
            <p:nvPr/>
          </p:nvGrpSpPr>
          <p:grpSpPr>
            <a:xfrm>
              <a:off x="5661498" y="1191901"/>
              <a:ext cx="6530502" cy="4547418"/>
              <a:chOff x="5661498" y="1191901"/>
              <a:chExt cx="6530502" cy="4547418"/>
            </a:xfrm>
          </p:grpSpPr>
          <p:pic>
            <p:nvPicPr>
              <p:cNvPr id="12" name="Picture 4" descr="Population vs Sample | Definitions, Differences &amp; Examples">
                <a:extLst>
                  <a:ext uri="{FF2B5EF4-FFF2-40B4-BE49-F238E27FC236}">
                    <a16:creationId xmlns:a16="http://schemas.microsoft.com/office/drawing/2014/main" id="{FF0640DE-24E2-C1AF-BC4C-09880B6E67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48" t="7028" b="16121"/>
              <a:stretch/>
            </p:blipFill>
            <p:spPr bwMode="auto">
              <a:xfrm>
                <a:off x="6080038" y="1191901"/>
                <a:ext cx="6111962" cy="4313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4B51785-6E2F-327F-9EBB-213590F9594F}"/>
                  </a:ext>
                </a:extLst>
              </p:cNvPr>
              <p:cNvSpPr/>
              <p:nvPr/>
            </p:nvSpPr>
            <p:spPr>
              <a:xfrm>
                <a:off x="5661498" y="4941651"/>
                <a:ext cx="1614791" cy="7976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2F46C89-E940-C724-E7BD-7453A15025A5}"/>
                </a:ext>
              </a:extLst>
            </p:cNvPr>
            <p:cNvSpPr/>
            <p:nvPr/>
          </p:nvSpPr>
          <p:spPr>
            <a:xfrm>
              <a:off x="10361697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616C78D-623C-3352-37EC-9FC89EC6CE63}"/>
                </a:ext>
              </a:extLst>
            </p:cNvPr>
            <p:cNvSpPr/>
            <p:nvPr/>
          </p:nvSpPr>
          <p:spPr>
            <a:xfrm>
              <a:off x="8370193" y="1828167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75C1F86-657D-3492-BB44-A53D24233E64}"/>
                </a:ext>
              </a:extLst>
            </p:cNvPr>
            <p:cNvSpPr/>
            <p:nvPr/>
          </p:nvSpPr>
          <p:spPr>
            <a:xfrm>
              <a:off x="11107627" y="183029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95B45A3-6471-EFD7-85E2-9E69A18B1200}"/>
                </a:ext>
              </a:extLst>
            </p:cNvPr>
            <p:cNvSpPr/>
            <p:nvPr/>
          </p:nvSpPr>
          <p:spPr>
            <a:xfrm>
              <a:off x="9935022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1914B13-22D4-5A2B-A76E-083222F188AB}"/>
                </a:ext>
              </a:extLst>
            </p:cNvPr>
            <p:cNvSpPr/>
            <p:nvPr/>
          </p:nvSpPr>
          <p:spPr>
            <a:xfrm>
              <a:off x="6379062" y="1830296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2A1B00E-B10E-CB9A-4E1F-C16D1015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of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D493F-F821-081B-C1FC-A2562BB27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24537" cy="5802396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Forms of Random Sampling/Assignment</a:t>
            </a:r>
            <a:endParaRPr lang="en-US" sz="3200" dirty="0"/>
          </a:p>
          <a:p>
            <a:r>
              <a:rPr lang="en-US" sz="3200" b="1" dirty="0"/>
              <a:t>Convenience Sampling</a:t>
            </a:r>
            <a:r>
              <a:rPr lang="en-US" sz="3200" dirty="0"/>
              <a:t>: Determine a pre-defined subset of individuals to select our sample from because that’s what we have access to</a:t>
            </a:r>
          </a:p>
          <a:p>
            <a:pPr lvl="1"/>
            <a:r>
              <a:rPr lang="en-US" sz="2800" dirty="0"/>
              <a:t>E.g., Psychology undergraduate students</a:t>
            </a:r>
          </a:p>
          <a:p>
            <a:pPr lvl="1"/>
            <a:r>
              <a:rPr lang="en-US" sz="2800" dirty="0"/>
              <a:t>We then must rely on random assignment</a:t>
            </a:r>
          </a:p>
          <a:p>
            <a:pPr lvl="1"/>
            <a:r>
              <a:rPr lang="en-US" sz="2800" dirty="0"/>
              <a:t>Cannot generalize further than </a:t>
            </a:r>
            <a:r>
              <a:rPr lang="en-US" sz="2800" dirty="0" err="1"/>
              <a:t>psyc</a:t>
            </a:r>
            <a:r>
              <a:rPr lang="en-US" sz="2800" dirty="0"/>
              <a:t> undergrads</a:t>
            </a:r>
          </a:p>
        </p:txBody>
      </p:sp>
    </p:spTree>
    <p:extLst>
      <p:ext uri="{BB962C8B-B14F-4D97-AF65-F5344CB8AC3E}">
        <p14:creationId xmlns:p14="http://schemas.microsoft.com/office/powerpoint/2010/main" val="252464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36A8029-B6EA-7A4A-81F0-44674C14480E}"/>
              </a:ext>
            </a:extLst>
          </p:cNvPr>
          <p:cNvGrpSpPr/>
          <p:nvPr/>
        </p:nvGrpSpPr>
        <p:grpSpPr>
          <a:xfrm>
            <a:off x="8115843" y="2477729"/>
            <a:ext cx="4076157" cy="2838371"/>
            <a:chOff x="5661498" y="1191901"/>
            <a:chExt cx="6530502" cy="45474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68A5161-63C2-3244-898A-F141D280AA48}"/>
                </a:ext>
              </a:extLst>
            </p:cNvPr>
            <p:cNvGrpSpPr/>
            <p:nvPr/>
          </p:nvGrpSpPr>
          <p:grpSpPr>
            <a:xfrm>
              <a:off x="5661498" y="1191901"/>
              <a:ext cx="6530502" cy="4547418"/>
              <a:chOff x="5661498" y="1191901"/>
              <a:chExt cx="6530502" cy="4547418"/>
            </a:xfrm>
          </p:grpSpPr>
          <p:pic>
            <p:nvPicPr>
              <p:cNvPr id="12" name="Picture 4" descr="Population vs Sample | Definitions, Differences &amp; Examples">
                <a:extLst>
                  <a:ext uri="{FF2B5EF4-FFF2-40B4-BE49-F238E27FC236}">
                    <a16:creationId xmlns:a16="http://schemas.microsoft.com/office/drawing/2014/main" id="{B37D9442-2B3F-AE43-81A6-8561714697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48" t="7028" b="16121"/>
              <a:stretch/>
            </p:blipFill>
            <p:spPr bwMode="auto">
              <a:xfrm>
                <a:off x="6080038" y="1191901"/>
                <a:ext cx="6111962" cy="4313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DED9D8A-EBFE-5140-AD7D-2E9167BFED38}"/>
                  </a:ext>
                </a:extLst>
              </p:cNvPr>
              <p:cNvSpPr/>
              <p:nvPr/>
            </p:nvSpPr>
            <p:spPr>
              <a:xfrm>
                <a:off x="5661498" y="4941651"/>
                <a:ext cx="1614791" cy="7976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3340228-DFB9-D94D-8A98-3A8B670DDC5B}"/>
                </a:ext>
              </a:extLst>
            </p:cNvPr>
            <p:cNvSpPr/>
            <p:nvPr/>
          </p:nvSpPr>
          <p:spPr>
            <a:xfrm>
              <a:off x="10361697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A5CE55B-F159-0146-8B64-82A0008F587F}"/>
                </a:ext>
              </a:extLst>
            </p:cNvPr>
            <p:cNvSpPr/>
            <p:nvPr/>
          </p:nvSpPr>
          <p:spPr>
            <a:xfrm>
              <a:off x="8370193" y="1828167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7E7C18A-6692-1640-8E34-A097CCD0F731}"/>
                </a:ext>
              </a:extLst>
            </p:cNvPr>
            <p:cNvSpPr/>
            <p:nvPr/>
          </p:nvSpPr>
          <p:spPr>
            <a:xfrm>
              <a:off x="11107627" y="183029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A2550AC-FCF4-EB4C-A44E-ED624C01CF22}"/>
                </a:ext>
              </a:extLst>
            </p:cNvPr>
            <p:cNvSpPr/>
            <p:nvPr/>
          </p:nvSpPr>
          <p:spPr>
            <a:xfrm>
              <a:off x="9935022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A50EC5E-DF18-EF4D-B100-182F3CC496FA}"/>
                </a:ext>
              </a:extLst>
            </p:cNvPr>
            <p:cNvSpPr/>
            <p:nvPr/>
          </p:nvSpPr>
          <p:spPr>
            <a:xfrm>
              <a:off x="6379062" y="1830296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8FCFE6-D407-484D-88C5-30140B50A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of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EFB34-147C-AE49-8867-B65982F96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32603" cy="5802396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Forms of Random Sampling/Assignment</a:t>
            </a:r>
            <a:endParaRPr lang="en-US" sz="3200" dirty="0"/>
          </a:p>
          <a:p>
            <a:r>
              <a:rPr lang="en-US" sz="3200" b="1" dirty="0"/>
              <a:t>Random Sampling/Assignment with Restriction: </a:t>
            </a:r>
            <a:r>
              <a:rPr lang="en-US" sz="3200" dirty="0"/>
              <a:t>Every person of the population that </a:t>
            </a:r>
            <a:r>
              <a:rPr lang="en-US" sz="3200" i="1" dirty="0"/>
              <a:t>holds an experimenter-determined characteristic </a:t>
            </a:r>
            <a:r>
              <a:rPr lang="en-US" sz="3200" dirty="0"/>
              <a:t>has an equal chance of being selected</a:t>
            </a:r>
          </a:p>
          <a:p>
            <a:pPr lvl="1"/>
            <a:r>
              <a:rPr lang="en-US" sz="2800" dirty="0"/>
              <a:t>E.g., individuals with schizophrenia</a:t>
            </a:r>
          </a:p>
        </p:txBody>
      </p:sp>
    </p:spTree>
    <p:extLst>
      <p:ext uri="{BB962C8B-B14F-4D97-AF65-F5344CB8AC3E}">
        <p14:creationId xmlns:p14="http://schemas.microsoft.com/office/powerpoint/2010/main" val="395676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36A8029-B6EA-7A4A-81F0-44674C14480E}"/>
              </a:ext>
            </a:extLst>
          </p:cNvPr>
          <p:cNvGrpSpPr/>
          <p:nvPr/>
        </p:nvGrpSpPr>
        <p:grpSpPr>
          <a:xfrm>
            <a:off x="8115843" y="2477729"/>
            <a:ext cx="4076157" cy="2838371"/>
            <a:chOff x="5661498" y="1191901"/>
            <a:chExt cx="6530502" cy="45474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68A5161-63C2-3244-898A-F141D280AA48}"/>
                </a:ext>
              </a:extLst>
            </p:cNvPr>
            <p:cNvGrpSpPr/>
            <p:nvPr/>
          </p:nvGrpSpPr>
          <p:grpSpPr>
            <a:xfrm>
              <a:off x="5661498" y="1191901"/>
              <a:ext cx="6530502" cy="4547418"/>
              <a:chOff x="5661498" y="1191901"/>
              <a:chExt cx="6530502" cy="4547418"/>
            </a:xfrm>
          </p:grpSpPr>
          <p:pic>
            <p:nvPicPr>
              <p:cNvPr id="12" name="Picture 4" descr="Population vs Sample | Definitions, Differences &amp; Examples">
                <a:extLst>
                  <a:ext uri="{FF2B5EF4-FFF2-40B4-BE49-F238E27FC236}">
                    <a16:creationId xmlns:a16="http://schemas.microsoft.com/office/drawing/2014/main" id="{B37D9442-2B3F-AE43-81A6-8561714697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48" t="7028" b="16121"/>
              <a:stretch/>
            </p:blipFill>
            <p:spPr bwMode="auto">
              <a:xfrm>
                <a:off x="6080038" y="1191901"/>
                <a:ext cx="6111962" cy="4313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DED9D8A-EBFE-5140-AD7D-2E9167BFED38}"/>
                  </a:ext>
                </a:extLst>
              </p:cNvPr>
              <p:cNvSpPr/>
              <p:nvPr/>
            </p:nvSpPr>
            <p:spPr>
              <a:xfrm>
                <a:off x="5661498" y="4941651"/>
                <a:ext cx="1614791" cy="7976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3340228-DFB9-D94D-8A98-3A8B670DDC5B}"/>
                </a:ext>
              </a:extLst>
            </p:cNvPr>
            <p:cNvSpPr/>
            <p:nvPr/>
          </p:nvSpPr>
          <p:spPr>
            <a:xfrm>
              <a:off x="10361697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A5CE55B-F159-0146-8B64-82A0008F587F}"/>
                </a:ext>
              </a:extLst>
            </p:cNvPr>
            <p:cNvSpPr/>
            <p:nvPr/>
          </p:nvSpPr>
          <p:spPr>
            <a:xfrm>
              <a:off x="8370193" y="1828167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7E7C18A-6692-1640-8E34-A097CCD0F731}"/>
                </a:ext>
              </a:extLst>
            </p:cNvPr>
            <p:cNvSpPr/>
            <p:nvPr/>
          </p:nvSpPr>
          <p:spPr>
            <a:xfrm>
              <a:off x="11107627" y="183029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A2550AC-FCF4-EB4C-A44E-ED624C01CF22}"/>
                </a:ext>
              </a:extLst>
            </p:cNvPr>
            <p:cNvSpPr/>
            <p:nvPr/>
          </p:nvSpPr>
          <p:spPr>
            <a:xfrm>
              <a:off x="9935022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A50EC5E-DF18-EF4D-B100-182F3CC496FA}"/>
                </a:ext>
              </a:extLst>
            </p:cNvPr>
            <p:cNvSpPr/>
            <p:nvPr/>
          </p:nvSpPr>
          <p:spPr>
            <a:xfrm>
              <a:off x="6379062" y="1830296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08FCFE6-D407-484D-88C5-30140B50A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of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EFB34-147C-AE49-8867-B65982F96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59207" cy="5802396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/>
              <a:t>Forms of Random Sampling/Assignment</a:t>
            </a:r>
            <a:endParaRPr lang="en-US" sz="3200" dirty="0"/>
          </a:p>
          <a:p>
            <a:r>
              <a:rPr lang="en-US" sz="3200" b="1" dirty="0"/>
              <a:t>Stratified Random Sampling/Assignment</a:t>
            </a:r>
            <a:r>
              <a:rPr lang="en-US" sz="3200" dirty="0"/>
              <a:t>: Pre-existing representation of the population</a:t>
            </a:r>
          </a:p>
          <a:p>
            <a:pPr lvl="1"/>
            <a:r>
              <a:rPr lang="en-US" sz="2800" dirty="0"/>
              <a:t>Using known proportions of the population to guide who is recruited</a:t>
            </a:r>
          </a:p>
          <a:p>
            <a:pPr lvl="1"/>
            <a:r>
              <a:rPr lang="en-US" sz="2800" dirty="0"/>
              <a:t>E.g., proportionate representation of ethnic diversity of the community </a:t>
            </a:r>
          </a:p>
          <a:p>
            <a:pPr lvl="1"/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34123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3BE68-D364-6295-28DA-3C360C6D7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D0AC8FC-1056-3C66-7F4E-35F6CC940954}"/>
              </a:ext>
            </a:extLst>
          </p:cNvPr>
          <p:cNvGrpSpPr/>
          <p:nvPr/>
        </p:nvGrpSpPr>
        <p:grpSpPr>
          <a:xfrm>
            <a:off x="8115843" y="2477729"/>
            <a:ext cx="4076157" cy="2838371"/>
            <a:chOff x="5661498" y="1191901"/>
            <a:chExt cx="6530502" cy="454741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6D43C0B-3F58-67FF-1BB8-22C409453A94}"/>
                </a:ext>
              </a:extLst>
            </p:cNvPr>
            <p:cNvGrpSpPr/>
            <p:nvPr/>
          </p:nvGrpSpPr>
          <p:grpSpPr>
            <a:xfrm>
              <a:off x="5661498" y="1191901"/>
              <a:ext cx="6530502" cy="4547418"/>
              <a:chOff x="5661498" y="1191901"/>
              <a:chExt cx="6530502" cy="4547418"/>
            </a:xfrm>
          </p:grpSpPr>
          <p:pic>
            <p:nvPicPr>
              <p:cNvPr id="12" name="Picture 4" descr="Population vs Sample | Definitions, Differences &amp; Examples">
                <a:extLst>
                  <a:ext uri="{FF2B5EF4-FFF2-40B4-BE49-F238E27FC236}">
                    <a16:creationId xmlns:a16="http://schemas.microsoft.com/office/drawing/2014/main" id="{03185740-2224-3C0F-D500-A8D4242B97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48" t="7028" b="16121"/>
              <a:stretch/>
            </p:blipFill>
            <p:spPr bwMode="auto">
              <a:xfrm>
                <a:off x="6080038" y="1191901"/>
                <a:ext cx="6111962" cy="431395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F6D1BA7-C6E1-B5BD-67A5-131D3CA6D9A1}"/>
                  </a:ext>
                </a:extLst>
              </p:cNvPr>
              <p:cNvSpPr/>
              <p:nvPr/>
            </p:nvSpPr>
            <p:spPr>
              <a:xfrm>
                <a:off x="5661498" y="4941651"/>
                <a:ext cx="1614791" cy="7976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AA2A755-AC4A-DA17-BB11-DC707D1AFBA9}"/>
                </a:ext>
              </a:extLst>
            </p:cNvPr>
            <p:cNvSpPr/>
            <p:nvPr/>
          </p:nvSpPr>
          <p:spPr>
            <a:xfrm>
              <a:off x="10361697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7FA08B3-68EB-3160-266B-D1A123EBA266}"/>
                </a:ext>
              </a:extLst>
            </p:cNvPr>
            <p:cNvSpPr/>
            <p:nvPr/>
          </p:nvSpPr>
          <p:spPr>
            <a:xfrm>
              <a:off x="8370193" y="1828167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E2FE9A7-0C40-66F1-8524-E57B7EE80A48}"/>
                </a:ext>
              </a:extLst>
            </p:cNvPr>
            <p:cNvSpPr/>
            <p:nvPr/>
          </p:nvSpPr>
          <p:spPr>
            <a:xfrm>
              <a:off x="11107627" y="183029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87F1419-1737-1CB2-B246-67F51904BE8C}"/>
                </a:ext>
              </a:extLst>
            </p:cNvPr>
            <p:cNvSpPr/>
            <p:nvPr/>
          </p:nvSpPr>
          <p:spPr>
            <a:xfrm>
              <a:off x="9935022" y="1826505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34AC7B4-8120-DB3F-5F7E-B212AC61777B}"/>
                </a:ext>
              </a:extLst>
            </p:cNvPr>
            <p:cNvSpPr/>
            <p:nvPr/>
          </p:nvSpPr>
          <p:spPr>
            <a:xfrm>
              <a:off x="6379062" y="1830296"/>
              <a:ext cx="492346" cy="1006065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75A1FC-8633-AE78-68FF-6A3D459D5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of Hypothesis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CEC9C-95A4-BD2D-3566-5B6881A0D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5526" cy="49537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200" b="1" dirty="0"/>
              <a:t>Western Educated Industrialized Rich Democratic (WEIRD) Samples</a:t>
            </a:r>
          </a:p>
          <a:p>
            <a:r>
              <a:rPr lang="en-US" dirty="0"/>
              <a:t>Psychology uses a narrow, unrepresentative slice of humanity, despite generalizing findings to humans as a whole</a:t>
            </a:r>
          </a:p>
          <a:p>
            <a:endParaRPr lang="en-US" b="1" dirty="0"/>
          </a:p>
          <a:p>
            <a:r>
              <a:rPr lang="en-US" b="1" dirty="0"/>
              <a:t>Petrutiu et al., 2026: </a:t>
            </a:r>
            <a:r>
              <a:rPr lang="en-US" dirty="0"/>
              <a:t>Looked at British-hosted journals between 2021 and 2023</a:t>
            </a:r>
          </a:p>
          <a:p>
            <a:pPr lvl="1"/>
            <a:r>
              <a:rPr lang="en-US" dirty="0"/>
              <a:t>68% of samples recruited from Western countries</a:t>
            </a:r>
          </a:p>
          <a:p>
            <a:pPr lvl="2"/>
            <a:r>
              <a:rPr lang="en-US" dirty="0"/>
              <a:t>North America, Europe, Australia, New Zealand, etc.</a:t>
            </a:r>
          </a:p>
          <a:p>
            <a:pPr lvl="2"/>
            <a:r>
              <a:rPr lang="en-US" dirty="0"/>
              <a:t>E.g., 20% from UK, 17.7% from US</a:t>
            </a:r>
          </a:p>
          <a:p>
            <a:pPr lvl="1"/>
            <a:r>
              <a:rPr lang="en-US" dirty="0"/>
              <a:t>19% of studies only used undergraduate students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Henrich et al., 2010: </a:t>
            </a:r>
            <a:r>
              <a:rPr lang="en-US" dirty="0"/>
              <a:t>Looked at journals between 2003 and 2007</a:t>
            </a:r>
          </a:p>
          <a:p>
            <a:pPr lvl="1"/>
            <a:r>
              <a:rPr lang="en-US" dirty="0"/>
              <a:t>96% of samples from rich and industrialized countries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3E08A5-AF21-D92C-5697-84E6F9C27BAA}"/>
              </a:ext>
            </a:extLst>
          </p:cNvPr>
          <p:cNvSpPr txBox="1"/>
          <p:nvPr/>
        </p:nvSpPr>
        <p:spPr>
          <a:xfrm>
            <a:off x="10113844" y="6492875"/>
            <a:ext cx="2040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Petrutiu et al.,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468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625588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Population and Sample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Models of Hypothesis Testing</a:t>
            </a:r>
          </a:p>
          <a:p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</a:p>
        </p:txBody>
      </p:sp>
    </p:spTree>
    <p:extLst>
      <p:ext uri="{BB962C8B-B14F-4D97-AF65-F5344CB8AC3E}">
        <p14:creationId xmlns:p14="http://schemas.microsoft.com/office/powerpoint/2010/main" val="2827077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FCFE6-D407-484D-88C5-30140B50A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in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EFB34-147C-AE49-8867-B65982F96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24537" cy="580239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Inferential Statistics</a:t>
            </a:r>
            <a:r>
              <a:rPr lang="en-US" dirty="0"/>
              <a:t>: Compares two or more things to determine if they are the same or different</a:t>
            </a:r>
          </a:p>
          <a:p>
            <a:r>
              <a:rPr lang="en-US" dirty="0"/>
              <a:t>The decision of whether two+ things are the same or different is actually a probability of how likely it is that they are the same</a:t>
            </a:r>
          </a:p>
          <a:p>
            <a:r>
              <a:rPr lang="en-US" dirty="0"/>
              <a:t>Low p-values (e.g., </a:t>
            </a:r>
            <a:r>
              <a:rPr lang="en-US" i="1" dirty="0"/>
              <a:t>p</a:t>
            </a:r>
            <a:r>
              <a:rPr lang="en-US" dirty="0"/>
              <a:t> = .05 or 5% chance) says the two things </a:t>
            </a:r>
            <a:r>
              <a:rPr lang="en-US" b="1" i="1" dirty="0"/>
              <a:t>are not likely the same</a:t>
            </a:r>
          </a:p>
          <a:p>
            <a:r>
              <a:rPr lang="en-US" dirty="0"/>
              <a:t>High p-values (e.g., p = .85 or 85% chance) says the two things </a:t>
            </a:r>
            <a:r>
              <a:rPr lang="en-US" b="1" i="1" dirty="0"/>
              <a:t>are likely the same</a:t>
            </a:r>
          </a:p>
        </p:txBody>
      </p:sp>
      <p:pic>
        <p:nvPicPr>
          <p:cNvPr id="1026" name="Picture 2" descr="Trademark Global Jumbo Slot Machine Bank - Replication &amp; Reviews |  Wayfair.ca">
            <a:extLst>
              <a:ext uri="{FF2B5EF4-FFF2-40B4-BE49-F238E27FC236}">
                <a16:creationId xmlns:a16="http://schemas.microsoft.com/office/drawing/2014/main" id="{CE6F16EC-A667-F342-81AC-115F788268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17"/>
          <a:stretch/>
        </p:blipFill>
        <p:spPr bwMode="auto">
          <a:xfrm>
            <a:off x="8783154" y="823672"/>
            <a:ext cx="3269950" cy="5353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11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CEA85-49D4-C099-4B82-5581A94F1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1E04-01E6-262F-0A88-3D1378EF5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in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2017F-320E-0771-B991-BD2B25282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2975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Probability</a:t>
            </a:r>
            <a:r>
              <a:rPr lang="en-US" dirty="0"/>
              <a:t>: The likelihood of occurrence or possibility of an outcome</a:t>
            </a:r>
          </a:p>
          <a:p>
            <a:r>
              <a:rPr lang="en-US" dirty="0"/>
              <a:t>The certainty that an event will occur</a:t>
            </a:r>
          </a:p>
          <a:p>
            <a:r>
              <a:rPr lang="en-US" dirty="0"/>
              <a:t>Expressed as proportion (so, it’s between 0 and 1)</a:t>
            </a:r>
          </a:p>
          <a:p>
            <a:r>
              <a:rPr lang="en-US" dirty="0"/>
              <a:t>We use </a:t>
            </a:r>
            <a:r>
              <a:rPr lang="en-US" i="1" dirty="0"/>
              <a:t>p </a:t>
            </a:r>
            <a:r>
              <a:rPr lang="en-US" dirty="0"/>
              <a:t>to represent probability in statistics</a:t>
            </a:r>
          </a:p>
          <a:p>
            <a:pPr lvl="1"/>
            <a:r>
              <a:rPr lang="en-US" dirty="0"/>
              <a:t>We used the z-score table last unit to get </a:t>
            </a:r>
            <a:r>
              <a:rPr lang="en-US" i="1" dirty="0"/>
              <a:t>p-</a:t>
            </a:r>
            <a:r>
              <a:rPr lang="en-US" dirty="0"/>
              <a:t>values of different </a:t>
            </a:r>
            <a:r>
              <a:rPr lang="en-US"/>
              <a:t>z-score values</a:t>
            </a:r>
            <a:endParaRPr lang="en-US" dirty="0"/>
          </a:p>
        </p:txBody>
      </p:sp>
      <p:pic>
        <p:nvPicPr>
          <p:cNvPr id="1026" name="Picture 2" descr="Trademark Global Jumbo Slot Machine Bank - Replication &amp; Reviews |  Wayfair.ca">
            <a:extLst>
              <a:ext uri="{FF2B5EF4-FFF2-40B4-BE49-F238E27FC236}">
                <a16:creationId xmlns:a16="http://schemas.microsoft.com/office/drawing/2014/main" id="{0B187730-20D4-EB5A-FE9B-E0A3F190F0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17"/>
          <a:stretch/>
        </p:blipFill>
        <p:spPr bwMode="auto">
          <a:xfrm>
            <a:off x="8783154" y="823672"/>
            <a:ext cx="3269950" cy="5353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15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184B14BC-8535-59C5-9E34-5FA80AAF0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9" y="2419298"/>
            <a:ext cx="6259054" cy="37301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96AFAE-3446-8340-AD64-6B5983826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 in Statistics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186E47-8D53-C243-BE8B-CDF44B0FDA1A}"/>
              </a:ext>
            </a:extLst>
          </p:cNvPr>
          <p:cNvSpPr txBox="1"/>
          <p:nvPr/>
        </p:nvSpPr>
        <p:spPr>
          <a:xfrm>
            <a:off x="838200" y="1347408"/>
            <a:ext cx="51696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is the probability that two groups are the same if the z = -2.17?</a:t>
            </a:r>
          </a:p>
          <a:p>
            <a:endParaRPr lang="en-US" sz="2400" dirty="0"/>
          </a:p>
          <a:p>
            <a:r>
              <a:rPr lang="en-US" sz="2400" b="1" i="1" dirty="0"/>
              <a:t>p</a:t>
            </a:r>
            <a:r>
              <a:rPr lang="en-US" sz="2400" b="1" dirty="0"/>
              <a:t> = .0150 (1.50%)</a:t>
            </a:r>
            <a:endParaRPr lang="en-US" sz="2400" b="1" i="1" dirty="0"/>
          </a:p>
          <a:p>
            <a:endParaRPr lang="en-US" sz="2400" dirty="0">
              <a:solidFill>
                <a:srgbClr val="FF0000"/>
              </a:solidFill>
            </a:endParaRP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8181A0-68A7-AA4C-B4A2-DB019B616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686" y="567963"/>
            <a:ext cx="6115314" cy="6290037"/>
          </a:xfrm>
          <a:prstGeom prst="rect">
            <a:avLst/>
          </a:prstGeom>
        </p:spPr>
      </p:pic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1CCCBD88-A829-E712-F649-0112FE2DD77E}"/>
              </a:ext>
            </a:extLst>
          </p:cNvPr>
          <p:cNvSpPr/>
          <p:nvPr/>
        </p:nvSpPr>
        <p:spPr>
          <a:xfrm>
            <a:off x="6236421" y="3002841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0C399510-8DC3-9C09-0D81-574C09831F0E}"/>
              </a:ext>
            </a:extLst>
          </p:cNvPr>
          <p:cNvSpPr/>
          <p:nvPr/>
        </p:nvSpPr>
        <p:spPr>
          <a:xfrm>
            <a:off x="10416400" y="619754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DA7D8B-918A-6158-3A2F-D1F33BF57033}"/>
              </a:ext>
            </a:extLst>
          </p:cNvPr>
          <p:cNvCxnSpPr>
            <a:cxnSpLocks/>
            <a:stCxn id="12" idx="1"/>
            <a:endCxn id="7" idx="3"/>
          </p:cNvCxnSpPr>
          <p:nvPr/>
        </p:nvCxnSpPr>
        <p:spPr>
          <a:xfrm flipH="1">
            <a:off x="6778186" y="3095656"/>
            <a:ext cx="3638215" cy="0"/>
          </a:xfrm>
          <a:prstGeom prst="straightConnector1">
            <a:avLst/>
          </a:prstGeom>
          <a:ln w="444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376123-3BA6-FB8C-D87B-8CF499547F90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10687282" y="820898"/>
            <a:ext cx="2" cy="2181943"/>
          </a:xfrm>
          <a:prstGeom prst="straightConnector1">
            <a:avLst/>
          </a:prstGeom>
          <a:ln w="444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5">
            <a:extLst>
              <a:ext uri="{FF2B5EF4-FFF2-40B4-BE49-F238E27FC236}">
                <a16:creationId xmlns:a16="http://schemas.microsoft.com/office/drawing/2014/main" id="{409ED0ED-325B-317D-45B0-308FB4F1EB4E}"/>
              </a:ext>
            </a:extLst>
          </p:cNvPr>
          <p:cNvSpPr/>
          <p:nvPr/>
        </p:nvSpPr>
        <p:spPr>
          <a:xfrm>
            <a:off x="10416401" y="3002841"/>
            <a:ext cx="541765" cy="185630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59AE71D-B42F-5481-8D45-AB95D8DD46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0" y="2418254"/>
            <a:ext cx="6253297" cy="372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5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33129-C00B-120B-3925-17A6B35FB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</p:spTree>
    <p:extLst>
      <p:ext uri="{BB962C8B-B14F-4D97-AF65-F5344CB8AC3E}">
        <p14:creationId xmlns:p14="http://schemas.microsoft.com/office/powerpoint/2010/main" val="516881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DE21-E38E-4E3B-01F6-D659CD2C7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DDD4BD50-9CF4-249D-49D6-C0B136A36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611" y="1690688"/>
            <a:ext cx="8042778" cy="450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01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915</Words>
  <Application>Microsoft Office PowerPoint</Application>
  <PresentationFormat>Widescreen</PresentationFormat>
  <Paragraphs>127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Populations, Samples,  and Sampling</vt:lpstr>
      <vt:lpstr>PowerPoint Presentation</vt:lpstr>
      <vt:lpstr>PowerPoint Presentation</vt:lpstr>
      <vt:lpstr>Populations and Samples</vt:lpstr>
      <vt:lpstr>Populations and Samples</vt:lpstr>
      <vt:lpstr>Populations and Samples</vt:lpstr>
      <vt:lpstr>PowerPoint Presentation</vt:lpstr>
      <vt:lpstr>Models of Hypothesis Testing</vt:lpstr>
      <vt:lpstr>Models of Hypothesis Testing</vt:lpstr>
      <vt:lpstr>Models of Hypothesis Testing</vt:lpstr>
      <vt:lpstr>Models of Hypothesis Testing</vt:lpstr>
      <vt:lpstr>Models of Hypothesis Testing</vt:lpstr>
      <vt:lpstr>Models of Hypothesis Testing</vt:lpstr>
      <vt:lpstr>Models of Hypothesis Testing</vt:lpstr>
      <vt:lpstr>Models of Hypothesis Testing</vt:lpstr>
      <vt:lpstr>PowerPoint Presentation</vt:lpstr>
      <vt:lpstr>Probability in Statistics</vt:lpstr>
      <vt:lpstr>Probability in Statistics</vt:lpstr>
      <vt:lpstr>Probability in Statistics</vt:lpstr>
      <vt:lpstr>Extra Resources</vt:lpstr>
      <vt:lpstr>Extra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Microsoft Office User</dc:creator>
  <cp:lastModifiedBy>Chad Williams</cp:lastModifiedBy>
  <cp:revision>68</cp:revision>
  <cp:lastPrinted>2021-05-21T18:27:15Z</cp:lastPrinted>
  <dcterms:created xsi:type="dcterms:W3CDTF">2021-05-21T16:46:10Z</dcterms:created>
  <dcterms:modified xsi:type="dcterms:W3CDTF">2026-07-20T20:33:14Z</dcterms:modified>
</cp:coreProperties>
</file>