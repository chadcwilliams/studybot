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0"/>
  </p:notesMasterIdLst>
  <p:sldIdLst>
    <p:sldId id="257" r:id="rId2"/>
    <p:sldId id="280" r:id="rId3"/>
    <p:sldId id="362" r:id="rId4"/>
    <p:sldId id="281" r:id="rId5"/>
    <p:sldId id="295" r:id="rId6"/>
    <p:sldId id="291" r:id="rId7"/>
    <p:sldId id="296" r:id="rId8"/>
    <p:sldId id="294" r:id="rId9"/>
    <p:sldId id="367" r:id="rId10"/>
    <p:sldId id="368" r:id="rId11"/>
    <p:sldId id="366" r:id="rId12"/>
    <p:sldId id="297" r:id="rId13"/>
    <p:sldId id="292" r:id="rId14"/>
    <p:sldId id="293" r:id="rId15"/>
    <p:sldId id="374" r:id="rId16"/>
    <p:sldId id="298" r:id="rId17"/>
    <p:sldId id="363" r:id="rId18"/>
    <p:sldId id="318" r:id="rId19"/>
    <p:sldId id="375" r:id="rId20"/>
    <p:sldId id="378" r:id="rId21"/>
    <p:sldId id="379" r:id="rId22"/>
    <p:sldId id="364" r:id="rId23"/>
    <p:sldId id="282" r:id="rId24"/>
    <p:sldId id="284" r:id="rId25"/>
    <p:sldId id="289" r:id="rId26"/>
    <p:sldId id="300" r:id="rId27"/>
    <p:sldId id="316" r:id="rId28"/>
    <p:sldId id="286" r:id="rId29"/>
    <p:sldId id="317" r:id="rId30"/>
    <p:sldId id="315" r:id="rId31"/>
    <p:sldId id="365" r:id="rId32"/>
    <p:sldId id="358" r:id="rId33"/>
    <p:sldId id="380" r:id="rId34"/>
    <p:sldId id="360" r:id="rId35"/>
    <p:sldId id="381" r:id="rId36"/>
    <p:sldId id="302" r:id="rId37"/>
    <p:sldId id="361" r:id="rId38"/>
    <p:sldId id="382"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C591D"/>
    <a:srgbClr val="B5B5B5"/>
    <a:srgbClr val="156082"/>
    <a:srgbClr val="E97132"/>
    <a:srgbClr val="215F9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529" autoAdjust="0"/>
    <p:restoredTop sz="94660"/>
  </p:normalViewPr>
  <p:slideViewPr>
    <p:cSldViewPr snapToGrid="0">
      <p:cViewPr varScale="1">
        <p:scale>
          <a:sx n="114" d="100"/>
          <a:sy n="114" d="100"/>
        </p:scale>
        <p:origin x="72" y="164"/>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ad Williams" userId="618f96a3-8672-4e43-ae03-eeed93bb7387" providerId="ADAL" clId="{DFF2BB08-185E-495B-B2A0-BE0942C7B81E}"/>
    <pc:docChg chg="undo redo custSel addSld delSld modSld sldOrd">
      <pc:chgData name="Chad Williams" userId="618f96a3-8672-4e43-ae03-eeed93bb7387" providerId="ADAL" clId="{DFF2BB08-185E-495B-B2A0-BE0942C7B81E}" dt="2026-08-18T18:24:04.590" v="23495" actId="47"/>
      <pc:docMkLst>
        <pc:docMk/>
      </pc:docMkLst>
      <pc:sldChg chg="del">
        <pc:chgData name="Chad Williams" userId="618f96a3-8672-4e43-ae03-eeed93bb7387" providerId="ADAL" clId="{DFF2BB08-185E-495B-B2A0-BE0942C7B81E}" dt="2026-08-18T18:23:29.801" v="23494" actId="47"/>
        <pc:sldMkLst>
          <pc:docMk/>
          <pc:sldMk cId="623541498" sldId="369"/>
        </pc:sldMkLst>
      </pc:sldChg>
      <pc:sldChg chg="del">
        <pc:chgData name="Chad Williams" userId="618f96a3-8672-4e43-ae03-eeed93bb7387" providerId="ADAL" clId="{DFF2BB08-185E-495B-B2A0-BE0942C7B81E}" dt="2026-08-18T18:23:29.801" v="23494" actId="47"/>
        <pc:sldMkLst>
          <pc:docMk/>
          <pc:sldMk cId="601422152" sldId="370"/>
        </pc:sldMkLst>
      </pc:sldChg>
      <pc:sldChg chg="del">
        <pc:chgData name="Chad Williams" userId="618f96a3-8672-4e43-ae03-eeed93bb7387" providerId="ADAL" clId="{DFF2BB08-185E-495B-B2A0-BE0942C7B81E}" dt="2026-08-18T18:23:29.801" v="23494" actId="47"/>
        <pc:sldMkLst>
          <pc:docMk/>
          <pc:sldMk cId="1853120722" sldId="371"/>
        </pc:sldMkLst>
      </pc:sldChg>
      <pc:sldChg chg="del">
        <pc:chgData name="Chad Williams" userId="618f96a3-8672-4e43-ae03-eeed93bb7387" providerId="ADAL" clId="{DFF2BB08-185E-495B-B2A0-BE0942C7B81E}" dt="2026-08-18T18:23:29.801" v="23494" actId="47"/>
        <pc:sldMkLst>
          <pc:docMk/>
          <pc:sldMk cId="2518024309" sldId="372"/>
        </pc:sldMkLst>
      </pc:sldChg>
      <pc:sldChg chg="del">
        <pc:chgData name="Chad Williams" userId="618f96a3-8672-4e43-ae03-eeed93bb7387" providerId="ADAL" clId="{DFF2BB08-185E-495B-B2A0-BE0942C7B81E}" dt="2026-08-18T18:23:29.801" v="23494" actId="47"/>
        <pc:sldMkLst>
          <pc:docMk/>
          <pc:sldMk cId="3198211780" sldId="373"/>
        </pc:sldMkLst>
      </pc:sldChg>
      <pc:sldChg chg="del">
        <pc:chgData name="Chad Williams" userId="618f96a3-8672-4e43-ae03-eeed93bb7387" providerId="ADAL" clId="{DFF2BB08-185E-495B-B2A0-BE0942C7B81E}" dt="2026-08-18T18:24:04.590" v="23495" actId="47"/>
        <pc:sldMkLst>
          <pc:docMk/>
          <pc:sldMk cId="1504238799" sldId="376"/>
        </pc:sldMkLst>
      </pc:sldChg>
      <pc:sldChg chg="del">
        <pc:chgData name="Chad Williams" userId="618f96a3-8672-4e43-ae03-eeed93bb7387" providerId="ADAL" clId="{DFF2BB08-185E-495B-B2A0-BE0942C7B81E}" dt="2026-08-18T18:24:04.590" v="23495" actId="47"/>
        <pc:sldMkLst>
          <pc:docMk/>
          <pc:sldMk cId="3240511586" sldId="377"/>
        </pc:sldMkLst>
      </pc:sldChg>
      <pc:sldChg chg="modSp add mod">
        <pc:chgData name="Chad Williams" userId="618f96a3-8672-4e43-ae03-eeed93bb7387" providerId="ADAL" clId="{DFF2BB08-185E-495B-B2A0-BE0942C7B81E}" dt="2026-07-28T21:59:06.754" v="23493" actId="20577"/>
        <pc:sldMkLst>
          <pc:docMk/>
          <pc:sldMk cId="1446489920" sldId="382"/>
        </pc:sldMkLst>
        <pc:spChg chg="mod">
          <ac:chgData name="Chad Williams" userId="618f96a3-8672-4e43-ae03-eeed93bb7387" providerId="ADAL" clId="{DFF2BB08-185E-495B-B2A0-BE0942C7B81E}" dt="2026-07-28T21:59:06.754" v="23493" actId="20577"/>
          <ac:spMkLst>
            <pc:docMk/>
            <pc:sldMk cId="1446489920" sldId="382"/>
            <ac:spMk id="5" creationId="{67F61BB8-1FC1-AFE2-DABD-CEF63125C9F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9A58E55-DF54-4DED-9AD7-D46FCB7DC95A}" type="datetimeFigureOut">
              <a:rPr lang="en-US" smtClean="0"/>
              <a:t>8/18/2026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B5B977-0B2D-4610-A9FA-D6352649F8AC}" type="slidenum">
              <a:rPr lang="en-US" smtClean="0"/>
              <a:t>‹#›</a:t>
            </a:fld>
            <a:endParaRPr lang="en-US"/>
          </a:p>
        </p:txBody>
      </p:sp>
    </p:spTree>
    <p:extLst>
      <p:ext uri="{BB962C8B-B14F-4D97-AF65-F5344CB8AC3E}">
        <p14:creationId xmlns:p14="http://schemas.microsoft.com/office/powerpoint/2010/main" val="41054981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1B5B977-0B2D-4610-A9FA-D6352649F8AC}" type="slidenum">
              <a:rPr lang="en-US" smtClean="0"/>
              <a:t>11</a:t>
            </a:fld>
            <a:endParaRPr lang="en-US"/>
          </a:p>
        </p:txBody>
      </p:sp>
    </p:spTree>
    <p:extLst>
      <p:ext uri="{BB962C8B-B14F-4D97-AF65-F5344CB8AC3E}">
        <p14:creationId xmlns:p14="http://schemas.microsoft.com/office/powerpoint/2010/main" val="4718693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E6A093-9770-13AA-7CB0-71496FF40D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51F5F2-D38A-164A-CCE3-E45826F589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C6D4A2-EE58-1334-1DE7-1963E9FD396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0604E0F-0612-054F-3ADF-36408C6CFFEA}"/>
              </a:ext>
            </a:extLst>
          </p:cNvPr>
          <p:cNvSpPr>
            <a:spLocks noGrp="1"/>
          </p:cNvSpPr>
          <p:nvPr>
            <p:ph type="sldNum" sz="quarter" idx="5"/>
          </p:nvPr>
        </p:nvSpPr>
        <p:spPr/>
        <p:txBody>
          <a:bodyPr/>
          <a:lstStyle/>
          <a:p>
            <a:fld id="{81B5B977-0B2D-4610-A9FA-D6352649F8AC}" type="slidenum">
              <a:rPr lang="en-US" smtClean="0"/>
              <a:t>15</a:t>
            </a:fld>
            <a:endParaRPr lang="en-US"/>
          </a:p>
        </p:txBody>
      </p:sp>
    </p:spTree>
    <p:extLst>
      <p:ext uri="{BB962C8B-B14F-4D97-AF65-F5344CB8AC3E}">
        <p14:creationId xmlns:p14="http://schemas.microsoft.com/office/powerpoint/2010/main" val="37977329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1B5B977-0B2D-4610-A9FA-D6352649F8AC}" type="slidenum">
              <a:rPr lang="en-US" smtClean="0"/>
              <a:t>16</a:t>
            </a:fld>
            <a:endParaRPr lang="en-US"/>
          </a:p>
        </p:txBody>
      </p:sp>
    </p:spTree>
    <p:extLst>
      <p:ext uri="{BB962C8B-B14F-4D97-AF65-F5344CB8AC3E}">
        <p14:creationId xmlns:p14="http://schemas.microsoft.com/office/powerpoint/2010/main" val="4572904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1B5B977-0B2D-4610-A9FA-D6352649F8AC}" type="slidenum">
              <a:rPr lang="en-US" smtClean="0"/>
              <a:t>38</a:t>
            </a:fld>
            <a:endParaRPr lang="en-US"/>
          </a:p>
        </p:txBody>
      </p:sp>
    </p:spTree>
    <p:extLst>
      <p:ext uri="{BB962C8B-B14F-4D97-AF65-F5344CB8AC3E}">
        <p14:creationId xmlns:p14="http://schemas.microsoft.com/office/powerpoint/2010/main" val="34173649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7FCC9F-153C-5BED-77D1-0EA8FA851C4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74AFA1B-9317-E4FA-9E5F-71F307F14B9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0BA73E4-6544-A008-5669-868A3733E124}"/>
              </a:ext>
            </a:extLst>
          </p:cNvPr>
          <p:cNvSpPr>
            <a:spLocks noGrp="1"/>
          </p:cNvSpPr>
          <p:nvPr>
            <p:ph type="dt" sz="half" idx="10"/>
          </p:nvPr>
        </p:nvSpPr>
        <p:spPr/>
        <p:txBody>
          <a:bodyPr/>
          <a:lstStyle/>
          <a:p>
            <a:fld id="{1EC11407-8E1B-4C97-B51B-FFA28C554ED7}" type="datetimeFigureOut">
              <a:rPr lang="en-US" smtClean="0"/>
              <a:t>8/18/2026</a:t>
            </a:fld>
            <a:endParaRPr lang="en-US"/>
          </a:p>
        </p:txBody>
      </p:sp>
      <p:sp>
        <p:nvSpPr>
          <p:cNvPr id="5" name="Footer Placeholder 4">
            <a:extLst>
              <a:ext uri="{FF2B5EF4-FFF2-40B4-BE49-F238E27FC236}">
                <a16:creationId xmlns:a16="http://schemas.microsoft.com/office/drawing/2014/main" id="{ECEB6D09-B653-253C-7468-CB69572163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43E8E0-BCE4-8E2F-3CAF-4A0155F06C56}"/>
              </a:ext>
            </a:extLst>
          </p:cNvPr>
          <p:cNvSpPr>
            <a:spLocks noGrp="1"/>
          </p:cNvSpPr>
          <p:nvPr>
            <p:ph type="sldNum" sz="quarter" idx="12"/>
          </p:nvPr>
        </p:nvSpPr>
        <p:spPr/>
        <p:txBody>
          <a:bodyPr/>
          <a:lstStyle/>
          <a:p>
            <a:fld id="{69F13C4C-01C6-4528-B855-C0BB2AC8454B}" type="slidenum">
              <a:rPr lang="en-US" smtClean="0"/>
              <a:t>‹#›</a:t>
            </a:fld>
            <a:endParaRPr lang="en-US"/>
          </a:p>
        </p:txBody>
      </p:sp>
    </p:spTree>
    <p:extLst>
      <p:ext uri="{BB962C8B-B14F-4D97-AF65-F5344CB8AC3E}">
        <p14:creationId xmlns:p14="http://schemas.microsoft.com/office/powerpoint/2010/main" val="37634914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1D079-863E-8E80-51B0-7CE72BACC0F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B103BEF-88ED-FA81-799F-132222CC51F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772EFB-BE09-46CC-5EB5-923F524CE21A}"/>
              </a:ext>
            </a:extLst>
          </p:cNvPr>
          <p:cNvSpPr>
            <a:spLocks noGrp="1"/>
          </p:cNvSpPr>
          <p:nvPr>
            <p:ph type="dt" sz="half" idx="10"/>
          </p:nvPr>
        </p:nvSpPr>
        <p:spPr/>
        <p:txBody>
          <a:bodyPr/>
          <a:lstStyle/>
          <a:p>
            <a:fld id="{1EC11407-8E1B-4C97-B51B-FFA28C554ED7}" type="datetimeFigureOut">
              <a:rPr lang="en-US" smtClean="0"/>
              <a:t>8/18/2026</a:t>
            </a:fld>
            <a:endParaRPr lang="en-US"/>
          </a:p>
        </p:txBody>
      </p:sp>
      <p:sp>
        <p:nvSpPr>
          <p:cNvPr id="5" name="Footer Placeholder 4">
            <a:extLst>
              <a:ext uri="{FF2B5EF4-FFF2-40B4-BE49-F238E27FC236}">
                <a16:creationId xmlns:a16="http://schemas.microsoft.com/office/drawing/2014/main" id="{4826EFA9-57FE-A7B8-0152-0677077C84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A9A541-BCB9-1489-0D4F-34671F1D1B01}"/>
              </a:ext>
            </a:extLst>
          </p:cNvPr>
          <p:cNvSpPr>
            <a:spLocks noGrp="1"/>
          </p:cNvSpPr>
          <p:nvPr>
            <p:ph type="sldNum" sz="quarter" idx="12"/>
          </p:nvPr>
        </p:nvSpPr>
        <p:spPr/>
        <p:txBody>
          <a:bodyPr/>
          <a:lstStyle/>
          <a:p>
            <a:fld id="{69F13C4C-01C6-4528-B855-C0BB2AC8454B}" type="slidenum">
              <a:rPr lang="en-US" smtClean="0"/>
              <a:t>‹#›</a:t>
            </a:fld>
            <a:endParaRPr lang="en-US"/>
          </a:p>
        </p:txBody>
      </p:sp>
    </p:spTree>
    <p:extLst>
      <p:ext uri="{BB962C8B-B14F-4D97-AF65-F5344CB8AC3E}">
        <p14:creationId xmlns:p14="http://schemas.microsoft.com/office/powerpoint/2010/main" val="10467670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A1885-73A8-5C98-F85B-FD93EF337A8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FC37A30-0AAF-9C64-D450-3D3E62C2894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5DA13C8-8130-0C7A-54B4-8B2AA151012C}"/>
              </a:ext>
            </a:extLst>
          </p:cNvPr>
          <p:cNvSpPr>
            <a:spLocks noGrp="1"/>
          </p:cNvSpPr>
          <p:nvPr>
            <p:ph type="dt" sz="half" idx="10"/>
          </p:nvPr>
        </p:nvSpPr>
        <p:spPr/>
        <p:txBody>
          <a:bodyPr/>
          <a:lstStyle/>
          <a:p>
            <a:fld id="{1EC11407-8E1B-4C97-B51B-FFA28C554ED7}" type="datetimeFigureOut">
              <a:rPr lang="en-US" smtClean="0"/>
              <a:t>8/18/2026</a:t>
            </a:fld>
            <a:endParaRPr lang="en-US"/>
          </a:p>
        </p:txBody>
      </p:sp>
      <p:sp>
        <p:nvSpPr>
          <p:cNvPr id="5" name="Footer Placeholder 4">
            <a:extLst>
              <a:ext uri="{FF2B5EF4-FFF2-40B4-BE49-F238E27FC236}">
                <a16:creationId xmlns:a16="http://schemas.microsoft.com/office/drawing/2014/main" id="{3FD934BF-4EF4-090A-5327-72E3A11168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43C1FC7-CF5C-AD75-EEBC-C726161ED010}"/>
              </a:ext>
            </a:extLst>
          </p:cNvPr>
          <p:cNvSpPr>
            <a:spLocks noGrp="1"/>
          </p:cNvSpPr>
          <p:nvPr>
            <p:ph type="sldNum" sz="quarter" idx="12"/>
          </p:nvPr>
        </p:nvSpPr>
        <p:spPr/>
        <p:txBody>
          <a:bodyPr/>
          <a:lstStyle/>
          <a:p>
            <a:fld id="{69F13C4C-01C6-4528-B855-C0BB2AC8454B}" type="slidenum">
              <a:rPr lang="en-US" smtClean="0"/>
              <a:t>‹#›</a:t>
            </a:fld>
            <a:endParaRPr lang="en-US"/>
          </a:p>
        </p:txBody>
      </p:sp>
    </p:spTree>
    <p:extLst>
      <p:ext uri="{BB962C8B-B14F-4D97-AF65-F5344CB8AC3E}">
        <p14:creationId xmlns:p14="http://schemas.microsoft.com/office/powerpoint/2010/main" val="4678236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6A28B-31B8-90E0-AADB-E4AC95AD4C3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50A5B33-9A1F-2B19-2C08-444D6F7E55E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26D7EEE-51DA-00F0-2BC4-0203809C71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63B6CCE-3D6C-9C92-E8CD-17CF1A156521}"/>
              </a:ext>
            </a:extLst>
          </p:cNvPr>
          <p:cNvSpPr>
            <a:spLocks noGrp="1"/>
          </p:cNvSpPr>
          <p:nvPr>
            <p:ph type="dt" sz="half" idx="10"/>
          </p:nvPr>
        </p:nvSpPr>
        <p:spPr/>
        <p:txBody>
          <a:bodyPr/>
          <a:lstStyle/>
          <a:p>
            <a:fld id="{1EC11407-8E1B-4C97-B51B-FFA28C554ED7}" type="datetimeFigureOut">
              <a:rPr lang="en-US" smtClean="0"/>
              <a:t>8/18/2026</a:t>
            </a:fld>
            <a:endParaRPr lang="en-US"/>
          </a:p>
        </p:txBody>
      </p:sp>
      <p:sp>
        <p:nvSpPr>
          <p:cNvPr id="6" name="Footer Placeholder 5">
            <a:extLst>
              <a:ext uri="{FF2B5EF4-FFF2-40B4-BE49-F238E27FC236}">
                <a16:creationId xmlns:a16="http://schemas.microsoft.com/office/drawing/2014/main" id="{867C9986-80E1-876A-BDE4-EF8F4D69CAC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2FFCFA4-1493-0C60-41EB-5E0360F8EA6C}"/>
              </a:ext>
            </a:extLst>
          </p:cNvPr>
          <p:cNvSpPr>
            <a:spLocks noGrp="1"/>
          </p:cNvSpPr>
          <p:nvPr>
            <p:ph type="sldNum" sz="quarter" idx="12"/>
          </p:nvPr>
        </p:nvSpPr>
        <p:spPr/>
        <p:txBody>
          <a:bodyPr/>
          <a:lstStyle/>
          <a:p>
            <a:fld id="{69F13C4C-01C6-4528-B855-C0BB2AC8454B}" type="slidenum">
              <a:rPr lang="en-US" smtClean="0"/>
              <a:t>‹#›</a:t>
            </a:fld>
            <a:endParaRPr lang="en-US"/>
          </a:p>
        </p:txBody>
      </p:sp>
    </p:spTree>
    <p:extLst>
      <p:ext uri="{BB962C8B-B14F-4D97-AF65-F5344CB8AC3E}">
        <p14:creationId xmlns:p14="http://schemas.microsoft.com/office/powerpoint/2010/main" val="12055172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5F673-6B17-CAA7-EDD6-EB6A46BEC53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CE42013-5E11-D28F-B4C3-E07D6D43AEA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874C146-9506-960E-B2C6-114BA150063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CEBEDC7-17C2-A78A-F73C-3BFFAAC160F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0AF650B-E297-256A-06A0-1688F72543A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701E005-308A-9E31-CDC4-583D302CCF90}"/>
              </a:ext>
            </a:extLst>
          </p:cNvPr>
          <p:cNvSpPr>
            <a:spLocks noGrp="1"/>
          </p:cNvSpPr>
          <p:nvPr>
            <p:ph type="dt" sz="half" idx="10"/>
          </p:nvPr>
        </p:nvSpPr>
        <p:spPr/>
        <p:txBody>
          <a:bodyPr/>
          <a:lstStyle/>
          <a:p>
            <a:fld id="{1EC11407-8E1B-4C97-B51B-FFA28C554ED7}" type="datetimeFigureOut">
              <a:rPr lang="en-US" smtClean="0"/>
              <a:t>8/18/2026</a:t>
            </a:fld>
            <a:endParaRPr lang="en-US"/>
          </a:p>
        </p:txBody>
      </p:sp>
      <p:sp>
        <p:nvSpPr>
          <p:cNvPr id="8" name="Footer Placeholder 7">
            <a:extLst>
              <a:ext uri="{FF2B5EF4-FFF2-40B4-BE49-F238E27FC236}">
                <a16:creationId xmlns:a16="http://schemas.microsoft.com/office/drawing/2014/main" id="{4888BA9C-2513-9724-E7D8-B6AEAE22AF3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660F89A-69C7-2DC4-2A67-FB0B568A64EF}"/>
              </a:ext>
            </a:extLst>
          </p:cNvPr>
          <p:cNvSpPr>
            <a:spLocks noGrp="1"/>
          </p:cNvSpPr>
          <p:nvPr>
            <p:ph type="sldNum" sz="quarter" idx="12"/>
          </p:nvPr>
        </p:nvSpPr>
        <p:spPr/>
        <p:txBody>
          <a:bodyPr/>
          <a:lstStyle/>
          <a:p>
            <a:fld id="{69F13C4C-01C6-4528-B855-C0BB2AC8454B}" type="slidenum">
              <a:rPr lang="en-US" smtClean="0"/>
              <a:t>‹#›</a:t>
            </a:fld>
            <a:endParaRPr lang="en-US"/>
          </a:p>
        </p:txBody>
      </p:sp>
    </p:spTree>
    <p:extLst>
      <p:ext uri="{BB962C8B-B14F-4D97-AF65-F5344CB8AC3E}">
        <p14:creationId xmlns:p14="http://schemas.microsoft.com/office/powerpoint/2010/main" val="13902013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29B60-4ECB-D4C5-8F9C-72E834BA593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6469B5F-2004-DA7B-ABF6-7D712B038AE9}"/>
              </a:ext>
            </a:extLst>
          </p:cNvPr>
          <p:cNvSpPr>
            <a:spLocks noGrp="1"/>
          </p:cNvSpPr>
          <p:nvPr>
            <p:ph type="dt" sz="half" idx="10"/>
          </p:nvPr>
        </p:nvSpPr>
        <p:spPr/>
        <p:txBody>
          <a:bodyPr/>
          <a:lstStyle/>
          <a:p>
            <a:fld id="{1EC11407-8E1B-4C97-B51B-FFA28C554ED7}" type="datetimeFigureOut">
              <a:rPr lang="en-US" smtClean="0"/>
              <a:t>8/18/2026</a:t>
            </a:fld>
            <a:endParaRPr lang="en-US"/>
          </a:p>
        </p:txBody>
      </p:sp>
      <p:sp>
        <p:nvSpPr>
          <p:cNvPr id="4" name="Footer Placeholder 3">
            <a:extLst>
              <a:ext uri="{FF2B5EF4-FFF2-40B4-BE49-F238E27FC236}">
                <a16:creationId xmlns:a16="http://schemas.microsoft.com/office/drawing/2014/main" id="{EA00A102-A3B7-C8B1-77C9-E4C9BB98588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5487EC4-7497-0271-3E6A-E842B57483BE}"/>
              </a:ext>
            </a:extLst>
          </p:cNvPr>
          <p:cNvSpPr>
            <a:spLocks noGrp="1"/>
          </p:cNvSpPr>
          <p:nvPr>
            <p:ph type="sldNum" sz="quarter" idx="12"/>
          </p:nvPr>
        </p:nvSpPr>
        <p:spPr/>
        <p:txBody>
          <a:bodyPr/>
          <a:lstStyle/>
          <a:p>
            <a:fld id="{69F13C4C-01C6-4528-B855-C0BB2AC8454B}" type="slidenum">
              <a:rPr lang="en-US" smtClean="0"/>
              <a:t>‹#›</a:t>
            </a:fld>
            <a:endParaRPr lang="en-US"/>
          </a:p>
        </p:txBody>
      </p:sp>
    </p:spTree>
    <p:extLst>
      <p:ext uri="{BB962C8B-B14F-4D97-AF65-F5344CB8AC3E}">
        <p14:creationId xmlns:p14="http://schemas.microsoft.com/office/powerpoint/2010/main" val="20206661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5E70430-559B-8C59-E57F-58CA50ADF97A}"/>
              </a:ext>
            </a:extLst>
          </p:cNvPr>
          <p:cNvSpPr>
            <a:spLocks noGrp="1"/>
          </p:cNvSpPr>
          <p:nvPr>
            <p:ph type="dt" sz="half" idx="10"/>
          </p:nvPr>
        </p:nvSpPr>
        <p:spPr/>
        <p:txBody>
          <a:bodyPr/>
          <a:lstStyle/>
          <a:p>
            <a:fld id="{1EC11407-8E1B-4C97-B51B-FFA28C554ED7}" type="datetimeFigureOut">
              <a:rPr lang="en-US" smtClean="0"/>
              <a:t>8/18/2026</a:t>
            </a:fld>
            <a:endParaRPr lang="en-US"/>
          </a:p>
        </p:txBody>
      </p:sp>
      <p:sp>
        <p:nvSpPr>
          <p:cNvPr id="3" name="Footer Placeholder 2">
            <a:extLst>
              <a:ext uri="{FF2B5EF4-FFF2-40B4-BE49-F238E27FC236}">
                <a16:creationId xmlns:a16="http://schemas.microsoft.com/office/drawing/2014/main" id="{A5199E04-CCEF-3AEF-0EB8-28DACA67142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A3C6E08-EFFD-76A2-23F6-9951F33CF72A}"/>
              </a:ext>
            </a:extLst>
          </p:cNvPr>
          <p:cNvSpPr>
            <a:spLocks noGrp="1"/>
          </p:cNvSpPr>
          <p:nvPr>
            <p:ph type="sldNum" sz="quarter" idx="12"/>
          </p:nvPr>
        </p:nvSpPr>
        <p:spPr/>
        <p:txBody>
          <a:bodyPr/>
          <a:lstStyle/>
          <a:p>
            <a:fld id="{69F13C4C-01C6-4528-B855-C0BB2AC8454B}" type="slidenum">
              <a:rPr lang="en-US" smtClean="0"/>
              <a:t>‹#›</a:t>
            </a:fld>
            <a:endParaRPr lang="en-US"/>
          </a:p>
        </p:txBody>
      </p:sp>
    </p:spTree>
    <p:extLst>
      <p:ext uri="{BB962C8B-B14F-4D97-AF65-F5344CB8AC3E}">
        <p14:creationId xmlns:p14="http://schemas.microsoft.com/office/powerpoint/2010/main" val="2527766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980C6-0265-BCB2-D248-70F79E4FA6C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16C3128-5EA3-9110-61E8-6E54054C5D8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26DFD61-4640-6E89-117E-8033F215AAC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BCDAE60-E065-FA6D-E126-F6A63283DD69}"/>
              </a:ext>
            </a:extLst>
          </p:cNvPr>
          <p:cNvSpPr>
            <a:spLocks noGrp="1"/>
          </p:cNvSpPr>
          <p:nvPr>
            <p:ph type="dt" sz="half" idx="10"/>
          </p:nvPr>
        </p:nvSpPr>
        <p:spPr/>
        <p:txBody>
          <a:bodyPr/>
          <a:lstStyle/>
          <a:p>
            <a:fld id="{1EC11407-8E1B-4C97-B51B-FFA28C554ED7}" type="datetimeFigureOut">
              <a:rPr lang="en-US" smtClean="0"/>
              <a:t>8/18/2026</a:t>
            </a:fld>
            <a:endParaRPr lang="en-US"/>
          </a:p>
        </p:txBody>
      </p:sp>
      <p:sp>
        <p:nvSpPr>
          <p:cNvPr id="6" name="Footer Placeholder 5">
            <a:extLst>
              <a:ext uri="{FF2B5EF4-FFF2-40B4-BE49-F238E27FC236}">
                <a16:creationId xmlns:a16="http://schemas.microsoft.com/office/drawing/2014/main" id="{1E7DA105-935B-CDCB-5819-3E9730FC08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CB2526E-01B6-82CE-B0F6-217F7B28CF6C}"/>
              </a:ext>
            </a:extLst>
          </p:cNvPr>
          <p:cNvSpPr>
            <a:spLocks noGrp="1"/>
          </p:cNvSpPr>
          <p:nvPr>
            <p:ph type="sldNum" sz="quarter" idx="12"/>
          </p:nvPr>
        </p:nvSpPr>
        <p:spPr/>
        <p:txBody>
          <a:bodyPr/>
          <a:lstStyle/>
          <a:p>
            <a:fld id="{69F13C4C-01C6-4528-B855-C0BB2AC8454B}" type="slidenum">
              <a:rPr lang="en-US" smtClean="0"/>
              <a:t>‹#›</a:t>
            </a:fld>
            <a:endParaRPr lang="en-US"/>
          </a:p>
        </p:txBody>
      </p:sp>
    </p:spTree>
    <p:extLst>
      <p:ext uri="{BB962C8B-B14F-4D97-AF65-F5344CB8AC3E}">
        <p14:creationId xmlns:p14="http://schemas.microsoft.com/office/powerpoint/2010/main" val="37565661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9489F-F723-CF7F-7BF9-B198245EF66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41D3A86-032B-BCD7-6A72-9F5BEBC9AFE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96F5CEA-D30D-B373-82E9-DCD1FAE807D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829203E-0C3D-FD43-06CF-BFC0FE6F73A7}"/>
              </a:ext>
            </a:extLst>
          </p:cNvPr>
          <p:cNvSpPr>
            <a:spLocks noGrp="1"/>
          </p:cNvSpPr>
          <p:nvPr>
            <p:ph type="dt" sz="half" idx="10"/>
          </p:nvPr>
        </p:nvSpPr>
        <p:spPr/>
        <p:txBody>
          <a:bodyPr/>
          <a:lstStyle/>
          <a:p>
            <a:fld id="{1EC11407-8E1B-4C97-B51B-FFA28C554ED7}" type="datetimeFigureOut">
              <a:rPr lang="en-US" smtClean="0"/>
              <a:t>8/18/2026</a:t>
            </a:fld>
            <a:endParaRPr lang="en-US"/>
          </a:p>
        </p:txBody>
      </p:sp>
      <p:sp>
        <p:nvSpPr>
          <p:cNvPr id="6" name="Footer Placeholder 5">
            <a:extLst>
              <a:ext uri="{FF2B5EF4-FFF2-40B4-BE49-F238E27FC236}">
                <a16:creationId xmlns:a16="http://schemas.microsoft.com/office/drawing/2014/main" id="{8D0392B7-3636-A5E9-BA01-ECA6E682D48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0F85FEB-1518-7D4D-8A18-4FE72BCE5F61}"/>
              </a:ext>
            </a:extLst>
          </p:cNvPr>
          <p:cNvSpPr>
            <a:spLocks noGrp="1"/>
          </p:cNvSpPr>
          <p:nvPr>
            <p:ph type="sldNum" sz="quarter" idx="12"/>
          </p:nvPr>
        </p:nvSpPr>
        <p:spPr/>
        <p:txBody>
          <a:bodyPr/>
          <a:lstStyle/>
          <a:p>
            <a:fld id="{69F13C4C-01C6-4528-B855-C0BB2AC8454B}" type="slidenum">
              <a:rPr lang="en-US" smtClean="0"/>
              <a:t>‹#›</a:t>
            </a:fld>
            <a:endParaRPr lang="en-US"/>
          </a:p>
        </p:txBody>
      </p:sp>
    </p:spTree>
    <p:extLst>
      <p:ext uri="{BB962C8B-B14F-4D97-AF65-F5344CB8AC3E}">
        <p14:creationId xmlns:p14="http://schemas.microsoft.com/office/powerpoint/2010/main" val="39625450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48754-A5FA-D976-080B-7F0E83EF78B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2BD0E94-9358-341D-4038-E768882680E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095BA3-992C-3CDB-41CD-646B7C252618}"/>
              </a:ext>
            </a:extLst>
          </p:cNvPr>
          <p:cNvSpPr>
            <a:spLocks noGrp="1"/>
          </p:cNvSpPr>
          <p:nvPr>
            <p:ph type="dt" sz="half" idx="10"/>
          </p:nvPr>
        </p:nvSpPr>
        <p:spPr/>
        <p:txBody>
          <a:bodyPr/>
          <a:lstStyle/>
          <a:p>
            <a:fld id="{1EC11407-8E1B-4C97-B51B-FFA28C554ED7}" type="datetimeFigureOut">
              <a:rPr lang="en-US" smtClean="0"/>
              <a:t>8/18/2026</a:t>
            </a:fld>
            <a:endParaRPr lang="en-US"/>
          </a:p>
        </p:txBody>
      </p:sp>
      <p:sp>
        <p:nvSpPr>
          <p:cNvPr id="5" name="Footer Placeholder 4">
            <a:extLst>
              <a:ext uri="{FF2B5EF4-FFF2-40B4-BE49-F238E27FC236}">
                <a16:creationId xmlns:a16="http://schemas.microsoft.com/office/drawing/2014/main" id="{6EAEFD14-CAE1-5E67-18B9-50B714E34D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A5021C-74B3-CB99-976A-1F95B561168E}"/>
              </a:ext>
            </a:extLst>
          </p:cNvPr>
          <p:cNvSpPr>
            <a:spLocks noGrp="1"/>
          </p:cNvSpPr>
          <p:nvPr>
            <p:ph type="sldNum" sz="quarter" idx="12"/>
          </p:nvPr>
        </p:nvSpPr>
        <p:spPr/>
        <p:txBody>
          <a:bodyPr/>
          <a:lstStyle/>
          <a:p>
            <a:fld id="{69F13C4C-01C6-4528-B855-C0BB2AC8454B}" type="slidenum">
              <a:rPr lang="en-US" smtClean="0"/>
              <a:t>‹#›</a:t>
            </a:fld>
            <a:endParaRPr lang="en-US"/>
          </a:p>
        </p:txBody>
      </p:sp>
    </p:spTree>
    <p:extLst>
      <p:ext uri="{BB962C8B-B14F-4D97-AF65-F5344CB8AC3E}">
        <p14:creationId xmlns:p14="http://schemas.microsoft.com/office/powerpoint/2010/main" val="29956342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42E7540-105A-F4AF-F5BE-954009823E4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AC61B68-319D-3491-F4AB-52C88C4C74E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0548040-C41C-A2CF-88F3-C132E0479FCB}"/>
              </a:ext>
            </a:extLst>
          </p:cNvPr>
          <p:cNvSpPr>
            <a:spLocks noGrp="1"/>
          </p:cNvSpPr>
          <p:nvPr>
            <p:ph type="dt" sz="half" idx="10"/>
          </p:nvPr>
        </p:nvSpPr>
        <p:spPr/>
        <p:txBody>
          <a:bodyPr/>
          <a:lstStyle/>
          <a:p>
            <a:fld id="{1EC11407-8E1B-4C97-B51B-FFA28C554ED7}" type="datetimeFigureOut">
              <a:rPr lang="en-US" smtClean="0"/>
              <a:t>8/18/2026</a:t>
            </a:fld>
            <a:endParaRPr lang="en-US"/>
          </a:p>
        </p:txBody>
      </p:sp>
      <p:sp>
        <p:nvSpPr>
          <p:cNvPr id="5" name="Footer Placeholder 4">
            <a:extLst>
              <a:ext uri="{FF2B5EF4-FFF2-40B4-BE49-F238E27FC236}">
                <a16:creationId xmlns:a16="http://schemas.microsoft.com/office/drawing/2014/main" id="{ADDF7DA8-1DE6-4EA3-1B7F-D800D360C4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EBA4F0-46E8-02C8-7D5F-BE788AB8E0D0}"/>
              </a:ext>
            </a:extLst>
          </p:cNvPr>
          <p:cNvSpPr>
            <a:spLocks noGrp="1"/>
          </p:cNvSpPr>
          <p:nvPr>
            <p:ph type="sldNum" sz="quarter" idx="12"/>
          </p:nvPr>
        </p:nvSpPr>
        <p:spPr/>
        <p:txBody>
          <a:bodyPr/>
          <a:lstStyle/>
          <a:p>
            <a:fld id="{69F13C4C-01C6-4528-B855-C0BB2AC8454B}" type="slidenum">
              <a:rPr lang="en-US" smtClean="0"/>
              <a:t>‹#›</a:t>
            </a:fld>
            <a:endParaRPr lang="en-US"/>
          </a:p>
        </p:txBody>
      </p:sp>
    </p:spTree>
    <p:extLst>
      <p:ext uri="{BB962C8B-B14F-4D97-AF65-F5344CB8AC3E}">
        <p14:creationId xmlns:p14="http://schemas.microsoft.com/office/powerpoint/2010/main" val="1505573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D9EEC4E-DC2D-5EE1-5C7A-4C259295723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2D4BA5-8DC3-EE54-47B9-587EBF40AD7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331E6DD-3F7D-93DE-45F6-7A594444FC9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EC11407-8E1B-4C97-B51B-FFA28C554ED7}" type="datetimeFigureOut">
              <a:rPr lang="en-US" smtClean="0"/>
              <a:t>8/18/2026</a:t>
            </a:fld>
            <a:endParaRPr lang="en-US"/>
          </a:p>
        </p:txBody>
      </p:sp>
      <p:sp>
        <p:nvSpPr>
          <p:cNvPr id="5" name="Footer Placeholder 4">
            <a:extLst>
              <a:ext uri="{FF2B5EF4-FFF2-40B4-BE49-F238E27FC236}">
                <a16:creationId xmlns:a16="http://schemas.microsoft.com/office/drawing/2014/main" id="{C9C9E689-9319-DF25-D096-A79BFECCEAC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C9A93C1-3576-E67E-2759-17A9F78C561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9F13C4C-01C6-4528-B855-C0BB2AC8454B}" type="slidenum">
              <a:rPr lang="en-US" smtClean="0"/>
              <a:t>‹#›</a:t>
            </a:fld>
            <a:endParaRPr lang="en-US"/>
          </a:p>
        </p:txBody>
      </p:sp>
    </p:spTree>
    <p:extLst>
      <p:ext uri="{BB962C8B-B14F-4D97-AF65-F5344CB8AC3E}">
        <p14:creationId xmlns:p14="http://schemas.microsoft.com/office/powerpoint/2010/main" val="16162050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9.jpg"/></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9.jpg"/></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image" Target="../media/image18.jpg"/><Relationship Id="rId1" Type="http://schemas.openxmlformats.org/officeDocument/2006/relationships/slideLayout" Target="../slideLayouts/slideLayout2.xml"/><Relationship Id="rId4" Type="http://schemas.openxmlformats.org/officeDocument/2006/relationships/image" Target="../media/image20.jpg"/></Relationships>
</file>

<file path=ppt/slides/_rels/slide30.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image" Target="../media/image18.jpg"/><Relationship Id="rId1" Type="http://schemas.openxmlformats.org/officeDocument/2006/relationships/slideLayout" Target="../slideLayouts/slideLayout2.xml"/><Relationship Id="rId4" Type="http://schemas.openxmlformats.org/officeDocument/2006/relationships/image" Target="../media/image20.jpg"/></Relationships>
</file>

<file path=ppt/slides/_rels/slide3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04505-984A-784F-B784-AEBB8FD005B0}"/>
              </a:ext>
            </a:extLst>
          </p:cNvPr>
          <p:cNvSpPr>
            <a:spLocks noGrp="1"/>
          </p:cNvSpPr>
          <p:nvPr>
            <p:ph type="ctrTitle"/>
          </p:nvPr>
        </p:nvSpPr>
        <p:spPr>
          <a:xfrm>
            <a:off x="5872805" y="1122363"/>
            <a:ext cx="6197089" cy="2387600"/>
          </a:xfrm>
        </p:spPr>
        <p:txBody>
          <a:bodyPr>
            <a:noAutofit/>
          </a:bodyPr>
          <a:lstStyle/>
          <a:p>
            <a:r>
              <a:rPr lang="en-US" sz="4800" b="1" dirty="0">
                <a:latin typeface="Calibri" panose="020F0502020204030204" pitchFamily="34" charset="0"/>
                <a:cs typeface="Calibri" panose="020F0502020204030204" pitchFamily="34" charset="0"/>
              </a:rPr>
              <a:t>Learning &amp; </a:t>
            </a:r>
            <a:br>
              <a:rPr lang="en-US" sz="4800" b="1" dirty="0">
                <a:latin typeface="Calibri" panose="020F0502020204030204" pitchFamily="34" charset="0"/>
                <a:cs typeface="Calibri" panose="020F0502020204030204" pitchFamily="34" charset="0"/>
              </a:rPr>
            </a:br>
            <a:r>
              <a:rPr lang="en-US" sz="4800" b="1" dirty="0">
                <a:latin typeface="Calibri" panose="020F0502020204030204" pitchFamily="34" charset="0"/>
                <a:cs typeface="Calibri" panose="020F0502020204030204" pitchFamily="34" charset="0"/>
              </a:rPr>
              <a:t>Memory</a:t>
            </a:r>
          </a:p>
        </p:txBody>
      </p:sp>
      <p:sp>
        <p:nvSpPr>
          <p:cNvPr id="3" name="Subtitle 2">
            <a:extLst>
              <a:ext uri="{FF2B5EF4-FFF2-40B4-BE49-F238E27FC236}">
                <a16:creationId xmlns:a16="http://schemas.microsoft.com/office/drawing/2014/main" id="{3C4BDEC7-4CE5-0C42-AD2E-FA8453064E39}"/>
              </a:ext>
            </a:extLst>
          </p:cNvPr>
          <p:cNvSpPr>
            <a:spLocks noGrp="1"/>
          </p:cNvSpPr>
          <p:nvPr>
            <p:ph type="subTitle" idx="1"/>
          </p:nvPr>
        </p:nvSpPr>
        <p:spPr>
          <a:xfrm>
            <a:off x="5872805" y="3602038"/>
            <a:ext cx="6197089" cy="1655762"/>
          </a:xfrm>
        </p:spPr>
        <p:txBody>
          <a:bodyPr>
            <a:normAutofit/>
          </a:bodyPr>
          <a:lstStyle/>
          <a:p>
            <a:r>
              <a:rPr lang="en-US" sz="3600" dirty="0"/>
              <a:t>Chad Williams</a:t>
            </a:r>
          </a:p>
          <a:p>
            <a:r>
              <a:rPr lang="en-US" sz="2800" dirty="0"/>
              <a:t>University of Victoria</a:t>
            </a:r>
            <a:endParaRPr lang="en-US" dirty="0"/>
          </a:p>
        </p:txBody>
      </p:sp>
      <p:pic>
        <p:nvPicPr>
          <p:cNvPr id="10" name="Picture 9" descr="A colorful and black and white brain&#10;&#10;AI-generated content may be incorrect.">
            <a:extLst>
              <a:ext uri="{FF2B5EF4-FFF2-40B4-BE49-F238E27FC236}">
                <a16:creationId xmlns:a16="http://schemas.microsoft.com/office/drawing/2014/main" id="{2517674F-1EF5-6501-66B2-CCB81D59B9A8}"/>
              </a:ext>
            </a:extLst>
          </p:cNvPr>
          <p:cNvPicPr>
            <a:picLocks noChangeAspect="1"/>
          </p:cNvPicPr>
          <p:nvPr/>
        </p:nvPicPr>
        <p:blipFill>
          <a:blip r:embed="rId2">
            <a:clrChange>
              <a:clrFrom>
                <a:srgbClr val="F9F9F7"/>
              </a:clrFrom>
              <a:clrTo>
                <a:srgbClr val="F9F9F7">
                  <a:alpha val="0"/>
                </a:srgbClr>
              </a:clrTo>
            </a:clrChange>
            <a:extLst>
              <a:ext uri="{28A0092B-C50C-407E-A947-70E740481C1C}">
                <a14:useLocalDpi xmlns:a14="http://schemas.microsoft.com/office/drawing/2010/main" val="0"/>
              </a:ext>
            </a:extLst>
          </a:blip>
          <a:srcRect l="22953" t="7044" r="23408" b="21998"/>
          <a:stretch>
            <a:fillRect/>
          </a:stretch>
        </p:blipFill>
        <p:spPr>
          <a:xfrm>
            <a:off x="1451809" y="-16931"/>
            <a:ext cx="4908331" cy="6493024"/>
          </a:xfrm>
          <a:prstGeom prst="rect">
            <a:avLst/>
          </a:prstGeom>
        </p:spPr>
      </p:pic>
    </p:spTree>
    <p:extLst>
      <p:ext uri="{BB962C8B-B14F-4D97-AF65-F5344CB8AC3E}">
        <p14:creationId xmlns:p14="http://schemas.microsoft.com/office/powerpoint/2010/main" val="36395291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a:extLst>
              <a:ext uri="{FF2B5EF4-FFF2-40B4-BE49-F238E27FC236}">
                <a16:creationId xmlns:a16="http://schemas.microsoft.com/office/drawing/2014/main" id="{7E4F8C96-B1F8-F340-9530-E0398316CFA5}"/>
              </a:ext>
            </a:extLst>
          </p:cNvPr>
          <p:cNvSpPr txBox="1">
            <a:spLocks/>
          </p:cNvSpPr>
          <p:nvPr/>
        </p:nvSpPr>
        <p:spPr>
          <a:xfrm>
            <a:off x="6574665" y="602116"/>
            <a:ext cx="5702954" cy="590028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800" b="1" u="sng" dirty="0">
                <a:latin typeface="Calibri" panose="020F0502020204030204" pitchFamily="34" charset="0"/>
                <a:cs typeface="Calibri" panose="020F0502020204030204" pitchFamily="34" charset="0"/>
              </a:rPr>
              <a:t>Lecture Outline</a:t>
            </a:r>
          </a:p>
          <a:p>
            <a:endParaRPr lang="en-US" sz="4000" dirty="0">
              <a:latin typeface="Calibri" panose="020F0502020204030204" pitchFamily="34" charset="0"/>
              <a:cs typeface="Calibri" panose="020F0502020204030204" pitchFamily="34" charset="0"/>
            </a:endParaRPr>
          </a:p>
          <a:p>
            <a:r>
              <a:rPr lang="en-US" sz="3600" dirty="0">
                <a:latin typeface="Calibri" panose="020F0502020204030204" pitchFamily="34" charset="0"/>
                <a:cs typeface="Calibri" panose="020F0502020204030204" pitchFamily="34" charset="0"/>
              </a:rPr>
              <a:t>Learning</a:t>
            </a:r>
          </a:p>
          <a:p>
            <a:endParaRPr lang="en-US" sz="3600" dirty="0">
              <a:latin typeface="Calibri" panose="020F0502020204030204" pitchFamily="34" charset="0"/>
              <a:cs typeface="Calibri" panose="020F0502020204030204" pitchFamily="34" charset="0"/>
            </a:endParaRPr>
          </a:p>
          <a:p>
            <a:r>
              <a:rPr lang="en-US" sz="3600" dirty="0">
                <a:latin typeface="Calibri" panose="020F0502020204030204" pitchFamily="34" charset="0"/>
                <a:cs typeface="Calibri" panose="020F0502020204030204" pitchFamily="34" charset="0"/>
              </a:rPr>
              <a:t>Working Memory</a:t>
            </a:r>
          </a:p>
          <a:p>
            <a:endParaRPr lang="en-US" sz="3600" dirty="0">
              <a:latin typeface="Calibri" panose="020F0502020204030204" pitchFamily="34" charset="0"/>
              <a:cs typeface="Calibri" panose="020F0502020204030204" pitchFamily="34" charset="0"/>
            </a:endParaRPr>
          </a:p>
          <a:p>
            <a:r>
              <a:rPr lang="en-US" sz="3600" dirty="0">
                <a:latin typeface="Calibri" panose="020F0502020204030204" pitchFamily="34" charset="0"/>
                <a:cs typeface="Calibri" panose="020F0502020204030204" pitchFamily="34" charset="0"/>
              </a:rPr>
              <a:t>Long-Term Memory</a:t>
            </a:r>
          </a:p>
          <a:p>
            <a:endParaRPr lang="en-US" sz="3600" dirty="0">
              <a:latin typeface="Calibri" panose="020F0502020204030204" pitchFamily="34" charset="0"/>
              <a:cs typeface="Calibri" panose="020F0502020204030204" pitchFamily="34" charset="0"/>
            </a:endParaRPr>
          </a:p>
          <a:p>
            <a:r>
              <a:rPr lang="en-US" sz="3600" dirty="0">
                <a:latin typeface="Calibri" panose="020F0502020204030204" pitchFamily="34" charset="0"/>
                <a:cs typeface="Calibri" panose="020F0502020204030204" pitchFamily="34" charset="0"/>
              </a:rPr>
              <a:t>Memory Storage</a:t>
            </a:r>
          </a:p>
        </p:txBody>
      </p:sp>
      <p:pic>
        <p:nvPicPr>
          <p:cNvPr id="2" name="Picture 1" descr="A colorful and black and white brain&#10;&#10;AI-generated content may be incorrect.">
            <a:extLst>
              <a:ext uri="{FF2B5EF4-FFF2-40B4-BE49-F238E27FC236}">
                <a16:creationId xmlns:a16="http://schemas.microsoft.com/office/drawing/2014/main" id="{FF63C198-1FEA-CEA5-594F-622A66BCB8FD}"/>
              </a:ext>
            </a:extLst>
          </p:cNvPr>
          <p:cNvPicPr>
            <a:picLocks noChangeAspect="1"/>
          </p:cNvPicPr>
          <p:nvPr/>
        </p:nvPicPr>
        <p:blipFill>
          <a:blip r:embed="rId2">
            <a:clrChange>
              <a:clrFrom>
                <a:srgbClr val="F9F9F7"/>
              </a:clrFrom>
              <a:clrTo>
                <a:srgbClr val="F9F9F7">
                  <a:alpha val="0"/>
                </a:srgbClr>
              </a:clrTo>
            </a:clrChange>
            <a:extLst>
              <a:ext uri="{28A0092B-C50C-407E-A947-70E740481C1C}">
                <a14:useLocalDpi xmlns:a14="http://schemas.microsoft.com/office/drawing/2010/main" val="0"/>
              </a:ext>
            </a:extLst>
          </a:blip>
          <a:srcRect l="22953" t="7044" r="23408" b="21998"/>
          <a:stretch>
            <a:fillRect/>
          </a:stretch>
        </p:blipFill>
        <p:spPr>
          <a:xfrm>
            <a:off x="1451809" y="-16931"/>
            <a:ext cx="4908331" cy="6493024"/>
          </a:xfrm>
          <a:prstGeom prst="rect">
            <a:avLst/>
          </a:prstGeom>
        </p:spPr>
      </p:pic>
    </p:spTree>
    <p:extLst>
      <p:ext uri="{BB962C8B-B14F-4D97-AF65-F5344CB8AC3E}">
        <p14:creationId xmlns:p14="http://schemas.microsoft.com/office/powerpoint/2010/main" val="2977837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DB2E26-BD0F-9F36-D837-A7BCAD8A5662}"/>
            </a:ext>
          </a:extLst>
        </p:cNvPr>
        <p:cNvGrpSpPr/>
        <p:nvPr/>
      </p:nvGrpSpPr>
      <p:grpSpPr>
        <a:xfrm>
          <a:off x="0" y="0"/>
          <a:ext cx="0" cy="0"/>
          <a:chOff x="0" y="0"/>
          <a:chExt cx="0" cy="0"/>
        </a:xfrm>
      </p:grpSpPr>
      <p:sp>
        <p:nvSpPr>
          <p:cNvPr id="20" name="Title 1">
            <a:extLst>
              <a:ext uri="{FF2B5EF4-FFF2-40B4-BE49-F238E27FC236}">
                <a16:creationId xmlns:a16="http://schemas.microsoft.com/office/drawing/2014/main" id="{80FE128F-C8EA-4E98-D34F-BADE7F741BBF}"/>
              </a:ext>
            </a:extLst>
          </p:cNvPr>
          <p:cNvSpPr txBox="1">
            <a:spLocks/>
          </p:cNvSpPr>
          <p:nvPr/>
        </p:nvSpPr>
        <p:spPr>
          <a:xfrm>
            <a:off x="6574665" y="602116"/>
            <a:ext cx="5702954" cy="590028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800" b="1" u="sng" dirty="0">
                <a:latin typeface="Calibri" panose="020F0502020204030204" pitchFamily="34" charset="0"/>
                <a:cs typeface="Calibri" panose="020F0502020204030204" pitchFamily="34" charset="0"/>
              </a:rPr>
              <a:t>Lecture Outline</a:t>
            </a:r>
          </a:p>
          <a:p>
            <a:endParaRPr lang="en-US" sz="4000" dirty="0">
              <a:latin typeface="Calibri" panose="020F0502020204030204" pitchFamily="34" charset="0"/>
              <a:cs typeface="Calibri" panose="020F0502020204030204" pitchFamily="34" charset="0"/>
            </a:endParaRPr>
          </a:p>
          <a:p>
            <a:r>
              <a:rPr lang="en-US" sz="3600" dirty="0">
                <a:solidFill>
                  <a:srgbClr val="FF0000"/>
                </a:solidFill>
                <a:latin typeface="Calibri" panose="020F0502020204030204" pitchFamily="34" charset="0"/>
                <a:cs typeface="Calibri" panose="020F0502020204030204" pitchFamily="34" charset="0"/>
              </a:rPr>
              <a:t>Learning</a:t>
            </a:r>
          </a:p>
          <a:p>
            <a:endParaRPr lang="en-US" sz="3600" dirty="0">
              <a:latin typeface="Calibri" panose="020F0502020204030204" pitchFamily="34" charset="0"/>
              <a:cs typeface="Calibri" panose="020F0502020204030204" pitchFamily="34" charset="0"/>
            </a:endParaRPr>
          </a:p>
          <a:p>
            <a:r>
              <a:rPr lang="en-US" sz="3600" dirty="0">
                <a:latin typeface="Calibri" panose="020F0502020204030204" pitchFamily="34" charset="0"/>
                <a:cs typeface="Calibri" panose="020F0502020204030204" pitchFamily="34" charset="0"/>
              </a:rPr>
              <a:t>Working Memory</a:t>
            </a:r>
          </a:p>
          <a:p>
            <a:endParaRPr lang="en-US" sz="3600" dirty="0">
              <a:latin typeface="Calibri" panose="020F0502020204030204" pitchFamily="34" charset="0"/>
              <a:cs typeface="Calibri" panose="020F0502020204030204" pitchFamily="34" charset="0"/>
            </a:endParaRPr>
          </a:p>
          <a:p>
            <a:r>
              <a:rPr lang="en-US" sz="3600" dirty="0">
                <a:latin typeface="Calibri" panose="020F0502020204030204" pitchFamily="34" charset="0"/>
                <a:cs typeface="Calibri" panose="020F0502020204030204" pitchFamily="34" charset="0"/>
              </a:rPr>
              <a:t>Long-Term Memory</a:t>
            </a:r>
          </a:p>
          <a:p>
            <a:endParaRPr lang="en-US" sz="3600" dirty="0">
              <a:latin typeface="Calibri" panose="020F0502020204030204" pitchFamily="34" charset="0"/>
              <a:cs typeface="Calibri" panose="020F0502020204030204" pitchFamily="34" charset="0"/>
            </a:endParaRPr>
          </a:p>
          <a:p>
            <a:r>
              <a:rPr lang="en-US" sz="3600" dirty="0">
                <a:latin typeface="Calibri" panose="020F0502020204030204" pitchFamily="34" charset="0"/>
                <a:cs typeface="Calibri" panose="020F0502020204030204" pitchFamily="34" charset="0"/>
              </a:rPr>
              <a:t>Memory Storage</a:t>
            </a:r>
          </a:p>
        </p:txBody>
      </p:sp>
      <p:pic>
        <p:nvPicPr>
          <p:cNvPr id="2" name="Picture 1" descr="A colorful and black and white brain&#10;&#10;AI-generated content may be incorrect.">
            <a:extLst>
              <a:ext uri="{FF2B5EF4-FFF2-40B4-BE49-F238E27FC236}">
                <a16:creationId xmlns:a16="http://schemas.microsoft.com/office/drawing/2014/main" id="{D30F426E-B919-E47E-2D97-480C3FF68140}"/>
              </a:ext>
            </a:extLst>
          </p:cNvPr>
          <p:cNvPicPr>
            <a:picLocks noChangeAspect="1"/>
          </p:cNvPicPr>
          <p:nvPr/>
        </p:nvPicPr>
        <p:blipFill>
          <a:blip r:embed="rId2">
            <a:clrChange>
              <a:clrFrom>
                <a:srgbClr val="F9F9F7"/>
              </a:clrFrom>
              <a:clrTo>
                <a:srgbClr val="F9F9F7">
                  <a:alpha val="0"/>
                </a:srgbClr>
              </a:clrTo>
            </a:clrChange>
            <a:extLst>
              <a:ext uri="{28A0092B-C50C-407E-A947-70E740481C1C}">
                <a14:useLocalDpi xmlns:a14="http://schemas.microsoft.com/office/drawing/2010/main" val="0"/>
              </a:ext>
            </a:extLst>
          </a:blip>
          <a:srcRect l="22953" t="7044" r="23408" b="21998"/>
          <a:stretch>
            <a:fillRect/>
          </a:stretch>
        </p:blipFill>
        <p:spPr>
          <a:xfrm>
            <a:off x="1451809" y="-16931"/>
            <a:ext cx="4908331" cy="6493024"/>
          </a:xfrm>
          <a:prstGeom prst="rect">
            <a:avLst/>
          </a:prstGeom>
        </p:spPr>
      </p:pic>
    </p:spTree>
    <p:extLst>
      <p:ext uri="{BB962C8B-B14F-4D97-AF65-F5344CB8AC3E}">
        <p14:creationId xmlns:p14="http://schemas.microsoft.com/office/powerpoint/2010/main" val="10924885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tack of books on a white background&#10;&#10;AI-generated content may be incorrect.">
            <a:extLst>
              <a:ext uri="{FF2B5EF4-FFF2-40B4-BE49-F238E27FC236}">
                <a16:creationId xmlns:a16="http://schemas.microsoft.com/office/drawing/2014/main" id="{135A2D38-8192-4716-DE5B-EA25236396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80597" y="667511"/>
            <a:ext cx="5311403" cy="5910143"/>
          </a:xfrm>
          <a:prstGeom prst="rect">
            <a:avLst/>
          </a:prstGeom>
        </p:spPr>
      </p:pic>
      <p:sp>
        <p:nvSpPr>
          <p:cNvPr id="2" name="Title 1">
            <a:extLst>
              <a:ext uri="{FF2B5EF4-FFF2-40B4-BE49-F238E27FC236}">
                <a16:creationId xmlns:a16="http://schemas.microsoft.com/office/drawing/2014/main" id="{7C2AA425-5160-163A-C5A5-1857A2CF85E7}"/>
              </a:ext>
            </a:extLst>
          </p:cNvPr>
          <p:cNvSpPr>
            <a:spLocks noGrp="1"/>
          </p:cNvSpPr>
          <p:nvPr>
            <p:ph type="title"/>
          </p:nvPr>
        </p:nvSpPr>
        <p:spPr/>
        <p:txBody>
          <a:bodyPr/>
          <a:lstStyle/>
          <a:p>
            <a:r>
              <a:rPr lang="en-US" dirty="0"/>
              <a:t>Learning and Memory</a:t>
            </a:r>
          </a:p>
        </p:txBody>
      </p:sp>
      <p:sp>
        <p:nvSpPr>
          <p:cNvPr id="3" name="Content Placeholder 2">
            <a:extLst>
              <a:ext uri="{FF2B5EF4-FFF2-40B4-BE49-F238E27FC236}">
                <a16:creationId xmlns:a16="http://schemas.microsoft.com/office/drawing/2014/main" id="{D0110DE0-C975-9DD1-77BB-6ACE3A1B54AC}"/>
              </a:ext>
            </a:extLst>
          </p:cNvPr>
          <p:cNvSpPr>
            <a:spLocks noGrp="1"/>
          </p:cNvSpPr>
          <p:nvPr>
            <p:ph idx="1"/>
          </p:nvPr>
        </p:nvSpPr>
        <p:spPr>
          <a:xfrm>
            <a:off x="838200" y="1825625"/>
            <a:ext cx="6615737" cy="4351338"/>
          </a:xfrm>
        </p:spPr>
        <p:txBody>
          <a:bodyPr>
            <a:normAutofit/>
          </a:bodyPr>
          <a:lstStyle/>
          <a:p>
            <a:pPr marL="0" indent="0">
              <a:buNone/>
            </a:pPr>
            <a:r>
              <a:rPr lang="en-US" b="1" dirty="0"/>
              <a:t>Learning</a:t>
            </a:r>
            <a:r>
              <a:rPr lang="en-US" dirty="0"/>
              <a:t>: The process of acquiring new information</a:t>
            </a:r>
          </a:p>
          <a:p>
            <a:pPr marL="0" indent="0">
              <a:buNone/>
            </a:pPr>
            <a:endParaRPr lang="en-US" b="1" dirty="0"/>
          </a:p>
          <a:p>
            <a:pPr marL="0" indent="0">
              <a:buNone/>
            </a:pPr>
            <a:r>
              <a:rPr lang="en-US" b="1" dirty="0"/>
              <a:t>Memory</a:t>
            </a:r>
            <a:r>
              <a:rPr lang="en-US" dirty="0"/>
              <a:t>: The ability to store and retrieve learned information</a:t>
            </a:r>
          </a:p>
          <a:p>
            <a:pPr marL="0" indent="0">
              <a:buNone/>
            </a:pPr>
            <a:endParaRPr lang="en-US" dirty="0"/>
          </a:p>
          <a:p>
            <a:endParaRPr lang="en-US" dirty="0"/>
          </a:p>
        </p:txBody>
      </p:sp>
    </p:spTree>
    <p:extLst>
      <p:ext uri="{BB962C8B-B14F-4D97-AF65-F5344CB8AC3E}">
        <p14:creationId xmlns:p14="http://schemas.microsoft.com/office/powerpoint/2010/main" val="1592631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CBFF5E-55F2-CB2B-26E0-215DAAF4415D}"/>
            </a:ext>
          </a:extLst>
        </p:cNvPr>
        <p:cNvGrpSpPr/>
        <p:nvPr/>
      </p:nvGrpSpPr>
      <p:grpSpPr>
        <a:xfrm>
          <a:off x="0" y="0"/>
          <a:ext cx="0" cy="0"/>
          <a:chOff x="0" y="0"/>
          <a:chExt cx="0" cy="0"/>
        </a:xfrm>
      </p:grpSpPr>
      <p:pic>
        <p:nvPicPr>
          <p:cNvPr id="7" name="Picture 6" descr="A stack of books on a white background&#10;&#10;AI-generated content may be incorrect.">
            <a:extLst>
              <a:ext uri="{FF2B5EF4-FFF2-40B4-BE49-F238E27FC236}">
                <a16:creationId xmlns:a16="http://schemas.microsoft.com/office/drawing/2014/main" id="{86282098-C2C8-F546-F1D5-70A88EF5E8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80597" y="667511"/>
            <a:ext cx="5311403" cy="5910143"/>
          </a:xfrm>
          <a:prstGeom prst="rect">
            <a:avLst/>
          </a:prstGeom>
        </p:spPr>
      </p:pic>
      <p:sp>
        <p:nvSpPr>
          <p:cNvPr id="2" name="Title 1">
            <a:extLst>
              <a:ext uri="{FF2B5EF4-FFF2-40B4-BE49-F238E27FC236}">
                <a16:creationId xmlns:a16="http://schemas.microsoft.com/office/drawing/2014/main" id="{8C3648D5-6C8A-5582-EDC9-06655467F4D0}"/>
              </a:ext>
            </a:extLst>
          </p:cNvPr>
          <p:cNvSpPr>
            <a:spLocks noGrp="1"/>
          </p:cNvSpPr>
          <p:nvPr>
            <p:ph type="title"/>
          </p:nvPr>
        </p:nvSpPr>
        <p:spPr/>
        <p:txBody>
          <a:bodyPr/>
          <a:lstStyle/>
          <a:p>
            <a:r>
              <a:rPr lang="en-US" dirty="0"/>
              <a:t>Learning</a:t>
            </a:r>
          </a:p>
        </p:txBody>
      </p:sp>
      <p:sp>
        <p:nvSpPr>
          <p:cNvPr id="3" name="Content Placeholder 2">
            <a:extLst>
              <a:ext uri="{FF2B5EF4-FFF2-40B4-BE49-F238E27FC236}">
                <a16:creationId xmlns:a16="http://schemas.microsoft.com/office/drawing/2014/main" id="{122CA6C2-1B2C-2BB3-F41E-CAEC3F2CEC2B}"/>
              </a:ext>
            </a:extLst>
          </p:cNvPr>
          <p:cNvSpPr>
            <a:spLocks noGrp="1"/>
          </p:cNvSpPr>
          <p:nvPr>
            <p:ph idx="1"/>
          </p:nvPr>
        </p:nvSpPr>
        <p:spPr>
          <a:xfrm>
            <a:off x="838200" y="1825625"/>
            <a:ext cx="6851469" cy="4903098"/>
          </a:xfrm>
        </p:spPr>
        <p:txBody>
          <a:bodyPr>
            <a:normAutofit fontScale="92500" lnSpcReduction="10000"/>
          </a:bodyPr>
          <a:lstStyle/>
          <a:p>
            <a:pPr marL="0" indent="0">
              <a:buNone/>
            </a:pPr>
            <a:r>
              <a:rPr lang="en-US" b="1" dirty="0"/>
              <a:t>Explicit Learning: </a:t>
            </a:r>
            <a:r>
              <a:rPr lang="en-US" dirty="0"/>
              <a:t>Acquires knowledge through instruction, practice, and feedback</a:t>
            </a:r>
          </a:p>
          <a:p>
            <a:r>
              <a:rPr lang="en-US" dirty="0"/>
              <a:t>Intentional and conscious</a:t>
            </a:r>
          </a:p>
          <a:p>
            <a:r>
              <a:rPr lang="en-US" dirty="0"/>
              <a:t>Includes the learning of rules and strategies</a:t>
            </a:r>
          </a:p>
          <a:p>
            <a:r>
              <a:rPr lang="en-US" dirty="0"/>
              <a:t>Results in declarative memories</a:t>
            </a:r>
          </a:p>
          <a:p>
            <a:endParaRPr lang="en-US" dirty="0"/>
          </a:p>
          <a:p>
            <a:pPr marL="0" indent="0">
              <a:buNone/>
            </a:pPr>
            <a:r>
              <a:rPr lang="en-US" b="1" dirty="0"/>
              <a:t>Implicit Learning</a:t>
            </a:r>
            <a:r>
              <a:rPr lang="en-US" dirty="0"/>
              <a:t>: Acquires knowledge through associations </a:t>
            </a:r>
          </a:p>
          <a:p>
            <a:r>
              <a:rPr lang="en-US" dirty="0"/>
              <a:t>Unintentional and subconscious</a:t>
            </a:r>
          </a:p>
          <a:p>
            <a:r>
              <a:rPr lang="en-US" dirty="0"/>
              <a:t>Includes repeated exposure of pairings</a:t>
            </a:r>
          </a:p>
          <a:p>
            <a:r>
              <a:rPr lang="en-US" dirty="0"/>
              <a:t>Results in nondeclarative memories</a:t>
            </a:r>
          </a:p>
          <a:p>
            <a:pPr marL="0" indent="0">
              <a:buNone/>
            </a:pPr>
            <a:endParaRPr lang="en-US" dirty="0"/>
          </a:p>
        </p:txBody>
      </p:sp>
    </p:spTree>
    <p:extLst>
      <p:ext uri="{BB962C8B-B14F-4D97-AF65-F5344CB8AC3E}">
        <p14:creationId xmlns:p14="http://schemas.microsoft.com/office/powerpoint/2010/main" val="40589887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2C3AC-EA8A-ADD6-54C5-FE086A8DFB50}"/>
              </a:ext>
            </a:extLst>
          </p:cNvPr>
          <p:cNvSpPr>
            <a:spLocks noGrp="1"/>
          </p:cNvSpPr>
          <p:nvPr>
            <p:ph type="title"/>
          </p:nvPr>
        </p:nvSpPr>
        <p:spPr/>
        <p:txBody>
          <a:bodyPr/>
          <a:lstStyle/>
          <a:p>
            <a:r>
              <a:rPr lang="en-US" dirty="0"/>
              <a:t>Learning</a:t>
            </a:r>
          </a:p>
        </p:txBody>
      </p:sp>
      <p:sp>
        <p:nvSpPr>
          <p:cNvPr id="3" name="Content Placeholder 2">
            <a:extLst>
              <a:ext uri="{FF2B5EF4-FFF2-40B4-BE49-F238E27FC236}">
                <a16:creationId xmlns:a16="http://schemas.microsoft.com/office/drawing/2014/main" id="{7D70FA3C-FEBF-6164-48AB-CDB4F33D513A}"/>
              </a:ext>
            </a:extLst>
          </p:cNvPr>
          <p:cNvSpPr>
            <a:spLocks noGrp="1"/>
          </p:cNvSpPr>
          <p:nvPr>
            <p:ph idx="1"/>
          </p:nvPr>
        </p:nvSpPr>
        <p:spPr>
          <a:xfrm>
            <a:off x="838200" y="1825625"/>
            <a:ext cx="6851469" cy="4903098"/>
          </a:xfrm>
        </p:spPr>
        <p:txBody>
          <a:bodyPr>
            <a:normAutofit fontScale="85000" lnSpcReduction="20000"/>
          </a:bodyPr>
          <a:lstStyle/>
          <a:p>
            <a:pPr marL="0" indent="0">
              <a:buNone/>
            </a:pPr>
            <a:r>
              <a:rPr lang="en-US" b="1" dirty="0"/>
              <a:t>Classical Conditioning: </a:t>
            </a:r>
            <a:r>
              <a:rPr lang="en-US" dirty="0"/>
              <a:t>Implicit learning by associating stimuli</a:t>
            </a:r>
          </a:p>
          <a:p>
            <a:r>
              <a:rPr lang="en-US" b="1" dirty="0"/>
              <a:t>Conditioning</a:t>
            </a:r>
            <a:r>
              <a:rPr lang="en-US" dirty="0"/>
              <a:t>: Learning Process when two stimuli are repeatedly paired together</a:t>
            </a:r>
          </a:p>
          <a:p>
            <a:pPr lvl="1"/>
            <a:r>
              <a:rPr lang="en-US" b="1" dirty="0"/>
              <a:t>Unconditioned Stimulus (US)</a:t>
            </a:r>
            <a:r>
              <a:rPr lang="en-US" dirty="0"/>
              <a:t>: A stimulus that has no learned associations but </a:t>
            </a:r>
            <a:r>
              <a:rPr lang="en-US" i="1" dirty="0"/>
              <a:t>has an unconditioned response (UR)</a:t>
            </a:r>
          </a:p>
          <a:p>
            <a:pPr lvl="2"/>
            <a:r>
              <a:rPr lang="en-US" dirty="0"/>
              <a:t>Food for a dog elicits a saliva response</a:t>
            </a:r>
          </a:p>
          <a:p>
            <a:pPr lvl="2"/>
            <a:endParaRPr lang="en-US" dirty="0"/>
          </a:p>
          <a:p>
            <a:pPr lvl="1"/>
            <a:r>
              <a:rPr lang="en-US" b="1" dirty="0"/>
              <a:t>Neutral Stimulus (NS)</a:t>
            </a:r>
            <a:r>
              <a:rPr lang="en-US" dirty="0"/>
              <a:t>: A stimulus that has no learned associations and </a:t>
            </a:r>
            <a:r>
              <a:rPr lang="en-US" i="1" dirty="0"/>
              <a:t>no response</a:t>
            </a:r>
          </a:p>
          <a:p>
            <a:pPr lvl="2"/>
            <a:r>
              <a:rPr lang="en-US" dirty="0"/>
              <a:t>Ringing a bell for a dog elicits no response</a:t>
            </a:r>
          </a:p>
          <a:p>
            <a:pPr lvl="2"/>
            <a:endParaRPr lang="en-US" dirty="0"/>
          </a:p>
          <a:p>
            <a:pPr lvl="1"/>
            <a:r>
              <a:rPr lang="en-US" b="1" dirty="0"/>
              <a:t>Conditioned Stimulus (CS)</a:t>
            </a:r>
            <a:r>
              <a:rPr lang="en-US" dirty="0"/>
              <a:t>: A NS that has a learned association with a US</a:t>
            </a:r>
          </a:p>
          <a:p>
            <a:pPr lvl="2"/>
            <a:r>
              <a:rPr lang="en-US" dirty="0"/>
              <a:t>It </a:t>
            </a:r>
            <a:r>
              <a:rPr lang="en-US" i="1" dirty="0"/>
              <a:t>acquires </a:t>
            </a:r>
            <a:r>
              <a:rPr lang="en-US" dirty="0"/>
              <a:t>the UR from the US, which is now called a </a:t>
            </a:r>
            <a:r>
              <a:rPr lang="en-US" i="1" dirty="0"/>
              <a:t>conditioned response (CR)</a:t>
            </a:r>
          </a:p>
          <a:p>
            <a:pPr lvl="2"/>
            <a:r>
              <a:rPr lang="en-US" dirty="0"/>
              <a:t>After conditioning, a bell will elicit a saliva response</a:t>
            </a:r>
          </a:p>
          <a:p>
            <a:pPr lvl="2"/>
            <a:r>
              <a:rPr lang="en-US" dirty="0"/>
              <a:t>The bell now </a:t>
            </a:r>
            <a:r>
              <a:rPr lang="en-US" i="1" dirty="0"/>
              <a:t>predicts</a:t>
            </a:r>
            <a:r>
              <a:rPr lang="en-US" dirty="0"/>
              <a:t> food</a:t>
            </a:r>
          </a:p>
          <a:p>
            <a:pPr lvl="2"/>
            <a:endParaRPr lang="en-US" dirty="0"/>
          </a:p>
        </p:txBody>
      </p:sp>
      <p:pic>
        <p:nvPicPr>
          <p:cNvPr id="9" name="Picture 8" descr="A diagram of a dog condition&#10;&#10;AI-generated content may be incorrect.">
            <a:extLst>
              <a:ext uri="{FF2B5EF4-FFF2-40B4-BE49-F238E27FC236}">
                <a16:creationId xmlns:a16="http://schemas.microsoft.com/office/drawing/2014/main" id="{3A4A3A4C-3A6C-949F-94F6-A3C3C574C22F}"/>
              </a:ext>
            </a:extLst>
          </p:cNvPr>
          <p:cNvPicPr>
            <a:picLocks noChangeAspect="1"/>
          </p:cNvPicPr>
          <p:nvPr/>
        </p:nvPicPr>
        <p:blipFill>
          <a:blip r:embed="rId2">
            <a:extLst>
              <a:ext uri="{28A0092B-C50C-407E-A947-70E740481C1C}">
                <a14:useLocalDpi xmlns:a14="http://schemas.microsoft.com/office/drawing/2010/main" val="0"/>
              </a:ext>
            </a:extLst>
          </a:blip>
          <a:srcRect t="16736"/>
          <a:stretch>
            <a:fillRect/>
          </a:stretch>
        </p:blipFill>
        <p:spPr>
          <a:xfrm>
            <a:off x="7525926" y="1690688"/>
            <a:ext cx="4578312" cy="3812102"/>
          </a:xfrm>
          <a:prstGeom prst="rect">
            <a:avLst/>
          </a:prstGeom>
        </p:spPr>
      </p:pic>
    </p:spTree>
    <p:extLst>
      <p:ext uri="{BB962C8B-B14F-4D97-AF65-F5344CB8AC3E}">
        <p14:creationId xmlns:p14="http://schemas.microsoft.com/office/powerpoint/2010/main" val="19754316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E9DE7F-0CAB-7F8F-8C3B-57B1FF87EECF}"/>
            </a:ext>
          </a:extLst>
        </p:cNvPr>
        <p:cNvGrpSpPr/>
        <p:nvPr/>
      </p:nvGrpSpPr>
      <p:grpSpPr>
        <a:xfrm>
          <a:off x="0" y="0"/>
          <a:ext cx="0" cy="0"/>
          <a:chOff x="0" y="0"/>
          <a:chExt cx="0" cy="0"/>
        </a:xfrm>
      </p:grpSpPr>
      <p:grpSp>
        <p:nvGrpSpPr>
          <p:cNvPr id="11" name="Group 10">
            <a:extLst>
              <a:ext uri="{FF2B5EF4-FFF2-40B4-BE49-F238E27FC236}">
                <a16:creationId xmlns:a16="http://schemas.microsoft.com/office/drawing/2014/main" id="{486B1F32-C0A4-8037-7A79-BFA42188C4A9}"/>
              </a:ext>
            </a:extLst>
          </p:cNvPr>
          <p:cNvGrpSpPr/>
          <p:nvPr/>
        </p:nvGrpSpPr>
        <p:grpSpPr>
          <a:xfrm>
            <a:off x="6829623" y="2544349"/>
            <a:ext cx="4990310" cy="3660789"/>
            <a:chOff x="6829623" y="2544349"/>
            <a:chExt cx="4990310" cy="3660789"/>
          </a:xfrm>
        </p:grpSpPr>
        <p:pic>
          <p:nvPicPr>
            <p:cNvPr id="5" name="Picture 4" descr="A diagram of the brain&#10;&#10;AI-generated content may be incorrect.">
              <a:extLst>
                <a:ext uri="{FF2B5EF4-FFF2-40B4-BE49-F238E27FC236}">
                  <a16:creationId xmlns:a16="http://schemas.microsoft.com/office/drawing/2014/main" id="{663D3456-F1F2-74EA-35B9-DDD3174222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29623" y="2544349"/>
              <a:ext cx="4990310" cy="3137206"/>
            </a:xfrm>
            <a:prstGeom prst="rect">
              <a:avLst/>
            </a:prstGeom>
          </p:spPr>
        </p:pic>
        <p:cxnSp>
          <p:nvCxnSpPr>
            <p:cNvPr id="7" name="Straight Connector 6">
              <a:extLst>
                <a:ext uri="{FF2B5EF4-FFF2-40B4-BE49-F238E27FC236}">
                  <a16:creationId xmlns:a16="http://schemas.microsoft.com/office/drawing/2014/main" id="{028F461A-2277-2E32-9C49-8931904D05F4}"/>
                </a:ext>
              </a:extLst>
            </p:cNvPr>
            <p:cNvCxnSpPr>
              <a:cxnSpLocks/>
            </p:cNvCxnSpPr>
            <p:nvPr/>
          </p:nvCxnSpPr>
          <p:spPr>
            <a:xfrm flipH="1">
              <a:off x="10323261" y="5145865"/>
              <a:ext cx="290085" cy="838725"/>
            </a:xfrm>
            <a:prstGeom prst="line">
              <a:avLst/>
            </a:prstGeom>
            <a:ln w="3175"/>
          </p:spPr>
          <p:style>
            <a:lnRef idx="2">
              <a:schemeClr val="dk1"/>
            </a:lnRef>
            <a:fillRef idx="0">
              <a:schemeClr val="dk1"/>
            </a:fillRef>
            <a:effectRef idx="1">
              <a:schemeClr val="dk1"/>
            </a:effectRef>
            <a:fontRef idx="minor">
              <a:schemeClr val="tx1"/>
            </a:fontRef>
          </p:style>
        </p:cxnSp>
        <p:sp>
          <p:nvSpPr>
            <p:cNvPr id="10" name="TextBox 9">
              <a:extLst>
                <a:ext uri="{FF2B5EF4-FFF2-40B4-BE49-F238E27FC236}">
                  <a16:creationId xmlns:a16="http://schemas.microsoft.com/office/drawing/2014/main" id="{A2C7EF82-F26D-F5CA-FBDB-88845898116E}"/>
                </a:ext>
              </a:extLst>
            </p:cNvPr>
            <p:cNvSpPr txBox="1"/>
            <p:nvPr/>
          </p:nvSpPr>
          <p:spPr>
            <a:xfrm>
              <a:off x="9936258" y="5928139"/>
              <a:ext cx="864532" cy="276999"/>
            </a:xfrm>
            <a:prstGeom prst="rect">
              <a:avLst/>
            </a:prstGeom>
            <a:noFill/>
          </p:spPr>
          <p:txBody>
            <a:bodyPr wrap="none" rtlCol="0">
              <a:spAutoFit/>
            </a:bodyPr>
            <a:lstStyle/>
            <a:p>
              <a:r>
                <a:rPr lang="en-US" sz="1200" dirty="0"/>
                <a:t>Brainstem</a:t>
              </a:r>
            </a:p>
          </p:txBody>
        </p:sp>
      </p:grpSp>
      <p:sp>
        <p:nvSpPr>
          <p:cNvPr id="2" name="Title 1">
            <a:extLst>
              <a:ext uri="{FF2B5EF4-FFF2-40B4-BE49-F238E27FC236}">
                <a16:creationId xmlns:a16="http://schemas.microsoft.com/office/drawing/2014/main" id="{AE8AA52D-184F-B628-BFD4-894B5CAC6673}"/>
              </a:ext>
            </a:extLst>
          </p:cNvPr>
          <p:cNvSpPr>
            <a:spLocks noGrp="1"/>
          </p:cNvSpPr>
          <p:nvPr>
            <p:ph type="title"/>
          </p:nvPr>
        </p:nvSpPr>
        <p:spPr/>
        <p:txBody>
          <a:bodyPr/>
          <a:lstStyle/>
          <a:p>
            <a:r>
              <a:rPr lang="en-US" dirty="0"/>
              <a:t>Learning</a:t>
            </a:r>
          </a:p>
        </p:txBody>
      </p:sp>
      <p:sp>
        <p:nvSpPr>
          <p:cNvPr id="3" name="Content Placeholder 2">
            <a:extLst>
              <a:ext uri="{FF2B5EF4-FFF2-40B4-BE49-F238E27FC236}">
                <a16:creationId xmlns:a16="http://schemas.microsoft.com/office/drawing/2014/main" id="{4C91A62B-328B-EEF5-1B46-2E6166FF86E1}"/>
              </a:ext>
            </a:extLst>
          </p:cNvPr>
          <p:cNvSpPr>
            <a:spLocks noGrp="1"/>
          </p:cNvSpPr>
          <p:nvPr>
            <p:ph idx="1"/>
          </p:nvPr>
        </p:nvSpPr>
        <p:spPr>
          <a:xfrm>
            <a:off x="838200" y="1825625"/>
            <a:ext cx="6851469" cy="4903098"/>
          </a:xfrm>
        </p:spPr>
        <p:txBody>
          <a:bodyPr>
            <a:normAutofit lnSpcReduction="10000"/>
          </a:bodyPr>
          <a:lstStyle/>
          <a:p>
            <a:pPr marL="0" indent="0">
              <a:buNone/>
            </a:pPr>
            <a:r>
              <a:rPr lang="en-US" b="1" dirty="0"/>
              <a:t>Classical Conditioning Processes</a:t>
            </a:r>
          </a:p>
          <a:p>
            <a:r>
              <a:rPr lang="en-US" b="1" dirty="0"/>
              <a:t>Cerebellum</a:t>
            </a:r>
            <a:r>
              <a:rPr lang="en-US" dirty="0"/>
              <a:t>: Coordinates learned motor responses</a:t>
            </a:r>
          </a:p>
          <a:p>
            <a:r>
              <a:rPr lang="en-US" b="1" dirty="0"/>
              <a:t>Brainstem</a:t>
            </a:r>
            <a:r>
              <a:rPr lang="en-US" dirty="0"/>
              <a:t>: Connects conditioned stimulus with motor and autonomic responses</a:t>
            </a:r>
          </a:p>
          <a:p>
            <a:r>
              <a:rPr lang="en-US" b="1" dirty="0"/>
              <a:t>Hippocampus</a:t>
            </a:r>
            <a:r>
              <a:rPr lang="en-US" dirty="0"/>
              <a:t>: Encodes context and relationships between stimuli</a:t>
            </a:r>
          </a:p>
          <a:p>
            <a:r>
              <a:rPr lang="en-US" b="1" dirty="0"/>
              <a:t>Amygdala</a:t>
            </a:r>
            <a:r>
              <a:rPr lang="en-US" dirty="0"/>
              <a:t>: Links neutral stimuli with emotional and fear responses</a:t>
            </a:r>
          </a:p>
          <a:p>
            <a:r>
              <a:rPr lang="en-US" b="1" dirty="0"/>
              <a:t>Prefrontal Cortex</a:t>
            </a:r>
            <a:r>
              <a:rPr lang="en-US" dirty="0"/>
              <a:t>: Regulates attention and expectations during learning</a:t>
            </a:r>
          </a:p>
          <a:p>
            <a:pPr lvl="2"/>
            <a:endParaRPr lang="en-US" dirty="0"/>
          </a:p>
        </p:txBody>
      </p:sp>
    </p:spTree>
    <p:extLst>
      <p:ext uri="{BB962C8B-B14F-4D97-AF65-F5344CB8AC3E}">
        <p14:creationId xmlns:p14="http://schemas.microsoft.com/office/powerpoint/2010/main" val="18483972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76FFFB-E616-0353-EFE4-B06D9FCDC1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31FC5C-D3F1-1BFB-83CB-CB409BDDC7F1}"/>
              </a:ext>
            </a:extLst>
          </p:cNvPr>
          <p:cNvSpPr>
            <a:spLocks noGrp="1"/>
          </p:cNvSpPr>
          <p:nvPr>
            <p:ph type="title"/>
          </p:nvPr>
        </p:nvSpPr>
        <p:spPr/>
        <p:txBody>
          <a:bodyPr/>
          <a:lstStyle/>
          <a:p>
            <a:r>
              <a:rPr lang="en-US" dirty="0"/>
              <a:t>Learning</a:t>
            </a:r>
          </a:p>
        </p:txBody>
      </p:sp>
      <p:sp>
        <p:nvSpPr>
          <p:cNvPr id="3" name="Content Placeholder 2">
            <a:extLst>
              <a:ext uri="{FF2B5EF4-FFF2-40B4-BE49-F238E27FC236}">
                <a16:creationId xmlns:a16="http://schemas.microsoft.com/office/drawing/2014/main" id="{AD6126C9-A548-F975-E046-94A594F5E92B}"/>
              </a:ext>
            </a:extLst>
          </p:cNvPr>
          <p:cNvSpPr>
            <a:spLocks noGrp="1"/>
          </p:cNvSpPr>
          <p:nvPr>
            <p:ph idx="1"/>
          </p:nvPr>
        </p:nvSpPr>
        <p:spPr>
          <a:xfrm>
            <a:off x="838200" y="1825625"/>
            <a:ext cx="6851469" cy="4789586"/>
          </a:xfrm>
        </p:spPr>
        <p:txBody>
          <a:bodyPr>
            <a:normAutofit/>
          </a:bodyPr>
          <a:lstStyle/>
          <a:p>
            <a:pPr marL="0" indent="0">
              <a:buNone/>
            </a:pPr>
            <a:r>
              <a:rPr lang="en-US" b="1" dirty="0"/>
              <a:t>Operant Conditioning</a:t>
            </a:r>
            <a:r>
              <a:rPr lang="en-US" dirty="0"/>
              <a:t>: Implicit learning through trial-and-error</a:t>
            </a:r>
          </a:p>
          <a:p>
            <a:r>
              <a:rPr lang="en-US" dirty="0"/>
              <a:t>Learning to </a:t>
            </a:r>
            <a:r>
              <a:rPr lang="en-US" i="1" dirty="0"/>
              <a:t>expect</a:t>
            </a:r>
            <a:r>
              <a:rPr lang="en-US" dirty="0"/>
              <a:t> the proper </a:t>
            </a:r>
            <a:r>
              <a:rPr lang="en-US" i="1" dirty="0"/>
              <a:t>consequence </a:t>
            </a:r>
            <a:r>
              <a:rPr lang="en-US" dirty="0"/>
              <a:t>of our </a:t>
            </a:r>
            <a:r>
              <a:rPr lang="en-US" i="1" dirty="0"/>
              <a:t>action</a:t>
            </a:r>
          </a:p>
        </p:txBody>
      </p:sp>
      <p:pic>
        <p:nvPicPr>
          <p:cNvPr id="5" name="Picture 4" descr="A graph of a curve and a red line&#10;&#10;AI-generated content may be incorrect.">
            <a:extLst>
              <a:ext uri="{FF2B5EF4-FFF2-40B4-BE49-F238E27FC236}">
                <a16:creationId xmlns:a16="http://schemas.microsoft.com/office/drawing/2014/main" id="{AD28A0F0-0FAF-98AF-51C4-59D1273B2820}"/>
              </a:ext>
            </a:extLst>
          </p:cNvPr>
          <p:cNvPicPr>
            <a:picLocks noChangeAspect="1"/>
          </p:cNvPicPr>
          <p:nvPr/>
        </p:nvPicPr>
        <p:blipFill>
          <a:blip r:embed="rId2">
            <a:extLst>
              <a:ext uri="{28A0092B-C50C-407E-A947-70E740481C1C}">
                <a14:useLocalDpi xmlns:a14="http://schemas.microsoft.com/office/drawing/2010/main" val="0"/>
              </a:ext>
            </a:extLst>
          </a:blip>
          <a:srcRect t="5962"/>
          <a:stretch>
            <a:fillRect/>
          </a:stretch>
        </p:blipFill>
        <p:spPr>
          <a:xfrm>
            <a:off x="7835011" y="1601777"/>
            <a:ext cx="3799340" cy="5073348"/>
          </a:xfrm>
          <a:prstGeom prst="rect">
            <a:avLst/>
          </a:prstGeom>
        </p:spPr>
      </p:pic>
    </p:spTree>
    <p:extLst>
      <p:ext uri="{BB962C8B-B14F-4D97-AF65-F5344CB8AC3E}">
        <p14:creationId xmlns:p14="http://schemas.microsoft.com/office/powerpoint/2010/main" val="35337965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C963BD-E214-CFC4-4EDC-4C7C3F9509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5F5291-8274-AAC6-A4E1-7C245047E17F}"/>
              </a:ext>
            </a:extLst>
          </p:cNvPr>
          <p:cNvSpPr>
            <a:spLocks noGrp="1"/>
          </p:cNvSpPr>
          <p:nvPr>
            <p:ph type="title"/>
          </p:nvPr>
        </p:nvSpPr>
        <p:spPr/>
        <p:txBody>
          <a:bodyPr/>
          <a:lstStyle/>
          <a:p>
            <a:r>
              <a:rPr lang="en-US" dirty="0"/>
              <a:t>Learning</a:t>
            </a:r>
          </a:p>
        </p:txBody>
      </p:sp>
      <p:pic>
        <p:nvPicPr>
          <p:cNvPr id="1026" name="Picture 2" descr="Scratch and win Images - Free Download on Magnific">
            <a:extLst>
              <a:ext uri="{FF2B5EF4-FFF2-40B4-BE49-F238E27FC236}">
                <a16:creationId xmlns:a16="http://schemas.microsoft.com/office/drawing/2014/main" id="{2E36D7EA-9D15-CE07-D600-74C8591A9EE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189" t="37460" r="5873" b="37936"/>
          <a:stretch>
            <a:fillRect/>
          </a:stretch>
        </p:blipFill>
        <p:spPr bwMode="auto">
          <a:xfrm>
            <a:off x="960191" y="1992086"/>
            <a:ext cx="10271618" cy="287382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805B5171-329B-0DF8-7B21-3A8D6E92821E}"/>
              </a:ext>
            </a:extLst>
          </p:cNvPr>
          <p:cNvSpPr txBox="1"/>
          <p:nvPr/>
        </p:nvSpPr>
        <p:spPr>
          <a:xfrm>
            <a:off x="1168854" y="4865914"/>
            <a:ext cx="4117521" cy="584775"/>
          </a:xfrm>
          <a:prstGeom prst="rect">
            <a:avLst/>
          </a:prstGeom>
          <a:noFill/>
        </p:spPr>
        <p:txBody>
          <a:bodyPr wrap="square" rtlCol="0">
            <a:spAutoFit/>
          </a:bodyPr>
          <a:lstStyle/>
          <a:p>
            <a:pPr algn="ctr"/>
            <a:r>
              <a:rPr lang="en-US" sz="3200" b="1" dirty="0"/>
              <a:t>Gold Ticket</a:t>
            </a:r>
          </a:p>
        </p:txBody>
      </p:sp>
      <p:sp>
        <p:nvSpPr>
          <p:cNvPr id="8" name="TextBox 7">
            <a:extLst>
              <a:ext uri="{FF2B5EF4-FFF2-40B4-BE49-F238E27FC236}">
                <a16:creationId xmlns:a16="http://schemas.microsoft.com/office/drawing/2014/main" id="{176323A7-6BB3-FE40-1CFD-86EB1380FAA8}"/>
              </a:ext>
            </a:extLst>
          </p:cNvPr>
          <p:cNvSpPr txBox="1"/>
          <p:nvPr/>
        </p:nvSpPr>
        <p:spPr>
          <a:xfrm>
            <a:off x="6836228" y="4865914"/>
            <a:ext cx="4117521" cy="584775"/>
          </a:xfrm>
          <a:prstGeom prst="rect">
            <a:avLst/>
          </a:prstGeom>
          <a:noFill/>
        </p:spPr>
        <p:txBody>
          <a:bodyPr wrap="square" rtlCol="0">
            <a:spAutoFit/>
          </a:bodyPr>
          <a:lstStyle/>
          <a:p>
            <a:pPr algn="ctr"/>
            <a:r>
              <a:rPr lang="en-US" sz="3200" b="1" dirty="0"/>
              <a:t>Red Ticket</a:t>
            </a:r>
          </a:p>
        </p:txBody>
      </p:sp>
      <p:sp>
        <p:nvSpPr>
          <p:cNvPr id="9" name="TextBox 8">
            <a:extLst>
              <a:ext uri="{FF2B5EF4-FFF2-40B4-BE49-F238E27FC236}">
                <a16:creationId xmlns:a16="http://schemas.microsoft.com/office/drawing/2014/main" id="{F942D990-92E7-EDC3-58F8-D4FCAEE99C2D}"/>
              </a:ext>
            </a:extLst>
          </p:cNvPr>
          <p:cNvSpPr txBox="1"/>
          <p:nvPr/>
        </p:nvSpPr>
        <p:spPr>
          <a:xfrm>
            <a:off x="6836228" y="1407311"/>
            <a:ext cx="4117521" cy="584775"/>
          </a:xfrm>
          <a:prstGeom prst="rect">
            <a:avLst/>
          </a:prstGeom>
          <a:noFill/>
        </p:spPr>
        <p:txBody>
          <a:bodyPr wrap="square" rtlCol="0">
            <a:spAutoFit/>
          </a:bodyPr>
          <a:lstStyle/>
          <a:p>
            <a:pPr algn="ctr"/>
            <a:r>
              <a:rPr lang="en-US" sz="3200" b="1" dirty="0">
                <a:solidFill>
                  <a:schemeClr val="accent6"/>
                </a:solidFill>
              </a:rPr>
              <a:t>WINNER!</a:t>
            </a:r>
          </a:p>
        </p:txBody>
      </p:sp>
      <p:sp>
        <p:nvSpPr>
          <p:cNvPr id="10" name="TextBox 9">
            <a:extLst>
              <a:ext uri="{FF2B5EF4-FFF2-40B4-BE49-F238E27FC236}">
                <a16:creationId xmlns:a16="http://schemas.microsoft.com/office/drawing/2014/main" id="{98420114-7273-185D-41F2-95FED87DE757}"/>
              </a:ext>
            </a:extLst>
          </p:cNvPr>
          <p:cNvSpPr txBox="1"/>
          <p:nvPr/>
        </p:nvSpPr>
        <p:spPr>
          <a:xfrm>
            <a:off x="1168854" y="1407311"/>
            <a:ext cx="4117521" cy="584775"/>
          </a:xfrm>
          <a:prstGeom prst="rect">
            <a:avLst/>
          </a:prstGeom>
          <a:noFill/>
        </p:spPr>
        <p:txBody>
          <a:bodyPr wrap="square" rtlCol="0">
            <a:spAutoFit/>
          </a:bodyPr>
          <a:lstStyle/>
          <a:p>
            <a:pPr algn="ctr"/>
            <a:r>
              <a:rPr lang="en-US" sz="3200" b="1" dirty="0">
                <a:solidFill>
                  <a:srgbClr val="FF0000"/>
                </a:solidFill>
              </a:rPr>
              <a:t>PLEASE TRY AGAIN!</a:t>
            </a:r>
          </a:p>
        </p:txBody>
      </p:sp>
    </p:spTree>
    <p:extLst>
      <p:ext uri="{BB962C8B-B14F-4D97-AF65-F5344CB8AC3E}">
        <p14:creationId xmlns:p14="http://schemas.microsoft.com/office/powerpoint/2010/main" val="266853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FBBC27-2FD3-3B4D-3EE3-72D1978727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44ABE7-C226-ADF9-128E-ACFEA2F11E7F}"/>
              </a:ext>
            </a:extLst>
          </p:cNvPr>
          <p:cNvSpPr>
            <a:spLocks noGrp="1"/>
          </p:cNvSpPr>
          <p:nvPr>
            <p:ph type="title"/>
          </p:nvPr>
        </p:nvSpPr>
        <p:spPr/>
        <p:txBody>
          <a:bodyPr/>
          <a:lstStyle/>
          <a:p>
            <a:r>
              <a:rPr lang="en-US" dirty="0"/>
              <a:t>Learning</a:t>
            </a:r>
          </a:p>
        </p:txBody>
      </p:sp>
      <p:pic>
        <p:nvPicPr>
          <p:cNvPr id="1026" name="Picture 2" descr="Scratch and win Images - Free Download on Magnific">
            <a:extLst>
              <a:ext uri="{FF2B5EF4-FFF2-40B4-BE49-F238E27FC236}">
                <a16:creationId xmlns:a16="http://schemas.microsoft.com/office/drawing/2014/main" id="{44408CDA-96D5-F724-F47A-94BA7C8F0F3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189" t="37460" r="5873" b="37936"/>
          <a:stretch>
            <a:fillRect/>
          </a:stretch>
        </p:blipFill>
        <p:spPr bwMode="auto">
          <a:xfrm>
            <a:off x="960191" y="1992086"/>
            <a:ext cx="10271618" cy="287382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81F5A069-2A28-12A3-73C1-7B952BC8A527}"/>
              </a:ext>
            </a:extLst>
          </p:cNvPr>
          <p:cNvSpPr txBox="1"/>
          <p:nvPr/>
        </p:nvSpPr>
        <p:spPr>
          <a:xfrm>
            <a:off x="1168854" y="4865914"/>
            <a:ext cx="4117521" cy="584775"/>
          </a:xfrm>
          <a:prstGeom prst="rect">
            <a:avLst/>
          </a:prstGeom>
          <a:noFill/>
        </p:spPr>
        <p:txBody>
          <a:bodyPr wrap="square" rtlCol="0">
            <a:spAutoFit/>
          </a:bodyPr>
          <a:lstStyle/>
          <a:p>
            <a:pPr algn="ctr"/>
            <a:r>
              <a:rPr lang="en-US" sz="3200" b="1" dirty="0"/>
              <a:t>Gold Ticket</a:t>
            </a:r>
          </a:p>
        </p:txBody>
      </p:sp>
      <p:sp>
        <p:nvSpPr>
          <p:cNvPr id="8" name="TextBox 7">
            <a:extLst>
              <a:ext uri="{FF2B5EF4-FFF2-40B4-BE49-F238E27FC236}">
                <a16:creationId xmlns:a16="http://schemas.microsoft.com/office/drawing/2014/main" id="{EE578371-8C1E-2F79-DFCF-7106085FCBAE}"/>
              </a:ext>
            </a:extLst>
          </p:cNvPr>
          <p:cNvSpPr txBox="1"/>
          <p:nvPr/>
        </p:nvSpPr>
        <p:spPr>
          <a:xfrm>
            <a:off x="6836228" y="4865914"/>
            <a:ext cx="4117521" cy="584775"/>
          </a:xfrm>
          <a:prstGeom prst="rect">
            <a:avLst/>
          </a:prstGeom>
          <a:noFill/>
        </p:spPr>
        <p:txBody>
          <a:bodyPr wrap="square" rtlCol="0">
            <a:spAutoFit/>
          </a:bodyPr>
          <a:lstStyle/>
          <a:p>
            <a:pPr algn="ctr"/>
            <a:r>
              <a:rPr lang="en-US" sz="3200" b="1" dirty="0"/>
              <a:t>Red Ticket</a:t>
            </a:r>
          </a:p>
        </p:txBody>
      </p:sp>
      <p:sp>
        <p:nvSpPr>
          <p:cNvPr id="3" name="TextBox 2">
            <a:extLst>
              <a:ext uri="{FF2B5EF4-FFF2-40B4-BE49-F238E27FC236}">
                <a16:creationId xmlns:a16="http://schemas.microsoft.com/office/drawing/2014/main" id="{1FFCFEF3-34B8-AA5F-5FB3-900ED66DCE7A}"/>
              </a:ext>
            </a:extLst>
          </p:cNvPr>
          <p:cNvSpPr txBox="1"/>
          <p:nvPr/>
        </p:nvSpPr>
        <p:spPr>
          <a:xfrm>
            <a:off x="6836228" y="1407311"/>
            <a:ext cx="4117521" cy="584775"/>
          </a:xfrm>
          <a:prstGeom prst="rect">
            <a:avLst/>
          </a:prstGeom>
          <a:noFill/>
        </p:spPr>
        <p:txBody>
          <a:bodyPr wrap="square" rtlCol="0">
            <a:spAutoFit/>
          </a:bodyPr>
          <a:lstStyle/>
          <a:p>
            <a:pPr algn="ctr"/>
            <a:r>
              <a:rPr lang="en-US" sz="3200" b="1" dirty="0">
                <a:solidFill>
                  <a:schemeClr val="accent6"/>
                </a:solidFill>
              </a:rPr>
              <a:t>WINNER!</a:t>
            </a:r>
          </a:p>
        </p:txBody>
      </p:sp>
      <p:sp>
        <p:nvSpPr>
          <p:cNvPr id="4" name="TextBox 3">
            <a:extLst>
              <a:ext uri="{FF2B5EF4-FFF2-40B4-BE49-F238E27FC236}">
                <a16:creationId xmlns:a16="http://schemas.microsoft.com/office/drawing/2014/main" id="{98EF870D-162A-D378-CE13-7CCF35EA8679}"/>
              </a:ext>
            </a:extLst>
          </p:cNvPr>
          <p:cNvSpPr txBox="1"/>
          <p:nvPr/>
        </p:nvSpPr>
        <p:spPr>
          <a:xfrm>
            <a:off x="1168854" y="1407311"/>
            <a:ext cx="4117521" cy="584775"/>
          </a:xfrm>
          <a:prstGeom prst="rect">
            <a:avLst/>
          </a:prstGeom>
          <a:noFill/>
        </p:spPr>
        <p:txBody>
          <a:bodyPr wrap="square" rtlCol="0">
            <a:spAutoFit/>
          </a:bodyPr>
          <a:lstStyle/>
          <a:p>
            <a:pPr algn="ctr"/>
            <a:r>
              <a:rPr lang="en-US" sz="3200" b="1" dirty="0">
                <a:solidFill>
                  <a:srgbClr val="FF0000"/>
                </a:solidFill>
              </a:rPr>
              <a:t>PLEASE TRY AGAIN!</a:t>
            </a:r>
          </a:p>
        </p:txBody>
      </p:sp>
    </p:spTree>
    <p:extLst>
      <p:ext uri="{BB962C8B-B14F-4D97-AF65-F5344CB8AC3E}">
        <p14:creationId xmlns:p14="http://schemas.microsoft.com/office/powerpoint/2010/main" val="950022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D24921-5496-AE8E-ADF4-A61482C398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75E5D1-FB4C-C664-9F54-9CC7131C335C}"/>
              </a:ext>
            </a:extLst>
          </p:cNvPr>
          <p:cNvSpPr>
            <a:spLocks noGrp="1"/>
          </p:cNvSpPr>
          <p:nvPr>
            <p:ph type="title"/>
          </p:nvPr>
        </p:nvSpPr>
        <p:spPr/>
        <p:txBody>
          <a:bodyPr/>
          <a:lstStyle/>
          <a:p>
            <a:r>
              <a:rPr lang="en-US" dirty="0"/>
              <a:t>Learning</a:t>
            </a:r>
          </a:p>
        </p:txBody>
      </p:sp>
      <p:sp>
        <p:nvSpPr>
          <p:cNvPr id="3" name="Content Placeholder 2">
            <a:extLst>
              <a:ext uri="{FF2B5EF4-FFF2-40B4-BE49-F238E27FC236}">
                <a16:creationId xmlns:a16="http://schemas.microsoft.com/office/drawing/2014/main" id="{3B1FA120-7410-2531-9749-B11BB897E7D6}"/>
              </a:ext>
            </a:extLst>
          </p:cNvPr>
          <p:cNvSpPr>
            <a:spLocks noGrp="1"/>
          </p:cNvSpPr>
          <p:nvPr>
            <p:ph idx="1"/>
          </p:nvPr>
        </p:nvSpPr>
        <p:spPr>
          <a:xfrm>
            <a:off x="838199" y="1825625"/>
            <a:ext cx="7473062" cy="4789586"/>
          </a:xfrm>
        </p:spPr>
        <p:txBody>
          <a:bodyPr>
            <a:normAutofit/>
          </a:bodyPr>
          <a:lstStyle/>
          <a:p>
            <a:pPr marL="0" indent="0">
              <a:buNone/>
            </a:pPr>
            <a:r>
              <a:rPr lang="en-US" b="1" dirty="0"/>
              <a:t>Operant Conditioning</a:t>
            </a:r>
            <a:r>
              <a:rPr lang="en-US" dirty="0"/>
              <a:t>: Implicit learning through trial-and-error</a:t>
            </a:r>
          </a:p>
          <a:p>
            <a:r>
              <a:rPr lang="en-US" dirty="0"/>
              <a:t>Learning to </a:t>
            </a:r>
            <a:r>
              <a:rPr lang="en-US" i="1" dirty="0"/>
              <a:t>expect</a:t>
            </a:r>
            <a:r>
              <a:rPr lang="en-US" dirty="0"/>
              <a:t> the proper </a:t>
            </a:r>
            <a:r>
              <a:rPr lang="en-US" i="1" dirty="0"/>
              <a:t>consequence </a:t>
            </a:r>
            <a:r>
              <a:rPr lang="en-US" dirty="0"/>
              <a:t>of our </a:t>
            </a:r>
            <a:r>
              <a:rPr lang="en-US" i="1" dirty="0"/>
              <a:t>action</a:t>
            </a:r>
          </a:p>
          <a:p>
            <a:pPr lvl="2"/>
            <a:r>
              <a:rPr lang="en-US" dirty="0"/>
              <a:t>E.g., If I leave at 8:00AM, I should make my 8:30AM class</a:t>
            </a:r>
          </a:p>
          <a:p>
            <a:pPr lvl="1"/>
            <a:r>
              <a:rPr lang="en-US" b="1" dirty="0"/>
              <a:t>Prediction Error</a:t>
            </a:r>
            <a:r>
              <a:rPr lang="en-US" dirty="0"/>
              <a:t>: When our expectation does not match the actual outcome</a:t>
            </a:r>
          </a:p>
          <a:p>
            <a:pPr lvl="2"/>
            <a:r>
              <a:rPr lang="en-US" dirty="0"/>
              <a:t>E.g., I left at 8:00AM, but made it to class at 8:45AM</a:t>
            </a:r>
          </a:p>
          <a:p>
            <a:pPr lvl="2"/>
            <a:r>
              <a:rPr lang="en-US" dirty="0"/>
              <a:t>Prediction error: 15 minutes late</a:t>
            </a:r>
          </a:p>
          <a:p>
            <a:pPr lvl="1"/>
            <a:r>
              <a:rPr lang="en-US" dirty="0"/>
              <a:t>Over </a:t>
            </a:r>
            <a:r>
              <a:rPr lang="en-US" i="1" dirty="0"/>
              <a:t>many repetitions</a:t>
            </a:r>
            <a:r>
              <a:rPr lang="en-US" dirty="0"/>
              <a:t>, we learn to properly predict our actions</a:t>
            </a:r>
          </a:p>
          <a:p>
            <a:pPr lvl="2"/>
            <a:r>
              <a:rPr lang="en-US" dirty="0"/>
              <a:t>E.g., I must leave at 7:45AM to make my 8:30AM class</a:t>
            </a:r>
          </a:p>
        </p:txBody>
      </p:sp>
      <p:pic>
        <p:nvPicPr>
          <p:cNvPr id="5" name="Picture 4" descr="A graph of a curve and a red line&#10;&#10;AI-generated content may be incorrect.">
            <a:extLst>
              <a:ext uri="{FF2B5EF4-FFF2-40B4-BE49-F238E27FC236}">
                <a16:creationId xmlns:a16="http://schemas.microsoft.com/office/drawing/2014/main" id="{AE10A2C6-00AB-4C77-2CF8-D68278FF7E74}"/>
              </a:ext>
            </a:extLst>
          </p:cNvPr>
          <p:cNvPicPr>
            <a:picLocks noChangeAspect="1"/>
          </p:cNvPicPr>
          <p:nvPr/>
        </p:nvPicPr>
        <p:blipFill>
          <a:blip r:embed="rId3">
            <a:extLst>
              <a:ext uri="{28A0092B-C50C-407E-A947-70E740481C1C}">
                <a14:useLocalDpi xmlns:a14="http://schemas.microsoft.com/office/drawing/2010/main" val="0"/>
              </a:ext>
            </a:extLst>
          </a:blip>
          <a:srcRect t="5962"/>
          <a:stretch>
            <a:fillRect/>
          </a:stretch>
        </p:blipFill>
        <p:spPr>
          <a:xfrm>
            <a:off x="8311261" y="1541863"/>
            <a:ext cx="3799340" cy="5073348"/>
          </a:xfrm>
          <a:prstGeom prst="rect">
            <a:avLst/>
          </a:prstGeom>
        </p:spPr>
      </p:pic>
    </p:spTree>
    <p:extLst>
      <p:ext uri="{BB962C8B-B14F-4D97-AF65-F5344CB8AC3E}">
        <p14:creationId xmlns:p14="http://schemas.microsoft.com/office/powerpoint/2010/main" val="846437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062A7A-FADC-A895-9556-9C6F15FCA2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A41546-2603-B946-432E-588EE636110A}"/>
              </a:ext>
            </a:extLst>
          </p:cNvPr>
          <p:cNvSpPr>
            <a:spLocks noGrp="1"/>
          </p:cNvSpPr>
          <p:nvPr>
            <p:ph type="title"/>
          </p:nvPr>
        </p:nvSpPr>
        <p:spPr/>
        <p:txBody>
          <a:bodyPr/>
          <a:lstStyle/>
          <a:p>
            <a:r>
              <a:rPr lang="en-US" dirty="0"/>
              <a:t>Learning</a:t>
            </a:r>
          </a:p>
        </p:txBody>
      </p:sp>
      <p:sp>
        <p:nvSpPr>
          <p:cNvPr id="3" name="Content Placeholder 2">
            <a:extLst>
              <a:ext uri="{FF2B5EF4-FFF2-40B4-BE49-F238E27FC236}">
                <a16:creationId xmlns:a16="http://schemas.microsoft.com/office/drawing/2014/main" id="{6E6356AB-06CB-4E19-8AB2-F053D096F7AD}"/>
              </a:ext>
            </a:extLst>
          </p:cNvPr>
          <p:cNvSpPr>
            <a:spLocks noGrp="1"/>
          </p:cNvSpPr>
          <p:nvPr>
            <p:ph idx="1"/>
          </p:nvPr>
        </p:nvSpPr>
        <p:spPr>
          <a:xfrm>
            <a:off x="838200" y="1825625"/>
            <a:ext cx="6851469" cy="4351338"/>
          </a:xfrm>
        </p:spPr>
        <p:txBody>
          <a:bodyPr>
            <a:normAutofit/>
          </a:bodyPr>
          <a:lstStyle/>
          <a:p>
            <a:pPr marL="0" indent="0">
              <a:buNone/>
            </a:pPr>
            <a:r>
              <a:rPr lang="en-US" b="1" dirty="0"/>
              <a:t>Operant Conditioning</a:t>
            </a:r>
          </a:p>
          <a:p>
            <a:r>
              <a:rPr lang="en-US" b="1" dirty="0" err="1"/>
              <a:t>Behavioural</a:t>
            </a:r>
            <a:r>
              <a:rPr lang="en-US" b="1" dirty="0"/>
              <a:t> Change</a:t>
            </a:r>
          </a:p>
          <a:p>
            <a:pPr lvl="1"/>
            <a:r>
              <a:rPr lang="en-US" b="1" dirty="0"/>
              <a:t>Reinforcement</a:t>
            </a:r>
            <a:r>
              <a:rPr lang="en-US" dirty="0"/>
              <a:t>: Increasing a </a:t>
            </a:r>
            <a:r>
              <a:rPr lang="en-US" dirty="0" err="1"/>
              <a:t>behaviour</a:t>
            </a:r>
            <a:endParaRPr lang="en-US" dirty="0"/>
          </a:p>
          <a:p>
            <a:pPr lvl="1"/>
            <a:r>
              <a:rPr lang="en-US" b="1" dirty="0"/>
              <a:t>Punishment</a:t>
            </a:r>
            <a:r>
              <a:rPr lang="en-US" dirty="0"/>
              <a:t>: Decreasing a </a:t>
            </a:r>
            <a:r>
              <a:rPr lang="en-US" dirty="0" err="1"/>
              <a:t>behaviour</a:t>
            </a:r>
            <a:endParaRPr lang="en-US" dirty="0"/>
          </a:p>
          <a:p>
            <a:pPr lvl="1"/>
            <a:endParaRPr lang="en-US" dirty="0"/>
          </a:p>
          <a:p>
            <a:r>
              <a:rPr lang="en-US" b="1" dirty="0"/>
              <a:t>Stimulus Type</a:t>
            </a:r>
          </a:p>
          <a:p>
            <a:pPr lvl="1"/>
            <a:r>
              <a:rPr lang="en-US" b="1" dirty="0"/>
              <a:t>Positive</a:t>
            </a:r>
            <a:r>
              <a:rPr lang="en-US" dirty="0"/>
              <a:t>: Addition of a stimulus</a:t>
            </a:r>
          </a:p>
          <a:p>
            <a:pPr lvl="1"/>
            <a:r>
              <a:rPr lang="en-US" b="1" dirty="0"/>
              <a:t>Negative</a:t>
            </a:r>
            <a:r>
              <a:rPr lang="en-US" dirty="0"/>
              <a:t>: Removal of a stimulus</a:t>
            </a:r>
          </a:p>
          <a:p>
            <a:endParaRPr lang="en-US" dirty="0"/>
          </a:p>
        </p:txBody>
      </p:sp>
      <p:pic>
        <p:nvPicPr>
          <p:cNvPr id="7" name="Picture 6" descr="A diagram of negative reinforcement&#10;&#10;AI-generated content may be incorrect.">
            <a:extLst>
              <a:ext uri="{FF2B5EF4-FFF2-40B4-BE49-F238E27FC236}">
                <a16:creationId xmlns:a16="http://schemas.microsoft.com/office/drawing/2014/main" id="{C9B3EE54-8803-1C14-6665-25E122889FC7}"/>
              </a:ext>
            </a:extLst>
          </p:cNvPr>
          <p:cNvPicPr>
            <a:picLocks noChangeAspect="1"/>
          </p:cNvPicPr>
          <p:nvPr/>
        </p:nvPicPr>
        <p:blipFill>
          <a:blip r:embed="rId2">
            <a:extLst>
              <a:ext uri="{28A0092B-C50C-407E-A947-70E740481C1C}">
                <a14:useLocalDpi xmlns:a14="http://schemas.microsoft.com/office/drawing/2010/main" val="0"/>
              </a:ext>
            </a:extLst>
          </a:blip>
          <a:srcRect r="14309"/>
          <a:stretch>
            <a:fillRect/>
          </a:stretch>
        </p:blipFill>
        <p:spPr>
          <a:xfrm>
            <a:off x="7461419" y="1690688"/>
            <a:ext cx="4660914" cy="4351338"/>
          </a:xfrm>
          <a:prstGeom prst="rect">
            <a:avLst/>
          </a:prstGeom>
        </p:spPr>
      </p:pic>
    </p:spTree>
    <p:extLst>
      <p:ext uri="{BB962C8B-B14F-4D97-AF65-F5344CB8AC3E}">
        <p14:creationId xmlns:p14="http://schemas.microsoft.com/office/powerpoint/2010/main" val="1228120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27E84A-B455-F552-467F-921492DB4254}"/>
            </a:ext>
          </a:extLst>
        </p:cNvPr>
        <p:cNvGrpSpPr/>
        <p:nvPr/>
      </p:nvGrpSpPr>
      <p:grpSpPr>
        <a:xfrm>
          <a:off x="0" y="0"/>
          <a:ext cx="0" cy="0"/>
          <a:chOff x="0" y="0"/>
          <a:chExt cx="0" cy="0"/>
        </a:xfrm>
      </p:grpSpPr>
      <p:pic>
        <p:nvPicPr>
          <p:cNvPr id="7" name="Picture 6" descr="A diagram of negative reinforcement&#10;&#10;AI-generated content may be incorrect.">
            <a:extLst>
              <a:ext uri="{FF2B5EF4-FFF2-40B4-BE49-F238E27FC236}">
                <a16:creationId xmlns:a16="http://schemas.microsoft.com/office/drawing/2014/main" id="{EFD50069-4765-62BA-0D21-7AB5FCCCE61B}"/>
              </a:ext>
            </a:extLst>
          </p:cNvPr>
          <p:cNvPicPr>
            <a:picLocks noChangeAspect="1"/>
          </p:cNvPicPr>
          <p:nvPr/>
        </p:nvPicPr>
        <p:blipFill>
          <a:blip r:embed="rId2">
            <a:extLst>
              <a:ext uri="{28A0092B-C50C-407E-A947-70E740481C1C}">
                <a14:useLocalDpi xmlns:a14="http://schemas.microsoft.com/office/drawing/2010/main" val="0"/>
              </a:ext>
            </a:extLst>
          </a:blip>
          <a:srcRect r="14309"/>
          <a:stretch>
            <a:fillRect/>
          </a:stretch>
        </p:blipFill>
        <p:spPr>
          <a:xfrm>
            <a:off x="7461419" y="1690688"/>
            <a:ext cx="4660914" cy="4351338"/>
          </a:xfrm>
          <a:prstGeom prst="rect">
            <a:avLst/>
          </a:prstGeom>
        </p:spPr>
      </p:pic>
      <p:sp>
        <p:nvSpPr>
          <p:cNvPr id="2" name="Title 1">
            <a:extLst>
              <a:ext uri="{FF2B5EF4-FFF2-40B4-BE49-F238E27FC236}">
                <a16:creationId xmlns:a16="http://schemas.microsoft.com/office/drawing/2014/main" id="{73E4FA23-3705-7035-0557-1B96208A52B1}"/>
              </a:ext>
            </a:extLst>
          </p:cNvPr>
          <p:cNvSpPr>
            <a:spLocks noGrp="1"/>
          </p:cNvSpPr>
          <p:nvPr>
            <p:ph type="title"/>
          </p:nvPr>
        </p:nvSpPr>
        <p:spPr/>
        <p:txBody>
          <a:bodyPr/>
          <a:lstStyle/>
          <a:p>
            <a:r>
              <a:rPr lang="en-US" dirty="0"/>
              <a:t>Learning</a:t>
            </a:r>
          </a:p>
        </p:txBody>
      </p:sp>
      <p:sp>
        <p:nvSpPr>
          <p:cNvPr id="3" name="Content Placeholder 2">
            <a:extLst>
              <a:ext uri="{FF2B5EF4-FFF2-40B4-BE49-F238E27FC236}">
                <a16:creationId xmlns:a16="http://schemas.microsoft.com/office/drawing/2014/main" id="{2BF36E0E-02AA-CF46-528F-CA5F5DA9E398}"/>
              </a:ext>
            </a:extLst>
          </p:cNvPr>
          <p:cNvSpPr>
            <a:spLocks noGrp="1"/>
          </p:cNvSpPr>
          <p:nvPr>
            <p:ph idx="1"/>
          </p:nvPr>
        </p:nvSpPr>
        <p:spPr>
          <a:xfrm>
            <a:off x="838200" y="1825625"/>
            <a:ext cx="6851469" cy="4351338"/>
          </a:xfrm>
        </p:spPr>
        <p:txBody>
          <a:bodyPr/>
          <a:lstStyle/>
          <a:p>
            <a:pPr marL="0" indent="0">
              <a:buNone/>
            </a:pPr>
            <a:r>
              <a:rPr lang="en-US" b="1" dirty="0"/>
              <a:t>Operant Conditioning</a:t>
            </a:r>
          </a:p>
          <a:p>
            <a:r>
              <a:rPr lang="en-US" b="1" dirty="0"/>
              <a:t>Positive Reinforcement: </a:t>
            </a:r>
            <a:r>
              <a:rPr lang="en-US" dirty="0"/>
              <a:t>Increasing a </a:t>
            </a:r>
            <a:r>
              <a:rPr lang="en-US" dirty="0" err="1"/>
              <a:t>behaviour</a:t>
            </a:r>
            <a:r>
              <a:rPr lang="en-US" dirty="0"/>
              <a:t> by giving a stimulus</a:t>
            </a:r>
          </a:p>
          <a:p>
            <a:pPr lvl="1"/>
            <a:r>
              <a:rPr lang="en-US" dirty="0"/>
              <a:t>Praising a student for submitting their work</a:t>
            </a:r>
          </a:p>
          <a:p>
            <a:pPr marL="457200" lvl="1" indent="0">
              <a:buNone/>
            </a:pPr>
            <a:endParaRPr lang="en-US" dirty="0"/>
          </a:p>
          <a:p>
            <a:r>
              <a:rPr lang="en-US" b="1" dirty="0"/>
              <a:t>Negative Reinforcement</a:t>
            </a:r>
            <a:r>
              <a:rPr lang="en-US" dirty="0"/>
              <a:t>: Increasing a </a:t>
            </a:r>
            <a:r>
              <a:rPr lang="en-US" dirty="0" err="1"/>
              <a:t>behaviour</a:t>
            </a:r>
            <a:r>
              <a:rPr lang="en-US" dirty="0"/>
              <a:t> by removing a stimulus</a:t>
            </a:r>
          </a:p>
          <a:p>
            <a:pPr lvl="1"/>
            <a:r>
              <a:rPr lang="en-US" dirty="0"/>
              <a:t>Putting your seatbelt on in response to the seatbelt alarm beeping</a:t>
            </a:r>
          </a:p>
          <a:p>
            <a:endParaRPr lang="en-US" dirty="0"/>
          </a:p>
        </p:txBody>
      </p:sp>
    </p:spTree>
    <p:extLst>
      <p:ext uri="{BB962C8B-B14F-4D97-AF65-F5344CB8AC3E}">
        <p14:creationId xmlns:p14="http://schemas.microsoft.com/office/powerpoint/2010/main" val="11157422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450559-2A30-C5C1-B378-05F74B59FD37}"/>
            </a:ext>
          </a:extLst>
        </p:cNvPr>
        <p:cNvGrpSpPr/>
        <p:nvPr/>
      </p:nvGrpSpPr>
      <p:grpSpPr>
        <a:xfrm>
          <a:off x="0" y="0"/>
          <a:ext cx="0" cy="0"/>
          <a:chOff x="0" y="0"/>
          <a:chExt cx="0" cy="0"/>
        </a:xfrm>
      </p:grpSpPr>
      <p:pic>
        <p:nvPicPr>
          <p:cNvPr id="7" name="Picture 6" descr="A diagram of negative reinforcement&#10;&#10;AI-generated content may be incorrect.">
            <a:extLst>
              <a:ext uri="{FF2B5EF4-FFF2-40B4-BE49-F238E27FC236}">
                <a16:creationId xmlns:a16="http://schemas.microsoft.com/office/drawing/2014/main" id="{6FB7255D-B2D0-9382-0A53-05AE46EA948A}"/>
              </a:ext>
            </a:extLst>
          </p:cNvPr>
          <p:cNvPicPr>
            <a:picLocks noChangeAspect="1"/>
          </p:cNvPicPr>
          <p:nvPr/>
        </p:nvPicPr>
        <p:blipFill>
          <a:blip r:embed="rId2">
            <a:extLst>
              <a:ext uri="{28A0092B-C50C-407E-A947-70E740481C1C}">
                <a14:useLocalDpi xmlns:a14="http://schemas.microsoft.com/office/drawing/2010/main" val="0"/>
              </a:ext>
            </a:extLst>
          </a:blip>
          <a:srcRect r="14309"/>
          <a:stretch>
            <a:fillRect/>
          </a:stretch>
        </p:blipFill>
        <p:spPr>
          <a:xfrm>
            <a:off x="7461419" y="1690688"/>
            <a:ext cx="4660914" cy="4351338"/>
          </a:xfrm>
          <a:prstGeom prst="rect">
            <a:avLst/>
          </a:prstGeom>
        </p:spPr>
      </p:pic>
      <p:sp>
        <p:nvSpPr>
          <p:cNvPr id="2" name="Title 1">
            <a:extLst>
              <a:ext uri="{FF2B5EF4-FFF2-40B4-BE49-F238E27FC236}">
                <a16:creationId xmlns:a16="http://schemas.microsoft.com/office/drawing/2014/main" id="{BB9BE296-7E2F-0D0A-A2AD-5B696F94C74E}"/>
              </a:ext>
            </a:extLst>
          </p:cNvPr>
          <p:cNvSpPr>
            <a:spLocks noGrp="1"/>
          </p:cNvSpPr>
          <p:nvPr>
            <p:ph type="title"/>
          </p:nvPr>
        </p:nvSpPr>
        <p:spPr/>
        <p:txBody>
          <a:bodyPr/>
          <a:lstStyle/>
          <a:p>
            <a:r>
              <a:rPr lang="en-US" dirty="0"/>
              <a:t>Learning</a:t>
            </a:r>
          </a:p>
        </p:txBody>
      </p:sp>
      <p:sp>
        <p:nvSpPr>
          <p:cNvPr id="3" name="Content Placeholder 2">
            <a:extLst>
              <a:ext uri="{FF2B5EF4-FFF2-40B4-BE49-F238E27FC236}">
                <a16:creationId xmlns:a16="http://schemas.microsoft.com/office/drawing/2014/main" id="{7A517382-7BD9-915F-6D8C-26FEE09DF846}"/>
              </a:ext>
            </a:extLst>
          </p:cNvPr>
          <p:cNvSpPr>
            <a:spLocks noGrp="1"/>
          </p:cNvSpPr>
          <p:nvPr>
            <p:ph idx="1"/>
          </p:nvPr>
        </p:nvSpPr>
        <p:spPr>
          <a:xfrm>
            <a:off x="838200" y="1825625"/>
            <a:ext cx="6851469" cy="4351338"/>
          </a:xfrm>
        </p:spPr>
        <p:txBody>
          <a:bodyPr/>
          <a:lstStyle/>
          <a:p>
            <a:pPr marL="0" indent="0">
              <a:buNone/>
            </a:pPr>
            <a:r>
              <a:rPr lang="en-US" b="1" dirty="0"/>
              <a:t>Operant Conditioning</a:t>
            </a:r>
          </a:p>
          <a:p>
            <a:r>
              <a:rPr lang="en-US" b="1" dirty="0"/>
              <a:t>Positive Punishment: </a:t>
            </a:r>
            <a:r>
              <a:rPr lang="en-US" dirty="0"/>
              <a:t>Decreasing a </a:t>
            </a:r>
            <a:r>
              <a:rPr lang="en-US" dirty="0" err="1"/>
              <a:t>behaviour</a:t>
            </a:r>
            <a:r>
              <a:rPr lang="en-US" dirty="0"/>
              <a:t> by giving a stimulus</a:t>
            </a:r>
          </a:p>
          <a:p>
            <a:pPr lvl="1"/>
            <a:r>
              <a:rPr lang="en-US" dirty="0"/>
              <a:t>Getting a speeding ticket after driving too fast</a:t>
            </a:r>
          </a:p>
          <a:p>
            <a:pPr marL="457200" lvl="1" indent="0">
              <a:buNone/>
            </a:pPr>
            <a:endParaRPr lang="en-US" dirty="0"/>
          </a:p>
          <a:p>
            <a:r>
              <a:rPr lang="en-US" b="1" dirty="0"/>
              <a:t>Negative Punishment</a:t>
            </a:r>
            <a:r>
              <a:rPr lang="en-US" dirty="0"/>
              <a:t>: Decreasing a </a:t>
            </a:r>
            <a:r>
              <a:rPr lang="en-US" dirty="0" err="1"/>
              <a:t>behaviour</a:t>
            </a:r>
            <a:r>
              <a:rPr lang="en-US" dirty="0"/>
              <a:t> by removing a stimulus</a:t>
            </a:r>
          </a:p>
          <a:p>
            <a:pPr lvl="1"/>
            <a:r>
              <a:rPr lang="en-US" dirty="0"/>
              <a:t>A player gets benched for unsportsmanlike conduct</a:t>
            </a:r>
          </a:p>
          <a:p>
            <a:endParaRPr lang="en-US" dirty="0"/>
          </a:p>
        </p:txBody>
      </p:sp>
    </p:spTree>
    <p:extLst>
      <p:ext uri="{BB962C8B-B14F-4D97-AF65-F5344CB8AC3E}">
        <p14:creationId xmlns:p14="http://schemas.microsoft.com/office/powerpoint/2010/main" val="1877168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217098-66A8-CB49-4F60-58BE3D4A25B2}"/>
            </a:ext>
          </a:extLst>
        </p:cNvPr>
        <p:cNvGrpSpPr/>
        <p:nvPr/>
      </p:nvGrpSpPr>
      <p:grpSpPr>
        <a:xfrm>
          <a:off x="0" y="0"/>
          <a:ext cx="0" cy="0"/>
          <a:chOff x="0" y="0"/>
          <a:chExt cx="0" cy="0"/>
        </a:xfrm>
      </p:grpSpPr>
      <p:grpSp>
        <p:nvGrpSpPr>
          <p:cNvPr id="17" name="Group 16">
            <a:extLst>
              <a:ext uri="{FF2B5EF4-FFF2-40B4-BE49-F238E27FC236}">
                <a16:creationId xmlns:a16="http://schemas.microsoft.com/office/drawing/2014/main" id="{A03ACB2F-817A-3434-A0D4-4D6CD76F1364}"/>
              </a:ext>
            </a:extLst>
          </p:cNvPr>
          <p:cNvGrpSpPr/>
          <p:nvPr/>
        </p:nvGrpSpPr>
        <p:grpSpPr>
          <a:xfrm>
            <a:off x="7939992" y="739231"/>
            <a:ext cx="4049477" cy="5989492"/>
            <a:chOff x="7597092" y="739231"/>
            <a:chExt cx="4049477" cy="5989492"/>
          </a:xfrm>
        </p:grpSpPr>
        <p:grpSp>
          <p:nvGrpSpPr>
            <p:cNvPr id="14" name="Group 13">
              <a:extLst>
                <a:ext uri="{FF2B5EF4-FFF2-40B4-BE49-F238E27FC236}">
                  <a16:creationId xmlns:a16="http://schemas.microsoft.com/office/drawing/2014/main" id="{919AFB14-330F-A6F0-4752-AA28278540F2}"/>
                </a:ext>
              </a:extLst>
            </p:cNvPr>
            <p:cNvGrpSpPr/>
            <p:nvPr/>
          </p:nvGrpSpPr>
          <p:grpSpPr>
            <a:xfrm>
              <a:off x="8258477" y="739231"/>
              <a:ext cx="3388092" cy="5989492"/>
              <a:chOff x="7392203" y="1094256"/>
              <a:chExt cx="4979572" cy="8802921"/>
            </a:xfrm>
          </p:grpSpPr>
          <p:pic>
            <p:nvPicPr>
              <p:cNvPr id="6" name="Picture 5" descr="A diagram of the human brain&#10;&#10;AI-generated content may be incorrect.">
                <a:extLst>
                  <a:ext uri="{FF2B5EF4-FFF2-40B4-BE49-F238E27FC236}">
                    <a16:creationId xmlns:a16="http://schemas.microsoft.com/office/drawing/2014/main" id="{0D50FC4D-1754-FBD5-8094-40611A59D628}"/>
                  </a:ext>
                </a:extLst>
              </p:cNvPr>
              <p:cNvPicPr>
                <a:picLocks noChangeAspect="1"/>
              </p:cNvPicPr>
              <p:nvPr/>
            </p:nvPicPr>
            <p:blipFill>
              <a:blip r:embed="rId3">
                <a:extLst>
                  <a:ext uri="{28A0092B-C50C-407E-A947-70E740481C1C}">
                    <a14:useLocalDpi xmlns:a14="http://schemas.microsoft.com/office/drawing/2010/main" val="0"/>
                  </a:ext>
                </a:extLst>
              </a:blip>
              <a:srcRect l="8007" t="24653" r="9785" b="10529"/>
              <a:stretch>
                <a:fillRect/>
              </a:stretch>
            </p:blipFill>
            <p:spPr>
              <a:xfrm>
                <a:off x="7392203" y="1094256"/>
                <a:ext cx="3455468" cy="2724567"/>
              </a:xfrm>
              <a:prstGeom prst="rect">
                <a:avLst/>
              </a:prstGeom>
            </p:spPr>
          </p:pic>
          <p:pic>
            <p:nvPicPr>
              <p:cNvPr id="13" name="Picture 12" descr="A diagram of the human brain&#10;&#10;AI-generated content may be incorrect.">
                <a:extLst>
                  <a:ext uri="{FF2B5EF4-FFF2-40B4-BE49-F238E27FC236}">
                    <a16:creationId xmlns:a16="http://schemas.microsoft.com/office/drawing/2014/main" id="{C3385BB3-48CE-9D33-E977-901B3B415BBA}"/>
                  </a:ext>
                </a:extLst>
              </p:cNvPr>
              <p:cNvPicPr>
                <a:picLocks noChangeAspect="1"/>
              </p:cNvPicPr>
              <p:nvPr/>
            </p:nvPicPr>
            <p:blipFill>
              <a:blip r:embed="rId4">
                <a:extLst>
                  <a:ext uri="{28A0092B-C50C-407E-A947-70E740481C1C}">
                    <a14:useLocalDpi xmlns:a14="http://schemas.microsoft.com/office/drawing/2010/main" val="0"/>
                  </a:ext>
                </a:extLst>
              </a:blip>
              <a:srcRect t="11368"/>
              <a:stretch>
                <a:fillRect/>
              </a:stretch>
            </p:blipFill>
            <p:spPr>
              <a:xfrm>
                <a:off x="7481935" y="3818823"/>
                <a:ext cx="4889840" cy="6078354"/>
              </a:xfrm>
              <a:prstGeom prst="rect">
                <a:avLst/>
              </a:prstGeom>
            </p:spPr>
          </p:pic>
        </p:grpSp>
        <p:sp>
          <p:nvSpPr>
            <p:cNvPr id="15" name="Rectangle 14">
              <a:extLst>
                <a:ext uri="{FF2B5EF4-FFF2-40B4-BE49-F238E27FC236}">
                  <a16:creationId xmlns:a16="http://schemas.microsoft.com/office/drawing/2014/main" id="{CA300F18-F7A9-448A-2BDA-D962C278051A}"/>
                </a:ext>
              </a:extLst>
            </p:cNvPr>
            <p:cNvSpPr/>
            <p:nvPr/>
          </p:nvSpPr>
          <p:spPr>
            <a:xfrm>
              <a:off x="9817768" y="6285297"/>
              <a:ext cx="1536032" cy="44342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8786106-DDD8-DFE8-7C86-8C07E370E271}"/>
                </a:ext>
              </a:extLst>
            </p:cNvPr>
            <p:cNvSpPr/>
            <p:nvPr/>
          </p:nvSpPr>
          <p:spPr>
            <a:xfrm>
              <a:off x="7597092" y="6148264"/>
              <a:ext cx="1536032" cy="44342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1544946B-EAA5-1BD9-E9BD-3440D70030F2}"/>
              </a:ext>
            </a:extLst>
          </p:cNvPr>
          <p:cNvSpPr>
            <a:spLocks noGrp="1"/>
          </p:cNvSpPr>
          <p:nvPr>
            <p:ph idx="1"/>
          </p:nvPr>
        </p:nvSpPr>
        <p:spPr>
          <a:xfrm>
            <a:off x="838200" y="1825625"/>
            <a:ext cx="8134350" cy="4903098"/>
          </a:xfrm>
        </p:spPr>
        <p:txBody>
          <a:bodyPr>
            <a:normAutofit fontScale="92500" lnSpcReduction="10000"/>
          </a:bodyPr>
          <a:lstStyle/>
          <a:p>
            <a:pPr marL="0" indent="0">
              <a:buNone/>
            </a:pPr>
            <a:r>
              <a:rPr lang="en-US" b="1" dirty="0"/>
              <a:t>Operant Conditioning Processes</a:t>
            </a:r>
          </a:p>
          <a:p>
            <a:r>
              <a:rPr lang="en-US" b="1" dirty="0"/>
              <a:t>Mesolimbic Dopamine Pathway</a:t>
            </a:r>
            <a:r>
              <a:rPr lang="en-US" dirty="0"/>
              <a:t>: Computes and projects prediction errors to drive learning</a:t>
            </a:r>
          </a:p>
          <a:p>
            <a:pPr lvl="1"/>
            <a:r>
              <a:rPr lang="en-US" dirty="0"/>
              <a:t>Ventral Tegmental Area (VTA) → Nucleus Accumbens (</a:t>
            </a:r>
            <a:r>
              <a:rPr lang="en-US" dirty="0" err="1"/>
              <a:t>NAcc</a:t>
            </a:r>
            <a:r>
              <a:rPr lang="en-US" dirty="0"/>
              <a:t>)</a:t>
            </a:r>
          </a:p>
          <a:p>
            <a:endParaRPr lang="en-US" dirty="0"/>
          </a:p>
          <a:p>
            <a:r>
              <a:rPr lang="en-US" b="1" dirty="0" err="1"/>
              <a:t>Mesocortical</a:t>
            </a:r>
            <a:r>
              <a:rPr lang="en-US" b="1" dirty="0"/>
              <a:t> Dopamine Pathway</a:t>
            </a:r>
            <a:r>
              <a:rPr lang="en-US" dirty="0"/>
              <a:t>: Modulates cognitive control, working memory, and goal-directed </a:t>
            </a:r>
            <a:r>
              <a:rPr lang="en-US" dirty="0" err="1"/>
              <a:t>behaviour</a:t>
            </a:r>
            <a:endParaRPr lang="en-US" dirty="0"/>
          </a:p>
          <a:p>
            <a:pPr lvl="1"/>
            <a:r>
              <a:rPr lang="en-US" dirty="0"/>
              <a:t>Ventral Tegmental Area (VTA) → Prefrontal cortex (PFC)</a:t>
            </a:r>
          </a:p>
          <a:p>
            <a:pPr lvl="1"/>
            <a:endParaRPr lang="en-US" dirty="0"/>
          </a:p>
          <a:p>
            <a:r>
              <a:rPr lang="en-US" b="1" dirty="0"/>
              <a:t>Interaction of the Dopamine Pathways</a:t>
            </a:r>
          </a:p>
          <a:p>
            <a:pPr lvl="1"/>
            <a:r>
              <a:rPr lang="en-US" dirty="0"/>
              <a:t>The VTA receives feedback from both the </a:t>
            </a:r>
            <a:r>
              <a:rPr lang="en-US" dirty="0" err="1"/>
              <a:t>NAcc</a:t>
            </a:r>
            <a:r>
              <a:rPr lang="en-US" dirty="0"/>
              <a:t> and PFC</a:t>
            </a:r>
          </a:p>
          <a:p>
            <a:pPr lvl="1"/>
            <a:r>
              <a:rPr lang="en-US" dirty="0"/>
              <a:t>The pathways interact by modifying VTA activity</a:t>
            </a:r>
          </a:p>
        </p:txBody>
      </p:sp>
      <p:sp>
        <p:nvSpPr>
          <p:cNvPr id="2" name="Title 1">
            <a:extLst>
              <a:ext uri="{FF2B5EF4-FFF2-40B4-BE49-F238E27FC236}">
                <a16:creationId xmlns:a16="http://schemas.microsoft.com/office/drawing/2014/main" id="{B6E9DFE6-C9D0-91E3-7154-968F6EBC1C16}"/>
              </a:ext>
            </a:extLst>
          </p:cNvPr>
          <p:cNvSpPr>
            <a:spLocks noGrp="1"/>
          </p:cNvSpPr>
          <p:nvPr>
            <p:ph type="title"/>
          </p:nvPr>
        </p:nvSpPr>
        <p:spPr/>
        <p:txBody>
          <a:bodyPr/>
          <a:lstStyle/>
          <a:p>
            <a:r>
              <a:rPr lang="en-US" dirty="0"/>
              <a:t>Learning</a:t>
            </a:r>
          </a:p>
        </p:txBody>
      </p:sp>
    </p:spTree>
    <p:extLst>
      <p:ext uri="{BB962C8B-B14F-4D97-AF65-F5344CB8AC3E}">
        <p14:creationId xmlns:p14="http://schemas.microsoft.com/office/powerpoint/2010/main" val="31964913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09A33-2C32-8D10-6559-BBC357AC6E18}"/>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E948BE90-165B-7E79-8085-8FE1FAF130D9}"/>
              </a:ext>
            </a:extLst>
          </p:cNvPr>
          <p:cNvGrpSpPr/>
          <p:nvPr/>
        </p:nvGrpSpPr>
        <p:grpSpPr>
          <a:xfrm>
            <a:off x="7939992" y="739231"/>
            <a:ext cx="4049477" cy="5989492"/>
            <a:chOff x="7597092" y="739231"/>
            <a:chExt cx="4049477" cy="5989492"/>
          </a:xfrm>
        </p:grpSpPr>
        <p:grpSp>
          <p:nvGrpSpPr>
            <p:cNvPr id="5" name="Group 4">
              <a:extLst>
                <a:ext uri="{FF2B5EF4-FFF2-40B4-BE49-F238E27FC236}">
                  <a16:creationId xmlns:a16="http://schemas.microsoft.com/office/drawing/2014/main" id="{51BDCCD2-ED06-B859-CA5F-5B782A4762EE}"/>
                </a:ext>
              </a:extLst>
            </p:cNvPr>
            <p:cNvGrpSpPr/>
            <p:nvPr/>
          </p:nvGrpSpPr>
          <p:grpSpPr>
            <a:xfrm>
              <a:off x="8258477" y="739231"/>
              <a:ext cx="3388092" cy="5989492"/>
              <a:chOff x="7392203" y="1094256"/>
              <a:chExt cx="4979572" cy="8802921"/>
            </a:xfrm>
          </p:grpSpPr>
          <p:pic>
            <p:nvPicPr>
              <p:cNvPr id="9" name="Picture 8" descr="A diagram of the human brain&#10;&#10;AI-generated content may be incorrect.">
                <a:extLst>
                  <a:ext uri="{FF2B5EF4-FFF2-40B4-BE49-F238E27FC236}">
                    <a16:creationId xmlns:a16="http://schemas.microsoft.com/office/drawing/2014/main" id="{34B74ADC-3566-B9AF-0839-E15E957DB777}"/>
                  </a:ext>
                </a:extLst>
              </p:cNvPr>
              <p:cNvPicPr>
                <a:picLocks noChangeAspect="1"/>
              </p:cNvPicPr>
              <p:nvPr/>
            </p:nvPicPr>
            <p:blipFill>
              <a:blip r:embed="rId3">
                <a:extLst>
                  <a:ext uri="{28A0092B-C50C-407E-A947-70E740481C1C}">
                    <a14:useLocalDpi xmlns:a14="http://schemas.microsoft.com/office/drawing/2010/main" val="0"/>
                  </a:ext>
                </a:extLst>
              </a:blip>
              <a:srcRect l="8007" t="24653" r="9785" b="10529"/>
              <a:stretch>
                <a:fillRect/>
              </a:stretch>
            </p:blipFill>
            <p:spPr>
              <a:xfrm>
                <a:off x="7392203" y="1094256"/>
                <a:ext cx="3455468" cy="2724567"/>
              </a:xfrm>
              <a:prstGeom prst="rect">
                <a:avLst/>
              </a:prstGeom>
            </p:spPr>
          </p:pic>
          <p:pic>
            <p:nvPicPr>
              <p:cNvPr id="10" name="Picture 9" descr="A diagram of the human brain&#10;&#10;AI-generated content may be incorrect.">
                <a:extLst>
                  <a:ext uri="{FF2B5EF4-FFF2-40B4-BE49-F238E27FC236}">
                    <a16:creationId xmlns:a16="http://schemas.microsoft.com/office/drawing/2014/main" id="{DDF02887-007F-3AE9-1463-FBEFD2C8EDE0}"/>
                  </a:ext>
                </a:extLst>
              </p:cNvPr>
              <p:cNvPicPr>
                <a:picLocks noChangeAspect="1"/>
              </p:cNvPicPr>
              <p:nvPr/>
            </p:nvPicPr>
            <p:blipFill>
              <a:blip r:embed="rId4">
                <a:extLst>
                  <a:ext uri="{28A0092B-C50C-407E-A947-70E740481C1C}">
                    <a14:useLocalDpi xmlns:a14="http://schemas.microsoft.com/office/drawing/2010/main" val="0"/>
                  </a:ext>
                </a:extLst>
              </a:blip>
              <a:srcRect t="11368"/>
              <a:stretch>
                <a:fillRect/>
              </a:stretch>
            </p:blipFill>
            <p:spPr>
              <a:xfrm>
                <a:off x="7481935" y="3818823"/>
                <a:ext cx="4889840" cy="6078354"/>
              </a:xfrm>
              <a:prstGeom prst="rect">
                <a:avLst/>
              </a:prstGeom>
            </p:spPr>
          </p:pic>
        </p:grpSp>
        <p:sp>
          <p:nvSpPr>
            <p:cNvPr id="7" name="Rectangle 6">
              <a:extLst>
                <a:ext uri="{FF2B5EF4-FFF2-40B4-BE49-F238E27FC236}">
                  <a16:creationId xmlns:a16="http://schemas.microsoft.com/office/drawing/2014/main" id="{50474416-E304-5CEE-E2A3-233603F5F7A7}"/>
                </a:ext>
              </a:extLst>
            </p:cNvPr>
            <p:cNvSpPr/>
            <p:nvPr/>
          </p:nvSpPr>
          <p:spPr>
            <a:xfrm>
              <a:off x="9817768" y="6285297"/>
              <a:ext cx="1536032" cy="44342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0D0E7DF8-35A6-4281-99AB-2D9529EF317D}"/>
                </a:ext>
              </a:extLst>
            </p:cNvPr>
            <p:cNvSpPr/>
            <p:nvPr/>
          </p:nvSpPr>
          <p:spPr>
            <a:xfrm>
              <a:off x="7597092" y="6148264"/>
              <a:ext cx="1536032" cy="44342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BCC48E8E-28CF-2B7A-3C50-4782BFAF8A51}"/>
              </a:ext>
            </a:extLst>
          </p:cNvPr>
          <p:cNvSpPr>
            <a:spLocks noGrp="1"/>
          </p:cNvSpPr>
          <p:nvPr>
            <p:ph idx="1"/>
          </p:nvPr>
        </p:nvSpPr>
        <p:spPr>
          <a:xfrm>
            <a:off x="838200" y="1825625"/>
            <a:ext cx="7343274" cy="4903098"/>
          </a:xfrm>
        </p:spPr>
        <p:txBody>
          <a:bodyPr>
            <a:normAutofit fontScale="92500" lnSpcReduction="10000"/>
          </a:bodyPr>
          <a:lstStyle/>
          <a:p>
            <a:pPr marL="0" indent="0">
              <a:buNone/>
            </a:pPr>
            <a:r>
              <a:rPr lang="en-US" b="1" dirty="0"/>
              <a:t>Operant Conditioning Processes</a:t>
            </a:r>
          </a:p>
          <a:p>
            <a:r>
              <a:rPr lang="en-US" b="1" dirty="0"/>
              <a:t>Nucleus Accumbens</a:t>
            </a:r>
          </a:p>
          <a:p>
            <a:pPr lvl="1"/>
            <a:r>
              <a:rPr lang="en-US" dirty="0"/>
              <a:t>Reinforces actions that lead to desirable outcomes and avoids undesirable outcomes</a:t>
            </a:r>
          </a:p>
          <a:p>
            <a:pPr lvl="1"/>
            <a:r>
              <a:rPr lang="en-US" dirty="0"/>
              <a:t>Updates expectations based on prediction error signals</a:t>
            </a:r>
          </a:p>
          <a:p>
            <a:pPr lvl="1"/>
            <a:endParaRPr lang="en-US" dirty="0"/>
          </a:p>
          <a:p>
            <a:r>
              <a:rPr lang="en-US" b="1" dirty="0"/>
              <a:t>Prefrontal Cortex</a:t>
            </a:r>
          </a:p>
          <a:p>
            <a:pPr lvl="1"/>
            <a:r>
              <a:rPr lang="en-US" b="1" dirty="0"/>
              <a:t>Anterior Cingulate Cortex</a:t>
            </a:r>
            <a:r>
              <a:rPr lang="en-US" dirty="0"/>
              <a:t>: Monitors prediction errors to adjust </a:t>
            </a:r>
            <a:r>
              <a:rPr lang="en-US" dirty="0" err="1"/>
              <a:t>behaviour</a:t>
            </a:r>
            <a:endParaRPr lang="en-US" dirty="0"/>
          </a:p>
          <a:p>
            <a:pPr lvl="1"/>
            <a:r>
              <a:rPr lang="en-US" b="1" dirty="0"/>
              <a:t>Dorsolateral PFC</a:t>
            </a:r>
            <a:r>
              <a:rPr lang="en-US" dirty="0"/>
              <a:t>: Maintains rules and goals to guide action selection</a:t>
            </a:r>
          </a:p>
          <a:p>
            <a:pPr lvl="1"/>
            <a:r>
              <a:rPr lang="en-US" b="1" dirty="0"/>
              <a:t>Orbitofrontal Cortex</a:t>
            </a:r>
            <a:r>
              <a:rPr lang="en-US" dirty="0"/>
              <a:t>: Represents the value of an expected action</a:t>
            </a:r>
          </a:p>
        </p:txBody>
      </p:sp>
      <p:sp>
        <p:nvSpPr>
          <p:cNvPr id="2" name="Title 1">
            <a:extLst>
              <a:ext uri="{FF2B5EF4-FFF2-40B4-BE49-F238E27FC236}">
                <a16:creationId xmlns:a16="http://schemas.microsoft.com/office/drawing/2014/main" id="{23FEAFD4-F559-EFA7-6CAF-9EADF48F4D74}"/>
              </a:ext>
            </a:extLst>
          </p:cNvPr>
          <p:cNvSpPr>
            <a:spLocks noGrp="1"/>
          </p:cNvSpPr>
          <p:nvPr>
            <p:ph type="title"/>
          </p:nvPr>
        </p:nvSpPr>
        <p:spPr/>
        <p:txBody>
          <a:bodyPr/>
          <a:lstStyle/>
          <a:p>
            <a:r>
              <a:rPr lang="en-US" dirty="0"/>
              <a:t>Learning</a:t>
            </a:r>
          </a:p>
        </p:txBody>
      </p:sp>
    </p:spTree>
    <p:extLst>
      <p:ext uri="{BB962C8B-B14F-4D97-AF65-F5344CB8AC3E}">
        <p14:creationId xmlns:p14="http://schemas.microsoft.com/office/powerpoint/2010/main" val="9113488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CBA2D9-4EEE-0EDC-C262-A7B94E7C2920}"/>
            </a:ext>
          </a:extLst>
        </p:cNvPr>
        <p:cNvGrpSpPr/>
        <p:nvPr/>
      </p:nvGrpSpPr>
      <p:grpSpPr>
        <a:xfrm>
          <a:off x="0" y="0"/>
          <a:ext cx="0" cy="0"/>
          <a:chOff x="0" y="0"/>
          <a:chExt cx="0" cy="0"/>
        </a:xfrm>
      </p:grpSpPr>
      <p:sp>
        <p:nvSpPr>
          <p:cNvPr id="20" name="Title 1">
            <a:extLst>
              <a:ext uri="{FF2B5EF4-FFF2-40B4-BE49-F238E27FC236}">
                <a16:creationId xmlns:a16="http://schemas.microsoft.com/office/drawing/2014/main" id="{81C77D6F-3AA5-C87F-C3B8-C966499F6D53}"/>
              </a:ext>
            </a:extLst>
          </p:cNvPr>
          <p:cNvSpPr txBox="1">
            <a:spLocks/>
          </p:cNvSpPr>
          <p:nvPr/>
        </p:nvSpPr>
        <p:spPr>
          <a:xfrm>
            <a:off x="6574665" y="602116"/>
            <a:ext cx="5702954" cy="590028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800" b="1" u="sng" dirty="0">
                <a:latin typeface="Calibri" panose="020F0502020204030204" pitchFamily="34" charset="0"/>
                <a:cs typeface="Calibri" panose="020F0502020204030204" pitchFamily="34" charset="0"/>
              </a:rPr>
              <a:t>Lecture Outline</a:t>
            </a:r>
          </a:p>
          <a:p>
            <a:endParaRPr lang="en-US" sz="4000" dirty="0">
              <a:latin typeface="Calibri" panose="020F0502020204030204" pitchFamily="34" charset="0"/>
              <a:cs typeface="Calibri" panose="020F0502020204030204" pitchFamily="34" charset="0"/>
            </a:endParaRPr>
          </a:p>
          <a:p>
            <a:r>
              <a:rPr lang="en-US" sz="3600" dirty="0">
                <a:latin typeface="Calibri" panose="020F0502020204030204" pitchFamily="34" charset="0"/>
                <a:cs typeface="Calibri" panose="020F0502020204030204" pitchFamily="34" charset="0"/>
              </a:rPr>
              <a:t>Learning</a:t>
            </a:r>
          </a:p>
          <a:p>
            <a:endParaRPr lang="en-US" sz="3600" dirty="0">
              <a:latin typeface="Calibri" panose="020F0502020204030204" pitchFamily="34" charset="0"/>
              <a:cs typeface="Calibri" panose="020F0502020204030204" pitchFamily="34" charset="0"/>
            </a:endParaRPr>
          </a:p>
          <a:p>
            <a:r>
              <a:rPr lang="en-US" sz="3600" dirty="0">
                <a:solidFill>
                  <a:srgbClr val="FF0000"/>
                </a:solidFill>
                <a:latin typeface="Calibri" panose="020F0502020204030204" pitchFamily="34" charset="0"/>
                <a:cs typeface="Calibri" panose="020F0502020204030204" pitchFamily="34" charset="0"/>
              </a:rPr>
              <a:t>Working Memory</a:t>
            </a:r>
          </a:p>
          <a:p>
            <a:endParaRPr lang="en-US" sz="3600" dirty="0">
              <a:latin typeface="Calibri" panose="020F0502020204030204" pitchFamily="34" charset="0"/>
              <a:cs typeface="Calibri" panose="020F0502020204030204" pitchFamily="34" charset="0"/>
            </a:endParaRPr>
          </a:p>
          <a:p>
            <a:r>
              <a:rPr lang="en-US" sz="3600" dirty="0">
                <a:latin typeface="Calibri" panose="020F0502020204030204" pitchFamily="34" charset="0"/>
                <a:cs typeface="Calibri" panose="020F0502020204030204" pitchFamily="34" charset="0"/>
              </a:rPr>
              <a:t>Long-Term Memory</a:t>
            </a:r>
          </a:p>
          <a:p>
            <a:endParaRPr lang="en-US" sz="3600" dirty="0">
              <a:latin typeface="Calibri" panose="020F0502020204030204" pitchFamily="34" charset="0"/>
              <a:cs typeface="Calibri" panose="020F0502020204030204" pitchFamily="34" charset="0"/>
            </a:endParaRPr>
          </a:p>
          <a:p>
            <a:r>
              <a:rPr lang="en-US" sz="3600" dirty="0">
                <a:latin typeface="Calibri" panose="020F0502020204030204" pitchFamily="34" charset="0"/>
                <a:cs typeface="Calibri" panose="020F0502020204030204" pitchFamily="34" charset="0"/>
              </a:rPr>
              <a:t>Memory Storage</a:t>
            </a:r>
          </a:p>
        </p:txBody>
      </p:sp>
      <p:pic>
        <p:nvPicPr>
          <p:cNvPr id="2" name="Picture 1" descr="A colorful and black and white brain&#10;&#10;AI-generated content may be incorrect.">
            <a:extLst>
              <a:ext uri="{FF2B5EF4-FFF2-40B4-BE49-F238E27FC236}">
                <a16:creationId xmlns:a16="http://schemas.microsoft.com/office/drawing/2014/main" id="{1092CAA6-D682-2D38-95B2-F19CD0EDCFA3}"/>
              </a:ext>
            </a:extLst>
          </p:cNvPr>
          <p:cNvPicPr>
            <a:picLocks noChangeAspect="1"/>
          </p:cNvPicPr>
          <p:nvPr/>
        </p:nvPicPr>
        <p:blipFill>
          <a:blip r:embed="rId2">
            <a:clrChange>
              <a:clrFrom>
                <a:srgbClr val="F9F9F7"/>
              </a:clrFrom>
              <a:clrTo>
                <a:srgbClr val="F9F9F7">
                  <a:alpha val="0"/>
                </a:srgbClr>
              </a:clrTo>
            </a:clrChange>
            <a:extLst>
              <a:ext uri="{28A0092B-C50C-407E-A947-70E740481C1C}">
                <a14:useLocalDpi xmlns:a14="http://schemas.microsoft.com/office/drawing/2010/main" val="0"/>
              </a:ext>
            </a:extLst>
          </a:blip>
          <a:srcRect l="22953" t="7044" r="23408" b="21998"/>
          <a:stretch>
            <a:fillRect/>
          </a:stretch>
        </p:blipFill>
        <p:spPr>
          <a:xfrm>
            <a:off x="1451809" y="-16931"/>
            <a:ext cx="4908331" cy="6493024"/>
          </a:xfrm>
          <a:prstGeom prst="rect">
            <a:avLst/>
          </a:prstGeom>
        </p:spPr>
      </p:pic>
    </p:spTree>
    <p:extLst>
      <p:ext uri="{BB962C8B-B14F-4D97-AF65-F5344CB8AC3E}">
        <p14:creationId xmlns:p14="http://schemas.microsoft.com/office/powerpoint/2010/main" val="5982312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B55364-A94E-B351-4387-19861F10765C}"/>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66D43228-DB1E-7C03-E343-BC1D311582FC}"/>
              </a:ext>
            </a:extLst>
          </p:cNvPr>
          <p:cNvPicPr>
            <a:picLocks noChangeAspect="1"/>
          </p:cNvPicPr>
          <p:nvPr/>
        </p:nvPicPr>
        <p:blipFill>
          <a:blip r:embed="rId2"/>
          <a:srcRect l="40641" t="56038" r="2461"/>
          <a:stretch>
            <a:fillRect/>
          </a:stretch>
        </p:blipFill>
        <p:spPr>
          <a:xfrm>
            <a:off x="8154351" y="1222603"/>
            <a:ext cx="4037649" cy="2558858"/>
          </a:xfrm>
          <a:prstGeom prst="rect">
            <a:avLst/>
          </a:prstGeom>
        </p:spPr>
      </p:pic>
      <p:pic>
        <p:nvPicPr>
          <p:cNvPr id="9" name="Picture 2" descr="A model for the learning process. And why it helps to have one. –  teacherhead">
            <a:extLst>
              <a:ext uri="{FF2B5EF4-FFF2-40B4-BE49-F238E27FC236}">
                <a16:creationId xmlns:a16="http://schemas.microsoft.com/office/drawing/2014/main" id="{DA8F6741-44AD-2E23-8188-62525E4FFC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54351" y="3829967"/>
            <a:ext cx="3677135" cy="218563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F1EB5D28-4707-1EF5-3058-3A4BDAD7FA57}"/>
              </a:ext>
            </a:extLst>
          </p:cNvPr>
          <p:cNvSpPr>
            <a:spLocks noGrp="1"/>
          </p:cNvSpPr>
          <p:nvPr>
            <p:ph type="title"/>
          </p:nvPr>
        </p:nvSpPr>
        <p:spPr/>
        <p:txBody>
          <a:bodyPr/>
          <a:lstStyle/>
          <a:p>
            <a:r>
              <a:rPr lang="en-US" dirty="0"/>
              <a:t>Working Memory</a:t>
            </a:r>
          </a:p>
        </p:txBody>
      </p:sp>
      <p:sp>
        <p:nvSpPr>
          <p:cNvPr id="3" name="Content Placeholder 2">
            <a:extLst>
              <a:ext uri="{FF2B5EF4-FFF2-40B4-BE49-F238E27FC236}">
                <a16:creationId xmlns:a16="http://schemas.microsoft.com/office/drawing/2014/main" id="{58E13D88-2B86-60D5-F37B-2F867F954D76}"/>
              </a:ext>
            </a:extLst>
          </p:cNvPr>
          <p:cNvSpPr>
            <a:spLocks noGrp="1"/>
          </p:cNvSpPr>
          <p:nvPr>
            <p:ph idx="1"/>
          </p:nvPr>
        </p:nvSpPr>
        <p:spPr>
          <a:xfrm>
            <a:off x="838199" y="1825624"/>
            <a:ext cx="7456715" cy="4746625"/>
          </a:xfrm>
        </p:spPr>
        <p:txBody>
          <a:bodyPr>
            <a:normAutofit fontScale="92500" lnSpcReduction="10000"/>
          </a:bodyPr>
          <a:lstStyle/>
          <a:p>
            <a:pPr marL="0" indent="0">
              <a:buNone/>
            </a:pPr>
            <a:r>
              <a:rPr lang="en-US" b="1" dirty="0"/>
              <a:t>Working Memory</a:t>
            </a:r>
            <a:r>
              <a:rPr lang="en-US" dirty="0"/>
              <a:t>: Capacity to temporarily store and manipulate limited information </a:t>
            </a:r>
          </a:p>
          <a:p>
            <a:pPr lvl="1"/>
            <a:r>
              <a:rPr lang="en-US" dirty="0"/>
              <a:t>Maintained for seconds without active rehearsal</a:t>
            </a:r>
          </a:p>
          <a:p>
            <a:pPr lvl="1"/>
            <a:r>
              <a:rPr lang="en-US" b="1" dirty="0"/>
              <a:t>Limited capacity</a:t>
            </a:r>
            <a:r>
              <a:rPr lang="en-US" dirty="0"/>
              <a:t>, though the exact limit is debated</a:t>
            </a:r>
          </a:p>
          <a:p>
            <a:pPr lvl="2"/>
            <a:r>
              <a:rPr lang="en-US" b="1" dirty="0"/>
              <a:t>Miller (1956): </a:t>
            </a:r>
            <a:r>
              <a:rPr lang="en-US" dirty="0"/>
              <a:t>7±2 items</a:t>
            </a:r>
          </a:p>
          <a:p>
            <a:pPr lvl="3"/>
            <a:r>
              <a:rPr lang="en-US" b="1" dirty="0"/>
              <a:t>Item</a:t>
            </a:r>
            <a:r>
              <a:rPr lang="en-US" dirty="0"/>
              <a:t>: Single elementary unit (2-5-0-5-5-5-1-2-3-4)</a:t>
            </a:r>
          </a:p>
          <a:p>
            <a:pPr lvl="2"/>
            <a:r>
              <a:rPr lang="en-US" b="1" dirty="0"/>
              <a:t>Cowan (2001): </a:t>
            </a:r>
            <a:r>
              <a:rPr lang="en-US" dirty="0"/>
              <a:t>3-4 chunks</a:t>
            </a:r>
          </a:p>
          <a:p>
            <a:pPr lvl="3"/>
            <a:r>
              <a:rPr lang="en-US" b="1" dirty="0"/>
              <a:t>Chunk</a:t>
            </a:r>
            <a:r>
              <a:rPr lang="en-US" dirty="0"/>
              <a:t>: A grouping of elementary units (e.g., 250-555-1234)</a:t>
            </a:r>
          </a:p>
          <a:p>
            <a:pPr lvl="2"/>
            <a:r>
              <a:rPr lang="en-US" dirty="0"/>
              <a:t>Capacity is significantly expanded when integrating long-term memory mechanisms</a:t>
            </a:r>
          </a:p>
          <a:p>
            <a:pPr lvl="3"/>
            <a:r>
              <a:rPr lang="en-US" dirty="0"/>
              <a:t>E.g., a chess expert will chunk an entire board and all its pieces rather than each piece individually</a:t>
            </a:r>
          </a:p>
          <a:p>
            <a:pPr lvl="1"/>
            <a:r>
              <a:rPr lang="en-US" b="1" dirty="0"/>
              <a:t>What counts as an item </a:t>
            </a:r>
            <a:r>
              <a:rPr lang="en-US" dirty="0"/>
              <a:t>is also debated</a:t>
            </a:r>
          </a:p>
          <a:p>
            <a:pPr lvl="2"/>
            <a:r>
              <a:rPr lang="en-US" dirty="0"/>
              <a:t>E.g., </a:t>
            </a:r>
            <a:r>
              <a:rPr lang="en-US" b="1" dirty="0"/>
              <a:t>2x4</a:t>
            </a:r>
            <a:r>
              <a:rPr lang="en-US" dirty="0"/>
              <a:t> holds the items </a:t>
            </a:r>
            <a:r>
              <a:rPr lang="en-US" b="1" dirty="0"/>
              <a:t>2</a:t>
            </a:r>
            <a:r>
              <a:rPr lang="en-US" dirty="0"/>
              <a:t>, </a:t>
            </a:r>
            <a:r>
              <a:rPr lang="en-US" b="1" dirty="0"/>
              <a:t>4</a:t>
            </a:r>
            <a:r>
              <a:rPr lang="en-US" dirty="0"/>
              <a:t>, and </a:t>
            </a:r>
            <a:r>
              <a:rPr lang="en-US" b="1" dirty="0"/>
              <a:t>multiplication</a:t>
            </a:r>
          </a:p>
          <a:p>
            <a:pPr lvl="2"/>
            <a:r>
              <a:rPr lang="en-US" dirty="0"/>
              <a:t>However, the goal of multiplication may also be considered an item</a:t>
            </a:r>
          </a:p>
        </p:txBody>
      </p:sp>
    </p:spTree>
    <p:extLst>
      <p:ext uri="{BB962C8B-B14F-4D97-AF65-F5344CB8AC3E}">
        <p14:creationId xmlns:p14="http://schemas.microsoft.com/office/powerpoint/2010/main" val="3709712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9A4C40-BCF3-84DA-5B14-AE62596B10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94326D-B701-4AED-433F-9338BAF47E97}"/>
              </a:ext>
            </a:extLst>
          </p:cNvPr>
          <p:cNvSpPr>
            <a:spLocks noGrp="1"/>
          </p:cNvSpPr>
          <p:nvPr>
            <p:ph type="title"/>
          </p:nvPr>
        </p:nvSpPr>
        <p:spPr/>
        <p:txBody>
          <a:bodyPr/>
          <a:lstStyle/>
          <a:p>
            <a:r>
              <a:rPr lang="en-US" dirty="0"/>
              <a:t>Working Memory</a:t>
            </a:r>
          </a:p>
        </p:txBody>
      </p:sp>
      <p:sp>
        <p:nvSpPr>
          <p:cNvPr id="3" name="Content Placeholder 2">
            <a:extLst>
              <a:ext uri="{FF2B5EF4-FFF2-40B4-BE49-F238E27FC236}">
                <a16:creationId xmlns:a16="http://schemas.microsoft.com/office/drawing/2014/main" id="{BA264537-64E7-52BA-0AFA-261FE160C410}"/>
              </a:ext>
            </a:extLst>
          </p:cNvPr>
          <p:cNvSpPr>
            <a:spLocks noGrp="1"/>
          </p:cNvSpPr>
          <p:nvPr>
            <p:ph idx="1"/>
          </p:nvPr>
        </p:nvSpPr>
        <p:spPr>
          <a:xfrm>
            <a:off x="838200" y="1825625"/>
            <a:ext cx="6819900" cy="4667250"/>
          </a:xfrm>
        </p:spPr>
        <p:txBody>
          <a:bodyPr>
            <a:normAutofit lnSpcReduction="10000"/>
          </a:bodyPr>
          <a:lstStyle/>
          <a:p>
            <a:pPr marL="0" indent="0">
              <a:buNone/>
            </a:pPr>
            <a:r>
              <a:rPr lang="en-US" b="1" dirty="0"/>
              <a:t>Dorsolateral PFC (</a:t>
            </a:r>
            <a:r>
              <a:rPr lang="en-US" b="1" dirty="0" err="1"/>
              <a:t>dlPFC</a:t>
            </a:r>
            <a:r>
              <a:rPr lang="en-US" b="1" dirty="0"/>
              <a:t>)</a:t>
            </a:r>
          </a:p>
          <a:p>
            <a:r>
              <a:rPr lang="en-US" dirty="0"/>
              <a:t>Region thought to represent working memory</a:t>
            </a:r>
          </a:p>
          <a:p>
            <a:pPr lvl="1"/>
            <a:r>
              <a:rPr lang="en-US" dirty="0"/>
              <a:t>Receives dopamine inputs from the </a:t>
            </a:r>
            <a:r>
              <a:rPr lang="en-US" dirty="0" err="1"/>
              <a:t>mesocortical</a:t>
            </a:r>
            <a:r>
              <a:rPr lang="en-US" dirty="0"/>
              <a:t> dopamine pathway</a:t>
            </a:r>
          </a:p>
          <a:p>
            <a:r>
              <a:rPr lang="en-US" dirty="0"/>
              <a:t>Increased activity correlated with the number of items being held</a:t>
            </a:r>
          </a:p>
          <a:p>
            <a:r>
              <a:rPr lang="en-US" dirty="0"/>
              <a:t>Increased activity correlated with the complexity of manipulation	</a:t>
            </a:r>
          </a:p>
          <a:p>
            <a:pPr lvl="1"/>
            <a:r>
              <a:rPr lang="en-US" dirty="0"/>
              <a:t>E.g., simple math versus an anagram</a:t>
            </a:r>
          </a:p>
          <a:p>
            <a:pPr lvl="2"/>
            <a:r>
              <a:rPr lang="en-US" dirty="0"/>
              <a:t>2 + 2</a:t>
            </a:r>
          </a:p>
          <a:p>
            <a:pPr lvl="2"/>
            <a:r>
              <a:rPr lang="en-US" dirty="0"/>
              <a:t>Listen = Silent, Enlist, Tinsel, Inlets</a:t>
            </a:r>
          </a:p>
          <a:p>
            <a:endParaRPr lang="en-US" dirty="0"/>
          </a:p>
        </p:txBody>
      </p:sp>
      <p:pic>
        <p:nvPicPr>
          <p:cNvPr id="8" name="Picture 7">
            <a:extLst>
              <a:ext uri="{FF2B5EF4-FFF2-40B4-BE49-F238E27FC236}">
                <a16:creationId xmlns:a16="http://schemas.microsoft.com/office/drawing/2014/main" id="{48C5F5D3-38B3-F7A3-370A-4B498D2E30A0}"/>
              </a:ext>
            </a:extLst>
          </p:cNvPr>
          <p:cNvPicPr>
            <a:picLocks noChangeAspect="1"/>
          </p:cNvPicPr>
          <p:nvPr/>
        </p:nvPicPr>
        <p:blipFill>
          <a:blip r:embed="rId2"/>
          <a:srcRect l="40641" t="56038" r="2461"/>
          <a:stretch>
            <a:fillRect/>
          </a:stretch>
        </p:blipFill>
        <p:spPr>
          <a:xfrm>
            <a:off x="8154351" y="1222603"/>
            <a:ext cx="4037649" cy="2558858"/>
          </a:xfrm>
          <a:prstGeom prst="rect">
            <a:avLst/>
          </a:prstGeom>
        </p:spPr>
      </p:pic>
      <p:pic>
        <p:nvPicPr>
          <p:cNvPr id="9" name="Picture 2" descr="A model for the learning process. And why it helps to have one. –  teacherhead">
            <a:extLst>
              <a:ext uri="{FF2B5EF4-FFF2-40B4-BE49-F238E27FC236}">
                <a16:creationId xmlns:a16="http://schemas.microsoft.com/office/drawing/2014/main" id="{DCC3F8DC-A2F8-8F1A-0BD1-5C7C441607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54351" y="3829967"/>
            <a:ext cx="3677135" cy="21856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2595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72E5FA-48BA-0D58-275C-2C89328823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51657F-8415-6C93-0255-89E5340E269C}"/>
              </a:ext>
            </a:extLst>
          </p:cNvPr>
          <p:cNvSpPr>
            <a:spLocks noGrp="1"/>
          </p:cNvSpPr>
          <p:nvPr>
            <p:ph type="title"/>
          </p:nvPr>
        </p:nvSpPr>
        <p:spPr/>
        <p:txBody>
          <a:bodyPr/>
          <a:lstStyle/>
          <a:p>
            <a:r>
              <a:rPr lang="en-US" dirty="0"/>
              <a:t>Working Memory</a:t>
            </a:r>
          </a:p>
        </p:txBody>
      </p:sp>
      <p:sp>
        <p:nvSpPr>
          <p:cNvPr id="3" name="Content Placeholder 2">
            <a:extLst>
              <a:ext uri="{FF2B5EF4-FFF2-40B4-BE49-F238E27FC236}">
                <a16:creationId xmlns:a16="http://schemas.microsoft.com/office/drawing/2014/main" id="{EB44DD25-2DE3-66A1-3D5E-CB448C1BDA38}"/>
              </a:ext>
            </a:extLst>
          </p:cNvPr>
          <p:cNvSpPr>
            <a:spLocks noGrp="1"/>
          </p:cNvSpPr>
          <p:nvPr>
            <p:ph idx="1"/>
          </p:nvPr>
        </p:nvSpPr>
        <p:spPr>
          <a:xfrm>
            <a:off x="838200" y="1825624"/>
            <a:ext cx="6819900" cy="4908551"/>
          </a:xfrm>
        </p:spPr>
        <p:txBody>
          <a:bodyPr>
            <a:normAutofit fontScale="77500" lnSpcReduction="20000"/>
          </a:bodyPr>
          <a:lstStyle/>
          <a:p>
            <a:pPr marL="0" indent="0">
              <a:buNone/>
            </a:pPr>
            <a:r>
              <a:rPr lang="en-US" b="1" dirty="0"/>
              <a:t>Harrison &amp; Tong (2009)</a:t>
            </a:r>
          </a:p>
          <a:p>
            <a:r>
              <a:rPr lang="en-US" b="1" dirty="0"/>
              <a:t>Research Question: </a:t>
            </a:r>
            <a:r>
              <a:rPr lang="en-US" dirty="0"/>
              <a:t>Does elevated </a:t>
            </a:r>
            <a:r>
              <a:rPr lang="en-US" dirty="0" err="1"/>
              <a:t>dlPFC</a:t>
            </a:r>
            <a:r>
              <a:rPr lang="en-US" dirty="0"/>
              <a:t> activity during the delay period reflect the storage of working memory content?</a:t>
            </a:r>
          </a:p>
          <a:p>
            <a:pPr marL="0" indent="0">
              <a:buNone/>
            </a:pPr>
            <a:endParaRPr lang="en-US" dirty="0"/>
          </a:p>
          <a:p>
            <a:r>
              <a:rPr lang="en-US" b="1" dirty="0"/>
              <a:t>Methods</a:t>
            </a:r>
            <a:r>
              <a:rPr lang="en-US" dirty="0"/>
              <a:t>: Humans were shown oriented gratings, waited a delay period, and were to report whether a new stimulus matched the remembered stimulus</a:t>
            </a:r>
          </a:p>
          <a:p>
            <a:pPr marL="0" indent="0">
              <a:buNone/>
            </a:pPr>
            <a:endParaRPr lang="en-US" dirty="0"/>
          </a:p>
          <a:p>
            <a:r>
              <a:rPr lang="en-US" b="1" dirty="0"/>
              <a:t>IV</a:t>
            </a:r>
            <a:r>
              <a:rPr lang="en-US" dirty="0"/>
              <a:t>: Which orientation was being remembered</a:t>
            </a:r>
          </a:p>
          <a:p>
            <a:pPr marL="0" indent="0">
              <a:buNone/>
            </a:pPr>
            <a:endParaRPr lang="en-US" dirty="0"/>
          </a:p>
          <a:p>
            <a:r>
              <a:rPr lang="en-US" b="1" dirty="0"/>
              <a:t>DV</a:t>
            </a:r>
            <a:r>
              <a:rPr lang="en-US" dirty="0"/>
              <a:t>: fMRI activity in the </a:t>
            </a:r>
            <a:r>
              <a:rPr lang="en-US" dirty="0" err="1"/>
              <a:t>dlPFC</a:t>
            </a:r>
            <a:r>
              <a:rPr lang="en-US" dirty="0"/>
              <a:t> and V1</a:t>
            </a:r>
          </a:p>
          <a:p>
            <a:pPr lvl="1"/>
            <a:r>
              <a:rPr lang="en-US" dirty="0"/>
              <a:t>Used MVPA (machine learning) to detect patterns within brain regions, rather than simply more or less activity</a:t>
            </a:r>
          </a:p>
          <a:p>
            <a:pPr marL="0" indent="0">
              <a:buNone/>
            </a:pPr>
            <a:endParaRPr lang="en-US" dirty="0"/>
          </a:p>
          <a:p>
            <a:endParaRPr lang="en-US" dirty="0"/>
          </a:p>
        </p:txBody>
      </p:sp>
      <p:pic>
        <p:nvPicPr>
          <p:cNvPr id="8" name="Picture 7">
            <a:extLst>
              <a:ext uri="{FF2B5EF4-FFF2-40B4-BE49-F238E27FC236}">
                <a16:creationId xmlns:a16="http://schemas.microsoft.com/office/drawing/2014/main" id="{7C873453-89A2-022B-13D7-A3AA4E916F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05774" y="721520"/>
            <a:ext cx="3505200" cy="2336800"/>
          </a:xfrm>
          <a:prstGeom prst="rect">
            <a:avLst/>
          </a:prstGeom>
        </p:spPr>
      </p:pic>
      <p:pic>
        <p:nvPicPr>
          <p:cNvPr id="9" name="Picture 8">
            <a:extLst>
              <a:ext uri="{FF2B5EF4-FFF2-40B4-BE49-F238E27FC236}">
                <a16:creationId xmlns:a16="http://schemas.microsoft.com/office/drawing/2014/main" id="{93C2969A-7D66-489A-2DC4-22C45B1BA9C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61374" y="3058320"/>
            <a:ext cx="2892426" cy="3588561"/>
          </a:xfrm>
          <a:prstGeom prst="rect">
            <a:avLst/>
          </a:prstGeom>
        </p:spPr>
      </p:pic>
    </p:spTree>
    <p:extLst>
      <p:ext uri="{BB962C8B-B14F-4D97-AF65-F5344CB8AC3E}">
        <p14:creationId xmlns:p14="http://schemas.microsoft.com/office/powerpoint/2010/main" val="1433898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12A079-F298-58E3-9CE2-1CB9BFA4F9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66661F-DF38-1FEB-24E9-91DB075454A5}"/>
              </a:ext>
            </a:extLst>
          </p:cNvPr>
          <p:cNvSpPr>
            <a:spLocks noGrp="1"/>
          </p:cNvSpPr>
          <p:nvPr>
            <p:ph type="title"/>
          </p:nvPr>
        </p:nvSpPr>
        <p:spPr/>
        <p:txBody>
          <a:bodyPr/>
          <a:lstStyle/>
          <a:p>
            <a:r>
              <a:rPr lang="en-US" dirty="0"/>
              <a:t>Working Memory</a:t>
            </a:r>
          </a:p>
        </p:txBody>
      </p:sp>
      <p:sp>
        <p:nvSpPr>
          <p:cNvPr id="3" name="Content Placeholder 2">
            <a:extLst>
              <a:ext uri="{FF2B5EF4-FFF2-40B4-BE49-F238E27FC236}">
                <a16:creationId xmlns:a16="http://schemas.microsoft.com/office/drawing/2014/main" id="{77034783-DA26-88DD-97BF-63A45627FEED}"/>
              </a:ext>
            </a:extLst>
          </p:cNvPr>
          <p:cNvSpPr>
            <a:spLocks noGrp="1"/>
          </p:cNvSpPr>
          <p:nvPr>
            <p:ph idx="1"/>
          </p:nvPr>
        </p:nvSpPr>
        <p:spPr>
          <a:xfrm>
            <a:off x="838200" y="1825624"/>
            <a:ext cx="6819900" cy="4908551"/>
          </a:xfrm>
        </p:spPr>
        <p:txBody>
          <a:bodyPr>
            <a:normAutofit lnSpcReduction="10000"/>
          </a:bodyPr>
          <a:lstStyle/>
          <a:p>
            <a:pPr marL="0" indent="0">
              <a:buNone/>
            </a:pPr>
            <a:r>
              <a:rPr lang="en-US" b="1" dirty="0"/>
              <a:t>Harrison &amp; Tong (2009)</a:t>
            </a:r>
          </a:p>
          <a:p>
            <a:r>
              <a:rPr lang="en-US" b="1" dirty="0"/>
              <a:t>Results</a:t>
            </a:r>
          </a:p>
          <a:p>
            <a:pPr lvl="1"/>
            <a:r>
              <a:rPr lang="en-US" b="1" dirty="0"/>
              <a:t>fMRI</a:t>
            </a:r>
            <a:r>
              <a:rPr lang="en-US" dirty="0"/>
              <a:t>: Increased neural activity in </a:t>
            </a:r>
            <a:r>
              <a:rPr lang="en-US" dirty="0" err="1"/>
              <a:t>dlPFC</a:t>
            </a:r>
            <a:r>
              <a:rPr lang="en-US" dirty="0"/>
              <a:t> but not V1 during delay period</a:t>
            </a:r>
          </a:p>
          <a:p>
            <a:pPr lvl="1"/>
            <a:r>
              <a:rPr lang="en-US" b="1" dirty="0"/>
              <a:t>MVPA</a:t>
            </a:r>
            <a:r>
              <a:rPr lang="en-US" dirty="0"/>
              <a:t>: Patterns corresponding to orientation in V1 but not </a:t>
            </a:r>
            <a:r>
              <a:rPr lang="en-US" dirty="0" err="1"/>
              <a:t>dlPFC</a:t>
            </a:r>
            <a:r>
              <a:rPr lang="en-US" dirty="0"/>
              <a:t> during delay period</a:t>
            </a:r>
          </a:p>
          <a:p>
            <a:endParaRPr lang="en-US" dirty="0"/>
          </a:p>
          <a:p>
            <a:r>
              <a:rPr lang="en-US" b="1" dirty="0"/>
              <a:t>Conclusion</a:t>
            </a:r>
            <a:r>
              <a:rPr lang="en-US" dirty="0"/>
              <a:t>: </a:t>
            </a:r>
            <a:r>
              <a:rPr lang="en-US" dirty="0" err="1"/>
              <a:t>dlPFC</a:t>
            </a:r>
            <a:r>
              <a:rPr lang="en-US" dirty="0"/>
              <a:t> does not reflect the storage of WM content</a:t>
            </a:r>
          </a:p>
          <a:p>
            <a:pPr lvl="1"/>
            <a:r>
              <a:rPr lang="en-US" dirty="0"/>
              <a:t>Instead, WM content is represented in sensory regions (V1)</a:t>
            </a:r>
          </a:p>
          <a:p>
            <a:pPr lvl="1"/>
            <a:r>
              <a:rPr lang="en-US" dirty="0" err="1"/>
              <a:t>dlPFC</a:t>
            </a:r>
            <a:r>
              <a:rPr lang="en-US" dirty="0"/>
              <a:t> represents the top-down activation of </a:t>
            </a:r>
            <a:r>
              <a:rPr lang="en-US"/>
              <a:t>these sensory regions</a:t>
            </a:r>
            <a:endParaRPr lang="en-US" dirty="0"/>
          </a:p>
          <a:p>
            <a:endParaRPr lang="en-US" dirty="0"/>
          </a:p>
        </p:txBody>
      </p:sp>
      <p:pic>
        <p:nvPicPr>
          <p:cNvPr id="7" name="Picture 6">
            <a:extLst>
              <a:ext uri="{FF2B5EF4-FFF2-40B4-BE49-F238E27FC236}">
                <a16:creationId xmlns:a16="http://schemas.microsoft.com/office/drawing/2014/main" id="{2CA01B8B-9F72-7BBE-FE14-4A45E63AB5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05774" y="721520"/>
            <a:ext cx="3505200" cy="2336800"/>
          </a:xfrm>
          <a:prstGeom prst="rect">
            <a:avLst/>
          </a:prstGeom>
        </p:spPr>
      </p:pic>
      <p:pic>
        <p:nvPicPr>
          <p:cNvPr id="28" name="Picture 27">
            <a:extLst>
              <a:ext uri="{FF2B5EF4-FFF2-40B4-BE49-F238E27FC236}">
                <a16:creationId xmlns:a16="http://schemas.microsoft.com/office/drawing/2014/main" id="{84164E87-7EA7-869A-722A-B5F2759E627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61374" y="3058320"/>
            <a:ext cx="2892426" cy="3588561"/>
          </a:xfrm>
          <a:prstGeom prst="rect">
            <a:avLst/>
          </a:prstGeom>
        </p:spPr>
      </p:pic>
    </p:spTree>
    <p:extLst>
      <p:ext uri="{BB962C8B-B14F-4D97-AF65-F5344CB8AC3E}">
        <p14:creationId xmlns:p14="http://schemas.microsoft.com/office/powerpoint/2010/main" val="1079907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CE9AEB-26D2-98A7-88CA-D11A2597A174}"/>
            </a:ext>
          </a:extLst>
        </p:cNvPr>
        <p:cNvGrpSpPr/>
        <p:nvPr/>
      </p:nvGrpSpPr>
      <p:grpSpPr>
        <a:xfrm>
          <a:off x="0" y="0"/>
          <a:ext cx="0" cy="0"/>
          <a:chOff x="0" y="0"/>
          <a:chExt cx="0" cy="0"/>
        </a:xfrm>
      </p:grpSpPr>
      <p:sp>
        <p:nvSpPr>
          <p:cNvPr id="20" name="Title 1">
            <a:extLst>
              <a:ext uri="{FF2B5EF4-FFF2-40B4-BE49-F238E27FC236}">
                <a16:creationId xmlns:a16="http://schemas.microsoft.com/office/drawing/2014/main" id="{09ABF42B-3BC0-B39A-B87D-DE9F635D6930}"/>
              </a:ext>
            </a:extLst>
          </p:cNvPr>
          <p:cNvSpPr txBox="1">
            <a:spLocks/>
          </p:cNvSpPr>
          <p:nvPr/>
        </p:nvSpPr>
        <p:spPr>
          <a:xfrm>
            <a:off x="6574665" y="602116"/>
            <a:ext cx="5702954" cy="590028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800" b="1" u="sng" dirty="0">
                <a:latin typeface="Calibri" panose="020F0502020204030204" pitchFamily="34" charset="0"/>
                <a:cs typeface="Calibri" panose="020F0502020204030204" pitchFamily="34" charset="0"/>
              </a:rPr>
              <a:t>Lecture Outline</a:t>
            </a:r>
          </a:p>
          <a:p>
            <a:endParaRPr lang="en-US" sz="4000" dirty="0">
              <a:latin typeface="Calibri" panose="020F0502020204030204" pitchFamily="34" charset="0"/>
              <a:cs typeface="Calibri" panose="020F0502020204030204" pitchFamily="34" charset="0"/>
            </a:endParaRPr>
          </a:p>
          <a:p>
            <a:r>
              <a:rPr lang="en-US" sz="3600" dirty="0">
                <a:latin typeface="Calibri" panose="020F0502020204030204" pitchFamily="34" charset="0"/>
                <a:cs typeface="Calibri" panose="020F0502020204030204" pitchFamily="34" charset="0"/>
              </a:rPr>
              <a:t>Learning</a:t>
            </a:r>
          </a:p>
          <a:p>
            <a:endParaRPr lang="en-US" sz="3600" dirty="0">
              <a:latin typeface="Calibri" panose="020F0502020204030204" pitchFamily="34" charset="0"/>
              <a:cs typeface="Calibri" panose="020F0502020204030204" pitchFamily="34" charset="0"/>
            </a:endParaRPr>
          </a:p>
          <a:p>
            <a:r>
              <a:rPr lang="en-US" sz="3600" dirty="0">
                <a:latin typeface="Calibri" panose="020F0502020204030204" pitchFamily="34" charset="0"/>
                <a:cs typeface="Calibri" panose="020F0502020204030204" pitchFamily="34" charset="0"/>
              </a:rPr>
              <a:t>Working Memory</a:t>
            </a:r>
          </a:p>
          <a:p>
            <a:endParaRPr lang="en-US" sz="3600" dirty="0">
              <a:latin typeface="Calibri" panose="020F0502020204030204" pitchFamily="34" charset="0"/>
              <a:cs typeface="Calibri" panose="020F0502020204030204" pitchFamily="34" charset="0"/>
            </a:endParaRPr>
          </a:p>
          <a:p>
            <a:r>
              <a:rPr lang="en-US" sz="3600" dirty="0">
                <a:solidFill>
                  <a:srgbClr val="FF0000"/>
                </a:solidFill>
                <a:latin typeface="Calibri" panose="020F0502020204030204" pitchFamily="34" charset="0"/>
                <a:cs typeface="Calibri" panose="020F0502020204030204" pitchFamily="34" charset="0"/>
              </a:rPr>
              <a:t>Long-Term Memory</a:t>
            </a:r>
          </a:p>
          <a:p>
            <a:endParaRPr lang="en-US" sz="3600" dirty="0">
              <a:latin typeface="Calibri" panose="020F0502020204030204" pitchFamily="34" charset="0"/>
              <a:cs typeface="Calibri" panose="020F0502020204030204" pitchFamily="34" charset="0"/>
            </a:endParaRPr>
          </a:p>
          <a:p>
            <a:r>
              <a:rPr lang="en-US" sz="3600" dirty="0">
                <a:latin typeface="Calibri" panose="020F0502020204030204" pitchFamily="34" charset="0"/>
                <a:cs typeface="Calibri" panose="020F0502020204030204" pitchFamily="34" charset="0"/>
              </a:rPr>
              <a:t>Memory Storage</a:t>
            </a:r>
          </a:p>
        </p:txBody>
      </p:sp>
      <p:pic>
        <p:nvPicPr>
          <p:cNvPr id="2" name="Picture 1" descr="A colorful and black and white brain&#10;&#10;AI-generated content may be incorrect.">
            <a:extLst>
              <a:ext uri="{FF2B5EF4-FFF2-40B4-BE49-F238E27FC236}">
                <a16:creationId xmlns:a16="http://schemas.microsoft.com/office/drawing/2014/main" id="{AC48444A-3E6E-4828-8260-32B0EC37AD37}"/>
              </a:ext>
            </a:extLst>
          </p:cNvPr>
          <p:cNvPicPr>
            <a:picLocks noChangeAspect="1"/>
          </p:cNvPicPr>
          <p:nvPr/>
        </p:nvPicPr>
        <p:blipFill>
          <a:blip r:embed="rId2">
            <a:clrChange>
              <a:clrFrom>
                <a:srgbClr val="F9F9F7"/>
              </a:clrFrom>
              <a:clrTo>
                <a:srgbClr val="F9F9F7">
                  <a:alpha val="0"/>
                </a:srgbClr>
              </a:clrTo>
            </a:clrChange>
            <a:extLst>
              <a:ext uri="{28A0092B-C50C-407E-A947-70E740481C1C}">
                <a14:useLocalDpi xmlns:a14="http://schemas.microsoft.com/office/drawing/2010/main" val="0"/>
              </a:ext>
            </a:extLst>
          </a:blip>
          <a:srcRect l="22953" t="7044" r="23408" b="21998"/>
          <a:stretch>
            <a:fillRect/>
          </a:stretch>
        </p:blipFill>
        <p:spPr>
          <a:xfrm>
            <a:off x="1451809" y="-16931"/>
            <a:ext cx="4908331" cy="6493024"/>
          </a:xfrm>
          <a:prstGeom prst="rect">
            <a:avLst/>
          </a:prstGeom>
        </p:spPr>
      </p:pic>
    </p:spTree>
    <p:extLst>
      <p:ext uri="{BB962C8B-B14F-4D97-AF65-F5344CB8AC3E}">
        <p14:creationId xmlns:p14="http://schemas.microsoft.com/office/powerpoint/2010/main" val="16935723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351BBF-DA0E-389B-DE5D-4F88E1FC8A2E}"/>
            </a:ext>
          </a:extLst>
        </p:cNvPr>
        <p:cNvGrpSpPr/>
        <p:nvPr/>
      </p:nvGrpSpPr>
      <p:grpSpPr>
        <a:xfrm>
          <a:off x="0" y="0"/>
          <a:ext cx="0" cy="0"/>
          <a:chOff x="0" y="0"/>
          <a:chExt cx="0" cy="0"/>
        </a:xfrm>
      </p:grpSpPr>
      <p:pic>
        <p:nvPicPr>
          <p:cNvPr id="7" name="Picture 6" descr="A diagram of memory and actions&#10;&#10;AI-generated content may be incorrect.">
            <a:extLst>
              <a:ext uri="{FF2B5EF4-FFF2-40B4-BE49-F238E27FC236}">
                <a16:creationId xmlns:a16="http://schemas.microsoft.com/office/drawing/2014/main" id="{097BBB59-CE63-8469-08C9-E0E1D04914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85579" y="1924594"/>
            <a:ext cx="4679999" cy="3566159"/>
          </a:xfrm>
          <a:prstGeom prst="rect">
            <a:avLst/>
          </a:prstGeom>
        </p:spPr>
      </p:pic>
      <p:sp>
        <p:nvSpPr>
          <p:cNvPr id="2" name="Title 1">
            <a:extLst>
              <a:ext uri="{FF2B5EF4-FFF2-40B4-BE49-F238E27FC236}">
                <a16:creationId xmlns:a16="http://schemas.microsoft.com/office/drawing/2014/main" id="{BDFFBCC6-1B79-88BB-8E5B-5149E84F8084}"/>
              </a:ext>
            </a:extLst>
          </p:cNvPr>
          <p:cNvSpPr>
            <a:spLocks noGrp="1"/>
          </p:cNvSpPr>
          <p:nvPr>
            <p:ph type="title"/>
          </p:nvPr>
        </p:nvSpPr>
        <p:spPr/>
        <p:txBody>
          <a:bodyPr/>
          <a:lstStyle/>
          <a:p>
            <a:r>
              <a:rPr lang="en-US" dirty="0"/>
              <a:t>Long-Term Memory</a:t>
            </a:r>
          </a:p>
        </p:txBody>
      </p:sp>
      <p:sp>
        <p:nvSpPr>
          <p:cNvPr id="3" name="Content Placeholder 2">
            <a:extLst>
              <a:ext uri="{FF2B5EF4-FFF2-40B4-BE49-F238E27FC236}">
                <a16:creationId xmlns:a16="http://schemas.microsoft.com/office/drawing/2014/main" id="{D108D896-A05F-8FCE-0D3C-5804F87B55A4}"/>
              </a:ext>
            </a:extLst>
          </p:cNvPr>
          <p:cNvSpPr>
            <a:spLocks noGrp="1"/>
          </p:cNvSpPr>
          <p:nvPr>
            <p:ph idx="1"/>
          </p:nvPr>
        </p:nvSpPr>
        <p:spPr>
          <a:xfrm>
            <a:off x="838200" y="1825625"/>
            <a:ext cx="6842760" cy="4351338"/>
          </a:xfrm>
        </p:spPr>
        <p:txBody>
          <a:bodyPr>
            <a:normAutofit fontScale="92500" lnSpcReduction="10000"/>
          </a:bodyPr>
          <a:lstStyle/>
          <a:p>
            <a:pPr marL="0" indent="0">
              <a:buNone/>
            </a:pPr>
            <a:r>
              <a:rPr lang="en-US" b="1" dirty="0"/>
              <a:t>Long-Term Memory (LTM): </a:t>
            </a:r>
            <a:r>
              <a:rPr lang="en-US" dirty="0"/>
              <a:t>Capacity to store information and experiences for extended periods of time</a:t>
            </a:r>
          </a:p>
          <a:p>
            <a:r>
              <a:rPr lang="en-US" dirty="0"/>
              <a:t>Lasts hours to lifetime</a:t>
            </a:r>
          </a:p>
          <a:p>
            <a:r>
              <a:rPr lang="en-US" dirty="0"/>
              <a:t>Involves familiarity and recollection</a:t>
            </a:r>
          </a:p>
          <a:p>
            <a:r>
              <a:rPr lang="en-US" b="1" dirty="0"/>
              <a:t>LTM Processes:</a:t>
            </a:r>
          </a:p>
          <a:p>
            <a:pPr lvl="1"/>
            <a:r>
              <a:rPr lang="en-US" b="1" dirty="0"/>
              <a:t>Encoding</a:t>
            </a:r>
            <a:r>
              <a:rPr lang="en-US" dirty="0"/>
              <a:t>: Process of transforming information into a memory trace</a:t>
            </a:r>
          </a:p>
          <a:p>
            <a:pPr lvl="1"/>
            <a:r>
              <a:rPr lang="en-US" b="1" dirty="0"/>
              <a:t>Retrieval</a:t>
            </a:r>
            <a:r>
              <a:rPr lang="en-US" dirty="0"/>
              <a:t>: Process of retrieving facts and events from memory</a:t>
            </a:r>
          </a:p>
          <a:p>
            <a:pPr lvl="1"/>
            <a:r>
              <a:rPr lang="en-US" b="1" dirty="0"/>
              <a:t>Storage</a:t>
            </a:r>
            <a:r>
              <a:rPr lang="en-US" dirty="0"/>
              <a:t>: Process of retaining and preserving information</a:t>
            </a:r>
          </a:p>
          <a:p>
            <a:endParaRPr lang="en-US" dirty="0"/>
          </a:p>
          <a:p>
            <a:pPr lvl="1"/>
            <a:endParaRPr lang="en-US" dirty="0"/>
          </a:p>
          <a:p>
            <a:pPr marL="0" indent="0">
              <a:buNone/>
            </a:pPr>
            <a:endParaRPr lang="en-US" dirty="0"/>
          </a:p>
        </p:txBody>
      </p:sp>
    </p:spTree>
    <p:extLst>
      <p:ext uri="{BB962C8B-B14F-4D97-AF65-F5344CB8AC3E}">
        <p14:creationId xmlns:p14="http://schemas.microsoft.com/office/powerpoint/2010/main" val="2479198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D20464-7DB8-EFAA-0918-6296B3523E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30C18F-FCCE-6C1C-205C-A99C55681EF7}"/>
              </a:ext>
            </a:extLst>
          </p:cNvPr>
          <p:cNvSpPr>
            <a:spLocks noGrp="1"/>
          </p:cNvSpPr>
          <p:nvPr>
            <p:ph type="title"/>
          </p:nvPr>
        </p:nvSpPr>
        <p:spPr/>
        <p:txBody>
          <a:bodyPr/>
          <a:lstStyle/>
          <a:p>
            <a:r>
              <a:rPr lang="en-US" dirty="0"/>
              <a:t>Long-Term Memory</a:t>
            </a:r>
          </a:p>
        </p:txBody>
      </p:sp>
      <p:sp>
        <p:nvSpPr>
          <p:cNvPr id="3" name="Content Placeholder 2">
            <a:extLst>
              <a:ext uri="{FF2B5EF4-FFF2-40B4-BE49-F238E27FC236}">
                <a16:creationId xmlns:a16="http://schemas.microsoft.com/office/drawing/2014/main" id="{53D84ECA-A852-161E-1D86-52143E47D4E0}"/>
              </a:ext>
            </a:extLst>
          </p:cNvPr>
          <p:cNvSpPr>
            <a:spLocks noGrp="1"/>
          </p:cNvSpPr>
          <p:nvPr>
            <p:ph idx="1"/>
          </p:nvPr>
        </p:nvSpPr>
        <p:spPr>
          <a:xfrm>
            <a:off x="838200" y="1825625"/>
            <a:ext cx="6616337" cy="4351338"/>
          </a:xfrm>
        </p:spPr>
        <p:txBody>
          <a:bodyPr>
            <a:normAutofit/>
          </a:bodyPr>
          <a:lstStyle/>
          <a:p>
            <a:pPr marL="0" indent="0">
              <a:buNone/>
            </a:pPr>
            <a:r>
              <a:rPr lang="en-US" b="1" dirty="0"/>
              <a:t>Types of Long-Term Memory</a:t>
            </a:r>
          </a:p>
          <a:p>
            <a:r>
              <a:rPr lang="en-US" b="1" dirty="0"/>
              <a:t>Declarative/Explicit Memory</a:t>
            </a:r>
            <a:r>
              <a:rPr lang="en-US" dirty="0"/>
              <a:t>: Conscious recollection of facts and events</a:t>
            </a:r>
          </a:p>
          <a:p>
            <a:pPr lvl="1"/>
            <a:r>
              <a:rPr lang="en-US" dirty="0"/>
              <a:t>Able to describe</a:t>
            </a:r>
          </a:p>
          <a:p>
            <a:pPr lvl="1"/>
            <a:r>
              <a:rPr lang="en-US" b="1" dirty="0"/>
              <a:t>Episodic Memory</a:t>
            </a:r>
            <a:r>
              <a:rPr lang="en-US" dirty="0"/>
              <a:t>: Memory of events and personal experiences</a:t>
            </a:r>
          </a:p>
          <a:p>
            <a:pPr lvl="2"/>
            <a:r>
              <a:rPr lang="en-US" dirty="0"/>
              <a:t>Specific to a context (e.g., time and place)</a:t>
            </a:r>
          </a:p>
          <a:p>
            <a:pPr lvl="1"/>
            <a:r>
              <a:rPr lang="en-US" b="1" dirty="0"/>
              <a:t>Semantic Memory</a:t>
            </a:r>
            <a:r>
              <a:rPr lang="en-US" dirty="0"/>
              <a:t>: Memory of general knowledge, concepts, facts, and meanings</a:t>
            </a:r>
          </a:p>
          <a:p>
            <a:pPr lvl="2"/>
            <a:r>
              <a:rPr lang="en-US" dirty="0"/>
              <a:t>Not specific to a context </a:t>
            </a:r>
          </a:p>
          <a:p>
            <a:pPr lvl="2"/>
            <a:endParaRPr lang="en-US" dirty="0"/>
          </a:p>
          <a:p>
            <a:pPr marL="0" indent="0">
              <a:buNone/>
            </a:pPr>
            <a:endParaRPr lang="en-US" dirty="0"/>
          </a:p>
        </p:txBody>
      </p:sp>
      <p:pic>
        <p:nvPicPr>
          <p:cNvPr id="4" name="Picture 3" descr="A diagram of memory and actions&#10;&#10;AI-generated content may be incorrect.">
            <a:extLst>
              <a:ext uri="{FF2B5EF4-FFF2-40B4-BE49-F238E27FC236}">
                <a16:creationId xmlns:a16="http://schemas.microsoft.com/office/drawing/2014/main" id="{4070AC50-C6FE-7042-3DB7-1B8A7FCFC1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85579" y="1924594"/>
            <a:ext cx="4679999" cy="3566159"/>
          </a:xfrm>
          <a:prstGeom prst="rect">
            <a:avLst/>
          </a:prstGeom>
        </p:spPr>
      </p:pic>
    </p:spTree>
    <p:extLst>
      <p:ext uri="{BB962C8B-B14F-4D97-AF65-F5344CB8AC3E}">
        <p14:creationId xmlns:p14="http://schemas.microsoft.com/office/powerpoint/2010/main" val="21874316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247AC-33FC-F5F6-21F6-73573FC4AC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68382D-118F-18A3-8FB0-AD9DA622F941}"/>
              </a:ext>
            </a:extLst>
          </p:cNvPr>
          <p:cNvSpPr>
            <a:spLocks noGrp="1"/>
          </p:cNvSpPr>
          <p:nvPr>
            <p:ph type="title"/>
          </p:nvPr>
        </p:nvSpPr>
        <p:spPr/>
        <p:txBody>
          <a:bodyPr/>
          <a:lstStyle/>
          <a:p>
            <a:r>
              <a:rPr lang="en-US" dirty="0"/>
              <a:t>Long-Term Memory</a:t>
            </a:r>
          </a:p>
        </p:txBody>
      </p:sp>
      <p:sp>
        <p:nvSpPr>
          <p:cNvPr id="3" name="Content Placeholder 2">
            <a:extLst>
              <a:ext uri="{FF2B5EF4-FFF2-40B4-BE49-F238E27FC236}">
                <a16:creationId xmlns:a16="http://schemas.microsoft.com/office/drawing/2014/main" id="{2D54A6A6-E3BA-2507-7782-B36A42A873DA}"/>
              </a:ext>
            </a:extLst>
          </p:cNvPr>
          <p:cNvSpPr>
            <a:spLocks noGrp="1"/>
          </p:cNvSpPr>
          <p:nvPr>
            <p:ph idx="1"/>
          </p:nvPr>
        </p:nvSpPr>
        <p:spPr>
          <a:xfrm>
            <a:off x="838200" y="1825625"/>
            <a:ext cx="6616337" cy="4351338"/>
          </a:xfrm>
        </p:spPr>
        <p:txBody>
          <a:bodyPr>
            <a:normAutofit/>
          </a:bodyPr>
          <a:lstStyle/>
          <a:p>
            <a:pPr marL="0" indent="0">
              <a:buNone/>
            </a:pPr>
            <a:r>
              <a:rPr lang="en-US" b="1" dirty="0"/>
              <a:t>Types of Long-Term Memory</a:t>
            </a:r>
            <a:endParaRPr lang="en-US" dirty="0"/>
          </a:p>
          <a:p>
            <a:r>
              <a:rPr lang="en-US" b="1" dirty="0"/>
              <a:t>Nondeclarative/Implicit memory</a:t>
            </a:r>
            <a:r>
              <a:rPr lang="en-US" dirty="0"/>
              <a:t>: Subconscious knowledge of perceptual and motor procedures</a:t>
            </a:r>
          </a:p>
          <a:p>
            <a:pPr lvl="1"/>
            <a:r>
              <a:rPr lang="en-US" dirty="0"/>
              <a:t>Demonstrate through performance</a:t>
            </a:r>
          </a:p>
          <a:p>
            <a:pPr lvl="1"/>
            <a:r>
              <a:rPr lang="en-US" b="1" dirty="0"/>
              <a:t>Procedural Memory</a:t>
            </a:r>
            <a:r>
              <a:rPr lang="en-US" dirty="0"/>
              <a:t>: Memory for motor skills, habits, and actions</a:t>
            </a:r>
          </a:p>
          <a:p>
            <a:pPr lvl="2"/>
            <a:r>
              <a:rPr lang="en-US" dirty="0"/>
              <a:t>E.g., how to swing a bat</a:t>
            </a:r>
          </a:p>
          <a:p>
            <a:pPr lvl="1"/>
            <a:r>
              <a:rPr lang="en-US" b="1" dirty="0"/>
              <a:t>Emotional Memory</a:t>
            </a:r>
            <a:r>
              <a:rPr lang="en-US" dirty="0"/>
              <a:t>: Memory for an emotional response to a triggering stimuli</a:t>
            </a:r>
          </a:p>
          <a:p>
            <a:pPr lvl="2"/>
            <a:r>
              <a:rPr lang="en-US" dirty="0"/>
              <a:t>E.g., PTSD</a:t>
            </a:r>
          </a:p>
          <a:p>
            <a:pPr marL="0" indent="0">
              <a:buNone/>
            </a:pPr>
            <a:endParaRPr lang="en-US" dirty="0"/>
          </a:p>
        </p:txBody>
      </p:sp>
      <p:pic>
        <p:nvPicPr>
          <p:cNvPr id="4" name="Picture 3" descr="A diagram of memory and actions&#10;&#10;AI-generated content may be incorrect.">
            <a:extLst>
              <a:ext uri="{FF2B5EF4-FFF2-40B4-BE49-F238E27FC236}">
                <a16:creationId xmlns:a16="http://schemas.microsoft.com/office/drawing/2014/main" id="{C8E1B8D8-F40E-28DC-2167-EBE2017A58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85579" y="1924594"/>
            <a:ext cx="4679999" cy="3566159"/>
          </a:xfrm>
          <a:prstGeom prst="rect">
            <a:avLst/>
          </a:prstGeom>
        </p:spPr>
      </p:pic>
    </p:spTree>
    <p:extLst>
      <p:ext uri="{BB962C8B-B14F-4D97-AF65-F5344CB8AC3E}">
        <p14:creationId xmlns:p14="http://schemas.microsoft.com/office/powerpoint/2010/main" val="24741022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20366-9025-0148-853D-FCB5AC703B46}"/>
              </a:ext>
            </a:extLst>
          </p:cNvPr>
          <p:cNvSpPr>
            <a:spLocks noGrp="1"/>
          </p:cNvSpPr>
          <p:nvPr>
            <p:ph type="title"/>
          </p:nvPr>
        </p:nvSpPr>
        <p:spPr/>
        <p:txBody>
          <a:bodyPr/>
          <a:lstStyle/>
          <a:p>
            <a:r>
              <a:rPr lang="en-US" dirty="0"/>
              <a:t>Long-Term Memory</a:t>
            </a:r>
            <a:endParaRPr lang="en-CA" dirty="0"/>
          </a:p>
        </p:txBody>
      </p:sp>
      <p:sp>
        <p:nvSpPr>
          <p:cNvPr id="3" name="Content Placeholder 2">
            <a:extLst>
              <a:ext uri="{FF2B5EF4-FFF2-40B4-BE49-F238E27FC236}">
                <a16:creationId xmlns:a16="http://schemas.microsoft.com/office/drawing/2014/main" id="{FB785B2D-69AC-6148-93AE-58E6268EB27A}"/>
              </a:ext>
            </a:extLst>
          </p:cNvPr>
          <p:cNvSpPr>
            <a:spLocks noGrp="1"/>
          </p:cNvSpPr>
          <p:nvPr>
            <p:ph idx="1"/>
          </p:nvPr>
        </p:nvSpPr>
        <p:spPr>
          <a:xfrm>
            <a:off x="838199" y="1825625"/>
            <a:ext cx="8043119" cy="4351338"/>
          </a:xfrm>
        </p:spPr>
        <p:txBody>
          <a:bodyPr>
            <a:normAutofit fontScale="77500" lnSpcReduction="20000"/>
          </a:bodyPr>
          <a:lstStyle/>
          <a:p>
            <a:pPr marL="0" indent="0">
              <a:buNone/>
            </a:pPr>
            <a:r>
              <a:rPr lang="en-CA" b="1" dirty="0"/>
              <a:t>Morris, 1982</a:t>
            </a:r>
          </a:p>
          <a:p>
            <a:r>
              <a:rPr lang="en-CA" b="1" dirty="0"/>
              <a:t>Research Question</a:t>
            </a:r>
            <a:r>
              <a:rPr lang="en-CA" dirty="0"/>
              <a:t>: Does the hippocampus code memory for spatial locations? </a:t>
            </a:r>
          </a:p>
          <a:p>
            <a:endParaRPr lang="en-CA" dirty="0"/>
          </a:p>
          <a:p>
            <a:r>
              <a:rPr lang="en-CA" b="1" dirty="0"/>
              <a:t>Methods</a:t>
            </a:r>
            <a:r>
              <a:rPr lang="en-CA" dirty="0"/>
              <a:t>: Morris Water Maze. There are environmental cues of the room (windows, door) and there exists an invisible platform the rats are to reach</a:t>
            </a:r>
          </a:p>
          <a:p>
            <a:pPr lvl="1"/>
            <a:r>
              <a:rPr lang="en-CA" dirty="0"/>
              <a:t>Rats are dropped at different spots of the tank, and thus use environmental cues to orientate themselves</a:t>
            </a:r>
          </a:p>
          <a:p>
            <a:endParaRPr lang="en-CA" dirty="0"/>
          </a:p>
          <a:p>
            <a:r>
              <a:rPr lang="en-CA" b="1" dirty="0"/>
              <a:t>IV</a:t>
            </a:r>
            <a:r>
              <a:rPr lang="en-CA" dirty="0"/>
              <a:t>: Rats are lesioned or not in the hippocampus</a:t>
            </a:r>
          </a:p>
          <a:p>
            <a:pPr lvl="1"/>
            <a:r>
              <a:rPr lang="en-CA" dirty="0"/>
              <a:t>Also, same or novel starting location on each trial</a:t>
            </a:r>
          </a:p>
          <a:p>
            <a:endParaRPr lang="en-CA" dirty="0"/>
          </a:p>
          <a:p>
            <a:r>
              <a:rPr lang="en-CA" b="1" dirty="0"/>
              <a:t>DV</a:t>
            </a:r>
            <a:r>
              <a:rPr lang="en-CA" dirty="0"/>
              <a:t>: Time to platform after learning</a:t>
            </a:r>
          </a:p>
        </p:txBody>
      </p:sp>
      <p:pic>
        <p:nvPicPr>
          <p:cNvPr id="5" name="Picture 4" descr="A picture containing shape&#10;&#10;Description automatically generated">
            <a:extLst>
              <a:ext uri="{FF2B5EF4-FFF2-40B4-BE49-F238E27FC236}">
                <a16:creationId xmlns:a16="http://schemas.microsoft.com/office/drawing/2014/main" id="{02A1EBEC-755A-FE46-BF11-5CB5C6CCF874}"/>
              </a:ext>
            </a:extLst>
          </p:cNvPr>
          <p:cNvPicPr>
            <a:picLocks noChangeAspect="1"/>
          </p:cNvPicPr>
          <p:nvPr/>
        </p:nvPicPr>
        <p:blipFill rotWithShape="1">
          <a:blip r:embed="rId2">
            <a:clrChange>
              <a:clrFrom>
                <a:srgbClr val="E6E6E6"/>
              </a:clrFrom>
              <a:clrTo>
                <a:srgbClr val="E6E6E6">
                  <a:alpha val="0"/>
                </a:srgbClr>
              </a:clrTo>
            </a:clrChange>
          </a:blip>
          <a:srcRect r="52906" b="13635"/>
          <a:stretch/>
        </p:blipFill>
        <p:spPr>
          <a:xfrm>
            <a:off x="8881319" y="952409"/>
            <a:ext cx="2751238" cy="2742075"/>
          </a:xfrm>
          <a:prstGeom prst="rect">
            <a:avLst/>
          </a:prstGeom>
        </p:spPr>
      </p:pic>
      <p:pic>
        <p:nvPicPr>
          <p:cNvPr id="6" name="Picture 5" descr="A picture containing shape&#10;&#10;Description automatically generated">
            <a:extLst>
              <a:ext uri="{FF2B5EF4-FFF2-40B4-BE49-F238E27FC236}">
                <a16:creationId xmlns:a16="http://schemas.microsoft.com/office/drawing/2014/main" id="{C7D3A5E4-36B1-4645-BF5B-AADB55E4F07A}"/>
              </a:ext>
            </a:extLst>
          </p:cNvPr>
          <p:cNvPicPr>
            <a:picLocks noChangeAspect="1"/>
          </p:cNvPicPr>
          <p:nvPr/>
        </p:nvPicPr>
        <p:blipFill rotWithShape="1">
          <a:blip r:embed="rId2">
            <a:clrChange>
              <a:clrFrom>
                <a:srgbClr val="E6E6E6"/>
              </a:clrFrom>
              <a:clrTo>
                <a:srgbClr val="E6E6E6">
                  <a:alpha val="0"/>
                </a:srgbClr>
              </a:clrTo>
            </a:clrChange>
          </a:blip>
          <a:srcRect l="50063" t="-1555" r="2843" b="15191"/>
          <a:stretch/>
        </p:blipFill>
        <p:spPr>
          <a:xfrm>
            <a:off x="8881319" y="3694484"/>
            <a:ext cx="2751238" cy="2742075"/>
          </a:xfrm>
          <a:prstGeom prst="rect">
            <a:avLst/>
          </a:prstGeom>
        </p:spPr>
      </p:pic>
    </p:spTree>
    <p:extLst>
      <p:ext uri="{BB962C8B-B14F-4D97-AF65-F5344CB8AC3E}">
        <p14:creationId xmlns:p14="http://schemas.microsoft.com/office/powerpoint/2010/main" val="2738923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20366-9025-0148-853D-FCB5AC703B46}"/>
              </a:ext>
            </a:extLst>
          </p:cNvPr>
          <p:cNvSpPr>
            <a:spLocks noGrp="1"/>
          </p:cNvSpPr>
          <p:nvPr>
            <p:ph type="title"/>
          </p:nvPr>
        </p:nvSpPr>
        <p:spPr/>
        <p:txBody>
          <a:bodyPr/>
          <a:lstStyle/>
          <a:p>
            <a:r>
              <a:rPr lang="en-US" dirty="0"/>
              <a:t>Long-Term Memory</a:t>
            </a:r>
            <a:endParaRPr lang="en-CA" dirty="0"/>
          </a:p>
        </p:txBody>
      </p:sp>
      <p:sp>
        <p:nvSpPr>
          <p:cNvPr id="3" name="Content Placeholder 2">
            <a:extLst>
              <a:ext uri="{FF2B5EF4-FFF2-40B4-BE49-F238E27FC236}">
                <a16:creationId xmlns:a16="http://schemas.microsoft.com/office/drawing/2014/main" id="{FB785B2D-69AC-6148-93AE-58E6268EB27A}"/>
              </a:ext>
            </a:extLst>
          </p:cNvPr>
          <p:cNvSpPr>
            <a:spLocks noGrp="1"/>
          </p:cNvSpPr>
          <p:nvPr>
            <p:ph idx="1"/>
          </p:nvPr>
        </p:nvSpPr>
        <p:spPr>
          <a:xfrm>
            <a:off x="838200" y="1825625"/>
            <a:ext cx="7886700" cy="4667250"/>
          </a:xfrm>
        </p:spPr>
        <p:txBody>
          <a:bodyPr>
            <a:normAutofit/>
          </a:bodyPr>
          <a:lstStyle/>
          <a:p>
            <a:pPr marL="0" indent="0">
              <a:buNone/>
            </a:pPr>
            <a:r>
              <a:rPr lang="en-CA" b="1" dirty="0"/>
              <a:t>Morris, 1982</a:t>
            </a:r>
          </a:p>
          <a:p>
            <a:r>
              <a:rPr lang="en-CA" b="1" dirty="0"/>
              <a:t>Results</a:t>
            </a:r>
            <a:endParaRPr lang="en-CA" dirty="0"/>
          </a:p>
          <a:p>
            <a:pPr lvl="1"/>
            <a:r>
              <a:rPr lang="en-CA" dirty="0"/>
              <a:t>Non-lesioned rats quick to find platform by using environmental cues</a:t>
            </a:r>
          </a:p>
          <a:p>
            <a:pPr lvl="2"/>
            <a:r>
              <a:rPr lang="en-CA" dirty="0"/>
              <a:t>When placed at same or novel starting location each trial</a:t>
            </a:r>
          </a:p>
          <a:p>
            <a:pPr lvl="1"/>
            <a:r>
              <a:rPr lang="en-CA" dirty="0"/>
              <a:t>Lesioned rats slow at finding platform and explore randomly until found</a:t>
            </a:r>
          </a:p>
          <a:p>
            <a:pPr lvl="2"/>
            <a:r>
              <a:rPr lang="en-CA" dirty="0"/>
              <a:t>Able to find platform when placed at same starting location each trial</a:t>
            </a:r>
          </a:p>
          <a:p>
            <a:pPr lvl="2"/>
            <a:endParaRPr lang="en-CA" dirty="0"/>
          </a:p>
          <a:p>
            <a:r>
              <a:rPr lang="en-CA" b="1" dirty="0"/>
              <a:t>Conclusion</a:t>
            </a:r>
            <a:r>
              <a:rPr lang="en-CA" dirty="0"/>
              <a:t>: Hippocampus creates a spatial map of the environment</a:t>
            </a:r>
          </a:p>
        </p:txBody>
      </p:sp>
      <p:pic>
        <p:nvPicPr>
          <p:cNvPr id="5" name="Picture 4" descr="A picture containing shape&#10;&#10;Description automatically generated">
            <a:extLst>
              <a:ext uri="{FF2B5EF4-FFF2-40B4-BE49-F238E27FC236}">
                <a16:creationId xmlns:a16="http://schemas.microsoft.com/office/drawing/2014/main" id="{02A1EBEC-755A-FE46-BF11-5CB5C6CCF874}"/>
              </a:ext>
            </a:extLst>
          </p:cNvPr>
          <p:cNvPicPr>
            <a:picLocks noChangeAspect="1"/>
          </p:cNvPicPr>
          <p:nvPr/>
        </p:nvPicPr>
        <p:blipFill rotWithShape="1">
          <a:blip r:embed="rId2">
            <a:clrChange>
              <a:clrFrom>
                <a:srgbClr val="E6E6E6"/>
              </a:clrFrom>
              <a:clrTo>
                <a:srgbClr val="E6E6E6">
                  <a:alpha val="0"/>
                </a:srgbClr>
              </a:clrTo>
            </a:clrChange>
          </a:blip>
          <a:srcRect r="52906" b="13635"/>
          <a:stretch/>
        </p:blipFill>
        <p:spPr>
          <a:xfrm>
            <a:off x="8881319" y="952409"/>
            <a:ext cx="2751238" cy="2742075"/>
          </a:xfrm>
          <a:prstGeom prst="rect">
            <a:avLst/>
          </a:prstGeom>
        </p:spPr>
      </p:pic>
      <p:pic>
        <p:nvPicPr>
          <p:cNvPr id="6" name="Picture 5" descr="A picture containing shape&#10;&#10;Description automatically generated">
            <a:extLst>
              <a:ext uri="{FF2B5EF4-FFF2-40B4-BE49-F238E27FC236}">
                <a16:creationId xmlns:a16="http://schemas.microsoft.com/office/drawing/2014/main" id="{C7D3A5E4-36B1-4645-BF5B-AADB55E4F07A}"/>
              </a:ext>
            </a:extLst>
          </p:cNvPr>
          <p:cNvPicPr>
            <a:picLocks noChangeAspect="1"/>
          </p:cNvPicPr>
          <p:nvPr/>
        </p:nvPicPr>
        <p:blipFill rotWithShape="1">
          <a:blip r:embed="rId2">
            <a:clrChange>
              <a:clrFrom>
                <a:srgbClr val="E6E6E6"/>
              </a:clrFrom>
              <a:clrTo>
                <a:srgbClr val="E6E6E6">
                  <a:alpha val="0"/>
                </a:srgbClr>
              </a:clrTo>
            </a:clrChange>
          </a:blip>
          <a:srcRect l="50063" t="-1555" r="2843" b="15191"/>
          <a:stretch/>
        </p:blipFill>
        <p:spPr>
          <a:xfrm>
            <a:off x="8881319" y="3694484"/>
            <a:ext cx="2751238" cy="2742075"/>
          </a:xfrm>
          <a:prstGeom prst="rect">
            <a:avLst/>
          </a:prstGeom>
        </p:spPr>
      </p:pic>
    </p:spTree>
    <p:extLst>
      <p:ext uri="{BB962C8B-B14F-4D97-AF65-F5344CB8AC3E}">
        <p14:creationId xmlns:p14="http://schemas.microsoft.com/office/powerpoint/2010/main" val="42690266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D425E4-804D-5E69-AF04-B27A36F8E2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CB230C-D3E5-637A-D5C2-6E4FFD4B3661}"/>
              </a:ext>
            </a:extLst>
          </p:cNvPr>
          <p:cNvSpPr>
            <a:spLocks noGrp="1"/>
          </p:cNvSpPr>
          <p:nvPr>
            <p:ph type="title"/>
          </p:nvPr>
        </p:nvSpPr>
        <p:spPr/>
        <p:txBody>
          <a:bodyPr/>
          <a:lstStyle/>
          <a:p>
            <a:r>
              <a:rPr lang="en-US" dirty="0"/>
              <a:t>Long-Term Memory</a:t>
            </a:r>
          </a:p>
        </p:txBody>
      </p:sp>
      <p:sp>
        <p:nvSpPr>
          <p:cNvPr id="3" name="Content Placeholder 2">
            <a:extLst>
              <a:ext uri="{FF2B5EF4-FFF2-40B4-BE49-F238E27FC236}">
                <a16:creationId xmlns:a16="http://schemas.microsoft.com/office/drawing/2014/main" id="{3FAD5759-D67B-E9F0-CB45-2478CD00F177}"/>
              </a:ext>
            </a:extLst>
          </p:cNvPr>
          <p:cNvSpPr>
            <a:spLocks noGrp="1"/>
          </p:cNvSpPr>
          <p:nvPr>
            <p:ph idx="1"/>
          </p:nvPr>
        </p:nvSpPr>
        <p:spPr>
          <a:xfrm>
            <a:off x="838200" y="1825625"/>
            <a:ext cx="6946232" cy="4351338"/>
          </a:xfrm>
        </p:spPr>
        <p:txBody>
          <a:bodyPr>
            <a:normAutofit/>
          </a:bodyPr>
          <a:lstStyle/>
          <a:p>
            <a:pPr marL="0" indent="0">
              <a:buNone/>
            </a:pPr>
            <a:r>
              <a:rPr lang="en-US" b="1" dirty="0"/>
              <a:t>Declarative Memory Processes</a:t>
            </a:r>
            <a:r>
              <a:rPr lang="en-US" dirty="0"/>
              <a:t>:</a:t>
            </a:r>
          </a:p>
          <a:p>
            <a:r>
              <a:rPr lang="en-US" b="1" dirty="0"/>
              <a:t>Hippocampus</a:t>
            </a:r>
            <a:r>
              <a:rPr lang="en-US" dirty="0"/>
              <a:t>: Encoding and retrieval of memory</a:t>
            </a:r>
          </a:p>
          <a:p>
            <a:r>
              <a:rPr lang="en-US" b="1" dirty="0"/>
              <a:t>Perirhinal Cortex</a:t>
            </a:r>
            <a:r>
              <a:rPr lang="en-US" dirty="0"/>
              <a:t>: Sense of familiarity in memory</a:t>
            </a:r>
          </a:p>
          <a:p>
            <a:r>
              <a:rPr lang="en-US" b="1" dirty="0" err="1"/>
              <a:t>Parahippocampal</a:t>
            </a:r>
            <a:r>
              <a:rPr lang="en-US" b="1" dirty="0"/>
              <a:t> Cortex</a:t>
            </a:r>
            <a:r>
              <a:rPr lang="en-US" dirty="0"/>
              <a:t>: Processing of memory context</a:t>
            </a:r>
          </a:p>
          <a:p>
            <a:endParaRPr lang="en-US" dirty="0"/>
          </a:p>
          <a:p>
            <a:pPr marL="0" indent="0">
              <a:buNone/>
            </a:pPr>
            <a:endParaRPr lang="en-US" dirty="0"/>
          </a:p>
        </p:txBody>
      </p:sp>
      <p:grpSp>
        <p:nvGrpSpPr>
          <p:cNvPr id="4" name="Group 3">
            <a:extLst>
              <a:ext uri="{FF2B5EF4-FFF2-40B4-BE49-F238E27FC236}">
                <a16:creationId xmlns:a16="http://schemas.microsoft.com/office/drawing/2014/main" id="{05B98E25-5AB0-901C-7256-D74934E84ABF}"/>
              </a:ext>
            </a:extLst>
          </p:cNvPr>
          <p:cNvGrpSpPr/>
          <p:nvPr/>
        </p:nvGrpSpPr>
        <p:grpSpPr>
          <a:xfrm>
            <a:off x="8501317" y="144443"/>
            <a:ext cx="4500911" cy="6569114"/>
            <a:chOff x="8501317" y="144443"/>
            <a:chExt cx="4500911" cy="6569114"/>
          </a:xfrm>
        </p:grpSpPr>
        <p:grpSp>
          <p:nvGrpSpPr>
            <p:cNvPr id="5" name="Group 4">
              <a:extLst>
                <a:ext uri="{FF2B5EF4-FFF2-40B4-BE49-F238E27FC236}">
                  <a16:creationId xmlns:a16="http://schemas.microsoft.com/office/drawing/2014/main" id="{6FF46114-1CC5-30F7-FBF9-E3C3920625E4}"/>
                </a:ext>
              </a:extLst>
            </p:cNvPr>
            <p:cNvGrpSpPr/>
            <p:nvPr/>
          </p:nvGrpSpPr>
          <p:grpSpPr>
            <a:xfrm>
              <a:off x="8501317" y="144443"/>
              <a:ext cx="4500911" cy="6569114"/>
              <a:chOff x="7784432" y="98386"/>
              <a:chExt cx="4942047" cy="7212956"/>
            </a:xfrm>
          </p:grpSpPr>
          <p:pic>
            <p:nvPicPr>
              <p:cNvPr id="8" name="Picture 7" descr="A diagram of a human brain&#10;&#10;AI-generated content may be incorrect.">
                <a:extLst>
                  <a:ext uri="{FF2B5EF4-FFF2-40B4-BE49-F238E27FC236}">
                    <a16:creationId xmlns:a16="http://schemas.microsoft.com/office/drawing/2014/main" id="{F1C68E5C-F2C1-8764-FC91-BA99D36C42C9}"/>
                  </a:ext>
                </a:extLst>
              </p:cNvPr>
              <p:cNvPicPr>
                <a:picLocks noChangeAspect="1"/>
              </p:cNvPicPr>
              <p:nvPr/>
            </p:nvPicPr>
            <p:blipFill>
              <a:blip r:embed="rId2">
                <a:extLst>
                  <a:ext uri="{28A0092B-C50C-407E-A947-70E740481C1C}">
                    <a14:useLocalDpi xmlns:a14="http://schemas.microsoft.com/office/drawing/2010/main" val="0"/>
                  </a:ext>
                </a:extLst>
              </a:blip>
              <a:srcRect t="7875" r="54477"/>
              <a:stretch>
                <a:fillRect/>
              </a:stretch>
            </p:blipFill>
            <p:spPr>
              <a:xfrm>
                <a:off x="7784432" y="2343559"/>
                <a:ext cx="3245308" cy="2936469"/>
              </a:xfrm>
              <a:prstGeom prst="rect">
                <a:avLst/>
              </a:prstGeom>
            </p:spPr>
          </p:pic>
          <p:pic>
            <p:nvPicPr>
              <p:cNvPr id="9" name="Picture 8" descr="A diagram of a brain&#10;&#10;AI-generated content may be incorrect.">
                <a:extLst>
                  <a:ext uri="{FF2B5EF4-FFF2-40B4-BE49-F238E27FC236}">
                    <a16:creationId xmlns:a16="http://schemas.microsoft.com/office/drawing/2014/main" id="{C17FC906-7BB3-C61B-F613-300F6AECE383}"/>
                  </a:ext>
                </a:extLst>
              </p:cNvPr>
              <p:cNvPicPr>
                <a:picLocks noChangeAspect="1"/>
              </p:cNvPicPr>
              <p:nvPr/>
            </p:nvPicPr>
            <p:blipFill>
              <a:blip r:embed="rId3">
                <a:extLst>
                  <a:ext uri="{28A0092B-C50C-407E-A947-70E740481C1C}">
                    <a14:useLocalDpi xmlns:a14="http://schemas.microsoft.com/office/drawing/2010/main" val="0"/>
                  </a:ext>
                </a:extLst>
              </a:blip>
              <a:srcRect b="68523"/>
              <a:stretch>
                <a:fillRect/>
              </a:stretch>
            </p:blipFill>
            <p:spPr>
              <a:xfrm>
                <a:off x="8194162" y="98386"/>
                <a:ext cx="4532317" cy="2158678"/>
              </a:xfrm>
              <a:prstGeom prst="rect">
                <a:avLst/>
              </a:prstGeom>
            </p:spPr>
          </p:pic>
          <p:pic>
            <p:nvPicPr>
              <p:cNvPr id="10" name="Picture 9" descr="A diagram of a brain&#10;&#10;AI-generated content may be incorrect.">
                <a:extLst>
                  <a:ext uri="{FF2B5EF4-FFF2-40B4-BE49-F238E27FC236}">
                    <a16:creationId xmlns:a16="http://schemas.microsoft.com/office/drawing/2014/main" id="{91F1EEA7-474B-6DAA-962A-F36D6916D7F5}"/>
                  </a:ext>
                </a:extLst>
              </p:cNvPr>
              <p:cNvPicPr>
                <a:picLocks noChangeAspect="1"/>
              </p:cNvPicPr>
              <p:nvPr/>
            </p:nvPicPr>
            <p:blipFill>
              <a:blip r:embed="rId3">
                <a:extLst>
                  <a:ext uri="{28A0092B-C50C-407E-A947-70E740481C1C}">
                    <a14:useLocalDpi xmlns:a14="http://schemas.microsoft.com/office/drawing/2010/main" val="0"/>
                  </a:ext>
                </a:extLst>
              </a:blip>
              <a:srcRect l="29654" t="70745" r="-10130" b="-2222"/>
              <a:stretch>
                <a:fillRect/>
              </a:stretch>
            </p:blipFill>
            <p:spPr>
              <a:xfrm>
                <a:off x="7911296" y="5152664"/>
                <a:ext cx="3647404" cy="2158678"/>
              </a:xfrm>
              <a:prstGeom prst="rect">
                <a:avLst/>
              </a:prstGeom>
            </p:spPr>
          </p:pic>
        </p:grpSp>
        <p:sp>
          <p:nvSpPr>
            <p:cNvPr id="6" name="Freeform: Shape 5">
              <a:extLst>
                <a:ext uri="{FF2B5EF4-FFF2-40B4-BE49-F238E27FC236}">
                  <a16:creationId xmlns:a16="http://schemas.microsoft.com/office/drawing/2014/main" id="{3AE894AB-74A3-D8AF-52EA-C784AAAD4CD6}"/>
                </a:ext>
              </a:extLst>
            </p:cNvPr>
            <p:cNvSpPr/>
            <p:nvPr/>
          </p:nvSpPr>
          <p:spPr>
            <a:xfrm>
              <a:off x="11030673" y="949124"/>
              <a:ext cx="1203768" cy="1082233"/>
            </a:xfrm>
            <a:custGeom>
              <a:avLst/>
              <a:gdLst>
                <a:gd name="connsiteX0" fmla="*/ 300942 w 1203768"/>
                <a:gd name="connsiteY0" fmla="*/ 1006998 h 1082233"/>
                <a:gd name="connsiteX1" fmla="*/ 300942 w 1203768"/>
                <a:gd name="connsiteY1" fmla="*/ 1082233 h 1082233"/>
                <a:gd name="connsiteX2" fmla="*/ 0 w 1203768"/>
                <a:gd name="connsiteY2" fmla="*/ 520861 h 1082233"/>
                <a:gd name="connsiteX3" fmla="*/ 34724 w 1203768"/>
                <a:gd name="connsiteY3" fmla="*/ 295154 h 1082233"/>
                <a:gd name="connsiteX4" fmla="*/ 596097 w 1203768"/>
                <a:gd name="connsiteY4" fmla="*/ 260430 h 1082233"/>
                <a:gd name="connsiteX5" fmla="*/ 902826 w 1203768"/>
                <a:gd name="connsiteY5" fmla="*/ 0 h 1082233"/>
                <a:gd name="connsiteX6" fmla="*/ 1203768 w 1203768"/>
                <a:gd name="connsiteY6" fmla="*/ 277792 h 1082233"/>
                <a:gd name="connsiteX7" fmla="*/ 1174831 w 1203768"/>
                <a:gd name="connsiteY7" fmla="*/ 949124 h 1082233"/>
                <a:gd name="connsiteX8" fmla="*/ 300942 w 1203768"/>
                <a:gd name="connsiteY8" fmla="*/ 1006998 h 10822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03768" h="1082233">
                  <a:moveTo>
                    <a:pt x="300942" y="1006998"/>
                  </a:moveTo>
                  <a:lnTo>
                    <a:pt x="300942" y="1082233"/>
                  </a:lnTo>
                  <a:lnTo>
                    <a:pt x="0" y="520861"/>
                  </a:lnTo>
                  <a:lnTo>
                    <a:pt x="34724" y="295154"/>
                  </a:lnTo>
                  <a:lnTo>
                    <a:pt x="596097" y="260430"/>
                  </a:lnTo>
                  <a:lnTo>
                    <a:pt x="902826" y="0"/>
                  </a:lnTo>
                  <a:lnTo>
                    <a:pt x="1203768" y="277792"/>
                  </a:lnTo>
                  <a:lnTo>
                    <a:pt x="1174831" y="949124"/>
                  </a:lnTo>
                  <a:lnTo>
                    <a:pt x="300942" y="1006998"/>
                  </a:lnTo>
                  <a:close/>
                </a:path>
              </a:pathLst>
            </a:cu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069876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20366-9025-0148-853D-FCB5AC703B46}"/>
              </a:ext>
            </a:extLst>
          </p:cNvPr>
          <p:cNvSpPr>
            <a:spLocks noGrp="1"/>
          </p:cNvSpPr>
          <p:nvPr>
            <p:ph type="title"/>
          </p:nvPr>
        </p:nvSpPr>
        <p:spPr/>
        <p:txBody>
          <a:bodyPr/>
          <a:lstStyle/>
          <a:p>
            <a:r>
              <a:rPr lang="en-US" dirty="0"/>
              <a:t>Long-Term Memory</a:t>
            </a:r>
            <a:endParaRPr lang="en-CA" dirty="0"/>
          </a:p>
        </p:txBody>
      </p:sp>
      <p:sp>
        <p:nvSpPr>
          <p:cNvPr id="3" name="Content Placeholder 2">
            <a:extLst>
              <a:ext uri="{FF2B5EF4-FFF2-40B4-BE49-F238E27FC236}">
                <a16:creationId xmlns:a16="http://schemas.microsoft.com/office/drawing/2014/main" id="{FB785B2D-69AC-6148-93AE-58E6268EB27A}"/>
              </a:ext>
            </a:extLst>
          </p:cNvPr>
          <p:cNvSpPr>
            <a:spLocks noGrp="1"/>
          </p:cNvSpPr>
          <p:nvPr>
            <p:ph idx="1"/>
          </p:nvPr>
        </p:nvSpPr>
        <p:spPr>
          <a:xfrm>
            <a:off x="838200" y="1825625"/>
            <a:ext cx="7366000" cy="4932014"/>
          </a:xfrm>
        </p:spPr>
        <p:txBody>
          <a:bodyPr>
            <a:normAutofit fontScale="85000" lnSpcReduction="20000"/>
          </a:bodyPr>
          <a:lstStyle/>
          <a:p>
            <a:pPr marL="0" indent="0">
              <a:buNone/>
            </a:pPr>
            <a:r>
              <a:rPr lang="en-CA" b="1" dirty="0"/>
              <a:t>Zola-Morgan et al. (1993)</a:t>
            </a:r>
            <a:endParaRPr lang="en-CA" dirty="0"/>
          </a:p>
          <a:p>
            <a:r>
              <a:rPr lang="en-CA" b="1" dirty="0"/>
              <a:t>Research Question</a:t>
            </a:r>
            <a:r>
              <a:rPr lang="en-CA" dirty="0"/>
              <a:t>: </a:t>
            </a:r>
            <a:r>
              <a:rPr lang="en-US" dirty="0"/>
              <a:t>How do different components of the medial temporal lobe contribute to declarative memory?</a:t>
            </a:r>
          </a:p>
          <a:p>
            <a:endParaRPr lang="en-CA" dirty="0"/>
          </a:p>
          <a:p>
            <a:r>
              <a:rPr lang="en-CA" b="1" dirty="0"/>
              <a:t>Methods </a:t>
            </a:r>
          </a:p>
          <a:p>
            <a:pPr lvl="1"/>
            <a:r>
              <a:rPr lang="en-CA" b="1" dirty="0"/>
              <a:t>Phase 1</a:t>
            </a:r>
            <a:r>
              <a:rPr lang="en-CA" dirty="0"/>
              <a:t>: Food hidden under object, monkey can pick up object and get food</a:t>
            </a:r>
          </a:p>
          <a:p>
            <a:pPr lvl="1"/>
            <a:r>
              <a:rPr lang="en-CA" b="1" dirty="0"/>
              <a:t>Phase 2</a:t>
            </a:r>
            <a:r>
              <a:rPr lang="en-CA" dirty="0"/>
              <a:t>: Two objects are placed, one being the original object, but the food is now placed under the new object</a:t>
            </a:r>
          </a:p>
          <a:p>
            <a:pPr lvl="2"/>
            <a:r>
              <a:rPr lang="en-CA" dirty="0"/>
              <a:t>Picking up old object results in no reward</a:t>
            </a:r>
          </a:p>
          <a:p>
            <a:pPr lvl="2"/>
            <a:endParaRPr lang="en-CA" dirty="0"/>
          </a:p>
          <a:p>
            <a:r>
              <a:rPr lang="en-CA" b="1" dirty="0"/>
              <a:t>IV</a:t>
            </a:r>
            <a:r>
              <a:rPr lang="en-CA" dirty="0"/>
              <a:t>: </a:t>
            </a:r>
          </a:p>
          <a:p>
            <a:pPr lvl="1"/>
            <a:r>
              <a:rPr lang="en-CA" dirty="0"/>
              <a:t>No lesion (N)</a:t>
            </a:r>
          </a:p>
          <a:p>
            <a:pPr lvl="1"/>
            <a:r>
              <a:rPr lang="en-CA" dirty="0"/>
              <a:t>Lesion to hippocampus and </a:t>
            </a:r>
            <a:r>
              <a:rPr lang="en-CA" dirty="0" err="1"/>
              <a:t>parahippocampal</a:t>
            </a:r>
            <a:r>
              <a:rPr lang="en-CA" dirty="0"/>
              <a:t> cortex (HP)</a:t>
            </a:r>
          </a:p>
          <a:p>
            <a:pPr lvl="1"/>
            <a:r>
              <a:rPr lang="en-CA" dirty="0"/>
              <a:t>Lesion to hippocampus, </a:t>
            </a:r>
            <a:r>
              <a:rPr lang="en-CA" dirty="0" err="1"/>
              <a:t>parahippocampal</a:t>
            </a:r>
            <a:r>
              <a:rPr lang="en-CA" dirty="0"/>
              <a:t> cortex, and perirhinal cortex (HPP)</a:t>
            </a:r>
          </a:p>
          <a:p>
            <a:pPr lvl="2"/>
            <a:endParaRPr lang="en-CA" dirty="0"/>
          </a:p>
          <a:p>
            <a:pPr lvl="2"/>
            <a:endParaRPr lang="en-CA" dirty="0"/>
          </a:p>
          <a:p>
            <a:endParaRPr lang="en-CA" dirty="0"/>
          </a:p>
        </p:txBody>
      </p:sp>
      <p:pic>
        <p:nvPicPr>
          <p:cNvPr id="8" name="Picture 2" descr="Four illustrations show delayed nonmatch-to-sample task.&#10;The first and third show a hand placing a paper covering the food reward. (a) The correct response has a food reward located under it. (b) The monkey is shown the correct response, which will yield a reward for the monkey. (c) The door is closed, and the reward is placed under a second response option. (d) The monkey is then shown two options and must pick the correct response (the one that does not match the original sample item) to get the reward. Here the monkey is pictured making an error.">
            <a:extLst>
              <a:ext uri="{FF2B5EF4-FFF2-40B4-BE49-F238E27FC236}">
                <a16:creationId xmlns:a16="http://schemas.microsoft.com/office/drawing/2014/main" id="{1D502820-C045-054E-BCF0-AE8B95BFED1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54359"/>
          <a:stretch/>
        </p:blipFill>
        <p:spPr bwMode="auto">
          <a:xfrm>
            <a:off x="8581169" y="1218084"/>
            <a:ext cx="3012847" cy="1647779"/>
          </a:xfrm>
          <a:prstGeom prst="rect">
            <a:avLst/>
          </a:prstGeom>
          <a:noFill/>
          <a:ln>
            <a:noFill/>
          </a:ln>
          <a:extLst>
            <a:ext uri="{909E8E84-426E-40DD-AFC4-6F175D3DCCD1}">
              <a14:hiddenFill xmlns:a14="http://schemas.microsoft.com/office/drawing/2010/main">
                <a:solidFill>
                  <a:srgbClr val="FFFFFF"/>
                </a:solidFill>
              </a14:hiddenFill>
            </a:ext>
          </a:extLst>
        </p:spPr>
      </p:pic>
      <p:grpSp>
        <p:nvGrpSpPr>
          <p:cNvPr id="9" name="Group 8">
            <a:extLst>
              <a:ext uri="{FF2B5EF4-FFF2-40B4-BE49-F238E27FC236}">
                <a16:creationId xmlns:a16="http://schemas.microsoft.com/office/drawing/2014/main" id="{7E18CB39-C57D-1B47-AF80-AA464B5A6E61}"/>
              </a:ext>
            </a:extLst>
          </p:cNvPr>
          <p:cNvGrpSpPr/>
          <p:nvPr/>
        </p:nvGrpSpPr>
        <p:grpSpPr>
          <a:xfrm>
            <a:off x="8653631" y="2883094"/>
            <a:ext cx="3228639" cy="1091811"/>
            <a:chOff x="1633266" y="280330"/>
            <a:chExt cx="8404225" cy="2842011"/>
          </a:xfrm>
        </p:grpSpPr>
        <p:pic>
          <p:nvPicPr>
            <p:cNvPr id="10" name="Picture 2" descr="Gross anatomy of the monkey’s medial temporal lobe.&#10;(a) This lateral, see-through view of the left hemisphere shows the amygdala (red) and hippocampus (blue) within the temporal lobe. (b) This view from the ventral surface of the same hemisphere shows the amygdala and hippocampus, and indicates the locations of the parahippocampal gyrus and the entorhinal area (consisting of Brodmann areas 28 and typically also 34, which are located in the most anterior portion of the parahippocampal gyrus).">
              <a:extLst>
                <a:ext uri="{FF2B5EF4-FFF2-40B4-BE49-F238E27FC236}">
                  <a16:creationId xmlns:a16="http://schemas.microsoft.com/office/drawing/2014/main" id="{75EE642E-15C0-4948-9B14-D2AD095308D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54903"/>
            <a:stretch/>
          </p:blipFill>
          <p:spPr bwMode="auto">
            <a:xfrm>
              <a:off x="1633266" y="301625"/>
              <a:ext cx="4197350" cy="2820716"/>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11" name="Picture 2" descr="Gross anatomy of the monkey’s medial temporal lobe.&#10;(a) This lateral, see-through view of the left hemisphere shows the amygdala (red) and hippocampus (blue) within the temporal lobe. (b) This view from the ventral surface of the same hemisphere shows the amygdala and hippocampus, and indicates the locations of the parahippocampal gyrus and the entorhinal area (consisting of Brodmann areas 28 and typically also 34, which are located in the most anterior portion of the parahippocampal gyrus).">
              <a:extLst>
                <a:ext uri="{FF2B5EF4-FFF2-40B4-BE49-F238E27FC236}">
                  <a16:creationId xmlns:a16="http://schemas.microsoft.com/office/drawing/2014/main" id="{BFCE16C1-8E7A-E84D-950A-FFFE1A73EDE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27" t="52031" r="-227" b="2872"/>
            <a:stretch/>
          </p:blipFill>
          <p:spPr bwMode="auto">
            <a:xfrm>
              <a:off x="5840141" y="280330"/>
              <a:ext cx="4197350" cy="2820716"/>
            </a:xfrm>
            <a:prstGeom prst="rect">
              <a:avLst/>
            </a:prstGeom>
            <a:noFill/>
            <a:ln>
              <a:noFill/>
            </a:ln>
            <a:extLst>
              <a:ext uri="{909E8E84-426E-40DD-AFC4-6F175D3DCCD1}">
                <a14:hiddenFill xmlns:a14="http://schemas.microsoft.com/office/drawing/2010/main">
                  <a:solidFill>
                    <a:srgbClr val="FFFFFF"/>
                  </a:solidFill>
                </a14:hiddenFill>
              </a:ext>
            </a:extLst>
          </p:spPr>
        </p:pic>
      </p:grpSp>
      <p:pic>
        <p:nvPicPr>
          <p:cNvPr id="12" name="Picture 2" descr="Line graps show results of worsening memory. 8, 100.&#10;The X axis measures delays in seconds from 0 through 600. The Y axis measures mean percentage correct from 0 through 100 with increments of 10. Approximate values follow. For HPP: 8, 100. 15, 90. 60, 80. 600, 55. For HP: 8, 100. 15, 98. 60, 92. 600, 70. For N: 8, 100. 15, 100. 60, 100. 600, 85.">
            <a:extLst>
              <a:ext uri="{FF2B5EF4-FFF2-40B4-BE49-F238E27FC236}">
                <a16:creationId xmlns:a16="http://schemas.microsoft.com/office/drawing/2014/main" id="{AE7471A0-AFC6-F84A-991B-E0A3581860CE}"/>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8912891" y="4115342"/>
            <a:ext cx="2706460" cy="2742658"/>
          </a:xfrm>
          <a:prstGeom prst="rect">
            <a:avLst/>
          </a:prstGeom>
          <a:noFill/>
          <a:ln>
            <a:no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39859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20366-9025-0148-853D-FCB5AC703B46}"/>
              </a:ext>
            </a:extLst>
          </p:cNvPr>
          <p:cNvSpPr>
            <a:spLocks noGrp="1"/>
          </p:cNvSpPr>
          <p:nvPr>
            <p:ph type="title"/>
          </p:nvPr>
        </p:nvSpPr>
        <p:spPr/>
        <p:txBody>
          <a:bodyPr/>
          <a:lstStyle/>
          <a:p>
            <a:r>
              <a:rPr lang="en-US" dirty="0"/>
              <a:t>Long-Term Memory</a:t>
            </a:r>
            <a:endParaRPr lang="en-CA" dirty="0"/>
          </a:p>
        </p:txBody>
      </p:sp>
      <p:sp>
        <p:nvSpPr>
          <p:cNvPr id="3" name="Content Placeholder 2">
            <a:extLst>
              <a:ext uri="{FF2B5EF4-FFF2-40B4-BE49-F238E27FC236}">
                <a16:creationId xmlns:a16="http://schemas.microsoft.com/office/drawing/2014/main" id="{FB785B2D-69AC-6148-93AE-58E6268EB27A}"/>
              </a:ext>
            </a:extLst>
          </p:cNvPr>
          <p:cNvSpPr>
            <a:spLocks noGrp="1"/>
          </p:cNvSpPr>
          <p:nvPr>
            <p:ph idx="1"/>
          </p:nvPr>
        </p:nvSpPr>
        <p:spPr>
          <a:xfrm>
            <a:off x="838199" y="1825624"/>
            <a:ext cx="7946571" cy="4809351"/>
          </a:xfrm>
        </p:spPr>
        <p:txBody>
          <a:bodyPr>
            <a:normAutofit lnSpcReduction="10000"/>
          </a:bodyPr>
          <a:lstStyle/>
          <a:p>
            <a:pPr marL="0" indent="0">
              <a:buNone/>
            </a:pPr>
            <a:r>
              <a:rPr lang="en-CA" b="1" dirty="0"/>
              <a:t>Zola-Morgan et al. (1993)</a:t>
            </a:r>
            <a:endParaRPr lang="en-CA" dirty="0"/>
          </a:p>
          <a:p>
            <a:r>
              <a:rPr lang="en-CA" b="1" dirty="0"/>
              <a:t>DV</a:t>
            </a:r>
            <a:r>
              <a:rPr lang="en-CA" dirty="0"/>
              <a:t>: </a:t>
            </a:r>
            <a:r>
              <a:rPr lang="en-US" dirty="0"/>
              <a:t>Accuracy in selecting the novel object to obtain reward</a:t>
            </a:r>
          </a:p>
          <a:p>
            <a:endParaRPr lang="en-CA" dirty="0"/>
          </a:p>
          <a:p>
            <a:r>
              <a:rPr lang="en-CA" b="1" dirty="0"/>
              <a:t>Results</a:t>
            </a:r>
            <a:r>
              <a:rPr lang="en-CA" dirty="0"/>
              <a:t>: Memory deficits increase with more regions lesioned</a:t>
            </a:r>
          </a:p>
          <a:p>
            <a:endParaRPr lang="en-CA" dirty="0"/>
          </a:p>
          <a:p>
            <a:r>
              <a:rPr lang="en-CA" b="1" dirty="0"/>
              <a:t>Conclusion</a:t>
            </a:r>
            <a:r>
              <a:rPr lang="en-CA" dirty="0"/>
              <a:t>: Hippocampus + surrounding regions also involved in memory formation</a:t>
            </a:r>
          </a:p>
          <a:p>
            <a:pPr lvl="1"/>
            <a:r>
              <a:rPr lang="en-CA" dirty="0"/>
              <a:t>Not only is the hippocampus necessary, but the connections it has also impairs memory. So, it’s a network</a:t>
            </a:r>
          </a:p>
          <a:p>
            <a:endParaRPr lang="en-CA" dirty="0"/>
          </a:p>
          <a:p>
            <a:endParaRPr lang="en-CA" dirty="0"/>
          </a:p>
        </p:txBody>
      </p:sp>
      <p:pic>
        <p:nvPicPr>
          <p:cNvPr id="4" name="Picture 2" descr="Four illustrations show delayed nonmatch-to-sample task.&#10;The first and third show a hand placing a paper covering the food reward. (a) The correct response has a food reward located under it. (b) The monkey is shown the correct response, which will yield a reward for the monkey. (c) The door is closed, and the reward is placed under a second response option. (d) The monkey is then shown two options and must pick the correct response (the one that does not match the original sample item) to get the reward. Here the monkey is pictured making an error.">
            <a:extLst>
              <a:ext uri="{FF2B5EF4-FFF2-40B4-BE49-F238E27FC236}">
                <a16:creationId xmlns:a16="http://schemas.microsoft.com/office/drawing/2014/main" id="{95C6E96B-C52C-D84A-8C61-342DA1EBC91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54359"/>
          <a:stretch/>
        </p:blipFill>
        <p:spPr bwMode="auto">
          <a:xfrm>
            <a:off x="8581169" y="1218084"/>
            <a:ext cx="3012847" cy="1647779"/>
          </a:xfrm>
          <a:prstGeom prst="rect">
            <a:avLst/>
          </a:prstGeom>
          <a:noFill/>
          <a:ln>
            <a:noFill/>
          </a:ln>
          <a:extLst>
            <a:ext uri="{909E8E84-426E-40DD-AFC4-6F175D3DCCD1}">
              <a14:hiddenFill xmlns:a14="http://schemas.microsoft.com/office/drawing/2010/main">
                <a:solidFill>
                  <a:srgbClr val="FFFFFF"/>
                </a:solidFill>
              </a14:hiddenFill>
            </a:ext>
          </a:extLst>
        </p:spPr>
      </p:pic>
      <p:grpSp>
        <p:nvGrpSpPr>
          <p:cNvPr id="7" name="Group 6">
            <a:extLst>
              <a:ext uri="{FF2B5EF4-FFF2-40B4-BE49-F238E27FC236}">
                <a16:creationId xmlns:a16="http://schemas.microsoft.com/office/drawing/2014/main" id="{B239D04E-FD9F-F943-A8E2-3578254E651B}"/>
              </a:ext>
            </a:extLst>
          </p:cNvPr>
          <p:cNvGrpSpPr/>
          <p:nvPr/>
        </p:nvGrpSpPr>
        <p:grpSpPr>
          <a:xfrm>
            <a:off x="8653631" y="2865863"/>
            <a:ext cx="3228639" cy="1091811"/>
            <a:chOff x="1633266" y="280330"/>
            <a:chExt cx="8404225" cy="2842011"/>
          </a:xfrm>
        </p:grpSpPr>
        <p:pic>
          <p:nvPicPr>
            <p:cNvPr id="5" name="Picture 2" descr="Gross anatomy of the monkey’s medial temporal lobe.&#10;(a) This lateral, see-through view of the left hemisphere shows the amygdala (red) and hippocampus (blue) within the temporal lobe. (b) This view from the ventral surface of the same hemisphere shows the amygdala and hippocampus, and indicates the locations of the parahippocampal gyrus and the entorhinal area (consisting of Brodmann areas 28 and typically also 34, which are located in the most anterior portion of the parahippocampal gyrus).">
              <a:extLst>
                <a:ext uri="{FF2B5EF4-FFF2-40B4-BE49-F238E27FC236}">
                  <a16:creationId xmlns:a16="http://schemas.microsoft.com/office/drawing/2014/main" id="{547D69BF-8042-4A42-A78A-A32F9DD3027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54903"/>
            <a:stretch/>
          </p:blipFill>
          <p:spPr bwMode="auto">
            <a:xfrm>
              <a:off x="1633266" y="301625"/>
              <a:ext cx="4197350" cy="2820716"/>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6" name="Picture 2" descr="Gross anatomy of the monkey’s medial temporal lobe.&#10;(a) This lateral, see-through view of the left hemisphere shows the amygdala (red) and hippocampus (blue) within the temporal lobe. (b) This view from the ventral surface of the same hemisphere shows the amygdala and hippocampus, and indicates the locations of the parahippocampal gyrus and the entorhinal area (consisting of Brodmann areas 28 and typically also 34, which are located in the most anterior portion of the parahippocampal gyrus).">
              <a:extLst>
                <a:ext uri="{FF2B5EF4-FFF2-40B4-BE49-F238E27FC236}">
                  <a16:creationId xmlns:a16="http://schemas.microsoft.com/office/drawing/2014/main" id="{2C9B3D00-4889-F545-BBB3-6EFED0287D1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27" t="52031" r="-227" b="2872"/>
            <a:stretch/>
          </p:blipFill>
          <p:spPr bwMode="auto">
            <a:xfrm>
              <a:off x="5840141" y="280330"/>
              <a:ext cx="4197350" cy="2820716"/>
            </a:xfrm>
            <a:prstGeom prst="rect">
              <a:avLst/>
            </a:prstGeom>
            <a:noFill/>
            <a:ln>
              <a:noFill/>
            </a:ln>
            <a:extLst>
              <a:ext uri="{909E8E84-426E-40DD-AFC4-6F175D3DCCD1}">
                <a14:hiddenFill xmlns:a14="http://schemas.microsoft.com/office/drawing/2010/main">
                  <a:solidFill>
                    <a:srgbClr val="FFFFFF"/>
                  </a:solidFill>
                </a14:hiddenFill>
              </a:ext>
            </a:extLst>
          </p:spPr>
        </p:pic>
      </p:grpSp>
      <p:pic>
        <p:nvPicPr>
          <p:cNvPr id="8" name="Picture 2" descr="Line graps show results of worsening memory. 8, 100.&#10;The X axis measures delays in seconds from 0 through 600. The Y axis measures mean percentage correct from 0 through 100 with increments of 10. Approximate values follow. For HPP: 8, 100. 15, 90. 60, 80. 600, 55. For HP: 8, 100. 15, 98. 60, 92. 600, 70. For N: 8, 100. 15, 100. 60, 100. 600, 85.">
            <a:extLst>
              <a:ext uri="{FF2B5EF4-FFF2-40B4-BE49-F238E27FC236}">
                <a16:creationId xmlns:a16="http://schemas.microsoft.com/office/drawing/2014/main" id="{E28FB95E-467E-E742-922B-CBDB6CFA27B6}"/>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8912891" y="4115342"/>
            <a:ext cx="2706460" cy="2742658"/>
          </a:xfrm>
          <a:prstGeom prst="rect">
            <a:avLst/>
          </a:prstGeom>
          <a:noFill/>
          <a:ln>
            <a:no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01191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E05962-0553-EFFF-D182-CB0DB5A99A5E}"/>
            </a:ext>
          </a:extLst>
        </p:cNvPr>
        <p:cNvGrpSpPr/>
        <p:nvPr/>
      </p:nvGrpSpPr>
      <p:grpSpPr>
        <a:xfrm>
          <a:off x="0" y="0"/>
          <a:ext cx="0" cy="0"/>
          <a:chOff x="0" y="0"/>
          <a:chExt cx="0" cy="0"/>
        </a:xfrm>
      </p:grpSpPr>
      <p:sp>
        <p:nvSpPr>
          <p:cNvPr id="20" name="Title 1">
            <a:extLst>
              <a:ext uri="{FF2B5EF4-FFF2-40B4-BE49-F238E27FC236}">
                <a16:creationId xmlns:a16="http://schemas.microsoft.com/office/drawing/2014/main" id="{FF87F003-3E26-1DBD-F3D4-00EE88406157}"/>
              </a:ext>
            </a:extLst>
          </p:cNvPr>
          <p:cNvSpPr txBox="1">
            <a:spLocks/>
          </p:cNvSpPr>
          <p:nvPr/>
        </p:nvSpPr>
        <p:spPr>
          <a:xfrm>
            <a:off x="6574665" y="602116"/>
            <a:ext cx="5702954" cy="590028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800" b="1" u="sng" dirty="0">
                <a:latin typeface="Calibri" panose="020F0502020204030204" pitchFamily="34" charset="0"/>
                <a:cs typeface="Calibri" panose="020F0502020204030204" pitchFamily="34" charset="0"/>
              </a:rPr>
              <a:t>Lecture Outline</a:t>
            </a:r>
          </a:p>
          <a:p>
            <a:endParaRPr lang="en-US" sz="4000" dirty="0">
              <a:latin typeface="Calibri" panose="020F0502020204030204" pitchFamily="34" charset="0"/>
              <a:cs typeface="Calibri" panose="020F0502020204030204" pitchFamily="34" charset="0"/>
            </a:endParaRPr>
          </a:p>
          <a:p>
            <a:r>
              <a:rPr lang="en-US" sz="3600" dirty="0">
                <a:latin typeface="Calibri" panose="020F0502020204030204" pitchFamily="34" charset="0"/>
                <a:cs typeface="Calibri" panose="020F0502020204030204" pitchFamily="34" charset="0"/>
              </a:rPr>
              <a:t>Learning</a:t>
            </a:r>
          </a:p>
          <a:p>
            <a:endParaRPr lang="en-US" sz="3600" dirty="0">
              <a:latin typeface="Calibri" panose="020F0502020204030204" pitchFamily="34" charset="0"/>
              <a:cs typeface="Calibri" panose="020F0502020204030204" pitchFamily="34" charset="0"/>
            </a:endParaRPr>
          </a:p>
          <a:p>
            <a:r>
              <a:rPr lang="en-US" sz="3600" dirty="0">
                <a:latin typeface="Calibri" panose="020F0502020204030204" pitchFamily="34" charset="0"/>
                <a:cs typeface="Calibri" panose="020F0502020204030204" pitchFamily="34" charset="0"/>
              </a:rPr>
              <a:t>Working Memory</a:t>
            </a:r>
          </a:p>
          <a:p>
            <a:endParaRPr lang="en-US" sz="3600" dirty="0">
              <a:latin typeface="Calibri" panose="020F0502020204030204" pitchFamily="34" charset="0"/>
              <a:cs typeface="Calibri" panose="020F0502020204030204" pitchFamily="34" charset="0"/>
            </a:endParaRPr>
          </a:p>
          <a:p>
            <a:r>
              <a:rPr lang="en-US" sz="3600" dirty="0">
                <a:latin typeface="Calibri" panose="020F0502020204030204" pitchFamily="34" charset="0"/>
                <a:cs typeface="Calibri" panose="020F0502020204030204" pitchFamily="34" charset="0"/>
              </a:rPr>
              <a:t>Long-Term Memory</a:t>
            </a:r>
          </a:p>
          <a:p>
            <a:endParaRPr lang="en-US" sz="3600" dirty="0">
              <a:latin typeface="Calibri" panose="020F0502020204030204" pitchFamily="34" charset="0"/>
              <a:cs typeface="Calibri" panose="020F0502020204030204" pitchFamily="34" charset="0"/>
            </a:endParaRPr>
          </a:p>
          <a:p>
            <a:r>
              <a:rPr lang="en-US" sz="3600" dirty="0">
                <a:solidFill>
                  <a:srgbClr val="FF0000"/>
                </a:solidFill>
                <a:latin typeface="Calibri" panose="020F0502020204030204" pitchFamily="34" charset="0"/>
                <a:cs typeface="Calibri" panose="020F0502020204030204" pitchFamily="34" charset="0"/>
              </a:rPr>
              <a:t>Memory Storage</a:t>
            </a:r>
          </a:p>
        </p:txBody>
      </p:sp>
      <p:pic>
        <p:nvPicPr>
          <p:cNvPr id="2" name="Picture 1" descr="A colorful and black and white brain&#10;&#10;AI-generated content may be incorrect.">
            <a:extLst>
              <a:ext uri="{FF2B5EF4-FFF2-40B4-BE49-F238E27FC236}">
                <a16:creationId xmlns:a16="http://schemas.microsoft.com/office/drawing/2014/main" id="{C9878170-BB50-E10B-D586-0CED76866672}"/>
              </a:ext>
            </a:extLst>
          </p:cNvPr>
          <p:cNvPicPr>
            <a:picLocks noChangeAspect="1"/>
          </p:cNvPicPr>
          <p:nvPr/>
        </p:nvPicPr>
        <p:blipFill>
          <a:blip r:embed="rId2">
            <a:clrChange>
              <a:clrFrom>
                <a:srgbClr val="F9F9F7"/>
              </a:clrFrom>
              <a:clrTo>
                <a:srgbClr val="F9F9F7">
                  <a:alpha val="0"/>
                </a:srgbClr>
              </a:clrTo>
            </a:clrChange>
            <a:extLst>
              <a:ext uri="{28A0092B-C50C-407E-A947-70E740481C1C}">
                <a14:useLocalDpi xmlns:a14="http://schemas.microsoft.com/office/drawing/2010/main" val="0"/>
              </a:ext>
            </a:extLst>
          </a:blip>
          <a:srcRect l="22953" t="7044" r="23408" b="21998"/>
          <a:stretch>
            <a:fillRect/>
          </a:stretch>
        </p:blipFill>
        <p:spPr>
          <a:xfrm>
            <a:off x="1451809" y="-16931"/>
            <a:ext cx="4908331" cy="6493024"/>
          </a:xfrm>
          <a:prstGeom prst="rect">
            <a:avLst/>
          </a:prstGeom>
        </p:spPr>
      </p:pic>
    </p:spTree>
    <p:extLst>
      <p:ext uri="{BB962C8B-B14F-4D97-AF65-F5344CB8AC3E}">
        <p14:creationId xmlns:p14="http://schemas.microsoft.com/office/powerpoint/2010/main" val="37134876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53D92-1223-27FB-F6DB-89E5E5934470}"/>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531CC58A-9811-6340-3120-61C1F476AC5C}"/>
              </a:ext>
            </a:extLst>
          </p:cNvPr>
          <p:cNvPicPr>
            <a:picLocks noChangeAspect="1"/>
          </p:cNvPicPr>
          <p:nvPr/>
        </p:nvPicPr>
        <p:blipFill>
          <a:blip r:embed="rId2">
            <a:extLst>
              <a:ext uri="{28A0092B-C50C-407E-A947-70E740481C1C}">
                <a14:useLocalDpi xmlns:a14="http://schemas.microsoft.com/office/drawing/2010/main" val="0"/>
              </a:ext>
            </a:extLst>
          </a:blip>
          <a:srcRect l="23190" r="20363"/>
          <a:stretch>
            <a:fillRect/>
          </a:stretch>
        </p:blipFill>
        <p:spPr>
          <a:xfrm>
            <a:off x="8296275" y="2261592"/>
            <a:ext cx="3590926" cy="3578376"/>
          </a:xfrm>
          <a:prstGeom prst="rect">
            <a:avLst/>
          </a:prstGeom>
        </p:spPr>
      </p:pic>
      <p:sp>
        <p:nvSpPr>
          <p:cNvPr id="2" name="Title 1">
            <a:extLst>
              <a:ext uri="{FF2B5EF4-FFF2-40B4-BE49-F238E27FC236}">
                <a16:creationId xmlns:a16="http://schemas.microsoft.com/office/drawing/2014/main" id="{6C52DF93-7FBC-8F09-7677-2BBCED34EEC1}"/>
              </a:ext>
            </a:extLst>
          </p:cNvPr>
          <p:cNvSpPr>
            <a:spLocks noGrp="1"/>
          </p:cNvSpPr>
          <p:nvPr>
            <p:ph type="title"/>
          </p:nvPr>
        </p:nvSpPr>
        <p:spPr/>
        <p:txBody>
          <a:bodyPr/>
          <a:lstStyle/>
          <a:p>
            <a:r>
              <a:rPr lang="en-US" dirty="0"/>
              <a:t>Memory Storage</a:t>
            </a:r>
            <a:endParaRPr lang="en-CA" dirty="0"/>
          </a:p>
        </p:txBody>
      </p:sp>
      <p:sp>
        <p:nvSpPr>
          <p:cNvPr id="3" name="Content Placeholder 2">
            <a:extLst>
              <a:ext uri="{FF2B5EF4-FFF2-40B4-BE49-F238E27FC236}">
                <a16:creationId xmlns:a16="http://schemas.microsoft.com/office/drawing/2014/main" id="{009DD9F9-D5CC-55AC-F8F9-AA02D283D2EA}"/>
              </a:ext>
            </a:extLst>
          </p:cNvPr>
          <p:cNvSpPr>
            <a:spLocks noGrp="1"/>
          </p:cNvSpPr>
          <p:nvPr>
            <p:ph idx="1"/>
          </p:nvPr>
        </p:nvSpPr>
        <p:spPr>
          <a:xfrm>
            <a:off x="838199" y="1825624"/>
            <a:ext cx="8134351" cy="4809351"/>
          </a:xfrm>
        </p:spPr>
        <p:txBody>
          <a:bodyPr>
            <a:normAutofit fontScale="92500" lnSpcReduction="10000"/>
          </a:bodyPr>
          <a:lstStyle/>
          <a:p>
            <a:pPr marL="0" indent="0">
              <a:buNone/>
            </a:pPr>
            <a:r>
              <a:rPr lang="en-US" b="1" dirty="0"/>
              <a:t>Long-Term Memory Storage</a:t>
            </a:r>
          </a:p>
          <a:p>
            <a:r>
              <a:rPr lang="en-US" sz="2400" dirty="0"/>
              <a:t>Driven by </a:t>
            </a:r>
            <a:r>
              <a:rPr lang="en-US" sz="2400" b="1" dirty="0"/>
              <a:t>neuroplasticity: </a:t>
            </a:r>
            <a:r>
              <a:rPr lang="en-US" sz="2400" dirty="0"/>
              <a:t>Ability for brain to reorganize structural and functional connections</a:t>
            </a:r>
            <a:endParaRPr lang="en-CA" sz="2400" dirty="0"/>
          </a:p>
          <a:p>
            <a:pPr lvl="1"/>
            <a:r>
              <a:rPr lang="en-CA" sz="2000" b="1" dirty="0"/>
              <a:t>Long-Term Potentiation/Depression (LTP/LTD)</a:t>
            </a:r>
            <a:r>
              <a:rPr lang="en-CA" sz="2000" dirty="0"/>
              <a:t>: The strengthening/weakening of synaptic efficiency </a:t>
            </a:r>
          </a:p>
          <a:p>
            <a:pPr lvl="2"/>
            <a:r>
              <a:rPr lang="en-CA" sz="1800" dirty="0"/>
              <a:t>Changes in the release of presynaptic neurotransmitters</a:t>
            </a:r>
          </a:p>
          <a:p>
            <a:pPr lvl="2"/>
            <a:r>
              <a:rPr lang="en-CA" sz="1800" dirty="0"/>
              <a:t>Changes in the number/sensitivity of postsynaptic receptors</a:t>
            </a:r>
          </a:p>
          <a:p>
            <a:pPr lvl="2"/>
            <a:endParaRPr lang="en-CA" sz="1800" dirty="0"/>
          </a:p>
          <a:p>
            <a:pPr lvl="1"/>
            <a:r>
              <a:rPr lang="en-CA" sz="2000" b="1" dirty="0"/>
              <a:t>Synaptogenesis</a:t>
            </a:r>
          </a:p>
          <a:p>
            <a:pPr lvl="2"/>
            <a:r>
              <a:rPr lang="en-CA" sz="1800" dirty="0"/>
              <a:t>Formation of new useful synapses</a:t>
            </a:r>
          </a:p>
          <a:p>
            <a:pPr lvl="2"/>
            <a:r>
              <a:rPr lang="en-CA" sz="1800" dirty="0"/>
              <a:t>Pruning of non-useful synapses</a:t>
            </a:r>
          </a:p>
          <a:p>
            <a:pPr lvl="2"/>
            <a:r>
              <a:rPr lang="en-CA" sz="1800" dirty="0"/>
              <a:t>Reorganization of non-useful synapses into useful synapses</a:t>
            </a:r>
          </a:p>
          <a:p>
            <a:pPr lvl="2"/>
            <a:endParaRPr lang="en-CA" sz="1800" dirty="0"/>
          </a:p>
          <a:p>
            <a:pPr lvl="1"/>
            <a:r>
              <a:rPr lang="en-CA" sz="2000" b="1" dirty="0"/>
              <a:t>Glial Plasticity</a:t>
            </a:r>
            <a:r>
              <a:rPr lang="en-CA" sz="2000" dirty="0"/>
              <a:t>: Changes in the number and function of glial cells</a:t>
            </a:r>
          </a:p>
          <a:p>
            <a:pPr lvl="1"/>
            <a:endParaRPr lang="en-CA" sz="2000" dirty="0"/>
          </a:p>
          <a:p>
            <a:pPr lvl="1"/>
            <a:r>
              <a:rPr lang="en-CA" sz="2000" b="1" dirty="0"/>
              <a:t>Adult Neurogenesis</a:t>
            </a:r>
            <a:r>
              <a:rPr lang="en-CA" sz="2000" dirty="0"/>
              <a:t>: Formation of new neurons and connections</a:t>
            </a:r>
          </a:p>
          <a:p>
            <a:pPr lvl="2"/>
            <a:endParaRPr lang="en-CA" dirty="0"/>
          </a:p>
          <a:p>
            <a:pPr lvl="2"/>
            <a:endParaRPr lang="en-CA" dirty="0"/>
          </a:p>
        </p:txBody>
      </p:sp>
    </p:spTree>
    <p:extLst>
      <p:ext uri="{BB962C8B-B14F-4D97-AF65-F5344CB8AC3E}">
        <p14:creationId xmlns:p14="http://schemas.microsoft.com/office/powerpoint/2010/main" val="12204808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53D92-1223-27FB-F6DB-89E5E59344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52DF93-7FBC-8F09-7677-2BBCED34EEC1}"/>
              </a:ext>
            </a:extLst>
          </p:cNvPr>
          <p:cNvSpPr>
            <a:spLocks noGrp="1"/>
          </p:cNvSpPr>
          <p:nvPr>
            <p:ph type="title"/>
          </p:nvPr>
        </p:nvSpPr>
        <p:spPr/>
        <p:txBody>
          <a:bodyPr/>
          <a:lstStyle/>
          <a:p>
            <a:r>
              <a:rPr lang="en-US" dirty="0"/>
              <a:t>Memory Storage</a:t>
            </a:r>
            <a:endParaRPr lang="en-CA" dirty="0"/>
          </a:p>
        </p:txBody>
      </p:sp>
      <p:sp>
        <p:nvSpPr>
          <p:cNvPr id="3" name="Content Placeholder 2">
            <a:extLst>
              <a:ext uri="{FF2B5EF4-FFF2-40B4-BE49-F238E27FC236}">
                <a16:creationId xmlns:a16="http://schemas.microsoft.com/office/drawing/2014/main" id="{009DD9F9-D5CC-55AC-F8F9-AA02D283D2EA}"/>
              </a:ext>
            </a:extLst>
          </p:cNvPr>
          <p:cNvSpPr>
            <a:spLocks noGrp="1"/>
          </p:cNvSpPr>
          <p:nvPr>
            <p:ph idx="1"/>
          </p:nvPr>
        </p:nvSpPr>
        <p:spPr>
          <a:xfrm>
            <a:off x="838199" y="1825624"/>
            <a:ext cx="7113343" cy="4809351"/>
          </a:xfrm>
        </p:spPr>
        <p:txBody>
          <a:bodyPr>
            <a:normAutofit/>
          </a:bodyPr>
          <a:lstStyle/>
          <a:p>
            <a:pPr marL="0" indent="0">
              <a:buNone/>
            </a:pPr>
            <a:r>
              <a:rPr lang="en-US" b="1" dirty="0"/>
              <a:t>Long-Term Potentiation Mechanisms</a:t>
            </a:r>
            <a:endParaRPr lang="en-CA" dirty="0"/>
          </a:p>
          <a:p>
            <a:r>
              <a:rPr lang="en-US" dirty="0"/>
              <a:t>Interaction of </a:t>
            </a:r>
            <a:r>
              <a:rPr lang="en-US" b="1" dirty="0"/>
              <a:t>Glutamate</a:t>
            </a:r>
            <a:r>
              <a:rPr lang="en-US" dirty="0"/>
              <a:t>, </a:t>
            </a:r>
            <a:r>
              <a:rPr lang="en-US" b="1" dirty="0"/>
              <a:t>NMDA,</a:t>
            </a:r>
            <a:r>
              <a:rPr lang="en-US" dirty="0"/>
              <a:t> and </a:t>
            </a:r>
            <a:r>
              <a:rPr lang="en-US" b="1" dirty="0"/>
              <a:t>AMPA</a:t>
            </a:r>
          </a:p>
          <a:p>
            <a:pPr lvl="1"/>
            <a:r>
              <a:rPr lang="en-US" b="1" dirty="0"/>
              <a:t>Glutamate: </a:t>
            </a:r>
            <a:r>
              <a:rPr lang="en-US" dirty="0"/>
              <a:t>Excitatory neurotransmitter</a:t>
            </a:r>
          </a:p>
          <a:p>
            <a:pPr lvl="1"/>
            <a:r>
              <a:rPr lang="en-US" b="1" dirty="0"/>
              <a:t>AMPA Receptor: </a:t>
            </a:r>
            <a:r>
              <a:rPr lang="en-US" dirty="0"/>
              <a:t>Glutamate receptor that allows Na</a:t>
            </a:r>
            <a:r>
              <a:rPr lang="en-US" baseline="30000" dirty="0"/>
              <a:t>+</a:t>
            </a:r>
            <a:endParaRPr lang="en-CA" dirty="0"/>
          </a:p>
          <a:p>
            <a:pPr lvl="1"/>
            <a:r>
              <a:rPr lang="en-US" b="1" dirty="0"/>
              <a:t>NMDA Receptor: </a:t>
            </a:r>
            <a:r>
              <a:rPr lang="en-US" dirty="0"/>
              <a:t>Glutamate receptor that allows Ca</a:t>
            </a:r>
            <a:r>
              <a:rPr lang="en-US" baseline="30000" dirty="0"/>
              <a:t>2+</a:t>
            </a:r>
            <a:r>
              <a:rPr lang="en-US" dirty="0"/>
              <a:t> </a:t>
            </a:r>
          </a:p>
          <a:p>
            <a:pPr lvl="2"/>
            <a:endParaRPr lang="en-CA" dirty="0"/>
          </a:p>
        </p:txBody>
      </p:sp>
      <p:pic>
        <p:nvPicPr>
          <p:cNvPr id="7" name="Picture 6">
            <a:extLst>
              <a:ext uri="{FF2B5EF4-FFF2-40B4-BE49-F238E27FC236}">
                <a16:creationId xmlns:a16="http://schemas.microsoft.com/office/drawing/2014/main" id="{C1892FFC-CC4B-95A4-4A29-D729556F2E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64268" y="1690688"/>
            <a:ext cx="3624243" cy="4391025"/>
          </a:xfrm>
          <a:prstGeom prst="rect">
            <a:avLst/>
          </a:prstGeom>
        </p:spPr>
      </p:pic>
    </p:spTree>
    <p:extLst>
      <p:ext uri="{BB962C8B-B14F-4D97-AF65-F5344CB8AC3E}">
        <p14:creationId xmlns:p14="http://schemas.microsoft.com/office/powerpoint/2010/main" val="12702747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B082D2-319A-310A-4DD6-8EEB2C8807B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03FEF30-EDE7-5347-4595-527F6EDC334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64268" y="1690688"/>
            <a:ext cx="3624243" cy="4391025"/>
          </a:xfrm>
          <a:prstGeom prst="rect">
            <a:avLst/>
          </a:prstGeom>
        </p:spPr>
      </p:pic>
      <p:sp>
        <p:nvSpPr>
          <p:cNvPr id="2" name="Title 1">
            <a:extLst>
              <a:ext uri="{FF2B5EF4-FFF2-40B4-BE49-F238E27FC236}">
                <a16:creationId xmlns:a16="http://schemas.microsoft.com/office/drawing/2014/main" id="{31F8AB6A-1F80-1CC5-355B-10D580B117A2}"/>
              </a:ext>
            </a:extLst>
          </p:cNvPr>
          <p:cNvSpPr>
            <a:spLocks noGrp="1"/>
          </p:cNvSpPr>
          <p:nvPr>
            <p:ph type="title"/>
          </p:nvPr>
        </p:nvSpPr>
        <p:spPr/>
        <p:txBody>
          <a:bodyPr/>
          <a:lstStyle/>
          <a:p>
            <a:r>
              <a:rPr lang="en-US" dirty="0"/>
              <a:t>Memory Storage</a:t>
            </a:r>
            <a:endParaRPr lang="en-CA" dirty="0"/>
          </a:p>
        </p:txBody>
      </p:sp>
      <p:sp>
        <p:nvSpPr>
          <p:cNvPr id="3" name="Content Placeholder 2">
            <a:extLst>
              <a:ext uri="{FF2B5EF4-FFF2-40B4-BE49-F238E27FC236}">
                <a16:creationId xmlns:a16="http://schemas.microsoft.com/office/drawing/2014/main" id="{FCBB8C85-D3BF-1AC5-EAC2-38D33B52B93B}"/>
              </a:ext>
            </a:extLst>
          </p:cNvPr>
          <p:cNvSpPr>
            <a:spLocks noGrp="1"/>
          </p:cNvSpPr>
          <p:nvPr>
            <p:ph idx="1"/>
          </p:nvPr>
        </p:nvSpPr>
        <p:spPr>
          <a:xfrm>
            <a:off x="838199" y="1825624"/>
            <a:ext cx="7946571" cy="4809351"/>
          </a:xfrm>
        </p:spPr>
        <p:txBody>
          <a:bodyPr>
            <a:normAutofit lnSpcReduction="10000"/>
          </a:bodyPr>
          <a:lstStyle/>
          <a:p>
            <a:pPr marL="0" indent="0">
              <a:buNone/>
            </a:pPr>
            <a:r>
              <a:rPr lang="en-US" b="1" dirty="0"/>
              <a:t>Long-Term Potentiation Mechanisms</a:t>
            </a:r>
            <a:endParaRPr lang="en-CA" dirty="0"/>
          </a:p>
          <a:p>
            <a:r>
              <a:rPr lang="en-US" dirty="0"/>
              <a:t>Interaction of </a:t>
            </a:r>
            <a:r>
              <a:rPr lang="en-US" b="1" dirty="0"/>
              <a:t>Glutamate</a:t>
            </a:r>
            <a:r>
              <a:rPr lang="en-US" dirty="0"/>
              <a:t>, </a:t>
            </a:r>
            <a:r>
              <a:rPr lang="en-US" b="1" dirty="0"/>
              <a:t>NMDA,</a:t>
            </a:r>
            <a:r>
              <a:rPr lang="en-US" dirty="0"/>
              <a:t> and </a:t>
            </a:r>
            <a:r>
              <a:rPr lang="en-US" b="1" dirty="0"/>
              <a:t>AMPA</a:t>
            </a:r>
          </a:p>
          <a:p>
            <a:pPr lvl="1"/>
            <a:r>
              <a:rPr lang="en-US" b="1" dirty="0"/>
              <a:t>Low-Levels of Communication: </a:t>
            </a:r>
          </a:p>
          <a:p>
            <a:pPr lvl="2"/>
            <a:r>
              <a:rPr lang="en-US" dirty="0"/>
              <a:t>Glutamate activates AMPA receptors (influx of Na</a:t>
            </a:r>
            <a:r>
              <a:rPr lang="en-US" baseline="30000" dirty="0"/>
              <a:t>+</a:t>
            </a:r>
            <a:r>
              <a:rPr lang="en-US" dirty="0"/>
              <a:t>)</a:t>
            </a:r>
          </a:p>
          <a:p>
            <a:pPr lvl="2"/>
            <a:r>
              <a:rPr lang="en-US" dirty="0"/>
              <a:t>NMDA receptors blocked by magnesium ions (Mg</a:t>
            </a:r>
            <a:r>
              <a:rPr lang="en-US" baseline="30000" dirty="0"/>
              <a:t>2+</a:t>
            </a:r>
            <a:r>
              <a:rPr lang="en-US" dirty="0"/>
              <a:t>)</a:t>
            </a:r>
          </a:p>
          <a:p>
            <a:pPr lvl="2"/>
            <a:endParaRPr lang="en-US" dirty="0"/>
          </a:p>
          <a:p>
            <a:pPr lvl="1"/>
            <a:r>
              <a:rPr lang="en-US" b="1" dirty="0"/>
              <a:t>High-Levels of Communication:</a:t>
            </a:r>
          </a:p>
          <a:p>
            <a:pPr lvl="2"/>
            <a:r>
              <a:rPr lang="en-US" dirty="0"/>
              <a:t>Increased activation of AMPA receptors (influx of Na</a:t>
            </a:r>
            <a:r>
              <a:rPr lang="en-US" baseline="30000" dirty="0"/>
              <a:t>+</a:t>
            </a:r>
            <a:r>
              <a:rPr lang="en-US" dirty="0"/>
              <a:t>)</a:t>
            </a:r>
          </a:p>
          <a:p>
            <a:pPr lvl="2"/>
            <a:r>
              <a:rPr lang="en-US" dirty="0"/>
              <a:t>If depolarization from AMPA reaches -35 mV, Mg</a:t>
            </a:r>
            <a:r>
              <a:rPr lang="en-US" baseline="30000" dirty="0"/>
              <a:t>2+</a:t>
            </a:r>
            <a:r>
              <a:rPr lang="en-US" dirty="0"/>
              <a:t> released from NMDA receptors</a:t>
            </a:r>
          </a:p>
          <a:p>
            <a:pPr lvl="2"/>
            <a:r>
              <a:rPr lang="en-US" dirty="0"/>
              <a:t>Glutamate activates NMDA (influx of Ca</a:t>
            </a:r>
            <a:r>
              <a:rPr lang="en-US" baseline="30000" dirty="0"/>
              <a:t>2+</a:t>
            </a:r>
            <a:r>
              <a:rPr lang="en-US" dirty="0"/>
              <a:t>)</a:t>
            </a:r>
          </a:p>
          <a:p>
            <a:pPr lvl="3"/>
            <a:r>
              <a:rPr lang="en-US" dirty="0"/>
              <a:t>Increases number of AMPA receptors and ionic sensitivity</a:t>
            </a:r>
          </a:p>
          <a:p>
            <a:pPr lvl="3"/>
            <a:r>
              <a:rPr lang="en-US" dirty="0"/>
              <a:t>Retrograde messenger (diffusible gas) travels back to presynaptic cell to increase glutamate release</a:t>
            </a:r>
          </a:p>
        </p:txBody>
      </p:sp>
    </p:spTree>
    <p:extLst>
      <p:ext uri="{BB962C8B-B14F-4D97-AF65-F5344CB8AC3E}">
        <p14:creationId xmlns:p14="http://schemas.microsoft.com/office/powerpoint/2010/main" val="36423035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CEB7BA-984C-A23A-F0E3-8A38E79EB59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ADD9E7E-D521-A453-8A6C-3E82D86544E3}"/>
              </a:ext>
            </a:extLst>
          </p:cNvPr>
          <p:cNvPicPr>
            <a:picLocks noChangeAspect="1"/>
          </p:cNvPicPr>
          <p:nvPr/>
        </p:nvPicPr>
        <p:blipFill>
          <a:blip r:embed="rId2">
            <a:extLst>
              <a:ext uri="{28A0092B-C50C-407E-A947-70E740481C1C}">
                <a14:useLocalDpi xmlns:a14="http://schemas.microsoft.com/office/drawing/2010/main" val="0"/>
              </a:ext>
            </a:extLst>
          </a:blip>
          <a:srcRect b="50771"/>
          <a:stretch>
            <a:fillRect/>
          </a:stretch>
        </p:blipFill>
        <p:spPr>
          <a:xfrm>
            <a:off x="0" y="2255839"/>
            <a:ext cx="6204232" cy="3700462"/>
          </a:xfrm>
          <a:prstGeom prst="rect">
            <a:avLst/>
          </a:prstGeom>
        </p:spPr>
      </p:pic>
      <p:sp>
        <p:nvSpPr>
          <p:cNvPr id="2" name="Title 1">
            <a:extLst>
              <a:ext uri="{FF2B5EF4-FFF2-40B4-BE49-F238E27FC236}">
                <a16:creationId xmlns:a16="http://schemas.microsoft.com/office/drawing/2014/main" id="{63F45801-CBD7-6422-5DA0-49CC3606BAAC}"/>
              </a:ext>
            </a:extLst>
          </p:cNvPr>
          <p:cNvSpPr>
            <a:spLocks noGrp="1"/>
          </p:cNvSpPr>
          <p:nvPr>
            <p:ph type="title"/>
          </p:nvPr>
        </p:nvSpPr>
        <p:spPr/>
        <p:txBody>
          <a:bodyPr/>
          <a:lstStyle/>
          <a:p>
            <a:r>
              <a:rPr lang="en-US" dirty="0"/>
              <a:t>Memory Storage</a:t>
            </a:r>
            <a:endParaRPr lang="en-CA" dirty="0"/>
          </a:p>
        </p:txBody>
      </p:sp>
      <p:pic>
        <p:nvPicPr>
          <p:cNvPr id="7" name="Picture 6">
            <a:extLst>
              <a:ext uri="{FF2B5EF4-FFF2-40B4-BE49-F238E27FC236}">
                <a16:creationId xmlns:a16="http://schemas.microsoft.com/office/drawing/2014/main" id="{76C1E295-4671-5F24-59BF-F363DDB82916}"/>
              </a:ext>
            </a:extLst>
          </p:cNvPr>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t="53896" b="-3125"/>
          <a:stretch>
            <a:fillRect/>
          </a:stretch>
        </p:blipFill>
        <p:spPr>
          <a:xfrm>
            <a:off x="5886732" y="2205039"/>
            <a:ext cx="6204232" cy="3700462"/>
          </a:xfrm>
          <a:prstGeom prst="rect">
            <a:avLst/>
          </a:prstGeom>
        </p:spPr>
      </p:pic>
    </p:spTree>
    <p:extLst>
      <p:ext uri="{BB962C8B-B14F-4D97-AF65-F5344CB8AC3E}">
        <p14:creationId xmlns:p14="http://schemas.microsoft.com/office/powerpoint/2010/main" val="267892724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20366-9025-0148-853D-FCB5AC703B46}"/>
              </a:ext>
            </a:extLst>
          </p:cNvPr>
          <p:cNvSpPr>
            <a:spLocks noGrp="1"/>
          </p:cNvSpPr>
          <p:nvPr>
            <p:ph type="title"/>
          </p:nvPr>
        </p:nvSpPr>
        <p:spPr/>
        <p:txBody>
          <a:bodyPr/>
          <a:lstStyle/>
          <a:p>
            <a:r>
              <a:rPr lang="en-US" dirty="0"/>
              <a:t>Memory Storage</a:t>
            </a:r>
            <a:endParaRPr lang="en-CA" dirty="0"/>
          </a:p>
        </p:txBody>
      </p:sp>
      <p:sp>
        <p:nvSpPr>
          <p:cNvPr id="3" name="Content Placeholder 2">
            <a:extLst>
              <a:ext uri="{FF2B5EF4-FFF2-40B4-BE49-F238E27FC236}">
                <a16:creationId xmlns:a16="http://schemas.microsoft.com/office/drawing/2014/main" id="{FB785B2D-69AC-6148-93AE-58E6268EB27A}"/>
              </a:ext>
            </a:extLst>
          </p:cNvPr>
          <p:cNvSpPr>
            <a:spLocks noGrp="1"/>
          </p:cNvSpPr>
          <p:nvPr>
            <p:ph idx="1"/>
          </p:nvPr>
        </p:nvSpPr>
        <p:spPr>
          <a:xfrm>
            <a:off x="838200" y="1825624"/>
            <a:ext cx="7366000" cy="5032375"/>
          </a:xfrm>
        </p:spPr>
        <p:txBody>
          <a:bodyPr>
            <a:normAutofit fontScale="92500" lnSpcReduction="20000"/>
          </a:bodyPr>
          <a:lstStyle/>
          <a:p>
            <a:pPr marL="0" indent="0">
              <a:buNone/>
            </a:pPr>
            <a:r>
              <a:rPr lang="en-CA" b="1" dirty="0"/>
              <a:t>Wheeler et al. (2000)</a:t>
            </a:r>
            <a:endParaRPr lang="en-CA" dirty="0"/>
          </a:p>
          <a:p>
            <a:r>
              <a:rPr lang="en-CA" b="1" dirty="0"/>
              <a:t>Research Question: </a:t>
            </a:r>
            <a:r>
              <a:rPr lang="en-CA" dirty="0"/>
              <a:t>Where are memories stored?</a:t>
            </a:r>
          </a:p>
          <a:p>
            <a:endParaRPr lang="en-CA" dirty="0"/>
          </a:p>
          <a:p>
            <a:r>
              <a:rPr lang="en-CA" b="1" dirty="0"/>
              <a:t>Task: </a:t>
            </a:r>
            <a:r>
              <a:rPr lang="en-CA" dirty="0"/>
              <a:t>Participants learned a set of sounds or pictures, each with a written label of the item (e.g., bell). Participants were then given perceptual and memory tests with fMRI</a:t>
            </a:r>
          </a:p>
          <a:p>
            <a:endParaRPr lang="en-CA" dirty="0"/>
          </a:p>
          <a:p>
            <a:r>
              <a:rPr lang="en-CA" b="1" dirty="0"/>
              <a:t>Manipulation</a:t>
            </a:r>
            <a:r>
              <a:rPr lang="en-CA" dirty="0"/>
              <a:t>:</a:t>
            </a:r>
          </a:p>
          <a:p>
            <a:pPr lvl="1"/>
            <a:r>
              <a:rPr lang="en-CA" b="1" dirty="0"/>
              <a:t>Perceptual Test: </a:t>
            </a:r>
            <a:r>
              <a:rPr lang="en-CA" dirty="0"/>
              <a:t>Items once again presented as just described</a:t>
            </a:r>
          </a:p>
          <a:p>
            <a:pPr lvl="1"/>
            <a:r>
              <a:rPr lang="en-CA" b="1" dirty="0"/>
              <a:t>Memory Retrieval Test: </a:t>
            </a:r>
            <a:r>
              <a:rPr lang="en-CA" dirty="0"/>
              <a:t>The written label was presented and participants were to indicate whether the item was associated with a sound or a picture</a:t>
            </a:r>
          </a:p>
          <a:p>
            <a:pPr lvl="2"/>
            <a:endParaRPr lang="en-CA" dirty="0"/>
          </a:p>
        </p:txBody>
      </p:sp>
      <p:pic>
        <p:nvPicPr>
          <p:cNvPr id="4" name="Picture 2" descr="A set of six illustrations show reactivation of modality-specifi c cortex during long-term memory retrieval.&#10;(a) Areas activated by the viewing of pictures (top two panels) and the hearing of sounds (bottom panel). (b) Areas activated during the retrieval of pictures (top two panels) or sounds (bottom panel) from memory. Arrows indicate regions of overlap between memory and perceptual activations. The right hemisphere of the brain is on the right of each image.">
            <a:extLst>
              <a:ext uri="{FF2B5EF4-FFF2-40B4-BE49-F238E27FC236}">
                <a16:creationId xmlns:a16="http://schemas.microsoft.com/office/drawing/2014/main" id="{016237F1-6D7E-F948-A5DA-55126F549C7B}"/>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8919265" y="603250"/>
            <a:ext cx="2921000" cy="6254750"/>
          </a:xfrm>
          <a:prstGeom prst="rect">
            <a:avLst/>
          </a:prstGeom>
          <a:noFill/>
          <a:ln>
            <a:no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50110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20366-9025-0148-853D-FCB5AC703B46}"/>
              </a:ext>
            </a:extLst>
          </p:cNvPr>
          <p:cNvSpPr>
            <a:spLocks noGrp="1"/>
          </p:cNvSpPr>
          <p:nvPr>
            <p:ph type="title"/>
          </p:nvPr>
        </p:nvSpPr>
        <p:spPr/>
        <p:txBody>
          <a:bodyPr/>
          <a:lstStyle/>
          <a:p>
            <a:r>
              <a:rPr lang="en-US" dirty="0"/>
              <a:t>Memory Storage</a:t>
            </a:r>
            <a:endParaRPr lang="en-CA" dirty="0"/>
          </a:p>
        </p:txBody>
      </p:sp>
      <p:sp>
        <p:nvSpPr>
          <p:cNvPr id="3" name="Content Placeholder 2">
            <a:extLst>
              <a:ext uri="{FF2B5EF4-FFF2-40B4-BE49-F238E27FC236}">
                <a16:creationId xmlns:a16="http://schemas.microsoft.com/office/drawing/2014/main" id="{FB785B2D-69AC-6148-93AE-58E6268EB27A}"/>
              </a:ext>
            </a:extLst>
          </p:cNvPr>
          <p:cNvSpPr>
            <a:spLocks noGrp="1"/>
          </p:cNvSpPr>
          <p:nvPr>
            <p:ph idx="1"/>
          </p:nvPr>
        </p:nvSpPr>
        <p:spPr>
          <a:xfrm>
            <a:off x="838199" y="1825624"/>
            <a:ext cx="7878417" cy="4923045"/>
          </a:xfrm>
        </p:spPr>
        <p:txBody>
          <a:bodyPr>
            <a:normAutofit/>
          </a:bodyPr>
          <a:lstStyle/>
          <a:p>
            <a:pPr marL="0" indent="0">
              <a:buNone/>
            </a:pPr>
            <a:r>
              <a:rPr lang="en-CA" b="1" dirty="0"/>
              <a:t>Wheeler et al. (2000)</a:t>
            </a:r>
            <a:endParaRPr lang="en-CA" dirty="0"/>
          </a:p>
          <a:p>
            <a:r>
              <a:rPr lang="en-CA" b="1" dirty="0"/>
              <a:t>Results: </a:t>
            </a:r>
            <a:r>
              <a:rPr lang="en-CA" dirty="0"/>
              <a:t>Association (secondary) cortices specific to respective modality re-activated in subsets of the regions activated during perception</a:t>
            </a:r>
          </a:p>
          <a:p>
            <a:pPr lvl="1"/>
            <a:endParaRPr lang="en-CA" dirty="0"/>
          </a:p>
          <a:p>
            <a:r>
              <a:rPr lang="en-CA" b="1" dirty="0"/>
              <a:t>Conclusion: </a:t>
            </a:r>
            <a:r>
              <a:rPr lang="en-CA" dirty="0"/>
              <a:t>Memory is stored and retrieved by reactivating perceptual networks</a:t>
            </a:r>
          </a:p>
        </p:txBody>
      </p:sp>
      <p:pic>
        <p:nvPicPr>
          <p:cNvPr id="4" name="Picture 2" descr="A set of six illustrations show reactivation of modality-specifi c cortex during long-term memory retrieval.&#10;(a) Areas activated by the viewing of pictures (top two panels) and the hearing of sounds (bottom panel). (b) Areas activated during the retrieval of pictures (top two panels) or sounds (bottom panel) from memory. Arrows indicate regions of overlap between memory and perceptual activations. The right hemisphere of the brain is on the right of each image.">
            <a:extLst>
              <a:ext uri="{FF2B5EF4-FFF2-40B4-BE49-F238E27FC236}">
                <a16:creationId xmlns:a16="http://schemas.microsoft.com/office/drawing/2014/main" id="{016237F1-6D7E-F948-A5DA-55126F549C7B}"/>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8919265" y="603250"/>
            <a:ext cx="2921000" cy="6254750"/>
          </a:xfrm>
          <a:prstGeom prst="rect">
            <a:avLst/>
          </a:prstGeom>
          <a:noFill/>
          <a:ln>
            <a:no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4805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4076176F-5A0E-0080-99AE-1BF8FD57412B}"/>
              </a:ext>
            </a:extLst>
          </p:cNvPr>
          <p:cNvPicPr>
            <a:picLocks noChangeAspect="1"/>
          </p:cNvPicPr>
          <p:nvPr/>
        </p:nvPicPr>
        <p:blipFill>
          <a:blip r:embed="rId3">
            <a:extLst>
              <a:ext uri="{28A0092B-C50C-407E-A947-70E740481C1C}">
                <a14:useLocalDpi xmlns:a14="http://schemas.microsoft.com/office/drawing/2010/main" val="0"/>
              </a:ext>
            </a:extLst>
          </a:blip>
          <a:srcRect l="17534"/>
          <a:stretch>
            <a:fillRect/>
          </a:stretch>
        </p:blipFill>
        <p:spPr>
          <a:xfrm>
            <a:off x="7737231" y="0"/>
            <a:ext cx="4454769" cy="6858000"/>
          </a:xfrm>
          <a:prstGeom prst="rect">
            <a:avLst/>
          </a:prstGeom>
        </p:spPr>
      </p:pic>
      <p:sp>
        <p:nvSpPr>
          <p:cNvPr id="2" name="Title 1">
            <a:extLst>
              <a:ext uri="{FF2B5EF4-FFF2-40B4-BE49-F238E27FC236}">
                <a16:creationId xmlns:a16="http://schemas.microsoft.com/office/drawing/2014/main" id="{BA416ADD-E773-4270-74A4-6EEDDBBC93B6}"/>
              </a:ext>
            </a:extLst>
          </p:cNvPr>
          <p:cNvSpPr>
            <a:spLocks noGrp="1"/>
          </p:cNvSpPr>
          <p:nvPr>
            <p:ph type="title"/>
          </p:nvPr>
        </p:nvSpPr>
        <p:spPr/>
        <p:txBody>
          <a:bodyPr/>
          <a:lstStyle/>
          <a:p>
            <a:r>
              <a:rPr lang="en-US" dirty="0"/>
              <a:t>Testable Figures</a:t>
            </a:r>
          </a:p>
        </p:txBody>
      </p:sp>
      <p:sp>
        <p:nvSpPr>
          <p:cNvPr id="3" name="TextBox 2">
            <a:extLst>
              <a:ext uri="{FF2B5EF4-FFF2-40B4-BE49-F238E27FC236}">
                <a16:creationId xmlns:a16="http://schemas.microsoft.com/office/drawing/2014/main" id="{83BD16DB-37E6-F1F5-7348-E2153B7BC2FD}"/>
              </a:ext>
            </a:extLst>
          </p:cNvPr>
          <p:cNvSpPr txBox="1"/>
          <p:nvPr/>
        </p:nvSpPr>
        <p:spPr>
          <a:xfrm>
            <a:off x="0" y="6492875"/>
            <a:ext cx="7212103" cy="369332"/>
          </a:xfrm>
          <a:prstGeom prst="rect">
            <a:avLst/>
          </a:prstGeom>
          <a:noFill/>
        </p:spPr>
        <p:txBody>
          <a:bodyPr wrap="none" rtlCol="0">
            <a:spAutoFit/>
          </a:bodyPr>
          <a:lstStyle/>
          <a:p>
            <a:r>
              <a:rPr lang="en-US" i="1" dirty="0"/>
              <a:t>All figures corresponding to the results of a study are testable material. </a:t>
            </a:r>
          </a:p>
        </p:txBody>
      </p:sp>
      <p:sp>
        <p:nvSpPr>
          <p:cNvPr id="5" name="Content Placeholder 2">
            <a:extLst>
              <a:ext uri="{FF2B5EF4-FFF2-40B4-BE49-F238E27FC236}">
                <a16:creationId xmlns:a16="http://schemas.microsoft.com/office/drawing/2014/main" id="{67F61BB8-1FC1-AFE2-DABD-CEF63125C9FB}"/>
              </a:ext>
            </a:extLst>
          </p:cNvPr>
          <p:cNvSpPr>
            <a:spLocks noGrp="1"/>
          </p:cNvSpPr>
          <p:nvPr>
            <p:ph idx="1"/>
          </p:nvPr>
        </p:nvSpPr>
        <p:spPr>
          <a:xfrm>
            <a:off x="838200" y="1825625"/>
            <a:ext cx="10515600" cy="4351338"/>
          </a:xfrm>
        </p:spPr>
        <p:txBody>
          <a:bodyPr/>
          <a:lstStyle/>
          <a:p>
            <a:pPr marL="0" indent="0">
              <a:buNone/>
            </a:pPr>
            <a:r>
              <a:rPr lang="en-US" dirty="0"/>
              <a:t>Slide 8</a:t>
            </a:r>
          </a:p>
          <a:p>
            <a:pPr marL="0" indent="0">
              <a:buNone/>
            </a:pPr>
            <a:r>
              <a:rPr lang="en-US" dirty="0"/>
              <a:t>Slide 20</a:t>
            </a:r>
          </a:p>
          <a:p>
            <a:pPr marL="0" indent="0">
              <a:buNone/>
            </a:pPr>
            <a:r>
              <a:rPr lang="en-US" dirty="0"/>
              <a:t>Slide 35</a:t>
            </a:r>
          </a:p>
          <a:p>
            <a:pPr marL="0" indent="0">
              <a:buNone/>
            </a:pPr>
            <a:endParaRPr lang="en-US" dirty="0"/>
          </a:p>
        </p:txBody>
      </p:sp>
    </p:spTree>
    <p:extLst>
      <p:ext uri="{BB962C8B-B14F-4D97-AF65-F5344CB8AC3E}">
        <p14:creationId xmlns:p14="http://schemas.microsoft.com/office/powerpoint/2010/main" val="14464899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9c61d377-9894-427c-b13b-1d6a51662b4e}" enabled="0" method="" siteId="{9c61d377-9894-427c-b13b-1d6a51662b4e}" removed="1"/>
</clbl:labelList>
</file>

<file path=docProps/app.xml><?xml version="1.0" encoding="utf-8"?>
<Properties xmlns="http://schemas.openxmlformats.org/officeDocument/2006/extended-properties" xmlns:vt="http://schemas.openxmlformats.org/officeDocument/2006/docPropsVTypes">
  <TotalTime>9055</TotalTime>
  <Words>1899</Words>
  <Application>Microsoft Office PowerPoint</Application>
  <PresentationFormat>Widescreen</PresentationFormat>
  <Paragraphs>320</Paragraphs>
  <Slides>38</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38</vt:i4>
      </vt:variant>
    </vt:vector>
  </HeadingPairs>
  <TitlesOfParts>
    <vt:vector size="43" baseType="lpstr">
      <vt:lpstr>Aptos</vt:lpstr>
      <vt:lpstr>Aptos Display</vt:lpstr>
      <vt:lpstr>Arial</vt:lpstr>
      <vt:lpstr>Calibri</vt:lpstr>
      <vt:lpstr>Office Theme</vt:lpstr>
      <vt:lpstr>Learning &amp;  Memory</vt:lpstr>
      <vt:lpstr>PowerPoint Presentation</vt:lpstr>
      <vt:lpstr>PowerPoint Presentation</vt:lpstr>
      <vt:lpstr>Learning and Memory</vt:lpstr>
      <vt:lpstr>Learning</vt:lpstr>
      <vt:lpstr>Learning</vt:lpstr>
      <vt:lpstr>Learning</vt:lpstr>
      <vt:lpstr>Learning</vt:lpstr>
      <vt:lpstr>Learning</vt:lpstr>
      <vt:lpstr>Learning</vt:lpstr>
      <vt:lpstr>Learning</vt:lpstr>
      <vt:lpstr>Learning</vt:lpstr>
      <vt:lpstr>Learning</vt:lpstr>
      <vt:lpstr>Learning</vt:lpstr>
      <vt:lpstr>Learning</vt:lpstr>
      <vt:lpstr>Learning</vt:lpstr>
      <vt:lpstr>PowerPoint Presentation</vt:lpstr>
      <vt:lpstr>Working Memory</vt:lpstr>
      <vt:lpstr>Working Memory</vt:lpstr>
      <vt:lpstr>Working Memory</vt:lpstr>
      <vt:lpstr>Working Memory</vt:lpstr>
      <vt:lpstr>PowerPoint Presentation</vt:lpstr>
      <vt:lpstr>Long-Term Memory</vt:lpstr>
      <vt:lpstr>Long-Term Memory</vt:lpstr>
      <vt:lpstr>Long-Term Memory</vt:lpstr>
      <vt:lpstr>Long-Term Memory</vt:lpstr>
      <vt:lpstr>Long-Term Memory</vt:lpstr>
      <vt:lpstr>Long-Term Memory</vt:lpstr>
      <vt:lpstr>Long-Term Memory</vt:lpstr>
      <vt:lpstr>Long-Term Memory</vt:lpstr>
      <vt:lpstr>PowerPoint Presentation</vt:lpstr>
      <vt:lpstr>Memory Storage</vt:lpstr>
      <vt:lpstr>Memory Storage</vt:lpstr>
      <vt:lpstr>Memory Storage</vt:lpstr>
      <vt:lpstr>Memory Storage</vt:lpstr>
      <vt:lpstr>Memory Storage</vt:lpstr>
      <vt:lpstr>Memory Storage</vt:lpstr>
      <vt:lpstr>Testable Figures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Chad Williams</dc:creator>
  <cp:lastModifiedBy>Chad Williams</cp:lastModifiedBy>
  <cp:revision>2</cp:revision>
  <dcterms:created xsi:type="dcterms:W3CDTF">2025-08-11T14:51:42Z</dcterms:created>
  <dcterms:modified xsi:type="dcterms:W3CDTF">2026-08-18T18:24:13Z</dcterms:modified>
</cp:coreProperties>
</file>