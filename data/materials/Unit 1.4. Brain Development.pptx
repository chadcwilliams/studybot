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80" r:id="rId3"/>
    <p:sldId id="310" r:id="rId4"/>
    <p:sldId id="367" r:id="rId5"/>
    <p:sldId id="369" r:id="rId6"/>
    <p:sldId id="362" r:id="rId7"/>
    <p:sldId id="363" r:id="rId8"/>
    <p:sldId id="285" r:id="rId9"/>
    <p:sldId id="364" r:id="rId10"/>
    <p:sldId id="365" r:id="rId11"/>
    <p:sldId id="366" r:id="rId12"/>
    <p:sldId id="370" r:id="rId13"/>
    <p:sldId id="284" r:id="rId14"/>
    <p:sldId id="286" r:id="rId15"/>
    <p:sldId id="287" r:id="rId16"/>
    <p:sldId id="372" r:id="rId17"/>
    <p:sldId id="288" r:id="rId18"/>
    <p:sldId id="289" r:id="rId19"/>
    <p:sldId id="290" r:id="rId20"/>
    <p:sldId id="291" r:id="rId21"/>
    <p:sldId id="294" r:id="rId22"/>
    <p:sldId id="295" r:id="rId23"/>
    <p:sldId id="292" r:id="rId24"/>
    <p:sldId id="293" r:id="rId25"/>
    <p:sldId id="296" r:id="rId26"/>
    <p:sldId id="311" r:id="rId27"/>
    <p:sldId id="297" r:id="rId28"/>
    <p:sldId id="307" r:id="rId29"/>
    <p:sldId id="299" r:id="rId30"/>
    <p:sldId id="300" r:id="rId31"/>
    <p:sldId id="309" r:id="rId32"/>
    <p:sldId id="282" r:id="rId33"/>
    <p:sldId id="302" r:id="rId34"/>
    <p:sldId id="301" r:id="rId35"/>
    <p:sldId id="303" r:id="rId36"/>
    <p:sldId id="304" r:id="rId37"/>
    <p:sldId id="373" r:id="rId38"/>
    <p:sldId id="374" r:id="rId39"/>
    <p:sldId id="305" r:id="rId40"/>
    <p:sldId id="375" r:id="rId41"/>
    <p:sldId id="33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787C5C-42AE-4F1E-878A-D9A50B3985AF}" v="2" dt="2026-08-18T18:19:29.3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118" d="100"/>
          <a:sy n="118" d="100"/>
        </p:scale>
        <p:origin x="1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redo custSel addSld delSld modSld sldOrd">
      <pc:chgData name="Chad Williams" userId="618f96a3-8672-4e43-ae03-eeed93bb7387" providerId="ADAL" clId="{DFF2BB08-185E-495B-B2A0-BE0942C7B81E}" dt="2026-08-18T18:19:29.358" v="6516"/>
      <pc:docMkLst>
        <pc:docMk/>
      </pc:docMkLst>
      <pc:sldChg chg="modSp modAnim">
        <pc:chgData name="Chad Williams" userId="618f96a3-8672-4e43-ae03-eeed93bb7387" providerId="ADAL" clId="{DFF2BB08-185E-495B-B2A0-BE0942C7B81E}" dt="2026-08-18T18:19:21.541" v="6515"/>
        <pc:sldMkLst>
          <pc:docMk/>
          <pc:sldMk cId="2935451034" sldId="297"/>
        </pc:sldMkLst>
        <pc:spChg chg="mod">
          <ac:chgData name="Chad Williams" userId="618f96a3-8672-4e43-ae03-eeed93bb7387" providerId="ADAL" clId="{DFF2BB08-185E-495B-B2A0-BE0942C7B81E}" dt="2026-08-18T18:19:21.541" v="6515"/>
          <ac:spMkLst>
            <pc:docMk/>
            <pc:sldMk cId="2935451034" sldId="297"/>
            <ac:spMk id="3" creationId="{07383E80-5B09-E40B-89D3-64BCE035CA78}"/>
          </ac:spMkLst>
        </pc:spChg>
      </pc:sldChg>
      <pc:sldChg chg="modSp">
        <pc:chgData name="Chad Williams" userId="618f96a3-8672-4e43-ae03-eeed93bb7387" providerId="ADAL" clId="{DFF2BB08-185E-495B-B2A0-BE0942C7B81E}" dt="2026-08-18T18:19:29.358" v="6516"/>
        <pc:sldMkLst>
          <pc:docMk/>
          <pc:sldMk cId="3357358383" sldId="307"/>
        </pc:sldMkLst>
        <pc:spChg chg="mod">
          <ac:chgData name="Chad Williams" userId="618f96a3-8672-4e43-ae03-eeed93bb7387" providerId="ADAL" clId="{DFF2BB08-185E-495B-B2A0-BE0942C7B81E}" dt="2026-08-18T18:19:29.358" v="6516"/>
          <ac:spMkLst>
            <pc:docMk/>
            <pc:sldMk cId="3357358383" sldId="307"/>
            <ac:spMk id="3" creationId="{2E649C05-4EB5-CAFB-8F34-AD724DBF8EA2}"/>
          </ac:spMkLst>
        </pc:spChg>
      </pc:sldChg>
      <pc:sldChg chg="modSp add mod">
        <pc:chgData name="Chad Williams" userId="618f96a3-8672-4e43-ae03-eeed93bb7387" providerId="ADAL" clId="{DFF2BB08-185E-495B-B2A0-BE0942C7B81E}" dt="2026-07-28T21:38:10.418" v="6511" actId="20577"/>
        <pc:sldMkLst>
          <pc:docMk/>
          <pc:sldMk cId="1446489920" sldId="337"/>
        </pc:sldMkLst>
        <pc:spChg chg="mod">
          <ac:chgData name="Chad Williams" userId="618f96a3-8672-4e43-ae03-eeed93bb7387" providerId="ADAL" clId="{DFF2BB08-185E-495B-B2A0-BE0942C7B81E}" dt="2026-07-28T21:38:10.418" v="6511" actId="20577"/>
          <ac:spMkLst>
            <pc:docMk/>
            <pc:sldMk cId="1446489920" sldId="337"/>
            <ac:spMk id="5" creationId="{67F61BB8-1FC1-AFE2-DABD-CEF63125C9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58E55-DF54-4DED-9AD7-D46FCB7DC95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5B977-0B2D-4610-A9FA-D6352649F8AC}" type="slidenum">
              <a:rPr lang="en-US" smtClean="0"/>
              <a:t>‹#›</a:t>
            </a:fld>
            <a:endParaRPr lang="en-US"/>
          </a:p>
        </p:txBody>
      </p:sp>
    </p:spTree>
    <p:extLst>
      <p:ext uri="{BB962C8B-B14F-4D97-AF65-F5344CB8AC3E}">
        <p14:creationId xmlns:p14="http://schemas.microsoft.com/office/powerpoint/2010/main" val="410549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28</a:t>
            </a:fld>
            <a:endParaRPr lang="en-US"/>
          </a:p>
        </p:txBody>
      </p:sp>
    </p:spTree>
    <p:extLst>
      <p:ext uri="{BB962C8B-B14F-4D97-AF65-F5344CB8AC3E}">
        <p14:creationId xmlns:p14="http://schemas.microsoft.com/office/powerpoint/2010/main" val="1475152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29</a:t>
            </a:fld>
            <a:endParaRPr lang="en-US"/>
          </a:p>
        </p:txBody>
      </p:sp>
    </p:spTree>
    <p:extLst>
      <p:ext uri="{BB962C8B-B14F-4D97-AF65-F5344CB8AC3E}">
        <p14:creationId xmlns:p14="http://schemas.microsoft.com/office/powerpoint/2010/main" val="1397988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CC9F-153C-5BED-77D1-0EA8FA851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AFA1B-9317-E4FA-9E5F-71F307F14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BA73E4-6544-A008-5669-868A3733E124}"/>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ECEB6D09-B653-253C-7468-CB695721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3E8E0-BCE4-8E2F-3CAF-4A0155F06C56}"/>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63491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D079-863E-8E80-51B0-7CE72BACC0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03BEF-88ED-FA81-799F-132222CC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72EFB-BE09-46CC-5EB5-923F524CE21A}"/>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4826EFA9-57FE-A7B8-0152-0677077C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A541-BCB9-1489-0D4F-34671F1D1B0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0467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1885-73A8-5C98-F85B-FD93EF337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C37A30-0AAF-9C64-D450-3D3E62C2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A13C8-8130-0C7A-54B4-8B2AA151012C}"/>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3FD934BF-4EF4-090A-5327-72E3A111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C1FC7-CF5C-AD75-EEBC-C726161ED01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4678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A28B-31B8-90E0-AADB-E4AC95AD4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A5B33-9A1F-2B19-2C08-444D6F7E5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6D7EEE-51DA-00F0-2BC4-0203809C71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B6CCE-3D6C-9C92-E8CD-17CF1A156521}"/>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6" name="Footer Placeholder 5">
            <a:extLst>
              <a:ext uri="{FF2B5EF4-FFF2-40B4-BE49-F238E27FC236}">
                <a16:creationId xmlns:a16="http://schemas.microsoft.com/office/drawing/2014/main" id="{867C9986-80E1-876A-BDE4-EF8F4D69C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FCFA4-1493-0C60-41EB-5E0360F8EA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20551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F673-6B17-CAA7-EDD6-EB6A46BEC5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42013-5E11-D28F-B4C3-E07D6D43A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4C146-9506-960E-B2C6-114BA150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EBEDC7-17C2-A78A-F73C-3BFFAAC16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650B-E297-256A-06A0-1688F7254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1E005-308A-9E31-CDC4-583D302CCF90}"/>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8" name="Footer Placeholder 7">
            <a:extLst>
              <a:ext uri="{FF2B5EF4-FFF2-40B4-BE49-F238E27FC236}">
                <a16:creationId xmlns:a16="http://schemas.microsoft.com/office/drawing/2014/main" id="{4888BA9C-2513-9724-E7D8-B6AEAE22AF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60F89A-69C7-2DC4-2A67-FB0B568A64EF}"/>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3902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9B60-4ECB-D4C5-8F9C-72E834BA5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469B5F-2004-DA7B-ABF6-7D712B038AE9}"/>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4" name="Footer Placeholder 3">
            <a:extLst>
              <a:ext uri="{FF2B5EF4-FFF2-40B4-BE49-F238E27FC236}">
                <a16:creationId xmlns:a16="http://schemas.microsoft.com/office/drawing/2014/main" id="{EA00A102-A3B7-C8B1-77C9-E4C9BB985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487EC4-7497-0271-3E6A-E842B57483B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02066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70430-559B-8C59-E57F-58CA50ADF97A}"/>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3" name="Footer Placeholder 2">
            <a:extLst>
              <a:ext uri="{FF2B5EF4-FFF2-40B4-BE49-F238E27FC236}">
                <a16:creationId xmlns:a16="http://schemas.microsoft.com/office/drawing/2014/main" id="{A5199E04-CCEF-3AEF-0EB8-28DACA6714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C6E08-EFFD-76A2-23F6-9951F33CF72A}"/>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5277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80C6-0265-BCB2-D248-70F79E4FA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128-5EA3-9110-61E8-6E54054C5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DFD61-4640-6E89-117E-8033F215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AE60-E065-FA6D-E126-F6A63283DD69}"/>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6" name="Footer Placeholder 5">
            <a:extLst>
              <a:ext uri="{FF2B5EF4-FFF2-40B4-BE49-F238E27FC236}">
                <a16:creationId xmlns:a16="http://schemas.microsoft.com/office/drawing/2014/main" id="{1E7DA105-935B-CDCB-5819-3E9730FC0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2526E-01B6-82CE-B0F6-217F7B28CF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565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489F-F723-CF7F-7BF9-B198245EF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D3A86-032B-BCD7-6A72-9F5BEBC9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6F5CEA-D30D-B373-82E9-DCD1FAE80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9203E-0C3D-FD43-06CF-BFC0FE6F73A7}"/>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6" name="Footer Placeholder 5">
            <a:extLst>
              <a:ext uri="{FF2B5EF4-FFF2-40B4-BE49-F238E27FC236}">
                <a16:creationId xmlns:a16="http://schemas.microsoft.com/office/drawing/2014/main" id="{8D0392B7-3636-A5E9-BA01-ECA6E682D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85FEB-1518-7D4D-8A18-4FE72BCE5F6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96254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8754-A5FA-D976-080B-7F0E83EF7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D0E94-9358-341D-4038-E76888268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95BA3-992C-3CDB-41CD-646B7C252618}"/>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6EAEFD14-CAE1-5E67-18B9-50B714E3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5021C-74B3-CB99-976A-1F95B561168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99563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E7540-105A-F4AF-F5BE-95400982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61B68-319D-3491-F4AB-52C88C4C7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48040-C41C-A2CF-88F3-C132E0479FCB}"/>
              </a:ext>
            </a:extLst>
          </p:cNvPr>
          <p:cNvSpPr>
            <a:spLocks noGrp="1"/>
          </p:cNvSpPr>
          <p:nvPr>
            <p:ph type="dt" sz="half" idx="10"/>
          </p:nvPr>
        </p:nvSpPr>
        <p:spPr/>
        <p:txBody>
          <a:body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ADDF7DA8-1DE6-4EA3-1B7F-D800D360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BA4F0-46E8-02C8-7D5F-BE788AB8E0D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5055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EC4E-DC2D-5EE1-5C7A-4C2592957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D4BA5-8DC3-EE54-47B9-587EBF40A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1E6DD-3F7D-93DE-45F6-7A594444F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C11407-8E1B-4C97-B51B-FFA28C554ED7}" type="datetimeFigureOut">
              <a:rPr lang="en-US" smtClean="0"/>
              <a:t>8/18/2026</a:t>
            </a:fld>
            <a:endParaRPr lang="en-US"/>
          </a:p>
        </p:txBody>
      </p:sp>
      <p:sp>
        <p:nvSpPr>
          <p:cNvPr id="5" name="Footer Placeholder 4">
            <a:extLst>
              <a:ext uri="{FF2B5EF4-FFF2-40B4-BE49-F238E27FC236}">
                <a16:creationId xmlns:a16="http://schemas.microsoft.com/office/drawing/2014/main" id="{C9C9E689-9319-DF25-D096-A79BFECCE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9A93C1-3576-E67E-2759-17A9F78C5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13C4C-01C6-4528-B855-C0BB2AC8454B}" type="slidenum">
              <a:rPr lang="en-US" smtClean="0"/>
              <a:t>‹#›</a:t>
            </a:fld>
            <a:endParaRPr lang="en-US"/>
          </a:p>
        </p:txBody>
      </p:sp>
    </p:spTree>
    <p:extLst>
      <p:ext uri="{BB962C8B-B14F-4D97-AF65-F5344CB8AC3E}">
        <p14:creationId xmlns:p14="http://schemas.microsoft.com/office/powerpoint/2010/main" val="1616205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1zpV5rzWXMA?feature=oembed"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Brain</a:t>
            </a:r>
            <a:br>
              <a:rPr lang="en-US" sz="4800" b="1" dirty="0">
                <a:latin typeface="Calibri" panose="020F0502020204030204" pitchFamily="34" charset="0"/>
                <a:cs typeface="Calibri" panose="020F0502020204030204" pitchFamily="34" charset="0"/>
              </a:rPr>
            </a:br>
            <a:r>
              <a:rPr lang="en-US" sz="4800" b="1" dirty="0">
                <a:latin typeface="Calibri" panose="020F0502020204030204" pitchFamily="34" charset="0"/>
                <a:cs typeface="Calibri" panose="020F0502020204030204" pitchFamily="34" charset="0"/>
              </a:rPr>
              <a:t>Development</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pic>
        <p:nvPicPr>
          <p:cNvPr id="10" name="Picture 9" descr="A colorful and black and white brain&#10;&#10;AI-generated content may be incorrect.">
            <a:extLst>
              <a:ext uri="{FF2B5EF4-FFF2-40B4-BE49-F238E27FC236}">
                <a16:creationId xmlns:a16="http://schemas.microsoft.com/office/drawing/2014/main" id="{2517674F-1EF5-6501-66B2-CCB81D59B9A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E4F8C96-B1F8-F340-9530-E0398316CFA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Stages of Development</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Development and Experience</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Epigenetics and Experience</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FF63C198-1FEA-CEA5-594F-622A66BCB8F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97783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1E675-309B-D185-E9C8-03E30400219F}"/>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3FCD1C16-A7B1-F438-91EC-2358EA5C69F3}"/>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Stages of Development</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Development and Experience</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Epigenetics and Experience</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D205DF56-EA9C-19AC-7D56-3B4ABEDCA07B}"/>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100133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ages of prenatal development">
            <a:extLst>
              <a:ext uri="{FF2B5EF4-FFF2-40B4-BE49-F238E27FC236}">
                <a16:creationId xmlns:a16="http://schemas.microsoft.com/office/drawing/2014/main" id="{439DB860-F69F-B9C3-09CE-C98000161F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532"/>
          <a:stretch>
            <a:fillRect/>
          </a:stretch>
        </p:blipFill>
        <p:spPr bwMode="auto">
          <a:xfrm>
            <a:off x="1406283" y="563792"/>
            <a:ext cx="9196289" cy="5730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90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Embryo Development Week by Week: IVF Time Lapse Journey">
            <a:hlinkClick r:id="" action="ppaction://media"/>
            <a:extLst>
              <a:ext uri="{FF2B5EF4-FFF2-40B4-BE49-F238E27FC236}">
                <a16:creationId xmlns:a16="http://schemas.microsoft.com/office/drawing/2014/main" id="{9BB6A61F-DB45-03C1-62CB-BCD9D75C6C80}"/>
              </a:ext>
            </a:extLst>
          </p:cNvPr>
          <p:cNvPicPr>
            <a:picLocks noRot="1" noChangeAspect="1"/>
          </p:cNvPicPr>
          <p:nvPr>
            <a:videoFile r:link="rId1"/>
          </p:nvPr>
        </p:nvPicPr>
        <p:blipFill>
          <a:blip r:embed="rId3"/>
          <a:stretch>
            <a:fillRect/>
          </a:stretch>
        </p:blipFill>
        <p:spPr>
          <a:xfrm>
            <a:off x="990266" y="544260"/>
            <a:ext cx="10211468" cy="5769479"/>
          </a:xfrm>
          <a:prstGeom prst="rect">
            <a:avLst/>
          </a:prstGeom>
        </p:spPr>
      </p:pic>
    </p:spTree>
    <p:extLst>
      <p:ext uri="{BB962C8B-B14F-4D97-AF65-F5344CB8AC3E}">
        <p14:creationId xmlns:p14="http://schemas.microsoft.com/office/powerpoint/2010/main" val="279905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D0A86-7219-F167-4B9C-B6A69DC14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7E885-3CC3-15B9-E406-D5B09EB0A726}"/>
              </a:ext>
            </a:extLst>
          </p:cNvPr>
          <p:cNvSpPr>
            <a:spLocks noGrp="1"/>
          </p:cNvSpPr>
          <p:nvPr>
            <p:ph type="title"/>
          </p:nvPr>
        </p:nvSpPr>
        <p:spPr/>
        <p:txBody>
          <a:bodyPr/>
          <a:lstStyle/>
          <a:p>
            <a:r>
              <a:rPr lang="en-US" dirty="0"/>
              <a:t>Embryonic Stage of Development</a:t>
            </a:r>
          </a:p>
        </p:txBody>
      </p:sp>
      <p:pic>
        <p:nvPicPr>
          <p:cNvPr id="5" name="Content Placeholder 4" descr="A diagram of the human brain&#10;&#10;AI-generated content may be incorrect.">
            <a:extLst>
              <a:ext uri="{FF2B5EF4-FFF2-40B4-BE49-F238E27FC236}">
                <a16:creationId xmlns:a16="http://schemas.microsoft.com/office/drawing/2014/main" id="{B722CD13-DBEC-DF9E-29B3-A34DCEA1B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23816" y="1546412"/>
            <a:ext cx="4585780" cy="5242298"/>
          </a:xfrm>
        </p:spPr>
      </p:pic>
      <p:sp>
        <p:nvSpPr>
          <p:cNvPr id="6" name="Content Placeholder 6">
            <a:extLst>
              <a:ext uri="{FF2B5EF4-FFF2-40B4-BE49-F238E27FC236}">
                <a16:creationId xmlns:a16="http://schemas.microsoft.com/office/drawing/2014/main" id="{52D4FDC3-1F62-284F-07CD-745EF875AEE3}"/>
              </a:ext>
            </a:extLst>
          </p:cNvPr>
          <p:cNvSpPr txBox="1">
            <a:spLocks/>
          </p:cNvSpPr>
          <p:nvPr/>
        </p:nvSpPr>
        <p:spPr>
          <a:xfrm>
            <a:off x="838201" y="1825625"/>
            <a:ext cx="64856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7" name="Content Placeholder 6">
            <a:extLst>
              <a:ext uri="{FF2B5EF4-FFF2-40B4-BE49-F238E27FC236}">
                <a16:creationId xmlns:a16="http://schemas.microsoft.com/office/drawing/2014/main" id="{9E4E9810-3937-C042-CD7A-5C804EDA851A}"/>
              </a:ext>
            </a:extLst>
          </p:cNvPr>
          <p:cNvSpPr txBox="1">
            <a:spLocks/>
          </p:cNvSpPr>
          <p:nvPr/>
        </p:nvSpPr>
        <p:spPr>
          <a:xfrm>
            <a:off x="838201" y="1825624"/>
            <a:ext cx="6350000" cy="503237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18 Days</a:t>
            </a:r>
            <a:r>
              <a:rPr lang="en-US" dirty="0"/>
              <a:t>: Embryo implants in uterine wall</a:t>
            </a:r>
          </a:p>
          <a:p>
            <a:r>
              <a:rPr lang="en-US" b="1" dirty="0"/>
              <a:t>Endoderm</a:t>
            </a:r>
            <a:r>
              <a:rPr lang="en-US" dirty="0"/>
              <a:t>: Forms many internal organs and structures</a:t>
            </a:r>
          </a:p>
          <a:p>
            <a:pPr lvl="1"/>
            <a:r>
              <a:rPr lang="en-US" dirty="0"/>
              <a:t>Gives rise to tissues such as the digestive tract, liver, pancreas, and lungs</a:t>
            </a:r>
          </a:p>
          <a:p>
            <a:r>
              <a:rPr lang="en-US" b="1" dirty="0"/>
              <a:t>Mesoderm</a:t>
            </a:r>
            <a:r>
              <a:rPr lang="en-US" dirty="0"/>
              <a:t>: Forms muscles, bones, connective tissue, and blood</a:t>
            </a:r>
          </a:p>
          <a:p>
            <a:pPr lvl="1"/>
            <a:r>
              <a:rPr lang="en-US" dirty="0"/>
              <a:t>Also contributes to the circulatory system</a:t>
            </a:r>
          </a:p>
          <a:p>
            <a:r>
              <a:rPr lang="en-US" b="1" dirty="0"/>
              <a:t>Ectoderm</a:t>
            </a:r>
            <a:r>
              <a:rPr lang="en-US" dirty="0"/>
              <a:t>: Forms the skin and nervous system</a:t>
            </a:r>
          </a:p>
          <a:p>
            <a:pPr lvl="1"/>
            <a:r>
              <a:rPr lang="en-US" dirty="0"/>
              <a:t>The nervous system develops from a specialized region of the ectoderm called the neural plate</a:t>
            </a:r>
          </a:p>
          <a:p>
            <a:pPr lvl="1"/>
            <a:endParaRPr lang="en-US" dirty="0"/>
          </a:p>
          <a:p>
            <a:pPr marL="0" indent="0">
              <a:buNone/>
            </a:pPr>
            <a:r>
              <a:rPr lang="en-US" b="1" dirty="0"/>
              <a:t>20 Days</a:t>
            </a:r>
            <a:r>
              <a:rPr lang="en-US" dirty="0"/>
              <a:t>: Ectoderm thickens to form the neural plate</a:t>
            </a:r>
          </a:p>
          <a:p>
            <a:r>
              <a:rPr lang="en-US" dirty="0"/>
              <a:t>Plate folds inward to create the neural groove</a:t>
            </a:r>
          </a:p>
          <a:p>
            <a:pPr lvl="1"/>
            <a:endParaRPr lang="en-US" dirty="0"/>
          </a:p>
          <a:p>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95552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CC885-62E9-E640-BE1C-225AF0827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13E39-2300-C980-D856-12413E9C6F9E}"/>
              </a:ext>
            </a:extLst>
          </p:cNvPr>
          <p:cNvSpPr>
            <a:spLocks noGrp="1"/>
          </p:cNvSpPr>
          <p:nvPr>
            <p:ph type="title"/>
          </p:nvPr>
        </p:nvSpPr>
        <p:spPr/>
        <p:txBody>
          <a:bodyPr/>
          <a:lstStyle/>
          <a:p>
            <a:r>
              <a:rPr lang="en-US" dirty="0"/>
              <a:t>Embryonic Stage of Development</a:t>
            </a:r>
          </a:p>
        </p:txBody>
      </p:sp>
      <p:pic>
        <p:nvPicPr>
          <p:cNvPr id="5" name="Content Placeholder 4" descr="A diagram of the human brain&#10;&#10;AI-generated content may be incorrect.">
            <a:extLst>
              <a:ext uri="{FF2B5EF4-FFF2-40B4-BE49-F238E27FC236}">
                <a16:creationId xmlns:a16="http://schemas.microsoft.com/office/drawing/2014/main" id="{14B4854F-087C-F2B0-70F4-E45A450AB6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23816" y="1546412"/>
            <a:ext cx="4585780" cy="5242298"/>
          </a:xfrm>
        </p:spPr>
      </p:pic>
      <p:sp>
        <p:nvSpPr>
          <p:cNvPr id="6" name="Content Placeholder 6">
            <a:extLst>
              <a:ext uri="{FF2B5EF4-FFF2-40B4-BE49-F238E27FC236}">
                <a16:creationId xmlns:a16="http://schemas.microsoft.com/office/drawing/2014/main" id="{F16E2A74-873B-76F0-AE08-535ACF092E89}"/>
              </a:ext>
            </a:extLst>
          </p:cNvPr>
          <p:cNvSpPr txBox="1">
            <a:spLocks/>
          </p:cNvSpPr>
          <p:nvPr/>
        </p:nvSpPr>
        <p:spPr>
          <a:xfrm>
            <a:off x="838201" y="1825625"/>
            <a:ext cx="64856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7" name="Content Placeholder 6">
            <a:extLst>
              <a:ext uri="{FF2B5EF4-FFF2-40B4-BE49-F238E27FC236}">
                <a16:creationId xmlns:a16="http://schemas.microsoft.com/office/drawing/2014/main" id="{E7B4189D-3890-277A-E681-D2DFE03A4FF6}"/>
              </a:ext>
            </a:extLst>
          </p:cNvPr>
          <p:cNvSpPr txBox="1">
            <a:spLocks/>
          </p:cNvSpPr>
          <p:nvPr/>
        </p:nvSpPr>
        <p:spPr>
          <a:xfrm>
            <a:off x="838201" y="1825624"/>
            <a:ext cx="6350000" cy="483396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22 Days</a:t>
            </a:r>
            <a:r>
              <a:rPr lang="en-US" dirty="0"/>
              <a:t>: The neural crests of the groove fuse to form neural tube</a:t>
            </a:r>
          </a:p>
          <a:p>
            <a:r>
              <a:rPr lang="en-US" b="1" dirty="0"/>
              <a:t>Neural Tube</a:t>
            </a:r>
            <a:r>
              <a:rPr lang="en-US" dirty="0"/>
              <a:t>: Develops into the central nervous system (brain, spinal cord)</a:t>
            </a:r>
          </a:p>
          <a:p>
            <a:r>
              <a:rPr lang="en-US" b="1" dirty="0"/>
              <a:t>Neural Crest</a:t>
            </a:r>
            <a:r>
              <a:rPr lang="en-US" dirty="0"/>
              <a:t>: Develops into the peripheral nervous system (sensory neurons, autonomic nervous system)</a:t>
            </a:r>
          </a:p>
          <a:p>
            <a:pPr lvl="1"/>
            <a:endParaRPr lang="en-US" dirty="0"/>
          </a:p>
          <a:p>
            <a:pPr marL="0" indent="0">
              <a:buNone/>
            </a:pPr>
            <a:r>
              <a:rPr lang="en-US" b="1" dirty="0"/>
              <a:t>24/25 Days</a:t>
            </a:r>
            <a:r>
              <a:rPr lang="en-US" dirty="0"/>
              <a:t>: Neural tube forms into three major divisions of the brain</a:t>
            </a:r>
          </a:p>
          <a:p>
            <a:r>
              <a:rPr lang="en-US" b="1" dirty="0"/>
              <a:t>Forebrain</a:t>
            </a:r>
            <a:r>
              <a:rPr lang="en-US" dirty="0"/>
              <a:t>: Develops into structures such as  cerebral cortex and thalamus</a:t>
            </a:r>
          </a:p>
          <a:p>
            <a:pPr lvl="1"/>
            <a:r>
              <a:rPr lang="en-US" dirty="0"/>
              <a:t>Responsible for higher cognition, perception, emotion, and voluntary </a:t>
            </a:r>
            <a:r>
              <a:rPr lang="en-US" dirty="0" err="1"/>
              <a:t>behaviour</a:t>
            </a:r>
            <a:endParaRPr lang="en-US" dirty="0"/>
          </a:p>
          <a:p>
            <a:r>
              <a:rPr lang="en-US" b="1" dirty="0"/>
              <a:t>Midbrain</a:t>
            </a:r>
            <a:r>
              <a:rPr lang="en-US" dirty="0"/>
              <a:t>: Develops into regions involved in low-level sensory processing and motor control regions</a:t>
            </a:r>
          </a:p>
          <a:p>
            <a:pPr lvl="1"/>
            <a:r>
              <a:rPr lang="en-US" dirty="0"/>
              <a:t>Important for visual and auditory reflexes</a:t>
            </a:r>
          </a:p>
          <a:p>
            <a:r>
              <a:rPr lang="en-US" b="1" dirty="0"/>
              <a:t>Hindbrain</a:t>
            </a:r>
            <a:r>
              <a:rPr lang="en-US" dirty="0"/>
              <a:t>: Develops into structures such as cerebellum and medulla</a:t>
            </a:r>
          </a:p>
          <a:p>
            <a:pPr lvl="1"/>
            <a:r>
              <a:rPr lang="en-US" dirty="0"/>
              <a:t>Controls coordination, balance, and other vital functions</a:t>
            </a:r>
          </a:p>
          <a:p>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33150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6A058-E8FC-2488-4FC3-56782BF8C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F0859-BC28-9D45-4DB5-230FE45385F9}"/>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94A22471-12A0-F650-A3E0-BDAD2323D3B1}"/>
              </a:ext>
            </a:extLst>
          </p:cNvPr>
          <p:cNvSpPr>
            <a:spLocks noGrp="1"/>
          </p:cNvSpPr>
          <p:nvPr>
            <p:ph idx="1"/>
          </p:nvPr>
        </p:nvSpPr>
        <p:spPr/>
        <p:txBody>
          <a:bodyPr/>
          <a:lstStyle/>
          <a:p>
            <a:pPr marL="514350" indent="-514350">
              <a:buFont typeface="+mj-lt"/>
              <a:buAutoNum type="arabicPeriod"/>
            </a:pPr>
            <a:r>
              <a:rPr lang="en-US" altLang="en-US" dirty="0"/>
              <a:t>Neurogenesis</a:t>
            </a:r>
          </a:p>
          <a:p>
            <a:pPr marL="514350" indent="-514350">
              <a:buFont typeface="+mj-lt"/>
              <a:buAutoNum type="arabicPeriod"/>
            </a:pPr>
            <a:r>
              <a:rPr lang="en-US" altLang="en-US" dirty="0"/>
              <a:t>Cell migration</a:t>
            </a:r>
          </a:p>
          <a:p>
            <a:pPr marL="514350" indent="-514350">
              <a:buFont typeface="+mj-lt"/>
              <a:buAutoNum type="arabicPeriod"/>
            </a:pPr>
            <a:r>
              <a:rPr lang="en-US" altLang="en-US" dirty="0"/>
              <a:t>Differentiation</a:t>
            </a:r>
          </a:p>
          <a:p>
            <a:pPr marL="514350" indent="-514350">
              <a:buFont typeface="+mj-lt"/>
              <a:buAutoNum type="arabicPeriod"/>
            </a:pPr>
            <a:r>
              <a:rPr lang="en-US" altLang="en-US" dirty="0"/>
              <a:t>Synaptogenesis </a:t>
            </a:r>
          </a:p>
          <a:p>
            <a:pPr marL="514350" indent="-514350">
              <a:buFont typeface="+mj-lt"/>
              <a:buAutoNum type="arabicPeriod"/>
            </a:pPr>
            <a:r>
              <a:rPr lang="en-US" altLang="en-US" dirty="0"/>
              <a:t>Neuronal cell death </a:t>
            </a:r>
          </a:p>
          <a:p>
            <a:pPr marL="514350" indent="-514350">
              <a:buFont typeface="+mj-lt"/>
              <a:buAutoNum type="arabicPeriod"/>
            </a:pPr>
            <a:r>
              <a:rPr lang="en-US" altLang="en-US" dirty="0"/>
              <a:t>Synapse rearrangement</a:t>
            </a:r>
          </a:p>
          <a:p>
            <a:pPr marL="0" indent="0">
              <a:buNone/>
            </a:pPr>
            <a:endParaRPr lang="en-US" dirty="0"/>
          </a:p>
        </p:txBody>
      </p:sp>
      <p:pic>
        <p:nvPicPr>
          <p:cNvPr id="5" name="Content Placeholder 4" descr="A diagram of the human brain&#10;&#10;AI-generated content may be incorrect.">
            <a:extLst>
              <a:ext uri="{FF2B5EF4-FFF2-40B4-BE49-F238E27FC236}">
                <a16:creationId xmlns:a16="http://schemas.microsoft.com/office/drawing/2014/main" id="{04D1A71E-A406-FB7F-002D-B7E9B7B7E4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816" y="1546412"/>
            <a:ext cx="4585780" cy="5242298"/>
          </a:xfrm>
          <a:prstGeom prst="rect">
            <a:avLst/>
          </a:prstGeom>
        </p:spPr>
      </p:pic>
    </p:spTree>
    <p:extLst>
      <p:ext uri="{BB962C8B-B14F-4D97-AF65-F5344CB8AC3E}">
        <p14:creationId xmlns:p14="http://schemas.microsoft.com/office/powerpoint/2010/main" val="152360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FE56F-F8F5-5546-440C-5E8D12D48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E042F-7FE3-C7AC-A827-F5BE03F70CE8}"/>
              </a:ext>
            </a:extLst>
          </p:cNvPr>
          <p:cNvSpPr>
            <a:spLocks noGrp="1"/>
          </p:cNvSpPr>
          <p:nvPr>
            <p:ph type="title"/>
          </p:nvPr>
        </p:nvSpPr>
        <p:spPr/>
        <p:txBody>
          <a:bodyPr/>
          <a:lstStyle/>
          <a:p>
            <a:r>
              <a:rPr lang="en-US" dirty="0"/>
              <a:t>Fetal Stage of Development</a:t>
            </a:r>
          </a:p>
        </p:txBody>
      </p:sp>
      <p:pic>
        <p:nvPicPr>
          <p:cNvPr id="5" name="Content Placeholder 4" descr="A diagram of the human brain&#10;&#10;AI-generated content may be incorrect.">
            <a:extLst>
              <a:ext uri="{FF2B5EF4-FFF2-40B4-BE49-F238E27FC236}">
                <a16:creationId xmlns:a16="http://schemas.microsoft.com/office/drawing/2014/main" id="{8DC381FB-6D3E-1ED9-ECA2-F48C817D21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23816" y="1546412"/>
            <a:ext cx="4585780" cy="5242298"/>
          </a:xfrm>
        </p:spPr>
      </p:pic>
      <p:sp>
        <p:nvSpPr>
          <p:cNvPr id="6" name="Content Placeholder 6">
            <a:extLst>
              <a:ext uri="{FF2B5EF4-FFF2-40B4-BE49-F238E27FC236}">
                <a16:creationId xmlns:a16="http://schemas.microsoft.com/office/drawing/2014/main" id="{75C6FB17-675F-7BA5-2EB7-8B513A297A71}"/>
              </a:ext>
            </a:extLst>
          </p:cNvPr>
          <p:cNvSpPr txBox="1">
            <a:spLocks/>
          </p:cNvSpPr>
          <p:nvPr/>
        </p:nvSpPr>
        <p:spPr>
          <a:xfrm>
            <a:off x="838201" y="1825625"/>
            <a:ext cx="64856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7" name="Content Placeholder 6">
            <a:extLst>
              <a:ext uri="{FF2B5EF4-FFF2-40B4-BE49-F238E27FC236}">
                <a16:creationId xmlns:a16="http://schemas.microsoft.com/office/drawing/2014/main" id="{4264A856-C973-EA86-C89E-24FAD091E24F}"/>
              </a:ext>
            </a:extLst>
          </p:cNvPr>
          <p:cNvSpPr txBox="1">
            <a:spLocks/>
          </p:cNvSpPr>
          <p:nvPr/>
        </p:nvSpPr>
        <p:spPr>
          <a:xfrm>
            <a:off x="838201" y="1825624"/>
            <a:ext cx="6350000" cy="46672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Fetal Stages of Development</a:t>
            </a:r>
            <a:endParaRPr lang="en-US" dirty="0"/>
          </a:p>
          <a:p>
            <a:r>
              <a:rPr lang="en-US" dirty="0"/>
              <a:t>The timeline of these six stages are broad and heavily overlap</a:t>
            </a:r>
          </a:p>
          <a:p>
            <a:r>
              <a:rPr lang="en-US" dirty="0"/>
              <a:t>For example, neuronal cell death occurs throughout development</a:t>
            </a:r>
          </a:p>
          <a:p>
            <a:pPr lvl="1"/>
            <a:r>
              <a:rPr lang="en-US" dirty="0"/>
              <a:t>Although it is especially prominent during periods of synaptogenesis and circuit refinement</a:t>
            </a:r>
          </a:p>
          <a:p>
            <a:r>
              <a:rPr lang="en-US" dirty="0"/>
              <a:t>Many developmental stages continue after birth as neural circuits mature</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92213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47D3E-3CCA-C1F8-BA52-C3C443212CDB}"/>
            </a:ext>
          </a:extLst>
        </p:cNvPr>
        <p:cNvGrpSpPr/>
        <p:nvPr/>
      </p:nvGrpSpPr>
      <p:grpSpPr>
        <a:xfrm>
          <a:off x="0" y="0"/>
          <a:ext cx="0" cy="0"/>
          <a:chOff x="0" y="0"/>
          <a:chExt cx="0" cy="0"/>
        </a:xfrm>
      </p:grpSpPr>
      <p:pic>
        <p:nvPicPr>
          <p:cNvPr id="3" name="Picture 2" descr="Gyri and Sulci of the Brain">
            <a:extLst>
              <a:ext uri="{FF2B5EF4-FFF2-40B4-BE49-F238E27FC236}">
                <a16:creationId xmlns:a16="http://schemas.microsoft.com/office/drawing/2014/main" id="{E3C27AF4-D374-A3B3-0C22-AD3673DC5A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356" b="17242"/>
          <a:stretch>
            <a:fillRect/>
          </a:stretch>
        </p:blipFill>
        <p:spPr bwMode="auto">
          <a:xfrm>
            <a:off x="5849007" y="5790785"/>
            <a:ext cx="1407001" cy="10767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03DF45E-5ECC-6C0E-8470-C56D54E74D31}"/>
              </a:ext>
            </a:extLst>
          </p:cNvPr>
          <p:cNvSpPr>
            <a:spLocks noGrp="1"/>
          </p:cNvSpPr>
          <p:nvPr>
            <p:ph type="title"/>
          </p:nvPr>
        </p:nvSpPr>
        <p:spPr/>
        <p:txBody>
          <a:bodyPr/>
          <a:lstStyle/>
          <a:p>
            <a:r>
              <a:rPr lang="en-US" dirty="0"/>
              <a:t>Fetal Stage of Development</a:t>
            </a:r>
          </a:p>
        </p:txBody>
      </p:sp>
      <p:pic>
        <p:nvPicPr>
          <p:cNvPr id="5" name="Content Placeholder 4" descr="A diagram of the human brain&#10;&#10;AI-generated content may be incorrect.">
            <a:extLst>
              <a:ext uri="{FF2B5EF4-FFF2-40B4-BE49-F238E27FC236}">
                <a16:creationId xmlns:a16="http://schemas.microsoft.com/office/drawing/2014/main" id="{DAA49B06-3759-3FA8-D8FA-8848DE3AE70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23816" y="1546412"/>
            <a:ext cx="4585780" cy="5242298"/>
          </a:xfrm>
        </p:spPr>
      </p:pic>
      <p:sp>
        <p:nvSpPr>
          <p:cNvPr id="6" name="Content Placeholder 6">
            <a:extLst>
              <a:ext uri="{FF2B5EF4-FFF2-40B4-BE49-F238E27FC236}">
                <a16:creationId xmlns:a16="http://schemas.microsoft.com/office/drawing/2014/main" id="{66B0E51E-2367-F500-0702-FC1D7BB548EC}"/>
              </a:ext>
            </a:extLst>
          </p:cNvPr>
          <p:cNvSpPr txBox="1">
            <a:spLocks/>
          </p:cNvSpPr>
          <p:nvPr/>
        </p:nvSpPr>
        <p:spPr>
          <a:xfrm>
            <a:off x="838201" y="1825625"/>
            <a:ext cx="64856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7" name="Content Placeholder 6">
            <a:extLst>
              <a:ext uri="{FF2B5EF4-FFF2-40B4-BE49-F238E27FC236}">
                <a16:creationId xmlns:a16="http://schemas.microsoft.com/office/drawing/2014/main" id="{411E94AE-31D9-5528-C1B9-73BFA4C17DBC}"/>
              </a:ext>
            </a:extLst>
          </p:cNvPr>
          <p:cNvSpPr txBox="1">
            <a:spLocks/>
          </p:cNvSpPr>
          <p:nvPr/>
        </p:nvSpPr>
        <p:spPr>
          <a:xfrm>
            <a:off x="838201" y="1825624"/>
            <a:ext cx="6662350" cy="415504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10 Weeks: </a:t>
            </a:r>
            <a:r>
              <a:rPr lang="en-US" dirty="0"/>
              <a:t>Brain is smooth and small</a:t>
            </a:r>
          </a:p>
          <a:p>
            <a:r>
              <a:rPr lang="en-US" b="1" dirty="0"/>
              <a:t>Development Stage</a:t>
            </a:r>
            <a:r>
              <a:rPr lang="en-US" dirty="0"/>
              <a:t>: Neurogenesis</a:t>
            </a:r>
          </a:p>
          <a:p>
            <a:r>
              <a:rPr lang="en-US" dirty="0"/>
              <a:t>Major divisions of the brain are established</a:t>
            </a:r>
          </a:p>
          <a:p>
            <a:r>
              <a:rPr lang="en-US" dirty="0"/>
              <a:t>Early cranial nerves and primitive reflex pathways formed</a:t>
            </a:r>
          </a:p>
          <a:p>
            <a:pPr lvl="1"/>
            <a:endParaRPr lang="en-US" dirty="0"/>
          </a:p>
          <a:p>
            <a:pPr marL="0" indent="0">
              <a:buNone/>
            </a:pPr>
            <a:r>
              <a:rPr lang="en-US" b="1" dirty="0"/>
              <a:t>15 Weeks:</a:t>
            </a:r>
            <a:r>
              <a:rPr lang="en-US" dirty="0"/>
              <a:t> Brain increases in size</a:t>
            </a:r>
          </a:p>
          <a:p>
            <a:r>
              <a:rPr lang="en-US" b="1" dirty="0"/>
              <a:t>Development Stage: </a:t>
            </a:r>
            <a:r>
              <a:rPr lang="en-US" dirty="0"/>
              <a:t>Cell migration and differentiation</a:t>
            </a:r>
          </a:p>
          <a:p>
            <a:r>
              <a:rPr lang="en-US" dirty="0"/>
              <a:t>Early cortical organization begins</a:t>
            </a:r>
          </a:p>
          <a:p>
            <a:pPr lvl="1"/>
            <a:endParaRPr lang="en-US" dirty="0"/>
          </a:p>
          <a:p>
            <a:pPr marL="0" indent="0">
              <a:buNone/>
            </a:pPr>
            <a:r>
              <a:rPr lang="en-US" b="1" dirty="0"/>
              <a:t>24 Weeks: </a:t>
            </a:r>
            <a:r>
              <a:rPr lang="en-US" dirty="0"/>
              <a:t>Brain continues to grow</a:t>
            </a:r>
          </a:p>
          <a:p>
            <a:r>
              <a:rPr lang="en-US" b="1" dirty="0"/>
              <a:t>Development Stage: </a:t>
            </a:r>
            <a:r>
              <a:rPr lang="en-US" dirty="0"/>
              <a:t>Synaptogenesis and neuronal cell death</a:t>
            </a:r>
          </a:p>
          <a:p>
            <a:r>
              <a:rPr lang="en-US" dirty="0"/>
              <a:t>Early cortical folding</a:t>
            </a:r>
          </a:p>
          <a:p>
            <a:r>
              <a:rPr lang="en-US" dirty="0"/>
              <a:t>Sensory systems are becoming increasingly functional </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422499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8734A-1999-5A18-11F5-BCE3031E3244}"/>
            </a:ext>
          </a:extLst>
        </p:cNvPr>
        <p:cNvGrpSpPr/>
        <p:nvPr/>
      </p:nvGrpSpPr>
      <p:grpSpPr>
        <a:xfrm>
          <a:off x="0" y="0"/>
          <a:ext cx="0" cy="0"/>
          <a:chOff x="0" y="0"/>
          <a:chExt cx="0" cy="0"/>
        </a:xfrm>
      </p:grpSpPr>
      <p:pic>
        <p:nvPicPr>
          <p:cNvPr id="3" name="Picture 2" descr="Gyri and Sulci of the Brain">
            <a:extLst>
              <a:ext uri="{FF2B5EF4-FFF2-40B4-BE49-F238E27FC236}">
                <a16:creationId xmlns:a16="http://schemas.microsoft.com/office/drawing/2014/main" id="{01D7328A-C769-2290-B8E6-58A4994223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356" b="17242"/>
          <a:stretch>
            <a:fillRect/>
          </a:stretch>
        </p:blipFill>
        <p:spPr bwMode="auto">
          <a:xfrm>
            <a:off x="5849007" y="5790785"/>
            <a:ext cx="1407001" cy="10767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9DF8B3D-C556-767D-7DD6-392D1FE28D18}"/>
              </a:ext>
            </a:extLst>
          </p:cNvPr>
          <p:cNvSpPr>
            <a:spLocks noGrp="1"/>
          </p:cNvSpPr>
          <p:nvPr>
            <p:ph type="title"/>
          </p:nvPr>
        </p:nvSpPr>
        <p:spPr/>
        <p:txBody>
          <a:bodyPr/>
          <a:lstStyle/>
          <a:p>
            <a:r>
              <a:rPr lang="en-US" dirty="0"/>
              <a:t>Fetal Stage of Development</a:t>
            </a:r>
          </a:p>
        </p:txBody>
      </p:sp>
      <p:pic>
        <p:nvPicPr>
          <p:cNvPr id="5" name="Content Placeholder 4" descr="A diagram of the human brain&#10;&#10;AI-generated content may be incorrect.">
            <a:extLst>
              <a:ext uri="{FF2B5EF4-FFF2-40B4-BE49-F238E27FC236}">
                <a16:creationId xmlns:a16="http://schemas.microsoft.com/office/drawing/2014/main" id="{C25011FB-8D56-4DAD-2B91-EAF56060FDD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23816" y="1546412"/>
            <a:ext cx="4585780" cy="5242298"/>
          </a:xfrm>
        </p:spPr>
      </p:pic>
      <p:sp>
        <p:nvSpPr>
          <p:cNvPr id="6" name="Content Placeholder 6">
            <a:extLst>
              <a:ext uri="{FF2B5EF4-FFF2-40B4-BE49-F238E27FC236}">
                <a16:creationId xmlns:a16="http://schemas.microsoft.com/office/drawing/2014/main" id="{35D94F6B-8D2C-1E59-8190-CF726FFEBC3B}"/>
              </a:ext>
            </a:extLst>
          </p:cNvPr>
          <p:cNvSpPr txBox="1">
            <a:spLocks/>
          </p:cNvSpPr>
          <p:nvPr/>
        </p:nvSpPr>
        <p:spPr>
          <a:xfrm>
            <a:off x="838201" y="1825625"/>
            <a:ext cx="64856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7" name="Content Placeholder 6">
            <a:extLst>
              <a:ext uri="{FF2B5EF4-FFF2-40B4-BE49-F238E27FC236}">
                <a16:creationId xmlns:a16="http://schemas.microsoft.com/office/drawing/2014/main" id="{4280D478-2DC9-36C8-73B0-C0B76156CB8F}"/>
              </a:ext>
            </a:extLst>
          </p:cNvPr>
          <p:cNvSpPr txBox="1">
            <a:spLocks/>
          </p:cNvSpPr>
          <p:nvPr/>
        </p:nvSpPr>
        <p:spPr>
          <a:xfrm>
            <a:off x="838201" y="1825624"/>
            <a:ext cx="6350000" cy="41889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30 Weeks</a:t>
            </a:r>
            <a:r>
              <a:rPr lang="en-US" dirty="0"/>
              <a:t>: Major increase in cortical folding</a:t>
            </a:r>
          </a:p>
          <a:p>
            <a:r>
              <a:rPr lang="en-US" b="1" dirty="0"/>
              <a:t>Development Stage: </a:t>
            </a:r>
            <a:r>
              <a:rPr lang="en-US" dirty="0"/>
              <a:t>Synaptogenesis and neuronal cell death</a:t>
            </a:r>
          </a:p>
          <a:p>
            <a:r>
              <a:rPr lang="en-US" dirty="0"/>
              <a:t>Neural connections become more complex</a:t>
            </a:r>
          </a:p>
          <a:p>
            <a:r>
              <a:rPr lang="en-US" dirty="0"/>
              <a:t>Early myelination begins in some pathways</a:t>
            </a:r>
          </a:p>
          <a:p>
            <a:pPr lvl="1"/>
            <a:endParaRPr lang="en-US" b="1" dirty="0"/>
          </a:p>
          <a:p>
            <a:pPr marL="0" indent="0">
              <a:buNone/>
            </a:pPr>
            <a:r>
              <a:rPr lang="en-US" b="1" dirty="0"/>
              <a:t>41 Weeks: </a:t>
            </a:r>
            <a:r>
              <a:rPr lang="en-US" dirty="0"/>
              <a:t>Cortical folding matures with extensive gyri and sulci</a:t>
            </a:r>
          </a:p>
          <a:p>
            <a:r>
              <a:rPr lang="en-US" b="1" dirty="0"/>
              <a:t>Development Stage: </a:t>
            </a:r>
            <a:r>
              <a:rPr lang="en-US" dirty="0"/>
              <a:t>Synapse rearrangement begins</a:t>
            </a:r>
          </a:p>
          <a:p>
            <a:r>
              <a:rPr lang="en-US" dirty="0"/>
              <a:t>Many neural pathways are established</a:t>
            </a:r>
          </a:p>
          <a:p>
            <a:r>
              <a:rPr lang="en-US" dirty="0"/>
              <a:t>Brain is functional but immature at birth</a:t>
            </a:r>
          </a:p>
          <a:p>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71737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4208D-5D7E-0735-FDB7-CE31D8F83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05747-5141-63BC-889D-3F6F71C98141}"/>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91C24493-485C-B4AB-F1D1-9160886CA5EE}"/>
              </a:ext>
            </a:extLst>
          </p:cNvPr>
          <p:cNvSpPr>
            <a:spLocks noGrp="1"/>
          </p:cNvSpPr>
          <p:nvPr>
            <p:ph idx="1"/>
          </p:nvPr>
        </p:nvSpPr>
        <p:spPr/>
        <p:txBody>
          <a:bodyPr/>
          <a:lstStyle/>
          <a:p>
            <a:pPr marL="514350" indent="-514350">
              <a:buFont typeface="+mj-lt"/>
              <a:buAutoNum type="arabicPeriod"/>
            </a:pPr>
            <a:r>
              <a:rPr lang="en-US" altLang="en-US" dirty="0"/>
              <a:t>Neurogenesis</a:t>
            </a:r>
          </a:p>
          <a:p>
            <a:pPr marL="514350" indent="-514350">
              <a:buFont typeface="+mj-lt"/>
              <a:buAutoNum type="arabicPeriod"/>
            </a:pPr>
            <a:r>
              <a:rPr lang="en-US" altLang="en-US" dirty="0"/>
              <a:t>Cell migration</a:t>
            </a:r>
          </a:p>
          <a:p>
            <a:pPr marL="514350" indent="-514350">
              <a:buFont typeface="+mj-lt"/>
              <a:buAutoNum type="arabicPeriod"/>
            </a:pPr>
            <a:r>
              <a:rPr lang="en-US" altLang="en-US" dirty="0"/>
              <a:t>Differentiation</a:t>
            </a:r>
          </a:p>
          <a:p>
            <a:pPr marL="514350" indent="-514350">
              <a:buFont typeface="+mj-lt"/>
              <a:buAutoNum type="arabicPeriod"/>
            </a:pPr>
            <a:r>
              <a:rPr lang="en-US" altLang="en-US" dirty="0"/>
              <a:t>Synaptogenesis </a:t>
            </a:r>
          </a:p>
          <a:p>
            <a:pPr marL="514350" indent="-514350">
              <a:buFont typeface="+mj-lt"/>
              <a:buAutoNum type="arabicPeriod"/>
            </a:pPr>
            <a:r>
              <a:rPr lang="en-US" altLang="en-US" dirty="0"/>
              <a:t>Neuronal cell death </a:t>
            </a:r>
          </a:p>
          <a:p>
            <a:pPr marL="514350" indent="-514350">
              <a:buFont typeface="+mj-lt"/>
              <a:buAutoNum type="arabicPeriod"/>
            </a:pPr>
            <a:r>
              <a:rPr lang="en-US" altLang="en-US" dirty="0"/>
              <a:t>Synapse rearrangement</a:t>
            </a:r>
          </a:p>
          <a:p>
            <a:pPr marL="0" indent="0">
              <a:buNone/>
            </a:pPr>
            <a:endParaRPr lang="en-US" dirty="0"/>
          </a:p>
        </p:txBody>
      </p:sp>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57A36F9F-9128-F81D-6A86-771E96AB880B}"/>
              </a:ext>
            </a:extLst>
          </p:cNvPr>
          <p:cNvPicPr>
            <a:picLocks noGrp="1" noChangeAspect="1"/>
          </p:cNvPicPr>
          <p:nvPr/>
        </p:nvPicPr>
        <p:blipFill>
          <a:blip r:embed="rId2"/>
          <a:stretch>
            <a:fillRect/>
          </a:stretch>
        </p:blipFill>
        <p:spPr>
          <a:xfrm>
            <a:off x="7105112" y="1565182"/>
            <a:ext cx="4937188" cy="4802187"/>
          </a:xfrm>
          <a:prstGeom prst="rect">
            <a:avLst/>
          </a:prstGeom>
        </p:spPr>
      </p:pic>
    </p:spTree>
    <p:extLst>
      <p:ext uri="{BB962C8B-B14F-4D97-AF65-F5344CB8AC3E}">
        <p14:creationId xmlns:p14="http://schemas.microsoft.com/office/powerpoint/2010/main" val="2964978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3CA3520B-E60F-654B-D1E1-CA6A82D3A9BA}"/>
              </a:ext>
            </a:extLst>
          </p:cNvPr>
          <p:cNvPicPr>
            <a:picLocks noGrp="1" noChangeAspect="1"/>
          </p:cNvPicPr>
          <p:nvPr/>
        </p:nvPicPr>
        <p:blipFill>
          <a:blip r:embed="rId2"/>
          <a:srcRect r="65966" b="48961"/>
          <a:stretch>
            <a:fillRect/>
          </a:stretch>
        </p:blipFill>
        <p:spPr>
          <a:xfrm>
            <a:off x="7911934" y="365125"/>
            <a:ext cx="4199383" cy="6125521"/>
          </a:xfrm>
          <a:prstGeom prst="rect">
            <a:avLst/>
          </a:prstGeom>
        </p:spPr>
      </p:pic>
      <p:sp>
        <p:nvSpPr>
          <p:cNvPr id="2" name="Title 1">
            <a:extLst>
              <a:ext uri="{FF2B5EF4-FFF2-40B4-BE49-F238E27FC236}">
                <a16:creationId xmlns:a16="http://schemas.microsoft.com/office/drawing/2014/main" id="{68E050E4-0E09-FD1F-5E94-DDD751F960CB}"/>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1B95C30C-9451-7D0B-54C1-F95450AEB711}"/>
              </a:ext>
            </a:extLst>
          </p:cNvPr>
          <p:cNvSpPr>
            <a:spLocks noGrp="1"/>
          </p:cNvSpPr>
          <p:nvPr>
            <p:ph idx="1"/>
          </p:nvPr>
        </p:nvSpPr>
        <p:spPr>
          <a:xfrm>
            <a:off x="838200" y="1825625"/>
            <a:ext cx="6685105" cy="4351338"/>
          </a:xfrm>
        </p:spPr>
        <p:txBody>
          <a:bodyPr>
            <a:normAutofit/>
          </a:bodyPr>
          <a:lstStyle/>
          <a:p>
            <a:pPr marL="0" indent="0">
              <a:buNone/>
            </a:pPr>
            <a:r>
              <a:rPr lang="en-US" altLang="en-US" b="1" dirty="0"/>
              <a:t>Neurogenesis</a:t>
            </a:r>
            <a:r>
              <a:rPr lang="en-US" altLang="en-US" dirty="0"/>
              <a:t>: The mitotic division of nonneuronal cells to produce neurons</a:t>
            </a:r>
          </a:p>
          <a:p>
            <a:r>
              <a:rPr lang="en-US" altLang="en-US" dirty="0"/>
              <a:t>Neurons arise from precursor cells that divide and form the ventricular zone</a:t>
            </a:r>
          </a:p>
          <a:p>
            <a:r>
              <a:rPr lang="en-US" altLang="en-US" dirty="0"/>
              <a:t>These cells will differentiate into neurons or glial cells</a:t>
            </a:r>
          </a:p>
          <a:p>
            <a:r>
              <a:rPr lang="en-US" altLang="en-US" dirty="0"/>
              <a:t>Precursor cells stop dividing at predictable embryonic stages</a:t>
            </a:r>
          </a:p>
          <a:p>
            <a:pPr lvl="2"/>
            <a:endParaRPr lang="en-US" altLang="en-US" dirty="0"/>
          </a:p>
        </p:txBody>
      </p:sp>
    </p:spTree>
    <p:extLst>
      <p:ext uri="{BB962C8B-B14F-4D97-AF65-F5344CB8AC3E}">
        <p14:creationId xmlns:p14="http://schemas.microsoft.com/office/powerpoint/2010/main" val="367100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AFA2E-F523-DF98-EFE3-B465298F4159}"/>
            </a:ext>
          </a:extLst>
        </p:cNvPr>
        <p:cNvGrpSpPr/>
        <p:nvPr/>
      </p:nvGrpSpPr>
      <p:grpSpPr>
        <a:xfrm>
          <a:off x="0" y="0"/>
          <a:ext cx="0" cy="0"/>
          <a:chOff x="0" y="0"/>
          <a:chExt cx="0" cy="0"/>
        </a:xfrm>
      </p:grpSpPr>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E84FF303-1FBB-698E-C57E-5D2A4FD51F28}"/>
              </a:ext>
            </a:extLst>
          </p:cNvPr>
          <p:cNvPicPr>
            <a:picLocks noGrp="1" noChangeAspect="1"/>
          </p:cNvPicPr>
          <p:nvPr/>
        </p:nvPicPr>
        <p:blipFill>
          <a:blip r:embed="rId2"/>
          <a:srcRect r="65966" b="48961"/>
          <a:stretch>
            <a:fillRect/>
          </a:stretch>
        </p:blipFill>
        <p:spPr>
          <a:xfrm>
            <a:off x="7911934" y="365125"/>
            <a:ext cx="4199383" cy="6125521"/>
          </a:xfrm>
          <a:prstGeom prst="rect">
            <a:avLst/>
          </a:prstGeom>
        </p:spPr>
      </p:pic>
      <p:sp>
        <p:nvSpPr>
          <p:cNvPr id="2" name="Title 1">
            <a:extLst>
              <a:ext uri="{FF2B5EF4-FFF2-40B4-BE49-F238E27FC236}">
                <a16:creationId xmlns:a16="http://schemas.microsoft.com/office/drawing/2014/main" id="{14EE063E-2982-A8B8-8311-36EFCD7866D1}"/>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21A2982E-3A2C-93C7-4BA7-5DB2985C06C8}"/>
              </a:ext>
            </a:extLst>
          </p:cNvPr>
          <p:cNvSpPr>
            <a:spLocks noGrp="1"/>
          </p:cNvSpPr>
          <p:nvPr>
            <p:ph idx="1"/>
          </p:nvPr>
        </p:nvSpPr>
        <p:spPr>
          <a:xfrm>
            <a:off x="838200" y="1825624"/>
            <a:ext cx="7000415" cy="4953548"/>
          </a:xfrm>
        </p:spPr>
        <p:txBody>
          <a:bodyPr>
            <a:normAutofit/>
          </a:bodyPr>
          <a:lstStyle/>
          <a:p>
            <a:pPr marL="0" indent="0">
              <a:buNone/>
            </a:pPr>
            <a:r>
              <a:rPr lang="en-US" altLang="en-US" b="1" dirty="0"/>
              <a:t>Adult Neurogenesis</a:t>
            </a:r>
            <a:r>
              <a:rPr lang="en-US" altLang="en-US" dirty="0"/>
              <a:t>: A </a:t>
            </a:r>
            <a:r>
              <a:rPr lang="en-US" altLang="en-US" i="1" dirty="0"/>
              <a:t>minority</a:t>
            </a:r>
            <a:r>
              <a:rPr lang="en-US" altLang="en-US" dirty="0"/>
              <a:t> of new neurons can form in adulthood to replace neurons that have died</a:t>
            </a:r>
          </a:p>
          <a:p>
            <a:r>
              <a:rPr lang="en-US" altLang="en-US" dirty="0"/>
              <a:t>Triggered by learning and physical exercise</a:t>
            </a:r>
          </a:p>
          <a:p>
            <a:r>
              <a:rPr lang="en-US" altLang="en-US" dirty="0"/>
              <a:t>Impeded by stress and negative social interaction</a:t>
            </a:r>
          </a:p>
          <a:p>
            <a:r>
              <a:rPr lang="en-US" altLang="en-US" dirty="0"/>
              <a:t>Mostly in the hippocampus and olfactory bulb</a:t>
            </a:r>
          </a:p>
          <a:p>
            <a:pPr lvl="1"/>
            <a:r>
              <a:rPr lang="en-US" altLang="en-US" dirty="0"/>
              <a:t>Early evidence that it occurs across the brain</a:t>
            </a:r>
          </a:p>
          <a:p>
            <a:pPr lvl="2"/>
            <a:r>
              <a:rPr lang="en-US" altLang="en-US" dirty="0"/>
              <a:t>Still controversial</a:t>
            </a:r>
          </a:p>
          <a:p>
            <a:pPr lvl="2"/>
            <a:endParaRPr lang="en-US" altLang="en-US" dirty="0"/>
          </a:p>
        </p:txBody>
      </p:sp>
    </p:spTree>
    <p:extLst>
      <p:ext uri="{BB962C8B-B14F-4D97-AF65-F5344CB8AC3E}">
        <p14:creationId xmlns:p14="http://schemas.microsoft.com/office/powerpoint/2010/main" val="3469617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84F68-7261-127E-FAA3-CB76EF0CC9FA}"/>
            </a:ext>
          </a:extLst>
        </p:cNvPr>
        <p:cNvGrpSpPr/>
        <p:nvPr/>
      </p:nvGrpSpPr>
      <p:grpSpPr>
        <a:xfrm>
          <a:off x="0" y="0"/>
          <a:ext cx="0" cy="0"/>
          <a:chOff x="0" y="0"/>
          <a:chExt cx="0" cy="0"/>
        </a:xfrm>
      </p:grpSpPr>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2B65B927-BB44-D47B-CB05-808D8ECFECA1}"/>
              </a:ext>
            </a:extLst>
          </p:cNvPr>
          <p:cNvPicPr>
            <a:picLocks noGrp="1" noChangeAspect="1"/>
          </p:cNvPicPr>
          <p:nvPr/>
        </p:nvPicPr>
        <p:blipFill>
          <a:blip r:embed="rId2"/>
          <a:srcRect l="33793" t="12169" r="34879" b="48961"/>
          <a:stretch>
            <a:fillRect/>
          </a:stretch>
        </p:blipFill>
        <p:spPr>
          <a:xfrm>
            <a:off x="7100047" y="277317"/>
            <a:ext cx="3307977" cy="3992143"/>
          </a:xfrm>
          <a:prstGeom prst="rect">
            <a:avLst/>
          </a:prstGeom>
        </p:spPr>
      </p:pic>
      <p:sp>
        <p:nvSpPr>
          <p:cNvPr id="2" name="Title 1">
            <a:extLst>
              <a:ext uri="{FF2B5EF4-FFF2-40B4-BE49-F238E27FC236}">
                <a16:creationId xmlns:a16="http://schemas.microsoft.com/office/drawing/2014/main" id="{79ED3749-DC61-7CE7-5B9F-A20CDA0F71A1}"/>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CEEDA878-10F8-0749-028D-6301F9DB83C9}"/>
              </a:ext>
            </a:extLst>
          </p:cNvPr>
          <p:cNvSpPr>
            <a:spLocks noGrp="1"/>
          </p:cNvSpPr>
          <p:nvPr>
            <p:ph idx="1"/>
          </p:nvPr>
        </p:nvSpPr>
        <p:spPr>
          <a:xfrm>
            <a:off x="838200" y="1825625"/>
            <a:ext cx="6163235" cy="4351338"/>
          </a:xfrm>
        </p:spPr>
        <p:txBody>
          <a:bodyPr>
            <a:normAutofit fontScale="92500"/>
          </a:bodyPr>
          <a:lstStyle/>
          <a:p>
            <a:pPr marL="0" indent="0">
              <a:buNone/>
            </a:pPr>
            <a:r>
              <a:rPr lang="en-US" altLang="en-US" b="1" dirty="0"/>
              <a:t>Cell Migration: </a:t>
            </a:r>
            <a:r>
              <a:rPr lang="en-US" dirty="0"/>
              <a:t>The movement of newly formed neurons from the ventricular zone to their final destinations</a:t>
            </a:r>
          </a:p>
          <a:p>
            <a:r>
              <a:rPr lang="en-US" dirty="0"/>
              <a:t>Occurs primarily during prenatal development</a:t>
            </a:r>
          </a:p>
          <a:p>
            <a:r>
              <a:rPr lang="en-US" altLang="en-US" dirty="0"/>
              <a:t>Movement mostly follows radial glial cells</a:t>
            </a:r>
          </a:p>
          <a:p>
            <a:r>
              <a:rPr lang="en-US" altLang="en-US" dirty="0"/>
              <a:t>Migrations occur in waves with each wave forming a new layer</a:t>
            </a:r>
          </a:p>
          <a:p>
            <a:pPr lvl="1"/>
            <a:r>
              <a:rPr lang="en-US" altLang="en-US" dirty="0"/>
              <a:t>Six waves form the six layers of the cerebral cortex</a:t>
            </a:r>
          </a:p>
        </p:txBody>
      </p:sp>
      <p:pic>
        <p:nvPicPr>
          <p:cNvPr id="10" name="Picture 9" descr="A diagram of a structure&#10;&#10;AI-generated content may be incorrect.">
            <a:extLst>
              <a:ext uri="{FF2B5EF4-FFF2-40B4-BE49-F238E27FC236}">
                <a16:creationId xmlns:a16="http://schemas.microsoft.com/office/drawing/2014/main" id="{AD10D944-E543-DE22-A55F-7E763E82250F}"/>
              </a:ext>
            </a:extLst>
          </p:cNvPr>
          <p:cNvPicPr>
            <a:picLocks noChangeAspect="1"/>
          </p:cNvPicPr>
          <p:nvPr/>
        </p:nvPicPr>
        <p:blipFill>
          <a:blip r:embed="rId3">
            <a:extLst>
              <a:ext uri="{28A0092B-C50C-407E-A947-70E740481C1C}">
                <a14:useLocalDpi xmlns:a14="http://schemas.microsoft.com/office/drawing/2010/main" val="0"/>
              </a:ext>
            </a:extLst>
          </a:blip>
          <a:srcRect l="3702" t="4405" r="37500"/>
          <a:stretch>
            <a:fillRect/>
          </a:stretch>
        </p:blipFill>
        <p:spPr>
          <a:xfrm>
            <a:off x="8814816" y="3108960"/>
            <a:ext cx="3197890" cy="3596640"/>
          </a:xfrm>
          <a:prstGeom prst="rect">
            <a:avLst/>
          </a:prstGeom>
        </p:spPr>
      </p:pic>
    </p:spTree>
    <p:extLst>
      <p:ext uri="{BB962C8B-B14F-4D97-AF65-F5344CB8AC3E}">
        <p14:creationId xmlns:p14="http://schemas.microsoft.com/office/powerpoint/2010/main" val="74138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44CA-3B98-84D7-D871-C698D64C967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B79162C-9373-647D-D93D-6D166CDD8A69}"/>
              </a:ext>
            </a:extLst>
          </p:cNvPr>
          <p:cNvPicPr>
            <a:picLocks noChangeAspect="1"/>
          </p:cNvPicPr>
          <p:nvPr/>
        </p:nvPicPr>
        <p:blipFill>
          <a:blip r:embed="rId2"/>
          <a:stretch>
            <a:fillRect/>
          </a:stretch>
        </p:blipFill>
        <p:spPr>
          <a:xfrm>
            <a:off x="7282943" y="882869"/>
            <a:ext cx="4778452" cy="5660456"/>
          </a:xfrm>
          <a:prstGeom prst="rect">
            <a:avLst/>
          </a:prstGeom>
        </p:spPr>
      </p:pic>
      <p:sp>
        <p:nvSpPr>
          <p:cNvPr id="2" name="Title 1">
            <a:extLst>
              <a:ext uri="{FF2B5EF4-FFF2-40B4-BE49-F238E27FC236}">
                <a16:creationId xmlns:a16="http://schemas.microsoft.com/office/drawing/2014/main" id="{01EE5C0E-35F1-F81D-53BE-1C637C1CC9C1}"/>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363D819B-0733-FA93-E41D-021DBF02FC2E}"/>
              </a:ext>
            </a:extLst>
          </p:cNvPr>
          <p:cNvSpPr>
            <a:spLocks noGrp="1"/>
          </p:cNvSpPr>
          <p:nvPr>
            <p:ph idx="1"/>
          </p:nvPr>
        </p:nvSpPr>
        <p:spPr>
          <a:xfrm>
            <a:off x="838200" y="1825625"/>
            <a:ext cx="6527450" cy="4351338"/>
          </a:xfrm>
        </p:spPr>
        <p:txBody>
          <a:bodyPr>
            <a:normAutofit/>
          </a:bodyPr>
          <a:lstStyle/>
          <a:p>
            <a:pPr marL="0" indent="0">
              <a:buNone/>
            </a:pPr>
            <a:r>
              <a:rPr lang="en-US" altLang="en-US" b="1" dirty="0"/>
              <a:t>Cell Migration</a:t>
            </a:r>
          </a:p>
          <a:p>
            <a:r>
              <a:rPr lang="en-US" altLang="en-US" i="1" dirty="0"/>
              <a:t>Cell adhesion molecules </a:t>
            </a:r>
            <a:r>
              <a:rPr lang="en-US" altLang="en-US" dirty="0"/>
              <a:t>(CAMs) guide migration and axon growth</a:t>
            </a:r>
          </a:p>
          <a:p>
            <a:pPr lvl="1"/>
            <a:r>
              <a:rPr lang="en-US" dirty="0"/>
              <a:t>They are proteins attached to the outer membranes of radial glial cells</a:t>
            </a:r>
          </a:p>
          <a:p>
            <a:pPr lvl="1"/>
            <a:r>
              <a:rPr lang="en-US" dirty="0"/>
              <a:t>They allow neurons to attach to and detach from radial glial fibers</a:t>
            </a:r>
          </a:p>
          <a:p>
            <a:pPr lvl="1"/>
            <a:r>
              <a:rPr lang="en-US" dirty="0"/>
              <a:t>This helps guide neurons toward their proper destinations in the developing nervous system</a:t>
            </a:r>
            <a:endParaRPr lang="en-US" altLang="en-US" dirty="0"/>
          </a:p>
        </p:txBody>
      </p:sp>
    </p:spTree>
    <p:extLst>
      <p:ext uri="{BB962C8B-B14F-4D97-AF65-F5344CB8AC3E}">
        <p14:creationId xmlns:p14="http://schemas.microsoft.com/office/powerpoint/2010/main" val="2815925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F9F10-D234-BFDF-0039-10BF797F3C87}"/>
            </a:ext>
          </a:extLst>
        </p:cNvPr>
        <p:cNvGrpSpPr/>
        <p:nvPr/>
      </p:nvGrpSpPr>
      <p:grpSpPr>
        <a:xfrm>
          <a:off x="0" y="0"/>
          <a:ext cx="0" cy="0"/>
          <a:chOff x="0" y="0"/>
          <a:chExt cx="0" cy="0"/>
        </a:xfrm>
      </p:grpSpPr>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3C48173B-4E12-C4D2-A399-F9EC61B1C9DC}"/>
              </a:ext>
            </a:extLst>
          </p:cNvPr>
          <p:cNvPicPr>
            <a:picLocks noGrp="1" noChangeAspect="1"/>
          </p:cNvPicPr>
          <p:nvPr/>
        </p:nvPicPr>
        <p:blipFill>
          <a:blip r:embed="rId2"/>
          <a:srcRect l="66007" t="13130" r="-561" b="49069"/>
          <a:stretch>
            <a:fillRect/>
          </a:stretch>
        </p:blipFill>
        <p:spPr>
          <a:xfrm>
            <a:off x="7210898" y="681037"/>
            <a:ext cx="4912659" cy="5227284"/>
          </a:xfrm>
          <a:prstGeom prst="rect">
            <a:avLst/>
          </a:prstGeom>
        </p:spPr>
      </p:pic>
      <p:sp>
        <p:nvSpPr>
          <p:cNvPr id="2" name="Title 1">
            <a:extLst>
              <a:ext uri="{FF2B5EF4-FFF2-40B4-BE49-F238E27FC236}">
                <a16:creationId xmlns:a16="http://schemas.microsoft.com/office/drawing/2014/main" id="{E3FA1F79-BA1D-4155-F635-170ABBE489E0}"/>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E0E8BAA9-12FE-01FB-72B9-188971C4180D}"/>
              </a:ext>
            </a:extLst>
          </p:cNvPr>
          <p:cNvSpPr>
            <a:spLocks noGrp="1"/>
          </p:cNvSpPr>
          <p:nvPr>
            <p:ph idx="1"/>
          </p:nvPr>
        </p:nvSpPr>
        <p:spPr>
          <a:xfrm>
            <a:off x="838200" y="1825625"/>
            <a:ext cx="6817535" cy="4351338"/>
          </a:xfrm>
        </p:spPr>
        <p:txBody>
          <a:bodyPr>
            <a:normAutofit fontScale="92500" lnSpcReduction="10000"/>
          </a:bodyPr>
          <a:lstStyle/>
          <a:p>
            <a:pPr marL="0" indent="0">
              <a:buNone/>
            </a:pPr>
            <a:r>
              <a:rPr lang="en-US" altLang="en-US" b="1" dirty="0"/>
              <a:t>Differentiation:</a:t>
            </a:r>
            <a:r>
              <a:rPr lang="en-US" altLang="en-US" dirty="0"/>
              <a:t> </a:t>
            </a:r>
            <a:r>
              <a:rPr lang="en-US" dirty="0"/>
              <a:t>Gene expression transforms cells into neurons or glial cells through the production of specific proteins</a:t>
            </a:r>
          </a:p>
          <a:p>
            <a:r>
              <a:rPr lang="en-US" altLang="en-US" dirty="0"/>
              <a:t>Differentiation is complex and flexible</a:t>
            </a:r>
          </a:p>
          <a:p>
            <a:r>
              <a:rPr lang="en-US" altLang="en-US" b="1" dirty="0"/>
              <a:t>Multipotent</a:t>
            </a:r>
            <a:r>
              <a:rPr lang="en-US" altLang="en-US" dirty="0"/>
              <a:t>: Cells have potential to become a range of neurons and glial cells</a:t>
            </a:r>
          </a:p>
          <a:p>
            <a:r>
              <a:rPr lang="en-US" altLang="en-US" b="1" dirty="0"/>
              <a:t>Induction</a:t>
            </a:r>
            <a:r>
              <a:rPr lang="en-US" altLang="en-US" dirty="0"/>
              <a:t>: Local environment (e.g., neighbouring cells) majorly influence and guide differentiation</a:t>
            </a:r>
          </a:p>
          <a:p>
            <a:r>
              <a:rPr lang="en-US" altLang="en-US" b="1" dirty="0"/>
              <a:t>Regulation</a:t>
            </a:r>
            <a:r>
              <a:rPr lang="en-US" altLang="en-US" dirty="0"/>
              <a:t>: Other cells will replace an injured or lost cell </a:t>
            </a:r>
          </a:p>
          <a:p>
            <a:pPr lvl="1"/>
            <a:endParaRPr lang="en-US" altLang="en-US" dirty="0"/>
          </a:p>
          <a:p>
            <a:pPr lvl="2"/>
            <a:endParaRPr lang="en-US" altLang="en-US" dirty="0"/>
          </a:p>
        </p:txBody>
      </p:sp>
    </p:spTree>
    <p:extLst>
      <p:ext uri="{BB962C8B-B14F-4D97-AF65-F5344CB8AC3E}">
        <p14:creationId xmlns:p14="http://schemas.microsoft.com/office/powerpoint/2010/main" val="100622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1D90C-43A6-D8CE-E0B5-D94CA4E0DADA}"/>
            </a:ext>
          </a:extLst>
        </p:cNvPr>
        <p:cNvGrpSpPr/>
        <p:nvPr/>
      </p:nvGrpSpPr>
      <p:grpSpPr>
        <a:xfrm>
          <a:off x="0" y="0"/>
          <a:ext cx="0" cy="0"/>
          <a:chOff x="0" y="0"/>
          <a:chExt cx="0" cy="0"/>
        </a:xfrm>
      </p:grpSpPr>
      <p:pic>
        <p:nvPicPr>
          <p:cNvPr id="5"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4289056B-2DCB-2032-AF86-72CF9E2250C8}"/>
              </a:ext>
            </a:extLst>
          </p:cNvPr>
          <p:cNvPicPr>
            <a:picLocks noGrp="1" noChangeAspect="1"/>
          </p:cNvPicPr>
          <p:nvPr/>
        </p:nvPicPr>
        <p:blipFill>
          <a:blip r:embed="rId2"/>
          <a:srcRect l="66007" t="13130" r="-561" b="49069"/>
          <a:stretch>
            <a:fillRect/>
          </a:stretch>
        </p:blipFill>
        <p:spPr>
          <a:xfrm>
            <a:off x="7210898" y="681037"/>
            <a:ext cx="4912659" cy="5227284"/>
          </a:xfrm>
          <a:prstGeom prst="rect">
            <a:avLst/>
          </a:prstGeom>
        </p:spPr>
      </p:pic>
      <p:sp>
        <p:nvSpPr>
          <p:cNvPr id="2" name="Title 1">
            <a:extLst>
              <a:ext uri="{FF2B5EF4-FFF2-40B4-BE49-F238E27FC236}">
                <a16:creationId xmlns:a16="http://schemas.microsoft.com/office/drawing/2014/main" id="{30435D69-275D-FD37-E4F4-7F5895749070}"/>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CC2916E3-B591-4541-3ACA-1E168101AD87}"/>
              </a:ext>
            </a:extLst>
          </p:cNvPr>
          <p:cNvSpPr>
            <a:spLocks noGrp="1"/>
          </p:cNvSpPr>
          <p:nvPr>
            <p:ph idx="1"/>
          </p:nvPr>
        </p:nvSpPr>
        <p:spPr>
          <a:xfrm>
            <a:off x="838201" y="1825624"/>
            <a:ext cx="6659880" cy="5032375"/>
          </a:xfrm>
        </p:spPr>
        <p:txBody>
          <a:bodyPr>
            <a:normAutofit/>
          </a:bodyPr>
          <a:lstStyle/>
          <a:p>
            <a:pPr marL="0" indent="0">
              <a:buNone/>
            </a:pPr>
            <a:r>
              <a:rPr lang="en-US" altLang="en-US" b="1" dirty="0"/>
              <a:t>Differentiation</a:t>
            </a:r>
          </a:p>
          <a:p>
            <a:r>
              <a:rPr lang="en-US" altLang="en-US" b="1" dirty="0"/>
              <a:t>Stem Cells:</a:t>
            </a:r>
            <a:r>
              <a:rPr lang="en-US" altLang="en-US" dirty="0"/>
              <a:t> Cells that have not undergone extensive differentiation</a:t>
            </a:r>
          </a:p>
          <a:p>
            <a:pPr lvl="1"/>
            <a:r>
              <a:rPr lang="en-US" dirty="0"/>
              <a:t>They can replace lost cells because they can differentiate appropriately in response to local signals</a:t>
            </a:r>
          </a:p>
          <a:p>
            <a:pPr lvl="1"/>
            <a:r>
              <a:rPr lang="en-US" altLang="en-US" dirty="0"/>
              <a:t>Stem cells may be used to treat certain disorders</a:t>
            </a:r>
          </a:p>
          <a:p>
            <a:pPr lvl="3"/>
            <a:r>
              <a:rPr lang="en-US" altLang="en-US" dirty="0"/>
              <a:t>E.g., neurodegenerative disorders, brain injury</a:t>
            </a:r>
          </a:p>
          <a:p>
            <a:pPr lvl="2"/>
            <a:r>
              <a:rPr lang="en-US" dirty="0"/>
              <a:t>Stem cells can be obtained from embryonic and fetal tissues, umbilical cord blood, or unused embryos produced through in vitro fertilization</a:t>
            </a:r>
          </a:p>
          <a:p>
            <a:pPr lvl="2"/>
            <a:r>
              <a:rPr lang="en-US" altLang="en-US" dirty="0"/>
              <a:t>Adult cells can be treated to replicate stem cells</a:t>
            </a:r>
          </a:p>
          <a:p>
            <a:pPr lvl="2"/>
            <a:endParaRPr lang="en-US" altLang="en-US" dirty="0"/>
          </a:p>
        </p:txBody>
      </p:sp>
    </p:spTree>
    <p:extLst>
      <p:ext uri="{BB962C8B-B14F-4D97-AF65-F5344CB8AC3E}">
        <p14:creationId xmlns:p14="http://schemas.microsoft.com/office/powerpoint/2010/main" val="3595693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7279D-2241-5226-FE8C-88536223B877}"/>
            </a:ext>
          </a:extLst>
        </p:cNvPr>
        <p:cNvGrpSpPr/>
        <p:nvPr/>
      </p:nvGrpSpPr>
      <p:grpSpPr>
        <a:xfrm>
          <a:off x="0" y="0"/>
          <a:ext cx="0" cy="0"/>
          <a:chOff x="0" y="0"/>
          <a:chExt cx="0" cy="0"/>
        </a:xfrm>
      </p:grpSpPr>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BFEC933E-33D3-C34B-7F8B-AAB0B3CF2DA4}"/>
              </a:ext>
            </a:extLst>
          </p:cNvPr>
          <p:cNvPicPr>
            <a:picLocks noGrp="1" noChangeAspect="1"/>
          </p:cNvPicPr>
          <p:nvPr/>
        </p:nvPicPr>
        <p:blipFill>
          <a:blip r:embed="rId2"/>
          <a:srcRect l="-2164" t="52885" r="63178" b="9313"/>
          <a:stretch>
            <a:fillRect/>
          </a:stretch>
        </p:blipFill>
        <p:spPr>
          <a:xfrm>
            <a:off x="6825856" y="1141422"/>
            <a:ext cx="5366144" cy="5060765"/>
          </a:xfrm>
          <a:prstGeom prst="rect">
            <a:avLst/>
          </a:prstGeom>
        </p:spPr>
      </p:pic>
      <p:sp>
        <p:nvSpPr>
          <p:cNvPr id="2" name="Title 1">
            <a:extLst>
              <a:ext uri="{FF2B5EF4-FFF2-40B4-BE49-F238E27FC236}">
                <a16:creationId xmlns:a16="http://schemas.microsoft.com/office/drawing/2014/main" id="{CFCE1EFB-9221-E137-48B4-8E5919E0FDFC}"/>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21665B89-E385-0BDF-4232-F99722D4109D}"/>
              </a:ext>
            </a:extLst>
          </p:cNvPr>
          <p:cNvSpPr>
            <a:spLocks noGrp="1"/>
          </p:cNvSpPr>
          <p:nvPr>
            <p:ph idx="1"/>
          </p:nvPr>
        </p:nvSpPr>
        <p:spPr>
          <a:xfrm>
            <a:off x="838200" y="1825625"/>
            <a:ext cx="6163235" cy="4753718"/>
          </a:xfrm>
        </p:spPr>
        <p:txBody>
          <a:bodyPr>
            <a:normAutofit fontScale="85000" lnSpcReduction="20000"/>
          </a:bodyPr>
          <a:lstStyle/>
          <a:p>
            <a:pPr marL="0" indent="0">
              <a:buNone/>
            </a:pPr>
            <a:r>
              <a:rPr lang="en-US" altLang="en-US" b="1" dirty="0"/>
              <a:t>Synaptogenesis: </a:t>
            </a:r>
            <a:r>
              <a:rPr lang="en-US" altLang="en-US" dirty="0"/>
              <a:t>Extensive growth of axons and dendrites</a:t>
            </a:r>
          </a:p>
          <a:p>
            <a:r>
              <a:rPr lang="en-US" altLang="en-US" dirty="0"/>
              <a:t>Growth cones with filopodia that form at the end of these appendages</a:t>
            </a:r>
          </a:p>
          <a:p>
            <a:r>
              <a:rPr lang="en-US" dirty="0"/>
              <a:t>Filopodia extend outward and attach to CAMs, pulling the growth cone forward</a:t>
            </a:r>
          </a:p>
          <a:p>
            <a:pPr lvl="1"/>
            <a:r>
              <a:rPr lang="en-US" altLang="en-US" dirty="0"/>
              <a:t>CAMs are on diverse cellular surfaces</a:t>
            </a:r>
          </a:p>
          <a:p>
            <a:pPr lvl="2"/>
            <a:r>
              <a:rPr lang="en-US" altLang="en-US" dirty="0"/>
              <a:t>E.g., glial cells, other axons, target cells</a:t>
            </a:r>
          </a:p>
          <a:p>
            <a:pPr lvl="1"/>
            <a:r>
              <a:rPr lang="en-US" altLang="en-US" dirty="0"/>
              <a:t>Chemoattractant: Guides where to go</a:t>
            </a:r>
          </a:p>
          <a:p>
            <a:pPr lvl="2"/>
            <a:r>
              <a:rPr lang="en-US" altLang="en-US" dirty="0"/>
              <a:t>E.g., towards target cell</a:t>
            </a:r>
          </a:p>
          <a:p>
            <a:pPr lvl="1"/>
            <a:r>
              <a:rPr lang="en-US" altLang="en-US" dirty="0"/>
              <a:t>Chemorepellents: Guides where not to go</a:t>
            </a:r>
          </a:p>
          <a:p>
            <a:pPr lvl="2"/>
            <a:r>
              <a:rPr lang="en-US" altLang="en-US" dirty="0"/>
              <a:t>e.g., stops from crossing hemispheres</a:t>
            </a:r>
          </a:p>
          <a:p>
            <a:r>
              <a:rPr lang="en-US" altLang="en-US" dirty="0"/>
              <a:t>Myelination: The induction of glial cells to form myelin around axon</a:t>
            </a:r>
          </a:p>
          <a:p>
            <a:pPr lvl="1"/>
            <a:r>
              <a:rPr lang="en-US" altLang="en-US" dirty="0"/>
              <a:t>Occurs once axon reaches destination</a:t>
            </a:r>
          </a:p>
          <a:p>
            <a:pPr lvl="1"/>
            <a:endParaRPr lang="en-US" altLang="en-US" dirty="0"/>
          </a:p>
        </p:txBody>
      </p:sp>
      <p:pic>
        <p:nvPicPr>
          <p:cNvPr id="6" name="Picture 5" descr="Diagram of growth and growth cone&#10;&#10;AI-generated content may be incorrect.">
            <a:extLst>
              <a:ext uri="{FF2B5EF4-FFF2-40B4-BE49-F238E27FC236}">
                <a16:creationId xmlns:a16="http://schemas.microsoft.com/office/drawing/2014/main" id="{871F3020-6FCC-9FF5-2C05-8FD86617A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6515" y="4907500"/>
            <a:ext cx="3315485" cy="1671842"/>
          </a:xfrm>
          <a:prstGeom prst="rect">
            <a:avLst/>
          </a:prstGeom>
        </p:spPr>
      </p:pic>
    </p:spTree>
    <p:extLst>
      <p:ext uri="{BB962C8B-B14F-4D97-AF65-F5344CB8AC3E}">
        <p14:creationId xmlns:p14="http://schemas.microsoft.com/office/powerpoint/2010/main" val="85515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C0A5-9606-CFAA-4079-48EBD6095F1E}"/>
            </a:ext>
          </a:extLst>
        </p:cNvPr>
        <p:cNvGrpSpPr/>
        <p:nvPr/>
      </p:nvGrpSpPr>
      <p:grpSpPr>
        <a:xfrm>
          <a:off x="0" y="0"/>
          <a:ext cx="0" cy="0"/>
          <a:chOff x="0" y="0"/>
          <a:chExt cx="0" cy="0"/>
        </a:xfrm>
      </p:grpSpPr>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35F08C3B-6302-9D78-E8F0-BAC77F0C5500}"/>
              </a:ext>
            </a:extLst>
          </p:cNvPr>
          <p:cNvPicPr>
            <a:picLocks noGrp="1" noChangeAspect="1"/>
          </p:cNvPicPr>
          <p:nvPr/>
        </p:nvPicPr>
        <p:blipFill>
          <a:blip r:embed="rId2"/>
          <a:srcRect l="36237" t="52014" r="35110" b="10184"/>
          <a:stretch>
            <a:fillRect/>
          </a:stretch>
        </p:blipFill>
        <p:spPr>
          <a:xfrm>
            <a:off x="7350735" y="949679"/>
            <a:ext cx="4073734" cy="5227284"/>
          </a:xfrm>
          <a:prstGeom prst="rect">
            <a:avLst/>
          </a:prstGeom>
        </p:spPr>
      </p:pic>
      <p:sp>
        <p:nvSpPr>
          <p:cNvPr id="2" name="Title 1">
            <a:extLst>
              <a:ext uri="{FF2B5EF4-FFF2-40B4-BE49-F238E27FC236}">
                <a16:creationId xmlns:a16="http://schemas.microsoft.com/office/drawing/2014/main" id="{C69857BF-29B9-ACD0-B9E1-BEA2240C289B}"/>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06E691D1-B5B1-006B-E1B4-849EA5B694FF}"/>
              </a:ext>
            </a:extLst>
          </p:cNvPr>
          <p:cNvSpPr>
            <a:spLocks noGrp="1"/>
          </p:cNvSpPr>
          <p:nvPr>
            <p:ph idx="1"/>
          </p:nvPr>
        </p:nvSpPr>
        <p:spPr>
          <a:xfrm>
            <a:off x="838200" y="1825625"/>
            <a:ext cx="6163235" cy="4753718"/>
          </a:xfrm>
        </p:spPr>
        <p:txBody>
          <a:bodyPr>
            <a:normAutofit fontScale="92500" lnSpcReduction="10000"/>
          </a:bodyPr>
          <a:lstStyle/>
          <a:p>
            <a:pPr marL="0" indent="0">
              <a:buNone/>
            </a:pPr>
            <a:r>
              <a:rPr lang="en-US" altLang="en-US" b="1" dirty="0"/>
              <a:t>Neuronal Cell Death (</a:t>
            </a:r>
            <a:r>
              <a:rPr lang="en-US" altLang="en-US" b="1" i="1" dirty="0"/>
              <a:t>Apoptosis</a:t>
            </a:r>
            <a:r>
              <a:rPr lang="en-US" altLang="en-US" b="1" dirty="0"/>
              <a:t>):</a:t>
            </a:r>
          </a:p>
          <a:p>
            <a:r>
              <a:rPr lang="en-US" altLang="en-US" dirty="0"/>
              <a:t>Within brain and spinal cord, many neurons die during prenatal development</a:t>
            </a:r>
          </a:p>
          <a:p>
            <a:r>
              <a:rPr lang="en-US" altLang="en-US" dirty="0"/>
              <a:t>Survivability of a neuron is driven by the number of target cells</a:t>
            </a:r>
          </a:p>
          <a:p>
            <a:r>
              <a:rPr lang="en-US" altLang="en-US" dirty="0"/>
              <a:t>Neurons compete for synaptic connection with target cells</a:t>
            </a:r>
          </a:p>
          <a:p>
            <a:pPr lvl="1"/>
            <a:r>
              <a:rPr lang="en-US" altLang="en-US" dirty="0"/>
              <a:t>A connection causes the intake of neurotrophic factors and the degree of intake determines likelihood of survival</a:t>
            </a:r>
          </a:p>
          <a:p>
            <a:pPr lvl="1"/>
            <a:r>
              <a:rPr lang="en-US" altLang="en-US" dirty="0"/>
              <a:t>Neurotrophic factors: Secreted signaling proteins</a:t>
            </a:r>
          </a:p>
          <a:p>
            <a:pPr marL="914400" lvl="2" indent="0">
              <a:buNone/>
            </a:pPr>
            <a:endParaRPr lang="en-US" altLang="en-US" dirty="0"/>
          </a:p>
          <a:p>
            <a:pPr lvl="3"/>
            <a:endParaRPr lang="en-US" altLang="en-US" dirty="0"/>
          </a:p>
        </p:txBody>
      </p:sp>
      <p:sp>
        <p:nvSpPr>
          <p:cNvPr id="7" name="Rectangle: Rounded Corners 6">
            <a:extLst>
              <a:ext uri="{FF2B5EF4-FFF2-40B4-BE49-F238E27FC236}">
                <a16:creationId xmlns:a16="http://schemas.microsoft.com/office/drawing/2014/main" id="{391AB174-7222-2CE7-A41C-3DD28FF9A88E}"/>
              </a:ext>
            </a:extLst>
          </p:cNvPr>
          <p:cNvSpPr/>
          <p:nvPr/>
        </p:nvSpPr>
        <p:spPr>
          <a:xfrm>
            <a:off x="7222173"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190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9B974-A8F9-2B53-1135-9955E81A0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FAF52-9F12-121E-17E8-BCB1EA392787}"/>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5966B01E-22E0-AE78-0C31-EB7CED7F213C}"/>
              </a:ext>
            </a:extLst>
          </p:cNvPr>
          <p:cNvSpPr>
            <a:spLocks noGrp="1"/>
          </p:cNvSpPr>
          <p:nvPr>
            <p:ph idx="1"/>
          </p:nvPr>
        </p:nvSpPr>
        <p:spPr>
          <a:xfrm>
            <a:off x="838200" y="1825625"/>
            <a:ext cx="6163235" cy="4753718"/>
          </a:xfrm>
        </p:spPr>
        <p:txBody>
          <a:bodyPr>
            <a:normAutofit fontScale="92500" lnSpcReduction="10000"/>
          </a:bodyPr>
          <a:lstStyle/>
          <a:p>
            <a:pPr marL="0" indent="0">
              <a:buNone/>
            </a:pPr>
            <a:r>
              <a:rPr lang="en-US" altLang="en-US" b="1" dirty="0"/>
              <a:t>Neuronal Cell Death (</a:t>
            </a:r>
            <a:r>
              <a:rPr lang="en-US" altLang="en-US" b="1" i="1" dirty="0"/>
              <a:t>Apoptosis</a:t>
            </a:r>
            <a:r>
              <a:rPr lang="en-US" altLang="en-US" b="1" dirty="0"/>
              <a:t>):</a:t>
            </a:r>
          </a:p>
          <a:p>
            <a:r>
              <a:rPr lang="en-US" altLang="en-US" b="1" dirty="0"/>
              <a:t>Hamburger, 1975</a:t>
            </a:r>
          </a:p>
          <a:p>
            <a:pPr lvl="1"/>
            <a:r>
              <a:rPr lang="en-US" altLang="en-US" sz="2300" b="1" dirty="0">
                <a:latin typeface="Aptos" panose="020B0004020202020204" pitchFamily="34" charset="0"/>
              </a:rPr>
              <a:t>Research Question:</a:t>
            </a:r>
            <a:r>
              <a:rPr lang="en-US" altLang="en-US" sz="2300" dirty="0">
                <a:latin typeface="Aptos" panose="020B0004020202020204" pitchFamily="34" charset="0"/>
              </a:rPr>
              <a:t> </a:t>
            </a:r>
            <a:r>
              <a:rPr lang="en-US" sz="2000" dirty="0"/>
              <a:t>During development, is there a period in which large numbers of neurons die?</a:t>
            </a:r>
            <a:endParaRPr lang="en-US" altLang="en-US" sz="2300" dirty="0">
              <a:latin typeface="Aptos" panose="020B0004020202020204" pitchFamily="34" charset="0"/>
            </a:endParaRPr>
          </a:p>
          <a:p>
            <a:pPr lvl="1"/>
            <a:endParaRPr lang="en-US" altLang="en-US" sz="2300" dirty="0">
              <a:latin typeface="Aptos" panose="020B0004020202020204" pitchFamily="34" charset="0"/>
            </a:endParaRPr>
          </a:p>
          <a:p>
            <a:pPr lvl="1"/>
            <a:r>
              <a:rPr lang="en-US" altLang="en-US" sz="2300" b="1" dirty="0">
                <a:latin typeface="Aptos" panose="020B0004020202020204" pitchFamily="34" charset="0"/>
              </a:rPr>
              <a:t>Method:</a:t>
            </a:r>
            <a:r>
              <a:rPr lang="en-US" altLang="en-US" sz="2300" dirty="0">
                <a:latin typeface="Aptos" panose="020B0004020202020204" pitchFamily="34" charset="0"/>
              </a:rPr>
              <a:t> </a:t>
            </a:r>
            <a:r>
              <a:rPr lang="en-US" sz="2000" dirty="0"/>
              <a:t>Counted motor neuron nuclei in chick embryos at different developmental stages</a:t>
            </a:r>
            <a:endParaRPr lang="en-US" altLang="en-US" sz="2300" dirty="0">
              <a:latin typeface="Aptos" panose="020B0004020202020204" pitchFamily="34" charset="0"/>
            </a:endParaRPr>
          </a:p>
          <a:p>
            <a:pPr lvl="1"/>
            <a:endParaRPr lang="en-US" altLang="en-US" sz="2300" dirty="0">
              <a:latin typeface="Aptos" panose="020B0004020202020204" pitchFamily="34" charset="0"/>
            </a:endParaRPr>
          </a:p>
          <a:p>
            <a:pPr lvl="1"/>
            <a:r>
              <a:rPr lang="en-US" altLang="en-US" sz="2300" b="1" dirty="0">
                <a:latin typeface="Aptos" panose="020B0004020202020204" pitchFamily="34" charset="0"/>
              </a:rPr>
              <a:t>IV:</a:t>
            </a:r>
            <a:r>
              <a:rPr lang="en-US" altLang="en-US" sz="2300" dirty="0">
                <a:latin typeface="Aptos" panose="020B0004020202020204" pitchFamily="34" charset="0"/>
              </a:rPr>
              <a:t> Developmental age (incubation days/stages)</a:t>
            </a:r>
          </a:p>
          <a:p>
            <a:pPr lvl="2"/>
            <a:r>
              <a:rPr lang="en-US" altLang="en-US" dirty="0">
                <a:latin typeface="Aptos" panose="020B0004020202020204" pitchFamily="34" charset="0"/>
              </a:rPr>
              <a:t>5.5 days–</a:t>
            </a:r>
            <a:r>
              <a:rPr lang="en-US" altLang="en-US" dirty="0" err="1">
                <a:latin typeface="Aptos" panose="020B0004020202020204" pitchFamily="34" charset="0"/>
              </a:rPr>
              <a:t>posthatch</a:t>
            </a:r>
            <a:endParaRPr lang="en-US" altLang="en-US" sz="2100" dirty="0">
              <a:latin typeface="Aptos" panose="020B0004020202020204" pitchFamily="34" charset="0"/>
            </a:endParaRPr>
          </a:p>
          <a:p>
            <a:pPr lvl="1"/>
            <a:endParaRPr lang="en-US" altLang="en-US" sz="2300" dirty="0">
              <a:latin typeface="Aptos" panose="020B0004020202020204" pitchFamily="34" charset="0"/>
            </a:endParaRPr>
          </a:p>
          <a:p>
            <a:pPr lvl="1"/>
            <a:r>
              <a:rPr lang="en-US" altLang="en-US" sz="2300" b="1" dirty="0">
                <a:latin typeface="Aptos" panose="020B0004020202020204" pitchFamily="34" charset="0"/>
              </a:rPr>
              <a:t>DV:</a:t>
            </a:r>
            <a:r>
              <a:rPr lang="en-US" altLang="en-US" sz="2300" dirty="0">
                <a:latin typeface="Aptos" panose="020B0004020202020204" pitchFamily="34" charset="0"/>
              </a:rPr>
              <a:t> Number of surviving motor neurons</a:t>
            </a:r>
          </a:p>
          <a:p>
            <a:pPr lvl="1"/>
            <a:endParaRPr lang="en-US" altLang="en-US" sz="2300" dirty="0">
              <a:latin typeface="Aptos" panose="020B0004020202020204" pitchFamily="34" charset="0"/>
            </a:endParaRPr>
          </a:p>
          <a:p>
            <a:pPr lvl="1"/>
            <a:endParaRPr lang="en-US" altLang="en-US" dirty="0"/>
          </a:p>
          <a:p>
            <a:pPr lvl="2"/>
            <a:endParaRPr lang="en-US" altLang="en-US" dirty="0"/>
          </a:p>
          <a:p>
            <a:pPr lvl="3"/>
            <a:endParaRPr lang="en-US" altLang="en-US" dirty="0"/>
          </a:p>
        </p:txBody>
      </p:sp>
      <p:pic>
        <p:nvPicPr>
          <p:cNvPr id="9" name="Picture 8" descr="A graph of a graph of a person&#10;&#10;AI-generated content may be incorrect.">
            <a:extLst>
              <a:ext uri="{FF2B5EF4-FFF2-40B4-BE49-F238E27FC236}">
                <a16:creationId xmlns:a16="http://schemas.microsoft.com/office/drawing/2014/main" id="{9AC0C6D3-D795-3329-C91B-98E272D2A646}"/>
              </a:ext>
            </a:extLst>
          </p:cNvPr>
          <p:cNvPicPr>
            <a:picLocks noChangeAspect="1"/>
          </p:cNvPicPr>
          <p:nvPr/>
        </p:nvPicPr>
        <p:blipFill>
          <a:blip r:embed="rId2">
            <a:extLst>
              <a:ext uri="{28A0092B-C50C-407E-A947-70E740481C1C}">
                <a14:useLocalDpi xmlns:a14="http://schemas.microsoft.com/office/drawing/2010/main" val="0"/>
              </a:ext>
            </a:extLst>
          </a:blip>
          <a:srcRect r="50000" b="1451"/>
          <a:stretch>
            <a:fillRect/>
          </a:stretch>
        </p:blipFill>
        <p:spPr>
          <a:xfrm>
            <a:off x="7024139" y="2162802"/>
            <a:ext cx="5078428" cy="3121006"/>
          </a:xfrm>
          <a:prstGeom prst="rect">
            <a:avLst/>
          </a:prstGeom>
        </p:spPr>
      </p:pic>
    </p:spTree>
    <p:extLst>
      <p:ext uri="{BB962C8B-B14F-4D97-AF65-F5344CB8AC3E}">
        <p14:creationId xmlns:p14="http://schemas.microsoft.com/office/powerpoint/2010/main" val="168496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C95B4-B5A6-71D3-0370-80DB8F44FE96}"/>
            </a:ext>
          </a:extLst>
        </p:cNvPr>
        <p:cNvGrpSpPr/>
        <p:nvPr/>
      </p:nvGrpSpPr>
      <p:grpSpPr>
        <a:xfrm>
          <a:off x="0" y="0"/>
          <a:ext cx="0" cy="0"/>
          <a:chOff x="0" y="0"/>
          <a:chExt cx="0" cy="0"/>
        </a:xfrm>
      </p:grpSpPr>
      <p:pic>
        <p:nvPicPr>
          <p:cNvPr id="9" name="Picture 8" descr="A graph of a graph of a person&#10;&#10;AI-generated content may be incorrect.">
            <a:extLst>
              <a:ext uri="{FF2B5EF4-FFF2-40B4-BE49-F238E27FC236}">
                <a16:creationId xmlns:a16="http://schemas.microsoft.com/office/drawing/2014/main" id="{A532514E-9EB1-A0B4-4926-1A0749426655}"/>
              </a:ext>
            </a:extLst>
          </p:cNvPr>
          <p:cNvPicPr>
            <a:picLocks noChangeAspect="1"/>
          </p:cNvPicPr>
          <p:nvPr/>
        </p:nvPicPr>
        <p:blipFill>
          <a:blip r:embed="rId2">
            <a:extLst>
              <a:ext uri="{28A0092B-C50C-407E-A947-70E740481C1C}">
                <a14:useLocalDpi xmlns:a14="http://schemas.microsoft.com/office/drawing/2010/main" val="0"/>
              </a:ext>
            </a:extLst>
          </a:blip>
          <a:srcRect r="50000" b="1451"/>
          <a:stretch>
            <a:fillRect/>
          </a:stretch>
        </p:blipFill>
        <p:spPr>
          <a:xfrm>
            <a:off x="7024139" y="2162802"/>
            <a:ext cx="5078428" cy="3121006"/>
          </a:xfrm>
          <a:prstGeom prst="rect">
            <a:avLst/>
          </a:prstGeom>
        </p:spPr>
      </p:pic>
      <p:sp>
        <p:nvSpPr>
          <p:cNvPr id="2" name="Title 1">
            <a:extLst>
              <a:ext uri="{FF2B5EF4-FFF2-40B4-BE49-F238E27FC236}">
                <a16:creationId xmlns:a16="http://schemas.microsoft.com/office/drawing/2014/main" id="{40B72B54-A2F9-C42E-921E-3EFD24AB0328}"/>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ACCD1F61-EF9A-0B16-A093-25FE85899519}"/>
              </a:ext>
            </a:extLst>
          </p:cNvPr>
          <p:cNvSpPr>
            <a:spLocks noGrp="1"/>
          </p:cNvSpPr>
          <p:nvPr>
            <p:ph idx="1"/>
          </p:nvPr>
        </p:nvSpPr>
        <p:spPr>
          <a:xfrm>
            <a:off x="838200" y="1825625"/>
            <a:ext cx="6163235" cy="4753718"/>
          </a:xfrm>
        </p:spPr>
        <p:txBody>
          <a:bodyPr>
            <a:normAutofit/>
          </a:bodyPr>
          <a:lstStyle/>
          <a:p>
            <a:pPr marL="0" indent="0">
              <a:buNone/>
            </a:pPr>
            <a:r>
              <a:rPr lang="en-US" altLang="en-US" b="1" dirty="0"/>
              <a:t>Neuronal Cell Death (</a:t>
            </a:r>
            <a:r>
              <a:rPr lang="en-US" altLang="en-US" b="1" i="1" dirty="0"/>
              <a:t>Apoptosis</a:t>
            </a:r>
            <a:r>
              <a:rPr lang="en-US" altLang="en-US" b="1" dirty="0"/>
              <a:t>):</a:t>
            </a:r>
          </a:p>
          <a:p>
            <a:r>
              <a:rPr lang="en-US" altLang="en-US" b="1" dirty="0"/>
              <a:t>Hamburger, 1975</a:t>
            </a:r>
          </a:p>
          <a:p>
            <a:pPr lvl="1"/>
            <a:r>
              <a:rPr lang="en-US" altLang="en-US" sz="2300" b="1" dirty="0">
                <a:latin typeface="Aptos" panose="020B0004020202020204" pitchFamily="34" charset="0"/>
              </a:rPr>
              <a:t>Results:</a:t>
            </a:r>
            <a:r>
              <a:rPr lang="en-US" altLang="en-US" sz="2300" dirty="0">
                <a:latin typeface="Aptos" panose="020B0004020202020204" pitchFamily="34" charset="0"/>
              </a:rPr>
              <a:t> </a:t>
            </a:r>
            <a:r>
              <a:rPr lang="en-US" sz="2300" dirty="0">
                <a:latin typeface="Aptos" panose="020B0004020202020204" pitchFamily="34" charset="0"/>
              </a:rPr>
              <a:t>Exponential decline in surviving neurons</a:t>
            </a:r>
            <a:endParaRPr lang="en-US" altLang="en-US" sz="2300" dirty="0">
              <a:latin typeface="Aptos" panose="020B0004020202020204" pitchFamily="34" charset="0"/>
            </a:endParaRPr>
          </a:p>
          <a:p>
            <a:pPr lvl="2"/>
            <a:r>
              <a:rPr lang="en-US" altLang="en-US" sz="1900" dirty="0">
                <a:latin typeface="Aptos" panose="020B0004020202020204" pitchFamily="34" charset="0"/>
              </a:rPr>
              <a:t>Death occurs early in prenatal development</a:t>
            </a:r>
          </a:p>
          <a:p>
            <a:pPr lvl="2"/>
            <a:r>
              <a:rPr lang="en-US" altLang="en-US" sz="1900" dirty="0">
                <a:latin typeface="Aptos" panose="020B0004020202020204" pitchFamily="34" charset="0"/>
              </a:rPr>
              <a:t>Approximately 40% of motor neurons die</a:t>
            </a:r>
          </a:p>
          <a:p>
            <a:pPr lvl="1"/>
            <a:endParaRPr lang="en-US" altLang="en-US" sz="2300" dirty="0">
              <a:latin typeface="Aptos" panose="020B0004020202020204" pitchFamily="34" charset="0"/>
            </a:endParaRPr>
          </a:p>
          <a:p>
            <a:pPr lvl="1"/>
            <a:r>
              <a:rPr lang="en-US" altLang="en-US" sz="2300" b="1" dirty="0">
                <a:latin typeface="Aptos" panose="020B0004020202020204" pitchFamily="34" charset="0"/>
              </a:rPr>
              <a:t>Conclusion:</a:t>
            </a:r>
            <a:r>
              <a:rPr lang="en-US" altLang="en-US" sz="2300" dirty="0">
                <a:latin typeface="Aptos" panose="020B0004020202020204" pitchFamily="34" charset="0"/>
              </a:rPr>
              <a:t> </a:t>
            </a:r>
            <a:r>
              <a:rPr lang="en-US" sz="2200" dirty="0"/>
              <a:t>Early development produces excess neurons</a:t>
            </a:r>
          </a:p>
          <a:p>
            <a:pPr lvl="2"/>
            <a:r>
              <a:rPr lang="en-US" sz="1900" dirty="0"/>
              <a:t>Many neurons are later eliminated through programmed cell death (apoptosis)</a:t>
            </a:r>
          </a:p>
          <a:p>
            <a:pPr lvl="2"/>
            <a:r>
              <a:rPr lang="en-US" sz="1900" dirty="0"/>
              <a:t>Only neurons that form appropriate connections survive</a:t>
            </a:r>
            <a:endParaRPr lang="en-US" altLang="en-US" sz="1900" dirty="0"/>
          </a:p>
          <a:p>
            <a:pPr lvl="3"/>
            <a:endParaRPr lang="en-US" altLang="en-US" dirty="0"/>
          </a:p>
        </p:txBody>
      </p:sp>
    </p:spTree>
    <p:extLst>
      <p:ext uri="{BB962C8B-B14F-4D97-AF65-F5344CB8AC3E}">
        <p14:creationId xmlns:p14="http://schemas.microsoft.com/office/powerpoint/2010/main" val="31823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91B7-B1A8-3992-B0E6-D5C038215EE5}"/>
            </a:ext>
          </a:extLst>
        </p:cNvPr>
        <p:cNvGrpSpPr/>
        <p:nvPr/>
      </p:nvGrpSpPr>
      <p:grpSpPr>
        <a:xfrm>
          <a:off x="0" y="0"/>
          <a:ext cx="0" cy="0"/>
          <a:chOff x="0" y="0"/>
          <a:chExt cx="0" cy="0"/>
        </a:xfrm>
      </p:grpSpPr>
      <p:pic>
        <p:nvPicPr>
          <p:cNvPr id="9" name="Picture 8" descr="A diagram of a cell&#10;&#10;AI-generated content may be incorrect.">
            <a:extLst>
              <a:ext uri="{FF2B5EF4-FFF2-40B4-BE49-F238E27FC236}">
                <a16:creationId xmlns:a16="http://schemas.microsoft.com/office/drawing/2014/main" id="{DA69A155-7B61-A539-D716-61546B678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1702" y="233329"/>
            <a:ext cx="5112289" cy="6545467"/>
          </a:xfrm>
          <a:prstGeom prst="rect">
            <a:avLst/>
          </a:prstGeom>
        </p:spPr>
      </p:pic>
      <p:sp>
        <p:nvSpPr>
          <p:cNvPr id="2" name="Title 1">
            <a:extLst>
              <a:ext uri="{FF2B5EF4-FFF2-40B4-BE49-F238E27FC236}">
                <a16:creationId xmlns:a16="http://schemas.microsoft.com/office/drawing/2014/main" id="{A7489F06-A617-DA9D-D688-4FC395024275}"/>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B8365F77-C5CF-A302-3B73-BE83E33C5B36}"/>
              </a:ext>
            </a:extLst>
          </p:cNvPr>
          <p:cNvSpPr>
            <a:spLocks noGrp="1"/>
          </p:cNvSpPr>
          <p:nvPr>
            <p:ph idx="1"/>
          </p:nvPr>
        </p:nvSpPr>
        <p:spPr>
          <a:xfrm>
            <a:off x="838200" y="1825625"/>
            <a:ext cx="6442099" cy="4753718"/>
          </a:xfrm>
        </p:spPr>
        <p:txBody>
          <a:bodyPr>
            <a:normAutofit fontScale="92500" lnSpcReduction="10000"/>
          </a:bodyPr>
          <a:lstStyle/>
          <a:p>
            <a:pPr marL="0" indent="0">
              <a:buNone/>
            </a:pPr>
            <a:r>
              <a:rPr lang="en-US" altLang="en-US" b="1" dirty="0"/>
              <a:t>Neuronal Cell Death (</a:t>
            </a:r>
            <a:r>
              <a:rPr lang="en-US" altLang="en-US" b="1" i="1" dirty="0"/>
              <a:t>Apoptosis</a:t>
            </a:r>
            <a:r>
              <a:rPr lang="en-US" altLang="en-US" b="1" dirty="0"/>
              <a:t>):</a:t>
            </a:r>
          </a:p>
          <a:p>
            <a:r>
              <a:rPr lang="en-US" altLang="en-US" dirty="0"/>
              <a:t>Cell death regulated by </a:t>
            </a:r>
            <a:r>
              <a:rPr lang="en-US" altLang="en-US" b="1" dirty="0"/>
              <a:t>death genes</a:t>
            </a:r>
            <a:r>
              <a:rPr lang="en-US" altLang="en-US" dirty="0"/>
              <a:t>, which activate caspases</a:t>
            </a:r>
          </a:p>
          <a:p>
            <a:pPr lvl="1"/>
            <a:r>
              <a:rPr lang="en-US" altLang="en-US" dirty="0"/>
              <a:t>Influx and release of Ca</a:t>
            </a:r>
            <a:r>
              <a:rPr lang="en-US" altLang="en-US" baseline="30000" dirty="0"/>
              <a:t>2+</a:t>
            </a:r>
            <a:r>
              <a:rPr lang="en-US" altLang="en-US" dirty="0"/>
              <a:t> causes mitochondria to release the Diablo protein</a:t>
            </a:r>
          </a:p>
          <a:p>
            <a:pPr lvl="2"/>
            <a:r>
              <a:rPr lang="en-US" altLang="en-US" dirty="0"/>
              <a:t>Influx of Ca</a:t>
            </a:r>
            <a:r>
              <a:rPr lang="en-US" altLang="en-US" baseline="30000" dirty="0"/>
              <a:t>2+</a:t>
            </a:r>
            <a:r>
              <a:rPr lang="en-US" altLang="en-US" dirty="0"/>
              <a:t> is caused by many factors such as cellular stress, membrane damage, lack of neurotrophic factors</a:t>
            </a:r>
          </a:p>
          <a:p>
            <a:pPr lvl="1"/>
            <a:r>
              <a:rPr lang="en-US" altLang="en-US" dirty="0"/>
              <a:t>Diablo proteins disable inhibitors of apoptosis proteins (IAPs)</a:t>
            </a:r>
          </a:p>
          <a:p>
            <a:pPr lvl="1"/>
            <a:r>
              <a:rPr lang="en-US" dirty="0"/>
              <a:t>Reduced IAP activity allows caspases to become activated</a:t>
            </a:r>
          </a:p>
          <a:p>
            <a:pPr lvl="1"/>
            <a:r>
              <a:rPr lang="en-US" dirty="0"/>
              <a:t>Caspases are enzymes that break down cellular proteins and DNA, leading to apoptosis</a:t>
            </a:r>
            <a:endParaRPr lang="en-US" altLang="en-US" dirty="0"/>
          </a:p>
        </p:txBody>
      </p:sp>
    </p:spTree>
    <p:extLst>
      <p:ext uri="{BB962C8B-B14F-4D97-AF65-F5344CB8AC3E}">
        <p14:creationId xmlns:p14="http://schemas.microsoft.com/office/powerpoint/2010/main" val="421309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43F13-E8A2-1497-42BA-F16C01743842}"/>
            </a:ext>
          </a:extLst>
        </p:cNvPr>
        <p:cNvGrpSpPr/>
        <p:nvPr/>
      </p:nvGrpSpPr>
      <p:grpSpPr>
        <a:xfrm>
          <a:off x="0" y="0"/>
          <a:ext cx="0" cy="0"/>
          <a:chOff x="0" y="0"/>
          <a:chExt cx="0" cy="0"/>
        </a:xfrm>
      </p:grpSpPr>
      <p:pic>
        <p:nvPicPr>
          <p:cNvPr id="4" name="Content Placeholder 6" descr="The six stages of neural development are as follows. 1. Cells of the neural tube divide to provide progeny cells. 2. The cells produced migrate to their appropriate regions. 3. Each cell differentiates, expressing a particular subset of genes, to become a particular type of neuron or glial cell. 4. Neurons extend their axons and dendrites and form many synapses with one another. 5. Many neurons normally die early in development. 6. Many of the synapses initially formed will later be retracted while other, later appearing synapses form.">
            <a:extLst>
              <a:ext uri="{FF2B5EF4-FFF2-40B4-BE49-F238E27FC236}">
                <a16:creationId xmlns:a16="http://schemas.microsoft.com/office/drawing/2014/main" id="{6D1E3D83-1A26-08E1-7ACD-989DF78747A6}"/>
              </a:ext>
            </a:extLst>
          </p:cNvPr>
          <p:cNvPicPr>
            <a:picLocks noGrp="1" noChangeAspect="1"/>
          </p:cNvPicPr>
          <p:nvPr/>
        </p:nvPicPr>
        <p:blipFill>
          <a:blip r:embed="rId2"/>
          <a:srcRect l="65198" t="52410" r="487" b="5992"/>
          <a:stretch>
            <a:fillRect/>
          </a:stretch>
        </p:blipFill>
        <p:spPr>
          <a:xfrm>
            <a:off x="7205692" y="949678"/>
            <a:ext cx="4878624" cy="5752271"/>
          </a:xfrm>
          <a:prstGeom prst="rect">
            <a:avLst/>
          </a:prstGeom>
        </p:spPr>
      </p:pic>
      <p:sp>
        <p:nvSpPr>
          <p:cNvPr id="2" name="Title 1">
            <a:extLst>
              <a:ext uri="{FF2B5EF4-FFF2-40B4-BE49-F238E27FC236}">
                <a16:creationId xmlns:a16="http://schemas.microsoft.com/office/drawing/2014/main" id="{CD91B12A-0732-B41C-1904-BB03B389BA61}"/>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BF448902-7EC5-F16A-6516-0A684C0D8EBB}"/>
              </a:ext>
            </a:extLst>
          </p:cNvPr>
          <p:cNvSpPr>
            <a:spLocks noGrp="1"/>
          </p:cNvSpPr>
          <p:nvPr>
            <p:ph idx="1"/>
          </p:nvPr>
        </p:nvSpPr>
        <p:spPr>
          <a:xfrm>
            <a:off x="838200" y="1825624"/>
            <a:ext cx="6595663" cy="5032375"/>
          </a:xfrm>
        </p:spPr>
        <p:txBody>
          <a:bodyPr>
            <a:normAutofit fontScale="92500"/>
          </a:bodyPr>
          <a:lstStyle/>
          <a:p>
            <a:pPr marL="0" indent="0">
              <a:buNone/>
            </a:pPr>
            <a:r>
              <a:rPr lang="en-US" altLang="en-US" b="1" dirty="0"/>
              <a:t>Synapse Rearrangement: </a:t>
            </a:r>
            <a:r>
              <a:rPr lang="en-US" altLang="en-US" dirty="0"/>
              <a:t>Synaptic connections are pruned, rearranged, and proliferated</a:t>
            </a:r>
          </a:p>
          <a:p>
            <a:r>
              <a:rPr lang="en-US" altLang="en-US" b="1" dirty="0"/>
              <a:t>Pruning</a:t>
            </a:r>
            <a:r>
              <a:rPr lang="en-US" altLang="en-US" dirty="0"/>
              <a:t>: Elimination of a synapse</a:t>
            </a:r>
          </a:p>
          <a:p>
            <a:r>
              <a:rPr lang="en-US" altLang="en-US" b="1" dirty="0"/>
              <a:t>Rearrangement</a:t>
            </a:r>
            <a:r>
              <a:rPr lang="en-US" altLang="en-US" dirty="0"/>
              <a:t>: Movement of a synapse</a:t>
            </a:r>
          </a:p>
          <a:p>
            <a:r>
              <a:rPr lang="en-US" altLang="en-US" b="1" dirty="0"/>
              <a:t>Proliferation</a:t>
            </a:r>
            <a:r>
              <a:rPr lang="en-US" altLang="en-US" dirty="0"/>
              <a:t>: Formation of new synapses</a:t>
            </a:r>
          </a:p>
          <a:p>
            <a:r>
              <a:rPr lang="en-US" altLang="en-US" b="1" dirty="0"/>
              <a:t>Features:</a:t>
            </a:r>
          </a:p>
          <a:p>
            <a:pPr lvl="1"/>
            <a:r>
              <a:rPr lang="en-US" altLang="en-US" dirty="0"/>
              <a:t>Fine tunes communication</a:t>
            </a:r>
          </a:p>
          <a:p>
            <a:pPr lvl="1"/>
            <a:r>
              <a:rPr lang="en-US" altLang="en-US" dirty="0"/>
              <a:t>Affects axon and dendrite connectivity</a:t>
            </a:r>
          </a:p>
          <a:p>
            <a:pPr lvl="1"/>
            <a:r>
              <a:rPr lang="en-US" altLang="en-US" dirty="0"/>
              <a:t>Especially prominent in cerebral cortex, cerebellum, the brainstem, and the visual cortex</a:t>
            </a:r>
          </a:p>
          <a:p>
            <a:pPr marL="914400" lvl="2" indent="0">
              <a:buNone/>
            </a:pPr>
            <a:endParaRPr lang="en-US" altLang="en-US" dirty="0"/>
          </a:p>
          <a:p>
            <a:pPr lvl="3"/>
            <a:endParaRPr lang="en-US" altLang="en-US" dirty="0"/>
          </a:p>
        </p:txBody>
      </p:sp>
    </p:spTree>
    <p:extLst>
      <p:ext uri="{BB962C8B-B14F-4D97-AF65-F5344CB8AC3E}">
        <p14:creationId xmlns:p14="http://schemas.microsoft.com/office/powerpoint/2010/main" val="1058670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8F716-6361-CB10-70D9-2C98C52E9134}"/>
            </a:ext>
          </a:extLst>
        </p:cNvPr>
        <p:cNvGrpSpPr/>
        <p:nvPr/>
      </p:nvGrpSpPr>
      <p:grpSpPr>
        <a:xfrm>
          <a:off x="0" y="0"/>
          <a:ext cx="0" cy="0"/>
          <a:chOff x="0" y="0"/>
          <a:chExt cx="0" cy="0"/>
        </a:xfrm>
      </p:grpSpPr>
      <p:pic>
        <p:nvPicPr>
          <p:cNvPr id="8" name="Picture 7" descr="A diagram of a brain&#10;&#10;AI-generated content may be incorrect.">
            <a:extLst>
              <a:ext uri="{FF2B5EF4-FFF2-40B4-BE49-F238E27FC236}">
                <a16:creationId xmlns:a16="http://schemas.microsoft.com/office/drawing/2014/main" id="{FB0A1290-67BE-49F2-4DA9-97CBD006D482}"/>
              </a:ext>
            </a:extLst>
          </p:cNvPr>
          <p:cNvPicPr>
            <a:picLocks noChangeAspect="1"/>
          </p:cNvPicPr>
          <p:nvPr/>
        </p:nvPicPr>
        <p:blipFill>
          <a:blip r:embed="rId2">
            <a:extLst>
              <a:ext uri="{28A0092B-C50C-407E-A947-70E740481C1C}">
                <a14:useLocalDpi xmlns:a14="http://schemas.microsoft.com/office/drawing/2010/main" val="0"/>
              </a:ext>
            </a:extLst>
          </a:blip>
          <a:srcRect l="-12993" t="6023" r="57191" b="-6023"/>
          <a:stretch>
            <a:fillRect/>
          </a:stretch>
        </p:blipFill>
        <p:spPr>
          <a:xfrm>
            <a:off x="7279447" y="129928"/>
            <a:ext cx="4141987" cy="4072556"/>
          </a:xfrm>
          <a:prstGeom prst="rect">
            <a:avLst/>
          </a:prstGeom>
        </p:spPr>
      </p:pic>
      <p:pic>
        <p:nvPicPr>
          <p:cNvPr id="6" name="Picture 5" descr="A diagram of a brain&#10;&#10;AI-generated content may be incorrect.">
            <a:extLst>
              <a:ext uri="{FF2B5EF4-FFF2-40B4-BE49-F238E27FC236}">
                <a16:creationId xmlns:a16="http://schemas.microsoft.com/office/drawing/2014/main" id="{4330F9A8-80B8-7AE6-AE1F-CBB4EA7CDA30}"/>
              </a:ext>
            </a:extLst>
          </p:cNvPr>
          <p:cNvPicPr>
            <a:picLocks noChangeAspect="1"/>
          </p:cNvPicPr>
          <p:nvPr/>
        </p:nvPicPr>
        <p:blipFill>
          <a:blip r:embed="rId2">
            <a:extLst>
              <a:ext uri="{28A0092B-C50C-407E-A947-70E740481C1C}">
                <a14:useLocalDpi xmlns:a14="http://schemas.microsoft.com/office/drawing/2010/main" val="0"/>
              </a:ext>
            </a:extLst>
          </a:blip>
          <a:srcRect l="44198"/>
          <a:stretch>
            <a:fillRect/>
          </a:stretch>
        </p:blipFill>
        <p:spPr>
          <a:xfrm>
            <a:off x="8191725" y="3235158"/>
            <a:ext cx="3313256" cy="3257717"/>
          </a:xfrm>
          <a:prstGeom prst="rect">
            <a:avLst/>
          </a:prstGeom>
        </p:spPr>
      </p:pic>
      <p:sp>
        <p:nvSpPr>
          <p:cNvPr id="2" name="Title 1">
            <a:extLst>
              <a:ext uri="{FF2B5EF4-FFF2-40B4-BE49-F238E27FC236}">
                <a16:creationId xmlns:a16="http://schemas.microsoft.com/office/drawing/2014/main" id="{F7ABA7DD-858C-F1D4-9E55-03D947B145AE}"/>
              </a:ext>
            </a:extLst>
          </p:cNvPr>
          <p:cNvSpPr>
            <a:spLocks noGrp="1"/>
          </p:cNvSpPr>
          <p:nvPr>
            <p:ph type="title"/>
          </p:nvPr>
        </p:nvSpPr>
        <p:spPr/>
        <p:txBody>
          <a:bodyPr/>
          <a:lstStyle/>
          <a:p>
            <a:r>
              <a:rPr lang="en-US" dirty="0"/>
              <a:t>Fetal Stage of Development</a:t>
            </a:r>
          </a:p>
        </p:txBody>
      </p:sp>
      <p:sp>
        <p:nvSpPr>
          <p:cNvPr id="3" name="Content Placeholder 2">
            <a:extLst>
              <a:ext uri="{FF2B5EF4-FFF2-40B4-BE49-F238E27FC236}">
                <a16:creationId xmlns:a16="http://schemas.microsoft.com/office/drawing/2014/main" id="{45B1FFA9-1881-FF42-5622-9067B6165139}"/>
              </a:ext>
            </a:extLst>
          </p:cNvPr>
          <p:cNvSpPr>
            <a:spLocks noGrp="1"/>
          </p:cNvSpPr>
          <p:nvPr>
            <p:ph idx="1"/>
          </p:nvPr>
        </p:nvSpPr>
        <p:spPr>
          <a:xfrm>
            <a:off x="838200" y="1825624"/>
            <a:ext cx="7353525" cy="5032375"/>
          </a:xfrm>
        </p:spPr>
        <p:txBody>
          <a:bodyPr>
            <a:normAutofit lnSpcReduction="10000"/>
          </a:bodyPr>
          <a:lstStyle/>
          <a:p>
            <a:pPr marL="0" indent="0">
              <a:buNone/>
            </a:pPr>
            <a:r>
              <a:rPr lang="en-US" altLang="en-US" b="1" dirty="0"/>
              <a:t>Synapse Rearrangement</a:t>
            </a:r>
          </a:p>
          <a:p>
            <a:r>
              <a:rPr lang="en-US" altLang="en-US" b="1" dirty="0"/>
              <a:t>Cerebral Cortex: </a:t>
            </a:r>
          </a:p>
          <a:p>
            <a:pPr lvl="1"/>
            <a:r>
              <a:rPr lang="en-US" altLang="en-US" dirty="0"/>
              <a:t>Extensive pruning through late childhood into adolescence</a:t>
            </a:r>
          </a:p>
          <a:p>
            <a:pPr lvl="2"/>
            <a:r>
              <a:rPr lang="en-US" dirty="0"/>
              <a:t>Rearrangement generally progresses in a caudal (back) to rostral (front) direction</a:t>
            </a:r>
          </a:p>
          <a:p>
            <a:pPr lvl="1"/>
            <a:r>
              <a:rPr lang="en-US" dirty="0"/>
              <a:t>Prefrontal cortex maturation is associated with improvements in impulse control and decision making</a:t>
            </a:r>
          </a:p>
          <a:p>
            <a:pPr lvl="2"/>
            <a:r>
              <a:rPr lang="en-US" altLang="en-US" dirty="0"/>
              <a:t>Explains impulsivity and lack of control in teenagers</a:t>
            </a:r>
          </a:p>
          <a:p>
            <a:pPr lvl="1"/>
            <a:r>
              <a:rPr lang="en-US" dirty="0"/>
              <a:t>Cortical maturation typically occurs earlier in females than males</a:t>
            </a:r>
          </a:p>
          <a:p>
            <a:pPr lvl="2"/>
            <a:r>
              <a:rPr lang="en-US" dirty="0"/>
              <a:t>These developmental differences may contribute to average sex differences in behavioral maturity during adolescence</a:t>
            </a:r>
            <a:endParaRPr lang="en-US" altLang="en-US" dirty="0"/>
          </a:p>
          <a:p>
            <a:pPr lvl="3"/>
            <a:endParaRPr lang="en-US" altLang="en-US" dirty="0"/>
          </a:p>
        </p:txBody>
      </p:sp>
      <p:pic>
        <p:nvPicPr>
          <p:cNvPr id="11" name="Picture 10" descr="A close-up of a sign&#10;&#10;AI-generated content may be incorrect.">
            <a:extLst>
              <a:ext uri="{FF2B5EF4-FFF2-40B4-BE49-F238E27FC236}">
                <a16:creationId xmlns:a16="http://schemas.microsoft.com/office/drawing/2014/main" id="{246A9612-B90A-1EC1-AB88-4908D9D26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8861" y="2536946"/>
            <a:ext cx="1803493" cy="1124008"/>
          </a:xfrm>
          <a:prstGeom prst="rect">
            <a:avLst/>
          </a:prstGeom>
        </p:spPr>
      </p:pic>
    </p:spTree>
    <p:extLst>
      <p:ext uri="{BB962C8B-B14F-4D97-AF65-F5344CB8AC3E}">
        <p14:creationId xmlns:p14="http://schemas.microsoft.com/office/powerpoint/2010/main" val="276526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BE5D-C495-84E8-AE9F-7D493D60BEBF}"/>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544B45F6-CEC1-848B-D88E-9F70C7819613}"/>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Stages of Development</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Development and Experience</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Epigenetics and Experience</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067CFE14-19A2-BD7E-4675-57F8E44144CF}"/>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5074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CDE31-DA7D-096E-29E3-64A5DF998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54252-9958-E02B-FD8E-AC3D689A6B89}"/>
              </a:ext>
            </a:extLst>
          </p:cNvPr>
          <p:cNvSpPr>
            <a:spLocks noGrp="1"/>
          </p:cNvSpPr>
          <p:nvPr>
            <p:ph type="title"/>
          </p:nvPr>
        </p:nvSpPr>
        <p:spPr/>
        <p:txBody>
          <a:bodyPr/>
          <a:lstStyle/>
          <a:p>
            <a:r>
              <a:rPr lang="en-US" dirty="0"/>
              <a:t>Development and Experience</a:t>
            </a:r>
          </a:p>
        </p:txBody>
      </p:sp>
      <p:sp>
        <p:nvSpPr>
          <p:cNvPr id="3" name="Content Placeholder 2">
            <a:extLst>
              <a:ext uri="{FF2B5EF4-FFF2-40B4-BE49-F238E27FC236}">
                <a16:creationId xmlns:a16="http://schemas.microsoft.com/office/drawing/2014/main" id="{07383E80-5B09-E40B-89D3-64BCE035CA78}"/>
              </a:ext>
            </a:extLst>
          </p:cNvPr>
          <p:cNvSpPr>
            <a:spLocks noGrp="1"/>
          </p:cNvSpPr>
          <p:nvPr>
            <p:ph idx="1"/>
          </p:nvPr>
        </p:nvSpPr>
        <p:spPr>
          <a:xfrm>
            <a:off x="838200" y="1825624"/>
            <a:ext cx="7113342" cy="5032375"/>
          </a:xfrm>
        </p:spPr>
        <p:txBody>
          <a:bodyPr>
            <a:normAutofit lnSpcReduction="10000"/>
          </a:bodyPr>
          <a:lstStyle/>
          <a:p>
            <a:pPr marL="0" indent="0">
              <a:buNone/>
            </a:pPr>
            <a:r>
              <a:rPr lang="en-US" altLang="en-US" b="1" dirty="0"/>
              <a:t>Synapse Rearrangement: </a:t>
            </a:r>
            <a:r>
              <a:rPr lang="en-US" altLang="en-US" dirty="0"/>
              <a:t>Synaptic connections are pruned, rearranged, and proliferated</a:t>
            </a:r>
          </a:p>
          <a:p>
            <a:r>
              <a:rPr lang="en-US" altLang="en-US" dirty="0"/>
              <a:t>Driven by experience</a:t>
            </a:r>
          </a:p>
          <a:p>
            <a:r>
              <a:rPr lang="en-US" altLang="en-US" i="1" dirty="0"/>
              <a:t>‘Use it or lose it’ versus ‘Neurons that fire together, wire together’</a:t>
            </a:r>
          </a:p>
          <a:p>
            <a:pPr lvl="1"/>
            <a:r>
              <a:rPr lang="en-US" altLang="en-US" dirty="0"/>
              <a:t>If presynaptic activity consistently drives a postsynaptic neuron, the synapse strengthens</a:t>
            </a:r>
          </a:p>
          <a:p>
            <a:pPr lvl="1"/>
            <a:r>
              <a:rPr lang="en-US" altLang="en-US" dirty="0"/>
              <a:t>If it fails to activate the postsynaptic cell, the synapse weakens and may die</a:t>
            </a:r>
          </a:p>
          <a:p>
            <a:r>
              <a:rPr lang="en-US" altLang="en-US" dirty="0"/>
              <a:t>This drives synaptic rearrangement in early development, but continues throughout life</a:t>
            </a:r>
          </a:p>
          <a:p>
            <a:r>
              <a:rPr lang="en-US" altLang="en-US" dirty="0"/>
              <a:t>Hypothesized to reflect learning</a:t>
            </a:r>
          </a:p>
          <a:p>
            <a:pPr lvl="2"/>
            <a:endParaRPr lang="en-US" altLang="en-US" i="1" dirty="0"/>
          </a:p>
          <a:p>
            <a:pPr lvl="2"/>
            <a:endParaRPr lang="en-US" altLang="en-US" dirty="0"/>
          </a:p>
          <a:p>
            <a:pPr lvl="3"/>
            <a:endParaRPr lang="en-US" altLang="en-US" dirty="0"/>
          </a:p>
        </p:txBody>
      </p:sp>
      <p:pic>
        <p:nvPicPr>
          <p:cNvPr id="6" name="Picture 5" descr="A close-up of a neuron&#10;&#10;AI-generated content may be incorrect.">
            <a:extLst>
              <a:ext uri="{FF2B5EF4-FFF2-40B4-BE49-F238E27FC236}">
                <a16:creationId xmlns:a16="http://schemas.microsoft.com/office/drawing/2014/main" id="{2AED26C5-EB82-0D83-5D53-377BAF813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2179" y="3429000"/>
            <a:ext cx="3735800" cy="3310692"/>
          </a:xfrm>
          <a:prstGeom prst="rect">
            <a:avLst/>
          </a:prstGeom>
        </p:spPr>
      </p:pic>
      <p:pic>
        <p:nvPicPr>
          <p:cNvPr id="8" name="Picture 7" descr="Diagram of growth and growth cone&#10;&#10;AI-generated content may be incorrect.">
            <a:extLst>
              <a:ext uri="{FF2B5EF4-FFF2-40B4-BE49-F238E27FC236}">
                <a16:creationId xmlns:a16="http://schemas.microsoft.com/office/drawing/2014/main" id="{5F35C175-9C60-90DE-DE50-A6B655CD7C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5415" y="1111160"/>
            <a:ext cx="4596585" cy="2317840"/>
          </a:xfrm>
          <a:prstGeom prst="rect">
            <a:avLst/>
          </a:prstGeom>
        </p:spPr>
      </p:pic>
    </p:spTree>
    <p:extLst>
      <p:ext uri="{BB962C8B-B14F-4D97-AF65-F5344CB8AC3E}">
        <p14:creationId xmlns:p14="http://schemas.microsoft.com/office/powerpoint/2010/main" val="293545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AFDA-676B-DA9B-E6DA-2F954843DD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49C05-4EB5-CAFB-8F34-AD724DBF8EA2}"/>
              </a:ext>
            </a:extLst>
          </p:cNvPr>
          <p:cNvSpPr>
            <a:spLocks noGrp="1"/>
          </p:cNvSpPr>
          <p:nvPr>
            <p:ph idx="1"/>
          </p:nvPr>
        </p:nvSpPr>
        <p:spPr>
          <a:xfrm>
            <a:off x="838200" y="1825624"/>
            <a:ext cx="6311641" cy="5032375"/>
          </a:xfrm>
        </p:spPr>
        <p:txBody>
          <a:bodyPr>
            <a:normAutofit/>
          </a:bodyPr>
          <a:lstStyle/>
          <a:p>
            <a:pPr marL="0" indent="0">
              <a:buNone/>
            </a:pPr>
            <a:r>
              <a:rPr lang="en-US" altLang="en-US" b="1" dirty="0"/>
              <a:t>Synapse Rearrangement</a:t>
            </a:r>
            <a:endParaRPr lang="en-US" b="1" dirty="0"/>
          </a:p>
          <a:p>
            <a:r>
              <a:rPr lang="en-US" dirty="0"/>
              <a:t>Facilitated through experience in development and across the lifespan</a:t>
            </a:r>
          </a:p>
          <a:p>
            <a:r>
              <a:rPr lang="en-US" dirty="0"/>
              <a:t>Learning new knowledge will form new synapses and strengthen existing ones</a:t>
            </a:r>
          </a:p>
          <a:p>
            <a:r>
              <a:rPr lang="en-US" dirty="0"/>
              <a:t>Networks of neurons formed through learning are hypothesized to reflect an internal representation of knowledge</a:t>
            </a:r>
          </a:p>
          <a:p>
            <a:pPr lvl="1"/>
            <a:r>
              <a:rPr lang="en-US" dirty="0"/>
              <a:t>E.g., this collection of neurons and their connections represents an apple</a:t>
            </a:r>
          </a:p>
          <a:p>
            <a:endParaRPr lang="en-US" altLang="en-US" dirty="0">
              <a:latin typeface="Arial" panose="020B0604020202020204" pitchFamily="34" charset="0"/>
            </a:endParaRPr>
          </a:p>
          <a:p>
            <a:pPr lvl="3"/>
            <a:endParaRPr lang="en-US" altLang="en-US" i="1" dirty="0"/>
          </a:p>
          <a:p>
            <a:pPr lvl="2"/>
            <a:endParaRPr lang="en-US" altLang="en-US" dirty="0"/>
          </a:p>
          <a:p>
            <a:pPr lvl="3"/>
            <a:endParaRPr lang="en-US" altLang="en-US" dirty="0"/>
          </a:p>
        </p:txBody>
      </p:sp>
      <p:sp>
        <p:nvSpPr>
          <p:cNvPr id="7" name="Rectangle: Rounded Corners 6">
            <a:extLst>
              <a:ext uri="{FF2B5EF4-FFF2-40B4-BE49-F238E27FC236}">
                <a16:creationId xmlns:a16="http://schemas.microsoft.com/office/drawing/2014/main" id="{BBAE36C7-7E27-660C-2E1C-9E9AD354A617}"/>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1709AE-FA5F-3963-F6C2-2DF14D1E9C41}"/>
              </a:ext>
            </a:extLst>
          </p:cNvPr>
          <p:cNvSpPr>
            <a:spLocks noGrp="1"/>
          </p:cNvSpPr>
          <p:nvPr>
            <p:ph type="title"/>
          </p:nvPr>
        </p:nvSpPr>
        <p:spPr/>
        <p:txBody>
          <a:bodyPr/>
          <a:lstStyle/>
          <a:p>
            <a:r>
              <a:rPr lang="en-US" dirty="0"/>
              <a:t>Development and Experience</a:t>
            </a:r>
          </a:p>
        </p:txBody>
      </p:sp>
      <p:pic>
        <p:nvPicPr>
          <p:cNvPr id="8" name="Picture 7" descr="A close-up of a neuron&#10;&#10;AI-generated content may be incorrect.">
            <a:extLst>
              <a:ext uri="{FF2B5EF4-FFF2-40B4-BE49-F238E27FC236}">
                <a16:creationId xmlns:a16="http://schemas.microsoft.com/office/drawing/2014/main" id="{970FC746-2BDF-D3CA-5E41-E766C8F85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2179" y="3429000"/>
            <a:ext cx="3735800" cy="3310692"/>
          </a:xfrm>
          <a:prstGeom prst="rect">
            <a:avLst/>
          </a:prstGeom>
        </p:spPr>
      </p:pic>
      <p:pic>
        <p:nvPicPr>
          <p:cNvPr id="6" name="Picture 5" descr="Diagram of growth and growth cone&#10;&#10;AI-generated content may be incorrect.">
            <a:extLst>
              <a:ext uri="{FF2B5EF4-FFF2-40B4-BE49-F238E27FC236}">
                <a16:creationId xmlns:a16="http://schemas.microsoft.com/office/drawing/2014/main" id="{DE2D79A4-A072-00D8-218F-AEB18609FC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95415" y="1111160"/>
            <a:ext cx="4596585" cy="2317840"/>
          </a:xfrm>
          <a:prstGeom prst="rect">
            <a:avLst/>
          </a:prstGeom>
        </p:spPr>
      </p:pic>
    </p:spTree>
    <p:extLst>
      <p:ext uri="{BB962C8B-B14F-4D97-AF65-F5344CB8AC3E}">
        <p14:creationId xmlns:p14="http://schemas.microsoft.com/office/powerpoint/2010/main" val="335735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4238C-B3A7-E22C-50E7-7497A5AB2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A501E-D9C4-E9F7-E0B6-75DCD5C992E3}"/>
              </a:ext>
            </a:extLst>
          </p:cNvPr>
          <p:cNvSpPr>
            <a:spLocks noGrp="1"/>
          </p:cNvSpPr>
          <p:nvPr>
            <p:ph type="title"/>
          </p:nvPr>
        </p:nvSpPr>
        <p:spPr/>
        <p:txBody>
          <a:bodyPr/>
          <a:lstStyle/>
          <a:p>
            <a:r>
              <a:rPr lang="en-US" dirty="0"/>
              <a:t>Development and Experience</a:t>
            </a:r>
          </a:p>
        </p:txBody>
      </p:sp>
      <p:sp>
        <p:nvSpPr>
          <p:cNvPr id="3" name="Content Placeholder 2">
            <a:extLst>
              <a:ext uri="{FF2B5EF4-FFF2-40B4-BE49-F238E27FC236}">
                <a16:creationId xmlns:a16="http://schemas.microsoft.com/office/drawing/2014/main" id="{B170F3C5-2348-7DD6-0DC5-D7366EBDE033}"/>
              </a:ext>
            </a:extLst>
          </p:cNvPr>
          <p:cNvSpPr>
            <a:spLocks noGrp="1"/>
          </p:cNvSpPr>
          <p:nvPr>
            <p:ph idx="1"/>
          </p:nvPr>
        </p:nvSpPr>
        <p:spPr>
          <a:xfrm>
            <a:off x="838200" y="1825624"/>
            <a:ext cx="6311641" cy="5032375"/>
          </a:xfrm>
        </p:spPr>
        <p:txBody>
          <a:bodyPr>
            <a:normAutofit lnSpcReduction="10000"/>
          </a:bodyPr>
          <a:lstStyle/>
          <a:p>
            <a:pPr marL="0" indent="0">
              <a:buNone/>
            </a:pPr>
            <a:r>
              <a:rPr lang="en-CA" b="1" dirty="0"/>
              <a:t>Long-Term Potentiation/Depression </a:t>
            </a:r>
          </a:p>
          <a:p>
            <a:r>
              <a:rPr lang="en-US" altLang="en-US" b="1" dirty="0"/>
              <a:t>Schmidt et al., 2002</a:t>
            </a:r>
          </a:p>
          <a:p>
            <a:pPr lvl="1"/>
            <a:r>
              <a:rPr lang="en-US" altLang="en-US" b="1" dirty="0"/>
              <a:t>Research Question: </a:t>
            </a:r>
            <a:r>
              <a:rPr lang="en-US" dirty="0"/>
              <a:t>Does lack of visual experience in one eye drive synaptic rearrangement in visual cortex?</a:t>
            </a:r>
          </a:p>
          <a:p>
            <a:pPr lvl="1"/>
            <a:endParaRPr lang="en-US" altLang="en-US" b="1" dirty="0"/>
          </a:p>
          <a:p>
            <a:pPr lvl="1"/>
            <a:r>
              <a:rPr lang="en-US" b="1" dirty="0"/>
              <a:t>Task</a:t>
            </a:r>
            <a:r>
              <a:rPr lang="en-US" dirty="0"/>
              <a:t>: One of a cat’s eyes is occluded, depriving visual stimulation. Axonal patterns traced with in visual cortex</a:t>
            </a:r>
          </a:p>
          <a:p>
            <a:pPr lvl="1"/>
            <a:endParaRPr lang="en-US" altLang="en-US" b="1" dirty="0"/>
          </a:p>
          <a:p>
            <a:pPr lvl="1"/>
            <a:r>
              <a:rPr lang="en-US" altLang="en-US" b="1" dirty="0"/>
              <a:t>IV: </a:t>
            </a:r>
            <a:r>
              <a:rPr lang="en-US" dirty="0"/>
              <a:t>Visual experience (normal vs. monocular deprivation)</a:t>
            </a:r>
          </a:p>
          <a:p>
            <a:pPr lvl="1"/>
            <a:endParaRPr lang="en-US" altLang="en-US" b="1" dirty="0"/>
          </a:p>
          <a:p>
            <a:pPr lvl="1"/>
            <a:r>
              <a:rPr lang="en-US" altLang="en-US" b="1" dirty="0"/>
              <a:t>DV: </a:t>
            </a:r>
            <a:r>
              <a:rPr lang="en-US" altLang="en-US" dirty="0"/>
              <a:t>Synaptic Territory/ Number of cells</a:t>
            </a:r>
            <a:endParaRPr lang="en-US" altLang="en-US" i="1" dirty="0"/>
          </a:p>
          <a:p>
            <a:pPr lvl="2"/>
            <a:endParaRPr lang="en-US" altLang="en-US" dirty="0"/>
          </a:p>
          <a:p>
            <a:pPr lvl="3"/>
            <a:endParaRPr lang="en-US" altLang="en-US" dirty="0"/>
          </a:p>
        </p:txBody>
      </p:sp>
      <p:pic>
        <p:nvPicPr>
          <p:cNvPr id="5" name="Picture 4" descr="A chart of different colored and blue eyes&#10;&#10;AI-generated content may be incorrect.">
            <a:extLst>
              <a:ext uri="{FF2B5EF4-FFF2-40B4-BE49-F238E27FC236}">
                <a16:creationId xmlns:a16="http://schemas.microsoft.com/office/drawing/2014/main" id="{BE4A02E7-9C54-DB90-F9FC-D5290A0A33FB}"/>
              </a:ext>
            </a:extLst>
          </p:cNvPr>
          <p:cNvPicPr>
            <a:picLocks noChangeAspect="1"/>
          </p:cNvPicPr>
          <p:nvPr/>
        </p:nvPicPr>
        <p:blipFill>
          <a:blip r:embed="rId3">
            <a:extLst>
              <a:ext uri="{28A0092B-C50C-407E-A947-70E740481C1C}">
                <a14:useLocalDpi xmlns:a14="http://schemas.microsoft.com/office/drawing/2010/main" val="0"/>
              </a:ext>
            </a:extLst>
          </a:blip>
          <a:srcRect l="635" t="1610"/>
          <a:stretch>
            <a:fillRect/>
          </a:stretch>
        </p:blipFill>
        <p:spPr>
          <a:xfrm>
            <a:off x="7181850" y="1499106"/>
            <a:ext cx="5010150" cy="4748554"/>
          </a:xfrm>
          <a:prstGeom prst="rect">
            <a:avLst/>
          </a:prstGeom>
        </p:spPr>
      </p:pic>
    </p:spTree>
    <p:extLst>
      <p:ext uri="{BB962C8B-B14F-4D97-AF65-F5344CB8AC3E}">
        <p14:creationId xmlns:p14="http://schemas.microsoft.com/office/powerpoint/2010/main" val="130111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B89D3-6D58-4861-8ED1-9669CB1A1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1BD3C-02B7-6121-3217-460578EA9F7D}"/>
              </a:ext>
            </a:extLst>
          </p:cNvPr>
          <p:cNvSpPr>
            <a:spLocks noGrp="1"/>
          </p:cNvSpPr>
          <p:nvPr>
            <p:ph type="title"/>
          </p:nvPr>
        </p:nvSpPr>
        <p:spPr/>
        <p:txBody>
          <a:bodyPr/>
          <a:lstStyle/>
          <a:p>
            <a:r>
              <a:rPr lang="en-US" dirty="0"/>
              <a:t>Development and Experience</a:t>
            </a:r>
          </a:p>
        </p:txBody>
      </p:sp>
      <p:sp>
        <p:nvSpPr>
          <p:cNvPr id="3" name="Content Placeholder 2">
            <a:extLst>
              <a:ext uri="{FF2B5EF4-FFF2-40B4-BE49-F238E27FC236}">
                <a16:creationId xmlns:a16="http://schemas.microsoft.com/office/drawing/2014/main" id="{DEEDCC0B-4D8B-3096-5FF8-828EBB349E29}"/>
              </a:ext>
            </a:extLst>
          </p:cNvPr>
          <p:cNvSpPr>
            <a:spLocks noGrp="1"/>
          </p:cNvSpPr>
          <p:nvPr>
            <p:ph idx="1"/>
          </p:nvPr>
        </p:nvSpPr>
        <p:spPr>
          <a:xfrm>
            <a:off x="838200" y="1825624"/>
            <a:ext cx="6311641" cy="5032375"/>
          </a:xfrm>
        </p:spPr>
        <p:txBody>
          <a:bodyPr>
            <a:normAutofit/>
          </a:bodyPr>
          <a:lstStyle/>
          <a:p>
            <a:pPr marL="0" indent="0">
              <a:buNone/>
            </a:pPr>
            <a:r>
              <a:rPr lang="en-CA" b="1" dirty="0"/>
              <a:t>Long-Term Potentiation/Depression </a:t>
            </a:r>
          </a:p>
          <a:p>
            <a:r>
              <a:rPr lang="en-US" altLang="en-US" b="1" dirty="0"/>
              <a:t>Schmidt et al., 2002</a:t>
            </a:r>
          </a:p>
          <a:p>
            <a:pPr lvl="1"/>
            <a:r>
              <a:rPr lang="en-US" altLang="en-US" b="1" dirty="0"/>
              <a:t>Results:</a:t>
            </a:r>
          </a:p>
          <a:p>
            <a:pPr lvl="2"/>
            <a:r>
              <a:rPr lang="en-US" altLang="en-US" dirty="0"/>
              <a:t>Open eye expands cortical territory</a:t>
            </a:r>
          </a:p>
          <a:p>
            <a:pPr lvl="2"/>
            <a:r>
              <a:rPr lang="en-US" altLang="en-US" dirty="0"/>
              <a:t>Deprived eye synapses retract</a:t>
            </a:r>
          </a:p>
          <a:p>
            <a:pPr lvl="2"/>
            <a:r>
              <a:rPr lang="en-US" altLang="en-US" dirty="0"/>
              <a:t>Open eye took over deprived eye territory since they are in competition</a:t>
            </a:r>
          </a:p>
          <a:p>
            <a:pPr lvl="2"/>
            <a:endParaRPr lang="en-US" altLang="en-US" dirty="0">
              <a:latin typeface="Arial" panose="020B0604020202020204" pitchFamily="34" charset="0"/>
            </a:endParaRPr>
          </a:p>
          <a:p>
            <a:pPr lvl="1"/>
            <a:r>
              <a:rPr lang="en-US" altLang="en-US" b="1" dirty="0">
                <a:latin typeface="Arial" panose="020B0604020202020204" pitchFamily="34" charset="0"/>
              </a:rPr>
              <a:t>Conclusion: </a:t>
            </a:r>
            <a:r>
              <a:rPr lang="en-US" dirty="0"/>
              <a:t>Experience drives synaptic rearrangement</a:t>
            </a:r>
          </a:p>
          <a:p>
            <a:pPr lvl="2"/>
            <a:r>
              <a:rPr lang="en-US" dirty="0"/>
              <a:t>Active inputs strengthen and spread, inactive inputs lose territory</a:t>
            </a:r>
            <a:endParaRPr lang="en-US" altLang="en-US" dirty="0">
              <a:latin typeface="Arial" panose="020B0604020202020204" pitchFamily="34" charset="0"/>
            </a:endParaRPr>
          </a:p>
          <a:p>
            <a:pPr lvl="3"/>
            <a:endParaRPr lang="en-US" altLang="en-US" i="1" dirty="0"/>
          </a:p>
          <a:p>
            <a:pPr lvl="2"/>
            <a:endParaRPr lang="en-US" altLang="en-US" dirty="0"/>
          </a:p>
          <a:p>
            <a:pPr lvl="3"/>
            <a:endParaRPr lang="en-US" altLang="en-US" dirty="0"/>
          </a:p>
        </p:txBody>
      </p:sp>
      <p:pic>
        <p:nvPicPr>
          <p:cNvPr id="4" name="Picture 3" descr="A chart of different colored and blue eyes&#10;&#10;AI-generated content may be incorrect.">
            <a:extLst>
              <a:ext uri="{FF2B5EF4-FFF2-40B4-BE49-F238E27FC236}">
                <a16:creationId xmlns:a16="http://schemas.microsoft.com/office/drawing/2014/main" id="{AAF1F3A3-F1DD-8A0B-E4DD-7E103836771E}"/>
              </a:ext>
            </a:extLst>
          </p:cNvPr>
          <p:cNvPicPr>
            <a:picLocks noChangeAspect="1"/>
          </p:cNvPicPr>
          <p:nvPr/>
        </p:nvPicPr>
        <p:blipFill>
          <a:blip r:embed="rId2">
            <a:extLst>
              <a:ext uri="{28A0092B-C50C-407E-A947-70E740481C1C}">
                <a14:useLocalDpi xmlns:a14="http://schemas.microsoft.com/office/drawing/2010/main" val="0"/>
              </a:ext>
            </a:extLst>
          </a:blip>
          <a:srcRect l="635" t="1610"/>
          <a:stretch>
            <a:fillRect/>
          </a:stretch>
        </p:blipFill>
        <p:spPr>
          <a:xfrm>
            <a:off x="7181850" y="1499106"/>
            <a:ext cx="5010150" cy="4748554"/>
          </a:xfrm>
          <a:prstGeom prst="rect">
            <a:avLst/>
          </a:prstGeom>
        </p:spPr>
      </p:pic>
    </p:spTree>
    <p:extLst>
      <p:ext uri="{BB962C8B-B14F-4D97-AF65-F5344CB8AC3E}">
        <p14:creationId xmlns:p14="http://schemas.microsoft.com/office/powerpoint/2010/main" val="360345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E32B-F342-F5C3-341A-76BB11CEF68C}"/>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755C2121-AEAA-1C15-209D-6C29ADBD73E8}"/>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Stages of Development</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Development and Experience</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Epigenetics and Experience</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ADB214AB-4EEC-3775-281F-D32F3A741B32}"/>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878104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1B1C4-D012-DAAB-BF0B-E70D863919DC}"/>
              </a:ext>
            </a:extLst>
          </p:cNvPr>
          <p:cNvSpPr>
            <a:spLocks noGrp="1"/>
          </p:cNvSpPr>
          <p:nvPr>
            <p:ph type="title"/>
          </p:nvPr>
        </p:nvSpPr>
        <p:spPr/>
        <p:txBody>
          <a:bodyPr/>
          <a:lstStyle/>
          <a:p>
            <a:r>
              <a:rPr lang="en-US" dirty="0"/>
              <a:t>Genetics</a:t>
            </a:r>
          </a:p>
        </p:txBody>
      </p:sp>
      <p:sp>
        <p:nvSpPr>
          <p:cNvPr id="3" name="Content Placeholder 2">
            <a:extLst>
              <a:ext uri="{FF2B5EF4-FFF2-40B4-BE49-F238E27FC236}">
                <a16:creationId xmlns:a16="http://schemas.microsoft.com/office/drawing/2014/main" id="{D590ABD8-E228-1498-35EC-9C1F0478D25E}"/>
              </a:ext>
            </a:extLst>
          </p:cNvPr>
          <p:cNvSpPr>
            <a:spLocks noGrp="1"/>
          </p:cNvSpPr>
          <p:nvPr>
            <p:ph idx="1"/>
          </p:nvPr>
        </p:nvSpPr>
        <p:spPr>
          <a:xfrm>
            <a:off x="838200" y="1825625"/>
            <a:ext cx="6069495" cy="4351338"/>
          </a:xfrm>
        </p:spPr>
        <p:txBody>
          <a:bodyPr>
            <a:normAutofit lnSpcReduction="10000"/>
          </a:bodyPr>
          <a:lstStyle/>
          <a:p>
            <a:pPr marL="0" indent="0">
              <a:buNone/>
            </a:pPr>
            <a:r>
              <a:rPr lang="en-US" b="1" dirty="0"/>
              <a:t>Genotype: </a:t>
            </a:r>
            <a:r>
              <a:rPr lang="en-US" dirty="0"/>
              <a:t>Sum of all genetic information that an individual inherits</a:t>
            </a:r>
          </a:p>
          <a:p>
            <a:pPr lvl="1"/>
            <a:r>
              <a:rPr lang="en-US" dirty="0"/>
              <a:t>Determined at fertilization</a:t>
            </a:r>
          </a:p>
          <a:p>
            <a:pPr lvl="1"/>
            <a:r>
              <a:rPr lang="en-US" b="1" dirty="0"/>
              <a:t>Gene Expression</a:t>
            </a:r>
            <a:r>
              <a:rPr lang="en-US" dirty="0"/>
              <a:t>: A gene’s influence on a cell occurs when it is transcribed</a:t>
            </a:r>
          </a:p>
          <a:p>
            <a:endParaRPr lang="en-US" dirty="0"/>
          </a:p>
          <a:p>
            <a:pPr marL="0" indent="0">
              <a:buNone/>
            </a:pPr>
            <a:r>
              <a:rPr lang="en-US" b="1" dirty="0"/>
              <a:t>Phenotype: </a:t>
            </a:r>
            <a:r>
              <a:rPr lang="en-US" dirty="0"/>
              <a:t>Sum of all physical characteristics of an individual</a:t>
            </a:r>
          </a:p>
          <a:p>
            <a:pPr lvl="1"/>
            <a:r>
              <a:rPr lang="en-US" dirty="0"/>
              <a:t>Changes across the lifespan</a:t>
            </a:r>
          </a:p>
          <a:p>
            <a:pPr lvl="1"/>
            <a:r>
              <a:rPr lang="en-US" dirty="0"/>
              <a:t>An interaction between genotype and experience</a:t>
            </a:r>
          </a:p>
        </p:txBody>
      </p:sp>
      <p:pic>
        <p:nvPicPr>
          <p:cNvPr id="10" name="Picture 9" descr="A diagram of dna and eye&#10;&#10;AI-generated content may be incorrect.">
            <a:extLst>
              <a:ext uri="{FF2B5EF4-FFF2-40B4-BE49-F238E27FC236}">
                <a16:creationId xmlns:a16="http://schemas.microsoft.com/office/drawing/2014/main" id="{0DB3CA9B-D2F8-75AB-D66B-71639A81211A}"/>
              </a:ext>
            </a:extLst>
          </p:cNvPr>
          <p:cNvPicPr>
            <a:picLocks noChangeAspect="1"/>
          </p:cNvPicPr>
          <p:nvPr/>
        </p:nvPicPr>
        <p:blipFill>
          <a:blip r:embed="rId2">
            <a:extLst>
              <a:ext uri="{28A0092B-C50C-407E-A947-70E740481C1C}">
                <a14:useLocalDpi xmlns:a14="http://schemas.microsoft.com/office/drawing/2010/main" val="0"/>
              </a:ext>
            </a:extLst>
          </a:blip>
          <a:srcRect l="13943" t="10064" r="13538" b="7866"/>
          <a:stretch>
            <a:fillRect/>
          </a:stretch>
        </p:blipFill>
        <p:spPr>
          <a:xfrm>
            <a:off x="6907695" y="1825625"/>
            <a:ext cx="5049078" cy="3809311"/>
          </a:xfrm>
          <a:prstGeom prst="rect">
            <a:avLst/>
          </a:prstGeom>
        </p:spPr>
      </p:pic>
    </p:spTree>
    <p:extLst>
      <p:ext uri="{BB962C8B-B14F-4D97-AF65-F5344CB8AC3E}">
        <p14:creationId xmlns:p14="http://schemas.microsoft.com/office/powerpoint/2010/main" val="2456389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5F6CD-DC42-0D1D-8D08-C00EBF279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63DFD-57F8-64FD-4AC6-FB1F72723704}"/>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AC5DE05E-FCDB-7224-4BA0-AE0C08341AA0}"/>
              </a:ext>
            </a:extLst>
          </p:cNvPr>
          <p:cNvSpPr>
            <a:spLocks noGrp="1"/>
          </p:cNvSpPr>
          <p:nvPr>
            <p:ph idx="1"/>
          </p:nvPr>
        </p:nvSpPr>
        <p:spPr>
          <a:xfrm>
            <a:off x="838200" y="1825624"/>
            <a:ext cx="6964180" cy="5032375"/>
          </a:xfrm>
        </p:spPr>
        <p:txBody>
          <a:bodyPr>
            <a:normAutofit/>
          </a:bodyPr>
          <a:lstStyle/>
          <a:p>
            <a:pPr marL="0" indent="0">
              <a:buNone/>
            </a:pPr>
            <a:r>
              <a:rPr lang="en-US" altLang="en-US" b="1" dirty="0"/>
              <a:t>Nature</a:t>
            </a:r>
            <a:r>
              <a:rPr lang="en-US" altLang="en-US" dirty="0"/>
              <a:t>: All cells have the same genetic blueprint</a:t>
            </a:r>
          </a:p>
          <a:p>
            <a:pPr marL="0" indent="0">
              <a:buNone/>
            </a:pPr>
            <a:endParaRPr lang="en-US" altLang="en-US" b="1" dirty="0"/>
          </a:p>
          <a:p>
            <a:pPr marL="0" indent="0">
              <a:buNone/>
            </a:pPr>
            <a:r>
              <a:rPr lang="en-US" altLang="en-US" b="1" dirty="0"/>
              <a:t>Nurture</a:t>
            </a:r>
            <a:r>
              <a:rPr lang="en-US" altLang="en-US" dirty="0"/>
              <a:t>: Genes that are expressed depends on environment and activity</a:t>
            </a:r>
          </a:p>
          <a:p>
            <a:r>
              <a:rPr lang="en-US" altLang="en-US" sz="3200" dirty="0"/>
              <a:t>Experience doesn’t change DNA, but changes how genes are used</a:t>
            </a:r>
          </a:p>
          <a:p>
            <a:pPr lvl="3"/>
            <a:endParaRPr lang="en-US" altLang="en-US" i="1" dirty="0"/>
          </a:p>
          <a:p>
            <a:pPr lvl="2"/>
            <a:endParaRPr lang="en-US" altLang="en-US" dirty="0"/>
          </a:p>
          <a:p>
            <a:pPr lvl="3"/>
            <a:endParaRPr lang="en-US" altLang="en-US" dirty="0"/>
          </a:p>
        </p:txBody>
      </p:sp>
      <p:sp>
        <p:nvSpPr>
          <p:cNvPr id="7" name="Rectangle: Rounded Corners 6">
            <a:extLst>
              <a:ext uri="{FF2B5EF4-FFF2-40B4-BE49-F238E27FC236}">
                <a16:creationId xmlns:a16="http://schemas.microsoft.com/office/drawing/2014/main" id="{E4B8026E-0896-FE5F-6251-952B9AB91368}"/>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FB9F8B4-2C7E-775D-EC75-4B0FD9ADCEAD}"/>
              </a:ext>
            </a:extLst>
          </p:cNvPr>
          <p:cNvGrpSpPr/>
          <p:nvPr/>
        </p:nvGrpSpPr>
        <p:grpSpPr>
          <a:xfrm>
            <a:off x="7457203" y="586647"/>
            <a:ext cx="4609880" cy="6114679"/>
            <a:chOff x="6884284" y="676588"/>
            <a:chExt cx="4609880" cy="6114679"/>
          </a:xfrm>
        </p:grpSpPr>
        <p:pic>
          <p:nvPicPr>
            <p:cNvPr id="12" name="Picture 11" descr="A diagram of a diagram of a rat&#10;&#10;AI-generated content may be incorrect.">
              <a:extLst>
                <a:ext uri="{FF2B5EF4-FFF2-40B4-BE49-F238E27FC236}">
                  <a16:creationId xmlns:a16="http://schemas.microsoft.com/office/drawing/2014/main" id="{037E9A79-B10B-1703-C578-0E796D98E580}"/>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6884284" y="676588"/>
              <a:ext cx="4609880" cy="1466019"/>
            </a:xfrm>
            <a:prstGeom prst="rect">
              <a:avLst/>
            </a:prstGeom>
          </p:spPr>
        </p:pic>
        <p:grpSp>
          <p:nvGrpSpPr>
            <p:cNvPr id="13" name="Group 12">
              <a:extLst>
                <a:ext uri="{FF2B5EF4-FFF2-40B4-BE49-F238E27FC236}">
                  <a16:creationId xmlns:a16="http://schemas.microsoft.com/office/drawing/2014/main" id="{02B2C298-29A3-533F-0DF2-139A6E39F0DE}"/>
                </a:ext>
              </a:extLst>
            </p:cNvPr>
            <p:cNvGrpSpPr/>
            <p:nvPr/>
          </p:nvGrpSpPr>
          <p:grpSpPr>
            <a:xfrm>
              <a:off x="7385537" y="2229793"/>
              <a:ext cx="3455931" cy="4561474"/>
              <a:chOff x="7239551" y="2460521"/>
              <a:chExt cx="2674642" cy="3530253"/>
            </a:xfrm>
          </p:grpSpPr>
          <p:pic>
            <p:nvPicPr>
              <p:cNvPr id="14" name="Picture 13" descr="A comparison of a graph&#10;&#10;AI-generated content may be incorrect.">
                <a:extLst>
                  <a:ext uri="{FF2B5EF4-FFF2-40B4-BE49-F238E27FC236}">
                    <a16:creationId xmlns:a16="http://schemas.microsoft.com/office/drawing/2014/main" id="{FCECD29F-3E9A-D439-ECDC-11C4C8CF1D6E}"/>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7284521" y="2460521"/>
                <a:ext cx="2629672" cy="1746354"/>
              </a:xfrm>
              <a:prstGeom prst="rect">
                <a:avLst/>
              </a:prstGeom>
            </p:spPr>
          </p:pic>
          <p:pic>
            <p:nvPicPr>
              <p:cNvPr id="15" name="Picture 14" descr="A comparison of a graph&#10;&#10;AI-generated content may be incorrect.">
                <a:extLst>
                  <a:ext uri="{FF2B5EF4-FFF2-40B4-BE49-F238E27FC236}">
                    <a16:creationId xmlns:a16="http://schemas.microsoft.com/office/drawing/2014/main" id="{E9C95A10-07D3-75C8-C78E-55D408EDBE4C}"/>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7239551" y="4341826"/>
                <a:ext cx="2629672" cy="1648948"/>
              </a:xfrm>
              <a:prstGeom prst="rect">
                <a:avLst/>
              </a:prstGeom>
            </p:spPr>
          </p:pic>
        </p:grpSp>
      </p:grpSp>
    </p:spTree>
    <p:extLst>
      <p:ext uri="{BB962C8B-B14F-4D97-AF65-F5344CB8AC3E}">
        <p14:creationId xmlns:p14="http://schemas.microsoft.com/office/powerpoint/2010/main" val="411186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48CD-A196-791E-1947-64B1B548E95D}"/>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4EB51B65-15FC-B806-3A48-4A1287AA2BFE}"/>
              </a:ext>
            </a:extLst>
          </p:cNvPr>
          <p:cNvGrpSpPr/>
          <p:nvPr/>
        </p:nvGrpSpPr>
        <p:grpSpPr>
          <a:xfrm>
            <a:off x="7457203" y="586647"/>
            <a:ext cx="4609880" cy="6114679"/>
            <a:chOff x="6884284" y="676588"/>
            <a:chExt cx="4609880" cy="6114679"/>
          </a:xfrm>
        </p:grpSpPr>
        <p:pic>
          <p:nvPicPr>
            <p:cNvPr id="14" name="Picture 13" descr="A diagram of a diagram of a rat&#10;&#10;AI-generated content may be incorrect.">
              <a:extLst>
                <a:ext uri="{FF2B5EF4-FFF2-40B4-BE49-F238E27FC236}">
                  <a16:creationId xmlns:a16="http://schemas.microsoft.com/office/drawing/2014/main" id="{EC3C02A1-53D4-0D66-348B-D5699882A2CE}"/>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6884284" y="676588"/>
              <a:ext cx="4609880" cy="1466019"/>
            </a:xfrm>
            <a:prstGeom prst="rect">
              <a:avLst/>
            </a:prstGeom>
          </p:spPr>
        </p:pic>
        <p:grpSp>
          <p:nvGrpSpPr>
            <p:cNvPr id="15" name="Group 14">
              <a:extLst>
                <a:ext uri="{FF2B5EF4-FFF2-40B4-BE49-F238E27FC236}">
                  <a16:creationId xmlns:a16="http://schemas.microsoft.com/office/drawing/2014/main" id="{1C6185B9-9684-E431-F159-2BD87EB3E45D}"/>
                </a:ext>
              </a:extLst>
            </p:cNvPr>
            <p:cNvGrpSpPr/>
            <p:nvPr/>
          </p:nvGrpSpPr>
          <p:grpSpPr>
            <a:xfrm>
              <a:off x="7385537" y="2229793"/>
              <a:ext cx="3455931" cy="4561474"/>
              <a:chOff x="7239551" y="2460521"/>
              <a:chExt cx="2674642" cy="3530253"/>
            </a:xfrm>
          </p:grpSpPr>
          <p:pic>
            <p:nvPicPr>
              <p:cNvPr id="16" name="Picture 15" descr="A comparison of a graph&#10;&#10;AI-generated content may be incorrect.">
                <a:extLst>
                  <a:ext uri="{FF2B5EF4-FFF2-40B4-BE49-F238E27FC236}">
                    <a16:creationId xmlns:a16="http://schemas.microsoft.com/office/drawing/2014/main" id="{B9D9F869-E337-8BAC-DFBA-D712415516C7}"/>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7284521" y="2460521"/>
                <a:ext cx="2629672" cy="1746354"/>
              </a:xfrm>
              <a:prstGeom prst="rect">
                <a:avLst/>
              </a:prstGeom>
            </p:spPr>
          </p:pic>
          <p:pic>
            <p:nvPicPr>
              <p:cNvPr id="17" name="Picture 16" descr="A comparison of a graph&#10;&#10;AI-generated content may be incorrect.">
                <a:extLst>
                  <a:ext uri="{FF2B5EF4-FFF2-40B4-BE49-F238E27FC236}">
                    <a16:creationId xmlns:a16="http://schemas.microsoft.com/office/drawing/2014/main" id="{B9EB4CE3-2252-6C3D-6D84-C915BCE23C5D}"/>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7239551" y="4341826"/>
                <a:ext cx="2629672" cy="1648948"/>
              </a:xfrm>
              <a:prstGeom prst="rect">
                <a:avLst/>
              </a:prstGeom>
            </p:spPr>
          </p:pic>
        </p:grpSp>
      </p:grpSp>
      <p:sp>
        <p:nvSpPr>
          <p:cNvPr id="2" name="Title 1">
            <a:extLst>
              <a:ext uri="{FF2B5EF4-FFF2-40B4-BE49-F238E27FC236}">
                <a16:creationId xmlns:a16="http://schemas.microsoft.com/office/drawing/2014/main" id="{33B578D3-7A1E-6EDD-8B37-472B93EB0347}"/>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434CD685-C00E-21F7-0B58-E1DB97EE4105}"/>
              </a:ext>
            </a:extLst>
          </p:cNvPr>
          <p:cNvSpPr>
            <a:spLocks noGrp="1"/>
          </p:cNvSpPr>
          <p:nvPr>
            <p:ph idx="1"/>
          </p:nvPr>
        </p:nvSpPr>
        <p:spPr>
          <a:xfrm>
            <a:off x="838200" y="1825624"/>
            <a:ext cx="7178362" cy="5032375"/>
          </a:xfrm>
        </p:spPr>
        <p:txBody>
          <a:bodyPr>
            <a:normAutofit/>
          </a:bodyPr>
          <a:lstStyle/>
          <a:p>
            <a:pPr marL="0" indent="0">
              <a:buNone/>
            </a:pPr>
            <a:r>
              <a:rPr lang="en-US" altLang="en-US" b="1" dirty="0"/>
              <a:t>Gene Expression: </a:t>
            </a:r>
            <a:r>
              <a:rPr lang="en-US" altLang="en-US" dirty="0"/>
              <a:t>Activation of a gene, which results in the production of a specific protein</a:t>
            </a:r>
          </a:p>
          <a:p>
            <a:r>
              <a:rPr lang="en-US" altLang="en-US" dirty="0"/>
              <a:t>Only a subset of genes is activated in a cell at a given time</a:t>
            </a:r>
          </a:p>
          <a:p>
            <a:r>
              <a:rPr lang="en-US" altLang="en-US" dirty="0"/>
              <a:t>Regulated by experience</a:t>
            </a:r>
          </a:p>
          <a:p>
            <a:r>
              <a:rPr lang="en-US" altLang="en-US" dirty="0"/>
              <a:t>Does not change DNA sequence</a:t>
            </a:r>
          </a:p>
          <a:p>
            <a:pPr lvl="1"/>
            <a:endParaRPr lang="en-US" altLang="en-US" dirty="0"/>
          </a:p>
          <a:p>
            <a:pPr lvl="3"/>
            <a:endParaRPr lang="en-US" altLang="en-US" i="1" dirty="0"/>
          </a:p>
          <a:p>
            <a:pPr lvl="2"/>
            <a:endParaRPr lang="en-US" altLang="en-US" dirty="0"/>
          </a:p>
          <a:p>
            <a:pPr lvl="3"/>
            <a:endParaRPr lang="en-US" altLang="en-US" dirty="0"/>
          </a:p>
        </p:txBody>
      </p:sp>
      <p:sp>
        <p:nvSpPr>
          <p:cNvPr id="7" name="Rectangle: Rounded Corners 6">
            <a:extLst>
              <a:ext uri="{FF2B5EF4-FFF2-40B4-BE49-F238E27FC236}">
                <a16:creationId xmlns:a16="http://schemas.microsoft.com/office/drawing/2014/main" id="{8F9EC85F-2841-7627-A59D-1AD1B4F8926B}"/>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707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FC318-4476-BB6B-548E-445C96993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909B2-6361-2372-6199-2F26D6498E17}"/>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3F11A3A6-521E-C38C-1795-9E2747DE5B9D}"/>
              </a:ext>
            </a:extLst>
          </p:cNvPr>
          <p:cNvSpPr>
            <a:spLocks noGrp="1"/>
          </p:cNvSpPr>
          <p:nvPr>
            <p:ph idx="1"/>
          </p:nvPr>
        </p:nvSpPr>
        <p:spPr>
          <a:xfrm>
            <a:off x="838200" y="1825624"/>
            <a:ext cx="7061616" cy="5032375"/>
          </a:xfrm>
        </p:spPr>
        <p:txBody>
          <a:bodyPr>
            <a:normAutofit/>
          </a:bodyPr>
          <a:lstStyle/>
          <a:p>
            <a:pPr marL="0" indent="0">
              <a:buNone/>
            </a:pPr>
            <a:r>
              <a:rPr lang="en-US" altLang="en-US" b="1" dirty="0"/>
              <a:t>Francis et al., 2003</a:t>
            </a:r>
          </a:p>
          <a:p>
            <a:r>
              <a:rPr lang="en-US" b="1" dirty="0"/>
              <a:t>Research Question: </a:t>
            </a:r>
            <a:r>
              <a:rPr lang="en-US" dirty="0"/>
              <a:t>Does maternal environment alter gene expression and behavior in genetically identical mice?</a:t>
            </a:r>
            <a:r>
              <a:rPr lang="en-US" b="1" dirty="0"/>
              <a:t> </a:t>
            </a:r>
          </a:p>
          <a:p>
            <a:endParaRPr lang="en-US" b="1" dirty="0"/>
          </a:p>
          <a:p>
            <a:r>
              <a:rPr lang="en-US" b="1" dirty="0"/>
              <a:t>Method: </a:t>
            </a:r>
            <a:r>
              <a:rPr lang="en-US" dirty="0"/>
              <a:t>Genetically identical B6 embryos implanted into foster mothers (B6 or BALB)</a:t>
            </a:r>
          </a:p>
          <a:p>
            <a:pPr lvl="1"/>
            <a:r>
              <a:rPr lang="en-US" dirty="0"/>
              <a:t>Pups raised by foster mothers and behavior tested at 3 months</a:t>
            </a:r>
          </a:p>
          <a:p>
            <a:pPr lvl="1"/>
            <a:r>
              <a:rPr lang="en-US" dirty="0"/>
              <a:t>Completed a Morris water maze learning task and an open field anxiety task</a:t>
            </a:r>
          </a:p>
          <a:p>
            <a:pPr lvl="3"/>
            <a:endParaRPr lang="en-US" altLang="en-US" dirty="0"/>
          </a:p>
        </p:txBody>
      </p:sp>
      <p:sp>
        <p:nvSpPr>
          <p:cNvPr id="7" name="Rectangle: Rounded Corners 6">
            <a:extLst>
              <a:ext uri="{FF2B5EF4-FFF2-40B4-BE49-F238E27FC236}">
                <a16:creationId xmlns:a16="http://schemas.microsoft.com/office/drawing/2014/main" id="{3920F25E-2940-CB8F-BCA8-B1604B4F751D}"/>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473A50B-A493-999E-52ED-5B4C930DF640}"/>
              </a:ext>
            </a:extLst>
          </p:cNvPr>
          <p:cNvGrpSpPr/>
          <p:nvPr/>
        </p:nvGrpSpPr>
        <p:grpSpPr>
          <a:xfrm>
            <a:off x="7457203" y="586647"/>
            <a:ext cx="4609880" cy="6114679"/>
            <a:chOff x="6884284" y="676588"/>
            <a:chExt cx="4609880" cy="6114679"/>
          </a:xfrm>
        </p:grpSpPr>
        <p:pic>
          <p:nvPicPr>
            <p:cNvPr id="12" name="Picture 11" descr="A diagram of a diagram of a rat&#10;&#10;AI-generated content may be incorrect.">
              <a:extLst>
                <a:ext uri="{FF2B5EF4-FFF2-40B4-BE49-F238E27FC236}">
                  <a16:creationId xmlns:a16="http://schemas.microsoft.com/office/drawing/2014/main" id="{29AB2260-73CE-6680-4FB9-FAC2050D6348}"/>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6884284" y="676588"/>
              <a:ext cx="4609880" cy="1466019"/>
            </a:xfrm>
            <a:prstGeom prst="rect">
              <a:avLst/>
            </a:prstGeom>
          </p:spPr>
        </p:pic>
        <p:grpSp>
          <p:nvGrpSpPr>
            <p:cNvPr id="13" name="Group 12">
              <a:extLst>
                <a:ext uri="{FF2B5EF4-FFF2-40B4-BE49-F238E27FC236}">
                  <a16:creationId xmlns:a16="http://schemas.microsoft.com/office/drawing/2014/main" id="{6D612C7D-371F-CE2A-14D8-3FB36EFA35E7}"/>
                </a:ext>
              </a:extLst>
            </p:cNvPr>
            <p:cNvGrpSpPr/>
            <p:nvPr/>
          </p:nvGrpSpPr>
          <p:grpSpPr>
            <a:xfrm>
              <a:off x="7385537" y="2229793"/>
              <a:ext cx="3455931" cy="4561474"/>
              <a:chOff x="7239551" y="2460521"/>
              <a:chExt cx="2674642" cy="3530253"/>
            </a:xfrm>
          </p:grpSpPr>
          <p:pic>
            <p:nvPicPr>
              <p:cNvPr id="14" name="Picture 13" descr="A comparison of a graph&#10;&#10;AI-generated content may be incorrect.">
                <a:extLst>
                  <a:ext uri="{FF2B5EF4-FFF2-40B4-BE49-F238E27FC236}">
                    <a16:creationId xmlns:a16="http://schemas.microsoft.com/office/drawing/2014/main" id="{ED8915D6-D71C-4690-2673-E70576CFD364}"/>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7284521" y="2460521"/>
                <a:ext cx="2629672" cy="1746354"/>
              </a:xfrm>
              <a:prstGeom prst="rect">
                <a:avLst/>
              </a:prstGeom>
            </p:spPr>
          </p:pic>
          <p:pic>
            <p:nvPicPr>
              <p:cNvPr id="15" name="Picture 14" descr="A comparison of a graph&#10;&#10;AI-generated content may be incorrect.">
                <a:extLst>
                  <a:ext uri="{FF2B5EF4-FFF2-40B4-BE49-F238E27FC236}">
                    <a16:creationId xmlns:a16="http://schemas.microsoft.com/office/drawing/2014/main" id="{2047E622-B79F-8715-2784-C1A324BA60D1}"/>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7239551" y="4341826"/>
                <a:ext cx="2629672" cy="1648948"/>
              </a:xfrm>
              <a:prstGeom prst="rect">
                <a:avLst/>
              </a:prstGeom>
            </p:spPr>
          </p:pic>
        </p:grpSp>
      </p:grpSp>
    </p:spTree>
    <p:extLst>
      <p:ext uri="{BB962C8B-B14F-4D97-AF65-F5344CB8AC3E}">
        <p14:creationId xmlns:p14="http://schemas.microsoft.com/office/powerpoint/2010/main" val="230548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F8232-63F1-ECCF-9D21-87FDF7616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C1DA6-9C86-DD76-6571-A756F35CA422}"/>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73882F46-4270-FF56-7813-8D66CB118471}"/>
              </a:ext>
            </a:extLst>
          </p:cNvPr>
          <p:cNvSpPr>
            <a:spLocks noGrp="1"/>
          </p:cNvSpPr>
          <p:nvPr>
            <p:ph idx="1"/>
          </p:nvPr>
        </p:nvSpPr>
        <p:spPr>
          <a:xfrm>
            <a:off x="838200" y="1825624"/>
            <a:ext cx="7120256" cy="5032375"/>
          </a:xfrm>
        </p:spPr>
        <p:txBody>
          <a:bodyPr>
            <a:normAutofit/>
          </a:bodyPr>
          <a:lstStyle/>
          <a:p>
            <a:pPr marL="0" indent="0">
              <a:buNone/>
            </a:pPr>
            <a:r>
              <a:rPr lang="en-US" altLang="en-US" sz="3200" b="1" dirty="0"/>
              <a:t>Francis et al., 2003</a:t>
            </a:r>
          </a:p>
          <a:p>
            <a:r>
              <a:rPr lang="en-US" sz="3200" b="1" dirty="0"/>
              <a:t>Independent Variable (IV):</a:t>
            </a:r>
          </a:p>
          <a:p>
            <a:pPr lvl="1"/>
            <a:r>
              <a:rPr lang="en-US" sz="2800" b="1" dirty="0"/>
              <a:t>B6 mothers:</a:t>
            </a:r>
            <a:r>
              <a:rPr lang="en-US" sz="2800" dirty="0"/>
              <a:t> Same strain as pups, normal mouse </a:t>
            </a:r>
            <a:r>
              <a:rPr lang="en-US" sz="2800" dirty="0" err="1"/>
              <a:t>behaviours</a:t>
            </a:r>
            <a:endParaRPr lang="en-US" sz="2800" dirty="0"/>
          </a:p>
          <a:p>
            <a:pPr lvl="1"/>
            <a:r>
              <a:rPr lang="en-US" sz="2800" b="1" dirty="0"/>
              <a:t>BALB mothers: </a:t>
            </a:r>
            <a:r>
              <a:rPr lang="en-US" sz="2800" dirty="0"/>
              <a:t>Specifically bred type of mice that show higher anxiety, slower learning, less curiosity</a:t>
            </a:r>
            <a:endParaRPr lang="en-US" b="1" dirty="0"/>
          </a:p>
          <a:p>
            <a:pPr lvl="1"/>
            <a:endParaRPr lang="en-US" altLang="en-US" b="1" dirty="0"/>
          </a:p>
          <a:p>
            <a:pPr lvl="1"/>
            <a:endParaRPr lang="en-US" altLang="en-US" dirty="0"/>
          </a:p>
          <a:p>
            <a:pPr lvl="1"/>
            <a:endParaRPr lang="en-US" altLang="en-US" dirty="0"/>
          </a:p>
          <a:p>
            <a:pPr lvl="3"/>
            <a:endParaRPr lang="en-US" altLang="en-US" i="1" dirty="0"/>
          </a:p>
          <a:p>
            <a:pPr lvl="2"/>
            <a:endParaRPr lang="en-US" altLang="en-US" dirty="0"/>
          </a:p>
          <a:p>
            <a:pPr lvl="3"/>
            <a:endParaRPr lang="en-US" altLang="en-US" dirty="0"/>
          </a:p>
        </p:txBody>
      </p:sp>
      <p:sp>
        <p:nvSpPr>
          <p:cNvPr id="7" name="Rectangle: Rounded Corners 6">
            <a:extLst>
              <a:ext uri="{FF2B5EF4-FFF2-40B4-BE49-F238E27FC236}">
                <a16:creationId xmlns:a16="http://schemas.microsoft.com/office/drawing/2014/main" id="{2D9A3AC2-E5D3-FB2E-5D9C-FF3AAEECED64}"/>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EDB1042A-EA5C-B7D8-4744-812267E477B6}"/>
              </a:ext>
            </a:extLst>
          </p:cNvPr>
          <p:cNvGrpSpPr/>
          <p:nvPr/>
        </p:nvGrpSpPr>
        <p:grpSpPr>
          <a:xfrm>
            <a:off x="7457203" y="586647"/>
            <a:ext cx="4609880" cy="6114679"/>
            <a:chOff x="6884284" y="676588"/>
            <a:chExt cx="4609880" cy="6114679"/>
          </a:xfrm>
        </p:grpSpPr>
        <p:pic>
          <p:nvPicPr>
            <p:cNvPr id="12" name="Picture 11" descr="A diagram of a diagram of a rat&#10;&#10;AI-generated content may be incorrect.">
              <a:extLst>
                <a:ext uri="{FF2B5EF4-FFF2-40B4-BE49-F238E27FC236}">
                  <a16:creationId xmlns:a16="http://schemas.microsoft.com/office/drawing/2014/main" id="{80319FBA-4083-276A-A681-66F7707E9425}"/>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6884284" y="676588"/>
              <a:ext cx="4609880" cy="1466019"/>
            </a:xfrm>
            <a:prstGeom prst="rect">
              <a:avLst/>
            </a:prstGeom>
          </p:spPr>
        </p:pic>
        <p:grpSp>
          <p:nvGrpSpPr>
            <p:cNvPr id="13" name="Group 12">
              <a:extLst>
                <a:ext uri="{FF2B5EF4-FFF2-40B4-BE49-F238E27FC236}">
                  <a16:creationId xmlns:a16="http://schemas.microsoft.com/office/drawing/2014/main" id="{F29ED3E3-C775-DA60-F24A-CA09DDF3EC43}"/>
                </a:ext>
              </a:extLst>
            </p:cNvPr>
            <p:cNvGrpSpPr/>
            <p:nvPr/>
          </p:nvGrpSpPr>
          <p:grpSpPr>
            <a:xfrm>
              <a:off x="7385537" y="2229793"/>
              <a:ext cx="3455931" cy="4561474"/>
              <a:chOff x="7239551" y="2460521"/>
              <a:chExt cx="2674642" cy="3530253"/>
            </a:xfrm>
          </p:grpSpPr>
          <p:pic>
            <p:nvPicPr>
              <p:cNvPr id="14" name="Picture 13" descr="A comparison of a graph&#10;&#10;AI-generated content may be incorrect.">
                <a:extLst>
                  <a:ext uri="{FF2B5EF4-FFF2-40B4-BE49-F238E27FC236}">
                    <a16:creationId xmlns:a16="http://schemas.microsoft.com/office/drawing/2014/main" id="{CB82D6E7-18AA-730D-6BDF-BDF7A01B76C7}"/>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7284521" y="2460521"/>
                <a:ext cx="2629672" cy="1746354"/>
              </a:xfrm>
              <a:prstGeom prst="rect">
                <a:avLst/>
              </a:prstGeom>
            </p:spPr>
          </p:pic>
          <p:pic>
            <p:nvPicPr>
              <p:cNvPr id="15" name="Picture 14" descr="A comparison of a graph&#10;&#10;AI-generated content may be incorrect.">
                <a:extLst>
                  <a:ext uri="{FF2B5EF4-FFF2-40B4-BE49-F238E27FC236}">
                    <a16:creationId xmlns:a16="http://schemas.microsoft.com/office/drawing/2014/main" id="{0A723A19-9899-F1D2-EFE2-2C27C83FC879}"/>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7239551" y="4341826"/>
                <a:ext cx="2629672" cy="1648948"/>
              </a:xfrm>
              <a:prstGeom prst="rect">
                <a:avLst/>
              </a:prstGeom>
            </p:spPr>
          </p:pic>
        </p:grpSp>
      </p:grpSp>
    </p:spTree>
    <p:extLst>
      <p:ext uri="{BB962C8B-B14F-4D97-AF65-F5344CB8AC3E}">
        <p14:creationId xmlns:p14="http://schemas.microsoft.com/office/powerpoint/2010/main" val="360940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AABA4-4E5A-677C-772B-844B19F66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C1250-3E01-2A93-A144-3122A8801C46}"/>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5E4462C5-064E-FC64-3787-430F7E3230FD}"/>
              </a:ext>
            </a:extLst>
          </p:cNvPr>
          <p:cNvSpPr>
            <a:spLocks noGrp="1"/>
          </p:cNvSpPr>
          <p:nvPr>
            <p:ph idx="1"/>
          </p:nvPr>
        </p:nvSpPr>
        <p:spPr>
          <a:xfrm>
            <a:off x="838200" y="1825624"/>
            <a:ext cx="7120256" cy="5032375"/>
          </a:xfrm>
        </p:spPr>
        <p:txBody>
          <a:bodyPr>
            <a:normAutofit/>
          </a:bodyPr>
          <a:lstStyle/>
          <a:p>
            <a:pPr marL="0" indent="0">
              <a:buNone/>
            </a:pPr>
            <a:r>
              <a:rPr lang="en-US" altLang="en-US" sz="3200" b="1" dirty="0"/>
              <a:t>Francis et al., 2003</a:t>
            </a:r>
            <a:endParaRPr lang="en-US" sz="3200" dirty="0"/>
          </a:p>
          <a:p>
            <a:r>
              <a:rPr lang="en-US" sz="3200" b="1" dirty="0"/>
              <a:t>Dependent Variable (DV): </a:t>
            </a:r>
          </a:p>
          <a:p>
            <a:pPr lvl="1"/>
            <a:r>
              <a:rPr lang="en-US" sz="2800" dirty="0"/>
              <a:t>Morris water maze</a:t>
            </a:r>
          </a:p>
          <a:p>
            <a:pPr lvl="2"/>
            <a:r>
              <a:rPr lang="en-US" dirty="0"/>
              <a:t>Latency to platform</a:t>
            </a:r>
          </a:p>
          <a:p>
            <a:pPr lvl="1"/>
            <a:endParaRPr lang="en-US" altLang="en-US" b="1" dirty="0"/>
          </a:p>
          <a:p>
            <a:pPr lvl="1"/>
            <a:endParaRPr lang="en-US" altLang="en-US" dirty="0"/>
          </a:p>
          <a:p>
            <a:pPr lvl="1"/>
            <a:endParaRPr lang="en-US" altLang="en-US" dirty="0"/>
          </a:p>
          <a:p>
            <a:pPr lvl="3"/>
            <a:endParaRPr lang="en-US" altLang="en-US" i="1" dirty="0"/>
          </a:p>
          <a:p>
            <a:pPr lvl="2"/>
            <a:endParaRPr lang="en-US" altLang="en-US" dirty="0"/>
          </a:p>
          <a:p>
            <a:pPr lvl="3"/>
            <a:endParaRPr lang="en-US" altLang="en-US" dirty="0"/>
          </a:p>
        </p:txBody>
      </p:sp>
      <p:sp>
        <p:nvSpPr>
          <p:cNvPr id="7" name="Rectangle: Rounded Corners 6">
            <a:extLst>
              <a:ext uri="{FF2B5EF4-FFF2-40B4-BE49-F238E27FC236}">
                <a16:creationId xmlns:a16="http://schemas.microsoft.com/office/drawing/2014/main" id="{70F2B844-B07C-5DA9-6295-3025B1730764}"/>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8F008BA-47A0-6A45-F57E-B1BACACAF128}"/>
              </a:ext>
            </a:extLst>
          </p:cNvPr>
          <p:cNvGrpSpPr/>
          <p:nvPr/>
        </p:nvGrpSpPr>
        <p:grpSpPr>
          <a:xfrm>
            <a:off x="7457203" y="586647"/>
            <a:ext cx="4609880" cy="6114679"/>
            <a:chOff x="6884284" y="676588"/>
            <a:chExt cx="4609880" cy="6114679"/>
          </a:xfrm>
        </p:grpSpPr>
        <p:pic>
          <p:nvPicPr>
            <p:cNvPr id="12" name="Picture 11" descr="A diagram of a diagram of a rat&#10;&#10;AI-generated content may be incorrect.">
              <a:extLst>
                <a:ext uri="{FF2B5EF4-FFF2-40B4-BE49-F238E27FC236}">
                  <a16:creationId xmlns:a16="http://schemas.microsoft.com/office/drawing/2014/main" id="{8411A623-0542-B733-10F7-6765245C30C2}"/>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6884284" y="676588"/>
              <a:ext cx="4609880" cy="1466019"/>
            </a:xfrm>
            <a:prstGeom prst="rect">
              <a:avLst/>
            </a:prstGeom>
          </p:spPr>
        </p:pic>
        <p:grpSp>
          <p:nvGrpSpPr>
            <p:cNvPr id="13" name="Group 12">
              <a:extLst>
                <a:ext uri="{FF2B5EF4-FFF2-40B4-BE49-F238E27FC236}">
                  <a16:creationId xmlns:a16="http://schemas.microsoft.com/office/drawing/2014/main" id="{D7462448-4101-D46D-9E17-5D8D9283D8EE}"/>
                </a:ext>
              </a:extLst>
            </p:cNvPr>
            <p:cNvGrpSpPr/>
            <p:nvPr/>
          </p:nvGrpSpPr>
          <p:grpSpPr>
            <a:xfrm>
              <a:off x="7385537" y="2229793"/>
              <a:ext cx="3455931" cy="4561474"/>
              <a:chOff x="7239551" y="2460521"/>
              <a:chExt cx="2674642" cy="3530253"/>
            </a:xfrm>
          </p:grpSpPr>
          <p:pic>
            <p:nvPicPr>
              <p:cNvPr id="14" name="Picture 13" descr="A comparison of a graph&#10;&#10;AI-generated content may be incorrect.">
                <a:extLst>
                  <a:ext uri="{FF2B5EF4-FFF2-40B4-BE49-F238E27FC236}">
                    <a16:creationId xmlns:a16="http://schemas.microsoft.com/office/drawing/2014/main" id="{BED3ADC0-526D-03E0-37A5-C1B1B508EEE7}"/>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7284521" y="2460521"/>
                <a:ext cx="2629672" cy="1746354"/>
              </a:xfrm>
              <a:prstGeom prst="rect">
                <a:avLst/>
              </a:prstGeom>
            </p:spPr>
          </p:pic>
          <p:pic>
            <p:nvPicPr>
              <p:cNvPr id="15" name="Picture 14" descr="A comparison of a graph&#10;&#10;AI-generated content may be incorrect.">
                <a:extLst>
                  <a:ext uri="{FF2B5EF4-FFF2-40B4-BE49-F238E27FC236}">
                    <a16:creationId xmlns:a16="http://schemas.microsoft.com/office/drawing/2014/main" id="{70734A3E-D1BD-D7F5-830B-3D0516EF94A9}"/>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7239551" y="4341826"/>
                <a:ext cx="2629672" cy="1648948"/>
              </a:xfrm>
              <a:prstGeom prst="rect">
                <a:avLst/>
              </a:prstGeom>
            </p:spPr>
          </p:pic>
        </p:grpSp>
      </p:grpSp>
      <p:pic>
        <p:nvPicPr>
          <p:cNvPr id="2052" name="Picture 4" descr="Morris Water Maze Test | BioRender Science Templates">
            <a:extLst>
              <a:ext uri="{FF2B5EF4-FFF2-40B4-BE49-F238E27FC236}">
                <a16:creationId xmlns:a16="http://schemas.microsoft.com/office/drawing/2014/main" id="{2633F7BA-A64D-E8E5-B9D0-45ED988FAA0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396" t="7505" r="56948" b="58137"/>
          <a:stretch>
            <a:fillRect/>
          </a:stretch>
        </p:blipFill>
        <p:spPr bwMode="auto">
          <a:xfrm>
            <a:off x="332890" y="4269012"/>
            <a:ext cx="2651006" cy="16493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orris Water Maze Test | BioRender Science Templates">
            <a:extLst>
              <a:ext uri="{FF2B5EF4-FFF2-40B4-BE49-F238E27FC236}">
                <a16:creationId xmlns:a16="http://schemas.microsoft.com/office/drawing/2014/main" id="{B4649054-2A6A-85BD-7A20-C0135343DD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340" t="47760" r="8597" b="3134"/>
          <a:stretch>
            <a:fillRect/>
          </a:stretch>
        </p:blipFill>
        <p:spPr bwMode="auto">
          <a:xfrm>
            <a:off x="3380013" y="4135104"/>
            <a:ext cx="4578443" cy="1965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11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775AE-2DB9-AB39-7476-1094A663E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FF49A-C4BC-62E5-5459-193C707D529D}"/>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50EECC3F-4B7E-666A-2249-017A17D7DA6B}"/>
              </a:ext>
            </a:extLst>
          </p:cNvPr>
          <p:cNvSpPr>
            <a:spLocks noGrp="1"/>
          </p:cNvSpPr>
          <p:nvPr>
            <p:ph idx="1"/>
          </p:nvPr>
        </p:nvSpPr>
        <p:spPr>
          <a:xfrm>
            <a:off x="838200" y="1825624"/>
            <a:ext cx="7120256" cy="5032375"/>
          </a:xfrm>
        </p:spPr>
        <p:txBody>
          <a:bodyPr>
            <a:normAutofit/>
          </a:bodyPr>
          <a:lstStyle/>
          <a:p>
            <a:pPr marL="0" indent="0">
              <a:buNone/>
            </a:pPr>
            <a:r>
              <a:rPr lang="en-US" altLang="en-US" sz="3200" b="1" dirty="0"/>
              <a:t>Francis et al., 2003</a:t>
            </a:r>
            <a:endParaRPr lang="en-US" sz="3200" dirty="0"/>
          </a:p>
          <a:p>
            <a:r>
              <a:rPr lang="en-US" sz="3200" b="1" dirty="0"/>
              <a:t>Dependent Variable (DV): </a:t>
            </a:r>
          </a:p>
          <a:p>
            <a:pPr lvl="1"/>
            <a:r>
              <a:rPr lang="en-US" sz="2800" dirty="0"/>
              <a:t>Open field task</a:t>
            </a:r>
          </a:p>
          <a:p>
            <a:pPr lvl="2"/>
            <a:r>
              <a:rPr lang="en-US" sz="2400" dirty="0"/>
              <a:t>Time spent in the open (center zone)</a:t>
            </a:r>
          </a:p>
          <a:p>
            <a:pPr lvl="1"/>
            <a:endParaRPr lang="en-US" b="1" dirty="0"/>
          </a:p>
          <a:p>
            <a:pPr lvl="1"/>
            <a:endParaRPr lang="en-US" altLang="en-US" b="1" dirty="0"/>
          </a:p>
          <a:p>
            <a:pPr lvl="1"/>
            <a:endParaRPr lang="en-US" altLang="en-US" dirty="0"/>
          </a:p>
          <a:p>
            <a:pPr lvl="1"/>
            <a:endParaRPr lang="en-US" altLang="en-US" dirty="0"/>
          </a:p>
          <a:p>
            <a:pPr lvl="3"/>
            <a:endParaRPr lang="en-US" altLang="en-US" i="1" dirty="0"/>
          </a:p>
          <a:p>
            <a:pPr lvl="2"/>
            <a:endParaRPr lang="en-US" altLang="en-US" dirty="0"/>
          </a:p>
          <a:p>
            <a:pPr lvl="3"/>
            <a:endParaRPr lang="en-US" altLang="en-US" dirty="0"/>
          </a:p>
        </p:txBody>
      </p:sp>
      <p:sp>
        <p:nvSpPr>
          <p:cNvPr id="7" name="Rectangle: Rounded Corners 6">
            <a:extLst>
              <a:ext uri="{FF2B5EF4-FFF2-40B4-BE49-F238E27FC236}">
                <a16:creationId xmlns:a16="http://schemas.microsoft.com/office/drawing/2014/main" id="{D1BCF8E6-4B4F-4EF2-03D2-1B5737DAED6C}"/>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2F2259C8-15E5-9583-5A13-EE017E778498}"/>
              </a:ext>
            </a:extLst>
          </p:cNvPr>
          <p:cNvGrpSpPr/>
          <p:nvPr/>
        </p:nvGrpSpPr>
        <p:grpSpPr>
          <a:xfrm>
            <a:off x="7457203" y="586647"/>
            <a:ext cx="4609880" cy="6114679"/>
            <a:chOff x="6884284" y="676588"/>
            <a:chExt cx="4609880" cy="6114679"/>
          </a:xfrm>
        </p:grpSpPr>
        <p:pic>
          <p:nvPicPr>
            <p:cNvPr id="12" name="Picture 11" descr="A diagram of a diagram of a rat&#10;&#10;AI-generated content may be incorrect.">
              <a:extLst>
                <a:ext uri="{FF2B5EF4-FFF2-40B4-BE49-F238E27FC236}">
                  <a16:creationId xmlns:a16="http://schemas.microsoft.com/office/drawing/2014/main" id="{2E1085DC-1EBC-7720-E48F-ECE17497493A}"/>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6884284" y="676588"/>
              <a:ext cx="4609880" cy="1466019"/>
            </a:xfrm>
            <a:prstGeom prst="rect">
              <a:avLst/>
            </a:prstGeom>
          </p:spPr>
        </p:pic>
        <p:grpSp>
          <p:nvGrpSpPr>
            <p:cNvPr id="13" name="Group 12">
              <a:extLst>
                <a:ext uri="{FF2B5EF4-FFF2-40B4-BE49-F238E27FC236}">
                  <a16:creationId xmlns:a16="http://schemas.microsoft.com/office/drawing/2014/main" id="{D4964A59-D5F6-F4BB-6744-0DF4AC10622F}"/>
                </a:ext>
              </a:extLst>
            </p:cNvPr>
            <p:cNvGrpSpPr/>
            <p:nvPr/>
          </p:nvGrpSpPr>
          <p:grpSpPr>
            <a:xfrm>
              <a:off x="7385537" y="2229793"/>
              <a:ext cx="3455931" cy="4561474"/>
              <a:chOff x="7239551" y="2460521"/>
              <a:chExt cx="2674642" cy="3530253"/>
            </a:xfrm>
          </p:grpSpPr>
          <p:pic>
            <p:nvPicPr>
              <p:cNvPr id="14" name="Picture 13" descr="A comparison of a graph&#10;&#10;AI-generated content may be incorrect.">
                <a:extLst>
                  <a:ext uri="{FF2B5EF4-FFF2-40B4-BE49-F238E27FC236}">
                    <a16:creationId xmlns:a16="http://schemas.microsoft.com/office/drawing/2014/main" id="{AF250E0B-F745-DDD2-4EE9-151CB5C48BD2}"/>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7284521" y="2460521"/>
                <a:ext cx="2629672" cy="1746354"/>
              </a:xfrm>
              <a:prstGeom prst="rect">
                <a:avLst/>
              </a:prstGeom>
            </p:spPr>
          </p:pic>
          <p:pic>
            <p:nvPicPr>
              <p:cNvPr id="15" name="Picture 14" descr="A comparison of a graph&#10;&#10;AI-generated content may be incorrect.">
                <a:extLst>
                  <a:ext uri="{FF2B5EF4-FFF2-40B4-BE49-F238E27FC236}">
                    <a16:creationId xmlns:a16="http://schemas.microsoft.com/office/drawing/2014/main" id="{375C2271-FFFA-9F6D-3B89-833E78B326E7}"/>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7239551" y="4341826"/>
                <a:ext cx="2629672" cy="1648948"/>
              </a:xfrm>
              <a:prstGeom prst="rect">
                <a:avLst/>
              </a:prstGeom>
            </p:spPr>
          </p:pic>
        </p:grpSp>
      </p:grpSp>
      <p:pic>
        <p:nvPicPr>
          <p:cNvPr id="3074" name="Picture 2" descr="Rodent Open Field Test | BioRender Science Templates">
            <a:extLst>
              <a:ext uri="{FF2B5EF4-FFF2-40B4-BE49-F238E27FC236}">
                <a16:creationId xmlns:a16="http://schemas.microsoft.com/office/drawing/2014/main" id="{2A715068-A570-9B18-03B1-CF6B8D3DDC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636" t="31899" r="47138" b="31308"/>
          <a:stretch>
            <a:fillRect/>
          </a:stretch>
        </p:blipFill>
        <p:spPr bwMode="auto">
          <a:xfrm>
            <a:off x="700268" y="4060583"/>
            <a:ext cx="2180258" cy="21752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Rodent Open Field Test | BioRender Science Templates">
            <a:extLst>
              <a:ext uri="{FF2B5EF4-FFF2-40B4-BE49-F238E27FC236}">
                <a16:creationId xmlns:a16="http://schemas.microsoft.com/office/drawing/2014/main" id="{3B44AB9B-A3FB-0A69-1632-A0CC91F237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655" t="18797" r="5810" b="52048"/>
          <a:stretch>
            <a:fillRect/>
          </a:stretch>
        </p:blipFill>
        <p:spPr bwMode="auto">
          <a:xfrm>
            <a:off x="5461092" y="4060583"/>
            <a:ext cx="2304702" cy="236323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Rodent Open Field Test | BioRender Science Templates">
            <a:extLst>
              <a:ext uri="{FF2B5EF4-FFF2-40B4-BE49-F238E27FC236}">
                <a16:creationId xmlns:a16="http://schemas.microsoft.com/office/drawing/2014/main" id="{0C2A9807-1E62-FB26-015F-E6AB854CBD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737" t="54435" r="5728" b="16410"/>
          <a:stretch>
            <a:fillRect/>
          </a:stretch>
        </p:blipFill>
        <p:spPr bwMode="auto">
          <a:xfrm>
            <a:off x="3018458" y="4060583"/>
            <a:ext cx="2304702" cy="2363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10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7E4A8-98D9-288E-C3D4-E6E6D5EA0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59220-0D33-671A-BD0A-320BB9C29193}"/>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89A71C3B-853B-038C-2302-841AA0F1A06F}"/>
              </a:ext>
            </a:extLst>
          </p:cNvPr>
          <p:cNvSpPr>
            <a:spLocks noGrp="1"/>
          </p:cNvSpPr>
          <p:nvPr>
            <p:ph idx="1"/>
          </p:nvPr>
        </p:nvSpPr>
        <p:spPr>
          <a:xfrm>
            <a:off x="838200" y="1825624"/>
            <a:ext cx="11620500" cy="5032375"/>
          </a:xfrm>
        </p:spPr>
        <p:txBody>
          <a:bodyPr>
            <a:normAutofit/>
          </a:bodyPr>
          <a:lstStyle/>
          <a:p>
            <a:pPr marL="0" indent="0">
              <a:buNone/>
            </a:pPr>
            <a:r>
              <a:rPr lang="en-US" altLang="en-US" sz="3200" b="1" dirty="0"/>
              <a:t>Francis et al., 2003</a:t>
            </a:r>
          </a:p>
          <a:p>
            <a:r>
              <a:rPr lang="en-US" b="1" dirty="0"/>
              <a:t>Results: </a:t>
            </a:r>
          </a:p>
          <a:p>
            <a:pPr lvl="1"/>
            <a:r>
              <a:rPr lang="en-US" dirty="0"/>
              <a:t>BALB-raised mice took longer in the Morris water maze, indicated poorer learning</a:t>
            </a:r>
          </a:p>
          <a:p>
            <a:pPr lvl="1"/>
            <a:r>
              <a:rPr lang="en-US" dirty="0"/>
              <a:t>BALB-raised mice spent less time in the center zone of the open field task, indicating more anxiety</a:t>
            </a:r>
          </a:p>
          <a:p>
            <a:pPr marL="914400" lvl="2" indent="0">
              <a:buNone/>
            </a:pPr>
            <a:endParaRPr lang="en-US" dirty="0"/>
          </a:p>
          <a:p>
            <a:pPr lvl="2"/>
            <a:endParaRPr lang="en-US" altLang="en-US" b="1" dirty="0"/>
          </a:p>
          <a:p>
            <a:pPr lvl="2"/>
            <a:endParaRPr lang="en-US" altLang="en-US" dirty="0"/>
          </a:p>
          <a:p>
            <a:pPr lvl="2"/>
            <a:endParaRPr lang="en-US" altLang="en-US" dirty="0"/>
          </a:p>
          <a:p>
            <a:pPr lvl="4"/>
            <a:endParaRPr lang="en-US" altLang="en-US" i="1" dirty="0"/>
          </a:p>
          <a:p>
            <a:pPr lvl="3"/>
            <a:endParaRPr lang="en-US" altLang="en-US" dirty="0"/>
          </a:p>
          <a:p>
            <a:pPr lvl="4"/>
            <a:endParaRPr lang="en-US" altLang="en-US" dirty="0"/>
          </a:p>
        </p:txBody>
      </p:sp>
      <p:sp>
        <p:nvSpPr>
          <p:cNvPr id="7" name="Rectangle: Rounded Corners 6">
            <a:extLst>
              <a:ext uri="{FF2B5EF4-FFF2-40B4-BE49-F238E27FC236}">
                <a16:creationId xmlns:a16="http://schemas.microsoft.com/office/drawing/2014/main" id="{EB1B8025-313F-4CA1-A250-769479C637D1}"/>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diagram of a diagram of a rat&#10;&#10;AI-generated content may be incorrect.">
            <a:extLst>
              <a:ext uri="{FF2B5EF4-FFF2-40B4-BE49-F238E27FC236}">
                <a16:creationId xmlns:a16="http://schemas.microsoft.com/office/drawing/2014/main" id="{4888886C-47BE-0ECE-353F-A8E28C243D39}"/>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7457203" y="586647"/>
            <a:ext cx="4609880" cy="1466019"/>
          </a:xfrm>
          <a:prstGeom prst="rect">
            <a:avLst/>
          </a:prstGeom>
        </p:spPr>
      </p:pic>
      <p:grpSp>
        <p:nvGrpSpPr>
          <p:cNvPr id="20" name="Group 19">
            <a:extLst>
              <a:ext uri="{FF2B5EF4-FFF2-40B4-BE49-F238E27FC236}">
                <a16:creationId xmlns:a16="http://schemas.microsoft.com/office/drawing/2014/main" id="{A43D9E2D-0E6B-CE04-8FC3-B580823855F2}"/>
              </a:ext>
            </a:extLst>
          </p:cNvPr>
          <p:cNvGrpSpPr/>
          <p:nvPr/>
        </p:nvGrpSpPr>
        <p:grpSpPr>
          <a:xfrm>
            <a:off x="4708227" y="3593276"/>
            <a:ext cx="7358856" cy="3333303"/>
            <a:chOff x="2901547" y="1657852"/>
            <a:chExt cx="6795650" cy="3078189"/>
          </a:xfrm>
        </p:grpSpPr>
        <p:pic>
          <p:nvPicPr>
            <p:cNvPr id="21" name="Picture 20" descr="A comparison of a graph&#10;&#10;AI-generated content may be incorrect.">
              <a:extLst>
                <a:ext uri="{FF2B5EF4-FFF2-40B4-BE49-F238E27FC236}">
                  <a16:creationId xmlns:a16="http://schemas.microsoft.com/office/drawing/2014/main" id="{5A015C45-C072-0545-E5E6-ED720E4CF716}"/>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6299372" y="1793488"/>
              <a:ext cx="3397825" cy="2256481"/>
            </a:xfrm>
            <a:prstGeom prst="rect">
              <a:avLst/>
            </a:prstGeom>
          </p:spPr>
        </p:pic>
        <p:pic>
          <p:nvPicPr>
            <p:cNvPr id="22" name="Picture 21" descr="A comparison of a graph&#10;&#10;AI-generated content may be incorrect.">
              <a:extLst>
                <a:ext uri="{FF2B5EF4-FFF2-40B4-BE49-F238E27FC236}">
                  <a16:creationId xmlns:a16="http://schemas.microsoft.com/office/drawing/2014/main" id="{B04FB61B-4774-3EF9-D003-E11B0F935A51}"/>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2901547" y="2014540"/>
              <a:ext cx="3397825" cy="2130622"/>
            </a:xfrm>
            <a:prstGeom prst="rect">
              <a:avLst/>
            </a:prstGeom>
          </p:spPr>
        </p:pic>
        <p:sp>
          <p:nvSpPr>
            <p:cNvPr id="23" name="TextBox 22">
              <a:extLst>
                <a:ext uri="{FF2B5EF4-FFF2-40B4-BE49-F238E27FC236}">
                  <a16:creationId xmlns:a16="http://schemas.microsoft.com/office/drawing/2014/main" id="{777FD926-B129-5053-A78D-653CE1099B3C}"/>
                </a:ext>
              </a:extLst>
            </p:cNvPr>
            <p:cNvSpPr txBox="1"/>
            <p:nvPr/>
          </p:nvSpPr>
          <p:spPr>
            <a:xfrm>
              <a:off x="5305867" y="3968644"/>
              <a:ext cx="900981" cy="767397"/>
            </a:xfrm>
            <a:prstGeom prst="rect">
              <a:avLst/>
            </a:prstGeom>
            <a:noFill/>
          </p:spPr>
          <p:txBody>
            <a:bodyPr wrap="square" rtlCol="0">
              <a:spAutoFit/>
            </a:bodyPr>
            <a:lstStyle/>
            <a:p>
              <a:pPr algn="ctr"/>
              <a:r>
                <a:rPr lang="en-US" sz="2400" b="1" dirty="0" err="1"/>
                <a:t>Balb</a:t>
              </a:r>
              <a:r>
                <a:rPr lang="en-US" sz="2400" b="1" dirty="0"/>
                <a:t> Mice</a:t>
              </a:r>
            </a:p>
          </p:txBody>
        </p:sp>
        <p:sp>
          <p:nvSpPr>
            <p:cNvPr id="24" name="TextBox 23">
              <a:extLst>
                <a:ext uri="{FF2B5EF4-FFF2-40B4-BE49-F238E27FC236}">
                  <a16:creationId xmlns:a16="http://schemas.microsoft.com/office/drawing/2014/main" id="{F116B465-9647-716E-9563-B3C701CBEC3F}"/>
                </a:ext>
              </a:extLst>
            </p:cNvPr>
            <p:cNvSpPr txBox="1"/>
            <p:nvPr/>
          </p:nvSpPr>
          <p:spPr>
            <a:xfrm>
              <a:off x="8709485" y="3968644"/>
              <a:ext cx="829587" cy="767397"/>
            </a:xfrm>
            <a:prstGeom prst="rect">
              <a:avLst/>
            </a:prstGeom>
            <a:noFill/>
          </p:spPr>
          <p:txBody>
            <a:bodyPr wrap="square" rtlCol="0">
              <a:spAutoFit/>
            </a:bodyPr>
            <a:lstStyle/>
            <a:p>
              <a:pPr algn="ctr"/>
              <a:r>
                <a:rPr lang="en-US" sz="2400" b="1" dirty="0" err="1"/>
                <a:t>Balb</a:t>
              </a:r>
              <a:r>
                <a:rPr lang="en-US" sz="2400" b="1" dirty="0"/>
                <a:t> Mice</a:t>
              </a:r>
            </a:p>
          </p:txBody>
        </p:sp>
        <p:sp>
          <p:nvSpPr>
            <p:cNvPr id="25" name="TextBox 24">
              <a:extLst>
                <a:ext uri="{FF2B5EF4-FFF2-40B4-BE49-F238E27FC236}">
                  <a16:creationId xmlns:a16="http://schemas.microsoft.com/office/drawing/2014/main" id="{28E1356D-DCE5-B749-42C1-A2B3D4BC3F0B}"/>
                </a:ext>
              </a:extLst>
            </p:cNvPr>
            <p:cNvSpPr txBox="1"/>
            <p:nvPr/>
          </p:nvSpPr>
          <p:spPr>
            <a:xfrm>
              <a:off x="7384188" y="3968644"/>
              <a:ext cx="977544" cy="767397"/>
            </a:xfrm>
            <a:prstGeom prst="rect">
              <a:avLst/>
            </a:prstGeom>
            <a:noFill/>
          </p:spPr>
          <p:txBody>
            <a:bodyPr wrap="square" rtlCol="0">
              <a:spAutoFit/>
            </a:bodyPr>
            <a:lstStyle/>
            <a:p>
              <a:pPr algn="ctr"/>
              <a:r>
                <a:rPr lang="en-US" sz="2400" b="1" dirty="0"/>
                <a:t>B6 Mice</a:t>
              </a:r>
            </a:p>
          </p:txBody>
        </p:sp>
        <p:sp>
          <p:nvSpPr>
            <p:cNvPr id="26" name="TextBox 25">
              <a:extLst>
                <a:ext uri="{FF2B5EF4-FFF2-40B4-BE49-F238E27FC236}">
                  <a16:creationId xmlns:a16="http://schemas.microsoft.com/office/drawing/2014/main" id="{E94A3F50-1762-1A3B-FED5-EF8D191030F2}"/>
                </a:ext>
              </a:extLst>
            </p:cNvPr>
            <p:cNvSpPr txBox="1"/>
            <p:nvPr/>
          </p:nvSpPr>
          <p:spPr>
            <a:xfrm>
              <a:off x="4060807" y="3968644"/>
              <a:ext cx="977544" cy="767397"/>
            </a:xfrm>
            <a:prstGeom prst="rect">
              <a:avLst/>
            </a:prstGeom>
            <a:noFill/>
          </p:spPr>
          <p:txBody>
            <a:bodyPr wrap="square" rtlCol="0">
              <a:spAutoFit/>
            </a:bodyPr>
            <a:lstStyle/>
            <a:p>
              <a:pPr algn="ctr"/>
              <a:r>
                <a:rPr lang="en-US" sz="2400" b="1" dirty="0"/>
                <a:t>B6 Mice</a:t>
              </a:r>
            </a:p>
          </p:txBody>
        </p:sp>
        <p:sp>
          <p:nvSpPr>
            <p:cNvPr id="27" name="TextBox 26">
              <a:extLst>
                <a:ext uri="{FF2B5EF4-FFF2-40B4-BE49-F238E27FC236}">
                  <a16:creationId xmlns:a16="http://schemas.microsoft.com/office/drawing/2014/main" id="{FE314DB8-9453-85DC-BFB6-99BC1E0E6493}"/>
                </a:ext>
              </a:extLst>
            </p:cNvPr>
            <p:cNvSpPr txBox="1"/>
            <p:nvPr/>
          </p:nvSpPr>
          <p:spPr>
            <a:xfrm>
              <a:off x="3013792" y="1657852"/>
              <a:ext cx="3317096" cy="426332"/>
            </a:xfrm>
            <a:prstGeom prst="rect">
              <a:avLst/>
            </a:prstGeom>
            <a:noFill/>
          </p:spPr>
          <p:txBody>
            <a:bodyPr wrap="square" rtlCol="0">
              <a:spAutoFit/>
            </a:bodyPr>
            <a:lstStyle/>
            <a:p>
              <a:pPr algn="ctr"/>
              <a:r>
                <a:rPr lang="en-US" sz="2400" b="1" dirty="0"/>
                <a:t>Morris Water Maze</a:t>
              </a:r>
            </a:p>
          </p:txBody>
        </p:sp>
        <p:sp>
          <p:nvSpPr>
            <p:cNvPr id="28" name="TextBox 27">
              <a:extLst>
                <a:ext uri="{FF2B5EF4-FFF2-40B4-BE49-F238E27FC236}">
                  <a16:creationId xmlns:a16="http://schemas.microsoft.com/office/drawing/2014/main" id="{633F66AF-5275-BBD8-2BBD-6F99AB510930}"/>
                </a:ext>
              </a:extLst>
            </p:cNvPr>
            <p:cNvSpPr txBox="1"/>
            <p:nvPr/>
          </p:nvSpPr>
          <p:spPr>
            <a:xfrm>
              <a:off x="6330888" y="1657852"/>
              <a:ext cx="2884607" cy="426332"/>
            </a:xfrm>
            <a:prstGeom prst="rect">
              <a:avLst/>
            </a:prstGeom>
            <a:noFill/>
          </p:spPr>
          <p:txBody>
            <a:bodyPr wrap="square" rtlCol="0">
              <a:spAutoFit/>
            </a:bodyPr>
            <a:lstStyle/>
            <a:p>
              <a:pPr algn="ctr"/>
              <a:r>
                <a:rPr lang="en-US" sz="2400" b="1" dirty="0"/>
                <a:t>Open Field Task</a:t>
              </a:r>
            </a:p>
          </p:txBody>
        </p:sp>
        <p:sp>
          <p:nvSpPr>
            <p:cNvPr id="29" name="Rectangle 28">
              <a:extLst>
                <a:ext uri="{FF2B5EF4-FFF2-40B4-BE49-F238E27FC236}">
                  <a16:creationId xmlns:a16="http://schemas.microsoft.com/office/drawing/2014/main" id="{03006E79-7803-3DF4-42CC-B6179572D384}"/>
                </a:ext>
              </a:extLst>
            </p:cNvPr>
            <p:cNvSpPr/>
            <p:nvPr/>
          </p:nvSpPr>
          <p:spPr>
            <a:xfrm>
              <a:off x="3540948" y="4049969"/>
              <a:ext cx="587022" cy="239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253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90F01-5C1B-625B-6D8A-4AAE7896A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C4189-6756-9497-8DDC-3746D8C0B768}"/>
              </a:ext>
            </a:extLst>
          </p:cNvPr>
          <p:cNvSpPr>
            <a:spLocks noGrp="1"/>
          </p:cNvSpPr>
          <p:nvPr>
            <p:ph type="title"/>
          </p:nvPr>
        </p:nvSpPr>
        <p:spPr/>
        <p:txBody>
          <a:bodyPr/>
          <a:lstStyle/>
          <a:p>
            <a:r>
              <a:rPr lang="en-US" dirty="0"/>
              <a:t>Epigenetics and Experience</a:t>
            </a:r>
          </a:p>
        </p:txBody>
      </p:sp>
      <p:sp>
        <p:nvSpPr>
          <p:cNvPr id="3" name="Content Placeholder 2">
            <a:extLst>
              <a:ext uri="{FF2B5EF4-FFF2-40B4-BE49-F238E27FC236}">
                <a16:creationId xmlns:a16="http://schemas.microsoft.com/office/drawing/2014/main" id="{FCC22F40-F296-F461-5D05-4BC26BA47F55}"/>
              </a:ext>
            </a:extLst>
          </p:cNvPr>
          <p:cNvSpPr>
            <a:spLocks noGrp="1"/>
          </p:cNvSpPr>
          <p:nvPr>
            <p:ph idx="1"/>
          </p:nvPr>
        </p:nvSpPr>
        <p:spPr>
          <a:xfrm>
            <a:off x="838200" y="1825624"/>
            <a:ext cx="7241498" cy="5032375"/>
          </a:xfrm>
        </p:spPr>
        <p:txBody>
          <a:bodyPr>
            <a:normAutofit/>
          </a:bodyPr>
          <a:lstStyle/>
          <a:p>
            <a:pPr marL="0" indent="0">
              <a:buNone/>
            </a:pPr>
            <a:r>
              <a:rPr lang="en-US" altLang="en-US" sz="3200" b="1" dirty="0"/>
              <a:t>Francis et al., 2003</a:t>
            </a:r>
            <a:endParaRPr lang="en-US" sz="3200" dirty="0"/>
          </a:p>
          <a:p>
            <a:r>
              <a:rPr lang="en-US" b="1" dirty="0"/>
              <a:t>Conclusion</a:t>
            </a:r>
            <a:r>
              <a:rPr lang="en-US" dirty="0"/>
              <a:t>: Environment (nurture) regulates gene expression and </a:t>
            </a:r>
            <a:r>
              <a:rPr lang="en-US" dirty="0" err="1"/>
              <a:t>behaviour</a:t>
            </a:r>
            <a:endParaRPr lang="en-US" dirty="0"/>
          </a:p>
          <a:p>
            <a:pPr lvl="1"/>
            <a:r>
              <a:rPr lang="en-US" dirty="0"/>
              <a:t>The mice were genetically identical (nature)</a:t>
            </a:r>
          </a:p>
          <a:p>
            <a:pPr lvl="1"/>
            <a:r>
              <a:rPr lang="en-US" dirty="0"/>
              <a:t>The maternal care changed gene expression that led to differences in </a:t>
            </a:r>
            <a:r>
              <a:rPr lang="en-US" dirty="0" err="1"/>
              <a:t>behaviour</a:t>
            </a:r>
            <a:endParaRPr lang="en-US" dirty="0"/>
          </a:p>
          <a:p>
            <a:pPr lvl="2"/>
            <a:endParaRPr lang="en-US" dirty="0"/>
          </a:p>
          <a:p>
            <a:pPr lvl="2"/>
            <a:endParaRPr lang="en-US" altLang="en-US" b="1" dirty="0"/>
          </a:p>
          <a:p>
            <a:pPr lvl="2"/>
            <a:endParaRPr lang="en-US" altLang="en-US" dirty="0"/>
          </a:p>
          <a:p>
            <a:pPr lvl="2"/>
            <a:endParaRPr lang="en-US" altLang="en-US" dirty="0"/>
          </a:p>
          <a:p>
            <a:pPr lvl="4"/>
            <a:endParaRPr lang="en-US" altLang="en-US" i="1" dirty="0"/>
          </a:p>
          <a:p>
            <a:pPr lvl="3"/>
            <a:endParaRPr lang="en-US" altLang="en-US" dirty="0"/>
          </a:p>
          <a:p>
            <a:pPr lvl="4"/>
            <a:endParaRPr lang="en-US" altLang="en-US" dirty="0"/>
          </a:p>
        </p:txBody>
      </p:sp>
      <p:sp>
        <p:nvSpPr>
          <p:cNvPr id="7" name="Rectangle: Rounded Corners 6">
            <a:extLst>
              <a:ext uri="{FF2B5EF4-FFF2-40B4-BE49-F238E27FC236}">
                <a16:creationId xmlns:a16="http://schemas.microsoft.com/office/drawing/2014/main" id="{282E8193-5C4B-0B3F-3020-F4C2A448EBE1}"/>
              </a:ext>
            </a:extLst>
          </p:cNvPr>
          <p:cNvSpPr/>
          <p:nvPr/>
        </p:nvSpPr>
        <p:spPr>
          <a:xfrm>
            <a:off x="7077130" y="1017202"/>
            <a:ext cx="308407" cy="80842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EBFE635-5FB8-B7EE-FDBE-DEB1724B61E2}"/>
              </a:ext>
            </a:extLst>
          </p:cNvPr>
          <p:cNvGrpSpPr/>
          <p:nvPr/>
        </p:nvGrpSpPr>
        <p:grpSpPr>
          <a:xfrm>
            <a:off x="7457203" y="586647"/>
            <a:ext cx="4609880" cy="6114679"/>
            <a:chOff x="6884284" y="676588"/>
            <a:chExt cx="4609880" cy="6114679"/>
          </a:xfrm>
        </p:grpSpPr>
        <p:pic>
          <p:nvPicPr>
            <p:cNvPr id="12" name="Picture 11" descr="A diagram of a diagram of a rat&#10;&#10;AI-generated content may be incorrect.">
              <a:extLst>
                <a:ext uri="{FF2B5EF4-FFF2-40B4-BE49-F238E27FC236}">
                  <a16:creationId xmlns:a16="http://schemas.microsoft.com/office/drawing/2014/main" id="{98959287-0605-66DE-E921-8004221C2BE1}"/>
                </a:ext>
              </a:extLst>
            </p:cNvPr>
            <p:cNvPicPr>
              <a:picLocks noChangeAspect="1"/>
            </p:cNvPicPr>
            <p:nvPr/>
          </p:nvPicPr>
          <p:blipFill>
            <a:blip r:embed="rId2">
              <a:extLst>
                <a:ext uri="{28A0092B-C50C-407E-A947-70E740481C1C}">
                  <a14:useLocalDpi xmlns:a14="http://schemas.microsoft.com/office/drawing/2010/main" val="0"/>
                </a:ext>
              </a:extLst>
            </a:blip>
            <a:srcRect l="37785" r="5492" b="78870"/>
            <a:stretch>
              <a:fillRect/>
            </a:stretch>
          </p:blipFill>
          <p:spPr>
            <a:xfrm>
              <a:off x="6884284" y="676588"/>
              <a:ext cx="4609880" cy="1466019"/>
            </a:xfrm>
            <a:prstGeom prst="rect">
              <a:avLst/>
            </a:prstGeom>
          </p:spPr>
        </p:pic>
        <p:grpSp>
          <p:nvGrpSpPr>
            <p:cNvPr id="13" name="Group 12">
              <a:extLst>
                <a:ext uri="{FF2B5EF4-FFF2-40B4-BE49-F238E27FC236}">
                  <a16:creationId xmlns:a16="http://schemas.microsoft.com/office/drawing/2014/main" id="{01970BE5-3FA4-8E39-3501-DAAE70D8603F}"/>
                </a:ext>
              </a:extLst>
            </p:cNvPr>
            <p:cNvGrpSpPr/>
            <p:nvPr/>
          </p:nvGrpSpPr>
          <p:grpSpPr>
            <a:xfrm>
              <a:off x="7385537" y="2229793"/>
              <a:ext cx="3455931" cy="4561474"/>
              <a:chOff x="7239551" y="2460521"/>
              <a:chExt cx="2674642" cy="3530253"/>
            </a:xfrm>
          </p:grpSpPr>
          <p:pic>
            <p:nvPicPr>
              <p:cNvPr id="14" name="Picture 13" descr="A comparison of a graph&#10;&#10;AI-generated content may be incorrect.">
                <a:extLst>
                  <a:ext uri="{FF2B5EF4-FFF2-40B4-BE49-F238E27FC236}">
                    <a16:creationId xmlns:a16="http://schemas.microsoft.com/office/drawing/2014/main" id="{8C2F04B1-685D-8A58-0E4D-6B314C75E65D}"/>
                  </a:ext>
                </a:extLst>
              </p:cNvPr>
              <p:cNvPicPr>
                <a:picLocks noChangeAspect="1"/>
              </p:cNvPicPr>
              <p:nvPr/>
            </p:nvPicPr>
            <p:blipFill>
              <a:blip r:embed="rId3">
                <a:extLst>
                  <a:ext uri="{28A0092B-C50C-407E-A947-70E740481C1C}">
                    <a14:useLocalDpi xmlns:a14="http://schemas.microsoft.com/office/drawing/2010/main" val="0"/>
                  </a:ext>
                </a:extLst>
              </a:blip>
              <a:srcRect b="74536"/>
              <a:stretch>
                <a:fillRect/>
              </a:stretch>
            </p:blipFill>
            <p:spPr>
              <a:xfrm>
                <a:off x="7284521" y="2460521"/>
                <a:ext cx="2629672" cy="1746354"/>
              </a:xfrm>
              <a:prstGeom prst="rect">
                <a:avLst/>
              </a:prstGeom>
            </p:spPr>
          </p:pic>
          <p:pic>
            <p:nvPicPr>
              <p:cNvPr id="15" name="Picture 14" descr="A comparison of a graph&#10;&#10;AI-generated content may be incorrect.">
                <a:extLst>
                  <a:ext uri="{FF2B5EF4-FFF2-40B4-BE49-F238E27FC236}">
                    <a16:creationId xmlns:a16="http://schemas.microsoft.com/office/drawing/2014/main" id="{F1AD9CEB-E92E-52A7-C941-10B2BB035AE3}"/>
                  </a:ext>
                </a:extLst>
              </p:cNvPr>
              <p:cNvPicPr>
                <a:picLocks noChangeAspect="1"/>
              </p:cNvPicPr>
              <p:nvPr/>
            </p:nvPicPr>
            <p:blipFill>
              <a:blip r:embed="rId3">
                <a:extLst>
                  <a:ext uri="{28A0092B-C50C-407E-A947-70E740481C1C}">
                    <a14:useLocalDpi xmlns:a14="http://schemas.microsoft.com/office/drawing/2010/main" val="0"/>
                  </a:ext>
                </a:extLst>
              </a:blip>
              <a:srcRect l="-2207" t="49602" r="2207" b="26355"/>
              <a:stretch>
                <a:fillRect/>
              </a:stretch>
            </p:blipFill>
            <p:spPr>
              <a:xfrm>
                <a:off x="7239551" y="4341826"/>
                <a:ext cx="2629672" cy="1648948"/>
              </a:xfrm>
              <a:prstGeom prst="rect">
                <a:avLst/>
              </a:prstGeom>
            </p:spPr>
          </p:pic>
        </p:grpSp>
      </p:grpSp>
    </p:spTree>
    <p:extLst>
      <p:ext uri="{BB962C8B-B14F-4D97-AF65-F5344CB8AC3E}">
        <p14:creationId xmlns:p14="http://schemas.microsoft.com/office/powerpoint/2010/main" val="389161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76176F-5A0E-0080-99AE-1BF8FD57412B}"/>
              </a:ext>
            </a:extLst>
          </p:cNvPr>
          <p:cNvPicPr>
            <a:picLocks noChangeAspect="1"/>
          </p:cNvPicPr>
          <p:nvPr/>
        </p:nvPicPr>
        <p:blipFill>
          <a:blip r:embed="rId2">
            <a:extLst>
              <a:ext uri="{28A0092B-C50C-407E-A947-70E740481C1C}">
                <a14:useLocalDpi xmlns:a14="http://schemas.microsoft.com/office/drawing/2010/main" val="0"/>
              </a:ext>
            </a:extLst>
          </a:blip>
          <a:srcRect l="17534"/>
          <a:stretch>
            <a:fillRect/>
          </a:stretch>
        </p:blipFill>
        <p:spPr>
          <a:xfrm>
            <a:off x="7737231" y="0"/>
            <a:ext cx="4454769" cy="6858000"/>
          </a:xfrm>
          <a:prstGeom prst="rect">
            <a:avLst/>
          </a:prstGeom>
        </p:spPr>
      </p:pic>
      <p:sp>
        <p:nvSpPr>
          <p:cNvPr id="2" name="Title 1">
            <a:extLst>
              <a:ext uri="{FF2B5EF4-FFF2-40B4-BE49-F238E27FC236}">
                <a16:creationId xmlns:a16="http://schemas.microsoft.com/office/drawing/2014/main" id="{BA416ADD-E773-4270-74A4-6EEDDBBC93B6}"/>
              </a:ext>
            </a:extLst>
          </p:cNvPr>
          <p:cNvSpPr>
            <a:spLocks noGrp="1"/>
          </p:cNvSpPr>
          <p:nvPr>
            <p:ph type="title"/>
          </p:nvPr>
        </p:nvSpPr>
        <p:spPr/>
        <p:txBody>
          <a:bodyPr/>
          <a:lstStyle/>
          <a:p>
            <a:r>
              <a:rPr lang="en-US" dirty="0"/>
              <a:t>Testable Figures</a:t>
            </a:r>
          </a:p>
        </p:txBody>
      </p:sp>
      <p:sp>
        <p:nvSpPr>
          <p:cNvPr id="3" name="TextBox 2">
            <a:extLst>
              <a:ext uri="{FF2B5EF4-FFF2-40B4-BE49-F238E27FC236}">
                <a16:creationId xmlns:a16="http://schemas.microsoft.com/office/drawing/2014/main" id="{83BD16DB-37E6-F1F5-7348-E2153B7BC2FD}"/>
              </a:ext>
            </a:extLst>
          </p:cNvPr>
          <p:cNvSpPr txBox="1"/>
          <p:nvPr/>
        </p:nvSpPr>
        <p:spPr>
          <a:xfrm>
            <a:off x="0" y="6492875"/>
            <a:ext cx="7212103" cy="369332"/>
          </a:xfrm>
          <a:prstGeom prst="rect">
            <a:avLst/>
          </a:prstGeom>
          <a:noFill/>
        </p:spPr>
        <p:txBody>
          <a:bodyPr wrap="none" rtlCol="0">
            <a:spAutoFit/>
          </a:bodyPr>
          <a:lstStyle/>
          <a:p>
            <a:r>
              <a:rPr lang="en-US" i="1" dirty="0"/>
              <a:t>All figures corresponding to the results of a study are testable material. </a:t>
            </a:r>
          </a:p>
        </p:txBody>
      </p:sp>
      <p:sp>
        <p:nvSpPr>
          <p:cNvPr id="5" name="Content Placeholder 2">
            <a:extLst>
              <a:ext uri="{FF2B5EF4-FFF2-40B4-BE49-F238E27FC236}">
                <a16:creationId xmlns:a16="http://schemas.microsoft.com/office/drawing/2014/main" id="{67F61BB8-1FC1-AFE2-DABD-CEF63125C9FB}"/>
              </a:ext>
            </a:extLst>
          </p:cNvPr>
          <p:cNvSpPr>
            <a:spLocks noGrp="1"/>
          </p:cNvSpPr>
          <p:nvPr>
            <p:ph idx="1"/>
          </p:nvPr>
        </p:nvSpPr>
        <p:spPr>
          <a:xfrm>
            <a:off x="838200" y="1825625"/>
            <a:ext cx="10515600" cy="4351338"/>
          </a:xfrm>
        </p:spPr>
        <p:txBody>
          <a:bodyPr/>
          <a:lstStyle/>
          <a:p>
            <a:pPr marL="0" indent="0">
              <a:buNone/>
            </a:pPr>
            <a:r>
              <a:rPr lang="en-US" dirty="0"/>
              <a:t>Slide 6</a:t>
            </a:r>
          </a:p>
          <a:p>
            <a:pPr marL="0" indent="0">
              <a:buNone/>
            </a:pPr>
            <a:r>
              <a:rPr lang="en-US" dirty="0"/>
              <a:t>Slide 12</a:t>
            </a:r>
          </a:p>
        </p:txBody>
      </p:sp>
    </p:spTree>
    <p:extLst>
      <p:ext uri="{BB962C8B-B14F-4D97-AF65-F5344CB8AC3E}">
        <p14:creationId xmlns:p14="http://schemas.microsoft.com/office/powerpoint/2010/main" val="1446489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c61d377-9894-427c-b13b-1d6a51662b4e}" enabled="0" method="" siteId="{9c61d377-9894-427c-b13b-1d6a51662b4e}" removed="1"/>
</clbl:labelList>
</file>

<file path=docProps/app.xml><?xml version="1.0" encoding="utf-8"?>
<Properties xmlns="http://schemas.openxmlformats.org/officeDocument/2006/extended-properties" xmlns:vt="http://schemas.openxmlformats.org/officeDocument/2006/docPropsVTypes">
  <TotalTime>10164</TotalTime>
  <Words>1985</Words>
  <Application>Microsoft Office PowerPoint</Application>
  <PresentationFormat>Widescreen</PresentationFormat>
  <Paragraphs>331</Paragraphs>
  <Slides>41</Slides>
  <Notes>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Calibri</vt:lpstr>
      <vt:lpstr>Office Theme</vt:lpstr>
      <vt:lpstr>Brain Development</vt:lpstr>
      <vt:lpstr>PowerPoint Presentation</vt:lpstr>
      <vt:lpstr>PowerPoint Presentation</vt:lpstr>
      <vt:lpstr>PowerPoint Presentation</vt:lpstr>
      <vt:lpstr>PowerPoint Presentation</vt:lpstr>
      <vt:lpstr>Embryonic Stage of Development</vt:lpstr>
      <vt:lpstr>Embryonic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Fetal Stage of Development</vt:lpstr>
      <vt:lpstr>PowerPoint Presentation</vt:lpstr>
      <vt:lpstr>Development and Experience</vt:lpstr>
      <vt:lpstr>Development and Experience</vt:lpstr>
      <vt:lpstr>Development and Experience</vt:lpstr>
      <vt:lpstr>Development and Experience</vt:lpstr>
      <vt:lpstr>PowerPoint Presentation</vt:lpstr>
      <vt:lpstr>Genetics</vt:lpstr>
      <vt:lpstr>Epigenetics and Experience</vt:lpstr>
      <vt:lpstr>Epigenetics and Experience</vt:lpstr>
      <vt:lpstr>Epigenetics and Experience</vt:lpstr>
      <vt:lpstr>Epigenetics and Experience</vt:lpstr>
      <vt:lpstr>Epigenetics and Experience</vt:lpstr>
      <vt:lpstr>Epigenetics and Experience</vt:lpstr>
      <vt:lpstr>Epigenetics and Experience</vt:lpstr>
      <vt:lpstr>Epigenetics and Experience</vt:lpstr>
      <vt:lpstr>Testable Figures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2</cp:revision>
  <dcterms:created xsi:type="dcterms:W3CDTF">2025-08-11T14:51:42Z</dcterms:created>
  <dcterms:modified xsi:type="dcterms:W3CDTF">2026-08-18T18:19:47Z</dcterms:modified>
</cp:coreProperties>
</file>