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7" r:id="rId2"/>
    <p:sldId id="280" r:id="rId3"/>
    <p:sldId id="321" r:id="rId4"/>
    <p:sldId id="281" r:id="rId5"/>
    <p:sldId id="282" r:id="rId6"/>
    <p:sldId id="283" r:id="rId7"/>
    <p:sldId id="285" r:id="rId8"/>
    <p:sldId id="328" r:id="rId9"/>
    <p:sldId id="290" r:id="rId10"/>
    <p:sldId id="329" r:id="rId11"/>
    <p:sldId id="291" r:id="rId12"/>
    <p:sldId id="292" r:id="rId13"/>
    <p:sldId id="293" r:id="rId14"/>
    <p:sldId id="294" r:id="rId15"/>
    <p:sldId id="323" r:id="rId16"/>
    <p:sldId id="332" r:id="rId17"/>
    <p:sldId id="295" r:id="rId18"/>
    <p:sldId id="296" r:id="rId19"/>
    <p:sldId id="297" r:id="rId20"/>
    <p:sldId id="335" r:id="rId21"/>
    <p:sldId id="301" r:id="rId22"/>
    <p:sldId id="327" r:id="rId23"/>
    <p:sldId id="300" r:id="rId24"/>
    <p:sldId id="317" r:id="rId25"/>
    <p:sldId id="319" r:id="rId26"/>
    <p:sldId id="320" r:id="rId27"/>
    <p:sldId id="333" r:id="rId28"/>
    <p:sldId id="302" r:id="rId29"/>
    <p:sldId id="324" r:id="rId30"/>
    <p:sldId id="307" r:id="rId31"/>
    <p:sldId id="331" r:id="rId32"/>
    <p:sldId id="304" r:id="rId33"/>
    <p:sldId id="308" r:id="rId34"/>
    <p:sldId id="330" r:id="rId35"/>
    <p:sldId id="309" r:id="rId36"/>
    <p:sldId id="325" r:id="rId37"/>
    <p:sldId id="305" r:id="rId38"/>
    <p:sldId id="286" r:id="rId39"/>
    <p:sldId id="287" r:id="rId40"/>
    <p:sldId id="288" r:id="rId41"/>
    <p:sldId id="326" r:id="rId42"/>
    <p:sldId id="316" r:id="rId43"/>
    <p:sldId id="306" r:id="rId44"/>
    <p:sldId id="312" r:id="rId45"/>
    <p:sldId id="334" r:id="rId46"/>
    <p:sldId id="337"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2CCABC-FB6F-4F6F-B1D7-A93CA3130E98}" v="3" dt="2026-07-28T21:36:29.7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5" autoAdjust="0"/>
    <p:restoredTop sz="94660"/>
  </p:normalViewPr>
  <p:slideViewPr>
    <p:cSldViewPr snapToGrid="0">
      <p:cViewPr varScale="1">
        <p:scale>
          <a:sx n="97" d="100"/>
          <a:sy n="97" d="100"/>
        </p:scale>
        <p:origin x="84" y="5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d Williams" userId="618f96a3-8672-4e43-ae03-eeed93bb7387" providerId="ADAL" clId="{DFF2BB08-185E-495B-B2A0-BE0942C7B81E}"/>
    <pc:docChg chg="undo custSel addSld delSld modSld sldOrd">
      <pc:chgData name="Chad Williams" userId="618f96a3-8672-4e43-ae03-eeed93bb7387" providerId="ADAL" clId="{DFF2BB08-185E-495B-B2A0-BE0942C7B81E}" dt="2026-07-28T21:36:45.494" v="4241" actId="47"/>
      <pc:docMkLst>
        <pc:docMk/>
      </pc:docMkLst>
      <pc:sldChg chg="addSp delSp modSp add mod">
        <pc:chgData name="Chad Williams" userId="618f96a3-8672-4e43-ae03-eeed93bb7387" providerId="ADAL" clId="{DFF2BB08-185E-495B-B2A0-BE0942C7B81E}" dt="2026-07-28T21:24:14.521" v="4180" actId="22"/>
        <pc:sldMkLst>
          <pc:docMk/>
          <pc:sldMk cId="151906723" sldId="334"/>
        </pc:sldMkLst>
        <pc:spChg chg="add del">
          <ac:chgData name="Chad Williams" userId="618f96a3-8672-4e43-ae03-eeed93bb7387" providerId="ADAL" clId="{DFF2BB08-185E-495B-B2A0-BE0942C7B81E}" dt="2026-07-28T21:24:14.521" v="4180" actId="22"/>
          <ac:spMkLst>
            <pc:docMk/>
            <pc:sldMk cId="151906723" sldId="334"/>
            <ac:spMk id="3" creationId="{CE229348-EACB-1652-1E2A-4BA07BECA272}"/>
          </ac:spMkLst>
        </pc:spChg>
      </pc:sldChg>
      <pc:sldChg chg="addSp delSp modSp add del mod">
        <pc:chgData name="Chad Williams" userId="618f96a3-8672-4e43-ae03-eeed93bb7387" providerId="ADAL" clId="{DFF2BB08-185E-495B-B2A0-BE0942C7B81E}" dt="2026-07-28T21:36:45.494" v="4241" actId="47"/>
        <pc:sldMkLst>
          <pc:docMk/>
          <pc:sldMk cId="304801725" sldId="336"/>
        </pc:sldMkLst>
        <pc:spChg chg="add mod">
          <ac:chgData name="Chad Williams" userId="618f96a3-8672-4e43-ae03-eeed93bb7387" providerId="ADAL" clId="{DFF2BB08-185E-495B-B2A0-BE0942C7B81E}" dt="2026-07-28T21:29:50.012" v="4209" actId="20577"/>
          <ac:spMkLst>
            <pc:docMk/>
            <pc:sldMk cId="304801725" sldId="336"/>
            <ac:spMk id="3" creationId="{5ADDEFD5-165A-972A-4A4F-3631C07A8F62}"/>
          </ac:spMkLst>
        </pc:spChg>
        <pc:graphicFrameChg chg="del">
          <ac:chgData name="Chad Williams" userId="618f96a3-8672-4e43-ae03-eeed93bb7387" providerId="ADAL" clId="{DFF2BB08-185E-495B-B2A0-BE0942C7B81E}" dt="2026-07-28T21:29:09.294" v="4182" actId="478"/>
          <ac:graphicFrameMkLst>
            <pc:docMk/>
            <pc:sldMk cId="304801725" sldId="336"/>
            <ac:graphicFrameMk id="4" creationId="{7D018100-1EC6-0F2B-0EEE-9C92B65C2F9D}"/>
          </ac:graphicFrameMkLst>
        </pc:graphicFrameChg>
        <pc:picChg chg="add del">
          <ac:chgData name="Chad Williams" userId="618f96a3-8672-4e43-ae03-eeed93bb7387" providerId="ADAL" clId="{DFF2BB08-185E-495B-B2A0-BE0942C7B81E}" dt="2026-07-28T21:29:56.589" v="4211" actId="22"/>
          <ac:picMkLst>
            <pc:docMk/>
            <pc:sldMk cId="304801725" sldId="336"/>
            <ac:picMk id="6" creationId="{D603469E-A73F-50E8-26AD-F0BAF6C7AC85}"/>
          </ac:picMkLst>
        </pc:picChg>
        <pc:picChg chg="add mod modCrop">
          <ac:chgData name="Chad Williams" userId="618f96a3-8672-4e43-ae03-eeed93bb7387" providerId="ADAL" clId="{DFF2BB08-185E-495B-B2A0-BE0942C7B81E}" dt="2026-07-28T21:33:09.038" v="4217" actId="14100"/>
          <ac:picMkLst>
            <pc:docMk/>
            <pc:sldMk cId="304801725" sldId="336"/>
            <ac:picMk id="7" creationId="{1F31EC7D-17B3-0446-DF39-3886C372415B}"/>
          </ac:picMkLst>
        </pc:picChg>
      </pc:sldChg>
      <pc:sldChg chg="new del">
        <pc:chgData name="Chad Williams" userId="618f96a3-8672-4e43-ae03-eeed93bb7387" providerId="ADAL" clId="{DFF2BB08-185E-495B-B2A0-BE0942C7B81E}" dt="2026-07-28T21:30:20.384" v="4212" actId="47"/>
        <pc:sldMkLst>
          <pc:docMk/>
          <pc:sldMk cId="919734563" sldId="337"/>
        </pc:sldMkLst>
      </pc:sldChg>
      <pc:sldChg chg="modSp add mod">
        <pc:chgData name="Chad Williams" userId="618f96a3-8672-4e43-ae03-eeed93bb7387" providerId="ADAL" clId="{DFF2BB08-185E-495B-B2A0-BE0942C7B81E}" dt="2026-07-28T21:36:43.263" v="4240" actId="114"/>
        <pc:sldMkLst>
          <pc:docMk/>
          <pc:sldMk cId="1446489920" sldId="337"/>
        </pc:sldMkLst>
        <pc:spChg chg="mod">
          <ac:chgData name="Chad Williams" userId="618f96a3-8672-4e43-ae03-eeed93bb7387" providerId="ADAL" clId="{DFF2BB08-185E-495B-B2A0-BE0942C7B81E}" dt="2026-07-28T21:36:43.263" v="4240" actId="114"/>
          <ac:spMkLst>
            <pc:docMk/>
            <pc:sldMk cId="1446489920" sldId="337"/>
            <ac:spMk id="5" creationId="{67F61BB8-1FC1-AFE2-DABD-CEF63125C9F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A58E55-DF54-4DED-9AD7-D46FCB7DC95A}" type="datetimeFigureOut">
              <a:rPr lang="en-US" smtClean="0"/>
              <a:t>7/28/2026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B5B977-0B2D-4610-A9FA-D6352649F8AC}" type="slidenum">
              <a:rPr lang="en-US" smtClean="0"/>
              <a:t>‹#›</a:t>
            </a:fld>
            <a:endParaRPr lang="en-US"/>
          </a:p>
        </p:txBody>
      </p:sp>
    </p:spTree>
    <p:extLst>
      <p:ext uri="{BB962C8B-B14F-4D97-AF65-F5344CB8AC3E}">
        <p14:creationId xmlns:p14="http://schemas.microsoft.com/office/powerpoint/2010/main" val="41054981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B5B977-0B2D-4610-A9FA-D6352649F8AC}" type="slidenum">
              <a:rPr lang="en-US" smtClean="0"/>
              <a:t>44</a:t>
            </a:fld>
            <a:endParaRPr lang="en-US"/>
          </a:p>
        </p:txBody>
      </p:sp>
    </p:spTree>
    <p:extLst>
      <p:ext uri="{BB962C8B-B14F-4D97-AF65-F5344CB8AC3E}">
        <p14:creationId xmlns:p14="http://schemas.microsoft.com/office/powerpoint/2010/main" val="22843570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FCC9F-153C-5BED-77D1-0EA8FA851C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74AFA1B-9317-E4FA-9E5F-71F307F14B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0BA73E4-6544-A008-5669-868A3733E124}"/>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5" name="Footer Placeholder 4">
            <a:extLst>
              <a:ext uri="{FF2B5EF4-FFF2-40B4-BE49-F238E27FC236}">
                <a16:creationId xmlns:a16="http://schemas.microsoft.com/office/drawing/2014/main" id="{ECEB6D09-B653-253C-7468-CB69572163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43E8E0-BCE4-8E2F-3CAF-4A0155F06C56}"/>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37634914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1D079-863E-8E80-51B0-7CE72BACC0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103BEF-88ED-FA81-799F-132222CC51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772EFB-BE09-46CC-5EB5-923F524CE21A}"/>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5" name="Footer Placeholder 4">
            <a:extLst>
              <a:ext uri="{FF2B5EF4-FFF2-40B4-BE49-F238E27FC236}">
                <a16:creationId xmlns:a16="http://schemas.microsoft.com/office/drawing/2014/main" id="{4826EFA9-57FE-A7B8-0152-0677077C84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A9A541-BCB9-1489-0D4F-34671F1D1B01}"/>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1046767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A1885-73A8-5C98-F85B-FD93EF337A8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FC37A30-0AAF-9C64-D450-3D3E62C2894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DA13C8-8130-0C7A-54B4-8B2AA151012C}"/>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5" name="Footer Placeholder 4">
            <a:extLst>
              <a:ext uri="{FF2B5EF4-FFF2-40B4-BE49-F238E27FC236}">
                <a16:creationId xmlns:a16="http://schemas.microsoft.com/office/drawing/2014/main" id="{3FD934BF-4EF4-090A-5327-72E3A11168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3C1FC7-CF5C-AD75-EEBC-C726161ED010}"/>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467823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6A28B-31B8-90E0-AADB-E4AC95AD4C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0A5B33-9A1F-2B19-2C08-444D6F7E55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26D7EEE-51DA-00F0-2BC4-0203809C71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63B6CCE-3D6C-9C92-E8CD-17CF1A156521}"/>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6" name="Footer Placeholder 5">
            <a:extLst>
              <a:ext uri="{FF2B5EF4-FFF2-40B4-BE49-F238E27FC236}">
                <a16:creationId xmlns:a16="http://schemas.microsoft.com/office/drawing/2014/main" id="{867C9986-80E1-876A-BDE4-EF8F4D69CA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FFCFA4-1493-0C60-41EB-5E0360F8EA6C}"/>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1205517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5F673-6B17-CAA7-EDD6-EB6A46BEC53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CE42013-5E11-D28F-B4C3-E07D6D43AE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74C146-9506-960E-B2C6-114BA15006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CEBEDC7-17C2-A78A-F73C-3BFFAAC160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AF650B-E297-256A-06A0-1688F72543A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701E005-308A-9E31-CDC4-583D302CCF90}"/>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8" name="Footer Placeholder 7">
            <a:extLst>
              <a:ext uri="{FF2B5EF4-FFF2-40B4-BE49-F238E27FC236}">
                <a16:creationId xmlns:a16="http://schemas.microsoft.com/office/drawing/2014/main" id="{4888BA9C-2513-9724-E7D8-B6AEAE22AF3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660F89A-69C7-2DC4-2A67-FB0B568A64EF}"/>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13902013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29B60-4ECB-D4C5-8F9C-72E834BA593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6469B5F-2004-DA7B-ABF6-7D712B038AE9}"/>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4" name="Footer Placeholder 3">
            <a:extLst>
              <a:ext uri="{FF2B5EF4-FFF2-40B4-BE49-F238E27FC236}">
                <a16:creationId xmlns:a16="http://schemas.microsoft.com/office/drawing/2014/main" id="{EA00A102-A3B7-C8B1-77C9-E4C9BB9858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5487EC4-7497-0271-3E6A-E842B57483BE}"/>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20206661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E70430-559B-8C59-E57F-58CA50ADF97A}"/>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3" name="Footer Placeholder 2">
            <a:extLst>
              <a:ext uri="{FF2B5EF4-FFF2-40B4-BE49-F238E27FC236}">
                <a16:creationId xmlns:a16="http://schemas.microsoft.com/office/drawing/2014/main" id="{A5199E04-CCEF-3AEF-0EB8-28DACA6714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3C6E08-EFFD-76A2-23F6-9951F33CF72A}"/>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2527766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980C6-0265-BCB2-D248-70F79E4FA6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16C3128-5EA3-9110-61E8-6E54054C5D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26DFD61-4640-6E89-117E-8033F215AA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CDAE60-E065-FA6D-E126-F6A63283DD69}"/>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6" name="Footer Placeholder 5">
            <a:extLst>
              <a:ext uri="{FF2B5EF4-FFF2-40B4-BE49-F238E27FC236}">
                <a16:creationId xmlns:a16="http://schemas.microsoft.com/office/drawing/2014/main" id="{1E7DA105-935B-CDCB-5819-3E9730FC08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B2526E-01B6-82CE-B0F6-217F7B28CF6C}"/>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3756566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9489F-F723-CF7F-7BF9-B198245EF6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41D3A86-032B-BCD7-6A72-9F5BEBC9AF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96F5CEA-D30D-B373-82E9-DCD1FAE807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29203E-0C3D-FD43-06CF-BFC0FE6F73A7}"/>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6" name="Footer Placeholder 5">
            <a:extLst>
              <a:ext uri="{FF2B5EF4-FFF2-40B4-BE49-F238E27FC236}">
                <a16:creationId xmlns:a16="http://schemas.microsoft.com/office/drawing/2014/main" id="{8D0392B7-3636-A5E9-BA01-ECA6E682D4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F85FEB-1518-7D4D-8A18-4FE72BCE5F61}"/>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39625450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48754-A5FA-D976-080B-7F0E83EF78B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2BD0E94-9358-341D-4038-E768882680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095BA3-992C-3CDB-41CD-646B7C252618}"/>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5" name="Footer Placeholder 4">
            <a:extLst>
              <a:ext uri="{FF2B5EF4-FFF2-40B4-BE49-F238E27FC236}">
                <a16:creationId xmlns:a16="http://schemas.microsoft.com/office/drawing/2014/main" id="{6EAEFD14-CAE1-5E67-18B9-50B714E34D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5021C-74B3-CB99-976A-1F95B561168E}"/>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29956342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2E7540-105A-F4AF-F5BE-954009823E4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AC61B68-319D-3491-F4AB-52C88C4C74E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548040-C41C-A2CF-88F3-C132E0479FCB}"/>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5" name="Footer Placeholder 4">
            <a:extLst>
              <a:ext uri="{FF2B5EF4-FFF2-40B4-BE49-F238E27FC236}">
                <a16:creationId xmlns:a16="http://schemas.microsoft.com/office/drawing/2014/main" id="{ADDF7DA8-1DE6-4EA3-1B7F-D800D360C4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EBA4F0-46E8-02C8-7D5F-BE788AB8E0D0}"/>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1505573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9EEC4E-DC2D-5EE1-5C7A-4C25929572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D4BA5-8DC3-EE54-47B9-587EBF40AD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31E6DD-3F7D-93DE-45F6-7A594444FC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EC11407-8E1B-4C97-B51B-FFA28C554ED7}" type="datetimeFigureOut">
              <a:rPr lang="en-US" smtClean="0"/>
              <a:t>7/28/2026</a:t>
            </a:fld>
            <a:endParaRPr lang="en-US"/>
          </a:p>
        </p:txBody>
      </p:sp>
      <p:sp>
        <p:nvSpPr>
          <p:cNvPr id="5" name="Footer Placeholder 4">
            <a:extLst>
              <a:ext uri="{FF2B5EF4-FFF2-40B4-BE49-F238E27FC236}">
                <a16:creationId xmlns:a16="http://schemas.microsoft.com/office/drawing/2014/main" id="{C9C9E689-9319-DF25-D096-A79BFECCEA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C9A93C1-3576-E67E-2759-17A9F78C56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9F13C4C-01C6-4528-B855-C0BB2AC8454B}" type="slidenum">
              <a:rPr lang="en-US" smtClean="0"/>
              <a:t>‹#›</a:t>
            </a:fld>
            <a:endParaRPr lang="en-US"/>
          </a:p>
        </p:txBody>
      </p:sp>
    </p:spTree>
    <p:extLst>
      <p:ext uri="{BB962C8B-B14F-4D97-AF65-F5344CB8AC3E}">
        <p14:creationId xmlns:p14="http://schemas.microsoft.com/office/powerpoint/2010/main" val="16162050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04505-984A-784F-B784-AEBB8FD005B0}"/>
              </a:ext>
            </a:extLst>
          </p:cNvPr>
          <p:cNvSpPr>
            <a:spLocks noGrp="1"/>
          </p:cNvSpPr>
          <p:nvPr>
            <p:ph type="ctrTitle"/>
          </p:nvPr>
        </p:nvSpPr>
        <p:spPr>
          <a:xfrm>
            <a:off x="5872805" y="1122363"/>
            <a:ext cx="6197089" cy="2387600"/>
          </a:xfrm>
        </p:spPr>
        <p:txBody>
          <a:bodyPr>
            <a:noAutofit/>
          </a:bodyPr>
          <a:lstStyle/>
          <a:p>
            <a:r>
              <a:rPr lang="en-US" sz="4800" b="1" dirty="0">
                <a:latin typeface="Calibri" panose="020F0502020204030204" pitchFamily="34" charset="0"/>
                <a:cs typeface="Calibri" panose="020F0502020204030204" pitchFamily="34" charset="0"/>
              </a:rPr>
              <a:t>Hormones</a:t>
            </a:r>
          </a:p>
        </p:txBody>
      </p:sp>
      <p:sp>
        <p:nvSpPr>
          <p:cNvPr id="3" name="Subtitle 2">
            <a:extLst>
              <a:ext uri="{FF2B5EF4-FFF2-40B4-BE49-F238E27FC236}">
                <a16:creationId xmlns:a16="http://schemas.microsoft.com/office/drawing/2014/main" id="{3C4BDEC7-4CE5-0C42-AD2E-FA8453064E39}"/>
              </a:ext>
            </a:extLst>
          </p:cNvPr>
          <p:cNvSpPr>
            <a:spLocks noGrp="1"/>
          </p:cNvSpPr>
          <p:nvPr>
            <p:ph type="subTitle" idx="1"/>
          </p:nvPr>
        </p:nvSpPr>
        <p:spPr>
          <a:xfrm>
            <a:off x="5872805" y="3602038"/>
            <a:ext cx="6197089" cy="1655762"/>
          </a:xfrm>
        </p:spPr>
        <p:txBody>
          <a:bodyPr>
            <a:normAutofit/>
          </a:bodyPr>
          <a:lstStyle/>
          <a:p>
            <a:r>
              <a:rPr lang="en-US" sz="3600" dirty="0"/>
              <a:t>Chad Williams</a:t>
            </a:r>
          </a:p>
          <a:p>
            <a:r>
              <a:rPr lang="en-US" sz="2800" dirty="0"/>
              <a:t>University of Victoria</a:t>
            </a:r>
            <a:endParaRPr lang="en-US" dirty="0"/>
          </a:p>
        </p:txBody>
      </p:sp>
      <p:pic>
        <p:nvPicPr>
          <p:cNvPr id="10" name="Picture 9" descr="A colorful and black and white brain&#10;&#10;AI-generated content may be incorrect.">
            <a:extLst>
              <a:ext uri="{FF2B5EF4-FFF2-40B4-BE49-F238E27FC236}">
                <a16:creationId xmlns:a16="http://schemas.microsoft.com/office/drawing/2014/main" id="{2517674F-1EF5-6501-66B2-CCB81D59B9A8}"/>
              </a:ext>
            </a:extLst>
          </p:cNvPr>
          <p:cNvPicPr>
            <a:picLocks noChangeAspect="1"/>
          </p:cNvPicPr>
          <p:nvPr/>
        </p:nvPicPr>
        <p:blipFill>
          <a:blip r:embed="rId2">
            <a:clrChange>
              <a:clrFrom>
                <a:srgbClr val="F9F9F7"/>
              </a:clrFrom>
              <a:clrTo>
                <a:srgbClr val="F9F9F7">
                  <a:alpha val="0"/>
                </a:srgbClr>
              </a:clrTo>
            </a:clrChange>
            <a:extLst>
              <a:ext uri="{28A0092B-C50C-407E-A947-70E740481C1C}">
                <a14:useLocalDpi xmlns:a14="http://schemas.microsoft.com/office/drawing/2010/main" val="0"/>
              </a:ext>
            </a:extLst>
          </a:blip>
          <a:srcRect l="22953" t="7044" r="23408" b="21998"/>
          <a:stretch>
            <a:fillRect/>
          </a:stretch>
        </p:blipFill>
        <p:spPr>
          <a:xfrm>
            <a:off x="1451809" y="-16931"/>
            <a:ext cx="4908331" cy="6493024"/>
          </a:xfrm>
          <a:prstGeom prst="rect">
            <a:avLst/>
          </a:prstGeom>
        </p:spPr>
      </p:pic>
    </p:spTree>
    <p:extLst>
      <p:ext uri="{BB962C8B-B14F-4D97-AF65-F5344CB8AC3E}">
        <p14:creationId xmlns:p14="http://schemas.microsoft.com/office/powerpoint/2010/main" val="36395291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7E4F8C96-B1F8-F340-9530-E0398316CFA5}"/>
              </a:ext>
            </a:extLst>
          </p:cNvPr>
          <p:cNvSpPr txBox="1">
            <a:spLocks/>
          </p:cNvSpPr>
          <p:nvPr/>
        </p:nvSpPr>
        <p:spPr>
          <a:xfrm>
            <a:off x="6574665" y="602116"/>
            <a:ext cx="5702954" cy="59002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u="sng" dirty="0">
                <a:latin typeface="Calibri" panose="020F0502020204030204" pitchFamily="34" charset="0"/>
                <a:cs typeface="Calibri" panose="020F0502020204030204" pitchFamily="34" charset="0"/>
              </a:rPr>
              <a:t>Lecture Outline</a:t>
            </a:r>
          </a:p>
          <a:p>
            <a:endParaRPr lang="en-US" sz="40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Principles of Hormones </a:t>
            </a:r>
          </a:p>
          <a:p>
            <a:endParaRPr lang="en-US" sz="36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The Pituitary Gland</a:t>
            </a:r>
          </a:p>
          <a:p>
            <a:endParaRPr lang="en-US" sz="36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Hormone Systems</a:t>
            </a:r>
          </a:p>
        </p:txBody>
      </p:sp>
      <p:pic>
        <p:nvPicPr>
          <p:cNvPr id="2" name="Picture 1" descr="A colorful and black and white brain&#10;&#10;AI-generated content may be incorrect.">
            <a:extLst>
              <a:ext uri="{FF2B5EF4-FFF2-40B4-BE49-F238E27FC236}">
                <a16:creationId xmlns:a16="http://schemas.microsoft.com/office/drawing/2014/main" id="{FF63C198-1FEA-CEA5-594F-622A66BCB8FD}"/>
              </a:ext>
            </a:extLst>
          </p:cNvPr>
          <p:cNvPicPr>
            <a:picLocks noChangeAspect="1"/>
          </p:cNvPicPr>
          <p:nvPr/>
        </p:nvPicPr>
        <p:blipFill>
          <a:blip r:embed="rId2">
            <a:clrChange>
              <a:clrFrom>
                <a:srgbClr val="F9F9F7"/>
              </a:clrFrom>
              <a:clrTo>
                <a:srgbClr val="F9F9F7">
                  <a:alpha val="0"/>
                </a:srgbClr>
              </a:clrTo>
            </a:clrChange>
            <a:extLst>
              <a:ext uri="{28A0092B-C50C-407E-A947-70E740481C1C}">
                <a14:useLocalDpi xmlns:a14="http://schemas.microsoft.com/office/drawing/2010/main" val="0"/>
              </a:ext>
            </a:extLst>
          </a:blip>
          <a:srcRect l="22953" t="7044" r="23408" b="21998"/>
          <a:stretch>
            <a:fillRect/>
          </a:stretch>
        </p:blipFill>
        <p:spPr>
          <a:xfrm>
            <a:off x="1451809" y="-16931"/>
            <a:ext cx="4908331" cy="6493024"/>
          </a:xfrm>
          <a:prstGeom prst="rect">
            <a:avLst/>
          </a:prstGeom>
        </p:spPr>
      </p:pic>
    </p:spTree>
    <p:extLst>
      <p:ext uri="{BB962C8B-B14F-4D97-AF65-F5344CB8AC3E}">
        <p14:creationId xmlns:p14="http://schemas.microsoft.com/office/powerpoint/2010/main" val="2977837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20DD2-6FDE-A4C1-2E43-8B42DE983CAE}"/>
            </a:ext>
          </a:extLst>
        </p:cNvPr>
        <p:cNvGrpSpPr/>
        <p:nvPr/>
      </p:nvGrpSpPr>
      <p:grpSpPr>
        <a:xfrm>
          <a:off x="0" y="0"/>
          <a:ext cx="0" cy="0"/>
          <a:chOff x="0" y="0"/>
          <a:chExt cx="0" cy="0"/>
        </a:xfrm>
      </p:grpSpPr>
      <p:sp>
        <p:nvSpPr>
          <p:cNvPr id="20" name="Title 1">
            <a:extLst>
              <a:ext uri="{FF2B5EF4-FFF2-40B4-BE49-F238E27FC236}">
                <a16:creationId xmlns:a16="http://schemas.microsoft.com/office/drawing/2014/main" id="{D63508B9-BABA-1149-6156-AFC5E57BF545}"/>
              </a:ext>
            </a:extLst>
          </p:cNvPr>
          <p:cNvSpPr txBox="1">
            <a:spLocks/>
          </p:cNvSpPr>
          <p:nvPr/>
        </p:nvSpPr>
        <p:spPr>
          <a:xfrm>
            <a:off x="6574665" y="602116"/>
            <a:ext cx="5702954" cy="59002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u="sng" dirty="0">
                <a:latin typeface="Calibri" panose="020F0502020204030204" pitchFamily="34" charset="0"/>
                <a:cs typeface="Calibri" panose="020F0502020204030204" pitchFamily="34" charset="0"/>
              </a:rPr>
              <a:t>Lecture Outline</a:t>
            </a:r>
          </a:p>
          <a:p>
            <a:endParaRPr lang="en-US" sz="4000" dirty="0">
              <a:latin typeface="Calibri" panose="020F0502020204030204" pitchFamily="34" charset="0"/>
              <a:cs typeface="Calibri" panose="020F0502020204030204" pitchFamily="34" charset="0"/>
            </a:endParaRPr>
          </a:p>
          <a:p>
            <a:r>
              <a:rPr lang="en-US" sz="3600" dirty="0">
                <a:solidFill>
                  <a:srgbClr val="FF0000"/>
                </a:solidFill>
                <a:latin typeface="Calibri" panose="020F0502020204030204" pitchFamily="34" charset="0"/>
                <a:cs typeface="Calibri" panose="020F0502020204030204" pitchFamily="34" charset="0"/>
              </a:rPr>
              <a:t>Principles of Hormones </a:t>
            </a:r>
          </a:p>
          <a:p>
            <a:endParaRPr lang="en-US" sz="36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The Pituitary Gland</a:t>
            </a:r>
          </a:p>
          <a:p>
            <a:endParaRPr lang="en-US" sz="36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Hormone Systems</a:t>
            </a:r>
          </a:p>
        </p:txBody>
      </p:sp>
      <p:pic>
        <p:nvPicPr>
          <p:cNvPr id="2" name="Picture 1" descr="A colorful and black and white brain&#10;&#10;AI-generated content may be incorrect.">
            <a:extLst>
              <a:ext uri="{FF2B5EF4-FFF2-40B4-BE49-F238E27FC236}">
                <a16:creationId xmlns:a16="http://schemas.microsoft.com/office/drawing/2014/main" id="{615CE4E4-E22F-3438-3BBA-1A3B20DE3CAB}"/>
              </a:ext>
            </a:extLst>
          </p:cNvPr>
          <p:cNvPicPr>
            <a:picLocks noChangeAspect="1"/>
          </p:cNvPicPr>
          <p:nvPr/>
        </p:nvPicPr>
        <p:blipFill>
          <a:blip r:embed="rId2">
            <a:clrChange>
              <a:clrFrom>
                <a:srgbClr val="F9F9F7"/>
              </a:clrFrom>
              <a:clrTo>
                <a:srgbClr val="F9F9F7">
                  <a:alpha val="0"/>
                </a:srgbClr>
              </a:clrTo>
            </a:clrChange>
            <a:extLst>
              <a:ext uri="{28A0092B-C50C-407E-A947-70E740481C1C}">
                <a14:useLocalDpi xmlns:a14="http://schemas.microsoft.com/office/drawing/2010/main" val="0"/>
              </a:ext>
            </a:extLst>
          </a:blip>
          <a:srcRect l="22953" t="7044" r="23408" b="21998"/>
          <a:stretch>
            <a:fillRect/>
          </a:stretch>
        </p:blipFill>
        <p:spPr>
          <a:xfrm>
            <a:off x="1451809" y="-16931"/>
            <a:ext cx="4908331" cy="6493024"/>
          </a:xfrm>
          <a:prstGeom prst="rect">
            <a:avLst/>
          </a:prstGeom>
        </p:spPr>
      </p:pic>
    </p:spTree>
    <p:extLst>
      <p:ext uri="{BB962C8B-B14F-4D97-AF65-F5344CB8AC3E}">
        <p14:creationId xmlns:p14="http://schemas.microsoft.com/office/powerpoint/2010/main" val="21346564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47997-E65A-7522-C301-26BA3246C5F0}"/>
              </a:ext>
            </a:extLst>
          </p:cNvPr>
          <p:cNvSpPr>
            <a:spLocks noGrp="1"/>
          </p:cNvSpPr>
          <p:nvPr>
            <p:ph type="title"/>
          </p:nvPr>
        </p:nvSpPr>
        <p:spPr/>
        <p:txBody>
          <a:bodyPr/>
          <a:lstStyle/>
          <a:p>
            <a:r>
              <a:rPr lang="en-US" dirty="0"/>
              <a:t>Chemical Communication</a:t>
            </a:r>
          </a:p>
        </p:txBody>
      </p:sp>
      <p:sp>
        <p:nvSpPr>
          <p:cNvPr id="3" name="Content Placeholder 2">
            <a:extLst>
              <a:ext uri="{FF2B5EF4-FFF2-40B4-BE49-F238E27FC236}">
                <a16:creationId xmlns:a16="http://schemas.microsoft.com/office/drawing/2014/main" id="{BF67C1D4-CF1E-5A3F-E79E-9E2875F2375A}"/>
              </a:ext>
            </a:extLst>
          </p:cNvPr>
          <p:cNvSpPr>
            <a:spLocks noGrp="1"/>
          </p:cNvSpPr>
          <p:nvPr>
            <p:ph idx="1"/>
          </p:nvPr>
        </p:nvSpPr>
        <p:spPr>
          <a:xfrm>
            <a:off x="838200" y="1825624"/>
            <a:ext cx="7468298" cy="4888993"/>
          </a:xfrm>
        </p:spPr>
        <p:txBody>
          <a:bodyPr>
            <a:normAutofit fontScale="85000" lnSpcReduction="20000"/>
          </a:bodyPr>
          <a:lstStyle/>
          <a:p>
            <a:pPr marL="0" indent="0">
              <a:spcBef>
                <a:spcPct val="50000"/>
              </a:spcBef>
              <a:buNone/>
            </a:pPr>
            <a:r>
              <a:rPr lang="en-US" altLang="en-US" b="1" dirty="0"/>
              <a:t>Types of Communication</a:t>
            </a:r>
          </a:p>
          <a:p>
            <a:pPr>
              <a:spcBef>
                <a:spcPct val="50000"/>
              </a:spcBef>
              <a:buFontTx/>
              <a:buChar char="•"/>
            </a:pPr>
            <a:r>
              <a:rPr lang="en-US" altLang="en-US" b="1" dirty="0"/>
              <a:t>Endocrine: </a:t>
            </a:r>
            <a:r>
              <a:rPr lang="en-US" altLang="en-US" dirty="0"/>
              <a:t>A hormone is released into the bloodstream to act on target tissues</a:t>
            </a:r>
          </a:p>
          <a:p>
            <a:pPr>
              <a:spcBef>
                <a:spcPct val="50000"/>
              </a:spcBef>
              <a:buFontTx/>
              <a:buChar char="•"/>
            </a:pPr>
            <a:r>
              <a:rPr lang="en-US" altLang="en-US" b="1" dirty="0"/>
              <a:t>Synaptic/Neurocrine</a:t>
            </a:r>
            <a:r>
              <a:rPr lang="en-US" altLang="en-US" dirty="0"/>
              <a:t>: Chemical release and diffusion across a synapse.</a:t>
            </a:r>
          </a:p>
          <a:p>
            <a:pPr>
              <a:spcBef>
                <a:spcPct val="50000"/>
              </a:spcBef>
              <a:buFontTx/>
              <a:buChar char="•"/>
            </a:pPr>
            <a:r>
              <a:rPr lang="en-US" altLang="en-US" b="1" dirty="0"/>
              <a:t>Autocrine</a:t>
            </a:r>
            <a:r>
              <a:rPr lang="en-US" altLang="en-US" dirty="0"/>
              <a:t>: Released chemical acts on the releasing cell</a:t>
            </a:r>
          </a:p>
          <a:p>
            <a:pPr>
              <a:spcBef>
                <a:spcPct val="50000"/>
              </a:spcBef>
              <a:buFontTx/>
              <a:buChar char="•"/>
            </a:pPr>
            <a:r>
              <a:rPr lang="en-US" altLang="en-US" b="1" dirty="0"/>
              <a:t>Paracrine</a:t>
            </a:r>
            <a:r>
              <a:rPr lang="en-US" altLang="en-US" dirty="0"/>
              <a:t>: The released chemical diffuses to nearby target cells</a:t>
            </a:r>
          </a:p>
          <a:p>
            <a:pPr marL="234950" indent="-234950">
              <a:spcBef>
                <a:spcPct val="60000"/>
              </a:spcBef>
              <a:buFontTx/>
              <a:buChar char="•"/>
            </a:pPr>
            <a:r>
              <a:rPr lang="en-US" altLang="en-US" b="1" dirty="0"/>
              <a:t>Pheromone: </a:t>
            </a:r>
            <a:r>
              <a:rPr lang="en-US" altLang="en-US" dirty="0"/>
              <a:t>Hormones used to communicate between individuals of the same species</a:t>
            </a:r>
          </a:p>
          <a:p>
            <a:pPr marL="234950" indent="-234950">
              <a:spcBef>
                <a:spcPct val="60000"/>
              </a:spcBef>
              <a:buFontTx/>
              <a:buChar char="•"/>
            </a:pPr>
            <a:r>
              <a:rPr lang="en-US" altLang="en-US" b="1" dirty="0"/>
              <a:t>Allomone</a:t>
            </a:r>
            <a:r>
              <a:rPr lang="en-US" altLang="en-US" dirty="0"/>
              <a:t>: Chemicals released by one species to affect the behavior of another species.</a:t>
            </a:r>
          </a:p>
          <a:p>
            <a:pPr>
              <a:spcBef>
                <a:spcPct val="50000"/>
              </a:spcBef>
              <a:buFontTx/>
              <a:buChar char="•"/>
            </a:pPr>
            <a:endParaRPr lang="en-US" altLang="en-US" dirty="0"/>
          </a:p>
          <a:p>
            <a:endParaRPr lang="en-US" dirty="0"/>
          </a:p>
        </p:txBody>
      </p:sp>
      <p:grpSp>
        <p:nvGrpSpPr>
          <p:cNvPr id="6" name="Group 5">
            <a:extLst>
              <a:ext uri="{FF2B5EF4-FFF2-40B4-BE49-F238E27FC236}">
                <a16:creationId xmlns:a16="http://schemas.microsoft.com/office/drawing/2014/main" id="{03E3B329-E9EE-DDE4-4A86-C45A3FEEB674}"/>
              </a:ext>
            </a:extLst>
          </p:cNvPr>
          <p:cNvGrpSpPr/>
          <p:nvPr/>
        </p:nvGrpSpPr>
        <p:grpSpPr>
          <a:xfrm>
            <a:off x="8380699" y="76527"/>
            <a:ext cx="3653112" cy="6704946"/>
            <a:chOff x="4484689" y="-485319"/>
            <a:chExt cx="5805940" cy="10656261"/>
          </a:xfrm>
        </p:grpSpPr>
        <p:pic>
          <p:nvPicPr>
            <p:cNvPr id="4" name="Content Placeholder 6" descr="Figure shows different Chemical communication systems. Endocrine function. Into the blood stream hormone molecules enter from an endocrine cell that is nearby. These molecules are transmitted in the blood. A target cell near the blood stream has hormone receptors on its membranes. The hormone molecules enter the hormone receptors. In Synaptic Transmission or neurocrine function, action potential is fired from the synapses to the axon of the next neuron. Pheromone function. A wolf smells the grass at the bottom of a tree. Allomone function. A bee smells the pollen grains in a flower. ">
              <a:extLst>
                <a:ext uri="{FF2B5EF4-FFF2-40B4-BE49-F238E27FC236}">
                  <a16:creationId xmlns:a16="http://schemas.microsoft.com/office/drawing/2014/main" id="{C9A3272D-67EF-2F59-E04E-3AD75779F2DC}"/>
                </a:ext>
              </a:extLst>
            </p:cNvPr>
            <p:cNvPicPr>
              <a:picLocks noChangeAspect="1"/>
            </p:cNvPicPr>
            <p:nvPr/>
          </p:nvPicPr>
          <p:blipFill>
            <a:blip r:embed="rId2"/>
            <a:srcRect r="50000"/>
            <a:stretch>
              <a:fillRect/>
            </a:stretch>
          </p:blipFill>
          <p:spPr>
            <a:xfrm>
              <a:off x="4484689" y="-485319"/>
              <a:ext cx="5688012" cy="5563275"/>
            </a:xfrm>
            <a:prstGeom prst="rect">
              <a:avLst/>
            </a:prstGeom>
          </p:spPr>
        </p:pic>
        <p:pic>
          <p:nvPicPr>
            <p:cNvPr id="5" name="Content Placeholder 6" descr="Figure shows different Chemical communication systems. Endocrine function. Into the blood stream hormone molecules enter from an endocrine cell that is nearby. These molecules are transmitted in the blood. A target cell near the blood stream has hormone receptors on its membranes. The hormone molecules enter the hormone receptors. In Synaptic Transmission or neurocrine function, action potential is fired from the synapses to the axon of the next neuron. Pheromone function. A wolf smells the grass at the bottom of a tree. Allomone function. A bee smells the pollen grains in a flower. ">
              <a:extLst>
                <a:ext uri="{FF2B5EF4-FFF2-40B4-BE49-F238E27FC236}">
                  <a16:creationId xmlns:a16="http://schemas.microsoft.com/office/drawing/2014/main" id="{4E568B5A-4675-A734-6923-00D4A5F1FE12}"/>
                </a:ext>
              </a:extLst>
            </p:cNvPr>
            <p:cNvPicPr>
              <a:picLocks noChangeAspect="1"/>
            </p:cNvPicPr>
            <p:nvPr/>
          </p:nvPicPr>
          <p:blipFill>
            <a:blip r:embed="rId2"/>
            <a:srcRect l="51340" t="817" r="-1340" b="4290"/>
            <a:stretch>
              <a:fillRect/>
            </a:stretch>
          </p:blipFill>
          <p:spPr>
            <a:xfrm>
              <a:off x="4484689" y="4782259"/>
              <a:ext cx="5805940" cy="5388683"/>
            </a:xfrm>
            <a:prstGeom prst="rect">
              <a:avLst/>
            </a:prstGeom>
          </p:spPr>
        </p:pic>
      </p:grpSp>
    </p:spTree>
    <p:extLst>
      <p:ext uri="{BB962C8B-B14F-4D97-AF65-F5344CB8AC3E}">
        <p14:creationId xmlns:p14="http://schemas.microsoft.com/office/powerpoint/2010/main" val="3655628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9AC2B-61C2-F2A1-4704-3D5E90D213ED}"/>
              </a:ext>
            </a:extLst>
          </p:cNvPr>
          <p:cNvSpPr>
            <a:spLocks noGrp="1"/>
          </p:cNvSpPr>
          <p:nvPr>
            <p:ph type="title"/>
          </p:nvPr>
        </p:nvSpPr>
        <p:spPr/>
        <p:txBody>
          <a:bodyPr/>
          <a:lstStyle/>
          <a:p>
            <a:r>
              <a:rPr lang="en-US" dirty="0"/>
              <a:t>Hormones</a:t>
            </a:r>
          </a:p>
        </p:txBody>
      </p:sp>
      <p:sp>
        <p:nvSpPr>
          <p:cNvPr id="3" name="Content Placeholder 2">
            <a:extLst>
              <a:ext uri="{FF2B5EF4-FFF2-40B4-BE49-F238E27FC236}">
                <a16:creationId xmlns:a16="http://schemas.microsoft.com/office/drawing/2014/main" id="{088AC789-2B6D-3725-1DFE-0F9D6194119C}"/>
              </a:ext>
            </a:extLst>
          </p:cNvPr>
          <p:cNvSpPr>
            <a:spLocks noGrp="1"/>
          </p:cNvSpPr>
          <p:nvPr>
            <p:ph idx="1"/>
          </p:nvPr>
        </p:nvSpPr>
        <p:spPr>
          <a:xfrm>
            <a:off x="838199" y="1825626"/>
            <a:ext cx="11183471" cy="4342092"/>
          </a:xfrm>
        </p:spPr>
        <p:txBody>
          <a:bodyPr>
            <a:normAutofit/>
          </a:bodyPr>
          <a:lstStyle/>
          <a:p>
            <a:pPr marL="0" indent="0">
              <a:buNone/>
            </a:pPr>
            <a:r>
              <a:rPr lang="en-US" b="1" dirty="0"/>
              <a:t>Principles of Hormones</a:t>
            </a:r>
          </a:p>
          <a:p>
            <a:pPr>
              <a:spcBef>
                <a:spcPct val="40000"/>
              </a:spcBef>
              <a:buFontTx/>
              <a:buChar char="•"/>
            </a:pPr>
            <a:r>
              <a:rPr lang="en-US" altLang="en-US" dirty="0"/>
              <a:t>Hormones are released into the bloodstream and have distant targets</a:t>
            </a:r>
          </a:p>
          <a:p>
            <a:pPr>
              <a:spcBef>
                <a:spcPct val="40000"/>
              </a:spcBef>
              <a:buFontTx/>
              <a:buChar char="•"/>
            </a:pPr>
            <a:r>
              <a:rPr lang="en-US" altLang="en-US" dirty="0"/>
              <a:t>Act in a gradual fashion</a:t>
            </a:r>
          </a:p>
          <a:p>
            <a:pPr lvl="1">
              <a:spcBef>
                <a:spcPct val="40000"/>
              </a:spcBef>
              <a:buFontTx/>
              <a:buChar char="•"/>
            </a:pPr>
            <a:r>
              <a:rPr lang="en-US" altLang="en-US" dirty="0"/>
              <a:t>Often can take days, weeks, or years</a:t>
            </a:r>
          </a:p>
          <a:p>
            <a:pPr>
              <a:spcBef>
                <a:spcPct val="40000"/>
              </a:spcBef>
              <a:buFontTx/>
              <a:buChar char="•"/>
            </a:pPr>
            <a:r>
              <a:rPr lang="en-US" altLang="en-US" dirty="0"/>
              <a:t>Act by changing the probability or intensity of a </a:t>
            </a:r>
            <a:r>
              <a:rPr lang="en-US" altLang="en-US" dirty="0" err="1"/>
              <a:t>behaviour</a:t>
            </a:r>
            <a:endParaRPr lang="en-US" altLang="en-US" dirty="0"/>
          </a:p>
          <a:p>
            <a:pPr lvl="1">
              <a:spcBef>
                <a:spcPct val="40000"/>
              </a:spcBef>
              <a:buFontTx/>
              <a:buChar char="•"/>
            </a:pPr>
            <a:r>
              <a:rPr lang="en-US" altLang="en-US" dirty="0"/>
              <a:t>Not by turning a </a:t>
            </a:r>
            <a:r>
              <a:rPr lang="en-US" altLang="en-US" dirty="0" err="1"/>
              <a:t>behaviour</a:t>
            </a:r>
            <a:r>
              <a:rPr lang="en-US" altLang="en-US" dirty="0"/>
              <a:t> on/off</a:t>
            </a:r>
          </a:p>
          <a:p>
            <a:pPr>
              <a:spcBef>
                <a:spcPct val="40000"/>
              </a:spcBef>
              <a:buFontTx/>
              <a:buChar char="•"/>
            </a:pPr>
            <a:r>
              <a:rPr lang="en-US" altLang="en-US" dirty="0"/>
              <a:t>The relationship between </a:t>
            </a:r>
            <a:r>
              <a:rPr lang="en-US" altLang="en-US" dirty="0" err="1"/>
              <a:t>behaviour</a:t>
            </a:r>
            <a:r>
              <a:rPr lang="en-US" altLang="en-US" dirty="0"/>
              <a:t> and hormones is reciprocal</a:t>
            </a:r>
          </a:p>
          <a:p>
            <a:pPr lvl="1">
              <a:spcBef>
                <a:spcPct val="40000"/>
              </a:spcBef>
              <a:buFontTx/>
              <a:buChar char="•"/>
            </a:pPr>
            <a:r>
              <a:rPr lang="en-US" altLang="en-US" dirty="0"/>
              <a:t>Hormones affect </a:t>
            </a:r>
            <a:r>
              <a:rPr lang="en-US" altLang="en-US" dirty="0" err="1"/>
              <a:t>behaviour</a:t>
            </a:r>
            <a:r>
              <a:rPr lang="en-US" altLang="en-US" dirty="0"/>
              <a:t> and </a:t>
            </a:r>
            <a:r>
              <a:rPr lang="en-US" altLang="en-US" dirty="0" err="1"/>
              <a:t>behaviour</a:t>
            </a:r>
            <a:r>
              <a:rPr lang="en-US" altLang="en-US" dirty="0"/>
              <a:t> affects hormones</a:t>
            </a:r>
          </a:p>
          <a:p>
            <a:endParaRPr lang="en-US" dirty="0"/>
          </a:p>
        </p:txBody>
      </p:sp>
      <p:pic>
        <p:nvPicPr>
          <p:cNvPr id="5" name="Content Placeholder 6" descr="Figure shows different Chemical communication systems. Endocrine function. Into the blood stream hormone molecules enter from an endocrine cell that is nearby. These molecules are transmitted in the blood. A target cell near the blood stream has hormone receptors on its membranes. The hormone molecules enter the hormone receptors. In Synaptic Transmission or neurocrine function, action potential is fired from the synapses to the axon of the next neuron. Pheromone function. A wolf smells the grass at the bottom of a tree. Allomone function. A bee smells the pollen grains in a flower. ">
            <a:extLst>
              <a:ext uri="{FF2B5EF4-FFF2-40B4-BE49-F238E27FC236}">
                <a16:creationId xmlns:a16="http://schemas.microsoft.com/office/drawing/2014/main" id="{F4EB16B4-4AB4-DA71-4237-CAD9BE6CE61C}"/>
              </a:ext>
            </a:extLst>
          </p:cNvPr>
          <p:cNvPicPr>
            <a:picLocks noChangeAspect="1"/>
          </p:cNvPicPr>
          <p:nvPr/>
        </p:nvPicPr>
        <p:blipFill>
          <a:blip r:embed="rId2"/>
          <a:srcRect t="4345" r="50000" b="53887"/>
          <a:stretch>
            <a:fillRect/>
          </a:stretch>
        </p:blipFill>
        <p:spPr>
          <a:xfrm>
            <a:off x="6965576" y="364809"/>
            <a:ext cx="4979147" cy="2034124"/>
          </a:xfrm>
          <a:prstGeom prst="rect">
            <a:avLst/>
          </a:prstGeom>
        </p:spPr>
      </p:pic>
    </p:spTree>
    <p:extLst>
      <p:ext uri="{BB962C8B-B14F-4D97-AF65-F5344CB8AC3E}">
        <p14:creationId xmlns:p14="http://schemas.microsoft.com/office/powerpoint/2010/main" val="2471993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E8267-C2D6-F2ED-2634-69A8714D86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B7FC7F-AFA8-82FB-6230-41EF35869BA4}"/>
              </a:ext>
            </a:extLst>
          </p:cNvPr>
          <p:cNvSpPr>
            <a:spLocks noGrp="1"/>
          </p:cNvSpPr>
          <p:nvPr>
            <p:ph type="title"/>
          </p:nvPr>
        </p:nvSpPr>
        <p:spPr/>
        <p:txBody>
          <a:bodyPr/>
          <a:lstStyle/>
          <a:p>
            <a:r>
              <a:rPr lang="en-US" dirty="0"/>
              <a:t>Hormones</a:t>
            </a:r>
          </a:p>
        </p:txBody>
      </p:sp>
      <p:sp>
        <p:nvSpPr>
          <p:cNvPr id="3" name="Content Placeholder 2">
            <a:extLst>
              <a:ext uri="{FF2B5EF4-FFF2-40B4-BE49-F238E27FC236}">
                <a16:creationId xmlns:a16="http://schemas.microsoft.com/office/drawing/2014/main" id="{A7A93820-8392-F1B0-5107-C1E85B37D80B}"/>
              </a:ext>
            </a:extLst>
          </p:cNvPr>
          <p:cNvSpPr>
            <a:spLocks noGrp="1"/>
          </p:cNvSpPr>
          <p:nvPr>
            <p:ph idx="1"/>
          </p:nvPr>
        </p:nvSpPr>
        <p:spPr>
          <a:xfrm>
            <a:off x="838200" y="1825626"/>
            <a:ext cx="10515600" cy="4476562"/>
          </a:xfrm>
        </p:spPr>
        <p:txBody>
          <a:bodyPr>
            <a:normAutofit/>
          </a:bodyPr>
          <a:lstStyle/>
          <a:p>
            <a:pPr marL="0" indent="0">
              <a:buNone/>
            </a:pPr>
            <a:r>
              <a:rPr lang="en-US" b="1" dirty="0"/>
              <a:t>Principles of Hormones</a:t>
            </a:r>
          </a:p>
          <a:p>
            <a:pPr>
              <a:spcBef>
                <a:spcPct val="40000"/>
              </a:spcBef>
              <a:buFontTx/>
              <a:buChar char="•"/>
            </a:pPr>
            <a:r>
              <a:rPr lang="en-US" altLang="en-US" dirty="0"/>
              <a:t>A hormone may have multiple effects, and one behavior can be affected by several hormones</a:t>
            </a:r>
          </a:p>
          <a:p>
            <a:pPr>
              <a:spcBef>
                <a:spcPct val="40000"/>
              </a:spcBef>
              <a:buFontTx/>
              <a:buChar char="•"/>
            </a:pPr>
            <a:r>
              <a:rPr lang="en-US" altLang="en-US" dirty="0"/>
              <a:t>Hormones often have a pulsatile secretion pattern—in bursts</a:t>
            </a:r>
          </a:p>
          <a:p>
            <a:pPr lvl="1">
              <a:spcBef>
                <a:spcPct val="40000"/>
              </a:spcBef>
              <a:buFontTx/>
              <a:buChar char="•"/>
            </a:pPr>
            <a:r>
              <a:rPr lang="en-US" altLang="en-US" dirty="0"/>
              <a:t>Some hormones are controlled by circadian clocks in the brain</a:t>
            </a:r>
          </a:p>
          <a:p>
            <a:pPr>
              <a:spcBef>
                <a:spcPct val="40000"/>
              </a:spcBef>
              <a:buFontTx/>
              <a:buChar char="•"/>
            </a:pPr>
            <a:r>
              <a:rPr lang="en-US" altLang="en-US" dirty="0"/>
              <a:t>Hormones can interact with other hormones and change their effects</a:t>
            </a:r>
          </a:p>
          <a:p>
            <a:pPr>
              <a:spcBef>
                <a:spcPct val="40000"/>
              </a:spcBef>
              <a:buFontTx/>
              <a:buChar char="•"/>
            </a:pPr>
            <a:r>
              <a:rPr lang="en-US" altLang="en-US" dirty="0"/>
              <a:t>Hormones can only affect cells with a receptor protein for that hormone</a:t>
            </a:r>
          </a:p>
          <a:p>
            <a:pPr marL="0" indent="0">
              <a:spcBef>
                <a:spcPct val="40000"/>
              </a:spcBef>
              <a:buNone/>
            </a:pPr>
            <a:endParaRPr lang="en-US" altLang="en-US" dirty="0"/>
          </a:p>
          <a:p>
            <a:endParaRPr lang="en-US" dirty="0"/>
          </a:p>
        </p:txBody>
      </p:sp>
      <p:pic>
        <p:nvPicPr>
          <p:cNvPr id="5" name="Content Placeholder 6" descr="Figure shows different Chemical communication systems. Endocrine function. Into the blood stream hormone molecules enter from an endocrine cell that is nearby. These molecules are transmitted in the blood. A target cell near the blood stream has hormone receptors on its membranes. The hormone molecules enter the hormone receptors. In Synaptic Transmission or neurocrine function, action potential is fired from the synapses to the axon of the next neuron. Pheromone function. A wolf smells the grass at the bottom of a tree. Allomone function. A bee smells the pollen grains in a flower. ">
            <a:extLst>
              <a:ext uri="{FF2B5EF4-FFF2-40B4-BE49-F238E27FC236}">
                <a16:creationId xmlns:a16="http://schemas.microsoft.com/office/drawing/2014/main" id="{70A1C433-E39F-F42A-A405-50B6EE81399E}"/>
              </a:ext>
            </a:extLst>
          </p:cNvPr>
          <p:cNvPicPr>
            <a:picLocks noChangeAspect="1"/>
          </p:cNvPicPr>
          <p:nvPr/>
        </p:nvPicPr>
        <p:blipFill>
          <a:blip r:embed="rId2"/>
          <a:srcRect t="4345" r="50000" b="53887"/>
          <a:stretch>
            <a:fillRect/>
          </a:stretch>
        </p:blipFill>
        <p:spPr>
          <a:xfrm>
            <a:off x="6965576" y="364809"/>
            <a:ext cx="4979147" cy="2034124"/>
          </a:xfrm>
          <a:prstGeom prst="rect">
            <a:avLst/>
          </a:prstGeom>
        </p:spPr>
      </p:pic>
    </p:spTree>
    <p:extLst>
      <p:ext uri="{BB962C8B-B14F-4D97-AF65-F5344CB8AC3E}">
        <p14:creationId xmlns:p14="http://schemas.microsoft.com/office/powerpoint/2010/main" val="3041569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9C21D-4A97-2946-C238-2C71ED0494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1F2C3A-7C03-535A-C4DD-264F6E81C9AC}"/>
              </a:ext>
            </a:extLst>
          </p:cNvPr>
          <p:cNvSpPr>
            <a:spLocks noGrp="1"/>
          </p:cNvSpPr>
          <p:nvPr>
            <p:ph type="title"/>
          </p:nvPr>
        </p:nvSpPr>
        <p:spPr/>
        <p:txBody>
          <a:bodyPr/>
          <a:lstStyle/>
          <a:p>
            <a:r>
              <a:rPr lang="en-US" dirty="0"/>
              <a:t>Hormones</a:t>
            </a:r>
          </a:p>
        </p:txBody>
      </p:sp>
      <p:sp>
        <p:nvSpPr>
          <p:cNvPr id="3" name="Content Placeholder 2">
            <a:extLst>
              <a:ext uri="{FF2B5EF4-FFF2-40B4-BE49-F238E27FC236}">
                <a16:creationId xmlns:a16="http://schemas.microsoft.com/office/drawing/2014/main" id="{B80E7688-9E5F-6E51-49A7-3EB8CDB8AD73}"/>
              </a:ext>
            </a:extLst>
          </p:cNvPr>
          <p:cNvSpPr>
            <a:spLocks noGrp="1"/>
          </p:cNvSpPr>
          <p:nvPr>
            <p:ph idx="1"/>
          </p:nvPr>
        </p:nvSpPr>
        <p:spPr>
          <a:xfrm>
            <a:off x="838199" y="1825626"/>
            <a:ext cx="8525287" cy="4946650"/>
          </a:xfrm>
        </p:spPr>
        <p:txBody>
          <a:bodyPr>
            <a:normAutofit/>
          </a:bodyPr>
          <a:lstStyle/>
          <a:p>
            <a:pPr marL="0" indent="0">
              <a:buNone/>
            </a:pPr>
            <a:r>
              <a:rPr lang="en-US" altLang="en-US" b="1" dirty="0"/>
              <a:t>Classes of Hormones</a:t>
            </a:r>
          </a:p>
          <a:p>
            <a:r>
              <a:rPr lang="en-US" altLang="en-US" dirty="0"/>
              <a:t>Distinguished by chemical structure</a:t>
            </a:r>
          </a:p>
          <a:p>
            <a:r>
              <a:rPr lang="en-US" altLang="en-US" b="1" dirty="0"/>
              <a:t>Peptide Hormones: </a:t>
            </a:r>
            <a:r>
              <a:rPr lang="en-US" altLang="en-US" dirty="0"/>
              <a:t>Proteins</a:t>
            </a:r>
          </a:p>
          <a:p>
            <a:r>
              <a:rPr lang="en-US" b="1" dirty="0"/>
              <a:t>Steroid Hormones: </a:t>
            </a:r>
            <a:r>
              <a:rPr lang="en-US" dirty="0"/>
              <a:t>Lipids</a:t>
            </a:r>
          </a:p>
          <a:p>
            <a:r>
              <a:rPr lang="en-US" b="1" dirty="0"/>
              <a:t>Amine Hormones: </a:t>
            </a:r>
            <a:r>
              <a:rPr lang="en-US" dirty="0"/>
              <a:t>Amino acid derivatives</a:t>
            </a:r>
          </a:p>
        </p:txBody>
      </p:sp>
      <p:sp>
        <p:nvSpPr>
          <p:cNvPr id="9" name="Rectangle 8">
            <a:extLst>
              <a:ext uri="{FF2B5EF4-FFF2-40B4-BE49-F238E27FC236}">
                <a16:creationId xmlns:a16="http://schemas.microsoft.com/office/drawing/2014/main" id="{FE4BEE18-C2B8-6EC6-1106-7D5FA3E34198}"/>
              </a:ext>
            </a:extLst>
          </p:cNvPr>
          <p:cNvSpPr/>
          <p:nvPr/>
        </p:nvSpPr>
        <p:spPr>
          <a:xfrm>
            <a:off x="11477625" y="4120515"/>
            <a:ext cx="523875" cy="26517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6F114BD0-4B44-7112-ECF3-A7656B2D6D72}"/>
              </a:ext>
            </a:extLst>
          </p:cNvPr>
          <p:cNvGrpSpPr/>
          <p:nvPr/>
        </p:nvGrpSpPr>
        <p:grpSpPr>
          <a:xfrm>
            <a:off x="9363487" y="85725"/>
            <a:ext cx="2638013" cy="6830936"/>
            <a:chOff x="8296687" y="311174"/>
            <a:chExt cx="2557108" cy="6621439"/>
          </a:xfrm>
        </p:grpSpPr>
        <p:pic>
          <p:nvPicPr>
            <p:cNvPr id="10" name="Content Placeholder 5" descr="The figure shows two main mechanisms of hormone action: A. Peptide hormone receptors embedded in the cell membrane, bind to the hormone, activating a second-messenger system that affects various processes inside the target cell. The receptors are in the cell membrane. The cube shaped hormones from outside the cell enter the receptors. This cause circular second messengers inside the cell to cause altered cell function and Multiple biological effects. B. Steroid hormones diffuse passively in binding to large receptor molecules inside target cells. The steroid–receptor complex then binds to D N A, altering the expression of certain genes, a so called genomic effect. Steroid hormones look like two hexagonal structures that connect. These steroid hormones enter from outside the cell into the cell and land on steroid receptors. These steroid receptors now enter the nucleus that leads to new protein production and multiple biological effects. ">
              <a:extLst>
                <a:ext uri="{FF2B5EF4-FFF2-40B4-BE49-F238E27FC236}">
                  <a16:creationId xmlns:a16="http://schemas.microsoft.com/office/drawing/2014/main" id="{EB71F0A2-F4C4-BE73-F1F2-48DF85CC572C}"/>
                </a:ext>
              </a:extLst>
            </p:cNvPr>
            <p:cNvPicPr>
              <a:picLocks noChangeAspect="1"/>
            </p:cNvPicPr>
            <p:nvPr/>
          </p:nvPicPr>
          <p:blipFill>
            <a:blip r:embed="rId2"/>
            <a:srcRect r="54240"/>
            <a:stretch>
              <a:fillRect/>
            </a:stretch>
          </p:blipFill>
          <p:spPr>
            <a:xfrm>
              <a:off x="8315736" y="311174"/>
              <a:ext cx="2371313" cy="3544864"/>
            </a:xfrm>
            <a:prstGeom prst="rect">
              <a:avLst/>
            </a:prstGeom>
          </p:spPr>
        </p:pic>
        <p:pic>
          <p:nvPicPr>
            <p:cNvPr id="11" name="Content Placeholder 5" descr="The figure shows two main mechanisms of hormone action: A. Peptide hormone receptors embedded in the cell membrane, bind to the hormone, activating a second-messenger system that affects various processes inside the target cell. The receptors are in the cell membrane. The cube shaped hormones from outside the cell enter the receptors. This cause circular second messengers inside the cell to cause altered cell function and Multiple biological effects. B. Steroid hormones diffuse passively in binding to large receptor molecules inside target cells. The steroid–receptor complex then binds to D N A, altering the expression of certain genes, a so called genomic effect. Steroid hormones look like two hexagonal structures that connect. These steroid hormones enter from outside the cell into the cell and land on steroid receptors. These steroid receptors now enter the nucleus that leads to new protein production and multiple biological effects. ">
              <a:extLst>
                <a:ext uri="{FF2B5EF4-FFF2-40B4-BE49-F238E27FC236}">
                  <a16:creationId xmlns:a16="http://schemas.microsoft.com/office/drawing/2014/main" id="{28384614-8730-9652-C039-F5C95EC1AD11}"/>
                </a:ext>
              </a:extLst>
            </p:cNvPr>
            <p:cNvPicPr>
              <a:picLocks noChangeAspect="1"/>
            </p:cNvPicPr>
            <p:nvPr/>
          </p:nvPicPr>
          <p:blipFill>
            <a:blip r:embed="rId2"/>
            <a:srcRect l="46587"/>
            <a:stretch>
              <a:fillRect/>
            </a:stretch>
          </p:blipFill>
          <p:spPr>
            <a:xfrm>
              <a:off x="8296687" y="3657671"/>
              <a:ext cx="2557108" cy="3274942"/>
            </a:xfrm>
            <a:prstGeom prst="rect">
              <a:avLst/>
            </a:prstGeom>
          </p:spPr>
        </p:pic>
      </p:grpSp>
    </p:spTree>
    <p:extLst>
      <p:ext uri="{BB962C8B-B14F-4D97-AF65-F5344CB8AC3E}">
        <p14:creationId xmlns:p14="http://schemas.microsoft.com/office/powerpoint/2010/main" val="1065195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35294-C482-C9B8-4F7A-CF651CB52D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9D0C70-15E2-9971-07A8-FD22BF140C37}"/>
              </a:ext>
            </a:extLst>
          </p:cNvPr>
          <p:cNvSpPr>
            <a:spLocks noGrp="1"/>
          </p:cNvSpPr>
          <p:nvPr>
            <p:ph type="title"/>
          </p:nvPr>
        </p:nvSpPr>
        <p:spPr/>
        <p:txBody>
          <a:bodyPr/>
          <a:lstStyle/>
          <a:p>
            <a:r>
              <a:rPr lang="en-US" dirty="0"/>
              <a:t>Hormones</a:t>
            </a:r>
          </a:p>
        </p:txBody>
      </p:sp>
      <p:sp>
        <p:nvSpPr>
          <p:cNvPr id="3" name="Content Placeholder 2">
            <a:extLst>
              <a:ext uri="{FF2B5EF4-FFF2-40B4-BE49-F238E27FC236}">
                <a16:creationId xmlns:a16="http://schemas.microsoft.com/office/drawing/2014/main" id="{C5A6F3DA-5474-270F-8B4A-A2793408960B}"/>
              </a:ext>
            </a:extLst>
          </p:cNvPr>
          <p:cNvSpPr>
            <a:spLocks noGrp="1"/>
          </p:cNvSpPr>
          <p:nvPr>
            <p:ph idx="1"/>
          </p:nvPr>
        </p:nvSpPr>
        <p:spPr>
          <a:xfrm>
            <a:off x="838199" y="1825626"/>
            <a:ext cx="8525287" cy="4946650"/>
          </a:xfrm>
        </p:spPr>
        <p:txBody>
          <a:bodyPr>
            <a:normAutofit/>
          </a:bodyPr>
          <a:lstStyle/>
          <a:p>
            <a:pPr marL="0" indent="0">
              <a:spcBef>
                <a:spcPct val="60000"/>
              </a:spcBef>
              <a:buNone/>
            </a:pPr>
            <a:r>
              <a:rPr lang="en-US" altLang="en-US" b="1" dirty="0"/>
              <a:t>Peptide Hormones</a:t>
            </a:r>
          </a:p>
          <a:p>
            <a:pPr>
              <a:spcBef>
                <a:spcPct val="60000"/>
              </a:spcBef>
            </a:pPr>
            <a:r>
              <a:rPr lang="en-US" altLang="en-US" dirty="0"/>
              <a:t>Proteins (amino acid chains) that are packaged in vesicles and released through exocytosis, like neurotransmitters</a:t>
            </a:r>
          </a:p>
          <a:p>
            <a:pPr>
              <a:spcBef>
                <a:spcPct val="60000"/>
              </a:spcBef>
            </a:pPr>
            <a:r>
              <a:rPr lang="en-US" altLang="en-US" b="1" dirty="0"/>
              <a:t>Binding</a:t>
            </a:r>
            <a:r>
              <a:rPr lang="en-US" altLang="en-US" dirty="0"/>
              <a:t>: Metabotropic </a:t>
            </a:r>
            <a:r>
              <a:rPr lang="en-US" dirty="0"/>
              <a:t>receptors on cell surface</a:t>
            </a:r>
          </a:p>
          <a:p>
            <a:pPr>
              <a:spcBef>
                <a:spcPct val="60000"/>
              </a:spcBef>
            </a:pPr>
            <a:r>
              <a:rPr lang="en-US" b="1" dirty="0"/>
              <a:t>Timeline</a:t>
            </a:r>
            <a:r>
              <a:rPr lang="en-US" dirty="0"/>
              <a:t>: Acts in seconds to minutes, short lived</a:t>
            </a:r>
          </a:p>
          <a:p>
            <a:pPr>
              <a:spcBef>
                <a:spcPct val="60000"/>
              </a:spcBef>
            </a:pPr>
            <a:r>
              <a:rPr lang="en-US" b="1" dirty="0"/>
              <a:t>Function</a:t>
            </a:r>
            <a:r>
              <a:rPr lang="en-US" dirty="0"/>
              <a:t>: Typically modifies enzyme activity, ion channel activity, and cellular excitability</a:t>
            </a:r>
          </a:p>
          <a:p>
            <a:pPr>
              <a:spcBef>
                <a:spcPct val="60000"/>
              </a:spcBef>
            </a:pPr>
            <a:r>
              <a:rPr lang="en-US" b="1" dirty="0"/>
              <a:t>Examples</a:t>
            </a:r>
            <a:r>
              <a:rPr lang="en-US" dirty="0"/>
              <a:t>: Insulin, oxytocin, vasopressin</a:t>
            </a:r>
          </a:p>
          <a:p>
            <a:endParaRPr lang="en-US" dirty="0"/>
          </a:p>
        </p:txBody>
      </p:sp>
      <p:sp>
        <p:nvSpPr>
          <p:cNvPr id="9" name="Rectangle 8">
            <a:extLst>
              <a:ext uri="{FF2B5EF4-FFF2-40B4-BE49-F238E27FC236}">
                <a16:creationId xmlns:a16="http://schemas.microsoft.com/office/drawing/2014/main" id="{2377586B-A9E1-D93B-9B2C-0FDA58BFED7F}"/>
              </a:ext>
            </a:extLst>
          </p:cNvPr>
          <p:cNvSpPr/>
          <p:nvPr/>
        </p:nvSpPr>
        <p:spPr>
          <a:xfrm>
            <a:off x="11477625" y="4120515"/>
            <a:ext cx="523875" cy="26517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BE0142A3-90A6-7CEB-868B-99F985A496B0}"/>
              </a:ext>
            </a:extLst>
          </p:cNvPr>
          <p:cNvGrpSpPr/>
          <p:nvPr/>
        </p:nvGrpSpPr>
        <p:grpSpPr>
          <a:xfrm>
            <a:off x="9363487" y="85725"/>
            <a:ext cx="2638013" cy="6830936"/>
            <a:chOff x="8296687" y="311174"/>
            <a:chExt cx="2557108" cy="6621439"/>
          </a:xfrm>
        </p:grpSpPr>
        <p:pic>
          <p:nvPicPr>
            <p:cNvPr id="10" name="Content Placeholder 5" descr="The figure shows two main mechanisms of hormone action: A. Peptide hormone receptors embedded in the cell membrane, bind to the hormone, activating a second-messenger system that affects various processes inside the target cell. The receptors are in the cell membrane. The cube shaped hormones from outside the cell enter the receptors. This cause circular second messengers inside the cell to cause altered cell function and Multiple biological effects. B. Steroid hormones diffuse passively in binding to large receptor molecules inside target cells. The steroid–receptor complex then binds to D N A, altering the expression of certain genes, a so called genomic effect. Steroid hormones look like two hexagonal structures that connect. These steroid hormones enter from outside the cell into the cell and land on steroid receptors. These steroid receptors now enter the nucleus that leads to new protein production and multiple biological effects. ">
              <a:extLst>
                <a:ext uri="{FF2B5EF4-FFF2-40B4-BE49-F238E27FC236}">
                  <a16:creationId xmlns:a16="http://schemas.microsoft.com/office/drawing/2014/main" id="{50D94845-E1E0-3162-209D-A75E0AE72DF9}"/>
                </a:ext>
              </a:extLst>
            </p:cNvPr>
            <p:cNvPicPr>
              <a:picLocks noChangeAspect="1"/>
            </p:cNvPicPr>
            <p:nvPr/>
          </p:nvPicPr>
          <p:blipFill>
            <a:blip r:embed="rId2"/>
            <a:srcRect r="54240"/>
            <a:stretch>
              <a:fillRect/>
            </a:stretch>
          </p:blipFill>
          <p:spPr>
            <a:xfrm>
              <a:off x="8315736" y="311174"/>
              <a:ext cx="2371313" cy="3544864"/>
            </a:xfrm>
            <a:prstGeom prst="rect">
              <a:avLst/>
            </a:prstGeom>
          </p:spPr>
        </p:pic>
        <p:pic>
          <p:nvPicPr>
            <p:cNvPr id="11" name="Content Placeholder 5" descr="The figure shows two main mechanisms of hormone action: A. Peptide hormone receptors embedded in the cell membrane, bind to the hormone, activating a second-messenger system that affects various processes inside the target cell. The receptors are in the cell membrane. The cube shaped hormones from outside the cell enter the receptors. This cause circular second messengers inside the cell to cause altered cell function and Multiple biological effects. B. Steroid hormones diffuse passively in binding to large receptor molecules inside target cells. The steroid–receptor complex then binds to D N A, altering the expression of certain genes, a so called genomic effect. Steroid hormones look like two hexagonal structures that connect. These steroid hormones enter from outside the cell into the cell and land on steroid receptors. These steroid receptors now enter the nucleus that leads to new protein production and multiple biological effects. ">
              <a:extLst>
                <a:ext uri="{FF2B5EF4-FFF2-40B4-BE49-F238E27FC236}">
                  <a16:creationId xmlns:a16="http://schemas.microsoft.com/office/drawing/2014/main" id="{1F9A3531-EB94-82F5-96B0-3C0323B17DC3}"/>
                </a:ext>
              </a:extLst>
            </p:cNvPr>
            <p:cNvPicPr>
              <a:picLocks noChangeAspect="1"/>
            </p:cNvPicPr>
            <p:nvPr/>
          </p:nvPicPr>
          <p:blipFill>
            <a:blip r:embed="rId2"/>
            <a:srcRect l="46587"/>
            <a:stretch>
              <a:fillRect/>
            </a:stretch>
          </p:blipFill>
          <p:spPr>
            <a:xfrm>
              <a:off x="8296687" y="3657671"/>
              <a:ext cx="2557108" cy="3274942"/>
            </a:xfrm>
            <a:prstGeom prst="rect">
              <a:avLst/>
            </a:prstGeom>
          </p:spPr>
        </p:pic>
      </p:grpSp>
    </p:spTree>
    <p:extLst>
      <p:ext uri="{BB962C8B-B14F-4D97-AF65-F5344CB8AC3E}">
        <p14:creationId xmlns:p14="http://schemas.microsoft.com/office/powerpoint/2010/main" val="2441081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20B2F-A57E-5770-6452-15B2AD5186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9C786F-1796-B6A4-89BB-6B62C1A62372}"/>
              </a:ext>
            </a:extLst>
          </p:cNvPr>
          <p:cNvSpPr>
            <a:spLocks noGrp="1"/>
          </p:cNvSpPr>
          <p:nvPr>
            <p:ph type="title"/>
          </p:nvPr>
        </p:nvSpPr>
        <p:spPr/>
        <p:txBody>
          <a:bodyPr/>
          <a:lstStyle/>
          <a:p>
            <a:r>
              <a:rPr lang="en-US" dirty="0"/>
              <a:t>Hormones</a:t>
            </a:r>
          </a:p>
        </p:txBody>
      </p:sp>
      <p:sp>
        <p:nvSpPr>
          <p:cNvPr id="3" name="Content Placeholder 2">
            <a:extLst>
              <a:ext uri="{FF2B5EF4-FFF2-40B4-BE49-F238E27FC236}">
                <a16:creationId xmlns:a16="http://schemas.microsoft.com/office/drawing/2014/main" id="{FCCAA0BA-2C37-A3C8-3891-E6975903ACB9}"/>
              </a:ext>
            </a:extLst>
          </p:cNvPr>
          <p:cNvSpPr>
            <a:spLocks noGrp="1"/>
          </p:cNvSpPr>
          <p:nvPr>
            <p:ph idx="1"/>
          </p:nvPr>
        </p:nvSpPr>
        <p:spPr>
          <a:xfrm>
            <a:off x="838199" y="1825626"/>
            <a:ext cx="8525287" cy="4946650"/>
          </a:xfrm>
        </p:spPr>
        <p:txBody>
          <a:bodyPr>
            <a:normAutofit/>
          </a:bodyPr>
          <a:lstStyle/>
          <a:p>
            <a:pPr marL="0" indent="0">
              <a:spcBef>
                <a:spcPct val="60000"/>
              </a:spcBef>
              <a:buNone/>
            </a:pPr>
            <a:r>
              <a:rPr lang="en-US" altLang="en-US" b="1" dirty="0"/>
              <a:t>Steroid Hormones</a:t>
            </a:r>
          </a:p>
          <a:p>
            <a:pPr>
              <a:spcBef>
                <a:spcPct val="60000"/>
              </a:spcBef>
            </a:pPr>
            <a:r>
              <a:rPr lang="en-US" altLang="en-US" dirty="0"/>
              <a:t>Lipids that are synthesized on demand</a:t>
            </a:r>
          </a:p>
          <a:p>
            <a:pPr lvl="1">
              <a:spcBef>
                <a:spcPct val="60000"/>
              </a:spcBef>
            </a:pPr>
            <a:r>
              <a:rPr lang="en-US" altLang="en-US" dirty="0"/>
              <a:t>Can freely move across membranes</a:t>
            </a:r>
          </a:p>
          <a:p>
            <a:pPr>
              <a:spcBef>
                <a:spcPct val="60000"/>
              </a:spcBef>
            </a:pPr>
            <a:r>
              <a:rPr lang="en-US" altLang="en-US" b="1" dirty="0"/>
              <a:t>Binding</a:t>
            </a:r>
            <a:r>
              <a:rPr lang="en-US" altLang="en-US" dirty="0"/>
              <a:t>: Intracellular cytoplasmic/nuclear receptors </a:t>
            </a:r>
          </a:p>
          <a:p>
            <a:pPr>
              <a:spcBef>
                <a:spcPct val="60000"/>
              </a:spcBef>
            </a:pPr>
            <a:r>
              <a:rPr lang="en-US" altLang="en-US" b="1" dirty="0"/>
              <a:t>Timeline</a:t>
            </a:r>
            <a:r>
              <a:rPr lang="en-US" altLang="en-US" dirty="0"/>
              <a:t>: Acts in hours to days, long-lasting effects</a:t>
            </a:r>
          </a:p>
          <a:p>
            <a:pPr>
              <a:spcBef>
                <a:spcPct val="60000"/>
              </a:spcBef>
            </a:pPr>
            <a:r>
              <a:rPr lang="en-US" altLang="en-US" b="1" dirty="0"/>
              <a:t>Function</a:t>
            </a:r>
            <a:r>
              <a:rPr lang="en-US" altLang="en-US" dirty="0"/>
              <a:t>: Regulates gene expression </a:t>
            </a:r>
          </a:p>
          <a:p>
            <a:pPr lvl="1">
              <a:spcBef>
                <a:spcPct val="60000"/>
              </a:spcBef>
            </a:pPr>
            <a:r>
              <a:rPr lang="en-US" altLang="en-US" dirty="0"/>
              <a:t>Changes protein production within the cell</a:t>
            </a:r>
          </a:p>
          <a:p>
            <a:pPr>
              <a:spcBef>
                <a:spcPct val="60000"/>
              </a:spcBef>
            </a:pPr>
            <a:r>
              <a:rPr lang="en-US" altLang="en-US" b="1" dirty="0"/>
              <a:t>Examples</a:t>
            </a:r>
            <a:r>
              <a:rPr lang="en-US" altLang="en-US" dirty="0"/>
              <a:t>: Cortisol, testosterone, estrogen</a:t>
            </a:r>
          </a:p>
          <a:p>
            <a:endParaRPr lang="en-US" dirty="0"/>
          </a:p>
        </p:txBody>
      </p:sp>
      <p:sp>
        <p:nvSpPr>
          <p:cNvPr id="9" name="Rectangle 8">
            <a:extLst>
              <a:ext uri="{FF2B5EF4-FFF2-40B4-BE49-F238E27FC236}">
                <a16:creationId xmlns:a16="http://schemas.microsoft.com/office/drawing/2014/main" id="{97E0F85F-A447-AF18-8850-53F3F93D76F0}"/>
              </a:ext>
            </a:extLst>
          </p:cNvPr>
          <p:cNvSpPr/>
          <p:nvPr/>
        </p:nvSpPr>
        <p:spPr>
          <a:xfrm>
            <a:off x="11477625" y="4120515"/>
            <a:ext cx="523875" cy="26517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AD5F5AF0-DDAF-B64D-3DAB-76D032DD52B9}"/>
              </a:ext>
            </a:extLst>
          </p:cNvPr>
          <p:cNvGrpSpPr/>
          <p:nvPr/>
        </p:nvGrpSpPr>
        <p:grpSpPr>
          <a:xfrm>
            <a:off x="9363487" y="85725"/>
            <a:ext cx="2638013" cy="6830936"/>
            <a:chOff x="8296687" y="311174"/>
            <a:chExt cx="2557108" cy="6621439"/>
          </a:xfrm>
        </p:grpSpPr>
        <p:pic>
          <p:nvPicPr>
            <p:cNvPr id="10" name="Content Placeholder 5" descr="The figure shows two main mechanisms of hormone action: A. Peptide hormone receptors embedded in the cell membrane, bind to the hormone, activating a second-messenger system that affects various processes inside the target cell. The receptors are in the cell membrane. The cube shaped hormones from outside the cell enter the receptors. This cause circular second messengers inside the cell to cause altered cell function and Multiple biological effects. B. Steroid hormones diffuse passively in binding to large receptor molecules inside target cells. The steroid–receptor complex then binds to D N A, altering the expression of certain genes, a so called genomic effect. Steroid hormones look like two hexagonal structures that connect. These steroid hormones enter from outside the cell into the cell and land on steroid receptors. These steroid receptors now enter the nucleus that leads to new protein production and multiple biological effects. ">
              <a:extLst>
                <a:ext uri="{FF2B5EF4-FFF2-40B4-BE49-F238E27FC236}">
                  <a16:creationId xmlns:a16="http://schemas.microsoft.com/office/drawing/2014/main" id="{8D4C6DA9-9A74-B7C2-FAB4-DCCC5C8FFCEE}"/>
                </a:ext>
              </a:extLst>
            </p:cNvPr>
            <p:cNvPicPr>
              <a:picLocks noChangeAspect="1"/>
            </p:cNvPicPr>
            <p:nvPr/>
          </p:nvPicPr>
          <p:blipFill>
            <a:blip r:embed="rId2"/>
            <a:srcRect r="54240"/>
            <a:stretch>
              <a:fillRect/>
            </a:stretch>
          </p:blipFill>
          <p:spPr>
            <a:xfrm>
              <a:off x="8315736" y="311174"/>
              <a:ext cx="2371313" cy="3544864"/>
            </a:xfrm>
            <a:prstGeom prst="rect">
              <a:avLst/>
            </a:prstGeom>
          </p:spPr>
        </p:pic>
        <p:pic>
          <p:nvPicPr>
            <p:cNvPr id="11" name="Content Placeholder 5" descr="The figure shows two main mechanisms of hormone action: A. Peptide hormone receptors embedded in the cell membrane, bind to the hormone, activating a second-messenger system that affects various processes inside the target cell. The receptors are in the cell membrane. The cube shaped hormones from outside the cell enter the receptors. This cause circular second messengers inside the cell to cause altered cell function and Multiple biological effects. B. Steroid hormones diffuse passively in binding to large receptor molecules inside target cells. The steroid–receptor complex then binds to D N A, altering the expression of certain genes, a so called genomic effect. Steroid hormones look like two hexagonal structures that connect. These steroid hormones enter from outside the cell into the cell and land on steroid receptors. These steroid receptors now enter the nucleus that leads to new protein production and multiple biological effects. ">
              <a:extLst>
                <a:ext uri="{FF2B5EF4-FFF2-40B4-BE49-F238E27FC236}">
                  <a16:creationId xmlns:a16="http://schemas.microsoft.com/office/drawing/2014/main" id="{D92531D8-DBE6-1D8F-52D0-5DF03D82C865}"/>
                </a:ext>
              </a:extLst>
            </p:cNvPr>
            <p:cNvPicPr>
              <a:picLocks noChangeAspect="1"/>
            </p:cNvPicPr>
            <p:nvPr/>
          </p:nvPicPr>
          <p:blipFill>
            <a:blip r:embed="rId2"/>
            <a:srcRect l="46587"/>
            <a:stretch>
              <a:fillRect/>
            </a:stretch>
          </p:blipFill>
          <p:spPr>
            <a:xfrm>
              <a:off x="8296687" y="3657671"/>
              <a:ext cx="2557108" cy="3274942"/>
            </a:xfrm>
            <a:prstGeom prst="rect">
              <a:avLst/>
            </a:prstGeom>
          </p:spPr>
        </p:pic>
      </p:grpSp>
    </p:spTree>
    <p:extLst>
      <p:ext uri="{BB962C8B-B14F-4D97-AF65-F5344CB8AC3E}">
        <p14:creationId xmlns:p14="http://schemas.microsoft.com/office/powerpoint/2010/main" val="4073033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16AC6-9416-0F1F-E536-5F94E8CA46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2FCCA7-8BB6-0795-6B32-B8FDEBBA5817}"/>
              </a:ext>
            </a:extLst>
          </p:cNvPr>
          <p:cNvSpPr>
            <a:spLocks noGrp="1"/>
          </p:cNvSpPr>
          <p:nvPr>
            <p:ph type="title"/>
          </p:nvPr>
        </p:nvSpPr>
        <p:spPr/>
        <p:txBody>
          <a:bodyPr/>
          <a:lstStyle/>
          <a:p>
            <a:r>
              <a:rPr lang="en-US" dirty="0"/>
              <a:t>Hormones</a:t>
            </a:r>
          </a:p>
        </p:txBody>
      </p:sp>
      <p:sp>
        <p:nvSpPr>
          <p:cNvPr id="3" name="Content Placeholder 2">
            <a:extLst>
              <a:ext uri="{FF2B5EF4-FFF2-40B4-BE49-F238E27FC236}">
                <a16:creationId xmlns:a16="http://schemas.microsoft.com/office/drawing/2014/main" id="{C3CD54DB-57D9-F5A4-E687-BEE99D4B9CC3}"/>
              </a:ext>
            </a:extLst>
          </p:cNvPr>
          <p:cNvSpPr>
            <a:spLocks noGrp="1"/>
          </p:cNvSpPr>
          <p:nvPr>
            <p:ph idx="1"/>
          </p:nvPr>
        </p:nvSpPr>
        <p:spPr>
          <a:xfrm>
            <a:off x="838199" y="1825626"/>
            <a:ext cx="8525287" cy="4946650"/>
          </a:xfrm>
        </p:spPr>
        <p:txBody>
          <a:bodyPr>
            <a:normAutofit/>
          </a:bodyPr>
          <a:lstStyle/>
          <a:p>
            <a:pPr marL="0" indent="0">
              <a:spcBef>
                <a:spcPct val="60000"/>
              </a:spcBef>
              <a:buNone/>
            </a:pPr>
            <a:r>
              <a:rPr lang="en-US" altLang="en-US" b="1" dirty="0"/>
              <a:t>Amine Hormones</a:t>
            </a:r>
          </a:p>
          <a:p>
            <a:pPr>
              <a:spcBef>
                <a:spcPct val="60000"/>
              </a:spcBef>
            </a:pPr>
            <a:r>
              <a:rPr lang="en-US" altLang="en-US" dirty="0"/>
              <a:t>Single amino acid derivatives</a:t>
            </a:r>
          </a:p>
          <a:p>
            <a:pPr>
              <a:spcBef>
                <a:spcPct val="60000"/>
              </a:spcBef>
            </a:pPr>
            <a:r>
              <a:rPr lang="en-US" altLang="en-US" b="1" dirty="0"/>
              <a:t>Catecholamines</a:t>
            </a:r>
            <a:r>
              <a:rPr lang="en-US" altLang="en-US" dirty="0"/>
              <a:t>: Acts as peptide hormones</a:t>
            </a:r>
          </a:p>
          <a:p>
            <a:pPr lvl="1">
              <a:spcBef>
                <a:spcPct val="60000"/>
              </a:spcBef>
            </a:pPr>
            <a:r>
              <a:rPr lang="en-US" altLang="en-US" b="1" dirty="0"/>
              <a:t>Examples: </a:t>
            </a:r>
            <a:r>
              <a:rPr lang="en-US" altLang="en-US" dirty="0"/>
              <a:t>Epinephrine, norepinephrine</a:t>
            </a:r>
          </a:p>
          <a:p>
            <a:pPr>
              <a:spcBef>
                <a:spcPct val="60000"/>
              </a:spcBef>
            </a:pPr>
            <a:r>
              <a:rPr lang="en-US" altLang="en-US" b="1" dirty="0"/>
              <a:t>Thyroid Hormones</a:t>
            </a:r>
            <a:r>
              <a:rPr lang="en-US" altLang="en-US" dirty="0"/>
              <a:t>: Acts as steroid hormones</a:t>
            </a:r>
          </a:p>
          <a:p>
            <a:pPr lvl="1">
              <a:spcBef>
                <a:spcPct val="60000"/>
              </a:spcBef>
            </a:pPr>
            <a:r>
              <a:rPr lang="en-US" altLang="en-US" b="1" dirty="0"/>
              <a:t>Examples</a:t>
            </a:r>
            <a:r>
              <a:rPr lang="en-US" altLang="en-US" dirty="0"/>
              <a:t>: Thyroid hormones</a:t>
            </a:r>
          </a:p>
          <a:p>
            <a:endParaRPr lang="en-US" dirty="0"/>
          </a:p>
        </p:txBody>
      </p:sp>
      <p:sp>
        <p:nvSpPr>
          <p:cNvPr id="9" name="Rectangle 8">
            <a:extLst>
              <a:ext uri="{FF2B5EF4-FFF2-40B4-BE49-F238E27FC236}">
                <a16:creationId xmlns:a16="http://schemas.microsoft.com/office/drawing/2014/main" id="{5D3C0297-299F-80FF-67B0-9EDBCB81198F}"/>
              </a:ext>
            </a:extLst>
          </p:cNvPr>
          <p:cNvSpPr/>
          <p:nvPr/>
        </p:nvSpPr>
        <p:spPr>
          <a:xfrm>
            <a:off x="11477625" y="4120515"/>
            <a:ext cx="523875" cy="26517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C5001E17-0011-4BD2-E365-4A37194A344E}"/>
              </a:ext>
            </a:extLst>
          </p:cNvPr>
          <p:cNvGrpSpPr/>
          <p:nvPr/>
        </p:nvGrpSpPr>
        <p:grpSpPr>
          <a:xfrm>
            <a:off x="9363487" y="85725"/>
            <a:ext cx="2638013" cy="6830936"/>
            <a:chOff x="8296687" y="311174"/>
            <a:chExt cx="2557108" cy="6621439"/>
          </a:xfrm>
        </p:grpSpPr>
        <p:pic>
          <p:nvPicPr>
            <p:cNvPr id="10" name="Content Placeholder 5" descr="The figure shows two main mechanisms of hormone action: A. Peptide hormone receptors embedded in the cell membrane, bind to the hormone, activating a second-messenger system that affects various processes inside the target cell. The receptors are in the cell membrane. The cube shaped hormones from outside the cell enter the receptors. This cause circular second messengers inside the cell to cause altered cell function and Multiple biological effects. B. Steroid hormones diffuse passively in binding to large receptor molecules inside target cells. The steroid–receptor complex then binds to D N A, altering the expression of certain genes, a so called genomic effect. Steroid hormones look like two hexagonal structures that connect. These steroid hormones enter from outside the cell into the cell and land on steroid receptors. These steroid receptors now enter the nucleus that leads to new protein production and multiple biological effects. ">
              <a:extLst>
                <a:ext uri="{FF2B5EF4-FFF2-40B4-BE49-F238E27FC236}">
                  <a16:creationId xmlns:a16="http://schemas.microsoft.com/office/drawing/2014/main" id="{1E38C306-5CDF-C3B7-72FB-EF67F45C62AF}"/>
                </a:ext>
              </a:extLst>
            </p:cNvPr>
            <p:cNvPicPr>
              <a:picLocks noChangeAspect="1"/>
            </p:cNvPicPr>
            <p:nvPr/>
          </p:nvPicPr>
          <p:blipFill>
            <a:blip r:embed="rId2"/>
            <a:srcRect r="54240"/>
            <a:stretch>
              <a:fillRect/>
            </a:stretch>
          </p:blipFill>
          <p:spPr>
            <a:xfrm>
              <a:off x="8315736" y="311174"/>
              <a:ext cx="2371313" cy="3544864"/>
            </a:xfrm>
            <a:prstGeom prst="rect">
              <a:avLst/>
            </a:prstGeom>
          </p:spPr>
        </p:pic>
        <p:pic>
          <p:nvPicPr>
            <p:cNvPr id="11" name="Content Placeholder 5" descr="The figure shows two main mechanisms of hormone action: A. Peptide hormone receptors embedded in the cell membrane, bind to the hormone, activating a second-messenger system that affects various processes inside the target cell. The receptors are in the cell membrane. The cube shaped hormones from outside the cell enter the receptors. This cause circular second messengers inside the cell to cause altered cell function and Multiple biological effects. B. Steroid hormones diffuse passively in binding to large receptor molecules inside target cells. The steroid–receptor complex then binds to D N A, altering the expression of certain genes, a so called genomic effect. Steroid hormones look like two hexagonal structures that connect. These steroid hormones enter from outside the cell into the cell and land on steroid receptors. These steroid receptors now enter the nucleus that leads to new protein production and multiple biological effects. ">
              <a:extLst>
                <a:ext uri="{FF2B5EF4-FFF2-40B4-BE49-F238E27FC236}">
                  <a16:creationId xmlns:a16="http://schemas.microsoft.com/office/drawing/2014/main" id="{AACE16C9-91F8-7E36-B420-3B9ED4900FE0}"/>
                </a:ext>
              </a:extLst>
            </p:cNvPr>
            <p:cNvPicPr>
              <a:picLocks noChangeAspect="1"/>
            </p:cNvPicPr>
            <p:nvPr/>
          </p:nvPicPr>
          <p:blipFill>
            <a:blip r:embed="rId2"/>
            <a:srcRect l="46587"/>
            <a:stretch>
              <a:fillRect/>
            </a:stretch>
          </p:blipFill>
          <p:spPr>
            <a:xfrm>
              <a:off x="8296687" y="3657671"/>
              <a:ext cx="2557108" cy="3274942"/>
            </a:xfrm>
            <a:prstGeom prst="rect">
              <a:avLst/>
            </a:prstGeom>
          </p:spPr>
        </p:pic>
      </p:grpSp>
    </p:spTree>
    <p:extLst>
      <p:ext uri="{BB962C8B-B14F-4D97-AF65-F5344CB8AC3E}">
        <p14:creationId xmlns:p14="http://schemas.microsoft.com/office/powerpoint/2010/main" val="618435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F07CD-6355-F9BC-9A2D-54737B467B8D}"/>
              </a:ext>
            </a:extLst>
          </p:cNvPr>
          <p:cNvSpPr>
            <a:spLocks noGrp="1"/>
          </p:cNvSpPr>
          <p:nvPr>
            <p:ph type="title"/>
          </p:nvPr>
        </p:nvSpPr>
        <p:spPr/>
        <p:txBody>
          <a:bodyPr/>
          <a:lstStyle/>
          <a:p>
            <a:r>
              <a:rPr lang="en-US" dirty="0"/>
              <a:t>Hormone Regulation</a:t>
            </a:r>
          </a:p>
        </p:txBody>
      </p:sp>
      <p:sp>
        <p:nvSpPr>
          <p:cNvPr id="3" name="Content Placeholder 2">
            <a:extLst>
              <a:ext uri="{FF2B5EF4-FFF2-40B4-BE49-F238E27FC236}">
                <a16:creationId xmlns:a16="http://schemas.microsoft.com/office/drawing/2014/main" id="{DA64365B-CBEB-4DB6-9A83-2BCC0EA46AE7}"/>
              </a:ext>
            </a:extLst>
          </p:cNvPr>
          <p:cNvSpPr>
            <a:spLocks noGrp="1"/>
          </p:cNvSpPr>
          <p:nvPr>
            <p:ph idx="1"/>
          </p:nvPr>
        </p:nvSpPr>
        <p:spPr>
          <a:xfrm>
            <a:off x="838200" y="1825625"/>
            <a:ext cx="7301753" cy="4351338"/>
          </a:xfrm>
        </p:spPr>
        <p:txBody>
          <a:bodyPr>
            <a:normAutofit/>
          </a:bodyPr>
          <a:lstStyle/>
          <a:p>
            <a:pPr marL="0" indent="0">
              <a:buNone/>
            </a:pPr>
            <a:r>
              <a:rPr lang="en-US" sz="2600" b="1" dirty="0"/>
              <a:t>Hormone Regulation</a:t>
            </a:r>
            <a:r>
              <a:rPr lang="en-US" sz="2600" dirty="0"/>
              <a:t>: Hormone systems receive feedback to control their hormone production</a:t>
            </a:r>
          </a:p>
          <a:p>
            <a:r>
              <a:rPr lang="en-US" sz="2600" b="1" dirty="0"/>
              <a:t>Autocrine Feedback</a:t>
            </a:r>
            <a:r>
              <a:rPr lang="en-US" sz="2600" dirty="0"/>
              <a:t>: Feedback from its own produced hormone</a:t>
            </a:r>
          </a:p>
          <a:p>
            <a:endParaRPr lang="en-US" dirty="0"/>
          </a:p>
        </p:txBody>
      </p:sp>
      <p:pic>
        <p:nvPicPr>
          <p:cNvPr id="4" name="Content Placeholder 6" descr="The different endocrine feedback loops are shown. In autocrine feedback, endocrine cells reach the target cells. And a branch from this path goes back to the endocrine cell with a negative feedback. ">
            <a:extLst>
              <a:ext uri="{FF2B5EF4-FFF2-40B4-BE49-F238E27FC236}">
                <a16:creationId xmlns:a16="http://schemas.microsoft.com/office/drawing/2014/main" id="{D92C6CD6-A057-8AB5-7B6F-EC7E625AF676}"/>
              </a:ext>
            </a:extLst>
          </p:cNvPr>
          <p:cNvPicPr>
            <a:picLocks noChangeAspect="1"/>
          </p:cNvPicPr>
          <p:nvPr/>
        </p:nvPicPr>
        <p:blipFill>
          <a:blip r:embed="rId2"/>
          <a:srcRect t="8949"/>
          <a:stretch>
            <a:fillRect/>
          </a:stretch>
        </p:blipFill>
        <p:spPr>
          <a:xfrm>
            <a:off x="8244293" y="1690687"/>
            <a:ext cx="3547866" cy="4802187"/>
          </a:xfrm>
          <a:prstGeom prst="rect">
            <a:avLst/>
          </a:prstGeom>
        </p:spPr>
      </p:pic>
    </p:spTree>
    <p:extLst>
      <p:ext uri="{BB962C8B-B14F-4D97-AF65-F5344CB8AC3E}">
        <p14:creationId xmlns:p14="http://schemas.microsoft.com/office/powerpoint/2010/main" val="2043100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67CCB-C472-B0A0-4072-4EE140AE8C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3DA0CD-6E8A-5537-A09C-E08BCF87E71A}"/>
              </a:ext>
            </a:extLst>
          </p:cNvPr>
          <p:cNvSpPr>
            <a:spLocks noGrp="1"/>
          </p:cNvSpPr>
          <p:nvPr>
            <p:ph type="title"/>
          </p:nvPr>
        </p:nvSpPr>
        <p:spPr/>
        <p:txBody>
          <a:bodyPr/>
          <a:lstStyle/>
          <a:p>
            <a:r>
              <a:rPr lang="en-US" dirty="0"/>
              <a:t>Hormone Regulation</a:t>
            </a:r>
          </a:p>
        </p:txBody>
      </p:sp>
      <p:sp>
        <p:nvSpPr>
          <p:cNvPr id="3" name="Content Placeholder 2">
            <a:extLst>
              <a:ext uri="{FF2B5EF4-FFF2-40B4-BE49-F238E27FC236}">
                <a16:creationId xmlns:a16="http://schemas.microsoft.com/office/drawing/2014/main" id="{A8A7A236-1482-2D49-3D56-C720879993A5}"/>
              </a:ext>
            </a:extLst>
          </p:cNvPr>
          <p:cNvSpPr>
            <a:spLocks noGrp="1"/>
          </p:cNvSpPr>
          <p:nvPr>
            <p:ph idx="1"/>
          </p:nvPr>
        </p:nvSpPr>
        <p:spPr>
          <a:xfrm>
            <a:off x="838200" y="1825625"/>
            <a:ext cx="7301753" cy="4351338"/>
          </a:xfrm>
        </p:spPr>
        <p:txBody>
          <a:bodyPr>
            <a:normAutofit/>
          </a:bodyPr>
          <a:lstStyle/>
          <a:p>
            <a:pPr marL="0" indent="0">
              <a:buNone/>
            </a:pPr>
            <a:r>
              <a:rPr lang="en-US" sz="2600" b="1" dirty="0"/>
              <a:t>Hormone Regulation</a:t>
            </a:r>
            <a:endParaRPr lang="en-US" sz="2600" dirty="0"/>
          </a:p>
          <a:p>
            <a:r>
              <a:rPr lang="en-US" sz="2600" b="1" dirty="0"/>
              <a:t>Target Cell Feedback</a:t>
            </a:r>
            <a:r>
              <a:rPr lang="en-US" sz="2600" dirty="0"/>
              <a:t>: Feedback from the biological response of the target cell</a:t>
            </a:r>
          </a:p>
          <a:p>
            <a:endParaRPr lang="en-US" dirty="0"/>
          </a:p>
        </p:txBody>
      </p:sp>
      <p:pic>
        <p:nvPicPr>
          <p:cNvPr id="5" name="Content Placeholder 6" descr="In target cell feedback, endocrine cells reach the target cells. Target cells trigger a biological response. A negative feedback goes from the biological response to the endocrine cells. ">
            <a:extLst>
              <a:ext uri="{FF2B5EF4-FFF2-40B4-BE49-F238E27FC236}">
                <a16:creationId xmlns:a16="http://schemas.microsoft.com/office/drawing/2014/main" id="{26258ABE-93C7-CD86-2CE5-E05EEFC3830F}"/>
              </a:ext>
            </a:extLst>
          </p:cNvPr>
          <p:cNvPicPr>
            <a:picLocks noChangeAspect="1"/>
          </p:cNvPicPr>
          <p:nvPr/>
        </p:nvPicPr>
        <p:blipFill>
          <a:blip r:embed="rId2"/>
          <a:stretch>
            <a:fillRect/>
          </a:stretch>
        </p:blipFill>
        <p:spPr>
          <a:xfrm>
            <a:off x="8331162" y="450850"/>
            <a:ext cx="3340176" cy="6300788"/>
          </a:xfrm>
          <a:prstGeom prst="rect">
            <a:avLst/>
          </a:prstGeom>
        </p:spPr>
      </p:pic>
    </p:spTree>
    <p:extLst>
      <p:ext uri="{BB962C8B-B14F-4D97-AF65-F5344CB8AC3E}">
        <p14:creationId xmlns:p14="http://schemas.microsoft.com/office/powerpoint/2010/main" val="9421572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CB8A2-789B-6E94-775F-5ECAE6EE76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366715-DD01-BAFB-7952-05D232A21AFC}"/>
              </a:ext>
            </a:extLst>
          </p:cNvPr>
          <p:cNvSpPr>
            <a:spLocks noGrp="1"/>
          </p:cNvSpPr>
          <p:nvPr>
            <p:ph type="title"/>
          </p:nvPr>
        </p:nvSpPr>
        <p:spPr/>
        <p:txBody>
          <a:bodyPr/>
          <a:lstStyle/>
          <a:p>
            <a:r>
              <a:rPr lang="en-US" dirty="0"/>
              <a:t>Hormone Regulation</a:t>
            </a:r>
          </a:p>
        </p:txBody>
      </p:sp>
      <p:sp>
        <p:nvSpPr>
          <p:cNvPr id="3" name="Content Placeholder 2">
            <a:extLst>
              <a:ext uri="{FF2B5EF4-FFF2-40B4-BE49-F238E27FC236}">
                <a16:creationId xmlns:a16="http://schemas.microsoft.com/office/drawing/2014/main" id="{A5DD03EC-CB11-D171-533E-3C27DE18A3E2}"/>
              </a:ext>
            </a:extLst>
          </p:cNvPr>
          <p:cNvSpPr>
            <a:spLocks noGrp="1"/>
          </p:cNvSpPr>
          <p:nvPr>
            <p:ph idx="1"/>
          </p:nvPr>
        </p:nvSpPr>
        <p:spPr>
          <a:xfrm>
            <a:off x="838200" y="1825625"/>
            <a:ext cx="7301753" cy="4351338"/>
          </a:xfrm>
        </p:spPr>
        <p:txBody>
          <a:bodyPr>
            <a:normAutofit/>
          </a:bodyPr>
          <a:lstStyle/>
          <a:p>
            <a:pPr marL="0" indent="0">
              <a:buNone/>
            </a:pPr>
            <a:r>
              <a:rPr lang="en-US" sz="2600" b="1" dirty="0"/>
              <a:t>Hormone Regulation</a:t>
            </a:r>
            <a:endParaRPr lang="en-US" sz="2600" dirty="0"/>
          </a:p>
          <a:p>
            <a:r>
              <a:rPr lang="en-US" sz="2600" b="1" dirty="0"/>
              <a:t>Brain Regulation</a:t>
            </a:r>
            <a:r>
              <a:rPr lang="en-US" sz="2600" dirty="0"/>
              <a:t>: Feedback of target cell’s biological response is provided to a brain region that moderates the hormone system</a:t>
            </a:r>
          </a:p>
          <a:p>
            <a:endParaRPr lang="en-US" sz="2600" dirty="0"/>
          </a:p>
        </p:txBody>
      </p:sp>
      <p:pic>
        <p:nvPicPr>
          <p:cNvPr id="6" name="Picture 5">
            <a:extLst>
              <a:ext uri="{FF2B5EF4-FFF2-40B4-BE49-F238E27FC236}">
                <a16:creationId xmlns:a16="http://schemas.microsoft.com/office/drawing/2014/main" id="{519F9263-8524-1735-9C17-1D152D8ED2F5}"/>
              </a:ext>
            </a:extLst>
          </p:cNvPr>
          <p:cNvPicPr>
            <a:picLocks noChangeAspect="1"/>
          </p:cNvPicPr>
          <p:nvPr/>
        </p:nvPicPr>
        <p:blipFill>
          <a:blip r:embed="rId2"/>
          <a:srcRect l="42578" r="36016"/>
          <a:stretch>
            <a:fillRect/>
          </a:stretch>
        </p:blipFill>
        <p:spPr>
          <a:xfrm>
            <a:off x="8496299" y="249199"/>
            <a:ext cx="3562351" cy="8208143"/>
          </a:xfrm>
          <a:prstGeom prst="rect">
            <a:avLst/>
          </a:prstGeom>
        </p:spPr>
      </p:pic>
    </p:spTree>
    <p:extLst>
      <p:ext uri="{BB962C8B-B14F-4D97-AF65-F5344CB8AC3E}">
        <p14:creationId xmlns:p14="http://schemas.microsoft.com/office/powerpoint/2010/main" val="14124290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2BC7E-16DC-2E2C-49B1-ACFEF659CB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A6A3B1-785E-96DA-004E-55B3E34DEDFA}"/>
              </a:ext>
            </a:extLst>
          </p:cNvPr>
          <p:cNvSpPr>
            <a:spLocks noGrp="1"/>
          </p:cNvSpPr>
          <p:nvPr>
            <p:ph type="title"/>
          </p:nvPr>
        </p:nvSpPr>
        <p:spPr/>
        <p:txBody>
          <a:bodyPr/>
          <a:lstStyle/>
          <a:p>
            <a:r>
              <a:rPr lang="en-US" dirty="0"/>
              <a:t>Hormone Regulation</a:t>
            </a:r>
          </a:p>
        </p:txBody>
      </p:sp>
      <p:sp>
        <p:nvSpPr>
          <p:cNvPr id="3" name="Content Placeholder 2">
            <a:extLst>
              <a:ext uri="{FF2B5EF4-FFF2-40B4-BE49-F238E27FC236}">
                <a16:creationId xmlns:a16="http://schemas.microsoft.com/office/drawing/2014/main" id="{AB066E31-FEF4-84B9-F962-F18AA5EED165}"/>
              </a:ext>
            </a:extLst>
          </p:cNvPr>
          <p:cNvSpPr>
            <a:spLocks noGrp="1"/>
          </p:cNvSpPr>
          <p:nvPr>
            <p:ph idx="1"/>
          </p:nvPr>
        </p:nvSpPr>
        <p:spPr>
          <a:xfrm>
            <a:off x="838200" y="1825625"/>
            <a:ext cx="7301753" cy="4351338"/>
          </a:xfrm>
        </p:spPr>
        <p:txBody>
          <a:bodyPr>
            <a:normAutofit/>
          </a:bodyPr>
          <a:lstStyle/>
          <a:p>
            <a:pPr marL="0" indent="0">
              <a:buNone/>
            </a:pPr>
            <a:r>
              <a:rPr lang="en-US" sz="2600" b="1" dirty="0"/>
              <a:t>Hormone Regulation</a:t>
            </a:r>
          </a:p>
          <a:p>
            <a:r>
              <a:rPr lang="en-US" sz="2600" b="1" dirty="0"/>
              <a:t>Brain and Pituitary Regulation</a:t>
            </a:r>
            <a:r>
              <a:rPr lang="en-US" sz="2600" dirty="0"/>
              <a:t>: Feedback is provided to both a brain region (hypothalamus) and the pituitary gland that moderates the hormone system</a:t>
            </a:r>
          </a:p>
          <a:p>
            <a:endParaRPr lang="en-US" sz="2600" dirty="0"/>
          </a:p>
        </p:txBody>
      </p:sp>
      <p:pic>
        <p:nvPicPr>
          <p:cNvPr id="5" name="Content Placeholder 6" descr="Brain and pituitary regulation flow chart is as follows: Hypothalamus releases hormones and give positive feedback to Anterior pituitary. Anterior pituitary produces tropic hormone and gives positive feedback to endocrine cells. Endocrine cells give positive feedback to target cells. Target cells give positive feedback to biological response. For the anterior pituitary, hormones from the endocrine gland have a negative feedback on both the hypothalamus and pituitary. ">
            <a:extLst>
              <a:ext uri="{FF2B5EF4-FFF2-40B4-BE49-F238E27FC236}">
                <a16:creationId xmlns:a16="http://schemas.microsoft.com/office/drawing/2014/main" id="{5ABD5A2C-7DF4-F22F-7FD3-86E537020C28}"/>
              </a:ext>
            </a:extLst>
          </p:cNvPr>
          <p:cNvPicPr>
            <a:picLocks noChangeAspect="1"/>
          </p:cNvPicPr>
          <p:nvPr/>
        </p:nvPicPr>
        <p:blipFill>
          <a:blip r:embed="rId2"/>
          <a:stretch>
            <a:fillRect/>
          </a:stretch>
        </p:blipFill>
        <p:spPr>
          <a:xfrm>
            <a:off x="8572056" y="450850"/>
            <a:ext cx="3125089" cy="6300788"/>
          </a:xfrm>
          <a:prstGeom prst="rect">
            <a:avLst/>
          </a:prstGeom>
        </p:spPr>
      </p:pic>
    </p:spTree>
    <p:extLst>
      <p:ext uri="{BB962C8B-B14F-4D97-AF65-F5344CB8AC3E}">
        <p14:creationId xmlns:p14="http://schemas.microsoft.com/office/powerpoint/2010/main" val="14539955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9D8A5-F264-730F-9858-E5F981368260}"/>
            </a:ext>
          </a:extLst>
        </p:cNvPr>
        <p:cNvGrpSpPr/>
        <p:nvPr/>
      </p:nvGrpSpPr>
      <p:grpSpPr>
        <a:xfrm>
          <a:off x="0" y="0"/>
          <a:ext cx="0" cy="0"/>
          <a:chOff x="0" y="0"/>
          <a:chExt cx="0" cy="0"/>
        </a:xfrm>
      </p:grpSpPr>
      <p:sp>
        <p:nvSpPr>
          <p:cNvPr id="20" name="Title 1">
            <a:extLst>
              <a:ext uri="{FF2B5EF4-FFF2-40B4-BE49-F238E27FC236}">
                <a16:creationId xmlns:a16="http://schemas.microsoft.com/office/drawing/2014/main" id="{A91F9A4A-68C1-A9B8-D9C1-A09327882B19}"/>
              </a:ext>
            </a:extLst>
          </p:cNvPr>
          <p:cNvSpPr txBox="1">
            <a:spLocks/>
          </p:cNvSpPr>
          <p:nvPr/>
        </p:nvSpPr>
        <p:spPr>
          <a:xfrm>
            <a:off x="6574665" y="602116"/>
            <a:ext cx="5702954" cy="59002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u="sng" dirty="0">
                <a:latin typeface="Calibri" panose="020F0502020204030204" pitchFamily="34" charset="0"/>
                <a:cs typeface="Calibri" panose="020F0502020204030204" pitchFamily="34" charset="0"/>
              </a:rPr>
              <a:t>Lecture Outline</a:t>
            </a:r>
          </a:p>
          <a:p>
            <a:endParaRPr lang="en-US" sz="40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Principles of Hormones </a:t>
            </a:r>
          </a:p>
          <a:p>
            <a:endParaRPr lang="en-US" sz="3600" dirty="0">
              <a:latin typeface="Calibri" panose="020F0502020204030204" pitchFamily="34" charset="0"/>
              <a:cs typeface="Calibri" panose="020F0502020204030204" pitchFamily="34" charset="0"/>
            </a:endParaRPr>
          </a:p>
          <a:p>
            <a:r>
              <a:rPr lang="en-US" sz="3600" dirty="0">
                <a:solidFill>
                  <a:srgbClr val="FF0000"/>
                </a:solidFill>
                <a:latin typeface="Calibri" panose="020F0502020204030204" pitchFamily="34" charset="0"/>
                <a:cs typeface="Calibri" panose="020F0502020204030204" pitchFamily="34" charset="0"/>
              </a:rPr>
              <a:t>The Pituitary Gland</a:t>
            </a:r>
          </a:p>
          <a:p>
            <a:endParaRPr lang="en-US" sz="36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Hormone Systems</a:t>
            </a:r>
          </a:p>
        </p:txBody>
      </p:sp>
      <p:pic>
        <p:nvPicPr>
          <p:cNvPr id="2" name="Picture 1" descr="A colorful and black and white brain&#10;&#10;AI-generated content may be incorrect.">
            <a:extLst>
              <a:ext uri="{FF2B5EF4-FFF2-40B4-BE49-F238E27FC236}">
                <a16:creationId xmlns:a16="http://schemas.microsoft.com/office/drawing/2014/main" id="{AFEC13AE-CB6F-403A-F5AD-530BBEE3845D}"/>
              </a:ext>
            </a:extLst>
          </p:cNvPr>
          <p:cNvPicPr>
            <a:picLocks noChangeAspect="1"/>
          </p:cNvPicPr>
          <p:nvPr/>
        </p:nvPicPr>
        <p:blipFill>
          <a:blip r:embed="rId2">
            <a:clrChange>
              <a:clrFrom>
                <a:srgbClr val="F9F9F7"/>
              </a:clrFrom>
              <a:clrTo>
                <a:srgbClr val="F9F9F7">
                  <a:alpha val="0"/>
                </a:srgbClr>
              </a:clrTo>
            </a:clrChange>
            <a:extLst>
              <a:ext uri="{28A0092B-C50C-407E-A947-70E740481C1C}">
                <a14:useLocalDpi xmlns:a14="http://schemas.microsoft.com/office/drawing/2010/main" val="0"/>
              </a:ext>
            </a:extLst>
          </a:blip>
          <a:srcRect l="22953" t="7044" r="23408" b="21998"/>
          <a:stretch>
            <a:fillRect/>
          </a:stretch>
        </p:blipFill>
        <p:spPr>
          <a:xfrm>
            <a:off x="1451809" y="-16931"/>
            <a:ext cx="4908331" cy="6493024"/>
          </a:xfrm>
          <a:prstGeom prst="rect">
            <a:avLst/>
          </a:prstGeom>
        </p:spPr>
      </p:pic>
    </p:spTree>
    <p:extLst>
      <p:ext uri="{BB962C8B-B14F-4D97-AF65-F5344CB8AC3E}">
        <p14:creationId xmlns:p14="http://schemas.microsoft.com/office/powerpoint/2010/main" val="27533124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405B2-9EF5-B7D9-4277-2435609896C9}"/>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3C62679F-AE08-FABB-260F-465C0A3A65A0}"/>
              </a:ext>
            </a:extLst>
          </p:cNvPr>
          <p:cNvGraphicFramePr>
            <a:graphicFrameLocks noGrp="1"/>
          </p:cNvGraphicFramePr>
          <p:nvPr>
            <p:ph idx="1"/>
            <p:extLst>
              <p:ext uri="{D42A27DB-BD31-4B8C-83A1-F6EECF244321}">
                <p14:modId xmlns:p14="http://schemas.microsoft.com/office/powerpoint/2010/main" val="4021503860"/>
              </p:ext>
            </p:extLst>
          </p:nvPr>
        </p:nvGraphicFramePr>
        <p:xfrm>
          <a:off x="838200" y="406400"/>
          <a:ext cx="10515600" cy="140716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2871487830"/>
                    </a:ext>
                  </a:extLst>
                </a:gridCol>
                <a:gridCol w="2628900">
                  <a:extLst>
                    <a:ext uri="{9D8B030D-6E8A-4147-A177-3AD203B41FA5}">
                      <a16:colId xmlns:a16="http://schemas.microsoft.com/office/drawing/2014/main" val="3189783107"/>
                    </a:ext>
                  </a:extLst>
                </a:gridCol>
                <a:gridCol w="2628900">
                  <a:extLst>
                    <a:ext uri="{9D8B030D-6E8A-4147-A177-3AD203B41FA5}">
                      <a16:colId xmlns:a16="http://schemas.microsoft.com/office/drawing/2014/main" val="1007210174"/>
                    </a:ext>
                  </a:extLst>
                </a:gridCol>
                <a:gridCol w="2628900">
                  <a:extLst>
                    <a:ext uri="{9D8B030D-6E8A-4147-A177-3AD203B41FA5}">
                      <a16:colId xmlns:a16="http://schemas.microsoft.com/office/drawing/2014/main" val="2360942072"/>
                    </a:ext>
                  </a:extLst>
                </a:gridCol>
              </a:tblGrid>
              <a:tr h="370840">
                <a:tc>
                  <a:txBody>
                    <a:bodyPr/>
                    <a:lstStyle/>
                    <a:p>
                      <a:pPr>
                        <a:buNone/>
                      </a:pPr>
                      <a:r>
                        <a:rPr lang="en-US" sz="1400" dirty="0"/>
                        <a:t>Structure</a:t>
                      </a:r>
                    </a:p>
                  </a:txBody>
                  <a:tcPr anchor="ctr"/>
                </a:tc>
                <a:tc>
                  <a:txBody>
                    <a:bodyPr/>
                    <a:lstStyle/>
                    <a:p>
                      <a:pPr>
                        <a:buNone/>
                      </a:pPr>
                      <a:r>
                        <a:rPr lang="en-US" sz="1400"/>
                        <a:t>Produced Hormone(s)</a:t>
                      </a:r>
                    </a:p>
                  </a:txBody>
                  <a:tcPr anchor="ctr"/>
                </a:tc>
                <a:tc>
                  <a:txBody>
                    <a:bodyPr/>
                    <a:lstStyle/>
                    <a:p>
                      <a:pPr>
                        <a:buNone/>
                      </a:pPr>
                      <a:r>
                        <a:rPr lang="en-US" sz="1400"/>
                        <a:t>Type of Hormone</a:t>
                      </a:r>
                    </a:p>
                  </a:txBody>
                  <a:tcPr anchor="ctr"/>
                </a:tc>
                <a:tc>
                  <a:txBody>
                    <a:bodyPr/>
                    <a:lstStyle/>
                    <a:p>
                      <a:pPr>
                        <a:buNone/>
                      </a:pPr>
                      <a:r>
                        <a:rPr lang="en-US" sz="1400"/>
                        <a:t>General Function</a:t>
                      </a:r>
                    </a:p>
                  </a:txBody>
                  <a:tcPr anchor="ctr"/>
                </a:tc>
                <a:extLst>
                  <a:ext uri="{0D108BD9-81ED-4DB2-BD59-A6C34878D82A}">
                    <a16:rowId xmlns:a16="http://schemas.microsoft.com/office/drawing/2014/main" val="3391300796"/>
                  </a:ext>
                </a:extLst>
              </a:tr>
              <a:tr h="370840">
                <a:tc>
                  <a:txBody>
                    <a:bodyPr/>
                    <a:lstStyle/>
                    <a:p>
                      <a:pPr>
                        <a:buNone/>
                      </a:pPr>
                      <a:r>
                        <a:rPr lang="en-US" sz="1400" b="1" dirty="0"/>
                        <a:t>Posterior Pituitary Gland</a:t>
                      </a:r>
                      <a:endParaRPr lang="en-US" sz="1400" dirty="0"/>
                    </a:p>
                  </a:txBody>
                  <a:tcPr anchor="ctr"/>
                </a:tc>
                <a:tc>
                  <a:txBody>
                    <a:bodyPr/>
                    <a:lstStyle/>
                    <a:p>
                      <a:pPr>
                        <a:buNone/>
                      </a:pPr>
                      <a:r>
                        <a:rPr lang="en-US" sz="1400" dirty="0"/>
                        <a:t>Vasopressin</a:t>
                      </a:r>
                    </a:p>
                  </a:txBody>
                  <a:tcPr anchor="ctr"/>
                </a:tc>
                <a:tc>
                  <a:txBody>
                    <a:bodyPr/>
                    <a:lstStyle/>
                    <a:p>
                      <a:pPr>
                        <a:buNone/>
                      </a:pPr>
                      <a:r>
                        <a:rPr lang="en-US" sz="1400"/>
                        <a:t>Peptide hormone</a:t>
                      </a:r>
                    </a:p>
                  </a:txBody>
                  <a:tcPr anchor="ctr"/>
                </a:tc>
                <a:tc>
                  <a:txBody>
                    <a:bodyPr/>
                    <a:lstStyle/>
                    <a:p>
                      <a:pPr>
                        <a:buNone/>
                      </a:pPr>
                      <a:r>
                        <a:rPr lang="en-US" sz="1400" dirty="0"/>
                        <a:t>Water retention and blood pressure regulation</a:t>
                      </a:r>
                    </a:p>
                  </a:txBody>
                  <a:tcPr anchor="ctr"/>
                </a:tc>
                <a:extLst>
                  <a:ext uri="{0D108BD9-81ED-4DB2-BD59-A6C34878D82A}">
                    <a16:rowId xmlns:a16="http://schemas.microsoft.com/office/drawing/2014/main" val="2108123124"/>
                  </a:ext>
                </a:extLst>
              </a:tr>
              <a:tr h="370840">
                <a:tc>
                  <a:txBody>
                    <a:bodyPr/>
                    <a:lstStyle/>
                    <a:p>
                      <a:pPr>
                        <a:buNone/>
                      </a:pPr>
                      <a:r>
                        <a:rPr lang="en-US" sz="1400" b="1" dirty="0"/>
                        <a:t>Posterior Pituitary Gland</a:t>
                      </a:r>
                      <a:endParaRPr lang="en-US" sz="1400" dirty="0"/>
                    </a:p>
                  </a:txBody>
                  <a:tcPr anchor="ctr"/>
                </a:tc>
                <a:tc>
                  <a:txBody>
                    <a:bodyPr/>
                    <a:lstStyle/>
                    <a:p>
                      <a:pPr>
                        <a:buNone/>
                      </a:pPr>
                      <a:r>
                        <a:rPr lang="en-US" sz="1400" dirty="0"/>
                        <a:t>Oxytocin</a:t>
                      </a:r>
                    </a:p>
                  </a:txBody>
                  <a:tcPr anchor="ctr"/>
                </a:tc>
                <a:tc>
                  <a:txBody>
                    <a:bodyPr/>
                    <a:lstStyle/>
                    <a:p>
                      <a:pPr>
                        <a:buNone/>
                      </a:pPr>
                      <a:r>
                        <a:rPr lang="en-US" sz="1400" dirty="0"/>
                        <a:t>Peptide hormone</a:t>
                      </a:r>
                    </a:p>
                  </a:txBody>
                  <a:tcPr anchor="ctr"/>
                </a:tc>
                <a:tc>
                  <a:txBody>
                    <a:bodyPr/>
                    <a:lstStyle/>
                    <a:p>
                      <a:pPr>
                        <a:buNone/>
                      </a:pPr>
                      <a:r>
                        <a:rPr lang="en-US" sz="1400" dirty="0"/>
                        <a:t>Reproduction, parental bonding, and social </a:t>
                      </a:r>
                      <a:r>
                        <a:rPr lang="en-US" sz="1400" dirty="0" err="1"/>
                        <a:t>behaviours</a:t>
                      </a:r>
                      <a:endParaRPr lang="en-US" sz="1400" dirty="0"/>
                    </a:p>
                  </a:txBody>
                  <a:tcPr anchor="ctr"/>
                </a:tc>
                <a:extLst>
                  <a:ext uri="{0D108BD9-81ED-4DB2-BD59-A6C34878D82A}">
                    <a16:rowId xmlns:a16="http://schemas.microsoft.com/office/drawing/2014/main" val="1543028404"/>
                  </a:ext>
                </a:extLst>
              </a:tr>
            </a:tbl>
          </a:graphicData>
        </a:graphic>
      </p:graphicFrame>
    </p:spTree>
    <p:extLst>
      <p:ext uri="{BB962C8B-B14F-4D97-AF65-F5344CB8AC3E}">
        <p14:creationId xmlns:p14="http://schemas.microsoft.com/office/powerpoint/2010/main" val="6963224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9EE1D-F396-D42C-33CF-D262A90387E2}"/>
              </a:ext>
            </a:extLst>
          </p:cNvPr>
          <p:cNvSpPr>
            <a:spLocks noGrp="1"/>
          </p:cNvSpPr>
          <p:nvPr>
            <p:ph type="title"/>
          </p:nvPr>
        </p:nvSpPr>
        <p:spPr/>
        <p:txBody>
          <a:bodyPr/>
          <a:lstStyle/>
          <a:p>
            <a:r>
              <a:rPr lang="en-US" dirty="0"/>
              <a:t>The Pituitary Gland</a:t>
            </a:r>
          </a:p>
        </p:txBody>
      </p:sp>
      <p:sp>
        <p:nvSpPr>
          <p:cNvPr id="3" name="Content Placeholder 2">
            <a:extLst>
              <a:ext uri="{FF2B5EF4-FFF2-40B4-BE49-F238E27FC236}">
                <a16:creationId xmlns:a16="http://schemas.microsoft.com/office/drawing/2014/main" id="{1748D244-697B-06C8-7B30-3040514FDF25}"/>
              </a:ext>
            </a:extLst>
          </p:cNvPr>
          <p:cNvSpPr>
            <a:spLocks noGrp="1"/>
          </p:cNvSpPr>
          <p:nvPr>
            <p:ph idx="1"/>
          </p:nvPr>
        </p:nvSpPr>
        <p:spPr>
          <a:xfrm>
            <a:off x="838200" y="1825625"/>
            <a:ext cx="7090317" cy="4351338"/>
          </a:xfrm>
        </p:spPr>
        <p:txBody>
          <a:bodyPr/>
          <a:lstStyle/>
          <a:p>
            <a:pPr marL="0" indent="0">
              <a:buNone/>
            </a:pPr>
            <a:r>
              <a:rPr lang="en-US" b="1" dirty="0"/>
              <a:t>Pituitary Gland</a:t>
            </a:r>
            <a:r>
              <a:rPr lang="en-US" dirty="0"/>
              <a:t>: Controls hormone release of other endocrine glands</a:t>
            </a:r>
          </a:p>
          <a:p>
            <a:r>
              <a:rPr lang="en-US" dirty="0"/>
              <a:t>Controlled by the </a:t>
            </a:r>
            <a:r>
              <a:rPr lang="en-US" i="1" dirty="0"/>
              <a:t>hypothalamus</a:t>
            </a:r>
          </a:p>
          <a:p>
            <a:r>
              <a:rPr lang="en-US" i="1" dirty="0"/>
              <a:t>Anterior</a:t>
            </a:r>
            <a:r>
              <a:rPr lang="en-US" dirty="0"/>
              <a:t> and </a:t>
            </a:r>
            <a:r>
              <a:rPr lang="en-US" i="1" dirty="0"/>
              <a:t>posterior</a:t>
            </a:r>
            <a:r>
              <a:rPr lang="en-US" dirty="0"/>
              <a:t> portions have different functions</a:t>
            </a:r>
          </a:p>
        </p:txBody>
      </p:sp>
      <p:pic>
        <p:nvPicPr>
          <p:cNvPr id="4" name="Content Placeholder 6" descr="The figure shows hormonal secretion by the posterior pituitary. The figure shown looks like a vertically cut onion shape with its shoots at the top. The right side of the body of the onion is the posterior pituitary. There are capillaries inside wheel shaped meshes in the posterior pituitary. These capillaries combine and end in a tube through which blood flows. The shoot like axons that extend from the capillary all gather to form the pituitary stalk. One set of axons end in bulb shapes that are named Supraoptic nucleus. Another set of Axons end in bulb shapes that are named Paraventricular nucleus. Both types of nucleus are in the Hypothalamus. At the left of the onion shaped neck there is the optic chasm. The capillaries of the posterior pituitary end in a tube at the bottom that releases posterior pituitary hormones such as Oxytocin and Vasopressin. Neuroendocrine cell bodies in the hypothalamus produce oxytocin or vasopressin. Axons from these neurons pass through the pituitary stalk and terminate on the posterior pituitary. When an action potential arrives at a terminal, oxytocin or vasopressin is released from the terminal directly into the bloodstream. An inset map shows all these regions to the top left of the brain stem. ">
            <a:extLst>
              <a:ext uri="{FF2B5EF4-FFF2-40B4-BE49-F238E27FC236}">
                <a16:creationId xmlns:a16="http://schemas.microsoft.com/office/drawing/2014/main" id="{270D77D9-50C4-AD98-A215-79E5D62431BC}"/>
              </a:ext>
            </a:extLst>
          </p:cNvPr>
          <p:cNvPicPr>
            <a:picLocks noChangeAspect="1"/>
          </p:cNvPicPr>
          <p:nvPr/>
        </p:nvPicPr>
        <p:blipFill>
          <a:blip r:embed="rId2"/>
          <a:stretch>
            <a:fillRect/>
          </a:stretch>
        </p:blipFill>
        <p:spPr>
          <a:xfrm>
            <a:off x="8077940" y="278606"/>
            <a:ext cx="3998090" cy="6300788"/>
          </a:xfrm>
          <a:prstGeom prst="rect">
            <a:avLst/>
          </a:prstGeom>
        </p:spPr>
      </p:pic>
    </p:spTree>
    <p:extLst>
      <p:ext uri="{BB962C8B-B14F-4D97-AF65-F5344CB8AC3E}">
        <p14:creationId xmlns:p14="http://schemas.microsoft.com/office/powerpoint/2010/main" val="2795056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15A26-53D7-F9EE-EBB0-1FBB155613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BF5367-40B0-BEA4-B361-93CC5A4FC3D2}"/>
              </a:ext>
            </a:extLst>
          </p:cNvPr>
          <p:cNvSpPr>
            <a:spLocks noGrp="1"/>
          </p:cNvSpPr>
          <p:nvPr>
            <p:ph type="title"/>
          </p:nvPr>
        </p:nvSpPr>
        <p:spPr/>
        <p:txBody>
          <a:bodyPr/>
          <a:lstStyle/>
          <a:p>
            <a:r>
              <a:rPr lang="en-US" dirty="0"/>
              <a:t>The Pituitary Gland</a:t>
            </a:r>
          </a:p>
        </p:txBody>
      </p:sp>
      <p:sp>
        <p:nvSpPr>
          <p:cNvPr id="3" name="Content Placeholder 2">
            <a:extLst>
              <a:ext uri="{FF2B5EF4-FFF2-40B4-BE49-F238E27FC236}">
                <a16:creationId xmlns:a16="http://schemas.microsoft.com/office/drawing/2014/main" id="{6669C858-C2FE-B5B1-9755-517293392C05}"/>
              </a:ext>
            </a:extLst>
          </p:cNvPr>
          <p:cNvSpPr>
            <a:spLocks noGrp="1"/>
          </p:cNvSpPr>
          <p:nvPr>
            <p:ph idx="1"/>
          </p:nvPr>
        </p:nvSpPr>
        <p:spPr>
          <a:xfrm>
            <a:off x="838200" y="1825625"/>
            <a:ext cx="7090317" cy="4351338"/>
          </a:xfrm>
        </p:spPr>
        <p:txBody>
          <a:bodyPr/>
          <a:lstStyle/>
          <a:p>
            <a:pPr marL="0" indent="0">
              <a:buNone/>
            </a:pPr>
            <a:r>
              <a:rPr lang="en-US" b="1" dirty="0"/>
              <a:t>Posterior Pituitary Gland</a:t>
            </a:r>
            <a:r>
              <a:rPr lang="en-US" dirty="0"/>
              <a:t>: Site for the dissemination of vasopressin and oxytocin</a:t>
            </a:r>
          </a:p>
          <a:p>
            <a:r>
              <a:rPr lang="en-US" b="1" dirty="0"/>
              <a:t>Production and release</a:t>
            </a:r>
            <a:r>
              <a:rPr lang="en-US" dirty="0"/>
              <a:t>: These hormones are produced within the hypothalamus and excreted into the bloodstream within this gland</a:t>
            </a:r>
          </a:p>
          <a:p>
            <a:pPr lvl="1"/>
            <a:r>
              <a:rPr lang="en-US" dirty="0"/>
              <a:t>The cell bodies are in the hypothalamus</a:t>
            </a:r>
          </a:p>
          <a:p>
            <a:pPr lvl="1"/>
            <a:r>
              <a:rPr lang="en-US" dirty="0"/>
              <a:t>Axons project into the posterior pituitary </a:t>
            </a:r>
          </a:p>
        </p:txBody>
      </p:sp>
      <p:pic>
        <p:nvPicPr>
          <p:cNvPr id="4" name="Content Placeholder 6" descr="The figure shows hormonal secretion by the posterior pituitary. The figure shown looks like a vertically cut onion shape with its shoots at the top. The right side of the body of the onion is the posterior pituitary. There are capillaries inside wheel shaped meshes in the posterior pituitary. These capillaries combine and end in a tube through which blood flows. The shoot like axons that extend from the capillary all gather to form the pituitary stalk. One set of axons end in bulb shapes that are named Supraoptic nucleus. Another set of Axons end in bulb shapes that are named Paraventricular nucleus. Both types of nucleus are in the Hypothalamus. At the left of the onion shaped neck there is the optic chasm. The capillaries of the posterior pituitary end in a tube at the bottom that releases posterior pituitary hormones such as Oxytocin and Vasopressin. Neuroendocrine cell bodies in the hypothalamus produce oxytocin or vasopressin. Axons from these neurons pass through the pituitary stalk and terminate on the posterior pituitary. When an action potential arrives at a terminal, oxytocin or vasopressin is released from the terminal directly into the bloodstream. An inset map shows all these regions to the top left of the brain stem. ">
            <a:extLst>
              <a:ext uri="{FF2B5EF4-FFF2-40B4-BE49-F238E27FC236}">
                <a16:creationId xmlns:a16="http://schemas.microsoft.com/office/drawing/2014/main" id="{DA527422-9C30-6C6D-6C3E-FE2F5D62ECA1}"/>
              </a:ext>
            </a:extLst>
          </p:cNvPr>
          <p:cNvPicPr>
            <a:picLocks noChangeAspect="1"/>
          </p:cNvPicPr>
          <p:nvPr/>
        </p:nvPicPr>
        <p:blipFill>
          <a:blip r:embed="rId2"/>
          <a:stretch>
            <a:fillRect/>
          </a:stretch>
        </p:blipFill>
        <p:spPr>
          <a:xfrm>
            <a:off x="8077940" y="278606"/>
            <a:ext cx="3998090" cy="6300788"/>
          </a:xfrm>
          <a:prstGeom prst="rect">
            <a:avLst/>
          </a:prstGeom>
        </p:spPr>
      </p:pic>
    </p:spTree>
    <p:extLst>
      <p:ext uri="{BB962C8B-B14F-4D97-AF65-F5344CB8AC3E}">
        <p14:creationId xmlns:p14="http://schemas.microsoft.com/office/powerpoint/2010/main" val="2248060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4F2FB-3D68-0966-C453-5B46975DDB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8311E2-FE37-624A-FE4E-7B8BFD22D571}"/>
              </a:ext>
            </a:extLst>
          </p:cNvPr>
          <p:cNvSpPr>
            <a:spLocks noGrp="1"/>
          </p:cNvSpPr>
          <p:nvPr>
            <p:ph type="title"/>
          </p:nvPr>
        </p:nvSpPr>
        <p:spPr/>
        <p:txBody>
          <a:bodyPr/>
          <a:lstStyle/>
          <a:p>
            <a:r>
              <a:rPr lang="en-US" dirty="0"/>
              <a:t>The Pituitary Gland</a:t>
            </a:r>
          </a:p>
        </p:txBody>
      </p:sp>
      <p:sp>
        <p:nvSpPr>
          <p:cNvPr id="3" name="Content Placeholder 2">
            <a:extLst>
              <a:ext uri="{FF2B5EF4-FFF2-40B4-BE49-F238E27FC236}">
                <a16:creationId xmlns:a16="http://schemas.microsoft.com/office/drawing/2014/main" id="{A897A325-7F4F-5F45-F164-CABA84A35770}"/>
              </a:ext>
            </a:extLst>
          </p:cNvPr>
          <p:cNvSpPr>
            <a:spLocks noGrp="1"/>
          </p:cNvSpPr>
          <p:nvPr>
            <p:ph idx="1"/>
          </p:nvPr>
        </p:nvSpPr>
        <p:spPr>
          <a:xfrm>
            <a:off x="838200" y="1825625"/>
            <a:ext cx="7090317" cy="4351338"/>
          </a:xfrm>
        </p:spPr>
        <p:txBody>
          <a:bodyPr>
            <a:normAutofit/>
          </a:bodyPr>
          <a:lstStyle/>
          <a:p>
            <a:pPr marL="0" indent="0">
              <a:buNone/>
            </a:pPr>
            <a:r>
              <a:rPr lang="en-US" b="1" dirty="0"/>
              <a:t>Posterior Pituitary Gland</a:t>
            </a:r>
            <a:endParaRPr lang="en-US" dirty="0"/>
          </a:p>
          <a:p>
            <a:r>
              <a:rPr lang="en-US" b="1" dirty="0"/>
              <a:t>Vasopressin </a:t>
            </a:r>
            <a:r>
              <a:rPr lang="en-US" dirty="0"/>
              <a:t>(Peptide hormone)</a:t>
            </a:r>
          </a:p>
          <a:p>
            <a:pPr lvl="1"/>
            <a:r>
              <a:rPr lang="en-US" b="1" dirty="0"/>
              <a:t>High concentration</a:t>
            </a:r>
            <a:r>
              <a:rPr lang="en-US" dirty="0"/>
              <a:t>: Constricts blood vessels to help increase blood pressure</a:t>
            </a:r>
          </a:p>
          <a:p>
            <a:pPr lvl="2"/>
            <a:r>
              <a:rPr lang="en-US" dirty="0"/>
              <a:t>Triggered by </a:t>
            </a:r>
            <a:r>
              <a:rPr lang="en-US" i="1" dirty="0"/>
              <a:t>low blood pressure</a:t>
            </a:r>
          </a:p>
          <a:p>
            <a:pPr lvl="2"/>
            <a:r>
              <a:rPr lang="en-US" dirty="0"/>
              <a:t>Ensures that vital organs (e.g., brain) receive sufficient oxygen and nutrients</a:t>
            </a:r>
          </a:p>
        </p:txBody>
      </p:sp>
      <p:pic>
        <p:nvPicPr>
          <p:cNvPr id="4" name="Content Placeholder 6" descr="The figure shows hormonal secretion by the posterior pituitary. The figure shown looks like a vertically cut onion shape with its shoots at the top. The right side of the body of the onion is the posterior pituitary. There are capillaries inside wheel shaped meshes in the posterior pituitary. These capillaries combine and end in a tube through which blood flows. The shoot like axons that extend from the capillary all gather to form the pituitary stalk. One set of axons end in bulb shapes that are named Supraoptic nucleus. Another set of Axons end in bulb shapes that are named Paraventricular nucleus. Both types of nucleus are in the Hypothalamus. At the left of the onion shaped neck there is the optic chasm. The capillaries of the posterior pituitary end in a tube at the bottom that releases posterior pituitary hormones such as Oxytocin and Vasopressin. Neuroendocrine cell bodies in the hypothalamus produce oxytocin or vasopressin. Axons from these neurons pass through the pituitary stalk and terminate on the posterior pituitary. When an action potential arrives at a terminal, oxytocin or vasopressin is released from the terminal directly into the bloodstream. An inset map shows all these regions to the top left of the brain stem. ">
            <a:extLst>
              <a:ext uri="{FF2B5EF4-FFF2-40B4-BE49-F238E27FC236}">
                <a16:creationId xmlns:a16="http://schemas.microsoft.com/office/drawing/2014/main" id="{36D20D4C-7056-E0C0-B4E3-B7CAAA0261B5}"/>
              </a:ext>
            </a:extLst>
          </p:cNvPr>
          <p:cNvPicPr>
            <a:picLocks noChangeAspect="1"/>
          </p:cNvPicPr>
          <p:nvPr/>
        </p:nvPicPr>
        <p:blipFill>
          <a:blip r:embed="rId2"/>
          <a:stretch>
            <a:fillRect/>
          </a:stretch>
        </p:blipFill>
        <p:spPr>
          <a:xfrm>
            <a:off x="8077940" y="278606"/>
            <a:ext cx="3998090" cy="6300788"/>
          </a:xfrm>
          <a:prstGeom prst="rect">
            <a:avLst/>
          </a:prstGeom>
        </p:spPr>
      </p:pic>
    </p:spTree>
    <p:extLst>
      <p:ext uri="{BB962C8B-B14F-4D97-AF65-F5344CB8AC3E}">
        <p14:creationId xmlns:p14="http://schemas.microsoft.com/office/powerpoint/2010/main" val="2884959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EF1DF-8F56-8D35-2BA5-DDEED059ED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68B37F-56CB-E5DB-0E05-46E818E65405}"/>
              </a:ext>
            </a:extLst>
          </p:cNvPr>
          <p:cNvSpPr>
            <a:spLocks noGrp="1"/>
          </p:cNvSpPr>
          <p:nvPr>
            <p:ph type="title"/>
          </p:nvPr>
        </p:nvSpPr>
        <p:spPr/>
        <p:txBody>
          <a:bodyPr/>
          <a:lstStyle/>
          <a:p>
            <a:r>
              <a:rPr lang="en-US" dirty="0"/>
              <a:t>The Pituitary Gland</a:t>
            </a:r>
          </a:p>
        </p:txBody>
      </p:sp>
      <p:sp>
        <p:nvSpPr>
          <p:cNvPr id="3" name="Content Placeholder 2">
            <a:extLst>
              <a:ext uri="{FF2B5EF4-FFF2-40B4-BE49-F238E27FC236}">
                <a16:creationId xmlns:a16="http://schemas.microsoft.com/office/drawing/2014/main" id="{A9636EC3-2D97-6E9D-B760-CE72D0D89A16}"/>
              </a:ext>
            </a:extLst>
          </p:cNvPr>
          <p:cNvSpPr>
            <a:spLocks noGrp="1"/>
          </p:cNvSpPr>
          <p:nvPr>
            <p:ph idx="1"/>
          </p:nvPr>
        </p:nvSpPr>
        <p:spPr>
          <a:xfrm>
            <a:off x="838200" y="1825625"/>
            <a:ext cx="7090317" cy="4351338"/>
          </a:xfrm>
        </p:spPr>
        <p:txBody>
          <a:bodyPr>
            <a:normAutofit/>
          </a:bodyPr>
          <a:lstStyle/>
          <a:p>
            <a:pPr marL="0" indent="0">
              <a:buNone/>
            </a:pPr>
            <a:r>
              <a:rPr lang="en-US" b="1" dirty="0"/>
              <a:t>Posterior Pituitary Gland</a:t>
            </a:r>
            <a:endParaRPr lang="en-US" dirty="0"/>
          </a:p>
          <a:p>
            <a:r>
              <a:rPr lang="en-US" b="1" dirty="0"/>
              <a:t>Vasopressin </a:t>
            </a:r>
            <a:r>
              <a:rPr lang="en-US" dirty="0"/>
              <a:t>(Peptide hormone)</a:t>
            </a:r>
          </a:p>
          <a:p>
            <a:pPr lvl="1"/>
            <a:r>
              <a:rPr lang="en-US" b="1" dirty="0"/>
              <a:t>Low concentration</a:t>
            </a:r>
            <a:r>
              <a:rPr lang="en-US" dirty="0"/>
              <a:t>: Preserves water by increasing water reabsorption in the kidneys, reducing urination</a:t>
            </a:r>
          </a:p>
          <a:p>
            <a:pPr lvl="2"/>
            <a:r>
              <a:rPr lang="en-US" dirty="0"/>
              <a:t>Triggered by </a:t>
            </a:r>
            <a:r>
              <a:rPr lang="en-US" i="1" dirty="0"/>
              <a:t>hypertonicity</a:t>
            </a:r>
            <a:r>
              <a:rPr lang="en-US" dirty="0"/>
              <a:t>, when bodily fluids are too concentrated</a:t>
            </a:r>
          </a:p>
          <a:p>
            <a:pPr lvl="2"/>
            <a:r>
              <a:rPr lang="en-US" dirty="0"/>
              <a:t>Prevents dehydration, which can lead to cell damage and neurological issues</a:t>
            </a:r>
          </a:p>
        </p:txBody>
      </p:sp>
      <p:pic>
        <p:nvPicPr>
          <p:cNvPr id="4" name="Content Placeholder 6" descr="The figure shows hormonal secretion by the posterior pituitary. The figure shown looks like a vertically cut onion shape with its shoots at the top. The right side of the body of the onion is the posterior pituitary. There are capillaries inside wheel shaped meshes in the posterior pituitary. These capillaries combine and end in a tube through which blood flows. The shoot like axons that extend from the capillary all gather to form the pituitary stalk. One set of axons end in bulb shapes that are named Supraoptic nucleus. Another set of Axons end in bulb shapes that are named Paraventricular nucleus. Both types of nucleus are in the Hypothalamus. At the left of the onion shaped neck there is the optic chasm. The capillaries of the posterior pituitary end in a tube at the bottom that releases posterior pituitary hormones such as Oxytocin and Vasopressin. Neuroendocrine cell bodies in the hypothalamus produce oxytocin or vasopressin. Axons from these neurons pass through the pituitary stalk and terminate on the posterior pituitary. When an action potential arrives at a terminal, oxytocin or vasopressin is released from the terminal directly into the bloodstream. An inset map shows all these regions to the top left of the brain stem. ">
            <a:extLst>
              <a:ext uri="{FF2B5EF4-FFF2-40B4-BE49-F238E27FC236}">
                <a16:creationId xmlns:a16="http://schemas.microsoft.com/office/drawing/2014/main" id="{38D9037C-AA4C-019D-1D60-B5076BA3D82C}"/>
              </a:ext>
            </a:extLst>
          </p:cNvPr>
          <p:cNvPicPr>
            <a:picLocks noChangeAspect="1"/>
          </p:cNvPicPr>
          <p:nvPr/>
        </p:nvPicPr>
        <p:blipFill>
          <a:blip r:embed="rId2"/>
          <a:stretch>
            <a:fillRect/>
          </a:stretch>
        </p:blipFill>
        <p:spPr>
          <a:xfrm>
            <a:off x="8077940" y="278606"/>
            <a:ext cx="3998090" cy="6300788"/>
          </a:xfrm>
          <a:prstGeom prst="rect">
            <a:avLst/>
          </a:prstGeom>
        </p:spPr>
      </p:pic>
    </p:spTree>
    <p:extLst>
      <p:ext uri="{BB962C8B-B14F-4D97-AF65-F5344CB8AC3E}">
        <p14:creationId xmlns:p14="http://schemas.microsoft.com/office/powerpoint/2010/main" val="1911544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DCF52-1ECB-E2FC-FBBE-35E25CCE8A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F96414-F60E-CFAF-2615-42F5639E5D52}"/>
              </a:ext>
            </a:extLst>
          </p:cNvPr>
          <p:cNvSpPr>
            <a:spLocks noGrp="1"/>
          </p:cNvSpPr>
          <p:nvPr>
            <p:ph type="title"/>
          </p:nvPr>
        </p:nvSpPr>
        <p:spPr/>
        <p:txBody>
          <a:bodyPr/>
          <a:lstStyle/>
          <a:p>
            <a:r>
              <a:rPr lang="en-US" dirty="0"/>
              <a:t>The Pituitary Gland</a:t>
            </a:r>
          </a:p>
        </p:txBody>
      </p:sp>
      <p:sp>
        <p:nvSpPr>
          <p:cNvPr id="3" name="Content Placeholder 2">
            <a:extLst>
              <a:ext uri="{FF2B5EF4-FFF2-40B4-BE49-F238E27FC236}">
                <a16:creationId xmlns:a16="http://schemas.microsoft.com/office/drawing/2014/main" id="{219C42FA-4F4D-44E8-7F8C-788412728E80}"/>
              </a:ext>
            </a:extLst>
          </p:cNvPr>
          <p:cNvSpPr>
            <a:spLocks noGrp="1"/>
          </p:cNvSpPr>
          <p:nvPr>
            <p:ph idx="1"/>
          </p:nvPr>
        </p:nvSpPr>
        <p:spPr>
          <a:xfrm>
            <a:off x="838200" y="1825625"/>
            <a:ext cx="7090317" cy="4351338"/>
          </a:xfrm>
        </p:spPr>
        <p:txBody>
          <a:bodyPr>
            <a:normAutofit/>
          </a:bodyPr>
          <a:lstStyle/>
          <a:p>
            <a:pPr marL="0" indent="0">
              <a:buNone/>
            </a:pPr>
            <a:r>
              <a:rPr lang="en-US" b="1" dirty="0"/>
              <a:t>Posterior Pituitary Gland</a:t>
            </a:r>
            <a:r>
              <a:rPr lang="en-US" dirty="0"/>
              <a:t>:</a:t>
            </a:r>
          </a:p>
          <a:p>
            <a:r>
              <a:rPr lang="en-US" b="1" dirty="0"/>
              <a:t>Oxytocin </a:t>
            </a:r>
            <a:r>
              <a:rPr lang="en-US" dirty="0"/>
              <a:t>(Peptide hormone)</a:t>
            </a:r>
            <a:endParaRPr lang="en-US" b="1" dirty="0"/>
          </a:p>
          <a:p>
            <a:pPr lvl="1"/>
            <a:r>
              <a:rPr lang="en-US" dirty="0"/>
              <a:t>Influences reproductive, parental, and social </a:t>
            </a:r>
            <a:r>
              <a:rPr lang="en-US" dirty="0" err="1"/>
              <a:t>behaviours</a:t>
            </a:r>
            <a:endParaRPr lang="en-US" dirty="0"/>
          </a:p>
          <a:p>
            <a:pPr lvl="1"/>
            <a:r>
              <a:rPr lang="en-US" dirty="0"/>
              <a:t>Involved in one of the few positive feedback loops in the endocrine system</a:t>
            </a:r>
            <a:endParaRPr lang="en-US" i="1" dirty="0"/>
          </a:p>
        </p:txBody>
      </p:sp>
      <p:pic>
        <p:nvPicPr>
          <p:cNvPr id="4" name="Content Placeholder 6" descr="The figure shows hormonal secretion by the posterior pituitary. The figure shown looks like a vertically cut onion shape with its shoots at the top. The right side of the body of the onion is the posterior pituitary. There are capillaries inside wheel shaped meshes in the posterior pituitary. These capillaries combine and end in a tube through which blood flows. The shoot like axons that extend from the capillary all gather to form the pituitary stalk. One set of axons end in bulb shapes that are named Supraoptic nucleus. Another set of Axons end in bulb shapes that are named Paraventricular nucleus. Both types of nucleus are in the Hypothalamus. At the left of the onion shaped neck there is the optic chasm. The capillaries of the posterior pituitary end in a tube at the bottom that releases posterior pituitary hormones such as Oxytocin and Vasopressin. Neuroendocrine cell bodies in the hypothalamus produce oxytocin or vasopressin. Axons from these neurons pass through the pituitary stalk and terminate on the posterior pituitary. When an action potential arrives at a terminal, oxytocin or vasopressin is released from the terminal directly into the bloodstream. An inset map shows all these regions to the top left of the brain stem. ">
            <a:extLst>
              <a:ext uri="{FF2B5EF4-FFF2-40B4-BE49-F238E27FC236}">
                <a16:creationId xmlns:a16="http://schemas.microsoft.com/office/drawing/2014/main" id="{C30A4E9E-6F53-77E6-C662-0C773475BB53}"/>
              </a:ext>
            </a:extLst>
          </p:cNvPr>
          <p:cNvPicPr>
            <a:picLocks noChangeAspect="1"/>
          </p:cNvPicPr>
          <p:nvPr/>
        </p:nvPicPr>
        <p:blipFill>
          <a:blip r:embed="rId2"/>
          <a:stretch>
            <a:fillRect/>
          </a:stretch>
        </p:blipFill>
        <p:spPr>
          <a:xfrm>
            <a:off x="8077940" y="278606"/>
            <a:ext cx="3998090" cy="6300788"/>
          </a:xfrm>
          <a:prstGeom prst="rect">
            <a:avLst/>
          </a:prstGeom>
        </p:spPr>
      </p:pic>
    </p:spTree>
    <p:extLst>
      <p:ext uri="{BB962C8B-B14F-4D97-AF65-F5344CB8AC3E}">
        <p14:creationId xmlns:p14="http://schemas.microsoft.com/office/powerpoint/2010/main" val="1765220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DCF52-1ECB-E2FC-FBBE-35E25CCE8A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F96414-F60E-CFAF-2615-42F5639E5D52}"/>
              </a:ext>
            </a:extLst>
          </p:cNvPr>
          <p:cNvSpPr>
            <a:spLocks noGrp="1"/>
          </p:cNvSpPr>
          <p:nvPr>
            <p:ph type="title"/>
          </p:nvPr>
        </p:nvSpPr>
        <p:spPr/>
        <p:txBody>
          <a:bodyPr/>
          <a:lstStyle/>
          <a:p>
            <a:r>
              <a:rPr lang="en-US" dirty="0"/>
              <a:t>The Pituitary Gland</a:t>
            </a:r>
          </a:p>
        </p:txBody>
      </p:sp>
      <p:sp>
        <p:nvSpPr>
          <p:cNvPr id="3" name="Content Placeholder 2">
            <a:extLst>
              <a:ext uri="{FF2B5EF4-FFF2-40B4-BE49-F238E27FC236}">
                <a16:creationId xmlns:a16="http://schemas.microsoft.com/office/drawing/2014/main" id="{219C42FA-4F4D-44E8-7F8C-788412728E80}"/>
              </a:ext>
            </a:extLst>
          </p:cNvPr>
          <p:cNvSpPr>
            <a:spLocks noGrp="1"/>
          </p:cNvSpPr>
          <p:nvPr>
            <p:ph idx="1"/>
          </p:nvPr>
        </p:nvSpPr>
        <p:spPr>
          <a:xfrm>
            <a:off x="838200" y="1825625"/>
            <a:ext cx="7090317" cy="4351338"/>
          </a:xfrm>
        </p:spPr>
        <p:txBody>
          <a:bodyPr>
            <a:normAutofit/>
          </a:bodyPr>
          <a:lstStyle/>
          <a:p>
            <a:pPr marL="0" indent="0">
              <a:buNone/>
            </a:pPr>
            <a:r>
              <a:rPr lang="en-US" b="1" dirty="0"/>
              <a:t>Posterior Pituitary Gland</a:t>
            </a:r>
            <a:r>
              <a:rPr lang="en-US" dirty="0"/>
              <a:t>:</a:t>
            </a:r>
          </a:p>
          <a:p>
            <a:r>
              <a:rPr lang="en-US" b="1" dirty="0"/>
              <a:t>Oxytocin</a:t>
            </a:r>
          </a:p>
          <a:p>
            <a:pPr lvl="1"/>
            <a:r>
              <a:rPr lang="en-US" b="1" dirty="0"/>
              <a:t>Maternal</a:t>
            </a:r>
            <a:r>
              <a:rPr lang="en-US" dirty="0"/>
              <a:t>: Contractions during childbirth and milk let-down</a:t>
            </a:r>
          </a:p>
          <a:p>
            <a:pPr lvl="2"/>
            <a:r>
              <a:rPr lang="en-US" dirty="0"/>
              <a:t>Triggered by internal (e.g., fetus movement) and external (e.g., baby crying) factors </a:t>
            </a:r>
          </a:p>
          <a:p>
            <a:pPr lvl="2"/>
            <a:endParaRPr lang="en-US" dirty="0"/>
          </a:p>
          <a:p>
            <a:pPr lvl="1"/>
            <a:r>
              <a:rPr lang="en-US" b="1" dirty="0"/>
              <a:t>Paternal</a:t>
            </a:r>
            <a:r>
              <a:rPr lang="en-US" dirty="0"/>
              <a:t>: Promotes ejaculation </a:t>
            </a:r>
          </a:p>
          <a:p>
            <a:pPr lvl="2"/>
            <a:r>
              <a:rPr lang="en-US" dirty="0"/>
              <a:t>Triggered by sexual arousal</a:t>
            </a:r>
          </a:p>
        </p:txBody>
      </p:sp>
      <p:pic>
        <p:nvPicPr>
          <p:cNvPr id="4" name="Content Placeholder 6" descr="The figure shows hormonal secretion by the posterior pituitary. The figure shown looks like a vertically cut onion shape with its shoots at the top. The right side of the body of the onion is the posterior pituitary. There are capillaries inside wheel shaped meshes in the posterior pituitary. These capillaries combine and end in a tube through which blood flows. The shoot like axons that extend from the capillary all gather to form the pituitary stalk. One set of axons end in bulb shapes that are named Supraoptic nucleus. Another set of Axons end in bulb shapes that are named Paraventricular nucleus. Both types of nucleus are in the Hypothalamus. At the left of the onion shaped neck there is the optic chasm. The capillaries of the posterior pituitary end in a tube at the bottom that releases posterior pituitary hormones such as Oxytocin and Vasopressin. Neuroendocrine cell bodies in the hypothalamus produce oxytocin or vasopressin. Axons from these neurons pass through the pituitary stalk and terminate on the posterior pituitary. When an action potential arrives at a terminal, oxytocin or vasopressin is released from the terminal directly into the bloodstream. An inset map shows all these regions to the top left of the brain stem. ">
            <a:extLst>
              <a:ext uri="{FF2B5EF4-FFF2-40B4-BE49-F238E27FC236}">
                <a16:creationId xmlns:a16="http://schemas.microsoft.com/office/drawing/2014/main" id="{C30A4E9E-6F53-77E6-C662-0C773475BB53}"/>
              </a:ext>
            </a:extLst>
          </p:cNvPr>
          <p:cNvPicPr>
            <a:picLocks noChangeAspect="1"/>
          </p:cNvPicPr>
          <p:nvPr/>
        </p:nvPicPr>
        <p:blipFill>
          <a:blip r:embed="rId2"/>
          <a:stretch>
            <a:fillRect/>
          </a:stretch>
        </p:blipFill>
        <p:spPr>
          <a:xfrm>
            <a:off x="8077940" y="278606"/>
            <a:ext cx="3998090" cy="6300788"/>
          </a:xfrm>
          <a:prstGeom prst="rect">
            <a:avLst/>
          </a:prstGeom>
        </p:spPr>
      </p:pic>
    </p:spTree>
    <p:extLst>
      <p:ext uri="{BB962C8B-B14F-4D97-AF65-F5344CB8AC3E}">
        <p14:creationId xmlns:p14="http://schemas.microsoft.com/office/powerpoint/2010/main" val="2352589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4332A-EED1-B8DA-B4F5-325CE7E4E4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80634D-19F0-4557-1474-DFFCF6DB64D2}"/>
              </a:ext>
            </a:extLst>
          </p:cNvPr>
          <p:cNvSpPr>
            <a:spLocks noGrp="1"/>
          </p:cNvSpPr>
          <p:nvPr>
            <p:ph type="title"/>
          </p:nvPr>
        </p:nvSpPr>
        <p:spPr/>
        <p:txBody>
          <a:bodyPr/>
          <a:lstStyle/>
          <a:p>
            <a:r>
              <a:rPr lang="en-US" dirty="0"/>
              <a:t>The Pituitary Gland</a:t>
            </a:r>
          </a:p>
        </p:txBody>
      </p:sp>
      <p:sp>
        <p:nvSpPr>
          <p:cNvPr id="3" name="Content Placeholder 2">
            <a:extLst>
              <a:ext uri="{FF2B5EF4-FFF2-40B4-BE49-F238E27FC236}">
                <a16:creationId xmlns:a16="http://schemas.microsoft.com/office/drawing/2014/main" id="{C150E3D1-A2A3-CF37-A55F-B58A278EF235}"/>
              </a:ext>
            </a:extLst>
          </p:cNvPr>
          <p:cNvSpPr>
            <a:spLocks noGrp="1"/>
          </p:cNvSpPr>
          <p:nvPr>
            <p:ph idx="1"/>
          </p:nvPr>
        </p:nvSpPr>
        <p:spPr>
          <a:xfrm>
            <a:off x="838200" y="1825625"/>
            <a:ext cx="7090317" cy="4351338"/>
          </a:xfrm>
        </p:spPr>
        <p:txBody>
          <a:bodyPr>
            <a:normAutofit/>
          </a:bodyPr>
          <a:lstStyle/>
          <a:p>
            <a:pPr marL="0" indent="0">
              <a:buNone/>
            </a:pPr>
            <a:r>
              <a:rPr lang="en-US" b="1" dirty="0"/>
              <a:t>Posterior Pituitary Gland</a:t>
            </a:r>
            <a:r>
              <a:rPr lang="en-US" dirty="0"/>
              <a:t>:</a:t>
            </a:r>
          </a:p>
          <a:p>
            <a:r>
              <a:rPr lang="en-US" b="1" dirty="0"/>
              <a:t>Oxytocin</a:t>
            </a:r>
          </a:p>
          <a:p>
            <a:pPr lvl="1"/>
            <a:r>
              <a:rPr lang="en-US" b="1" dirty="0"/>
              <a:t>Parental: </a:t>
            </a:r>
            <a:r>
              <a:rPr lang="en-US" dirty="0"/>
              <a:t>Supports parent-infant bonding</a:t>
            </a:r>
          </a:p>
          <a:p>
            <a:pPr lvl="2"/>
            <a:r>
              <a:rPr lang="en-US" dirty="0"/>
              <a:t>Triggered by social interactions and physical contact</a:t>
            </a:r>
          </a:p>
          <a:p>
            <a:pPr lvl="2"/>
            <a:endParaRPr lang="en-US" dirty="0"/>
          </a:p>
          <a:p>
            <a:pPr lvl="1"/>
            <a:r>
              <a:rPr lang="en-US" b="1" dirty="0"/>
              <a:t>Social Bonding: </a:t>
            </a:r>
            <a:r>
              <a:rPr lang="en-US" dirty="0"/>
              <a:t>Romantic attachment, trust, sexual arousal and orgasm</a:t>
            </a:r>
          </a:p>
          <a:p>
            <a:pPr lvl="2"/>
            <a:r>
              <a:rPr lang="en-US" dirty="0"/>
              <a:t>Triggered by physical touch (e.g., hugging)</a:t>
            </a:r>
          </a:p>
          <a:p>
            <a:pPr lvl="2"/>
            <a:endParaRPr lang="en-US" dirty="0"/>
          </a:p>
        </p:txBody>
      </p:sp>
      <p:pic>
        <p:nvPicPr>
          <p:cNvPr id="4" name="Content Placeholder 6" descr="The figure shows hormonal secretion by the posterior pituitary. The figure shown looks like a vertically cut onion shape with its shoots at the top. The right side of the body of the onion is the posterior pituitary. There are capillaries inside wheel shaped meshes in the posterior pituitary. These capillaries combine and end in a tube through which blood flows. The shoot like axons that extend from the capillary all gather to form the pituitary stalk. One set of axons end in bulb shapes that are named Supraoptic nucleus. Another set of Axons end in bulb shapes that are named Paraventricular nucleus. Both types of nucleus are in the Hypothalamus. At the left of the onion shaped neck there is the optic chasm. The capillaries of the posterior pituitary end in a tube at the bottom that releases posterior pituitary hormones such as Oxytocin and Vasopressin. Neuroendocrine cell bodies in the hypothalamus produce oxytocin or vasopressin. Axons from these neurons pass through the pituitary stalk and terminate on the posterior pituitary. When an action potential arrives at a terminal, oxytocin or vasopressin is released from the terminal directly into the bloodstream. An inset map shows all these regions to the top left of the brain stem. ">
            <a:extLst>
              <a:ext uri="{FF2B5EF4-FFF2-40B4-BE49-F238E27FC236}">
                <a16:creationId xmlns:a16="http://schemas.microsoft.com/office/drawing/2014/main" id="{21CD0894-9E11-96E8-DEE7-26396DA491EE}"/>
              </a:ext>
            </a:extLst>
          </p:cNvPr>
          <p:cNvPicPr>
            <a:picLocks noChangeAspect="1"/>
          </p:cNvPicPr>
          <p:nvPr/>
        </p:nvPicPr>
        <p:blipFill>
          <a:blip r:embed="rId2"/>
          <a:stretch>
            <a:fillRect/>
          </a:stretch>
        </p:blipFill>
        <p:spPr>
          <a:xfrm>
            <a:off x="8077940" y="278606"/>
            <a:ext cx="3998090" cy="6300788"/>
          </a:xfrm>
          <a:prstGeom prst="rect">
            <a:avLst/>
          </a:prstGeom>
        </p:spPr>
      </p:pic>
    </p:spTree>
    <p:extLst>
      <p:ext uri="{BB962C8B-B14F-4D97-AF65-F5344CB8AC3E}">
        <p14:creationId xmlns:p14="http://schemas.microsoft.com/office/powerpoint/2010/main" val="691977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6CF8A-EAE2-968E-6982-8F8E768CB9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6B2F13-D01A-8332-7804-E5231203A6EF}"/>
              </a:ext>
            </a:extLst>
          </p:cNvPr>
          <p:cNvSpPr>
            <a:spLocks noGrp="1"/>
          </p:cNvSpPr>
          <p:nvPr>
            <p:ph type="title"/>
          </p:nvPr>
        </p:nvSpPr>
        <p:spPr/>
        <p:txBody>
          <a:bodyPr/>
          <a:lstStyle/>
          <a:p>
            <a:r>
              <a:rPr lang="en-US" dirty="0"/>
              <a:t>The Pituitary Gland</a:t>
            </a:r>
          </a:p>
        </p:txBody>
      </p:sp>
      <p:sp>
        <p:nvSpPr>
          <p:cNvPr id="3" name="Content Placeholder 2">
            <a:extLst>
              <a:ext uri="{FF2B5EF4-FFF2-40B4-BE49-F238E27FC236}">
                <a16:creationId xmlns:a16="http://schemas.microsoft.com/office/drawing/2014/main" id="{D8C83C9B-ABB8-862C-DC5B-D731E40B8E41}"/>
              </a:ext>
            </a:extLst>
          </p:cNvPr>
          <p:cNvSpPr>
            <a:spLocks noGrp="1"/>
          </p:cNvSpPr>
          <p:nvPr>
            <p:ph idx="1"/>
          </p:nvPr>
        </p:nvSpPr>
        <p:spPr>
          <a:xfrm>
            <a:off x="838200" y="1825625"/>
            <a:ext cx="6905263" cy="4667250"/>
          </a:xfrm>
        </p:spPr>
        <p:txBody>
          <a:bodyPr>
            <a:normAutofit fontScale="92500" lnSpcReduction="10000"/>
          </a:bodyPr>
          <a:lstStyle/>
          <a:p>
            <a:pPr marL="0" indent="0">
              <a:buNone/>
            </a:pPr>
            <a:r>
              <a:rPr lang="en-US" b="1" dirty="0"/>
              <a:t>Tang et al., 2020</a:t>
            </a:r>
          </a:p>
          <a:p>
            <a:r>
              <a:rPr lang="en-US" b="1" dirty="0"/>
              <a:t>Research Question</a:t>
            </a:r>
          </a:p>
          <a:p>
            <a:pPr lvl="1"/>
            <a:r>
              <a:rPr lang="en-US" dirty="0"/>
              <a:t>Is the enhancement of communication through social touch in female rats mediated by parvocellular oxytocin neurons?</a:t>
            </a:r>
          </a:p>
          <a:p>
            <a:pPr lvl="1"/>
            <a:endParaRPr lang="en-US" b="1" dirty="0"/>
          </a:p>
          <a:p>
            <a:r>
              <a:rPr lang="en-US" b="1" dirty="0"/>
              <a:t>Method</a:t>
            </a:r>
          </a:p>
          <a:p>
            <a:pPr lvl="1"/>
            <a:r>
              <a:rPr lang="en-US" dirty="0"/>
              <a:t>Optogenetic tools were applied to selectively activate or inhibit specific OT neuron populations</a:t>
            </a:r>
          </a:p>
          <a:p>
            <a:pPr lvl="2"/>
            <a:r>
              <a:rPr lang="en-US" dirty="0"/>
              <a:t>Optogenetics: Control neurons using light</a:t>
            </a:r>
          </a:p>
          <a:p>
            <a:pPr lvl="1"/>
            <a:r>
              <a:rPr lang="en-US" dirty="0"/>
              <a:t>Rats were placed into a social interaction environment and observed in terms of the time spent interacting</a:t>
            </a:r>
            <a:br>
              <a:rPr lang="en-US" dirty="0"/>
            </a:br>
            <a:endParaRPr lang="en-US" dirty="0"/>
          </a:p>
          <a:p>
            <a:pPr lvl="2"/>
            <a:endParaRPr lang="en-US" dirty="0"/>
          </a:p>
          <a:p>
            <a:pPr lvl="2"/>
            <a:endParaRPr lang="en-US" b="1" dirty="0"/>
          </a:p>
          <a:p>
            <a:endParaRPr lang="en-US" dirty="0"/>
          </a:p>
        </p:txBody>
      </p:sp>
      <p:pic>
        <p:nvPicPr>
          <p:cNvPr id="6" name="Picture 5">
            <a:extLst>
              <a:ext uri="{FF2B5EF4-FFF2-40B4-BE49-F238E27FC236}">
                <a16:creationId xmlns:a16="http://schemas.microsoft.com/office/drawing/2014/main" id="{58EBE91E-41F3-BBB7-6DF3-97F80747EA47}"/>
              </a:ext>
            </a:extLst>
          </p:cNvPr>
          <p:cNvPicPr>
            <a:picLocks noChangeAspect="1"/>
          </p:cNvPicPr>
          <p:nvPr/>
        </p:nvPicPr>
        <p:blipFill>
          <a:blip r:embed="rId2"/>
          <a:stretch>
            <a:fillRect/>
          </a:stretch>
        </p:blipFill>
        <p:spPr>
          <a:xfrm>
            <a:off x="7679803" y="167992"/>
            <a:ext cx="4016969" cy="6690008"/>
          </a:xfrm>
          <a:prstGeom prst="rect">
            <a:avLst/>
          </a:prstGeom>
        </p:spPr>
      </p:pic>
    </p:spTree>
    <p:extLst>
      <p:ext uri="{BB962C8B-B14F-4D97-AF65-F5344CB8AC3E}">
        <p14:creationId xmlns:p14="http://schemas.microsoft.com/office/powerpoint/2010/main" val="1213695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C4BF2-2578-9981-F341-54DC9FD8A1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CCFD9B-4A2B-B288-D65D-7E5FFFFA0D45}"/>
              </a:ext>
            </a:extLst>
          </p:cNvPr>
          <p:cNvSpPr>
            <a:spLocks noGrp="1"/>
          </p:cNvSpPr>
          <p:nvPr>
            <p:ph type="title"/>
          </p:nvPr>
        </p:nvSpPr>
        <p:spPr/>
        <p:txBody>
          <a:bodyPr/>
          <a:lstStyle/>
          <a:p>
            <a:r>
              <a:rPr lang="en-US" dirty="0"/>
              <a:t>The Pituitary Gland</a:t>
            </a:r>
          </a:p>
        </p:txBody>
      </p:sp>
      <p:sp>
        <p:nvSpPr>
          <p:cNvPr id="3" name="Content Placeholder 2">
            <a:extLst>
              <a:ext uri="{FF2B5EF4-FFF2-40B4-BE49-F238E27FC236}">
                <a16:creationId xmlns:a16="http://schemas.microsoft.com/office/drawing/2014/main" id="{48D93157-E991-4EB0-2F91-CFEB4961987F}"/>
              </a:ext>
            </a:extLst>
          </p:cNvPr>
          <p:cNvSpPr>
            <a:spLocks noGrp="1"/>
          </p:cNvSpPr>
          <p:nvPr>
            <p:ph idx="1"/>
          </p:nvPr>
        </p:nvSpPr>
        <p:spPr>
          <a:xfrm>
            <a:off x="838200" y="1825625"/>
            <a:ext cx="6905263" cy="4351338"/>
          </a:xfrm>
        </p:spPr>
        <p:txBody>
          <a:bodyPr>
            <a:normAutofit/>
          </a:bodyPr>
          <a:lstStyle/>
          <a:p>
            <a:pPr marL="0" indent="0">
              <a:buNone/>
            </a:pPr>
            <a:r>
              <a:rPr lang="en-US" b="1" dirty="0"/>
              <a:t>Tang et al., 2020</a:t>
            </a:r>
          </a:p>
          <a:p>
            <a:r>
              <a:rPr lang="en-US" b="1" dirty="0"/>
              <a:t>Manipulation</a:t>
            </a:r>
          </a:p>
          <a:p>
            <a:pPr lvl="1"/>
            <a:r>
              <a:rPr lang="en-US" dirty="0"/>
              <a:t>Healthy controls (saline)</a:t>
            </a:r>
          </a:p>
          <a:p>
            <a:pPr lvl="1"/>
            <a:r>
              <a:rPr lang="en-US" dirty="0"/>
              <a:t>Inhibition of OT neurons (CNO)</a:t>
            </a:r>
          </a:p>
          <a:p>
            <a:pPr lvl="1"/>
            <a:r>
              <a:rPr lang="en-US" dirty="0"/>
              <a:t>Excitation of OT neurons (CNO)</a:t>
            </a:r>
          </a:p>
          <a:p>
            <a:pPr lvl="1"/>
            <a:endParaRPr lang="en-US" b="1" dirty="0"/>
          </a:p>
          <a:p>
            <a:r>
              <a:rPr lang="en-US" b="1" dirty="0"/>
              <a:t>Dependent Variable</a:t>
            </a:r>
          </a:p>
          <a:p>
            <a:pPr lvl="1"/>
            <a:r>
              <a:rPr lang="en-US" dirty="0"/>
              <a:t>The percentage of time spent interacting</a:t>
            </a:r>
          </a:p>
          <a:p>
            <a:pPr lvl="2"/>
            <a:endParaRPr lang="en-US" dirty="0"/>
          </a:p>
          <a:p>
            <a:pPr lvl="2"/>
            <a:endParaRPr lang="en-US" b="1" dirty="0"/>
          </a:p>
          <a:p>
            <a:endParaRPr lang="en-US" dirty="0"/>
          </a:p>
        </p:txBody>
      </p:sp>
      <p:pic>
        <p:nvPicPr>
          <p:cNvPr id="6" name="Picture 5">
            <a:extLst>
              <a:ext uri="{FF2B5EF4-FFF2-40B4-BE49-F238E27FC236}">
                <a16:creationId xmlns:a16="http://schemas.microsoft.com/office/drawing/2014/main" id="{C8713128-BD55-E10A-51FC-9C7191CFA9F6}"/>
              </a:ext>
            </a:extLst>
          </p:cNvPr>
          <p:cNvPicPr>
            <a:picLocks noChangeAspect="1"/>
          </p:cNvPicPr>
          <p:nvPr/>
        </p:nvPicPr>
        <p:blipFill>
          <a:blip r:embed="rId2"/>
          <a:stretch>
            <a:fillRect/>
          </a:stretch>
        </p:blipFill>
        <p:spPr>
          <a:xfrm>
            <a:off x="7679803" y="167992"/>
            <a:ext cx="4016969" cy="6690008"/>
          </a:xfrm>
          <a:prstGeom prst="rect">
            <a:avLst/>
          </a:prstGeom>
        </p:spPr>
      </p:pic>
    </p:spTree>
    <p:extLst>
      <p:ext uri="{BB962C8B-B14F-4D97-AF65-F5344CB8AC3E}">
        <p14:creationId xmlns:p14="http://schemas.microsoft.com/office/powerpoint/2010/main" val="919306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2B733-D6DE-59E4-099E-E07D7C2094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E956BA-FE8B-CE00-D148-AEED27456B62}"/>
              </a:ext>
            </a:extLst>
          </p:cNvPr>
          <p:cNvSpPr>
            <a:spLocks noGrp="1"/>
          </p:cNvSpPr>
          <p:nvPr>
            <p:ph type="title"/>
          </p:nvPr>
        </p:nvSpPr>
        <p:spPr/>
        <p:txBody>
          <a:bodyPr/>
          <a:lstStyle/>
          <a:p>
            <a:r>
              <a:rPr lang="en-US" dirty="0"/>
              <a:t>The Pituitary Gland</a:t>
            </a:r>
          </a:p>
        </p:txBody>
      </p:sp>
      <p:sp>
        <p:nvSpPr>
          <p:cNvPr id="3" name="Content Placeholder 2">
            <a:extLst>
              <a:ext uri="{FF2B5EF4-FFF2-40B4-BE49-F238E27FC236}">
                <a16:creationId xmlns:a16="http://schemas.microsoft.com/office/drawing/2014/main" id="{E79D76AF-92C6-975A-61BB-132B385AAD5C}"/>
              </a:ext>
            </a:extLst>
          </p:cNvPr>
          <p:cNvSpPr>
            <a:spLocks noGrp="1"/>
          </p:cNvSpPr>
          <p:nvPr>
            <p:ph idx="1"/>
          </p:nvPr>
        </p:nvSpPr>
        <p:spPr>
          <a:xfrm>
            <a:off x="838200" y="1825624"/>
            <a:ext cx="6905263" cy="4864383"/>
          </a:xfrm>
        </p:spPr>
        <p:txBody>
          <a:bodyPr>
            <a:normAutofit lnSpcReduction="10000"/>
          </a:bodyPr>
          <a:lstStyle/>
          <a:p>
            <a:pPr marL="0" indent="0">
              <a:buNone/>
            </a:pPr>
            <a:r>
              <a:rPr lang="en-US" b="1" dirty="0"/>
              <a:t>Tang et al., 2020</a:t>
            </a:r>
          </a:p>
          <a:p>
            <a:r>
              <a:rPr lang="en-US" b="1" dirty="0"/>
              <a:t>Results</a:t>
            </a:r>
          </a:p>
          <a:p>
            <a:pPr lvl="1"/>
            <a:r>
              <a:rPr lang="en-US" dirty="0"/>
              <a:t>Inhibiting OT neurons reduced time interacting</a:t>
            </a:r>
          </a:p>
          <a:p>
            <a:pPr lvl="1"/>
            <a:r>
              <a:rPr lang="en-US" dirty="0"/>
              <a:t>Exciting OT neurons increased time interacting</a:t>
            </a:r>
          </a:p>
          <a:p>
            <a:pPr lvl="2"/>
            <a:r>
              <a:rPr lang="en-US" dirty="0"/>
              <a:t>Although to a lesser degree</a:t>
            </a:r>
          </a:p>
          <a:p>
            <a:pPr lvl="2"/>
            <a:endParaRPr lang="en-US" dirty="0"/>
          </a:p>
          <a:p>
            <a:r>
              <a:rPr lang="en-US" b="1" dirty="0"/>
              <a:t>Conclusion</a:t>
            </a:r>
          </a:p>
          <a:p>
            <a:pPr lvl="1"/>
            <a:r>
              <a:rPr lang="en-US" dirty="0"/>
              <a:t>Parvocellular OT neurons play a key role in the </a:t>
            </a:r>
            <a:r>
              <a:rPr lang="en-US" i="1" dirty="0"/>
              <a:t>positive feedback loop</a:t>
            </a:r>
          </a:p>
          <a:p>
            <a:pPr lvl="2"/>
            <a:r>
              <a:rPr lang="en-US" dirty="0"/>
              <a:t>They are activated by physical touch, which leads to more OT, which in turn leads to more touch</a:t>
            </a:r>
          </a:p>
          <a:p>
            <a:pPr lvl="1"/>
            <a:endParaRPr lang="en-US" dirty="0"/>
          </a:p>
          <a:p>
            <a:pPr marL="457200" lvl="1" indent="0">
              <a:buNone/>
            </a:pPr>
            <a:endParaRPr lang="en-US" dirty="0"/>
          </a:p>
          <a:p>
            <a:pPr lvl="2"/>
            <a:endParaRPr lang="en-US" dirty="0"/>
          </a:p>
          <a:p>
            <a:pPr lvl="2"/>
            <a:endParaRPr lang="en-US" b="1" dirty="0"/>
          </a:p>
          <a:p>
            <a:endParaRPr lang="en-US" dirty="0"/>
          </a:p>
        </p:txBody>
      </p:sp>
      <p:pic>
        <p:nvPicPr>
          <p:cNvPr id="6" name="Picture 5">
            <a:extLst>
              <a:ext uri="{FF2B5EF4-FFF2-40B4-BE49-F238E27FC236}">
                <a16:creationId xmlns:a16="http://schemas.microsoft.com/office/drawing/2014/main" id="{C7A70618-0AAA-20D7-92BF-10A7DA05AD11}"/>
              </a:ext>
            </a:extLst>
          </p:cNvPr>
          <p:cNvPicPr>
            <a:picLocks noChangeAspect="1"/>
          </p:cNvPicPr>
          <p:nvPr/>
        </p:nvPicPr>
        <p:blipFill>
          <a:blip r:embed="rId2"/>
          <a:stretch>
            <a:fillRect/>
          </a:stretch>
        </p:blipFill>
        <p:spPr>
          <a:xfrm>
            <a:off x="7679803" y="167992"/>
            <a:ext cx="4016969" cy="6690008"/>
          </a:xfrm>
          <a:prstGeom prst="rect">
            <a:avLst/>
          </a:prstGeom>
        </p:spPr>
      </p:pic>
    </p:spTree>
    <p:extLst>
      <p:ext uri="{BB962C8B-B14F-4D97-AF65-F5344CB8AC3E}">
        <p14:creationId xmlns:p14="http://schemas.microsoft.com/office/powerpoint/2010/main" val="882159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FFA51-1C6C-3668-DF63-1A25925DF004}"/>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4708E292-7E9B-B613-6329-31921E6F1DFB}"/>
              </a:ext>
            </a:extLst>
          </p:cNvPr>
          <p:cNvGraphicFramePr>
            <a:graphicFrameLocks noGrp="1"/>
          </p:cNvGraphicFramePr>
          <p:nvPr>
            <p:ph idx="1"/>
            <p:extLst>
              <p:ext uri="{D42A27DB-BD31-4B8C-83A1-F6EECF244321}">
                <p14:modId xmlns:p14="http://schemas.microsoft.com/office/powerpoint/2010/main" val="2816137999"/>
              </p:ext>
            </p:extLst>
          </p:nvPr>
        </p:nvGraphicFramePr>
        <p:xfrm>
          <a:off x="838200" y="406400"/>
          <a:ext cx="10515600" cy="140716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2871487830"/>
                    </a:ext>
                  </a:extLst>
                </a:gridCol>
                <a:gridCol w="2628900">
                  <a:extLst>
                    <a:ext uri="{9D8B030D-6E8A-4147-A177-3AD203B41FA5}">
                      <a16:colId xmlns:a16="http://schemas.microsoft.com/office/drawing/2014/main" val="3189783107"/>
                    </a:ext>
                  </a:extLst>
                </a:gridCol>
                <a:gridCol w="2628900">
                  <a:extLst>
                    <a:ext uri="{9D8B030D-6E8A-4147-A177-3AD203B41FA5}">
                      <a16:colId xmlns:a16="http://schemas.microsoft.com/office/drawing/2014/main" val="1007210174"/>
                    </a:ext>
                  </a:extLst>
                </a:gridCol>
                <a:gridCol w="2628900">
                  <a:extLst>
                    <a:ext uri="{9D8B030D-6E8A-4147-A177-3AD203B41FA5}">
                      <a16:colId xmlns:a16="http://schemas.microsoft.com/office/drawing/2014/main" val="2360942072"/>
                    </a:ext>
                  </a:extLst>
                </a:gridCol>
              </a:tblGrid>
              <a:tr h="370840">
                <a:tc>
                  <a:txBody>
                    <a:bodyPr/>
                    <a:lstStyle/>
                    <a:p>
                      <a:pPr>
                        <a:buNone/>
                      </a:pPr>
                      <a:r>
                        <a:rPr lang="en-US" sz="1400"/>
                        <a:t>Structure</a:t>
                      </a:r>
                    </a:p>
                  </a:txBody>
                  <a:tcPr anchor="ctr"/>
                </a:tc>
                <a:tc>
                  <a:txBody>
                    <a:bodyPr/>
                    <a:lstStyle/>
                    <a:p>
                      <a:pPr>
                        <a:buNone/>
                      </a:pPr>
                      <a:r>
                        <a:rPr lang="en-US" sz="1400"/>
                        <a:t>Produced Hormone(s)</a:t>
                      </a:r>
                    </a:p>
                  </a:txBody>
                  <a:tcPr anchor="ctr"/>
                </a:tc>
                <a:tc>
                  <a:txBody>
                    <a:bodyPr/>
                    <a:lstStyle/>
                    <a:p>
                      <a:pPr>
                        <a:buNone/>
                      </a:pPr>
                      <a:r>
                        <a:rPr lang="en-US" sz="1400"/>
                        <a:t>Type of Hormone</a:t>
                      </a:r>
                    </a:p>
                  </a:txBody>
                  <a:tcPr anchor="ctr"/>
                </a:tc>
                <a:tc>
                  <a:txBody>
                    <a:bodyPr/>
                    <a:lstStyle/>
                    <a:p>
                      <a:pPr>
                        <a:buNone/>
                      </a:pPr>
                      <a:r>
                        <a:rPr lang="en-US" sz="1400"/>
                        <a:t>General Function</a:t>
                      </a:r>
                    </a:p>
                  </a:txBody>
                  <a:tcPr anchor="ctr"/>
                </a:tc>
                <a:extLst>
                  <a:ext uri="{0D108BD9-81ED-4DB2-BD59-A6C34878D82A}">
                    <a16:rowId xmlns:a16="http://schemas.microsoft.com/office/drawing/2014/main" val="3391300796"/>
                  </a:ext>
                </a:extLst>
              </a:tr>
              <a:tr h="370840">
                <a:tc>
                  <a:txBody>
                    <a:bodyPr/>
                    <a:lstStyle/>
                    <a:p>
                      <a:pPr>
                        <a:buNone/>
                      </a:pPr>
                      <a:r>
                        <a:rPr lang="en-US" sz="1400" b="1" dirty="0"/>
                        <a:t>Posterior Pituitary Gland</a:t>
                      </a:r>
                      <a:endParaRPr lang="en-US" sz="1400" dirty="0"/>
                    </a:p>
                  </a:txBody>
                  <a:tcPr anchor="ctr"/>
                </a:tc>
                <a:tc>
                  <a:txBody>
                    <a:bodyPr/>
                    <a:lstStyle/>
                    <a:p>
                      <a:pPr>
                        <a:buNone/>
                      </a:pPr>
                      <a:r>
                        <a:rPr lang="en-US" sz="1400" dirty="0"/>
                        <a:t>Vasopressin</a:t>
                      </a:r>
                    </a:p>
                  </a:txBody>
                  <a:tcPr anchor="ctr"/>
                </a:tc>
                <a:tc>
                  <a:txBody>
                    <a:bodyPr/>
                    <a:lstStyle/>
                    <a:p>
                      <a:pPr>
                        <a:buNone/>
                      </a:pPr>
                      <a:r>
                        <a:rPr lang="en-US" sz="1400"/>
                        <a:t>Peptide hormone</a:t>
                      </a:r>
                    </a:p>
                  </a:txBody>
                  <a:tcPr anchor="ctr"/>
                </a:tc>
                <a:tc>
                  <a:txBody>
                    <a:bodyPr/>
                    <a:lstStyle/>
                    <a:p>
                      <a:pPr>
                        <a:buNone/>
                      </a:pPr>
                      <a:r>
                        <a:rPr lang="en-US" sz="1400"/>
                        <a:t>Water retention and blood pressure regulation</a:t>
                      </a:r>
                    </a:p>
                  </a:txBody>
                  <a:tcPr anchor="ctr"/>
                </a:tc>
                <a:extLst>
                  <a:ext uri="{0D108BD9-81ED-4DB2-BD59-A6C34878D82A}">
                    <a16:rowId xmlns:a16="http://schemas.microsoft.com/office/drawing/2014/main" val="2108123124"/>
                  </a:ext>
                </a:extLst>
              </a:tr>
              <a:tr h="370840">
                <a:tc>
                  <a:txBody>
                    <a:bodyPr/>
                    <a:lstStyle/>
                    <a:p>
                      <a:pPr>
                        <a:buNone/>
                      </a:pPr>
                      <a:r>
                        <a:rPr lang="en-US" sz="1400" b="1" dirty="0"/>
                        <a:t>Posterior Pituitary Gland</a:t>
                      </a:r>
                      <a:endParaRPr lang="en-US" sz="1400" dirty="0"/>
                    </a:p>
                  </a:txBody>
                  <a:tcPr anchor="ctr"/>
                </a:tc>
                <a:tc>
                  <a:txBody>
                    <a:bodyPr/>
                    <a:lstStyle/>
                    <a:p>
                      <a:pPr>
                        <a:buNone/>
                      </a:pPr>
                      <a:r>
                        <a:rPr lang="en-US" sz="1400" dirty="0"/>
                        <a:t>Oxytocin</a:t>
                      </a:r>
                    </a:p>
                  </a:txBody>
                  <a:tcPr anchor="ctr"/>
                </a:tc>
                <a:tc>
                  <a:txBody>
                    <a:bodyPr/>
                    <a:lstStyle/>
                    <a:p>
                      <a:pPr>
                        <a:buNone/>
                      </a:pPr>
                      <a:r>
                        <a:rPr lang="en-US" sz="1400" dirty="0"/>
                        <a:t>Peptide hormone</a:t>
                      </a:r>
                    </a:p>
                  </a:txBody>
                  <a:tcPr anchor="ctr"/>
                </a:tc>
                <a:tc>
                  <a:txBody>
                    <a:bodyPr/>
                    <a:lstStyle/>
                    <a:p>
                      <a:pPr>
                        <a:buNone/>
                      </a:pPr>
                      <a:r>
                        <a:rPr lang="en-US" sz="1400" dirty="0"/>
                        <a:t>Reproduction, parental bonding, and social </a:t>
                      </a:r>
                      <a:r>
                        <a:rPr lang="en-US" sz="1400" dirty="0" err="1"/>
                        <a:t>behaviours</a:t>
                      </a:r>
                      <a:endParaRPr lang="en-US" sz="1400" dirty="0"/>
                    </a:p>
                  </a:txBody>
                  <a:tcPr anchor="ctr"/>
                </a:tc>
                <a:extLst>
                  <a:ext uri="{0D108BD9-81ED-4DB2-BD59-A6C34878D82A}">
                    <a16:rowId xmlns:a16="http://schemas.microsoft.com/office/drawing/2014/main" val="1543028404"/>
                  </a:ext>
                </a:extLst>
              </a:tr>
            </a:tbl>
          </a:graphicData>
        </a:graphic>
      </p:graphicFrame>
    </p:spTree>
    <p:extLst>
      <p:ext uri="{BB962C8B-B14F-4D97-AF65-F5344CB8AC3E}">
        <p14:creationId xmlns:p14="http://schemas.microsoft.com/office/powerpoint/2010/main" val="24420709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A7CCE-51C2-8003-773B-36C8CD7C2283}"/>
            </a:ext>
          </a:extLst>
        </p:cNvPr>
        <p:cNvGrpSpPr/>
        <p:nvPr/>
      </p:nvGrpSpPr>
      <p:grpSpPr>
        <a:xfrm>
          <a:off x="0" y="0"/>
          <a:ext cx="0" cy="0"/>
          <a:chOff x="0" y="0"/>
          <a:chExt cx="0" cy="0"/>
        </a:xfrm>
      </p:grpSpPr>
      <p:pic>
        <p:nvPicPr>
          <p:cNvPr id="6" name="Content Placeholder 6" descr="The figure shows Hormone Release by the Anterior Pituitary. The figure shown looks like a vertically cut onion shape with its shoots at the top. The left side of the body of the onion is the anterior pituitary. At the right side is the posterior pituitary. The cells that produce the anterior pituitary hormones are group of cells represented by irregular shaped meshes with dots on each part of the mesh. At the neck of the onion shape, there is a mesh of portal veins which leads to pituitary artery in the left and tubes of Hypothalamic pituitary portal veins in the bottom. The blood flows upwards into the pituitary artery. At the neck of the onion shape on the right is the Median eminence. The axons that connect to the portal system branch upward to form onion shoots shapes with bulb shapes in the end that are the neuroendocrine cell bodies. Neuroendocrine cell bodies in the hypothalamus produce releasing hormones, which are released from axons that terminate on the portal system. The hormones travel via the portal veins to the anterior pituitary. Cells in the anterior pituitary respond to the hypothalamic releasing hormones by secreting or inhibiting the secretion of their own hormones, known as tropic hormones. Tropic hormones travel through the bloodstream and regulate endocrine glands throughout the body. Tropic hormones such as Prolactin, Gonadotropic hormones F S H and L H, Thyroid stimulating hormone, A C T H, and Growth hormone are released into the bloodstream">
            <a:extLst>
              <a:ext uri="{FF2B5EF4-FFF2-40B4-BE49-F238E27FC236}">
                <a16:creationId xmlns:a16="http://schemas.microsoft.com/office/drawing/2014/main" id="{7758DE81-B59E-0C1A-F3A0-953993E50FAC}"/>
              </a:ext>
            </a:extLst>
          </p:cNvPr>
          <p:cNvPicPr>
            <a:picLocks noChangeAspect="1"/>
          </p:cNvPicPr>
          <p:nvPr/>
        </p:nvPicPr>
        <p:blipFill>
          <a:blip r:embed="rId2"/>
          <a:stretch>
            <a:fillRect/>
          </a:stretch>
        </p:blipFill>
        <p:spPr>
          <a:xfrm>
            <a:off x="7363329" y="816015"/>
            <a:ext cx="4741855" cy="5318567"/>
          </a:xfrm>
          <a:prstGeom prst="rect">
            <a:avLst/>
          </a:prstGeom>
        </p:spPr>
      </p:pic>
      <p:sp>
        <p:nvSpPr>
          <p:cNvPr id="2" name="Title 1">
            <a:extLst>
              <a:ext uri="{FF2B5EF4-FFF2-40B4-BE49-F238E27FC236}">
                <a16:creationId xmlns:a16="http://schemas.microsoft.com/office/drawing/2014/main" id="{F344119A-0CA1-7671-E0DF-24B5670E6C3B}"/>
              </a:ext>
            </a:extLst>
          </p:cNvPr>
          <p:cNvSpPr>
            <a:spLocks noGrp="1"/>
          </p:cNvSpPr>
          <p:nvPr>
            <p:ph type="title"/>
          </p:nvPr>
        </p:nvSpPr>
        <p:spPr/>
        <p:txBody>
          <a:bodyPr/>
          <a:lstStyle/>
          <a:p>
            <a:r>
              <a:rPr lang="en-US" dirty="0"/>
              <a:t>The Pituitary Gland</a:t>
            </a:r>
          </a:p>
        </p:txBody>
      </p:sp>
      <p:sp>
        <p:nvSpPr>
          <p:cNvPr id="3" name="Content Placeholder 2">
            <a:extLst>
              <a:ext uri="{FF2B5EF4-FFF2-40B4-BE49-F238E27FC236}">
                <a16:creationId xmlns:a16="http://schemas.microsoft.com/office/drawing/2014/main" id="{90743DAA-C0A9-23F9-8F60-00127A497924}"/>
              </a:ext>
            </a:extLst>
          </p:cNvPr>
          <p:cNvSpPr>
            <a:spLocks noGrp="1"/>
          </p:cNvSpPr>
          <p:nvPr>
            <p:ph idx="1"/>
          </p:nvPr>
        </p:nvSpPr>
        <p:spPr>
          <a:xfrm>
            <a:off x="838200" y="1825624"/>
            <a:ext cx="6581171" cy="5153909"/>
          </a:xfrm>
        </p:spPr>
        <p:txBody>
          <a:bodyPr>
            <a:normAutofit fontScale="92500" lnSpcReduction="10000"/>
          </a:bodyPr>
          <a:lstStyle/>
          <a:p>
            <a:pPr marL="0" indent="0">
              <a:buNone/>
            </a:pPr>
            <a:r>
              <a:rPr lang="en-US" b="1" dirty="0"/>
              <a:t>Anterior Pituitary Gland</a:t>
            </a:r>
            <a:r>
              <a:rPr lang="en-US" dirty="0"/>
              <a:t>: Site of production and release of six tropic hormones</a:t>
            </a:r>
          </a:p>
          <a:p>
            <a:r>
              <a:rPr lang="en-US" b="1" dirty="0"/>
              <a:t>Production and release</a:t>
            </a:r>
            <a:endParaRPr lang="en-US" dirty="0"/>
          </a:p>
          <a:p>
            <a:pPr lvl="1"/>
            <a:r>
              <a:rPr lang="en-US" dirty="0"/>
              <a:t>Releasing hormones are produced in the hypothalamus and released into the hypothalamic bloodstream</a:t>
            </a:r>
          </a:p>
          <a:p>
            <a:pPr lvl="2"/>
            <a:r>
              <a:rPr lang="en-US" dirty="0"/>
              <a:t>Releasing hormones are mostly peptide hormones</a:t>
            </a:r>
          </a:p>
          <a:p>
            <a:pPr lvl="1"/>
            <a:r>
              <a:rPr lang="en-US" dirty="0"/>
              <a:t>These hormones travel directly to the anterior pituitary, where they stimulate the production and release of tropic hormones</a:t>
            </a:r>
          </a:p>
          <a:p>
            <a:pPr lvl="2"/>
            <a:r>
              <a:rPr lang="en-US" dirty="0"/>
              <a:t>Tropic hormones are mostly peptide hormones</a:t>
            </a:r>
          </a:p>
          <a:p>
            <a:pPr lvl="1"/>
            <a:r>
              <a:rPr lang="en-US" dirty="0"/>
              <a:t>Tropic hormones are then released into the bloodstream and travel throughout the body</a:t>
            </a:r>
          </a:p>
          <a:p>
            <a:pPr lvl="1"/>
            <a:r>
              <a:rPr lang="en-US" dirty="0"/>
              <a:t>Each tropic hormone targets specific glands and structures with different functions</a:t>
            </a:r>
          </a:p>
        </p:txBody>
      </p:sp>
    </p:spTree>
    <p:extLst>
      <p:ext uri="{BB962C8B-B14F-4D97-AF65-F5344CB8AC3E}">
        <p14:creationId xmlns:p14="http://schemas.microsoft.com/office/powerpoint/2010/main" val="1088225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02B99-3294-890D-1D1E-D80F24C6AAE9}"/>
            </a:ext>
          </a:extLst>
        </p:cNvPr>
        <p:cNvGrpSpPr/>
        <p:nvPr/>
      </p:nvGrpSpPr>
      <p:grpSpPr>
        <a:xfrm>
          <a:off x="0" y="0"/>
          <a:ext cx="0" cy="0"/>
          <a:chOff x="0" y="0"/>
          <a:chExt cx="0" cy="0"/>
        </a:xfrm>
      </p:grpSpPr>
      <p:sp>
        <p:nvSpPr>
          <p:cNvPr id="20" name="Title 1">
            <a:extLst>
              <a:ext uri="{FF2B5EF4-FFF2-40B4-BE49-F238E27FC236}">
                <a16:creationId xmlns:a16="http://schemas.microsoft.com/office/drawing/2014/main" id="{8F4009FA-6CD1-06ED-DF2C-929C2A27F7E3}"/>
              </a:ext>
            </a:extLst>
          </p:cNvPr>
          <p:cNvSpPr txBox="1">
            <a:spLocks/>
          </p:cNvSpPr>
          <p:nvPr/>
        </p:nvSpPr>
        <p:spPr>
          <a:xfrm>
            <a:off x="6574665" y="602116"/>
            <a:ext cx="5702954" cy="59002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u="sng" dirty="0">
                <a:latin typeface="Calibri" panose="020F0502020204030204" pitchFamily="34" charset="0"/>
                <a:cs typeface="Calibri" panose="020F0502020204030204" pitchFamily="34" charset="0"/>
              </a:rPr>
              <a:t>Lecture Outline</a:t>
            </a:r>
          </a:p>
          <a:p>
            <a:endParaRPr lang="en-US" sz="40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Principles of Hormones </a:t>
            </a:r>
          </a:p>
          <a:p>
            <a:endParaRPr lang="en-US" sz="3600" dirty="0">
              <a:latin typeface="Calibri" panose="020F0502020204030204" pitchFamily="34" charset="0"/>
              <a:cs typeface="Calibri" panose="020F0502020204030204" pitchFamily="34" charset="0"/>
            </a:endParaRPr>
          </a:p>
          <a:p>
            <a:r>
              <a:rPr lang="en-US" sz="3600" dirty="0" err="1">
                <a:latin typeface="Calibri" panose="020F0502020204030204" pitchFamily="34" charset="0"/>
                <a:cs typeface="Calibri" panose="020F0502020204030204" pitchFamily="34" charset="0"/>
              </a:rPr>
              <a:t>Behavioural</a:t>
            </a:r>
            <a:r>
              <a:rPr lang="en-US" sz="3600" dirty="0">
                <a:latin typeface="Calibri" panose="020F0502020204030204" pitchFamily="34" charset="0"/>
                <a:cs typeface="Calibri" panose="020F0502020204030204" pitchFamily="34" charset="0"/>
              </a:rPr>
              <a:t> </a:t>
            </a:r>
            <a:r>
              <a:rPr lang="en-US" sz="3600" dirty="0" err="1">
                <a:latin typeface="Calibri" panose="020F0502020204030204" pitchFamily="34" charset="0"/>
                <a:cs typeface="Calibri" panose="020F0502020204030204" pitchFamily="34" charset="0"/>
              </a:rPr>
              <a:t>Endocrionology</a:t>
            </a:r>
            <a:endParaRPr lang="en-US" sz="3600" dirty="0">
              <a:latin typeface="Calibri" panose="020F0502020204030204" pitchFamily="34" charset="0"/>
              <a:cs typeface="Calibri" panose="020F0502020204030204" pitchFamily="34" charset="0"/>
            </a:endParaRPr>
          </a:p>
          <a:p>
            <a:endParaRPr lang="en-US" sz="36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The Pituitary Gland</a:t>
            </a:r>
          </a:p>
          <a:p>
            <a:endParaRPr lang="en-US" sz="3600" dirty="0">
              <a:latin typeface="Calibri" panose="020F0502020204030204" pitchFamily="34" charset="0"/>
              <a:cs typeface="Calibri" panose="020F0502020204030204" pitchFamily="34" charset="0"/>
            </a:endParaRPr>
          </a:p>
          <a:p>
            <a:r>
              <a:rPr lang="en-US" sz="3600" dirty="0">
                <a:solidFill>
                  <a:srgbClr val="FF0000"/>
                </a:solidFill>
                <a:latin typeface="Calibri" panose="020F0502020204030204" pitchFamily="34" charset="0"/>
                <a:cs typeface="Calibri" panose="020F0502020204030204" pitchFamily="34" charset="0"/>
              </a:rPr>
              <a:t>Hormone Systems</a:t>
            </a:r>
          </a:p>
        </p:txBody>
      </p:sp>
      <p:pic>
        <p:nvPicPr>
          <p:cNvPr id="2" name="Picture 1" descr="A colorful and black and white brain&#10;&#10;AI-generated content may be incorrect.">
            <a:extLst>
              <a:ext uri="{FF2B5EF4-FFF2-40B4-BE49-F238E27FC236}">
                <a16:creationId xmlns:a16="http://schemas.microsoft.com/office/drawing/2014/main" id="{4ECC1356-B855-3661-2B3E-12C6F2E9C27B}"/>
              </a:ext>
            </a:extLst>
          </p:cNvPr>
          <p:cNvPicPr>
            <a:picLocks noChangeAspect="1"/>
          </p:cNvPicPr>
          <p:nvPr/>
        </p:nvPicPr>
        <p:blipFill>
          <a:blip r:embed="rId2">
            <a:clrChange>
              <a:clrFrom>
                <a:srgbClr val="F9F9F7"/>
              </a:clrFrom>
              <a:clrTo>
                <a:srgbClr val="F9F9F7">
                  <a:alpha val="0"/>
                </a:srgbClr>
              </a:clrTo>
            </a:clrChange>
            <a:extLst>
              <a:ext uri="{28A0092B-C50C-407E-A947-70E740481C1C}">
                <a14:useLocalDpi xmlns:a14="http://schemas.microsoft.com/office/drawing/2010/main" val="0"/>
              </a:ext>
            </a:extLst>
          </a:blip>
          <a:srcRect l="22953" t="7044" r="23408" b="21998"/>
          <a:stretch>
            <a:fillRect/>
          </a:stretch>
        </p:blipFill>
        <p:spPr>
          <a:xfrm>
            <a:off x="1451809" y="-16931"/>
            <a:ext cx="4908331" cy="6493024"/>
          </a:xfrm>
          <a:prstGeom prst="rect">
            <a:avLst/>
          </a:prstGeom>
        </p:spPr>
      </p:pic>
    </p:spTree>
    <p:extLst>
      <p:ext uri="{BB962C8B-B14F-4D97-AF65-F5344CB8AC3E}">
        <p14:creationId xmlns:p14="http://schemas.microsoft.com/office/powerpoint/2010/main" val="27027812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6" descr="The secretions of the anterior pituitary act in four stages. The stages are releasing hormones, tropic hormone affected, main target of tropic hormone, and hormones secreted by target. The four stages for the different hormones are as follows. Corticotropin releasing hormone; A C T H or adrenocorticotropic hormone; Adrenal cortex; Corticosteroids. Tyrotropin releasing&#10;Hormone; thyroid stimulating hormone; Thyroid; Thyroid&#10;Hormones. Gonadotropin releasing hormone, gonadotropin-inhibiting hormone; Luteinizing hormone, follicle stimulating&#10;Hormone; Testes, Ovaries; Androgens testosterone from testes, Estrogens progestins from ovaries. Prolactin releasing peptide, &#10;Prolactin inhibiting factor may be dopamine; Prolactin; Mammary glands milk production. Somatocrinin stimulates, Somatostatin&#10;Inhibits; G H growth hormone; Bones, bone growth. &#10;">
            <a:extLst>
              <a:ext uri="{FF2B5EF4-FFF2-40B4-BE49-F238E27FC236}">
                <a16:creationId xmlns:a16="http://schemas.microsoft.com/office/drawing/2014/main" id="{A54A3599-5A17-DC0B-5D8B-6A66377BCE1D}"/>
              </a:ext>
            </a:extLst>
          </p:cNvPr>
          <p:cNvPicPr>
            <a:picLocks noChangeAspect="1"/>
          </p:cNvPicPr>
          <p:nvPr/>
        </p:nvPicPr>
        <p:blipFill>
          <a:blip r:embed="rId2"/>
          <a:stretch>
            <a:fillRect/>
          </a:stretch>
        </p:blipFill>
        <p:spPr>
          <a:xfrm>
            <a:off x="1410921" y="278606"/>
            <a:ext cx="9451182" cy="6300788"/>
          </a:xfrm>
          <a:prstGeom prst="rect">
            <a:avLst/>
          </a:prstGeom>
        </p:spPr>
      </p:pic>
    </p:spTree>
    <p:extLst>
      <p:ext uri="{BB962C8B-B14F-4D97-AF65-F5344CB8AC3E}">
        <p14:creationId xmlns:p14="http://schemas.microsoft.com/office/powerpoint/2010/main" val="28467970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F41A6830-D485-A6D6-F3C2-38207F063C5E}"/>
              </a:ext>
            </a:extLst>
          </p:cNvPr>
          <p:cNvGraphicFramePr>
            <a:graphicFrameLocks noGrp="1"/>
          </p:cNvGraphicFramePr>
          <p:nvPr>
            <p:ph idx="1"/>
            <p:extLst>
              <p:ext uri="{D42A27DB-BD31-4B8C-83A1-F6EECF244321}">
                <p14:modId xmlns:p14="http://schemas.microsoft.com/office/powerpoint/2010/main" val="2595864018"/>
              </p:ext>
            </p:extLst>
          </p:nvPr>
        </p:nvGraphicFramePr>
        <p:xfrm>
          <a:off x="838200" y="406400"/>
          <a:ext cx="10515600" cy="604520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2871487830"/>
                    </a:ext>
                  </a:extLst>
                </a:gridCol>
                <a:gridCol w="2628900">
                  <a:extLst>
                    <a:ext uri="{9D8B030D-6E8A-4147-A177-3AD203B41FA5}">
                      <a16:colId xmlns:a16="http://schemas.microsoft.com/office/drawing/2014/main" val="3189783107"/>
                    </a:ext>
                  </a:extLst>
                </a:gridCol>
                <a:gridCol w="2628900">
                  <a:extLst>
                    <a:ext uri="{9D8B030D-6E8A-4147-A177-3AD203B41FA5}">
                      <a16:colId xmlns:a16="http://schemas.microsoft.com/office/drawing/2014/main" val="1007210174"/>
                    </a:ext>
                  </a:extLst>
                </a:gridCol>
                <a:gridCol w="2628900">
                  <a:extLst>
                    <a:ext uri="{9D8B030D-6E8A-4147-A177-3AD203B41FA5}">
                      <a16:colId xmlns:a16="http://schemas.microsoft.com/office/drawing/2014/main" val="2360942072"/>
                    </a:ext>
                  </a:extLst>
                </a:gridCol>
              </a:tblGrid>
              <a:tr h="370840">
                <a:tc>
                  <a:txBody>
                    <a:bodyPr/>
                    <a:lstStyle/>
                    <a:p>
                      <a:pPr>
                        <a:buNone/>
                      </a:pPr>
                      <a:r>
                        <a:rPr lang="en-US" sz="1400" dirty="0"/>
                        <a:t>Structure</a:t>
                      </a:r>
                    </a:p>
                  </a:txBody>
                  <a:tcPr anchor="ctr"/>
                </a:tc>
                <a:tc>
                  <a:txBody>
                    <a:bodyPr/>
                    <a:lstStyle/>
                    <a:p>
                      <a:pPr>
                        <a:buNone/>
                      </a:pPr>
                      <a:r>
                        <a:rPr lang="en-US" sz="1400"/>
                        <a:t>Produced Hormone(s)</a:t>
                      </a:r>
                    </a:p>
                  </a:txBody>
                  <a:tcPr anchor="ctr"/>
                </a:tc>
                <a:tc>
                  <a:txBody>
                    <a:bodyPr/>
                    <a:lstStyle/>
                    <a:p>
                      <a:pPr>
                        <a:buNone/>
                      </a:pPr>
                      <a:r>
                        <a:rPr lang="en-US" sz="1400"/>
                        <a:t>Type of Hormone</a:t>
                      </a:r>
                    </a:p>
                  </a:txBody>
                  <a:tcPr anchor="ctr"/>
                </a:tc>
                <a:tc>
                  <a:txBody>
                    <a:bodyPr/>
                    <a:lstStyle/>
                    <a:p>
                      <a:pPr>
                        <a:buNone/>
                      </a:pPr>
                      <a:r>
                        <a:rPr lang="en-US" sz="1400"/>
                        <a:t>General Function</a:t>
                      </a:r>
                    </a:p>
                  </a:txBody>
                  <a:tcPr anchor="ctr"/>
                </a:tc>
                <a:extLst>
                  <a:ext uri="{0D108BD9-81ED-4DB2-BD59-A6C34878D82A}">
                    <a16:rowId xmlns:a16="http://schemas.microsoft.com/office/drawing/2014/main" val="3391300796"/>
                  </a:ext>
                </a:extLst>
              </a:tr>
              <a:tr h="370840">
                <a:tc>
                  <a:txBody>
                    <a:bodyPr/>
                    <a:lstStyle/>
                    <a:p>
                      <a:pPr>
                        <a:buNone/>
                      </a:pPr>
                      <a:r>
                        <a:rPr lang="en-US" sz="1400" b="1" dirty="0"/>
                        <a:t>Posterior Pituitary Gland</a:t>
                      </a:r>
                      <a:endParaRPr lang="en-US" sz="1400" dirty="0"/>
                    </a:p>
                  </a:txBody>
                  <a:tcPr anchor="ctr"/>
                </a:tc>
                <a:tc>
                  <a:txBody>
                    <a:bodyPr/>
                    <a:lstStyle/>
                    <a:p>
                      <a:pPr>
                        <a:buNone/>
                      </a:pPr>
                      <a:r>
                        <a:rPr lang="en-US" sz="1400" dirty="0"/>
                        <a:t>Vasopressin</a:t>
                      </a:r>
                    </a:p>
                  </a:txBody>
                  <a:tcPr anchor="ctr"/>
                </a:tc>
                <a:tc>
                  <a:txBody>
                    <a:bodyPr/>
                    <a:lstStyle/>
                    <a:p>
                      <a:pPr>
                        <a:buNone/>
                      </a:pPr>
                      <a:r>
                        <a:rPr lang="en-US" sz="1400"/>
                        <a:t>Peptide hormone</a:t>
                      </a:r>
                    </a:p>
                  </a:txBody>
                  <a:tcPr anchor="ctr"/>
                </a:tc>
                <a:tc>
                  <a:txBody>
                    <a:bodyPr/>
                    <a:lstStyle/>
                    <a:p>
                      <a:pPr>
                        <a:buNone/>
                      </a:pPr>
                      <a:r>
                        <a:rPr lang="en-US" sz="1400"/>
                        <a:t>Water retention and blood pressure regulation</a:t>
                      </a:r>
                    </a:p>
                  </a:txBody>
                  <a:tcPr anchor="ctr"/>
                </a:tc>
                <a:extLst>
                  <a:ext uri="{0D108BD9-81ED-4DB2-BD59-A6C34878D82A}">
                    <a16:rowId xmlns:a16="http://schemas.microsoft.com/office/drawing/2014/main" val="2108123124"/>
                  </a:ext>
                </a:extLst>
              </a:tr>
              <a:tr h="370840">
                <a:tc>
                  <a:txBody>
                    <a:bodyPr/>
                    <a:lstStyle/>
                    <a:p>
                      <a:pPr>
                        <a:buNone/>
                      </a:pPr>
                      <a:r>
                        <a:rPr lang="en-US" sz="1400" b="1" dirty="0"/>
                        <a:t>Posterior Pituitary Gland</a:t>
                      </a:r>
                      <a:endParaRPr lang="en-US" sz="1400" dirty="0"/>
                    </a:p>
                  </a:txBody>
                  <a:tcPr anchor="ctr"/>
                </a:tc>
                <a:tc>
                  <a:txBody>
                    <a:bodyPr/>
                    <a:lstStyle/>
                    <a:p>
                      <a:pPr>
                        <a:buNone/>
                      </a:pPr>
                      <a:r>
                        <a:rPr lang="en-US" sz="1400" dirty="0"/>
                        <a:t>Oxytocin</a:t>
                      </a:r>
                    </a:p>
                  </a:txBody>
                  <a:tcPr anchor="ctr"/>
                </a:tc>
                <a:tc>
                  <a:txBody>
                    <a:bodyPr/>
                    <a:lstStyle/>
                    <a:p>
                      <a:pPr>
                        <a:buNone/>
                      </a:pPr>
                      <a:r>
                        <a:rPr lang="en-US" sz="1400" dirty="0"/>
                        <a:t>Peptide hormone</a:t>
                      </a:r>
                    </a:p>
                  </a:txBody>
                  <a:tcPr anchor="ctr"/>
                </a:tc>
                <a:tc>
                  <a:txBody>
                    <a:bodyPr/>
                    <a:lstStyle/>
                    <a:p>
                      <a:pPr>
                        <a:buNone/>
                      </a:pPr>
                      <a:r>
                        <a:rPr lang="en-US" sz="1400" dirty="0"/>
                        <a:t>Reproduction, parental bonding, and social </a:t>
                      </a:r>
                      <a:r>
                        <a:rPr lang="en-US" sz="1400" dirty="0" err="1"/>
                        <a:t>behaviours</a:t>
                      </a:r>
                      <a:endParaRPr lang="en-US" sz="1400" dirty="0"/>
                    </a:p>
                  </a:txBody>
                  <a:tcPr anchor="ctr"/>
                </a:tc>
                <a:extLst>
                  <a:ext uri="{0D108BD9-81ED-4DB2-BD59-A6C34878D82A}">
                    <a16:rowId xmlns:a16="http://schemas.microsoft.com/office/drawing/2014/main" val="1543028404"/>
                  </a:ext>
                </a:extLst>
              </a:tr>
              <a:tr h="370840">
                <a:tc>
                  <a:txBody>
                    <a:bodyPr/>
                    <a:lstStyle/>
                    <a:p>
                      <a:pPr>
                        <a:buNone/>
                      </a:pPr>
                      <a:r>
                        <a:rPr lang="en-US" sz="1400" b="1" dirty="0"/>
                        <a:t>Adrenal Cortex</a:t>
                      </a:r>
                      <a:endParaRPr lang="en-US" sz="1400" dirty="0"/>
                    </a:p>
                  </a:txBody>
                  <a:tcPr anchor="ctr"/>
                </a:tc>
                <a:tc>
                  <a:txBody>
                    <a:bodyPr/>
                    <a:lstStyle/>
                    <a:p>
                      <a:pPr>
                        <a:buNone/>
                      </a:pPr>
                      <a:r>
                        <a:rPr lang="en-US" sz="1400" dirty="0"/>
                        <a:t>Glucocorticoids (e.g., cortisol), Mineralocorticoids (e.g., aldosterone)</a:t>
                      </a:r>
                    </a:p>
                  </a:txBody>
                  <a:tcPr anchor="ctr"/>
                </a:tc>
                <a:tc>
                  <a:txBody>
                    <a:bodyPr/>
                    <a:lstStyle/>
                    <a:p>
                      <a:pPr>
                        <a:buNone/>
                      </a:pPr>
                      <a:r>
                        <a:rPr lang="en-US" sz="1400" dirty="0"/>
                        <a:t>Steroid hormones</a:t>
                      </a:r>
                    </a:p>
                  </a:txBody>
                  <a:tcPr anchor="ctr"/>
                </a:tc>
                <a:tc>
                  <a:txBody>
                    <a:bodyPr/>
                    <a:lstStyle/>
                    <a:p>
                      <a:pPr>
                        <a:buNone/>
                      </a:pPr>
                      <a:r>
                        <a:rPr lang="en-US" sz="1400" dirty="0"/>
                        <a:t>Stress response, energy regulation, blood pressure and fluid balance</a:t>
                      </a:r>
                    </a:p>
                  </a:txBody>
                  <a:tcPr anchor="ctr"/>
                </a:tc>
                <a:extLst>
                  <a:ext uri="{0D108BD9-81ED-4DB2-BD59-A6C34878D82A}">
                    <a16:rowId xmlns:a16="http://schemas.microsoft.com/office/drawing/2014/main" val="307783599"/>
                  </a:ext>
                </a:extLst>
              </a:tr>
              <a:tr h="370840">
                <a:tc>
                  <a:txBody>
                    <a:bodyPr/>
                    <a:lstStyle/>
                    <a:p>
                      <a:pPr>
                        <a:buNone/>
                      </a:pPr>
                      <a:r>
                        <a:rPr lang="en-US" sz="1400" b="1"/>
                        <a:t>Adrenal Medulla</a:t>
                      </a:r>
                      <a:endParaRPr lang="en-US" sz="1400"/>
                    </a:p>
                  </a:txBody>
                  <a:tcPr anchor="ctr"/>
                </a:tc>
                <a:tc>
                  <a:txBody>
                    <a:bodyPr/>
                    <a:lstStyle/>
                    <a:p>
                      <a:pPr>
                        <a:buNone/>
                      </a:pPr>
                      <a:r>
                        <a:rPr lang="en-US" sz="1400"/>
                        <a:t>Epinephrine, Norepinephrine</a:t>
                      </a:r>
                    </a:p>
                  </a:txBody>
                  <a:tcPr anchor="ctr"/>
                </a:tc>
                <a:tc>
                  <a:txBody>
                    <a:bodyPr/>
                    <a:lstStyle/>
                    <a:p>
                      <a:pPr>
                        <a:buNone/>
                      </a:pPr>
                      <a:r>
                        <a:rPr lang="en-US" sz="1400"/>
                        <a:t>Amine hormones</a:t>
                      </a:r>
                    </a:p>
                  </a:txBody>
                  <a:tcPr anchor="ctr"/>
                </a:tc>
                <a:tc>
                  <a:txBody>
                    <a:bodyPr/>
                    <a:lstStyle/>
                    <a:p>
                      <a:pPr>
                        <a:buNone/>
                      </a:pPr>
                      <a:r>
                        <a:rPr lang="en-US" sz="1400" dirty="0"/>
                        <a:t>Fight-or-flight response</a:t>
                      </a:r>
                    </a:p>
                  </a:txBody>
                  <a:tcPr anchor="ctr"/>
                </a:tc>
                <a:extLst>
                  <a:ext uri="{0D108BD9-81ED-4DB2-BD59-A6C34878D82A}">
                    <a16:rowId xmlns:a16="http://schemas.microsoft.com/office/drawing/2014/main" val="2661020550"/>
                  </a:ext>
                </a:extLst>
              </a:tr>
              <a:tr h="370840">
                <a:tc>
                  <a:txBody>
                    <a:bodyPr/>
                    <a:lstStyle/>
                    <a:p>
                      <a:pPr>
                        <a:buNone/>
                      </a:pPr>
                      <a:r>
                        <a:rPr lang="en-US" sz="1400" b="1"/>
                        <a:t>Thyroid Gland</a:t>
                      </a:r>
                      <a:endParaRPr lang="en-US" sz="1400"/>
                    </a:p>
                  </a:txBody>
                  <a:tcPr anchor="ctr"/>
                </a:tc>
                <a:tc>
                  <a:txBody>
                    <a:bodyPr/>
                    <a:lstStyle/>
                    <a:p>
                      <a:pPr>
                        <a:buNone/>
                      </a:pPr>
                      <a:r>
                        <a:rPr lang="en-US" sz="1400"/>
                        <a:t>Thyroid hormones (T3/T4)</a:t>
                      </a:r>
                    </a:p>
                  </a:txBody>
                  <a:tcPr anchor="ctr"/>
                </a:tc>
                <a:tc>
                  <a:txBody>
                    <a:bodyPr/>
                    <a:lstStyle/>
                    <a:p>
                      <a:pPr>
                        <a:buNone/>
                      </a:pPr>
                      <a:r>
                        <a:rPr lang="en-US" sz="1400"/>
                        <a:t>Amine hormones</a:t>
                      </a:r>
                    </a:p>
                  </a:txBody>
                  <a:tcPr anchor="ctr"/>
                </a:tc>
                <a:tc>
                  <a:txBody>
                    <a:bodyPr/>
                    <a:lstStyle/>
                    <a:p>
                      <a:pPr>
                        <a:buNone/>
                      </a:pPr>
                      <a:r>
                        <a:rPr lang="en-US" sz="1400"/>
                        <a:t>Regulation of metabolism, growth, development, and physiological activity</a:t>
                      </a:r>
                    </a:p>
                  </a:txBody>
                  <a:tcPr anchor="ctr"/>
                </a:tc>
                <a:extLst>
                  <a:ext uri="{0D108BD9-81ED-4DB2-BD59-A6C34878D82A}">
                    <a16:rowId xmlns:a16="http://schemas.microsoft.com/office/drawing/2014/main" val="3975760437"/>
                  </a:ext>
                </a:extLst>
              </a:tr>
              <a:tr h="370840">
                <a:tc>
                  <a:txBody>
                    <a:bodyPr/>
                    <a:lstStyle/>
                    <a:p>
                      <a:pPr>
                        <a:buNone/>
                      </a:pPr>
                      <a:r>
                        <a:rPr lang="en-US" sz="1400" b="1"/>
                        <a:t>Testes</a:t>
                      </a:r>
                      <a:endParaRPr lang="en-US" sz="1400"/>
                    </a:p>
                  </a:txBody>
                  <a:tcPr anchor="ctr"/>
                </a:tc>
                <a:tc>
                  <a:txBody>
                    <a:bodyPr/>
                    <a:lstStyle/>
                    <a:p>
                      <a:pPr>
                        <a:buNone/>
                      </a:pPr>
                      <a:r>
                        <a:rPr lang="en-US" sz="1400"/>
                        <a:t>Testosterone</a:t>
                      </a:r>
                    </a:p>
                  </a:txBody>
                  <a:tcPr anchor="ctr"/>
                </a:tc>
                <a:tc>
                  <a:txBody>
                    <a:bodyPr/>
                    <a:lstStyle/>
                    <a:p>
                      <a:pPr>
                        <a:buNone/>
                      </a:pPr>
                      <a:r>
                        <a:rPr lang="en-US" sz="1400"/>
                        <a:t>Steroid hormone</a:t>
                      </a:r>
                    </a:p>
                  </a:txBody>
                  <a:tcPr anchor="ctr"/>
                </a:tc>
                <a:tc>
                  <a:txBody>
                    <a:bodyPr/>
                    <a:lstStyle/>
                    <a:p>
                      <a:pPr>
                        <a:buNone/>
                      </a:pPr>
                      <a:r>
                        <a:rPr lang="en-US" sz="1400" dirty="0"/>
                        <a:t>Sperm production, sexual development, reproductive </a:t>
                      </a:r>
                      <a:r>
                        <a:rPr lang="en-US" sz="1400" dirty="0" err="1"/>
                        <a:t>behaviour</a:t>
                      </a:r>
                      <a:endParaRPr lang="en-US" sz="1400" dirty="0"/>
                    </a:p>
                  </a:txBody>
                  <a:tcPr anchor="ctr"/>
                </a:tc>
                <a:extLst>
                  <a:ext uri="{0D108BD9-81ED-4DB2-BD59-A6C34878D82A}">
                    <a16:rowId xmlns:a16="http://schemas.microsoft.com/office/drawing/2014/main" val="387490554"/>
                  </a:ext>
                </a:extLst>
              </a:tr>
              <a:tr h="370840">
                <a:tc>
                  <a:txBody>
                    <a:bodyPr/>
                    <a:lstStyle/>
                    <a:p>
                      <a:pPr>
                        <a:buNone/>
                      </a:pPr>
                      <a:r>
                        <a:rPr lang="en-US" sz="1400" b="1"/>
                        <a:t>Ovaries</a:t>
                      </a:r>
                      <a:endParaRPr lang="en-US" sz="1400"/>
                    </a:p>
                  </a:txBody>
                  <a:tcPr anchor="ctr"/>
                </a:tc>
                <a:tc>
                  <a:txBody>
                    <a:bodyPr/>
                    <a:lstStyle/>
                    <a:p>
                      <a:pPr>
                        <a:buNone/>
                      </a:pPr>
                      <a:r>
                        <a:rPr lang="en-US" sz="1400" dirty="0"/>
                        <a:t>Estrogen, Progesterone</a:t>
                      </a:r>
                    </a:p>
                  </a:txBody>
                  <a:tcPr anchor="ctr"/>
                </a:tc>
                <a:tc>
                  <a:txBody>
                    <a:bodyPr/>
                    <a:lstStyle/>
                    <a:p>
                      <a:pPr>
                        <a:buNone/>
                      </a:pPr>
                      <a:r>
                        <a:rPr lang="en-US" sz="1400"/>
                        <a:t>Steroid hormones</a:t>
                      </a:r>
                    </a:p>
                  </a:txBody>
                  <a:tcPr anchor="ctr"/>
                </a:tc>
                <a:tc>
                  <a:txBody>
                    <a:bodyPr/>
                    <a:lstStyle/>
                    <a:p>
                      <a:pPr>
                        <a:buNone/>
                      </a:pPr>
                      <a:r>
                        <a:rPr lang="en-US" sz="1400"/>
                        <a:t>Egg maturation, reproductive function, pregnancy support</a:t>
                      </a:r>
                    </a:p>
                  </a:txBody>
                  <a:tcPr anchor="ctr"/>
                </a:tc>
                <a:extLst>
                  <a:ext uri="{0D108BD9-81ED-4DB2-BD59-A6C34878D82A}">
                    <a16:rowId xmlns:a16="http://schemas.microsoft.com/office/drawing/2014/main" val="1543361880"/>
                  </a:ext>
                </a:extLst>
              </a:tr>
              <a:tr h="370840">
                <a:tc>
                  <a:txBody>
                    <a:bodyPr/>
                    <a:lstStyle/>
                    <a:p>
                      <a:pPr>
                        <a:buNone/>
                      </a:pPr>
                      <a:r>
                        <a:rPr lang="en-US" sz="1400" b="1"/>
                        <a:t>Mammary Glands</a:t>
                      </a:r>
                      <a:endParaRPr lang="en-US" sz="1400"/>
                    </a:p>
                  </a:txBody>
                  <a:tcPr anchor="ctr"/>
                </a:tc>
                <a:tc>
                  <a:txBody>
                    <a:bodyPr/>
                    <a:lstStyle/>
                    <a:p>
                      <a:pPr>
                        <a:buNone/>
                      </a:pPr>
                      <a:r>
                        <a:rPr lang="en-US" sz="1400"/>
                        <a:t>None</a:t>
                      </a:r>
                    </a:p>
                  </a:txBody>
                  <a:tcPr anchor="ctr"/>
                </a:tc>
                <a:tc>
                  <a:txBody>
                    <a:bodyPr/>
                    <a:lstStyle/>
                    <a:p>
                      <a:pPr>
                        <a:buNone/>
                      </a:pPr>
                      <a:r>
                        <a:rPr lang="en-US" sz="1400"/>
                        <a:t>—</a:t>
                      </a:r>
                    </a:p>
                  </a:txBody>
                  <a:tcPr anchor="ctr"/>
                </a:tc>
                <a:tc>
                  <a:txBody>
                    <a:bodyPr/>
                    <a:lstStyle/>
                    <a:p>
                      <a:pPr>
                        <a:buNone/>
                      </a:pPr>
                      <a:r>
                        <a:rPr lang="en-US" sz="1400"/>
                        <a:t>Lactation and breast development</a:t>
                      </a:r>
                    </a:p>
                  </a:txBody>
                  <a:tcPr anchor="ctr"/>
                </a:tc>
                <a:extLst>
                  <a:ext uri="{0D108BD9-81ED-4DB2-BD59-A6C34878D82A}">
                    <a16:rowId xmlns:a16="http://schemas.microsoft.com/office/drawing/2014/main" val="1986706104"/>
                  </a:ext>
                </a:extLst>
              </a:tr>
              <a:tr h="370840">
                <a:tc>
                  <a:txBody>
                    <a:bodyPr/>
                    <a:lstStyle/>
                    <a:p>
                      <a:pPr>
                        <a:buNone/>
                      </a:pPr>
                      <a:r>
                        <a:rPr lang="en-US" sz="1400" b="1"/>
                        <a:t>Bones and Other Tissues</a:t>
                      </a:r>
                      <a:endParaRPr lang="en-US" sz="1400"/>
                    </a:p>
                  </a:txBody>
                  <a:tcPr anchor="ctr"/>
                </a:tc>
                <a:tc>
                  <a:txBody>
                    <a:bodyPr/>
                    <a:lstStyle/>
                    <a:p>
                      <a:pPr>
                        <a:buNone/>
                      </a:pPr>
                      <a:r>
                        <a:rPr lang="en-US" sz="1400"/>
                        <a:t>None</a:t>
                      </a:r>
                    </a:p>
                  </a:txBody>
                  <a:tcPr anchor="ctr"/>
                </a:tc>
                <a:tc>
                  <a:txBody>
                    <a:bodyPr/>
                    <a:lstStyle/>
                    <a:p>
                      <a:pPr>
                        <a:buNone/>
                      </a:pPr>
                      <a:r>
                        <a:rPr lang="en-US" sz="1400"/>
                        <a:t>—</a:t>
                      </a:r>
                    </a:p>
                  </a:txBody>
                  <a:tcPr anchor="ctr"/>
                </a:tc>
                <a:tc>
                  <a:txBody>
                    <a:bodyPr/>
                    <a:lstStyle/>
                    <a:p>
                      <a:pPr>
                        <a:buNone/>
                      </a:pPr>
                      <a:r>
                        <a:rPr lang="en-US" sz="1400"/>
                        <a:t>Growth and maintenance of cells and tissues</a:t>
                      </a:r>
                    </a:p>
                  </a:txBody>
                  <a:tcPr anchor="ctr"/>
                </a:tc>
                <a:extLst>
                  <a:ext uri="{0D108BD9-81ED-4DB2-BD59-A6C34878D82A}">
                    <a16:rowId xmlns:a16="http://schemas.microsoft.com/office/drawing/2014/main" val="2766630603"/>
                  </a:ext>
                </a:extLst>
              </a:tr>
              <a:tr h="370840">
                <a:tc>
                  <a:txBody>
                    <a:bodyPr/>
                    <a:lstStyle/>
                    <a:p>
                      <a:pPr>
                        <a:buNone/>
                      </a:pPr>
                      <a:r>
                        <a:rPr lang="en-US" sz="1400" b="1"/>
                        <a:t>Pineal Gland</a:t>
                      </a:r>
                      <a:endParaRPr lang="en-US" sz="1400"/>
                    </a:p>
                  </a:txBody>
                  <a:tcPr anchor="ctr"/>
                </a:tc>
                <a:tc>
                  <a:txBody>
                    <a:bodyPr/>
                    <a:lstStyle/>
                    <a:p>
                      <a:pPr>
                        <a:buNone/>
                      </a:pPr>
                      <a:r>
                        <a:rPr lang="en-US" sz="1400"/>
                        <a:t>Melatonin</a:t>
                      </a:r>
                    </a:p>
                  </a:txBody>
                  <a:tcPr anchor="ctr"/>
                </a:tc>
                <a:tc>
                  <a:txBody>
                    <a:bodyPr/>
                    <a:lstStyle/>
                    <a:p>
                      <a:pPr>
                        <a:buNone/>
                      </a:pPr>
                      <a:r>
                        <a:rPr lang="en-US" sz="1400"/>
                        <a:t>Amine hormone</a:t>
                      </a:r>
                    </a:p>
                  </a:txBody>
                  <a:tcPr anchor="ctr"/>
                </a:tc>
                <a:tc>
                  <a:txBody>
                    <a:bodyPr/>
                    <a:lstStyle/>
                    <a:p>
                      <a:pPr>
                        <a:buNone/>
                      </a:pPr>
                      <a:r>
                        <a:rPr lang="en-US" sz="1400" dirty="0"/>
                        <a:t>Regulation of circadian and seasonal rhythms</a:t>
                      </a:r>
                    </a:p>
                  </a:txBody>
                  <a:tcPr anchor="ctr"/>
                </a:tc>
                <a:extLst>
                  <a:ext uri="{0D108BD9-81ED-4DB2-BD59-A6C34878D82A}">
                    <a16:rowId xmlns:a16="http://schemas.microsoft.com/office/drawing/2014/main" val="2633260638"/>
                  </a:ext>
                </a:extLst>
              </a:tr>
            </a:tbl>
          </a:graphicData>
        </a:graphic>
      </p:graphicFrame>
    </p:spTree>
    <p:extLst>
      <p:ext uri="{BB962C8B-B14F-4D97-AF65-F5344CB8AC3E}">
        <p14:creationId xmlns:p14="http://schemas.microsoft.com/office/powerpoint/2010/main" val="20519225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22B86-874B-0624-E470-2F8DF15D6CB2}"/>
            </a:ext>
          </a:extLst>
        </p:cNvPr>
        <p:cNvGrpSpPr/>
        <p:nvPr/>
      </p:nvGrpSpPr>
      <p:grpSpPr>
        <a:xfrm>
          <a:off x="0" y="0"/>
          <a:ext cx="0" cy="0"/>
          <a:chOff x="0" y="0"/>
          <a:chExt cx="0" cy="0"/>
        </a:xfrm>
      </p:grpSpPr>
      <p:pic>
        <p:nvPicPr>
          <p:cNvPr id="6" name="Content Placeholder 6" descr="The figure shows Hormone Release by the Anterior Pituitary. The figure shown looks like a vertically cut onion shape with its shoots at the top. The left side of the body of the onion is the anterior pituitary. At the right side is the posterior pituitary. The cells that produce the anterior pituitary hormones are group of cells represented by irregular shaped meshes with dots on each part of the mesh. At the neck of the onion shape, there is a mesh of portal veins which leads to pituitary artery in the left and tubes of Hypothalamic pituitary portal veins in the bottom. The blood flows upwards into the pituitary artery. At the neck of the onion shape on the right is the Median eminence. The axons that connect to the portal system branch upward to form onion shoots shapes with bulb shapes in the end that are the neuroendocrine cell bodies. Neuroendocrine cell bodies in the hypothalamus produce releasing hormones, which are released from axons that terminate on the portal system. The hormones travel via the portal veins to the anterior pituitary. Cells in the anterior pituitary respond to the hypothalamic releasing hormones by secreting or inhibiting the secretion of their own hormones, known as tropic hormones. Tropic hormones travel through the bloodstream and regulate endocrine glands throughout the body. Tropic hormones such as Prolactin, Gonadotropic hormones F S H and L H, Thyroid stimulating hormone, A C T H, and Growth hormone are released into the bloodstream">
            <a:extLst>
              <a:ext uri="{FF2B5EF4-FFF2-40B4-BE49-F238E27FC236}">
                <a16:creationId xmlns:a16="http://schemas.microsoft.com/office/drawing/2014/main" id="{B3F75AA0-6218-6A95-FF57-719E606ADD51}"/>
              </a:ext>
            </a:extLst>
          </p:cNvPr>
          <p:cNvPicPr>
            <a:picLocks noChangeAspect="1"/>
          </p:cNvPicPr>
          <p:nvPr/>
        </p:nvPicPr>
        <p:blipFill>
          <a:blip r:embed="rId2"/>
          <a:stretch>
            <a:fillRect/>
          </a:stretch>
        </p:blipFill>
        <p:spPr>
          <a:xfrm>
            <a:off x="7363329" y="816015"/>
            <a:ext cx="4741855" cy="5318567"/>
          </a:xfrm>
          <a:prstGeom prst="rect">
            <a:avLst/>
          </a:prstGeom>
        </p:spPr>
      </p:pic>
      <p:sp>
        <p:nvSpPr>
          <p:cNvPr id="2" name="Title 1">
            <a:extLst>
              <a:ext uri="{FF2B5EF4-FFF2-40B4-BE49-F238E27FC236}">
                <a16:creationId xmlns:a16="http://schemas.microsoft.com/office/drawing/2014/main" id="{8EB6AF01-F796-8F76-5994-04F1F0CF7E23}"/>
              </a:ext>
            </a:extLst>
          </p:cNvPr>
          <p:cNvSpPr>
            <a:spLocks noGrp="1"/>
          </p:cNvSpPr>
          <p:nvPr>
            <p:ph type="title"/>
          </p:nvPr>
        </p:nvSpPr>
        <p:spPr/>
        <p:txBody>
          <a:bodyPr/>
          <a:lstStyle/>
          <a:p>
            <a:r>
              <a:rPr lang="en-US" dirty="0"/>
              <a:t>Hormone Systems</a:t>
            </a:r>
          </a:p>
        </p:txBody>
      </p:sp>
      <p:sp>
        <p:nvSpPr>
          <p:cNvPr id="3" name="Content Placeholder 2">
            <a:extLst>
              <a:ext uri="{FF2B5EF4-FFF2-40B4-BE49-F238E27FC236}">
                <a16:creationId xmlns:a16="http://schemas.microsoft.com/office/drawing/2014/main" id="{BF0657B8-036F-E649-B38F-4B7E9BA284D1}"/>
              </a:ext>
            </a:extLst>
          </p:cNvPr>
          <p:cNvSpPr>
            <a:spLocks noGrp="1"/>
          </p:cNvSpPr>
          <p:nvPr>
            <p:ph idx="1"/>
          </p:nvPr>
        </p:nvSpPr>
        <p:spPr>
          <a:xfrm>
            <a:off x="838200" y="1825625"/>
            <a:ext cx="6581171" cy="4351338"/>
          </a:xfrm>
        </p:spPr>
        <p:txBody>
          <a:bodyPr>
            <a:normAutofit/>
          </a:bodyPr>
          <a:lstStyle/>
          <a:p>
            <a:pPr marL="0" indent="0">
              <a:buNone/>
            </a:pPr>
            <a:r>
              <a:rPr lang="en-US" b="1" dirty="0"/>
              <a:t>Adrenal Gland</a:t>
            </a:r>
            <a:r>
              <a:rPr lang="en-US" dirty="0"/>
              <a:t>: Releases steroid hormones</a:t>
            </a:r>
          </a:p>
          <a:p>
            <a:r>
              <a:rPr lang="en-US" dirty="0"/>
              <a:t>Contains both the adrenal cortex and the adrenal medulla</a:t>
            </a:r>
          </a:p>
          <a:p>
            <a:r>
              <a:rPr lang="en-US" b="1" dirty="0"/>
              <a:t>Function</a:t>
            </a:r>
            <a:r>
              <a:rPr lang="en-US" dirty="0"/>
              <a:t>: Stress response</a:t>
            </a:r>
          </a:p>
          <a:p>
            <a:pPr lvl="1"/>
            <a:endParaRPr lang="en-US" dirty="0"/>
          </a:p>
        </p:txBody>
      </p:sp>
    </p:spTree>
    <p:extLst>
      <p:ext uri="{BB962C8B-B14F-4D97-AF65-F5344CB8AC3E}">
        <p14:creationId xmlns:p14="http://schemas.microsoft.com/office/powerpoint/2010/main" val="1797902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1B9FB-C9A9-B998-91BC-3B5DDD17DE67}"/>
              </a:ext>
            </a:extLst>
          </p:cNvPr>
          <p:cNvSpPr>
            <a:spLocks noGrp="1"/>
          </p:cNvSpPr>
          <p:nvPr>
            <p:ph type="title"/>
          </p:nvPr>
        </p:nvSpPr>
        <p:spPr/>
        <p:txBody>
          <a:bodyPr/>
          <a:lstStyle/>
          <a:p>
            <a:r>
              <a:rPr lang="en-US" dirty="0"/>
              <a:t>Hormone Systems</a:t>
            </a:r>
          </a:p>
        </p:txBody>
      </p:sp>
      <p:sp>
        <p:nvSpPr>
          <p:cNvPr id="3" name="Content Placeholder 2">
            <a:extLst>
              <a:ext uri="{FF2B5EF4-FFF2-40B4-BE49-F238E27FC236}">
                <a16:creationId xmlns:a16="http://schemas.microsoft.com/office/drawing/2014/main" id="{317C2391-F3CA-62F9-3149-50E4019BF957}"/>
              </a:ext>
            </a:extLst>
          </p:cNvPr>
          <p:cNvSpPr>
            <a:spLocks noGrp="1"/>
          </p:cNvSpPr>
          <p:nvPr>
            <p:ph idx="1"/>
          </p:nvPr>
        </p:nvSpPr>
        <p:spPr>
          <a:xfrm>
            <a:off x="838200" y="1825625"/>
            <a:ext cx="6673770" cy="4351338"/>
          </a:xfrm>
        </p:spPr>
        <p:txBody>
          <a:bodyPr>
            <a:normAutofit lnSpcReduction="10000"/>
          </a:bodyPr>
          <a:lstStyle/>
          <a:p>
            <a:pPr marL="0" indent="0">
              <a:buNone/>
            </a:pPr>
            <a:r>
              <a:rPr lang="en-US" b="1" dirty="0"/>
              <a:t>Adrenal Cortex</a:t>
            </a:r>
          </a:p>
          <a:p>
            <a:r>
              <a:rPr lang="en-US" b="1" dirty="0"/>
              <a:t>Hormones: </a:t>
            </a:r>
            <a:r>
              <a:rPr lang="en-US" dirty="0"/>
              <a:t>Two classes of hormones, each with their own set of steroid hormones</a:t>
            </a:r>
          </a:p>
          <a:p>
            <a:pPr lvl="1"/>
            <a:r>
              <a:rPr lang="en-US" dirty="0"/>
              <a:t>Glucocorticoids &amp; Mineralocorticoids</a:t>
            </a:r>
          </a:p>
          <a:p>
            <a:r>
              <a:rPr lang="en-US" b="1" dirty="0"/>
              <a:t>Glucocorticoids (e.g., cortisol)</a:t>
            </a:r>
          </a:p>
          <a:p>
            <a:pPr lvl="1"/>
            <a:r>
              <a:rPr lang="en-US" dirty="0"/>
              <a:t>Increase blood sugar and protein breakdown to provide energy</a:t>
            </a:r>
          </a:p>
          <a:p>
            <a:pPr lvl="1"/>
            <a:r>
              <a:rPr lang="en-US" dirty="0"/>
              <a:t>Suppress inflammation and immune responses to prevent tissue damage</a:t>
            </a:r>
          </a:p>
          <a:p>
            <a:pPr lvl="2"/>
            <a:r>
              <a:rPr lang="en-US" dirty="0"/>
              <a:t>Important as stress activates the immune system, increasing inflammation</a:t>
            </a:r>
          </a:p>
        </p:txBody>
      </p:sp>
      <p:pic>
        <p:nvPicPr>
          <p:cNvPr id="5" name="Picture 4" descr="A diagram of the internal organs of a person&#10;&#10;AI-generated content may be incorrect.">
            <a:extLst>
              <a:ext uri="{FF2B5EF4-FFF2-40B4-BE49-F238E27FC236}">
                <a16:creationId xmlns:a16="http://schemas.microsoft.com/office/drawing/2014/main" id="{8E70B490-CB38-24BE-11F7-EC9968F3A2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48309" y="516164"/>
            <a:ext cx="4479441" cy="6064043"/>
          </a:xfrm>
          <a:prstGeom prst="rect">
            <a:avLst/>
          </a:prstGeom>
        </p:spPr>
      </p:pic>
      <p:pic>
        <p:nvPicPr>
          <p:cNvPr id="1026" name="Picture 2" descr="Adrenal Gland: What It Is, Function, Symptoms &amp; Disorders">
            <a:extLst>
              <a:ext uri="{FF2B5EF4-FFF2-40B4-BE49-F238E27FC236}">
                <a16:creationId xmlns:a16="http://schemas.microsoft.com/office/drawing/2014/main" id="{9B377D6E-E576-E5BC-029F-7C5E14E9D7D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6720" t="25657" b="26070"/>
          <a:stretch>
            <a:fillRect/>
          </a:stretch>
        </p:blipFill>
        <p:spPr bwMode="auto">
          <a:xfrm>
            <a:off x="7122651" y="3705994"/>
            <a:ext cx="778637" cy="9541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78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F41DC-7667-7D0C-9878-7F2FC57A8C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F44BB9-F4E0-8091-762C-6F4D89B76F46}"/>
              </a:ext>
            </a:extLst>
          </p:cNvPr>
          <p:cNvSpPr>
            <a:spLocks noGrp="1"/>
          </p:cNvSpPr>
          <p:nvPr>
            <p:ph type="title"/>
          </p:nvPr>
        </p:nvSpPr>
        <p:spPr/>
        <p:txBody>
          <a:bodyPr/>
          <a:lstStyle/>
          <a:p>
            <a:r>
              <a:rPr lang="en-US" dirty="0"/>
              <a:t>Hormone Systems</a:t>
            </a:r>
          </a:p>
        </p:txBody>
      </p:sp>
      <p:sp>
        <p:nvSpPr>
          <p:cNvPr id="3" name="Content Placeholder 2">
            <a:extLst>
              <a:ext uri="{FF2B5EF4-FFF2-40B4-BE49-F238E27FC236}">
                <a16:creationId xmlns:a16="http://schemas.microsoft.com/office/drawing/2014/main" id="{94791833-B81B-DDA7-630C-2BF3B6B4B2DB}"/>
              </a:ext>
            </a:extLst>
          </p:cNvPr>
          <p:cNvSpPr>
            <a:spLocks noGrp="1"/>
          </p:cNvSpPr>
          <p:nvPr>
            <p:ph idx="1"/>
          </p:nvPr>
        </p:nvSpPr>
        <p:spPr>
          <a:xfrm>
            <a:off x="838200" y="1825625"/>
            <a:ext cx="6673770" cy="4351338"/>
          </a:xfrm>
        </p:spPr>
        <p:txBody>
          <a:bodyPr>
            <a:normAutofit/>
          </a:bodyPr>
          <a:lstStyle/>
          <a:p>
            <a:pPr marL="0" indent="0">
              <a:buNone/>
            </a:pPr>
            <a:r>
              <a:rPr lang="en-US" b="1" dirty="0"/>
              <a:t>Adrenal Cortex</a:t>
            </a:r>
          </a:p>
          <a:p>
            <a:r>
              <a:rPr lang="en-US" b="1" dirty="0"/>
              <a:t>Mineralocorticoids (e.g., aldosterone)</a:t>
            </a:r>
          </a:p>
          <a:p>
            <a:pPr lvl="1"/>
            <a:r>
              <a:rPr lang="en-US" dirty="0"/>
              <a:t>Promote sodium retention and reduce urine production</a:t>
            </a:r>
          </a:p>
          <a:p>
            <a:pPr lvl="1"/>
            <a:r>
              <a:rPr lang="en-US" dirty="0"/>
              <a:t>Help regulate blood pressure and fluid balance</a:t>
            </a:r>
          </a:p>
          <a:p>
            <a:pPr lvl="1"/>
            <a:r>
              <a:rPr lang="en-US" dirty="0"/>
              <a:t>These ensure organs receive sufficient oxygen and nutrients</a:t>
            </a:r>
          </a:p>
        </p:txBody>
      </p:sp>
      <p:pic>
        <p:nvPicPr>
          <p:cNvPr id="5" name="Picture 4" descr="A diagram of the internal organs of a person&#10;&#10;AI-generated content may be incorrect.">
            <a:extLst>
              <a:ext uri="{FF2B5EF4-FFF2-40B4-BE49-F238E27FC236}">
                <a16:creationId xmlns:a16="http://schemas.microsoft.com/office/drawing/2014/main" id="{D67F366A-C308-63F3-16C4-7997EAD7C7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48309" y="516164"/>
            <a:ext cx="4479441" cy="6064043"/>
          </a:xfrm>
          <a:prstGeom prst="rect">
            <a:avLst/>
          </a:prstGeom>
        </p:spPr>
      </p:pic>
      <p:pic>
        <p:nvPicPr>
          <p:cNvPr id="4" name="Picture 2" descr="Adrenal Gland: What It Is, Function, Symptoms &amp; Disorders">
            <a:extLst>
              <a:ext uri="{FF2B5EF4-FFF2-40B4-BE49-F238E27FC236}">
                <a16:creationId xmlns:a16="http://schemas.microsoft.com/office/drawing/2014/main" id="{E7CC290B-16B4-E8C4-04DA-C0D1AC87AAC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6720" t="25657" b="26070"/>
          <a:stretch>
            <a:fillRect/>
          </a:stretch>
        </p:blipFill>
        <p:spPr bwMode="auto">
          <a:xfrm>
            <a:off x="7122651" y="3705994"/>
            <a:ext cx="778637" cy="9541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2714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96F1E-B735-3EC2-B4B2-C83186D382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C079BD-9AAC-77D8-8FA0-07C4FC8BC35D}"/>
              </a:ext>
            </a:extLst>
          </p:cNvPr>
          <p:cNvSpPr>
            <a:spLocks noGrp="1"/>
          </p:cNvSpPr>
          <p:nvPr>
            <p:ph type="title"/>
          </p:nvPr>
        </p:nvSpPr>
        <p:spPr/>
        <p:txBody>
          <a:bodyPr/>
          <a:lstStyle/>
          <a:p>
            <a:r>
              <a:rPr lang="en-US" dirty="0"/>
              <a:t>Hormone Systems</a:t>
            </a:r>
          </a:p>
        </p:txBody>
      </p:sp>
      <p:sp>
        <p:nvSpPr>
          <p:cNvPr id="3" name="Content Placeholder 2">
            <a:extLst>
              <a:ext uri="{FF2B5EF4-FFF2-40B4-BE49-F238E27FC236}">
                <a16:creationId xmlns:a16="http://schemas.microsoft.com/office/drawing/2014/main" id="{0D765F32-F9B2-558E-1D02-50CCDF155B34}"/>
              </a:ext>
            </a:extLst>
          </p:cNvPr>
          <p:cNvSpPr>
            <a:spLocks noGrp="1"/>
          </p:cNvSpPr>
          <p:nvPr>
            <p:ph idx="1"/>
          </p:nvPr>
        </p:nvSpPr>
        <p:spPr>
          <a:xfrm>
            <a:off x="838200" y="1825625"/>
            <a:ext cx="6673770" cy="4351338"/>
          </a:xfrm>
        </p:spPr>
        <p:txBody>
          <a:bodyPr>
            <a:normAutofit/>
          </a:bodyPr>
          <a:lstStyle/>
          <a:p>
            <a:pPr marL="0" indent="0">
              <a:buNone/>
            </a:pPr>
            <a:r>
              <a:rPr lang="en-US" b="1" dirty="0"/>
              <a:t>Adrenal Medulla</a:t>
            </a:r>
          </a:p>
          <a:p>
            <a:r>
              <a:rPr lang="en-US" b="1" dirty="0"/>
              <a:t>Hormones:</a:t>
            </a:r>
            <a:r>
              <a:rPr lang="en-US" dirty="0"/>
              <a:t> Epinephrine and Norepinephrine</a:t>
            </a:r>
          </a:p>
          <a:p>
            <a:pPr lvl="1"/>
            <a:r>
              <a:rPr lang="en-US" dirty="0"/>
              <a:t>Amine hormones</a:t>
            </a:r>
          </a:p>
          <a:p>
            <a:r>
              <a:rPr lang="en-US" b="1" dirty="0"/>
              <a:t>Function:</a:t>
            </a:r>
          </a:p>
          <a:p>
            <a:pPr lvl="1"/>
            <a:r>
              <a:rPr lang="en-US" dirty="0"/>
              <a:t>Fight-or-flight response</a:t>
            </a:r>
          </a:p>
          <a:p>
            <a:pPr lvl="1"/>
            <a:r>
              <a:rPr lang="en-US" dirty="0"/>
              <a:t>Raises heart rate and respiration rate</a:t>
            </a:r>
          </a:p>
          <a:p>
            <a:r>
              <a:rPr lang="en-US" i="1" dirty="0"/>
              <a:t>Not stimulated by the hypothalamus + pituitary gland</a:t>
            </a:r>
          </a:p>
        </p:txBody>
      </p:sp>
      <p:pic>
        <p:nvPicPr>
          <p:cNvPr id="5" name="Picture 4" descr="A diagram of the internal organs of a person&#10;&#10;AI-generated content may be incorrect.">
            <a:extLst>
              <a:ext uri="{FF2B5EF4-FFF2-40B4-BE49-F238E27FC236}">
                <a16:creationId xmlns:a16="http://schemas.microsoft.com/office/drawing/2014/main" id="{231E0ACF-80AB-EBD4-8642-B9086E6CEA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48309" y="516164"/>
            <a:ext cx="4479441" cy="6064043"/>
          </a:xfrm>
          <a:prstGeom prst="rect">
            <a:avLst/>
          </a:prstGeom>
        </p:spPr>
      </p:pic>
      <p:pic>
        <p:nvPicPr>
          <p:cNvPr id="4" name="Picture 2" descr="Adrenal Gland: What It Is, Function, Symptoms &amp; Disorders">
            <a:extLst>
              <a:ext uri="{FF2B5EF4-FFF2-40B4-BE49-F238E27FC236}">
                <a16:creationId xmlns:a16="http://schemas.microsoft.com/office/drawing/2014/main" id="{818444E5-7F6D-3D4E-D57B-BFA4620F6A8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6720" t="25657" b="26070"/>
          <a:stretch>
            <a:fillRect/>
          </a:stretch>
        </p:blipFill>
        <p:spPr bwMode="auto">
          <a:xfrm>
            <a:off x="7122651" y="3705994"/>
            <a:ext cx="778637" cy="9541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3132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865FA-163D-5ADB-12B6-1429D228A4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9C5E4B-CE31-5564-98A4-5EC9F1DE9C55}"/>
              </a:ext>
            </a:extLst>
          </p:cNvPr>
          <p:cNvSpPr>
            <a:spLocks noGrp="1"/>
          </p:cNvSpPr>
          <p:nvPr>
            <p:ph type="title"/>
          </p:nvPr>
        </p:nvSpPr>
        <p:spPr/>
        <p:txBody>
          <a:bodyPr/>
          <a:lstStyle/>
          <a:p>
            <a:r>
              <a:rPr lang="en-US" dirty="0"/>
              <a:t>Hormone Systems</a:t>
            </a:r>
          </a:p>
        </p:txBody>
      </p:sp>
      <p:sp>
        <p:nvSpPr>
          <p:cNvPr id="3" name="Content Placeholder 2">
            <a:extLst>
              <a:ext uri="{FF2B5EF4-FFF2-40B4-BE49-F238E27FC236}">
                <a16:creationId xmlns:a16="http://schemas.microsoft.com/office/drawing/2014/main" id="{FD8A8F14-B717-1788-9BA9-81B2A8386479}"/>
              </a:ext>
            </a:extLst>
          </p:cNvPr>
          <p:cNvSpPr>
            <a:spLocks noGrp="1"/>
          </p:cNvSpPr>
          <p:nvPr>
            <p:ph idx="1"/>
          </p:nvPr>
        </p:nvSpPr>
        <p:spPr>
          <a:xfrm>
            <a:off x="838200" y="1825625"/>
            <a:ext cx="6772275" cy="4351338"/>
          </a:xfrm>
        </p:spPr>
        <p:txBody>
          <a:bodyPr>
            <a:normAutofit fontScale="92500" lnSpcReduction="10000"/>
          </a:bodyPr>
          <a:lstStyle/>
          <a:p>
            <a:pPr marL="0" indent="0">
              <a:buNone/>
            </a:pPr>
            <a:r>
              <a:rPr lang="en-US" b="1" dirty="0"/>
              <a:t>Thyroid Gland</a:t>
            </a:r>
            <a:endParaRPr lang="en-US" dirty="0"/>
          </a:p>
          <a:p>
            <a:r>
              <a:rPr lang="en-US" b="1" dirty="0"/>
              <a:t>Hormone</a:t>
            </a:r>
            <a:r>
              <a:rPr lang="en-US" dirty="0"/>
              <a:t>: Thyroid hormones</a:t>
            </a:r>
          </a:p>
          <a:p>
            <a:pPr lvl="1"/>
            <a:r>
              <a:rPr lang="en-US" dirty="0"/>
              <a:t>Amine hormones</a:t>
            </a:r>
          </a:p>
          <a:p>
            <a:r>
              <a:rPr lang="en-US" b="1" dirty="0"/>
              <a:t>Function</a:t>
            </a:r>
            <a:r>
              <a:rPr lang="en-US" dirty="0"/>
              <a:t>: </a:t>
            </a:r>
          </a:p>
          <a:p>
            <a:pPr lvl="1"/>
            <a:r>
              <a:rPr lang="en-US" dirty="0"/>
              <a:t>Regulates physiological processes including metabolism, heart rate, digestion, breathing, alertness, and reflexes</a:t>
            </a:r>
          </a:p>
          <a:p>
            <a:pPr lvl="1"/>
            <a:r>
              <a:rPr lang="en-US" dirty="0"/>
              <a:t>Essential for proper growth and development early in life</a:t>
            </a:r>
          </a:p>
          <a:p>
            <a:pPr lvl="1"/>
            <a:r>
              <a:rPr lang="en-US" dirty="0"/>
              <a:t>Important for brain development, including the formation of axons and dendrites</a:t>
            </a:r>
          </a:p>
          <a:p>
            <a:pPr lvl="1"/>
            <a:r>
              <a:rPr lang="en-US" dirty="0"/>
              <a:t>Thyroid hormone deficiency during development can cause intellectual disability</a:t>
            </a:r>
          </a:p>
          <a:p>
            <a:pPr lvl="1"/>
            <a:endParaRPr lang="en-US" dirty="0"/>
          </a:p>
        </p:txBody>
      </p:sp>
      <p:pic>
        <p:nvPicPr>
          <p:cNvPr id="4" name="Picture 3" descr="A diagram of the internal organs of a person&#10;&#10;AI-generated content may be incorrect.">
            <a:extLst>
              <a:ext uri="{FF2B5EF4-FFF2-40B4-BE49-F238E27FC236}">
                <a16:creationId xmlns:a16="http://schemas.microsoft.com/office/drawing/2014/main" id="{8FA880F1-E73D-1B43-86EA-DADCFAED60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48309" y="516164"/>
            <a:ext cx="4479441" cy="6064043"/>
          </a:xfrm>
          <a:prstGeom prst="rect">
            <a:avLst/>
          </a:prstGeom>
        </p:spPr>
      </p:pic>
    </p:spTree>
    <p:extLst>
      <p:ext uri="{BB962C8B-B14F-4D97-AF65-F5344CB8AC3E}">
        <p14:creationId xmlns:p14="http://schemas.microsoft.com/office/powerpoint/2010/main" val="242297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8720D-B063-3116-648A-559D4E3F10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A39C71-8214-E630-69B5-165C25590245}"/>
              </a:ext>
            </a:extLst>
          </p:cNvPr>
          <p:cNvSpPr>
            <a:spLocks noGrp="1"/>
          </p:cNvSpPr>
          <p:nvPr>
            <p:ph type="title"/>
          </p:nvPr>
        </p:nvSpPr>
        <p:spPr/>
        <p:txBody>
          <a:bodyPr/>
          <a:lstStyle/>
          <a:p>
            <a:r>
              <a:rPr lang="en-US" dirty="0"/>
              <a:t>Hormone Systems</a:t>
            </a:r>
          </a:p>
        </p:txBody>
      </p:sp>
      <p:sp>
        <p:nvSpPr>
          <p:cNvPr id="3" name="Content Placeholder 2">
            <a:extLst>
              <a:ext uri="{FF2B5EF4-FFF2-40B4-BE49-F238E27FC236}">
                <a16:creationId xmlns:a16="http://schemas.microsoft.com/office/drawing/2014/main" id="{1E34B0F5-6FFE-A5D0-E8D0-7EE08FEBD252}"/>
              </a:ext>
            </a:extLst>
          </p:cNvPr>
          <p:cNvSpPr>
            <a:spLocks noGrp="1"/>
          </p:cNvSpPr>
          <p:nvPr>
            <p:ph idx="1"/>
          </p:nvPr>
        </p:nvSpPr>
        <p:spPr>
          <a:xfrm>
            <a:off x="838200" y="1825625"/>
            <a:ext cx="6800850" cy="4565650"/>
          </a:xfrm>
        </p:spPr>
        <p:txBody>
          <a:bodyPr>
            <a:normAutofit fontScale="92500" lnSpcReduction="20000"/>
          </a:bodyPr>
          <a:lstStyle/>
          <a:p>
            <a:pPr marL="0" indent="0">
              <a:buNone/>
            </a:pPr>
            <a:r>
              <a:rPr lang="en-US" b="1" dirty="0"/>
              <a:t>Testes</a:t>
            </a:r>
            <a:endParaRPr lang="en-US" dirty="0"/>
          </a:p>
          <a:p>
            <a:r>
              <a:rPr lang="en-US" b="1" dirty="0"/>
              <a:t>Hormone</a:t>
            </a:r>
            <a:r>
              <a:rPr lang="en-US" dirty="0"/>
              <a:t>: Testosterone</a:t>
            </a:r>
          </a:p>
          <a:p>
            <a:pPr lvl="1"/>
            <a:r>
              <a:rPr lang="en-US" dirty="0"/>
              <a:t>Steroid hormone</a:t>
            </a:r>
          </a:p>
          <a:p>
            <a:r>
              <a:rPr lang="en-US" b="1" dirty="0"/>
              <a:t>Function: </a:t>
            </a:r>
          </a:p>
          <a:p>
            <a:pPr lvl="1"/>
            <a:r>
              <a:rPr lang="en-US" dirty="0"/>
              <a:t>Sperm production</a:t>
            </a:r>
          </a:p>
          <a:p>
            <a:pPr lvl="1"/>
            <a:r>
              <a:rPr lang="en-US" dirty="0"/>
              <a:t>Determines puberty and sexual development</a:t>
            </a:r>
          </a:p>
          <a:p>
            <a:pPr lvl="2"/>
            <a:r>
              <a:rPr lang="en-US" dirty="0"/>
              <a:t>Deepening of voice, hair growth, genital growth</a:t>
            </a:r>
          </a:p>
          <a:p>
            <a:pPr lvl="1"/>
            <a:r>
              <a:rPr lang="en-US" dirty="0"/>
              <a:t>Influences seasonal mating characteristics </a:t>
            </a:r>
          </a:p>
          <a:p>
            <a:pPr lvl="2"/>
            <a:r>
              <a:rPr lang="en-US" dirty="0"/>
              <a:t>E.g., antler development</a:t>
            </a:r>
          </a:p>
          <a:p>
            <a:pPr lvl="1"/>
            <a:r>
              <a:rPr lang="en-US" dirty="0"/>
              <a:t>Declines with old age</a:t>
            </a:r>
          </a:p>
          <a:p>
            <a:pPr lvl="2"/>
            <a:r>
              <a:rPr lang="en-US" dirty="0"/>
              <a:t>Positively linked to memory and attention in elderly</a:t>
            </a:r>
          </a:p>
          <a:p>
            <a:pPr lvl="1"/>
            <a:r>
              <a:rPr lang="en-US" dirty="0"/>
              <a:t>Associated with increased aggression and reduced cooperative </a:t>
            </a:r>
            <a:r>
              <a:rPr lang="en-US" dirty="0" err="1"/>
              <a:t>behaviours</a:t>
            </a:r>
            <a:r>
              <a:rPr lang="en-US" dirty="0"/>
              <a:t> in some contexts</a:t>
            </a:r>
          </a:p>
        </p:txBody>
      </p:sp>
      <p:pic>
        <p:nvPicPr>
          <p:cNvPr id="4" name="Picture 3" descr="A diagram of the internal organs of a person&#10;&#10;AI-generated content may be incorrect.">
            <a:extLst>
              <a:ext uri="{FF2B5EF4-FFF2-40B4-BE49-F238E27FC236}">
                <a16:creationId xmlns:a16="http://schemas.microsoft.com/office/drawing/2014/main" id="{BFB8A85E-11F4-1255-6B11-5390FD2D76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48309" y="516164"/>
            <a:ext cx="4479441" cy="6064043"/>
          </a:xfrm>
          <a:prstGeom prst="rect">
            <a:avLst/>
          </a:prstGeom>
        </p:spPr>
      </p:pic>
    </p:spTree>
    <p:extLst>
      <p:ext uri="{BB962C8B-B14F-4D97-AF65-F5344CB8AC3E}">
        <p14:creationId xmlns:p14="http://schemas.microsoft.com/office/powerpoint/2010/main" val="3401067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AFBFC-7DFF-BCE3-14F0-1F147DAAEE0C}"/>
            </a:ext>
          </a:extLst>
        </p:cNvPr>
        <p:cNvGrpSpPr/>
        <p:nvPr/>
      </p:nvGrpSpPr>
      <p:grpSpPr>
        <a:xfrm>
          <a:off x="0" y="0"/>
          <a:ext cx="0" cy="0"/>
          <a:chOff x="0" y="0"/>
          <a:chExt cx="0" cy="0"/>
        </a:xfrm>
      </p:grpSpPr>
      <p:pic>
        <p:nvPicPr>
          <p:cNvPr id="6" name="Content Placeholder 6" descr="Berthold's 1849 experiment demonstrated the importance of hormones for behavior. In Group 1, left undisturbed, young roosters grow up to have large red wattles and combs, to mount and mate with hens readily, and to fight one another and crow loudly. Comb and wattles: Large; Mount hens? Yes; Aggressive? Yes; Crowing? Normal. In Group 2, males whose testes were removed during development displayed neither the appearance nor the behavior of normal roosters or adults. Comb and wattles: Small; Mount hens? No; Aggressive? No; Crowing? Weak. In Group 3, when one of the testes was re-implanted into the abdominal cavity immediately after its removal, the rooster developed normal wattles and normal behavior. Comb and wattles: Large; Mount hens? Yes; Aggressive? Yes; Crowing? Normal. ">
            <a:extLst>
              <a:ext uri="{FF2B5EF4-FFF2-40B4-BE49-F238E27FC236}">
                <a16:creationId xmlns:a16="http://schemas.microsoft.com/office/drawing/2014/main" id="{7E1AC672-A2AA-D3DA-5C62-2BCDF06F06E7}"/>
              </a:ext>
            </a:extLst>
          </p:cNvPr>
          <p:cNvPicPr>
            <a:picLocks noChangeAspect="1"/>
          </p:cNvPicPr>
          <p:nvPr/>
        </p:nvPicPr>
        <p:blipFill>
          <a:blip r:embed="rId2"/>
          <a:srcRect l="-991" r="34298"/>
          <a:stretch>
            <a:fillRect/>
          </a:stretch>
        </p:blipFill>
        <p:spPr>
          <a:xfrm>
            <a:off x="5771283" y="1214437"/>
            <a:ext cx="6343382" cy="5811838"/>
          </a:xfrm>
          <a:prstGeom prst="rect">
            <a:avLst/>
          </a:prstGeom>
        </p:spPr>
      </p:pic>
      <p:sp>
        <p:nvSpPr>
          <p:cNvPr id="2" name="Title 1">
            <a:extLst>
              <a:ext uri="{FF2B5EF4-FFF2-40B4-BE49-F238E27FC236}">
                <a16:creationId xmlns:a16="http://schemas.microsoft.com/office/drawing/2014/main" id="{99031131-389D-2919-6D38-768FA917A8E8}"/>
              </a:ext>
            </a:extLst>
          </p:cNvPr>
          <p:cNvSpPr>
            <a:spLocks noGrp="1"/>
          </p:cNvSpPr>
          <p:nvPr>
            <p:ph type="title"/>
          </p:nvPr>
        </p:nvSpPr>
        <p:spPr/>
        <p:txBody>
          <a:bodyPr/>
          <a:lstStyle/>
          <a:p>
            <a:r>
              <a:rPr lang="en-US" dirty="0"/>
              <a:t>Hormone Systems</a:t>
            </a:r>
          </a:p>
        </p:txBody>
      </p:sp>
      <p:sp>
        <p:nvSpPr>
          <p:cNvPr id="3" name="Content Placeholder 2">
            <a:extLst>
              <a:ext uri="{FF2B5EF4-FFF2-40B4-BE49-F238E27FC236}">
                <a16:creationId xmlns:a16="http://schemas.microsoft.com/office/drawing/2014/main" id="{092CB796-9D60-9622-3867-F50A711B645F}"/>
              </a:ext>
            </a:extLst>
          </p:cNvPr>
          <p:cNvSpPr>
            <a:spLocks noGrp="1"/>
          </p:cNvSpPr>
          <p:nvPr>
            <p:ph idx="1"/>
          </p:nvPr>
        </p:nvSpPr>
        <p:spPr>
          <a:xfrm>
            <a:off x="838200" y="1825624"/>
            <a:ext cx="6153150" cy="4841875"/>
          </a:xfrm>
        </p:spPr>
        <p:txBody>
          <a:bodyPr>
            <a:normAutofit fontScale="92500" lnSpcReduction="10000"/>
          </a:bodyPr>
          <a:lstStyle/>
          <a:p>
            <a:pPr marL="0" lvl="0" indent="0">
              <a:buNone/>
            </a:pPr>
            <a:r>
              <a:rPr lang="en-US" b="1" dirty="0"/>
              <a:t>Berthold, 1849</a:t>
            </a:r>
          </a:p>
          <a:p>
            <a:r>
              <a:rPr lang="en-US" b="1" dirty="0"/>
              <a:t>Research Question: </a:t>
            </a:r>
            <a:r>
              <a:rPr lang="en-US" dirty="0"/>
              <a:t>Does the presence of testes affect the behavior and physical traits of male roosters?</a:t>
            </a:r>
          </a:p>
          <a:p>
            <a:endParaRPr lang="en-US" sz="2200" dirty="0"/>
          </a:p>
          <a:p>
            <a:r>
              <a:rPr lang="en-US" b="1" dirty="0"/>
              <a:t>Method: </a:t>
            </a:r>
            <a:r>
              <a:rPr lang="en-US" dirty="0"/>
              <a:t>Physical and </a:t>
            </a:r>
            <a:r>
              <a:rPr lang="en-US" dirty="0" err="1"/>
              <a:t>behavioural</a:t>
            </a:r>
            <a:r>
              <a:rPr lang="en-US" dirty="0"/>
              <a:t> traits of roosters were analyzed in terms of the status of their testes</a:t>
            </a:r>
          </a:p>
          <a:p>
            <a:endParaRPr lang="en-US" sz="2200" dirty="0"/>
          </a:p>
          <a:p>
            <a:r>
              <a:rPr lang="en-US" b="1" dirty="0"/>
              <a:t>Manipulation: </a:t>
            </a:r>
            <a:r>
              <a:rPr lang="en-US" dirty="0"/>
              <a:t>Surgical</a:t>
            </a:r>
          </a:p>
          <a:p>
            <a:pPr lvl="1"/>
            <a:r>
              <a:rPr lang="en-US" sz="1900" dirty="0"/>
              <a:t>Healthy controls</a:t>
            </a:r>
          </a:p>
          <a:p>
            <a:pPr lvl="1"/>
            <a:r>
              <a:rPr lang="en-US" sz="1900" dirty="0"/>
              <a:t>Castrated only</a:t>
            </a:r>
          </a:p>
          <a:p>
            <a:pPr lvl="1"/>
            <a:r>
              <a:rPr lang="en-US" sz="1900" dirty="0"/>
              <a:t>Castrated with transplanted testes</a:t>
            </a:r>
          </a:p>
          <a:p>
            <a:endParaRPr lang="en-US" sz="2200" dirty="0"/>
          </a:p>
        </p:txBody>
      </p:sp>
    </p:spTree>
    <p:extLst>
      <p:ext uri="{BB962C8B-B14F-4D97-AF65-F5344CB8AC3E}">
        <p14:creationId xmlns:p14="http://schemas.microsoft.com/office/powerpoint/2010/main" val="2774346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FF95A-6F64-E8CD-7965-85F812E06361}"/>
            </a:ext>
          </a:extLst>
        </p:cNvPr>
        <p:cNvGrpSpPr/>
        <p:nvPr/>
      </p:nvGrpSpPr>
      <p:grpSpPr>
        <a:xfrm>
          <a:off x="0" y="0"/>
          <a:ext cx="0" cy="0"/>
          <a:chOff x="0" y="0"/>
          <a:chExt cx="0" cy="0"/>
        </a:xfrm>
      </p:grpSpPr>
      <p:pic>
        <p:nvPicPr>
          <p:cNvPr id="6" name="Content Placeholder 6" descr="Berthold's 1849 experiment demonstrated the importance of hormones for behavior. In Group 1, left undisturbed, young roosters grow up to have large red wattles and combs, to mount and mate with hens readily, and to fight one another and crow loudly. Comb and wattles: Large; Mount hens? Yes; Aggressive? Yes; Crowing? Normal. In Group 2, males whose testes were removed during development displayed neither the appearance nor the behavior of normal roosters or adults. Comb and wattles: Small; Mount hens? No; Aggressive? No; Crowing? Weak. In Group 3, when one of the testes was re-implanted into the abdominal cavity immediately after its removal, the rooster developed normal wattles and normal behavior. Comb and wattles: Large; Mount hens? Yes; Aggressive? Yes; Crowing? Normal. ">
            <a:extLst>
              <a:ext uri="{FF2B5EF4-FFF2-40B4-BE49-F238E27FC236}">
                <a16:creationId xmlns:a16="http://schemas.microsoft.com/office/drawing/2014/main" id="{3458C4DA-7EBA-4640-9847-83C8AC39A39E}"/>
              </a:ext>
            </a:extLst>
          </p:cNvPr>
          <p:cNvPicPr>
            <a:picLocks noChangeAspect="1"/>
          </p:cNvPicPr>
          <p:nvPr/>
        </p:nvPicPr>
        <p:blipFill>
          <a:blip r:embed="rId2"/>
          <a:srcRect l="-991" r="34298"/>
          <a:stretch>
            <a:fillRect/>
          </a:stretch>
        </p:blipFill>
        <p:spPr>
          <a:xfrm>
            <a:off x="5771283" y="1214437"/>
            <a:ext cx="6343382" cy="5811838"/>
          </a:xfrm>
          <a:prstGeom prst="rect">
            <a:avLst/>
          </a:prstGeom>
        </p:spPr>
      </p:pic>
      <p:sp>
        <p:nvSpPr>
          <p:cNvPr id="2" name="Title 1">
            <a:extLst>
              <a:ext uri="{FF2B5EF4-FFF2-40B4-BE49-F238E27FC236}">
                <a16:creationId xmlns:a16="http://schemas.microsoft.com/office/drawing/2014/main" id="{50D557CA-C8F7-0D11-09EF-5C1663B43A14}"/>
              </a:ext>
            </a:extLst>
          </p:cNvPr>
          <p:cNvSpPr>
            <a:spLocks noGrp="1"/>
          </p:cNvSpPr>
          <p:nvPr>
            <p:ph type="title"/>
          </p:nvPr>
        </p:nvSpPr>
        <p:spPr/>
        <p:txBody>
          <a:bodyPr/>
          <a:lstStyle/>
          <a:p>
            <a:r>
              <a:rPr lang="en-US" dirty="0"/>
              <a:t>Hormone Systems</a:t>
            </a:r>
          </a:p>
        </p:txBody>
      </p:sp>
      <p:sp>
        <p:nvSpPr>
          <p:cNvPr id="3" name="Content Placeholder 2">
            <a:extLst>
              <a:ext uri="{FF2B5EF4-FFF2-40B4-BE49-F238E27FC236}">
                <a16:creationId xmlns:a16="http://schemas.microsoft.com/office/drawing/2014/main" id="{74E06F77-6777-26AE-0FBE-42DE422BE861}"/>
              </a:ext>
            </a:extLst>
          </p:cNvPr>
          <p:cNvSpPr>
            <a:spLocks noGrp="1"/>
          </p:cNvSpPr>
          <p:nvPr>
            <p:ph idx="1"/>
          </p:nvPr>
        </p:nvSpPr>
        <p:spPr>
          <a:xfrm>
            <a:off x="838200" y="1825625"/>
            <a:ext cx="6153150" cy="4365626"/>
          </a:xfrm>
        </p:spPr>
        <p:txBody>
          <a:bodyPr>
            <a:normAutofit lnSpcReduction="10000"/>
          </a:bodyPr>
          <a:lstStyle/>
          <a:p>
            <a:pPr marL="0" indent="0">
              <a:buNone/>
            </a:pPr>
            <a:r>
              <a:rPr lang="en-US" b="1" dirty="0"/>
              <a:t>Berthold, 1849</a:t>
            </a:r>
          </a:p>
          <a:p>
            <a:r>
              <a:rPr lang="en-US" b="1" dirty="0"/>
              <a:t>Dependent Variable</a:t>
            </a:r>
            <a:endParaRPr lang="en-US" dirty="0"/>
          </a:p>
          <a:p>
            <a:pPr lvl="1"/>
            <a:r>
              <a:rPr lang="en-US" sz="2000" b="1" dirty="0"/>
              <a:t>Physical</a:t>
            </a:r>
            <a:r>
              <a:rPr lang="en-US" sz="2000" dirty="0"/>
              <a:t>: Comb and wattles</a:t>
            </a:r>
          </a:p>
          <a:p>
            <a:pPr lvl="1"/>
            <a:r>
              <a:rPr lang="en-US" sz="2000" b="1" dirty="0" err="1"/>
              <a:t>Behavioural</a:t>
            </a:r>
            <a:r>
              <a:rPr lang="en-US" sz="2000" dirty="0"/>
              <a:t>: Mounting, aggression, crowing</a:t>
            </a:r>
          </a:p>
          <a:p>
            <a:endParaRPr lang="en-US" sz="2200" dirty="0"/>
          </a:p>
          <a:p>
            <a:r>
              <a:rPr lang="en-US" b="1" dirty="0"/>
              <a:t>Results</a:t>
            </a:r>
            <a:endParaRPr lang="en-US" dirty="0"/>
          </a:p>
          <a:p>
            <a:pPr lvl="1"/>
            <a:r>
              <a:rPr lang="en-US" sz="2000" b="1" dirty="0"/>
              <a:t>Physical</a:t>
            </a:r>
            <a:r>
              <a:rPr lang="en-US" sz="2000" dirty="0"/>
              <a:t>: Castrated roosters developed small comb and wattles</a:t>
            </a:r>
          </a:p>
          <a:p>
            <a:pPr lvl="1"/>
            <a:r>
              <a:rPr lang="en-US" sz="2000" b="1" dirty="0" err="1"/>
              <a:t>Behavioural</a:t>
            </a:r>
            <a:r>
              <a:rPr lang="en-US" sz="2000" dirty="0"/>
              <a:t>: Castrated roosters did not show typical mounting, aggression, or crowing </a:t>
            </a:r>
          </a:p>
          <a:p>
            <a:pPr lvl="1"/>
            <a:r>
              <a:rPr lang="en-US" sz="2000" dirty="0"/>
              <a:t>Transplanted group showed normal physical and </a:t>
            </a:r>
            <a:r>
              <a:rPr lang="en-US" sz="2000" dirty="0" err="1"/>
              <a:t>behavioural</a:t>
            </a:r>
            <a:r>
              <a:rPr lang="en-US" sz="2000" dirty="0"/>
              <a:t> characteristics</a:t>
            </a:r>
          </a:p>
          <a:p>
            <a:pPr lvl="2"/>
            <a:r>
              <a:rPr lang="en-US" sz="1600" dirty="0"/>
              <a:t>Even when from another rooster</a:t>
            </a:r>
          </a:p>
          <a:p>
            <a:endParaRPr lang="en-US" sz="2200" dirty="0"/>
          </a:p>
          <a:p>
            <a:pPr marL="0" indent="0">
              <a:buNone/>
            </a:pPr>
            <a:endParaRPr lang="en-US" sz="2200" dirty="0"/>
          </a:p>
        </p:txBody>
      </p:sp>
    </p:spTree>
    <p:extLst>
      <p:ext uri="{BB962C8B-B14F-4D97-AF65-F5344CB8AC3E}">
        <p14:creationId xmlns:p14="http://schemas.microsoft.com/office/powerpoint/2010/main" val="2172250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284A9-0D72-544C-6CDC-7EDF0AA24D3F}"/>
            </a:ext>
          </a:extLst>
        </p:cNvPr>
        <p:cNvGrpSpPr/>
        <p:nvPr/>
      </p:nvGrpSpPr>
      <p:grpSpPr>
        <a:xfrm>
          <a:off x="0" y="0"/>
          <a:ext cx="0" cy="0"/>
          <a:chOff x="0" y="0"/>
          <a:chExt cx="0" cy="0"/>
        </a:xfrm>
      </p:grpSpPr>
      <p:pic>
        <p:nvPicPr>
          <p:cNvPr id="6" name="Content Placeholder 6" descr="Berthold's 1849 experiment demonstrated the importance of hormones for behavior. In Group 1, left undisturbed, young roosters grow up to have large red wattles and combs, to mount and mate with hens readily, and to fight one another and crow loudly. Comb and wattles: Large; Mount hens? Yes; Aggressive? Yes; Crowing? Normal. In Group 2, males whose testes were removed during development displayed neither the appearance nor the behavior of normal roosters or adults. Comb and wattles: Small; Mount hens? No; Aggressive? No; Crowing? Weak. In Group 3, when one of the testes was re-implanted into the abdominal cavity immediately after its removal, the rooster developed normal wattles and normal behavior. Comb and wattles: Large; Mount hens? Yes; Aggressive? Yes; Crowing? Normal. ">
            <a:extLst>
              <a:ext uri="{FF2B5EF4-FFF2-40B4-BE49-F238E27FC236}">
                <a16:creationId xmlns:a16="http://schemas.microsoft.com/office/drawing/2014/main" id="{EFE36F0B-0544-3A6E-D195-812665F759C7}"/>
              </a:ext>
            </a:extLst>
          </p:cNvPr>
          <p:cNvPicPr>
            <a:picLocks noChangeAspect="1"/>
          </p:cNvPicPr>
          <p:nvPr/>
        </p:nvPicPr>
        <p:blipFill>
          <a:blip r:embed="rId2"/>
          <a:srcRect l="-991" r="34298"/>
          <a:stretch>
            <a:fillRect/>
          </a:stretch>
        </p:blipFill>
        <p:spPr>
          <a:xfrm>
            <a:off x="5771283" y="1214437"/>
            <a:ext cx="6343382" cy="5811838"/>
          </a:xfrm>
          <a:prstGeom prst="rect">
            <a:avLst/>
          </a:prstGeom>
        </p:spPr>
      </p:pic>
      <p:sp>
        <p:nvSpPr>
          <p:cNvPr id="2" name="Title 1">
            <a:extLst>
              <a:ext uri="{FF2B5EF4-FFF2-40B4-BE49-F238E27FC236}">
                <a16:creationId xmlns:a16="http://schemas.microsoft.com/office/drawing/2014/main" id="{087CEEC4-495B-5307-CF3C-3AD1AB0A1E69}"/>
              </a:ext>
            </a:extLst>
          </p:cNvPr>
          <p:cNvSpPr>
            <a:spLocks noGrp="1"/>
          </p:cNvSpPr>
          <p:nvPr>
            <p:ph type="title"/>
          </p:nvPr>
        </p:nvSpPr>
        <p:spPr/>
        <p:txBody>
          <a:bodyPr/>
          <a:lstStyle/>
          <a:p>
            <a:r>
              <a:rPr lang="en-US" dirty="0"/>
              <a:t>Hormone Systems</a:t>
            </a:r>
          </a:p>
        </p:txBody>
      </p:sp>
      <p:sp>
        <p:nvSpPr>
          <p:cNvPr id="3" name="Content Placeholder 2">
            <a:extLst>
              <a:ext uri="{FF2B5EF4-FFF2-40B4-BE49-F238E27FC236}">
                <a16:creationId xmlns:a16="http://schemas.microsoft.com/office/drawing/2014/main" id="{9E3379CC-E2FE-55F1-3EE5-AEAF07B79A02}"/>
              </a:ext>
            </a:extLst>
          </p:cNvPr>
          <p:cNvSpPr>
            <a:spLocks noGrp="1"/>
          </p:cNvSpPr>
          <p:nvPr>
            <p:ph idx="1"/>
          </p:nvPr>
        </p:nvSpPr>
        <p:spPr>
          <a:xfrm>
            <a:off x="838200" y="1825624"/>
            <a:ext cx="6153150" cy="5032375"/>
          </a:xfrm>
        </p:spPr>
        <p:txBody>
          <a:bodyPr>
            <a:normAutofit/>
          </a:bodyPr>
          <a:lstStyle/>
          <a:p>
            <a:pPr marL="0" indent="0">
              <a:buNone/>
            </a:pPr>
            <a:r>
              <a:rPr lang="en-US" b="1" dirty="0"/>
              <a:t>Berthold, 1849</a:t>
            </a:r>
          </a:p>
          <a:p>
            <a:r>
              <a:rPr lang="en-US" b="1" dirty="0"/>
              <a:t>Conclusion</a:t>
            </a:r>
            <a:endParaRPr lang="en-US" dirty="0"/>
          </a:p>
          <a:p>
            <a:pPr lvl="1"/>
            <a:r>
              <a:rPr lang="en-US" sz="2000" dirty="0"/>
              <a:t>Testes are important for producing typical physical and </a:t>
            </a:r>
            <a:r>
              <a:rPr lang="en-US" sz="2000" dirty="0" err="1"/>
              <a:t>behavioural</a:t>
            </a:r>
            <a:r>
              <a:rPr lang="en-US" sz="2000" dirty="0"/>
              <a:t> characteristics in roosters</a:t>
            </a:r>
          </a:p>
          <a:p>
            <a:pPr lvl="1"/>
            <a:r>
              <a:rPr lang="en-US" sz="2000" dirty="0"/>
              <a:t>The transplantation of testes was sufficient to produce these characteristics</a:t>
            </a:r>
          </a:p>
          <a:p>
            <a:pPr lvl="2"/>
            <a:r>
              <a:rPr lang="en-US" sz="1600" dirty="0"/>
              <a:t>Thus, it was not the surgical procedure itself that caused the change in characteristics</a:t>
            </a:r>
          </a:p>
        </p:txBody>
      </p:sp>
    </p:spTree>
    <p:extLst>
      <p:ext uri="{BB962C8B-B14F-4D97-AF65-F5344CB8AC3E}">
        <p14:creationId xmlns:p14="http://schemas.microsoft.com/office/powerpoint/2010/main" val="4031148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82284-BA24-4080-2D60-25E01EF4F4C2}"/>
            </a:ext>
          </a:extLst>
        </p:cNvPr>
        <p:cNvGrpSpPr/>
        <p:nvPr/>
      </p:nvGrpSpPr>
      <p:grpSpPr>
        <a:xfrm>
          <a:off x="0" y="0"/>
          <a:ext cx="0" cy="0"/>
          <a:chOff x="0" y="0"/>
          <a:chExt cx="0" cy="0"/>
        </a:xfrm>
      </p:grpSpPr>
      <p:pic>
        <p:nvPicPr>
          <p:cNvPr id="4" name="Picture 3" descr="A diagram of the internal organs of a person&#10;&#10;AI-generated content may be incorrect.">
            <a:extLst>
              <a:ext uri="{FF2B5EF4-FFF2-40B4-BE49-F238E27FC236}">
                <a16:creationId xmlns:a16="http://schemas.microsoft.com/office/drawing/2014/main" id="{61341047-676F-36B8-1280-777DCB4073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48309" y="516164"/>
            <a:ext cx="4479441" cy="6064043"/>
          </a:xfrm>
          <a:prstGeom prst="rect">
            <a:avLst/>
          </a:prstGeom>
        </p:spPr>
      </p:pic>
      <p:sp>
        <p:nvSpPr>
          <p:cNvPr id="2" name="Title 1">
            <a:extLst>
              <a:ext uri="{FF2B5EF4-FFF2-40B4-BE49-F238E27FC236}">
                <a16:creationId xmlns:a16="http://schemas.microsoft.com/office/drawing/2014/main" id="{23848BC6-EAD6-596D-6A6C-BFA0D5DF8067}"/>
              </a:ext>
            </a:extLst>
          </p:cNvPr>
          <p:cNvSpPr>
            <a:spLocks noGrp="1"/>
          </p:cNvSpPr>
          <p:nvPr>
            <p:ph type="title"/>
          </p:nvPr>
        </p:nvSpPr>
        <p:spPr/>
        <p:txBody>
          <a:bodyPr/>
          <a:lstStyle/>
          <a:p>
            <a:r>
              <a:rPr lang="en-US" dirty="0"/>
              <a:t>Hormone Systems</a:t>
            </a:r>
          </a:p>
        </p:txBody>
      </p:sp>
      <p:sp>
        <p:nvSpPr>
          <p:cNvPr id="3" name="Content Placeholder 2">
            <a:extLst>
              <a:ext uri="{FF2B5EF4-FFF2-40B4-BE49-F238E27FC236}">
                <a16:creationId xmlns:a16="http://schemas.microsoft.com/office/drawing/2014/main" id="{D742A0E3-A753-5DD5-8883-5F7C5B12C6F5}"/>
              </a:ext>
            </a:extLst>
          </p:cNvPr>
          <p:cNvSpPr>
            <a:spLocks noGrp="1"/>
          </p:cNvSpPr>
          <p:nvPr>
            <p:ph idx="1"/>
          </p:nvPr>
        </p:nvSpPr>
        <p:spPr>
          <a:xfrm>
            <a:off x="838200" y="1825625"/>
            <a:ext cx="6743700" cy="4351338"/>
          </a:xfrm>
        </p:spPr>
        <p:txBody>
          <a:bodyPr>
            <a:normAutofit fontScale="92500"/>
          </a:bodyPr>
          <a:lstStyle/>
          <a:p>
            <a:pPr marL="0" indent="0">
              <a:buNone/>
            </a:pPr>
            <a:r>
              <a:rPr lang="en-US" b="1" dirty="0"/>
              <a:t>Ovaries</a:t>
            </a:r>
          </a:p>
          <a:p>
            <a:r>
              <a:rPr lang="en-US" dirty="0"/>
              <a:t>Site of egg maturation and ovulation (egg release)</a:t>
            </a:r>
          </a:p>
          <a:p>
            <a:r>
              <a:rPr lang="en-US" b="1" dirty="0"/>
              <a:t>Hormones:</a:t>
            </a:r>
            <a:r>
              <a:rPr lang="en-US" dirty="0"/>
              <a:t> Estrogen and progesterone</a:t>
            </a:r>
          </a:p>
          <a:p>
            <a:pPr lvl="1"/>
            <a:r>
              <a:rPr lang="en-US"/>
              <a:t>Steroid hormones</a:t>
            </a:r>
            <a:endParaRPr lang="en-US" dirty="0"/>
          </a:p>
          <a:p>
            <a:r>
              <a:rPr lang="en-US" b="1" dirty="0"/>
              <a:t>Estrogen</a:t>
            </a:r>
          </a:p>
          <a:p>
            <a:pPr lvl="1"/>
            <a:r>
              <a:rPr lang="en-US" dirty="0"/>
              <a:t>Determines puberty and sexual development</a:t>
            </a:r>
          </a:p>
          <a:p>
            <a:pPr lvl="2"/>
            <a:r>
              <a:rPr lang="en-US" dirty="0"/>
              <a:t>Breast growth, hair growth, menstrual cycle</a:t>
            </a:r>
          </a:p>
          <a:p>
            <a:pPr lvl="1"/>
            <a:r>
              <a:rPr lang="en-US" dirty="0"/>
              <a:t>Some evidence suggests improved cognitive functioning</a:t>
            </a:r>
          </a:p>
          <a:p>
            <a:pPr lvl="1"/>
            <a:r>
              <a:rPr lang="en-US" dirty="0"/>
              <a:t>May also protect brain from stress and stroke</a:t>
            </a:r>
          </a:p>
          <a:p>
            <a:endParaRPr lang="en-US" dirty="0"/>
          </a:p>
        </p:txBody>
      </p:sp>
    </p:spTree>
    <p:extLst>
      <p:ext uri="{BB962C8B-B14F-4D97-AF65-F5344CB8AC3E}">
        <p14:creationId xmlns:p14="http://schemas.microsoft.com/office/powerpoint/2010/main" val="273330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A545B-8EDC-E253-6A27-AAA87F1047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56A4E9-05DD-A46C-5883-EB92EC325CC9}"/>
              </a:ext>
            </a:extLst>
          </p:cNvPr>
          <p:cNvSpPr>
            <a:spLocks noGrp="1"/>
          </p:cNvSpPr>
          <p:nvPr>
            <p:ph type="title"/>
          </p:nvPr>
        </p:nvSpPr>
        <p:spPr/>
        <p:txBody>
          <a:bodyPr/>
          <a:lstStyle/>
          <a:p>
            <a:r>
              <a:rPr lang="en-US" dirty="0"/>
              <a:t>Hormone Systems</a:t>
            </a:r>
          </a:p>
        </p:txBody>
      </p:sp>
      <p:sp>
        <p:nvSpPr>
          <p:cNvPr id="3" name="Content Placeholder 2">
            <a:extLst>
              <a:ext uri="{FF2B5EF4-FFF2-40B4-BE49-F238E27FC236}">
                <a16:creationId xmlns:a16="http://schemas.microsoft.com/office/drawing/2014/main" id="{3631015F-ED9E-E14B-031A-79D48105783C}"/>
              </a:ext>
            </a:extLst>
          </p:cNvPr>
          <p:cNvSpPr>
            <a:spLocks noGrp="1"/>
          </p:cNvSpPr>
          <p:nvPr>
            <p:ph idx="1"/>
          </p:nvPr>
        </p:nvSpPr>
        <p:spPr>
          <a:xfrm>
            <a:off x="838200" y="1825625"/>
            <a:ext cx="6430701" cy="4351338"/>
          </a:xfrm>
        </p:spPr>
        <p:txBody>
          <a:bodyPr>
            <a:normAutofit/>
          </a:bodyPr>
          <a:lstStyle/>
          <a:p>
            <a:pPr marL="0" indent="0">
              <a:buNone/>
            </a:pPr>
            <a:r>
              <a:rPr lang="en-US" b="1" dirty="0"/>
              <a:t>Ovaries</a:t>
            </a:r>
          </a:p>
          <a:p>
            <a:r>
              <a:rPr lang="en-US" b="1" dirty="0"/>
              <a:t>Progesterone</a:t>
            </a:r>
          </a:p>
          <a:p>
            <a:pPr lvl="1"/>
            <a:r>
              <a:rPr lang="en-US" dirty="0"/>
              <a:t>Thickens endometrium (lining of uterus) to support implantation and growth of a fertilized egg</a:t>
            </a:r>
          </a:p>
          <a:p>
            <a:pPr lvl="2"/>
            <a:r>
              <a:rPr lang="en-US" dirty="0"/>
              <a:t>Helps prevent ovulation and uterine contractions during pregnancy</a:t>
            </a:r>
          </a:p>
          <a:p>
            <a:pPr lvl="2"/>
            <a:r>
              <a:rPr lang="en-US" dirty="0"/>
              <a:t>Prepares the body for breastfeeding</a:t>
            </a:r>
          </a:p>
          <a:p>
            <a:pPr lvl="2"/>
            <a:endParaRPr lang="en-US" dirty="0"/>
          </a:p>
          <a:p>
            <a:pPr lvl="2"/>
            <a:endParaRPr lang="en-US" dirty="0"/>
          </a:p>
          <a:p>
            <a:pPr lvl="2"/>
            <a:endParaRPr lang="en-US" b="1" dirty="0"/>
          </a:p>
          <a:p>
            <a:endParaRPr lang="en-US" dirty="0"/>
          </a:p>
        </p:txBody>
      </p:sp>
      <p:pic>
        <p:nvPicPr>
          <p:cNvPr id="5" name="Picture 4" descr="A diagram of the internal organs of a person&#10;&#10;AI-generated content may be incorrect.">
            <a:extLst>
              <a:ext uri="{FF2B5EF4-FFF2-40B4-BE49-F238E27FC236}">
                <a16:creationId xmlns:a16="http://schemas.microsoft.com/office/drawing/2014/main" id="{DDC4429A-C779-3E5A-ADA5-3BBDB6BC10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48309" y="516164"/>
            <a:ext cx="4479441" cy="6064043"/>
          </a:xfrm>
          <a:prstGeom prst="rect">
            <a:avLst/>
          </a:prstGeom>
        </p:spPr>
      </p:pic>
    </p:spTree>
    <p:extLst>
      <p:ext uri="{BB962C8B-B14F-4D97-AF65-F5344CB8AC3E}">
        <p14:creationId xmlns:p14="http://schemas.microsoft.com/office/powerpoint/2010/main" val="2495086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0FB36-0EBE-A28C-268F-7B4B59274209}"/>
            </a:ext>
          </a:extLst>
        </p:cNvPr>
        <p:cNvGrpSpPr/>
        <p:nvPr/>
      </p:nvGrpSpPr>
      <p:grpSpPr>
        <a:xfrm>
          <a:off x="0" y="0"/>
          <a:ext cx="0" cy="0"/>
          <a:chOff x="0" y="0"/>
          <a:chExt cx="0" cy="0"/>
        </a:xfrm>
      </p:grpSpPr>
      <p:pic>
        <p:nvPicPr>
          <p:cNvPr id="6" name="Content Placeholder 6" descr="The figure shows Hormone Release by the Anterior Pituitary. The figure shown looks like a vertically cut onion shape with its shoots at the top. The left side of the body of the onion is the anterior pituitary. At the right side is the posterior pituitary. The cells that produce the anterior pituitary hormones are group of cells represented by irregular shaped meshes with dots on each part of the mesh. At the neck of the onion shape, there is a mesh of portal veins which leads to pituitary artery in the left and tubes of Hypothalamic pituitary portal veins in the bottom. The blood flows upwards into the pituitary artery. At the neck of the onion shape on the right is the Median eminence. The axons that connect to the portal system branch upward to form onion shoots shapes with bulb shapes in the end that are the neuroendocrine cell bodies. Neuroendocrine cell bodies in the hypothalamus produce releasing hormones, which are released from axons that terminate on the portal system. The hormones travel via the portal veins to the anterior pituitary. Cells in the anterior pituitary respond to the hypothalamic releasing hormones by secreting or inhibiting the secretion of their own hormones, known as tropic hormones. Tropic hormones travel through the bloodstream and regulate endocrine glands throughout the body. Tropic hormones such as Prolactin, Gonadotropic hormones F S H and L H, Thyroid stimulating hormone, A C T H, and Growth hormone are released into the bloodstream">
            <a:extLst>
              <a:ext uri="{FF2B5EF4-FFF2-40B4-BE49-F238E27FC236}">
                <a16:creationId xmlns:a16="http://schemas.microsoft.com/office/drawing/2014/main" id="{6A687A0C-52C6-34C5-90C9-08802D135A31}"/>
              </a:ext>
            </a:extLst>
          </p:cNvPr>
          <p:cNvPicPr>
            <a:picLocks noChangeAspect="1"/>
          </p:cNvPicPr>
          <p:nvPr/>
        </p:nvPicPr>
        <p:blipFill>
          <a:blip r:embed="rId2"/>
          <a:stretch>
            <a:fillRect/>
          </a:stretch>
        </p:blipFill>
        <p:spPr>
          <a:xfrm>
            <a:off x="7363329" y="816015"/>
            <a:ext cx="4741855" cy="5318567"/>
          </a:xfrm>
          <a:prstGeom prst="rect">
            <a:avLst/>
          </a:prstGeom>
        </p:spPr>
      </p:pic>
      <p:sp>
        <p:nvSpPr>
          <p:cNvPr id="2" name="Title 1">
            <a:extLst>
              <a:ext uri="{FF2B5EF4-FFF2-40B4-BE49-F238E27FC236}">
                <a16:creationId xmlns:a16="http://schemas.microsoft.com/office/drawing/2014/main" id="{B43E223A-A9B0-BE69-E0B1-68783393D4F7}"/>
              </a:ext>
            </a:extLst>
          </p:cNvPr>
          <p:cNvSpPr>
            <a:spLocks noGrp="1"/>
          </p:cNvSpPr>
          <p:nvPr>
            <p:ph type="title"/>
          </p:nvPr>
        </p:nvSpPr>
        <p:spPr/>
        <p:txBody>
          <a:bodyPr/>
          <a:lstStyle/>
          <a:p>
            <a:r>
              <a:rPr lang="en-US" dirty="0"/>
              <a:t>Hormone Systems</a:t>
            </a:r>
          </a:p>
        </p:txBody>
      </p:sp>
      <p:sp>
        <p:nvSpPr>
          <p:cNvPr id="3" name="Content Placeholder 2">
            <a:extLst>
              <a:ext uri="{FF2B5EF4-FFF2-40B4-BE49-F238E27FC236}">
                <a16:creationId xmlns:a16="http://schemas.microsoft.com/office/drawing/2014/main" id="{3C12B874-A8C9-B7E1-D6D7-299118E7C6F1}"/>
              </a:ext>
            </a:extLst>
          </p:cNvPr>
          <p:cNvSpPr>
            <a:spLocks noGrp="1"/>
          </p:cNvSpPr>
          <p:nvPr>
            <p:ph idx="1"/>
          </p:nvPr>
        </p:nvSpPr>
        <p:spPr>
          <a:xfrm>
            <a:off x="838200" y="1825625"/>
            <a:ext cx="6581171" cy="4351338"/>
          </a:xfrm>
        </p:spPr>
        <p:txBody>
          <a:bodyPr>
            <a:normAutofit/>
          </a:bodyPr>
          <a:lstStyle/>
          <a:p>
            <a:pPr marL="0" indent="0">
              <a:buNone/>
            </a:pPr>
            <a:r>
              <a:rPr lang="en-US" b="1" dirty="0"/>
              <a:t>Mammary Glands</a:t>
            </a:r>
            <a:endParaRPr lang="en-US" dirty="0"/>
          </a:p>
          <a:p>
            <a:r>
              <a:rPr lang="en-US" b="1" dirty="0"/>
              <a:t>Hormone</a:t>
            </a:r>
            <a:r>
              <a:rPr lang="en-US" dirty="0"/>
              <a:t>: None</a:t>
            </a:r>
          </a:p>
          <a:p>
            <a:r>
              <a:rPr lang="en-US" b="1" dirty="0"/>
              <a:t>Function</a:t>
            </a:r>
            <a:r>
              <a:rPr lang="en-US" dirty="0"/>
              <a:t>: Lactation and breast development during pregnancy</a:t>
            </a:r>
          </a:p>
          <a:p>
            <a:pPr lvl="1"/>
            <a:endParaRPr lang="en-US" dirty="0"/>
          </a:p>
          <a:p>
            <a:pPr marL="0" indent="0">
              <a:buNone/>
            </a:pPr>
            <a:r>
              <a:rPr lang="en-US" b="1" dirty="0"/>
              <a:t>Tissues and Organs Bones</a:t>
            </a:r>
            <a:endParaRPr lang="en-US" dirty="0"/>
          </a:p>
          <a:p>
            <a:r>
              <a:rPr lang="en-US" b="1" dirty="0"/>
              <a:t>Hormone</a:t>
            </a:r>
            <a:r>
              <a:rPr lang="en-US" dirty="0"/>
              <a:t>: None</a:t>
            </a:r>
          </a:p>
          <a:p>
            <a:r>
              <a:rPr lang="en-US" b="1" dirty="0"/>
              <a:t>Function</a:t>
            </a:r>
            <a:r>
              <a:rPr lang="en-US" dirty="0"/>
              <a:t>: Growth and maintenance of cells and tissues</a:t>
            </a:r>
          </a:p>
        </p:txBody>
      </p:sp>
    </p:spTree>
    <p:extLst>
      <p:ext uri="{BB962C8B-B14F-4D97-AF65-F5344CB8AC3E}">
        <p14:creationId xmlns:p14="http://schemas.microsoft.com/office/powerpoint/2010/main" val="1557050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2177D-4500-D40F-6F30-6893E09781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40E962-781F-8802-13B6-C907D2416762}"/>
              </a:ext>
            </a:extLst>
          </p:cNvPr>
          <p:cNvSpPr>
            <a:spLocks noGrp="1"/>
          </p:cNvSpPr>
          <p:nvPr>
            <p:ph type="title"/>
          </p:nvPr>
        </p:nvSpPr>
        <p:spPr/>
        <p:txBody>
          <a:bodyPr/>
          <a:lstStyle/>
          <a:p>
            <a:r>
              <a:rPr lang="en-US" dirty="0"/>
              <a:t>Hormone Systems</a:t>
            </a:r>
          </a:p>
        </p:txBody>
      </p:sp>
      <p:sp>
        <p:nvSpPr>
          <p:cNvPr id="3" name="Content Placeholder 2">
            <a:extLst>
              <a:ext uri="{FF2B5EF4-FFF2-40B4-BE49-F238E27FC236}">
                <a16:creationId xmlns:a16="http://schemas.microsoft.com/office/drawing/2014/main" id="{CE3743D5-E01A-3195-E83B-5BC7B406EAA0}"/>
              </a:ext>
            </a:extLst>
          </p:cNvPr>
          <p:cNvSpPr>
            <a:spLocks noGrp="1"/>
          </p:cNvSpPr>
          <p:nvPr>
            <p:ph idx="1"/>
          </p:nvPr>
        </p:nvSpPr>
        <p:spPr>
          <a:xfrm>
            <a:off x="838200" y="1825625"/>
            <a:ext cx="6673770" cy="4351338"/>
          </a:xfrm>
        </p:spPr>
        <p:txBody>
          <a:bodyPr>
            <a:normAutofit fontScale="92500" lnSpcReduction="10000"/>
          </a:bodyPr>
          <a:lstStyle/>
          <a:p>
            <a:pPr marL="0" indent="0">
              <a:buNone/>
            </a:pPr>
            <a:r>
              <a:rPr lang="en-US" b="1" dirty="0"/>
              <a:t>Pineal Gland</a:t>
            </a:r>
          </a:p>
          <a:p>
            <a:r>
              <a:rPr lang="en-US" b="1" dirty="0"/>
              <a:t>Hormone: </a:t>
            </a:r>
            <a:r>
              <a:rPr lang="en-US" dirty="0"/>
              <a:t>Melatonin</a:t>
            </a:r>
          </a:p>
          <a:p>
            <a:pPr lvl="1"/>
            <a:r>
              <a:rPr lang="en-US" dirty="0"/>
              <a:t>Amine hormone</a:t>
            </a:r>
          </a:p>
          <a:p>
            <a:r>
              <a:rPr lang="en-US" b="1" dirty="0"/>
              <a:t>Function</a:t>
            </a:r>
            <a:r>
              <a:rPr lang="en-US" dirty="0"/>
              <a:t>:</a:t>
            </a:r>
          </a:p>
          <a:p>
            <a:pPr lvl="1"/>
            <a:r>
              <a:rPr lang="en-US" dirty="0"/>
              <a:t>Involved in biological rhythms (e.g., circadian rhythms)</a:t>
            </a:r>
          </a:p>
          <a:p>
            <a:pPr lvl="2"/>
            <a:r>
              <a:rPr lang="en-US" dirty="0"/>
              <a:t>Tracks day length and seasonal changes</a:t>
            </a:r>
          </a:p>
          <a:p>
            <a:pPr lvl="2"/>
            <a:r>
              <a:rPr lang="en-US" dirty="0"/>
              <a:t>Promotes sleep onset and regulates sleep–wake cycles</a:t>
            </a:r>
          </a:p>
          <a:p>
            <a:pPr lvl="2"/>
            <a:r>
              <a:rPr lang="en-US" dirty="0"/>
              <a:t>Influences breeding patterns in seasonal breeding mammals</a:t>
            </a:r>
          </a:p>
          <a:p>
            <a:r>
              <a:rPr lang="en-US" i="1" dirty="0"/>
              <a:t>Not stimulated by the hypothalamus and pituitary gland</a:t>
            </a:r>
          </a:p>
        </p:txBody>
      </p:sp>
      <p:pic>
        <p:nvPicPr>
          <p:cNvPr id="5" name="Picture 4" descr="A diagram of the internal organs of a person&#10;&#10;AI-generated content may be incorrect.">
            <a:extLst>
              <a:ext uri="{FF2B5EF4-FFF2-40B4-BE49-F238E27FC236}">
                <a16:creationId xmlns:a16="http://schemas.microsoft.com/office/drawing/2014/main" id="{DDD2CC09-1249-C158-CABA-8832EBA572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48309" y="516164"/>
            <a:ext cx="4479441" cy="6064043"/>
          </a:xfrm>
          <a:prstGeom prst="rect">
            <a:avLst/>
          </a:prstGeom>
        </p:spPr>
      </p:pic>
    </p:spTree>
    <p:extLst>
      <p:ext uri="{BB962C8B-B14F-4D97-AF65-F5344CB8AC3E}">
        <p14:creationId xmlns:p14="http://schemas.microsoft.com/office/powerpoint/2010/main" val="889116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BC534-A498-F0D5-850F-8918C356996F}"/>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86C5311C-6B50-BD49-2F89-72164267D7F8}"/>
              </a:ext>
            </a:extLst>
          </p:cNvPr>
          <p:cNvGraphicFramePr>
            <a:graphicFrameLocks noGrp="1"/>
          </p:cNvGraphicFramePr>
          <p:nvPr>
            <p:ph idx="1"/>
            <p:extLst>
              <p:ext uri="{D42A27DB-BD31-4B8C-83A1-F6EECF244321}">
                <p14:modId xmlns:p14="http://schemas.microsoft.com/office/powerpoint/2010/main" val="3723463492"/>
              </p:ext>
            </p:extLst>
          </p:nvPr>
        </p:nvGraphicFramePr>
        <p:xfrm>
          <a:off x="838200" y="406400"/>
          <a:ext cx="10515600" cy="604520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2871487830"/>
                    </a:ext>
                  </a:extLst>
                </a:gridCol>
                <a:gridCol w="2628900">
                  <a:extLst>
                    <a:ext uri="{9D8B030D-6E8A-4147-A177-3AD203B41FA5}">
                      <a16:colId xmlns:a16="http://schemas.microsoft.com/office/drawing/2014/main" val="3189783107"/>
                    </a:ext>
                  </a:extLst>
                </a:gridCol>
                <a:gridCol w="2628900">
                  <a:extLst>
                    <a:ext uri="{9D8B030D-6E8A-4147-A177-3AD203B41FA5}">
                      <a16:colId xmlns:a16="http://schemas.microsoft.com/office/drawing/2014/main" val="1007210174"/>
                    </a:ext>
                  </a:extLst>
                </a:gridCol>
                <a:gridCol w="2628900">
                  <a:extLst>
                    <a:ext uri="{9D8B030D-6E8A-4147-A177-3AD203B41FA5}">
                      <a16:colId xmlns:a16="http://schemas.microsoft.com/office/drawing/2014/main" val="2360942072"/>
                    </a:ext>
                  </a:extLst>
                </a:gridCol>
              </a:tblGrid>
              <a:tr h="370840">
                <a:tc>
                  <a:txBody>
                    <a:bodyPr/>
                    <a:lstStyle/>
                    <a:p>
                      <a:pPr>
                        <a:buNone/>
                      </a:pPr>
                      <a:r>
                        <a:rPr lang="en-US" sz="1400"/>
                        <a:t>Structure</a:t>
                      </a:r>
                    </a:p>
                  </a:txBody>
                  <a:tcPr anchor="ctr"/>
                </a:tc>
                <a:tc>
                  <a:txBody>
                    <a:bodyPr/>
                    <a:lstStyle/>
                    <a:p>
                      <a:pPr>
                        <a:buNone/>
                      </a:pPr>
                      <a:r>
                        <a:rPr lang="en-US" sz="1400"/>
                        <a:t>Produced Hormone(s)</a:t>
                      </a:r>
                    </a:p>
                  </a:txBody>
                  <a:tcPr anchor="ctr"/>
                </a:tc>
                <a:tc>
                  <a:txBody>
                    <a:bodyPr/>
                    <a:lstStyle/>
                    <a:p>
                      <a:pPr>
                        <a:buNone/>
                      </a:pPr>
                      <a:r>
                        <a:rPr lang="en-US" sz="1400"/>
                        <a:t>Type of Hormone</a:t>
                      </a:r>
                    </a:p>
                  </a:txBody>
                  <a:tcPr anchor="ctr"/>
                </a:tc>
                <a:tc>
                  <a:txBody>
                    <a:bodyPr/>
                    <a:lstStyle/>
                    <a:p>
                      <a:pPr>
                        <a:buNone/>
                      </a:pPr>
                      <a:r>
                        <a:rPr lang="en-US" sz="1400"/>
                        <a:t>General Function</a:t>
                      </a:r>
                    </a:p>
                  </a:txBody>
                  <a:tcPr anchor="ctr"/>
                </a:tc>
                <a:extLst>
                  <a:ext uri="{0D108BD9-81ED-4DB2-BD59-A6C34878D82A}">
                    <a16:rowId xmlns:a16="http://schemas.microsoft.com/office/drawing/2014/main" val="3391300796"/>
                  </a:ext>
                </a:extLst>
              </a:tr>
              <a:tr h="370840">
                <a:tc>
                  <a:txBody>
                    <a:bodyPr/>
                    <a:lstStyle/>
                    <a:p>
                      <a:pPr>
                        <a:buNone/>
                      </a:pPr>
                      <a:r>
                        <a:rPr lang="en-US" sz="1400" b="1" dirty="0"/>
                        <a:t>Posterior Pituitary Gland</a:t>
                      </a:r>
                      <a:endParaRPr lang="en-US" sz="1400" dirty="0"/>
                    </a:p>
                  </a:txBody>
                  <a:tcPr anchor="ctr"/>
                </a:tc>
                <a:tc>
                  <a:txBody>
                    <a:bodyPr/>
                    <a:lstStyle/>
                    <a:p>
                      <a:pPr>
                        <a:buNone/>
                      </a:pPr>
                      <a:r>
                        <a:rPr lang="en-US" sz="1400" dirty="0"/>
                        <a:t>Vasopressin</a:t>
                      </a:r>
                    </a:p>
                  </a:txBody>
                  <a:tcPr anchor="ctr"/>
                </a:tc>
                <a:tc>
                  <a:txBody>
                    <a:bodyPr/>
                    <a:lstStyle/>
                    <a:p>
                      <a:pPr>
                        <a:buNone/>
                      </a:pPr>
                      <a:r>
                        <a:rPr lang="en-US" sz="1400"/>
                        <a:t>Peptide hormone</a:t>
                      </a:r>
                    </a:p>
                  </a:txBody>
                  <a:tcPr anchor="ctr"/>
                </a:tc>
                <a:tc>
                  <a:txBody>
                    <a:bodyPr/>
                    <a:lstStyle/>
                    <a:p>
                      <a:pPr>
                        <a:buNone/>
                      </a:pPr>
                      <a:r>
                        <a:rPr lang="en-US" sz="1400"/>
                        <a:t>Water retention and blood pressure regulation</a:t>
                      </a:r>
                    </a:p>
                  </a:txBody>
                  <a:tcPr anchor="ctr"/>
                </a:tc>
                <a:extLst>
                  <a:ext uri="{0D108BD9-81ED-4DB2-BD59-A6C34878D82A}">
                    <a16:rowId xmlns:a16="http://schemas.microsoft.com/office/drawing/2014/main" val="2108123124"/>
                  </a:ext>
                </a:extLst>
              </a:tr>
              <a:tr h="370840">
                <a:tc>
                  <a:txBody>
                    <a:bodyPr/>
                    <a:lstStyle/>
                    <a:p>
                      <a:pPr>
                        <a:buNone/>
                      </a:pPr>
                      <a:r>
                        <a:rPr lang="en-US" sz="1400" b="1" dirty="0"/>
                        <a:t>Posterior Pituitary Gland</a:t>
                      </a:r>
                      <a:endParaRPr lang="en-US" sz="1400" dirty="0"/>
                    </a:p>
                  </a:txBody>
                  <a:tcPr anchor="ctr"/>
                </a:tc>
                <a:tc>
                  <a:txBody>
                    <a:bodyPr/>
                    <a:lstStyle/>
                    <a:p>
                      <a:pPr>
                        <a:buNone/>
                      </a:pPr>
                      <a:r>
                        <a:rPr lang="en-US" sz="1400" dirty="0"/>
                        <a:t>Oxytocin</a:t>
                      </a:r>
                    </a:p>
                  </a:txBody>
                  <a:tcPr anchor="ctr"/>
                </a:tc>
                <a:tc>
                  <a:txBody>
                    <a:bodyPr/>
                    <a:lstStyle/>
                    <a:p>
                      <a:pPr>
                        <a:buNone/>
                      </a:pPr>
                      <a:r>
                        <a:rPr lang="en-US" sz="1400" dirty="0"/>
                        <a:t>Peptide hormone</a:t>
                      </a:r>
                    </a:p>
                  </a:txBody>
                  <a:tcPr anchor="ctr"/>
                </a:tc>
                <a:tc>
                  <a:txBody>
                    <a:bodyPr/>
                    <a:lstStyle/>
                    <a:p>
                      <a:pPr>
                        <a:buNone/>
                      </a:pPr>
                      <a:r>
                        <a:rPr lang="en-US" sz="1400" dirty="0"/>
                        <a:t>Reproduction, parental bonding, and social </a:t>
                      </a:r>
                      <a:r>
                        <a:rPr lang="en-US" sz="1400"/>
                        <a:t>behaviours</a:t>
                      </a:r>
                      <a:endParaRPr lang="en-US" sz="1400" dirty="0"/>
                    </a:p>
                  </a:txBody>
                  <a:tcPr anchor="ctr"/>
                </a:tc>
                <a:extLst>
                  <a:ext uri="{0D108BD9-81ED-4DB2-BD59-A6C34878D82A}">
                    <a16:rowId xmlns:a16="http://schemas.microsoft.com/office/drawing/2014/main" val="1543028404"/>
                  </a:ext>
                </a:extLst>
              </a:tr>
              <a:tr h="370840">
                <a:tc>
                  <a:txBody>
                    <a:bodyPr/>
                    <a:lstStyle/>
                    <a:p>
                      <a:pPr>
                        <a:buNone/>
                      </a:pPr>
                      <a:r>
                        <a:rPr lang="en-US" sz="1400" b="1" dirty="0"/>
                        <a:t>Adrenal Cortex</a:t>
                      </a:r>
                      <a:endParaRPr lang="en-US" sz="1400" dirty="0"/>
                    </a:p>
                  </a:txBody>
                  <a:tcPr anchor="ctr"/>
                </a:tc>
                <a:tc>
                  <a:txBody>
                    <a:bodyPr/>
                    <a:lstStyle/>
                    <a:p>
                      <a:pPr>
                        <a:buNone/>
                      </a:pPr>
                      <a:r>
                        <a:rPr lang="en-US" sz="1400" dirty="0"/>
                        <a:t>Glucocorticoids (e.g., cortisol), Mineralocorticoids (e.g., aldosterone)</a:t>
                      </a:r>
                    </a:p>
                  </a:txBody>
                  <a:tcPr anchor="ctr"/>
                </a:tc>
                <a:tc>
                  <a:txBody>
                    <a:bodyPr/>
                    <a:lstStyle/>
                    <a:p>
                      <a:pPr>
                        <a:buNone/>
                      </a:pPr>
                      <a:r>
                        <a:rPr lang="en-US" sz="1400" dirty="0"/>
                        <a:t>Steroid hormones</a:t>
                      </a:r>
                    </a:p>
                  </a:txBody>
                  <a:tcPr anchor="ctr"/>
                </a:tc>
                <a:tc>
                  <a:txBody>
                    <a:bodyPr/>
                    <a:lstStyle/>
                    <a:p>
                      <a:pPr>
                        <a:buNone/>
                      </a:pPr>
                      <a:r>
                        <a:rPr lang="en-US" sz="1400" dirty="0"/>
                        <a:t>Stress response, energy regulation, blood pressure and fluid balance</a:t>
                      </a:r>
                    </a:p>
                  </a:txBody>
                  <a:tcPr anchor="ctr"/>
                </a:tc>
                <a:extLst>
                  <a:ext uri="{0D108BD9-81ED-4DB2-BD59-A6C34878D82A}">
                    <a16:rowId xmlns:a16="http://schemas.microsoft.com/office/drawing/2014/main" val="307783599"/>
                  </a:ext>
                </a:extLst>
              </a:tr>
              <a:tr h="370840">
                <a:tc>
                  <a:txBody>
                    <a:bodyPr/>
                    <a:lstStyle/>
                    <a:p>
                      <a:pPr>
                        <a:buNone/>
                      </a:pPr>
                      <a:r>
                        <a:rPr lang="en-US" sz="1400" b="1"/>
                        <a:t>Adrenal Medulla</a:t>
                      </a:r>
                      <a:endParaRPr lang="en-US" sz="1400"/>
                    </a:p>
                  </a:txBody>
                  <a:tcPr anchor="ctr"/>
                </a:tc>
                <a:tc>
                  <a:txBody>
                    <a:bodyPr/>
                    <a:lstStyle/>
                    <a:p>
                      <a:pPr>
                        <a:buNone/>
                      </a:pPr>
                      <a:r>
                        <a:rPr lang="en-US" sz="1400"/>
                        <a:t>Epinephrine, Norepinephrine</a:t>
                      </a:r>
                    </a:p>
                  </a:txBody>
                  <a:tcPr anchor="ctr"/>
                </a:tc>
                <a:tc>
                  <a:txBody>
                    <a:bodyPr/>
                    <a:lstStyle/>
                    <a:p>
                      <a:pPr>
                        <a:buNone/>
                      </a:pPr>
                      <a:r>
                        <a:rPr lang="en-US" sz="1400"/>
                        <a:t>Amine hormones</a:t>
                      </a:r>
                    </a:p>
                  </a:txBody>
                  <a:tcPr anchor="ctr"/>
                </a:tc>
                <a:tc>
                  <a:txBody>
                    <a:bodyPr/>
                    <a:lstStyle/>
                    <a:p>
                      <a:pPr>
                        <a:buNone/>
                      </a:pPr>
                      <a:r>
                        <a:rPr lang="en-US" sz="1400" dirty="0"/>
                        <a:t>Fight-or-flight response</a:t>
                      </a:r>
                    </a:p>
                  </a:txBody>
                  <a:tcPr anchor="ctr"/>
                </a:tc>
                <a:extLst>
                  <a:ext uri="{0D108BD9-81ED-4DB2-BD59-A6C34878D82A}">
                    <a16:rowId xmlns:a16="http://schemas.microsoft.com/office/drawing/2014/main" val="2661020550"/>
                  </a:ext>
                </a:extLst>
              </a:tr>
              <a:tr h="370840">
                <a:tc>
                  <a:txBody>
                    <a:bodyPr/>
                    <a:lstStyle/>
                    <a:p>
                      <a:pPr>
                        <a:buNone/>
                      </a:pPr>
                      <a:r>
                        <a:rPr lang="en-US" sz="1400" b="1"/>
                        <a:t>Thyroid Gland</a:t>
                      </a:r>
                      <a:endParaRPr lang="en-US" sz="1400"/>
                    </a:p>
                  </a:txBody>
                  <a:tcPr anchor="ctr"/>
                </a:tc>
                <a:tc>
                  <a:txBody>
                    <a:bodyPr/>
                    <a:lstStyle/>
                    <a:p>
                      <a:pPr>
                        <a:buNone/>
                      </a:pPr>
                      <a:r>
                        <a:rPr lang="en-US" sz="1400"/>
                        <a:t>Thyroid hormones (T3/T4)</a:t>
                      </a:r>
                    </a:p>
                  </a:txBody>
                  <a:tcPr anchor="ctr"/>
                </a:tc>
                <a:tc>
                  <a:txBody>
                    <a:bodyPr/>
                    <a:lstStyle/>
                    <a:p>
                      <a:pPr>
                        <a:buNone/>
                      </a:pPr>
                      <a:r>
                        <a:rPr lang="en-US" sz="1400"/>
                        <a:t>Amine hormones</a:t>
                      </a:r>
                    </a:p>
                  </a:txBody>
                  <a:tcPr anchor="ctr"/>
                </a:tc>
                <a:tc>
                  <a:txBody>
                    <a:bodyPr/>
                    <a:lstStyle/>
                    <a:p>
                      <a:pPr>
                        <a:buNone/>
                      </a:pPr>
                      <a:r>
                        <a:rPr lang="en-US" sz="1400"/>
                        <a:t>Regulation of metabolism, growth, development, and physiological activity</a:t>
                      </a:r>
                    </a:p>
                  </a:txBody>
                  <a:tcPr anchor="ctr"/>
                </a:tc>
                <a:extLst>
                  <a:ext uri="{0D108BD9-81ED-4DB2-BD59-A6C34878D82A}">
                    <a16:rowId xmlns:a16="http://schemas.microsoft.com/office/drawing/2014/main" val="3975760437"/>
                  </a:ext>
                </a:extLst>
              </a:tr>
              <a:tr h="370840">
                <a:tc>
                  <a:txBody>
                    <a:bodyPr/>
                    <a:lstStyle/>
                    <a:p>
                      <a:pPr>
                        <a:buNone/>
                      </a:pPr>
                      <a:r>
                        <a:rPr lang="en-US" sz="1400" b="1"/>
                        <a:t>Testes</a:t>
                      </a:r>
                      <a:endParaRPr lang="en-US" sz="1400"/>
                    </a:p>
                  </a:txBody>
                  <a:tcPr anchor="ctr"/>
                </a:tc>
                <a:tc>
                  <a:txBody>
                    <a:bodyPr/>
                    <a:lstStyle/>
                    <a:p>
                      <a:pPr>
                        <a:buNone/>
                      </a:pPr>
                      <a:r>
                        <a:rPr lang="en-US" sz="1400"/>
                        <a:t>Testosterone</a:t>
                      </a:r>
                    </a:p>
                  </a:txBody>
                  <a:tcPr anchor="ctr"/>
                </a:tc>
                <a:tc>
                  <a:txBody>
                    <a:bodyPr/>
                    <a:lstStyle/>
                    <a:p>
                      <a:pPr>
                        <a:buNone/>
                      </a:pPr>
                      <a:r>
                        <a:rPr lang="en-US" sz="1400"/>
                        <a:t>Steroid hormone</a:t>
                      </a:r>
                    </a:p>
                  </a:txBody>
                  <a:tcPr anchor="ctr"/>
                </a:tc>
                <a:tc>
                  <a:txBody>
                    <a:bodyPr/>
                    <a:lstStyle/>
                    <a:p>
                      <a:pPr>
                        <a:buNone/>
                      </a:pPr>
                      <a:r>
                        <a:rPr lang="en-US" sz="1400" dirty="0"/>
                        <a:t>Sperm production, sexual development, reproductive </a:t>
                      </a:r>
                      <a:r>
                        <a:rPr lang="en-US" sz="1400" dirty="0" err="1"/>
                        <a:t>behaviour</a:t>
                      </a:r>
                      <a:endParaRPr lang="en-US" sz="1400" dirty="0"/>
                    </a:p>
                  </a:txBody>
                  <a:tcPr anchor="ctr"/>
                </a:tc>
                <a:extLst>
                  <a:ext uri="{0D108BD9-81ED-4DB2-BD59-A6C34878D82A}">
                    <a16:rowId xmlns:a16="http://schemas.microsoft.com/office/drawing/2014/main" val="387490554"/>
                  </a:ext>
                </a:extLst>
              </a:tr>
              <a:tr h="370840">
                <a:tc>
                  <a:txBody>
                    <a:bodyPr/>
                    <a:lstStyle/>
                    <a:p>
                      <a:pPr>
                        <a:buNone/>
                      </a:pPr>
                      <a:r>
                        <a:rPr lang="en-US" sz="1400" b="1"/>
                        <a:t>Ovaries</a:t>
                      </a:r>
                      <a:endParaRPr lang="en-US" sz="1400"/>
                    </a:p>
                  </a:txBody>
                  <a:tcPr anchor="ctr"/>
                </a:tc>
                <a:tc>
                  <a:txBody>
                    <a:bodyPr/>
                    <a:lstStyle/>
                    <a:p>
                      <a:pPr>
                        <a:buNone/>
                      </a:pPr>
                      <a:r>
                        <a:rPr lang="en-US" sz="1400"/>
                        <a:t>Estrogen, Progesterone</a:t>
                      </a:r>
                    </a:p>
                  </a:txBody>
                  <a:tcPr anchor="ctr"/>
                </a:tc>
                <a:tc>
                  <a:txBody>
                    <a:bodyPr/>
                    <a:lstStyle/>
                    <a:p>
                      <a:pPr>
                        <a:buNone/>
                      </a:pPr>
                      <a:r>
                        <a:rPr lang="en-US" sz="1400"/>
                        <a:t>Steroid hormones</a:t>
                      </a:r>
                    </a:p>
                  </a:txBody>
                  <a:tcPr anchor="ctr"/>
                </a:tc>
                <a:tc>
                  <a:txBody>
                    <a:bodyPr/>
                    <a:lstStyle/>
                    <a:p>
                      <a:pPr>
                        <a:buNone/>
                      </a:pPr>
                      <a:r>
                        <a:rPr lang="en-US" sz="1400"/>
                        <a:t>Egg maturation, reproductive function, pregnancy support</a:t>
                      </a:r>
                    </a:p>
                  </a:txBody>
                  <a:tcPr anchor="ctr"/>
                </a:tc>
                <a:extLst>
                  <a:ext uri="{0D108BD9-81ED-4DB2-BD59-A6C34878D82A}">
                    <a16:rowId xmlns:a16="http://schemas.microsoft.com/office/drawing/2014/main" val="1543361880"/>
                  </a:ext>
                </a:extLst>
              </a:tr>
              <a:tr h="370840">
                <a:tc>
                  <a:txBody>
                    <a:bodyPr/>
                    <a:lstStyle/>
                    <a:p>
                      <a:pPr>
                        <a:buNone/>
                      </a:pPr>
                      <a:r>
                        <a:rPr lang="en-US" sz="1400" b="1"/>
                        <a:t>Mammary Glands</a:t>
                      </a:r>
                      <a:endParaRPr lang="en-US" sz="1400"/>
                    </a:p>
                  </a:txBody>
                  <a:tcPr anchor="ctr"/>
                </a:tc>
                <a:tc>
                  <a:txBody>
                    <a:bodyPr/>
                    <a:lstStyle/>
                    <a:p>
                      <a:pPr>
                        <a:buNone/>
                      </a:pPr>
                      <a:r>
                        <a:rPr lang="en-US" sz="1400"/>
                        <a:t>None</a:t>
                      </a:r>
                    </a:p>
                  </a:txBody>
                  <a:tcPr anchor="ctr"/>
                </a:tc>
                <a:tc>
                  <a:txBody>
                    <a:bodyPr/>
                    <a:lstStyle/>
                    <a:p>
                      <a:pPr>
                        <a:buNone/>
                      </a:pPr>
                      <a:r>
                        <a:rPr lang="en-US" sz="1400"/>
                        <a:t>—</a:t>
                      </a:r>
                    </a:p>
                  </a:txBody>
                  <a:tcPr anchor="ctr"/>
                </a:tc>
                <a:tc>
                  <a:txBody>
                    <a:bodyPr/>
                    <a:lstStyle/>
                    <a:p>
                      <a:pPr>
                        <a:buNone/>
                      </a:pPr>
                      <a:r>
                        <a:rPr lang="en-US" sz="1400"/>
                        <a:t>Lactation and breast development</a:t>
                      </a:r>
                    </a:p>
                  </a:txBody>
                  <a:tcPr anchor="ctr"/>
                </a:tc>
                <a:extLst>
                  <a:ext uri="{0D108BD9-81ED-4DB2-BD59-A6C34878D82A}">
                    <a16:rowId xmlns:a16="http://schemas.microsoft.com/office/drawing/2014/main" val="1986706104"/>
                  </a:ext>
                </a:extLst>
              </a:tr>
              <a:tr h="370840">
                <a:tc>
                  <a:txBody>
                    <a:bodyPr/>
                    <a:lstStyle/>
                    <a:p>
                      <a:pPr>
                        <a:buNone/>
                      </a:pPr>
                      <a:r>
                        <a:rPr lang="en-US" sz="1400" b="1"/>
                        <a:t>Bones and Other Tissues</a:t>
                      </a:r>
                      <a:endParaRPr lang="en-US" sz="1400"/>
                    </a:p>
                  </a:txBody>
                  <a:tcPr anchor="ctr"/>
                </a:tc>
                <a:tc>
                  <a:txBody>
                    <a:bodyPr/>
                    <a:lstStyle/>
                    <a:p>
                      <a:pPr>
                        <a:buNone/>
                      </a:pPr>
                      <a:r>
                        <a:rPr lang="en-US" sz="1400"/>
                        <a:t>None</a:t>
                      </a:r>
                    </a:p>
                  </a:txBody>
                  <a:tcPr anchor="ctr"/>
                </a:tc>
                <a:tc>
                  <a:txBody>
                    <a:bodyPr/>
                    <a:lstStyle/>
                    <a:p>
                      <a:pPr>
                        <a:buNone/>
                      </a:pPr>
                      <a:r>
                        <a:rPr lang="en-US" sz="1400"/>
                        <a:t>—</a:t>
                      </a:r>
                    </a:p>
                  </a:txBody>
                  <a:tcPr anchor="ctr"/>
                </a:tc>
                <a:tc>
                  <a:txBody>
                    <a:bodyPr/>
                    <a:lstStyle/>
                    <a:p>
                      <a:pPr>
                        <a:buNone/>
                      </a:pPr>
                      <a:r>
                        <a:rPr lang="en-US" sz="1400"/>
                        <a:t>Growth and maintenance of cells and tissues</a:t>
                      </a:r>
                    </a:p>
                  </a:txBody>
                  <a:tcPr anchor="ctr"/>
                </a:tc>
                <a:extLst>
                  <a:ext uri="{0D108BD9-81ED-4DB2-BD59-A6C34878D82A}">
                    <a16:rowId xmlns:a16="http://schemas.microsoft.com/office/drawing/2014/main" val="2766630603"/>
                  </a:ext>
                </a:extLst>
              </a:tr>
              <a:tr h="370840">
                <a:tc>
                  <a:txBody>
                    <a:bodyPr/>
                    <a:lstStyle/>
                    <a:p>
                      <a:pPr>
                        <a:buNone/>
                      </a:pPr>
                      <a:r>
                        <a:rPr lang="en-US" sz="1400" b="1"/>
                        <a:t>Pineal Gland</a:t>
                      </a:r>
                      <a:endParaRPr lang="en-US" sz="1400"/>
                    </a:p>
                  </a:txBody>
                  <a:tcPr anchor="ctr"/>
                </a:tc>
                <a:tc>
                  <a:txBody>
                    <a:bodyPr/>
                    <a:lstStyle/>
                    <a:p>
                      <a:pPr>
                        <a:buNone/>
                      </a:pPr>
                      <a:r>
                        <a:rPr lang="en-US" sz="1400"/>
                        <a:t>Melatonin</a:t>
                      </a:r>
                    </a:p>
                  </a:txBody>
                  <a:tcPr anchor="ctr"/>
                </a:tc>
                <a:tc>
                  <a:txBody>
                    <a:bodyPr/>
                    <a:lstStyle/>
                    <a:p>
                      <a:pPr>
                        <a:buNone/>
                      </a:pPr>
                      <a:r>
                        <a:rPr lang="en-US" sz="1400"/>
                        <a:t>Amine hormone</a:t>
                      </a:r>
                    </a:p>
                  </a:txBody>
                  <a:tcPr anchor="ctr"/>
                </a:tc>
                <a:tc>
                  <a:txBody>
                    <a:bodyPr/>
                    <a:lstStyle/>
                    <a:p>
                      <a:pPr>
                        <a:buNone/>
                      </a:pPr>
                      <a:r>
                        <a:rPr lang="en-US" sz="1400" dirty="0"/>
                        <a:t>Regulation of circadian and seasonal rhythms</a:t>
                      </a:r>
                    </a:p>
                  </a:txBody>
                  <a:tcPr anchor="ctr"/>
                </a:tc>
                <a:extLst>
                  <a:ext uri="{0D108BD9-81ED-4DB2-BD59-A6C34878D82A}">
                    <a16:rowId xmlns:a16="http://schemas.microsoft.com/office/drawing/2014/main" val="2633260638"/>
                  </a:ext>
                </a:extLst>
              </a:tr>
            </a:tbl>
          </a:graphicData>
        </a:graphic>
      </p:graphicFrame>
    </p:spTree>
    <p:extLst>
      <p:ext uri="{BB962C8B-B14F-4D97-AF65-F5344CB8AC3E}">
        <p14:creationId xmlns:p14="http://schemas.microsoft.com/office/powerpoint/2010/main" val="1519067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076176F-5A0E-0080-99AE-1BF8FD57412B}"/>
              </a:ext>
            </a:extLst>
          </p:cNvPr>
          <p:cNvPicPr>
            <a:picLocks noChangeAspect="1"/>
          </p:cNvPicPr>
          <p:nvPr/>
        </p:nvPicPr>
        <p:blipFill>
          <a:blip r:embed="rId2">
            <a:extLst>
              <a:ext uri="{28A0092B-C50C-407E-A947-70E740481C1C}">
                <a14:useLocalDpi xmlns:a14="http://schemas.microsoft.com/office/drawing/2010/main" val="0"/>
              </a:ext>
            </a:extLst>
          </a:blip>
          <a:srcRect l="17534"/>
          <a:stretch>
            <a:fillRect/>
          </a:stretch>
        </p:blipFill>
        <p:spPr>
          <a:xfrm>
            <a:off x="7737231" y="0"/>
            <a:ext cx="4454769" cy="6858000"/>
          </a:xfrm>
          <a:prstGeom prst="rect">
            <a:avLst/>
          </a:prstGeom>
        </p:spPr>
      </p:pic>
      <p:sp>
        <p:nvSpPr>
          <p:cNvPr id="2" name="Title 1">
            <a:extLst>
              <a:ext uri="{FF2B5EF4-FFF2-40B4-BE49-F238E27FC236}">
                <a16:creationId xmlns:a16="http://schemas.microsoft.com/office/drawing/2014/main" id="{BA416ADD-E773-4270-74A4-6EEDDBBC93B6}"/>
              </a:ext>
            </a:extLst>
          </p:cNvPr>
          <p:cNvSpPr>
            <a:spLocks noGrp="1"/>
          </p:cNvSpPr>
          <p:nvPr>
            <p:ph type="title"/>
          </p:nvPr>
        </p:nvSpPr>
        <p:spPr/>
        <p:txBody>
          <a:bodyPr/>
          <a:lstStyle/>
          <a:p>
            <a:r>
              <a:rPr lang="en-US" dirty="0"/>
              <a:t>Testable Figures</a:t>
            </a:r>
          </a:p>
        </p:txBody>
      </p:sp>
      <p:sp>
        <p:nvSpPr>
          <p:cNvPr id="3" name="TextBox 2">
            <a:extLst>
              <a:ext uri="{FF2B5EF4-FFF2-40B4-BE49-F238E27FC236}">
                <a16:creationId xmlns:a16="http://schemas.microsoft.com/office/drawing/2014/main" id="{83BD16DB-37E6-F1F5-7348-E2153B7BC2FD}"/>
              </a:ext>
            </a:extLst>
          </p:cNvPr>
          <p:cNvSpPr txBox="1"/>
          <p:nvPr/>
        </p:nvSpPr>
        <p:spPr>
          <a:xfrm>
            <a:off x="0" y="6492875"/>
            <a:ext cx="7212103" cy="369332"/>
          </a:xfrm>
          <a:prstGeom prst="rect">
            <a:avLst/>
          </a:prstGeom>
          <a:noFill/>
        </p:spPr>
        <p:txBody>
          <a:bodyPr wrap="none" rtlCol="0">
            <a:spAutoFit/>
          </a:bodyPr>
          <a:lstStyle/>
          <a:p>
            <a:r>
              <a:rPr lang="en-US" i="1" dirty="0"/>
              <a:t>All figures corresponding to the results of a study are testable material. </a:t>
            </a:r>
          </a:p>
        </p:txBody>
      </p:sp>
      <p:sp>
        <p:nvSpPr>
          <p:cNvPr id="5" name="Content Placeholder 2">
            <a:extLst>
              <a:ext uri="{FF2B5EF4-FFF2-40B4-BE49-F238E27FC236}">
                <a16:creationId xmlns:a16="http://schemas.microsoft.com/office/drawing/2014/main" id="{67F61BB8-1FC1-AFE2-DABD-CEF63125C9FB}"/>
              </a:ext>
            </a:extLst>
          </p:cNvPr>
          <p:cNvSpPr>
            <a:spLocks noGrp="1"/>
          </p:cNvSpPr>
          <p:nvPr>
            <p:ph idx="1"/>
          </p:nvPr>
        </p:nvSpPr>
        <p:spPr>
          <a:xfrm>
            <a:off x="838200" y="1825625"/>
            <a:ext cx="10515600" cy="4351338"/>
          </a:xfrm>
        </p:spPr>
        <p:txBody>
          <a:bodyPr/>
          <a:lstStyle/>
          <a:p>
            <a:pPr marL="0" indent="0">
              <a:buNone/>
            </a:pPr>
            <a:r>
              <a:rPr lang="en-US" dirty="0"/>
              <a:t>Slides 11-14</a:t>
            </a:r>
          </a:p>
          <a:p>
            <a:pPr marL="0" indent="0">
              <a:buNone/>
            </a:pPr>
            <a:r>
              <a:rPr lang="en-US" dirty="0"/>
              <a:t>Slide 33</a:t>
            </a:r>
          </a:p>
        </p:txBody>
      </p:sp>
    </p:spTree>
    <p:extLst>
      <p:ext uri="{BB962C8B-B14F-4D97-AF65-F5344CB8AC3E}">
        <p14:creationId xmlns:p14="http://schemas.microsoft.com/office/powerpoint/2010/main" val="14464899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c61d377-9894-427c-b13b-1d6a51662b4e}" enabled="0" method="" siteId="{9c61d377-9894-427c-b13b-1d6a51662b4e}" removed="1"/>
</clbl:labelList>
</file>

<file path=docProps/app.xml><?xml version="1.0" encoding="utf-8"?>
<Properties xmlns="http://schemas.openxmlformats.org/officeDocument/2006/extended-properties" xmlns:vt="http://schemas.openxmlformats.org/officeDocument/2006/docPropsVTypes">
  <TotalTime>5529</TotalTime>
  <Words>2015</Words>
  <Application>Microsoft Office PowerPoint</Application>
  <PresentationFormat>Widescreen</PresentationFormat>
  <Paragraphs>410</Paragraphs>
  <Slides>46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46</vt:i4>
      </vt:variant>
    </vt:vector>
  </HeadingPairs>
  <TitlesOfParts>
    <vt:vector size="51" baseType="lpstr">
      <vt:lpstr>Aptos</vt:lpstr>
      <vt:lpstr>Aptos Display</vt:lpstr>
      <vt:lpstr>Arial</vt:lpstr>
      <vt:lpstr>Calibri</vt:lpstr>
      <vt:lpstr>Office Theme</vt:lpstr>
      <vt:lpstr>Hormones</vt:lpstr>
      <vt:lpstr>PowerPoint Presentation</vt:lpstr>
      <vt:lpstr>PowerPoint Presentation</vt:lpstr>
      <vt:lpstr>Chemical Communication</vt:lpstr>
      <vt:lpstr>Hormones</vt:lpstr>
      <vt:lpstr>Hormones</vt:lpstr>
      <vt:lpstr>Hormones</vt:lpstr>
      <vt:lpstr>Hormones</vt:lpstr>
      <vt:lpstr>Hormones</vt:lpstr>
      <vt:lpstr>Hormones</vt:lpstr>
      <vt:lpstr>Hormone Regulation</vt:lpstr>
      <vt:lpstr>Hormone Regulation</vt:lpstr>
      <vt:lpstr>Hormone Regulation</vt:lpstr>
      <vt:lpstr>Hormone Regulation</vt:lpstr>
      <vt:lpstr>PowerPoint Presentation</vt:lpstr>
      <vt:lpstr>PowerPoint Presentation</vt:lpstr>
      <vt:lpstr>The Pituitary Gland</vt:lpstr>
      <vt:lpstr>The Pituitary Gland</vt:lpstr>
      <vt:lpstr>The Pituitary Gland</vt:lpstr>
      <vt:lpstr>The Pituitary Gland</vt:lpstr>
      <vt:lpstr>The Pituitary Gland</vt:lpstr>
      <vt:lpstr>The Pituitary Gland</vt:lpstr>
      <vt:lpstr>The Pituitary Gland</vt:lpstr>
      <vt:lpstr>The Pituitary Gland</vt:lpstr>
      <vt:lpstr>The Pituitary Gland</vt:lpstr>
      <vt:lpstr>The Pituitary Gland</vt:lpstr>
      <vt:lpstr>PowerPoint Presentation</vt:lpstr>
      <vt:lpstr>The Pituitary Gland</vt:lpstr>
      <vt:lpstr>PowerPoint Presentation</vt:lpstr>
      <vt:lpstr>PowerPoint Presentation</vt:lpstr>
      <vt:lpstr>PowerPoint Presentation</vt:lpstr>
      <vt:lpstr>Hormone Systems</vt:lpstr>
      <vt:lpstr>Hormone Systems</vt:lpstr>
      <vt:lpstr>Hormone Systems</vt:lpstr>
      <vt:lpstr>Hormone Systems</vt:lpstr>
      <vt:lpstr>Hormone Systems</vt:lpstr>
      <vt:lpstr>Hormone Systems</vt:lpstr>
      <vt:lpstr>Hormone Systems</vt:lpstr>
      <vt:lpstr>Hormone Systems</vt:lpstr>
      <vt:lpstr>Hormone Systems</vt:lpstr>
      <vt:lpstr>Hormone Systems</vt:lpstr>
      <vt:lpstr>Hormone Systems</vt:lpstr>
      <vt:lpstr>Hormone Systems</vt:lpstr>
      <vt:lpstr>Hormone Systems</vt:lpstr>
      <vt:lpstr>PowerPoint Presentation</vt:lpstr>
      <vt:lpstr>Testable Figures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Chad Williams</dc:creator>
  <cp:lastModifiedBy>Chad Williams</cp:lastModifiedBy>
  <cp:revision>1</cp:revision>
  <dcterms:created xsi:type="dcterms:W3CDTF">2025-08-11T14:51:42Z</dcterms:created>
  <dcterms:modified xsi:type="dcterms:W3CDTF">2026-07-28T21:36:46Z</dcterms:modified>
</cp:coreProperties>
</file>