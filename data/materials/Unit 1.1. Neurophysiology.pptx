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7" r:id="rId2"/>
    <p:sldId id="280" r:id="rId3"/>
    <p:sldId id="307" r:id="rId4"/>
    <p:sldId id="281" r:id="rId5"/>
    <p:sldId id="282" r:id="rId6"/>
    <p:sldId id="284" r:id="rId7"/>
    <p:sldId id="285" r:id="rId8"/>
    <p:sldId id="286" r:id="rId9"/>
    <p:sldId id="290" r:id="rId10"/>
    <p:sldId id="291" r:id="rId11"/>
    <p:sldId id="292" r:id="rId12"/>
    <p:sldId id="293" r:id="rId13"/>
    <p:sldId id="308" r:id="rId14"/>
    <p:sldId id="294" r:id="rId15"/>
    <p:sldId id="310" r:id="rId16"/>
    <p:sldId id="312" r:id="rId17"/>
    <p:sldId id="295" r:id="rId18"/>
    <p:sldId id="309" r:id="rId19"/>
    <p:sldId id="298" r:id="rId20"/>
    <p:sldId id="311" r:id="rId21"/>
    <p:sldId id="296" r:id="rId22"/>
    <p:sldId id="300" r:id="rId23"/>
    <p:sldId id="301" r:id="rId24"/>
    <p:sldId id="303" r:id="rId25"/>
    <p:sldId id="306" r:id="rId26"/>
    <p:sldId id="31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03261A-565A-48C3-941E-8CE7818E8534}" v="5" dt="2026-07-28T21:32:56.9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4660"/>
  </p:normalViewPr>
  <p:slideViewPr>
    <p:cSldViewPr snapToGrid="0">
      <p:cViewPr varScale="1">
        <p:scale>
          <a:sx n="118" d="100"/>
          <a:sy n="118" d="100"/>
        </p:scale>
        <p:origin x="14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d Williams" userId="618f96a3-8672-4e43-ae03-eeed93bb7387" providerId="ADAL" clId="{DFF2BB08-185E-495B-B2A0-BE0942C7B81E}"/>
    <pc:docChg chg="undo custSel addSld delSld modSld">
      <pc:chgData name="Chad Williams" userId="618f96a3-8672-4e43-ae03-eeed93bb7387" providerId="ADAL" clId="{DFF2BB08-185E-495B-B2A0-BE0942C7B81E}" dt="2026-07-28T21:34:46.964" v="392" actId="732"/>
      <pc:docMkLst>
        <pc:docMk/>
      </pc:docMkLst>
      <pc:sldChg chg="addSp delSp modSp new mod">
        <pc:chgData name="Chad Williams" userId="618f96a3-8672-4e43-ae03-eeed93bb7387" providerId="ADAL" clId="{DFF2BB08-185E-495B-B2A0-BE0942C7B81E}" dt="2026-07-28T21:34:46.964" v="392" actId="732"/>
        <pc:sldMkLst>
          <pc:docMk/>
          <pc:sldMk cId="304801725" sldId="313"/>
        </pc:sldMkLst>
        <pc:spChg chg="mod">
          <ac:chgData name="Chad Williams" userId="618f96a3-8672-4e43-ae03-eeed93bb7387" providerId="ADAL" clId="{DFF2BB08-185E-495B-B2A0-BE0942C7B81E}" dt="2026-07-28T21:01:52.709" v="242" actId="20577"/>
          <ac:spMkLst>
            <pc:docMk/>
            <pc:sldMk cId="304801725" sldId="313"/>
            <ac:spMk id="2" creationId="{BA416ADD-E773-4270-74A4-6EEDDBBC93B6}"/>
          </ac:spMkLst>
        </pc:spChg>
        <pc:spChg chg="add mod">
          <ac:chgData name="Chad Williams" userId="618f96a3-8672-4e43-ae03-eeed93bb7387" providerId="ADAL" clId="{DFF2BB08-185E-495B-B2A0-BE0942C7B81E}" dt="2026-07-28T21:34:39.236" v="390" actId="1076"/>
          <ac:spMkLst>
            <pc:docMk/>
            <pc:sldMk cId="304801725" sldId="313"/>
            <ac:spMk id="3" creationId="{83BD16DB-37E6-F1F5-7348-E2153B7BC2FD}"/>
          </ac:spMkLst>
        </pc:spChg>
        <pc:spChg chg="del">
          <ac:chgData name="Chad Williams" userId="618f96a3-8672-4e43-ae03-eeed93bb7387" providerId="ADAL" clId="{DFF2BB08-185E-495B-B2A0-BE0942C7B81E}" dt="2026-07-28T21:01:55.099" v="243" actId="478"/>
          <ac:spMkLst>
            <pc:docMk/>
            <pc:sldMk cId="304801725" sldId="313"/>
            <ac:spMk id="3" creationId="{D1D420FB-5DC8-69F7-CEF9-00DA36397260}"/>
          </ac:spMkLst>
        </pc:spChg>
        <pc:spChg chg="add mod">
          <ac:chgData name="Chad Williams" userId="618f96a3-8672-4e43-ae03-eeed93bb7387" providerId="ADAL" clId="{DFF2BB08-185E-495B-B2A0-BE0942C7B81E}" dt="2026-07-28T21:32:24.709" v="384" actId="20577"/>
          <ac:spMkLst>
            <pc:docMk/>
            <pc:sldMk cId="304801725" sldId="313"/>
            <ac:spMk id="5" creationId="{67F61BB8-1FC1-AFE2-DABD-CEF63125C9FB}"/>
          </ac:spMkLst>
        </pc:spChg>
        <pc:graphicFrameChg chg="add del mod modGraphic">
          <ac:chgData name="Chad Williams" userId="618f96a3-8672-4e43-ae03-eeed93bb7387" providerId="ADAL" clId="{DFF2BB08-185E-495B-B2A0-BE0942C7B81E}" dt="2026-07-28T21:32:16.666" v="373" actId="478"/>
          <ac:graphicFrameMkLst>
            <pc:docMk/>
            <pc:sldMk cId="304801725" sldId="313"/>
            <ac:graphicFrameMk id="4" creationId="{7D018100-1EC6-0F2B-0EEE-9C92B65C2F9D}"/>
          </ac:graphicFrameMkLst>
        </pc:graphicFrameChg>
        <pc:picChg chg="add del mod">
          <ac:chgData name="Chad Williams" userId="618f96a3-8672-4e43-ae03-eeed93bb7387" providerId="ADAL" clId="{DFF2BB08-185E-495B-B2A0-BE0942C7B81E}" dt="2026-07-28T21:32:16.666" v="373" actId="478"/>
          <ac:picMkLst>
            <pc:docMk/>
            <pc:sldMk cId="304801725" sldId="313"/>
            <ac:picMk id="6" creationId="{B7728C68-DF3B-6F1A-44DA-E6FD841A7BFF}"/>
          </ac:picMkLst>
        </pc:picChg>
        <pc:picChg chg="add mod ord modCrop">
          <ac:chgData name="Chad Williams" userId="618f96a3-8672-4e43-ae03-eeed93bb7387" providerId="ADAL" clId="{DFF2BB08-185E-495B-B2A0-BE0942C7B81E}" dt="2026-07-28T21:34:46.964" v="392" actId="732"/>
          <ac:picMkLst>
            <pc:docMk/>
            <pc:sldMk cId="304801725" sldId="313"/>
            <ac:picMk id="8" creationId="{4076176F-5A0E-0080-99AE-1BF8FD57412B}"/>
          </ac:picMkLst>
        </pc:picChg>
        <pc:picChg chg="add del">
          <ac:chgData name="Chad Williams" userId="618f96a3-8672-4e43-ae03-eeed93bb7387" providerId="ADAL" clId="{DFF2BB08-185E-495B-B2A0-BE0942C7B81E}" dt="2026-07-28T21:03:27.542" v="275" actId="478"/>
          <ac:picMkLst>
            <pc:docMk/>
            <pc:sldMk cId="304801725" sldId="313"/>
            <ac:picMk id="8" creationId="{F1DC58B9-D72F-9D03-B4CF-3A1EFD9ACA5F}"/>
          </ac:picMkLst>
        </pc:picChg>
      </pc:sldChg>
      <pc:sldChg chg="new del">
        <pc:chgData name="Chad Williams" userId="618f96a3-8672-4e43-ae03-eeed93bb7387" providerId="ADAL" clId="{DFF2BB08-185E-495B-B2A0-BE0942C7B81E}" dt="2026-07-28T21:32:31.359" v="385" actId="47"/>
        <pc:sldMkLst>
          <pc:docMk/>
          <pc:sldMk cId="1858888371" sldId="314"/>
        </pc:sldMkLst>
      </pc:sldChg>
      <pc:sldChg chg="addSp delSp modSp new del mod">
        <pc:chgData name="Chad Williams" userId="618f96a3-8672-4e43-ae03-eeed93bb7387" providerId="ADAL" clId="{DFF2BB08-185E-495B-B2A0-BE0942C7B81E}" dt="2026-07-28T21:04:04.433" v="282" actId="47"/>
        <pc:sldMkLst>
          <pc:docMk/>
          <pc:sldMk cId="2767326428" sldId="314"/>
        </pc:sldMkLst>
        <pc:spChg chg="mod">
          <ac:chgData name="Chad Williams" userId="618f96a3-8672-4e43-ae03-eeed93bb7387" providerId="ADAL" clId="{DFF2BB08-185E-495B-B2A0-BE0942C7B81E}" dt="2026-07-28T21:02:08.247" v="254" actId="20577"/>
          <ac:spMkLst>
            <pc:docMk/>
            <pc:sldMk cId="2767326428" sldId="314"/>
            <ac:spMk id="3" creationId="{0013B462-2C4B-A4B9-005C-C8EFBE4D6463}"/>
          </ac:spMkLst>
        </pc:spChg>
        <pc:picChg chg="add del mod">
          <ac:chgData name="Chad Williams" userId="618f96a3-8672-4e43-ae03-eeed93bb7387" providerId="ADAL" clId="{DFF2BB08-185E-495B-B2A0-BE0942C7B81E}" dt="2026-07-28T21:03:19.373" v="272" actId="21"/>
          <ac:picMkLst>
            <pc:docMk/>
            <pc:sldMk cId="2767326428" sldId="314"/>
            <ac:picMk id="5" creationId="{65C8768C-41FA-0C5D-B2AB-ECCA8D7AD22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A58E55-DF54-4DED-9AD7-D46FCB7DC95A}" type="datetimeFigureOut">
              <a:rPr lang="en-US" smtClean="0"/>
              <a:t>7/28/2026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B5B977-0B2D-4610-A9FA-D6352649F8AC}" type="slidenum">
              <a:rPr lang="en-US" smtClean="0"/>
              <a:t>‹#›</a:t>
            </a:fld>
            <a:endParaRPr lang="en-US"/>
          </a:p>
        </p:txBody>
      </p:sp>
    </p:spTree>
    <p:extLst>
      <p:ext uri="{BB962C8B-B14F-4D97-AF65-F5344CB8AC3E}">
        <p14:creationId xmlns:p14="http://schemas.microsoft.com/office/powerpoint/2010/main" val="4105498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B5B977-0B2D-4610-A9FA-D6352649F8AC}" type="slidenum">
              <a:rPr lang="en-US" smtClean="0"/>
              <a:t>14</a:t>
            </a:fld>
            <a:endParaRPr lang="en-US"/>
          </a:p>
        </p:txBody>
      </p:sp>
    </p:spTree>
    <p:extLst>
      <p:ext uri="{BB962C8B-B14F-4D97-AF65-F5344CB8AC3E}">
        <p14:creationId xmlns:p14="http://schemas.microsoft.com/office/powerpoint/2010/main" val="4274996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280FB-69ED-1390-295C-DD9A78DA5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8D81B2-EBA3-7BD8-63A3-2EA07DB4D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A5EAA4-6E54-4DB4-2B9E-3072424644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07DA1D-77DD-24CD-121E-759284187C00}"/>
              </a:ext>
            </a:extLst>
          </p:cNvPr>
          <p:cNvSpPr>
            <a:spLocks noGrp="1"/>
          </p:cNvSpPr>
          <p:nvPr>
            <p:ph type="sldNum" sz="quarter" idx="5"/>
          </p:nvPr>
        </p:nvSpPr>
        <p:spPr/>
        <p:txBody>
          <a:bodyPr/>
          <a:lstStyle/>
          <a:p>
            <a:fld id="{81B5B977-0B2D-4610-A9FA-D6352649F8AC}" type="slidenum">
              <a:rPr lang="en-US" smtClean="0"/>
              <a:t>15</a:t>
            </a:fld>
            <a:endParaRPr lang="en-US"/>
          </a:p>
        </p:txBody>
      </p:sp>
    </p:spTree>
    <p:extLst>
      <p:ext uri="{BB962C8B-B14F-4D97-AF65-F5344CB8AC3E}">
        <p14:creationId xmlns:p14="http://schemas.microsoft.com/office/powerpoint/2010/main" val="1135196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E622C-EC89-486C-CEEA-B25253A065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9098B8-051F-9980-C41D-940F85E570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381D8-7328-84A7-C991-602651D44A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6B163C-7973-CE39-5978-7D7B8D2761D8}"/>
              </a:ext>
            </a:extLst>
          </p:cNvPr>
          <p:cNvSpPr>
            <a:spLocks noGrp="1"/>
          </p:cNvSpPr>
          <p:nvPr>
            <p:ph type="sldNum" sz="quarter" idx="5"/>
          </p:nvPr>
        </p:nvSpPr>
        <p:spPr/>
        <p:txBody>
          <a:bodyPr/>
          <a:lstStyle/>
          <a:p>
            <a:fld id="{81B5B977-0B2D-4610-A9FA-D6352649F8AC}" type="slidenum">
              <a:rPr lang="en-US" smtClean="0"/>
              <a:t>16</a:t>
            </a:fld>
            <a:endParaRPr lang="en-US"/>
          </a:p>
        </p:txBody>
      </p:sp>
    </p:spTree>
    <p:extLst>
      <p:ext uri="{BB962C8B-B14F-4D97-AF65-F5344CB8AC3E}">
        <p14:creationId xmlns:p14="http://schemas.microsoft.com/office/powerpoint/2010/main" val="307889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094E4-A959-2EA1-ADF2-8F856D613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149D2A-A030-6B7A-F1CB-287CAB0F8F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4BA8AB-88BE-B828-C822-8505ADDCF0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B5E78D-45D7-1C21-B1A0-4D0C06D357A6}"/>
              </a:ext>
            </a:extLst>
          </p:cNvPr>
          <p:cNvSpPr>
            <a:spLocks noGrp="1"/>
          </p:cNvSpPr>
          <p:nvPr>
            <p:ph type="sldNum" sz="quarter" idx="5"/>
          </p:nvPr>
        </p:nvSpPr>
        <p:spPr/>
        <p:txBody>
          <a:bodyPr/>
          <a:lstStyle/>
          <a:p>
            <a:fld id="{81B5B977-0B2D-4610-A9FA-D6352649F8AC}" type="slidenum">
              <a:rPr lang="en-US" smtClean="0"/>
              <a:t>17</a:t>
            </a:fld>
            <a:endParaRPr lang="en-US"/>
          </a:p>
        </p:txBody>
      </p:sp>
    </p:spTree>
    <p:extLst>
      <p:ext uri="{BB962C8B-B14F-4D97-AF65-F5344CB8AC3E}">
        <p14:creationId xmlns:p14="http://schemas.microsoft.com/office/powerpoint/2010/main" val="1532349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B5B977-0B2D-4610-A9FA-D6352649F8AC}" type="slidenum">
              <a:rPr lang="en-US" smtClean="0"/>
              <a:t>19</a:t>
            </a:fld>
            <a:endParaRPr lang="en-US"/>
          </a:p>
        </p:txBody>
      </p:sp>
    </p:spTree>
    <p:extLst>
      <p:ext uri="{BB962C8B-B14F-4D97-AF65-F5344CB8AC3E}">
        <p14:creationId xmlns:p14="http://schemas.microsoft.com/office/powerpoint/2010/main" val="1463380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090DF-695D-5633-BFC6-767A4E26B7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D46F84-C208-A486-EBA1-08274EF921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D5A5E7-8F65-B287-26F9-806B19F859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63435A-EBB3-BCA5-458E-0E904426189A}"/>
              </a:ext>
            </a:extLst>
          </p:cNvPr>
          <p:cNvSpPr>
            <a:spLocks noGrp="1"/>
          </p:cNvSpPr>
          <p:nvPr>
            <p:ph type="sldNum" sz="quarter" idx="5"/>
          </p:nvPr>
        </p:nvSpPr>
        <p:spPr/>
        <p:txBody>
          <a:bodyPr/>
          <a:lstStyle/>
          <a:p>
            <a:fld id="{81B5B977-0B2D-4610-A9FA-D6352649F8AC}" type="slidenum">
              <a:rPr lang="en-US" smtClean="0"/>
              <a:t>20</a:t>
            </a:fld>
            <a:endParaRPr lang="en-US"/>
          </a:p>
        </p:txBody>
      </p:sp>
    </p:spTree>
    <p:extLst>
      <p:ext uri="{BB962C8B-B14F-4D97-AF65-F5344CB8AC3E}">
        <p14:creationId xmlns:p14="http://schemas.microsoft.com/office/powerpoint/2010/main" val="15119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B5B977-0B2D-4610-A9FA-D6352649F8AC}" type="slidenum">
              <a:rPr lang="en-US" smtClean="0"/>
              <a:t>21</a:t>
            </a:fld>
            <a:endParaRPr lang="en-US"/>
          </a:p>
        </p:txBody>
      </p:sp>
    </p:spTree>
    <p:extLst>
      <p:ext uri="{BB962C8B-B14F-4D97-AF65-F5344CB8AC3E}">
        <p14:creationId xmlns:p14="http://schemas.microsoft.com/office/powerpoint/2010/main" val="102786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D88D0-B506-BFFA-1976-9706ACDCAB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72CEA1-5034-DF8A-EEE2-044270FEBD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4C5229-0E10-A2F1-9C1F-AE2A968CED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254B47-C311-B728-020C-21DC6C3CE16D}"/>
              </a:ext>
            </a:extLst>
          </p:cNvPr>
          <p:cNvSpPr>
            <a:spLocks noGrp="1"/>
          </p:cNvSpPr>
          <p:nvPr>
            <p:ph type="sldNum" sz="quarter" idx="5"/>
          </p:nvPr>
        </p:nvSpPr>
        <p:spPr/>
        <p:txBody>
          <a:bodyPr/>
          <a:lstStyle/>
          <a:p>
            <a:fld id="{81B5B977-0B2D-4610-A9FA-D6352649F8AC}" type="slidenum">
              <a:rPr lang="en-US" smtClean="0"/>
              <a:t>22</a:t>
            </a:fld>
            <a:endParaRPr lang="en-US"/>
          </a:p>
        </p:txBody>
      </p:sp>
    </p:spTree>
    <p:extLst>
      <p:ext uri="{BB962C8B-B14F-4D97-AF65-F5344CB8AC3E}">
        <p14:creationId xmlns:p14="http://schemas.microsoft.com/office/powerpoint/2010/main" val="2164862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BF5BB-6093-541B-261B-18417BA2D9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C194F4-A1C7-6878-0908-18365CA46E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EE6528-19C6-916C-0A87-292A7F4865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2CE362-9EDB-8F1E-4BAA-835F8DCA2D52}"/>
              </a:ext>
            </a:extLst>
          </p:cNvPr>
          <p:cNvSpPr>
            <a:spLocks noGrp="1"/>
          </p:cNvSpPr>
          <p:nvPr>
            <p:ph type="sldNum" sz="quarter" idx="5"/>
          </p:nvPr>
        </p:nvSpPr>
        <p:spPr/>
        <p:txBody>
          <a:bodyPr/>
          <a:lstStyle/>
          <a:p>
            <a:fld id="{81B5B977-0B2D-4610-A9FA-D6352649F8AC}" type="slidenum">
              <a:rPr lang="en-US" smtClean="0"/>
              <a:t>23</a:t>
            </a:fld>
            <a:endParaRPr lang="en-US"/>
          </a:p>
        </p:txBody>
      </p:sp>
    </p:spTree>
    <p:extLst>
      <p:ext uri="{BB962C8B-B14F-4D97-AF65-F5344CB8AC3E}">
        <p14:creationId xmlns:p14="http://schemas.microsoft.com/office/powerpoint/2010/main" val="2988772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70E7-6735-2B68-8BF9-498F2483AC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3A1F1D-72B4-9AA2-243D-5A288F3033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ED7BB9-DAE3-B710-7A1C-64011CD670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11BCB7-0B49-81D4-4CAC-2C07333A61FD}"/>
              </a:ext>
            </a:extLst>
          </p:cNvPr>
          <p:cNvSpPr>
            <a:spLocks noGrp="1"/>
          </p:cNvSpPr>
          <p:nvPr>
            <p:ph type="sldNum" sz="quarter" idx="5"/>
          </p:nvPr>
        </p:nvSpPr>
        <p:spPr/>
        <p:txBody>
          <a:bodyPr/>
          <a:lstStyle/>
          <a:p>
            <a:fld id="{81B5B977-0B2D-4610-A9FA-D6352649F8AC}" type="slidenum">
              <a:rPr lang="en-US" smtClean="0"/>
              <a:t>24</a:t>
            </a:fld>
            <a:endParaRPr lang="en-US"/>
          </a:p>
        </p:txBody>
      </p:sp>
    </p:spTree>
    <p:extLst>
      <p:ext uri="{BB962C8B-B14F-4D97-AF65-F5344CB8AC3E}">
        <p14:creationId xmlns:p14="http://schemas.microsoft.com/office/powerpoint/2010/main" val="33390443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95F4C-ACC1-AFD1-41C4-C28D463316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67BEFB-9DE8-1AA9-F87F-D2BD3134E3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6BB625-5937-CE63-5DBD-680E66C03A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BDD614-D0AB-FE8C-43E7-3E518046AFDA}"/>
              </a:ext>
            </a:extLst>
          </p:cNvPr>
          <p:cNvSpPr>
            <a:spLocks noGrp="1"/>
          </p:cNvSpPr>
          <p:nvPr>
            <p:ph type="sldNum" sz="quarter" idx="5"/>
          </p:nvPr>
        </p:nvSpPr>
        <p:spPr/>
        <p:txBody>
          <a:bodyPr/>
          <a:lstStyle/>
          <a:p>
            <a:fld id="{81B5B977-0B2D-4610-A9FA-D6352649F8AC}" type="slidenum">
              <a:rPr lang="en-US" smtClean="0"/>
              <a:t>25</a:t>
            </a:fld>
            <a:endParaRPr lang="en-US"/>
          </a:p>
        </p:txBody>
      </p:sp>
    </p:spTree>
    <p:extLst>
      <p:ext uri="{BB962C8B-B14F-4D97-AF65-F5344CB8AC3E}">
        <p14:creationId xmlns:p14="http://schemas.microsoft.com/office/powerpoint/2010/main" val="4064744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FCC9F-153C-5BED-77D1-0EA8FA851C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4AFA1B-9317-E4FA-9E5F-71F307F14B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BA73E4-6544-A008-5669-868A3733E124}"/>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ECEB6D09-B653-253C-7468-CB69572163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43E8E0-BCE4-8E2F-3CAF-4A0155F06C56}"/>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763491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1D079-863E-8E80-51B0-7CE72BACC0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103BEF-88ED-FA81-799F-132222CC51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772EFB-BE09-46CC-5EB5-923F524CE21A}"/>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4826EFA9-57FE-A7B8-0152-0677077C84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A9A541-BCB9-1489-0D4F-34671F1D1B01}"/>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046767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A1885-73A8-5C98-F85B-FD93EF337A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FC37A30-0AAF-9C64-D450-3D3E62C289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DA13C8-8130-0C7A-54B4-8B2AA151012C}"/>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3FD934BF-4EF4-090A-5327-72E3A11168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3C1FC7-CF5C-AD75-EEBC-C726161ED010}"/>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467823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6A28B-31B8-90E0-AADB-E4AC95AD4C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0A5B33-9A1F-2B19-2C08-444D6F7E55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6D7EEE-51DA-00F0-2BC4-0203809C71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3B6CCE-3D6C-9C92-E8CD-17CF1A156521}"/>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6" name="Footer Placeholder 5">
            <a:extLst>
              <a:ext uri="{FF2B5EF4-FFF2-40B4-BE49-F238E27FC236}">
                <a16:creationId xmlns:a16="http://schemas.microsoft.com/office/drawing/2014/main" id="{867C9986-80E1-876A-BDE4-EF8F4D69CA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FFCFA4-1493-0C60-41EB-5E0360F8EA6C}"/>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205517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5F673-6B17-CAA7-EDD6-EB6A46BEC5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E42013-5E11-D28F-B4C3-E07D6D43AE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74C146-9506-960E-B2C6-114BA15006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EBEDC7-17C2-A78A-F73C-3BFFAAC160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AF650B-E297-256A-06A0-1688F72543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01E005-308A-9E31-CDC4-583D302CCF90}"/>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8" name="Footer Placeholder 7">
            <a:extLst>
              <a:ext uri="{FF2B5EF4-FFF2-40B4-BE49-F238E27FC236}">
                <a16:creationId xmlns:a16="http://schemas.microsoft.com/office/drawing/2014/main" id="{4888BA9C-2513-9724-E7D8-B6AEAE22AF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60F89A-69C7-2DC4-2A67-FB0B568A64EF}"/>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390201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9B60-4ECB-D4C5-8F9C-72E834BA59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6469B5F-2004-DA7B-ABF6-7D712B038AE9}"/>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4" name="Footer Placeholder 3">
            <a:extLst>
              <a:ext uri="{FF2B5EF4-FFF2-40B4-BE49-F238E27FC236}">
                <a16:creationId xmlns:a16="http://schemas.microsoft.com/office/drawing/2014/main" id="{EA00A102-A3B7-C8B1-77C9-E4C9BB9858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487EC4-7497-0271-3E6A-E842B57483BE}"/>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020666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E70430-559B-8C59-E57F-58CA50ADF97A}"/>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3" name="Footer Placeholder 2">
            <a:extLst>
              <a:ext uri="{FF2B5EF4-FFF2-40B4-BE49-F238E27FC236}">
                <a16:creationId xmlns:a16="http://schemas.microsoft.com/office/drawing/2014/main" id="{A5199E04-CCEF-3AEF-0EB8-28DACA6714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3C6E08-EFFD-76A2-23F6-9951F33CF72A}"/>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52776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980C6-0265-BCB2-D248-70F79E4FA6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6C3128-5EA3-9110-61E8-6E54054C5D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6DFD61-4640-6E89-117E-8033F215AA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CDAE60-E065-FA6D-E126-F6A63283DD69}"/>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6" name="Footer Placeholder 5">
            <a:extLst>
              <a:ext uri="{FF2B5EF4-FFF2-40B4-BE49-F238E27FC236}">
                <a16:creationId xmlns:a16="http://schemas.microsoft.com/office/drawing/2014/main" id="{1E7DA105-935B-CDCB-5819-3E9730FC08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B2526E-01B6-82CE-B0F6-217F7B28CF6C}"/>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756566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9489F-F723-CF7F-7BF9-B198245EF6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1D3A86-032B-BCD7-6A72-9F5BEBC9AF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6F5CEA-D30D-B373-82E9-DCD1FAE807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29203E-0C3D-FD43-06CF-BFC0FE6F73A7}"/>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6" name="Footer Placeholder 5">
            <a:extLst>
              <a:ext uri="{FF2B5EF4-FFF2-40B4-BE49-F238E27FC236}">
                <a16:creationId xmlns:a16="http://schemas.microsoft.com/office/drawing/2014/main" id="{8D0392B7-3636-A5E9-BA01-ECA6E682D4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F85FEB-1518-7D4D-8A18-4FE72BCE5F61}"/>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962545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48754-A5FA-D976-080B-7F0E83EF78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BD0E94-9358-341D-4038-E768882680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095BA3-992C-3CDB-41CD-646B7C252618}"/>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6EAEFD14-CAE1-5E67-18B9-50B714E34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5021C-74B3-CB99-976A-1F95B561168E}"/>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995634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2E7540-105A-F4AF-F5BE-954009823E4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C61B68-319D-3491-F4AB-52C88C4C74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548040-C41C-A2CF-88F3-C132E0479FCB}"/>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ADDF7DA8-1DE6-4EA3-1B7F-D800D360C4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EBA4F0-46E8-02C8-7D5F-BE788AB8E0D0}"/>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505573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9EEC4E-DC2D-5EE1-5C7A-4C25929572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D4BA5-8DC3-EE54-47B9-587EBF40AD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31E6DD-3F7D-93DE-45F6-7A594444FC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C9C9E689-9319-DF25-D096-A79BFECCEA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C9A93C1-3576-E67E-2759-17A9F78C56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F13C4C-01C6-4528-B855-C0BB2AC8454B}" type="slidenum">
              <a:rPr lang="en-US" smtClean="0"/>
              <a:t>‹#›</a:t>
            </a:fld>
            <a:endParaRPr lang="en-US"/>
          </a:p>
        </p:txBody>
      </p:sp>
    </p:spTree>
    <p:extLst>
      <p:ext uri="{BB962C8B-B14F-4D97-AF65-F5344CB8AC3E}">
        <p14:creationId xmlns:p14="http://schemas.microsoft.com/office/powerpoint/2010/main" val="16162050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2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2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2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04505-984A-784F-B784-AEBB8FD005B0}"/>
              </a:ext>
            </a:extLst>
          </p:cNvPr>
          <p:cNvSpPr>
            <a:spLocks noGrp="1"/>
          </p:cNvSpPr>
          <p:nvPr>
            <p:ph type="ctrTitle"/>
          </p:nvPr>
        </p:nvSpPr>
        <p:spPr>
          <a:xfrm>
            <a:off x="5872805" y="1122363"/>
            <a:ext cx="6197089" cy="2387600"/>
          </a:xfrm>
        </p:spPr>
        <p:txBody>
          <a:bodyPr>
            <a:noAutofit/>
          </a:bodyPr>
          <a:lstStyle/>
          <a:p>
            <a:r>
              <a:rPr lang="en-US" sz="4800" b="1" dirty="0">
                <a:latin typeface="Calibri" panose="020F0502020204030204" pitchFamily="34" charset="0"/>
                <a:cs typeface="Calibri" panose="020F0502020204030204" pitchFamily="34" charset="0"/>
              </a:rPr>
              <a:t>Neurophysiology</a:t>
            </a:r>
          </a:p>
        </p:txBody>
      </p:sp>
      <p:sp>
        <p:nvSpPr>
          <p:cNvPr id="3" name="Subtitle 2">
            <a:extLst>
              <a:ext uri="{FF2B5EF4-FFF2-40B4-BE49-F238E27FC236}">
                <a16:creationId xmlns:a16="http://schemas.microsoft.com/office/drawing/2014/main" id="{3C4BDEC7-4CE5-0C42-AD2E-FA8453064E39}"/>
              </a:ext>
            </a:extLst>
          </p:cNvPr>
          <p:cNvSpPr>
            <a:spLocks noGrp="1"/>
          </p:cNvSpPr>
          <p:nvPr>
            <p:ph type="subTitle" idx="1"/>
          </p:nvPr>
        </p:nvSpPr>
        <p:spPr>
          <a:xfrm>
            <a:off x="5872805" y="3602038"/>
            <a:ext cx="6197089" cy="1655762"/>
          </a:xfrm>
        </p:spPr>
        <p:txBody>
          <a:bodyPr>
            <a:normAutofit/>
          </a:bodyPr>
          <a:lstStyle/>
          <a:p>
            <a:r>
              <a:rPr lang="en-US" sz="3600" dirty="0"/>
              <a:t>Chad Williams</a:t>
            </a:r>
          </a:p>
          <a:p>
            <a:r>
              <a:rPr lang="en-US" sz="2800" dirty="0"/>
              <a:t>University of Victoria</a:t>
            </a:r>
            <a:endParaRPr lang="en-US" dirty="0"/>
          </a:p>
        </p:txBody>
      </p:sp>
      <p:pic>
        <p:nvPicPr>
          <p:cNvPr id="10" name="Picture 9" descr="A colorful and black and white brain&#10;&#10;AI-generated content may be incorrect.">
            <a:extLst>
              <a:ext uri="{FF2B5EF4-FFF2-40B4-BE49-F238E27FC236}">
                <a16:creationId xmlns:a16="http://schemas.microsoft.com/office/drawing/2014/main" id="{2517674F-1EF5-6501-66B2-CCB81D59B9A8}"/>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3639529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7E4F8C96-B1F8-F340-9530-E0398316CFA5}"/>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4000" dirty="0">
                <a:latin typeface="Calibri" panose="020F0502020204030204" pitchFamily="34" charset="0"/>
                <a:cs typeface="Calibri" panose="020F0502020204030204" pitchFamily="34" charset="0"/>
              </a:rPr>
              <a:t>Neurons &amp; the Membrane Potential</a:t>
            </a:r>
          </a:p>
          <a:p>
            <a:endParaRPr lang="en-US" sz="4000" dirty="0">
              <a:latin typeface="Calibri" panose="020F0502020204030204" pitchFamily="34" charset="0"/>
              <a:cs typeface="Calibri" panose="020F0502020204030204" pitchFamily="34" charset="0"/>
            </a:endParaRPr>
          </a:p>
          <a:p>
            <a:r>
              <a:rPr lang="en-US" sz="4000" dirty="0">
                <a:latin typeface="Calibri" panose="020F0502020204030204" pitchFamily="34" charset="0"/>
                <a:cs typeface="Calibri" panose="020F0502020204030204" pitchFamily="34" charset="0"/>
              </a:rPr>
              <a:t>Action Potentials</a:t>
            </a:r>
          </a:p>
          <a:p>
            <a:endParaRPr lang="en-US" sz="4000" dirty="0">
              <a:latin typeface="Calibri" panose="020F0502020204030204" pitchFamily="34" charset="0"/>
              <a:cs typeface="Calibri" panose="020F0502020204030204" pitchFamily="34" charset="0"/>
            </a:endParaRPr>
          </a:p>
          <a:p>
            <a:r>
              <a:rPr lang="en-US" sz="4000" dirty="0">
                <a:latin typeface="Calibri" panose="020F0502020204030204" pitchFamily="34" charset="0"/>
                <a:cs typeface="Calibri" panose="020F0502020204030204" pitchFamily="34" charset="0"/>
              </a:rPr>
              <a:t>Synapses &amp; Communication</a:t>
            </a:r>
          </a:p>
        </p:txBody>
      </p:sp>
      <p:pic>
        <p:nvPicPr>
          <p:cNvPr id="2" name="Picture 1" descr="A colorful and black and white brain&#10;&#10;AI-generated content may be incorrect.">
            <a:extLst>
              <a:ext uri="{FF2B5EF4-FFF2-40B4-BE49-F238E27FC236}">
                <a16:creationId xmlns:a16="http://schemas.microsoft.com/office/drawing/2014/main" id="{FF63C198-1FEA-CEA5-594F-622A66BCB8FD}"/>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2977837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C6096-6EE4-847D-189C-30D9DD657413}"/>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C8F92BFA-C9AF-999A-5D23-08B806910F87}"/>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4000" dirty="0">
                <a:solidFill>
                  <a:srgbClr val="FF0000"/>
                </a:solidFill>
                <a:latin typeface="Calibri" panose="020F0502020204030204" pitchFamily="34" charset="0"/>
                <a:cs typeface="Calibri" panose="020F0502020204030204" pitchFamily="34" charset="0"/>
              </a:rPr>
              <a:t>Neurons &amp; the Membrane Potential</a:t>
            </a:r>
          </a:p>
          <a:p>
            <a:endParaRPr lang="en-US" sz="4000" dirty="0">
              <a:latin typeface="Calibri" panose="020F0502020204030204" pitchFamily="34" charset="0"/>
              <a:cs typeface="Calibri" panose="020F0502020204030204" pitchFamily="34" charset="0"/>
            </a:endParaRPr>
          </a:p>
          <a:p>
            <a:r>
              <a:rPr lang="en-US" sz="4000" dirty="0">
                <a:latin typeface="Calibri" panose="020F0502020204030204" pitchFamily="34" charset="0"/>
                <a:cs typeface="Calibri" panose="020F0502020204030204" pitchFamily="34" charset="0"/>
              </a:rPr>
              <a:t>Action Potentials</a:t>
            </a:r>
          </a:p>
          <a:p>
            <a:endParaRPr lang="en-US" sz="4000" dirty="0">
              <a:latin typeface="Calibri" panose="020F0502020204030204" pitchFamily="34" charset="0"/>
              <a:cs typeface="Calibri" panose="020F0502020204030204" pitchFamily="34" charset="0"/>
            </a:endParaRPr>
          </a:p>
          <a:p>
            <a:r>
              <a:rPr lang="en-US" sz="4000" dirty="0">
                <a:latin typeface="Calibri" panose="020F0502020204030204" pitchFamily="34" charset="0"/>
                <a:cs typeface="Calibri" panose="020F0502020204030204" pitchFamily="34" charset="0"/>
              </a:rPr>
              <a:t>Synapses &amp; Communication</a:t>
            </a:r>
          </a:p>
        </p:txBody>
      </p:sp>
      <p:pic>
        <p:nvPicPr>
          <p:cNvPr id="2" name="Picture 1" descr="A colorful and black and white brain&#10;&#10;AI-generated content may be incorrect.">
            <a:extLst>
              <a:ext uri="{FF2B5EF4-FFF2-40B4-BE49-F238E27FC236}">
                <a16:creationId xmlns:a16="http://schemas.microsoft.com/office/drawing/2014/main" id="{270A4906-433D-28F4-9FE7-021B66F2D9B5}"/>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1047433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9FB45-B020-427A-4EF9-32DA04F2C8FC}"/>
              </a:ext>
            </a:extLst>
          </p:cNvPr>
          <p:cNvSpPr>
            <a:spLocks noGrp="1"/>
          </p:cNvSpPr>
          <p:nvPr>
            <p:ph type="title"/>
          </p:nvPr>
        </p:nvSpPr>
        <p:spPr/>
        <p:txBody>
          <a:bodyPr/>
          <a:lstStyle/>
          <a:p>
            <a:r>
              <a:rPr lang="en-US" dirty="0"/>
              <a:t>Neurophysiology</a:t>
            </a:r>
          </a:p>
        </p:txBody>
      </p:sp>
      <p:sp>
        <p:nvSpPr>
          <p:cNvPr id="3" name="Content Placeholder 2">
            <a:extLst>
              <a:ext uri="{FF2B5EF4-FFF2-40B4-BE49-F238E27FC236}">
                <a16:creationId xmlns:a16="http://schemas.microsoft.com/office/drawing/2014/main" id="{E9964987-FF2D-8678-EBDB-B4E7A4830C95}"/>
              </a:ext>
            </a:extLst>
          </p:cNvPr>
          <p:cNvSpPr>
            <a:spLocks noGrp="1"/>
          </p:cNvSpPr>
          <p:nvPr>
            <p:ph idx="1"/>
          </p:nvPr>
        </p:nvSpPr>
        <p:spPr>
          <a:xfrm>
            <a:off x="838201" y="1825625"/>
            <a:ext cx="5948548" cy="4344356"/>
          </a:xfrm>
        </p:spPr>
        <p:txBody>
          <a:bodyPr/>
          <a:lstStyle/>
          <a:p>
            <a:pPr>
              <a:defRPr/>
            </a:pPr>
            <a:r>
              <a:rPr lang="en-US" altLang="en-US" b="1" dirty="0"/>
              <a:t>Neurophysiology</a:t>
            </a:r>
            <a:r>
              <a:rPr lang="en-US" altLang="en-US" dirty="0"/>
              <a:t>: Study of electrical and chemical processes in neurons</a:t>
            </a:r>
          </a:p>
          <a:p>
            <a:pPr lvl="1">
              <a:defRPr/>
            </a:pPr>
            <a:r>
              <a:rPr lang="en-US" altLang="en-US" dirty="0"/>
              <a:t>Information flows </a:t>
            </a:r>
            <a:r>
              <a:rPr lang="en-US" altLang="en-US" i="1" dirty="0"/>
              <a:t>within </a:t>
            </a:r>
            <a:r>
              <a:rPr lang="en-US" altLang="en-US" dirty="0"/>
              <a:t>a neuron via electrical signals</a:t>
            </a:r>
          </a:p>
          <a:p>
            <a:pPr lvl="1">
              <a:defRPr/>
            </a:pPr>
            <a:r>
              <a:rPr lang="en-US" altLang="en-US" dirty="0"/>
              <a:t>Information passes </a:t>
            </a:r>
            <a:r>
              <a:rPr lang="en-US" altLang="en-US" i="1" dirty="0"/>
              <a:t>between </a:t>
            </a:r>
            <a:r>
              <a:rPr lang="en-US" altLang="en-US" dirty="0"/>
              <a:t>neurons through chemical signals</a:t>
            </a:r>
            <a:endParaRPr lang="en-US" dirty="0"/>
          </a:p>
        </p:txBody>
      </p:sp>
      <p:pic>
        <p:nvPicPr>
          <p:cNvPr id="5" name="Picture 4" descr="A diagram of a nervous system&#10;&#10;AI-generated content may be incorrect.">
            <a:extLst>
              <a:ext uri="{FF2B5EF4-FFF2-40B4-BE49-F238E27FC236}">
                <a16:creationId xmlns:a16="http://schemas.microsoft.com/office/drawing/2014/main" id="{E0B511BB-6029-1C79-0E78-19189F8EE7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8772" y="0"/>
            <a:ext cx="5090869" cy="6858000"/>
          </a:xfrm>
          <a:prstGeom prst="rect">
            <a:avLst/>
          </a:prstGeom>
        </p:spPr>
      </p:pic>
    </p:spTree>
    <p:extLst>
      <p:ext uri="{BB962C8B-B14F-4D97-AF65-F5344CB8AC3E}">
        <p14:creationId xmlns:p14="http://schemas.microsoft.com/office/powerpoint/2010/main" val="4160161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E8E9B-8861-30DA-2F1B-4203BC673C31}"/>
            </a:ext>
          </a:extLst>
        </p:cNvPr>
        <p:cNvGrpSpPr/>
        <p:nvPr/>
      </p:nvGrpSpPr>
      <p:grpSpPr>
        <a:xfrm>
          <a:off x="0" y="0"/>
          <a:ext cx="0" cy="0"/>
          <a:chOff x="0" y="0"/>
          <a:chExt cx="0" cy="0"/>
        </a:xfrm>
      </p:grpSpPr>
      <p:pic>
        <p:nvPicPr>
          <p:cNvPr id="6" name="Picture 5" descr="A diagram of a nervous system&#10;&#10;AI-generated content may be incorrect.">
            <a:extLst>
              <a:ext uri="{FF2B5EF4-FFF2-40B4-BE49-F238E27FC236}">
                <a16:creationId xmlns:a16="http://schemas.microsoft.com/office/drawing/2014/main" id="{44AD227D-2371-40F2-C7E4-C206E27084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8772" y="0"/>
            <a:ext cx="5090869" cy="6858000"/>
          </a:xfrm>
          <a:prstGeom prst="rect">
            <a:avLst/>
          </a:prstGeom>
        </p:spPr>
      </p:pic>
      <p:sp>
        <p:nvSpPr>
          <p:cNvPr id="2" name="Title 1">
            <a:extLst>
              <a:ext uri="{FF2B5EF4-FFF2-40B4-BE49-F238E27FC236}">
                <a16:creationId xmlns:a16="http://schemas.microsoft.com/office/drawing/2014/main" id="{F6F17D3B-AA88-4B73-0161-ECBD115D9561}"/>
              </a:ext>
            </a:extLst>
          </p:cNvPr>
          <p:cNvSpPr>
            <a:spLocks noGrp="1"/>
          </p:cNvSpPr>
          <p:nvPr>
            <p:ph type="title"/>
          </p:nvPr>
        </p:nvSpPr>
        <p:spPr/>
        <p:txBody>
          <a:bodyPr/>
          <a:lstStyle/>
          <a:p>
            <a:r>
              <a:rPr lang="en-US" dirty="0"/>
              <a:t>Neurons</a:t>
            </a:r>
          </a:p>
        </p:txBody>
      </p:sp>
      <p:sp>
        <p:nvSpPr>
          <p:cNvPr id="3" name="Content Placeholder 2">
            <a:extLst>
              <a:ext uri="{FF2B5EF4-FFF2-40B4-BE49-F238E27FC236}">
                <a16:creationId xmlns:a16="http://schemas.microsoft.com/office/drawing/2014/main" id="{2FBFB3F1-8E5B-98DE-3052-E562674B0A43}"/>
              </a:ext>
            </a:extLst>
          </p:cNvPr>
          <p:cNvSpPr>
            <a:spLocks noGrp="1"/>
          </p:cNvSpPr>
          <p:nvPr>
            <p:ph idx="1"/>
          </p:nvPr>
        </p:nvSpPr>
        <p:spPr>
          <a:xfrm>
            <a:off x="838200" y="1825625"/>
            <a:ext cx="6120627" cy="4344356"/>
          </a:xfrm>
        </p:spPr>
        <p:txBody>
          <a:bodyPr>
            <a:normAutofit/>
          </a:bodyPr>
          <a:lstStyle/>
          <a:p>
            <a:pPr marL="0" indent="0">
              <a:buNone/>
              <a:defRPr/>
            </a:pPr>
            <a:r>
              <a:rPr lang="en-US" b="1" dirty="0"/>
              <a:t>Neurons</a:t>
            </a:r>
            <a:r>
              <a:rPr lang="en-US" dirty="0"/>
              <a:t>: Cells of the nervous system</a:t>
            </a:r>
          </a:p>
          <a:p>
            <a:pPr fontAlgn="auto">
              <a:spcBef>
                <a:spcPts val="1400"/>
              </a:spcBef>
              <a:spcAft>
                <a:spcPts val="0"/>
              </a:spcAft>
              <a:defRPr/>
            </a:pPr>
            <a:r>
              <a:rPr lang="en-US" altLang="en-US" b="1" dirty="0"/>
              <a:t>Dendrites (input):</a:t>
            </a:r>
            <a:r>
              <a:rPr lang="en-US" altLang="en-US" dirty="0"/>
              <a:t> Cellular extensions that receive information</a:t>
            </a:r>
          </a:p>
          <a:p>
            <a:pPr fontAlgn="auto">
              <a:spcBef>
                <a:spcPts val="1400"/>
              </a:spcBef>
              <a:spcAft>
                <a:spcPts val="0"/>
              </a:spcAft>
              <a:defRPr/>
            </a:pPr>
            <a:r>
              <a:rPr lang="en-US" altLang="en-US" b="1" dirty="0"/>
              <a:t>Integration Zone</a:t>
            </a:r>
            <a:r>
              <a:rPr lang="en-US" altLang="en-US" dirty="0"/>
              <a:t>: cell body integrates information</a:t>
            </a:r>
          </a:p>
          <a:p>
            <a:pPr fontAlgn="auto">
              <a:spcBef>
                <a:spcPts val="1400"/>
              </a:spcBef>
              <a:spcAft>
                <a:spcPts val="0"/>
              </a:spcAft>
              <a:defRPr/>
            </a:pPr>
            <a:r>
              <a:rPr lang="en-US" altLang="en-US" b="1" dirty="0"/>
              <a:t>Axons</a:t>
            </a:r>
            <a:r>
              <a:rPr lang="en-US" altLang="en-US" dirty="0"/>
              <a:t>: Carry information away from the cell body</a:t>
            </a:r>
          </a:p>
          <a:p>
            <a:pPr fontAlgn="auto">
              <a:spcBef>
                <a:spcPts val="1400"/>
              </a:spcBef>
              <a:spcAft>
                <a:spcPts val="0"/>
              </a:spcAft>
              <a:defRPr/>
            </a:pPr>
            <a:r>
              <a:rPr lang="en-US" altLang="en-US" b="1" dirty="0"/>
              <a:t>Axon terminals (output): </a:t>
            </a:r>
            <a:r>
              <a:rPr lang="en-US" altLang="en-US" dirty="0"/>
              <a:t>Signals are transmitted across synapses</a:t>
            </a:r>
            <a:endParaRPr lang="en-US" dirty="0"/>
          </a:p>
        </p:txBody>
      </p:sp>
    </p:spTree>
    <p:extLst>
      <p:ext uri="{BB962C8B-B14F-4D97-AF65-F5344CB8AC3E}">
        <p14:creationId xmlns:p14="http://schemas.microsoft.com/office/powerpoint/2010/main" val="3756042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C81D0-E360-9D60-B41E-D5D4106228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787537-EE22-FC5C-3400-D2D2A243FE4D}"/>
              </a:ext>
            </a:extLst>
          </p:cNvPr>
          <p:cNvSpPr>
            <a:spLocks noGrp="1"/>
          </p:cNvSpPr>
          <p:nvPr>
            <p:ph type="title"/>
          </p:nvPr>
        </p:nvSpPr>
        <p:spPr/>
        <p:txBody>
          <a:bodyPr/>
          <a:lstStyle/>
          <a:p>
            <a:r>
              <a:rPr lang="en-US" dirty="0"/>
              <a:t>Neurons</a:t>
            </a:r>
          </a:p>
        </p:txBody>
      </p:sp>
      <p:sp>
        <p:nvSpPr>
          <p:cNvPr id="3" name="Content Placeholder 2">
            <a:extLst>
              <a:ext uri="{FF2B5EF4-FFF2-40B4-BE49-F238E27FC236}">
                <a16:creationId xmlns:a16="http://schemas.microsoft.com/office/drawing/2014/main" id="{C8A94C8B-88D8-FA67-8B7D-1D1726F6683F}"/>
              </a:ext>
            </a:extLst>
          </p:cNvPr>
          <p:cNvSpPr>
            <a:spLocks noGrp="1"/>
          </p:cNvSpPr>
          <p:nvPr>
            <p:ph idx="1"/>
          </p:nvPr>
        </p:nvSpPr>
        <p:spPr>
          <a:xfrm>
            <a:off x="838200" y="1825625"/>
            <a:ext cx="5668394" cy="4351338"/>
          </a:xfrm>
        </p:spPr>
        <p:txBody>
          <a:bodyPr>
            <a:normAutofit/>
          </a:bodyPr>
          <a:lstStyle/>
          <a:p>
            <a:pPr marL="0" indent="0">
              <a:buNone/>
            </a:pPr>
            <a:r>
              <a:rPr lang="en-US" b="1" dirty="0"/>
              <a:t>Cell Membrane</a:t>
            </a:r>
            <a:r>
              <a:rPr lang="en-US" dirty="0"/>
              <a:t>: A barrier that surrounds a cell, controlling what enters and leaves</a:t>
            </a:r>
          </a:p>
          <a:p>
            <a:r>
              <a:rPr lang="en-US" dirty="0"/>
              <a:t>Made up of a lipid bilayer with embedded proteins that control communication with other cells</a:t>
            </a:r>
          </a:p>
          <a:p>
            <a:r>
              <a:rPr lang="en-US" dirty="0"/>
              <a:t>Separates the intracellular fluid from the extracellular fluid</a:t>
            </a:r>
          </a:p>
          <a:p>
            <a:r>
              <a:rPr lang="en-US" dirty="0"/>
              <a:t>Proteins gate ions and molecules</a:t>
            </a:r>
          </a:p>
          <a:p>
            <a:endParaRPr lang="en-US" dirty="0"/>
          </a:p>
        </p:txBody>
      </p:sp>
      <p:pic>
        <p:nvPicPr>
          <p:cNvPr id="4" name="Content Placeholder 6" descr="The diagram shows the human brain as viewed by naked eye, light microscope, and an electron microscope. The brain as seen by the naked eye is as follows. There is a scale at the top that shows 1 to 15 centimeter. The width of the brain as measured against this scale is 15 centimeters. Life size: The adult human brain, on&#10;average, is 15 centimeter from front to back. There is a layer known as cortex below the surface curves of the brain. Life size: The cortex of the human brain is about 3 millimeters thick. On the brain layer, a circle is drawn and it has an almost invisible dot in the center. Life size: The tiny black dot in the center of this circle is how the largest nerve cell bodies appear to the naked eye when stained. A magnifying glass shows a ten times magnified view of this tiny dot. The dot is now clearly visible. In the Light microscope view, you can see the neurons with the axon and dendrites. Magnification into 100, 10 to second: Large nerve cell bodies are about 100 micrometer or 0.1 millimeter in diameter. For the axon terminals or parts of neurons, Magnification into 1,000 or 10 to third. Large axons and dendrites are about 10 micrometer or 0.01 millimeter in diameter. In the electron microscope view, the axon terminal expands and you can see the synapses. Magnification into 10 to fourth: An axon terminal is about 1 micrometer in diameter. Further magnification shows the synaptic cleft that has dots on the surface. Magnification into 10 top fifth: The synaptic cleft between neurons is about 20 nanometers across. Further magnification shows a thick strand of neuronal membrane. Magnification into 10 to sixth: A neuronal membrane is about 5 nanometers thick. Further magnification shows the ion channel. Magnification into 10 to seventh: The diameter of an ion channel is about 0.5 nanometer.&#10;">
            <a:extLst>
              <a:ext uri="{FF2B5EF4-FFF2-40B4-BE49-F238E27FC236}">
                <a16:creationId xmlns:a16="http://schemas.microsoft.com/office/drawing/2014/main" id="{27AA8654-C93B-5676-AC5E-FC3BA3BB3A0D}"/>
              </a:ext>
            </a:extLst>
          </p:cNvPr>
          <p:cNvPicPr>
            <a:picLocks noGrp="1" noChangeAspect="1"/>
          </p:cNvPicPr>
          <p:nvPr/>
        </p:nvPicPr>
        <p:blipFill>
          <a:blip r:embed="rId2"/>
          <a:stretch>
            <a:fillRect/>
          </a:stretch>
        </p:blipFill>
        <p:spPr>
          <a:xfrm>
            <a:off x="6506594" y="450798"/>
            <a:ext cx="5579613" cy="6300788"/>
          </a:xfrm>
          <a:prstGeom prst="rect">
            <a:avLst/>
          </a:prstGeom>
        </p:spPr>
      </p:pic>
      <p:pic>
        <p:nvPicPr>
          <p:cNvPr id="5" name="Content Placeholder 6" descr="Experiment to measure the resting potential. In a small cup there lies a neuron in the horizontal position. It is immersed in the extracellular fluid. A reference electrode is placed in the extra cellular fluid. Another electrode is placed near the Axon. The output from both these electrodes is fed to an amplifier. The amplifier connects to a Computer and the output is seen on the monitor. The graph on the monitor is plotted for millivolts that range from minus 90 to zero versus time. In the first scenario, the electrode is outside the axon. Outside the axons on both sides are positive ions. Inside the axon on both sides are negative ions. There is zero potential difference between the two electrodes when both are in the bath. The graph is the monitor shows a straight line at 0 volts. In the second scenario, the electrode is inside the axon. Outside the axons on both sides are positive ions. Inside the axon on both sides are negative ions. When the microelectrode enters the axon, it records a negative potential, the inside of the axon is more negative than the outside. In the graph in the monitor, when the microelectrode enters cell the voltage is at zero. After some time, the voltage falls down to minus 65 and is steady at minus 65 for a long time. ">
            <a:extLst>
              <a:ext uri="{FF2B5EF4-FFF2-40B4-BE49-F238E27FC236}">
                <a16:creationId xmlns:a16="http://schemas.microsoft.com/office/drawing/2014/main" id="{5D9A70EA-7E5A-6B35-80DA-961F02D289CE}"/>
              </a:ext>
            </a:extLst>
          </p:cNvPr>
          <p:cNvPicPr>
            <a:picLocks noGrp="1" noChangeAspect="1"/>
          </p:cNvPicPr>
          <p:nvPr/>
        </p:nvPicPr>
        <p:blipFill>
          <a:blip r:embed="rId3"/>
          <a:srcRect t="35063" r="66163" b="5100"/>
          <a:stretch>
            <a:fillRect/>
          </a:stretch>
        </p:blipFill>
        <p:spPr>
          <a:xfrm>
            <a:off x="10248292" y="2822818"/>
            <a:ext cx="1733911" cy="2796638"/>
          </a:xfrm>
          <a:prstGeom prst="rect">
            <a:avLst/>
          </a:prstGeom>
        </p:spPr>
      </p:pic>
    </p:spTree>
    <p:extLst>
      <p:ext uri="{BB962C8B-B14F-4D97-AF65-F5344CB8AC3E}">
        <p14:creationId xmlns:p14="http://schemas.microsoft.com/office/powerpoint/2010/main" val="1802549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9C9AC-39C0-D29C-04B9-C0A00387C3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007F4-B07A-9223-8455-6A0A315D5A9F}"/>
              </a:ext>
            </a:extLst>
          </p:cNvPr>
          <p:cNvSpPr>
            <a:spLocks noGrp="1"/>
          </p:cNvSpPr>
          <p:nvPr>
            <p:ph type="title"/>
          </p:nvPr>
        </p:nvSpPr>
        <p:spPr/>
        <p:txBody>
          <a:bodyPr/>
          <a:lstStyle/>
          <a:p>
            <a:r>
              <a:rPr lang="en-US" dirty="0"/>
              <a:t>Membrane Potential</a:t>
            </a:r>
          </a:p>
        </p:txBody>
      </p:sp>
      <p:sp>
        <p:nvSpPr>
          <p:cNvPr id="3" name="Content Placeholder 2">
            <a:extLst>
              <a:ext uri="{FF2B5EF4-FFF2-40B4-BE49-F238E27FC236}">
                <a16:creationId xmlns:a16="http://schemas.microsoft.com/office/drawing/2014/main" id="{FB7841FB-1CB3-1933-195F-A3BA24694B6F}"/>
              </a:ext>
            </a:extLst>
          </p:cNvPr>
          <p:cNvSpPr>
            <a:spLocks noGrp="1"/>
          </p:cNvSpPr>
          <p:nvPr>
            <p:ph idx="1"/>
          </p:nvPr>
        </p:nvSpPr>
        <p:spPr>
          <a:xfrm>
            <a:off x="838200" y="1825625"/>
            <a:ext cx="5483831" cy="4351338"/>
          </a:xfrm>
        </p:spPr>
        <p:txBody>
          <a:bodyPr>
            <a:normAutofit/>
          </a:bodyPr>
          <a:lstStyle/>
          <a:p>
            <a:pPr marL="0" indent="0">
              <a:buNone/>
            </a:pPr>
            <a:r>
              <a:rPr lang="en-US" altLang="en-US" b="1" dirty="0"/>
              <a:t>Membrane Potential:</a:t>
            </a:r>
            <a:r>
              <a:rPr lang="en-US" altLang="en-US" dirty="0"/>
              <a:t> The difference in voltage between the intracellular and extracellular fluid</a:t>
            </a:r>
          </a:p>
          <a:p>
            <a:r>
              <a:rPr lang="en-US" altLang="en-US" b="1" dirty="0"/>
              <a:t>Resting Potential: </a:t>
            </a:r>
            <a:r>
              <a:rPr lang="en-US" altLang="en-US" dirty="0"/>
              <a:t>The potential wherein the cell is dormant</a:t>
            </a:r>
          </a:p>
          <a:p>
            <a:pPr lvl="1"/>
            <a:r>
              <a:rPr lang="en-US" altLang="en-US" dirty="0"/>
              <a:t>-50 to -80 mV depending on cell</a:t>
            </a:r>
          </a:p>
          <a:p>
            <a:pPr lvl="2"/>
            <a:r>
              <a:rPr lang="en-US" altLang="en-US"/>
              <a:t>Often -65 </a:t>
            </a:r>
            <a:r>
              <a:rPr lang="en-US" altLang="en-US" dirty="0"/>
              <a:t>mV</a:t>
            </a:r>
          </a:p>
          <a:p>
            <a:pPr lvl="1"/>
            <a:r>
              <a:rPr lang="en-US" altLang="en-US" dirty="0"/>
              <a:t>Cell’s interior is negatively charged</a:t>
            </a:r>
          </a:p>
          <a:p>
            <a:pPr lvl="1"/>
            <a:endParaRPr lang="en-US" altLang="en-US" dirty="0"/>
          </a:p>
        </p:txBody>
      </p:sp>
      <p:pic>
        <p:nvPicPr>
          <p:cNvPr id="7" name="Content Placeholder 6" descr="The diagram shows the human brain as viewed by naked eye, light microscope, and an electron microscope. The brain as seen by the naked eye is as follows. There is a scale at the top that shows 1 to 15 centimeter. The width of the brain as measured against this scale is 15 centimeters. Life size: The adult human brain, on&#10;average, is 15 centimeter from front to back. There is a layer known as cortex below the surface curves of the brain. Life size: The cortex of the human brain is about 3 millimeters thick. On the brain layer, a circle is drawn and it has an almost invisible dot in the center. Life size: The tiny black dot in the center of this circle is how the largest nerve cell bodies appear to the naked eye when stained. A magnifying glass shows a ten times magnified view of this tiny dot. The dot is now clearly visible. In the Light microscope view, you can see the neurons with the axon and dendrites. Magnification into 100, 10 to second: Large nerve cell bodies are about 100 micrometer or 0.1 millimeter in diameter. For the axon terminals or parts of neurons, Magnification into 1,000 or 10 to third. Large axons and dendrites are about 10 micrometer or 0.01 millimeter in diameter. In the electron microscope view, the axon terminal expands and you can see the synapses. Magnification into 10 to fourth: An axon terminal is about 1 micrometer in diameter. Further magnification shows the synaptic cleft that has dots on the surface. Magnification into 10 top fifth: The synaptic cleft between neurons is about 20 nanometers across. Further magnification shows a thick strand of neuronal membrane. Magnification into 10 to sixth: A neuronal membrane is about 5 nanometers thick. Further magnification shows the ion channel. Magnification into 10 to seventh: The diameter of an ion channel is about 0.5 nanometer.&#10;">
            <a:extLst>
              <a:ext uri="{FF2B5EF4-FFF2-40B4-BE49-F238E27FC236}">
                <a16:creationId xmlns:a16="http://schemas.microsoft.com/office/drawing/2014/main" id="{4D4D79A1-3595-3B8E-6697-30F87ED4E4A0}"/>
              </a:ext>
            </a:extLst>
          </p:cNvPr>
          <p:cNvPicPr>
            <a:picLocks noGrp="1" noChangeAspect="1"/>
          </p:cNvPicPr>
          <p:nvPr/>
        </p:nvPicPr>
        <p:blipFill>
          <a:blip r:embed="rId2"/>
          <a:stretch>
            <a:fillRect/>
          </a:stretch>
        </p:blipFill>
        <p:spPr>
          <a:xfrm>
            <a:off x="6506594" y="450798"/>
            <a:ext cx="5579613" cy="6300788"/>
          </a:xfrm>
          <a:prstGeom prst="rect">
            <a:avLst/>
          </a:prstGeom>
        </p:spPr>
      </p:pic>
      <p:pic>
        <p:nvPicPr>
          <p:cNvPr id="8" name="Content Placeholder 6" descr="Experiment to measure the resting potential. In a small cup there lies a neuron in the horizontal position. It is immersed in the extracellular fluid. A reference electrode is placed in the extra cellular fluid. Another electrode is placed near the Axon. The output from both these electrodes is fed to an amplifier. The amplifier connects to a Computer and the output is seen on the monitor. The graph on the monitor is plotted for millivolts that range from minus 90 to zero versus time. In the first scenario, the electrode is outside the axon. Outside the axons on both sides are positive ions. Inside the axon on both sides are negative ions. There is zero potential difference between the two electrodes when both are in the bath. The graph is the monitor shows a straight line at 0 volts. In the second scenario, the electrode is inside the axon. Outside the axons on both sides are positive ions. Inside the axon on both sides are negative ions. When the microelectrode enters the axon, it records a negative potential, the inside of the axon is more negative than the outside. In the graph in the monitor, when the microelectrode enters cell the voltage is at zero. After some time, the voltage falls down to minus 65 and is steady at minus 65 for a long time. ">
            <a:extLst>
              <a:ext uri="{FF2B5EF4-FFF2-40B4-BE49-F238E27FC236}">
                <a16:creationId xmlns:a16="http://schemas.microsoft.com/office/drawing/2014/main" id="{4C828BE0-5D67-41AE-21F7-F018BA5A4340}"/>
              </a:ext>
            </a:extLst>
          </p:cNvPr>
          <p:cNvPicPr>
            <a:picLocks noGrp="1" noChangeAspect="1"/>
          </p:cNvPicPr>
          <p:nvPr/>
        </p:nvPicPr>
        <p:blipFill>
          <a:blip r:embed="rId3"/>
          <a:srcRect t="35063" r="66163" b="5100"/>
          <a:stretch>
            <a:fillRect/>
          </a:stretch>
        </p:blipFill>
        <p:spPr>
          <a:xfrm>
            <a:off x="10248292" y="2822818"/>
            <a:ext cx="1733911" cy="2796638"/>
          </a:xfrm>
          <a:prstGeom prst="rect">
            <a:avLst/>
          </a:prstGeom>
        </p:spPr>
      </p:pic>
    </p:spTree>
    <p:extLst>
      <p:ext uri="{BB962C8B-B14F-4D97-AF65-F5344CB8AC3E}">
        <p14:creationId xmlns:p14="http://schemas.microsoft.com/office/powerpoint/2010/main" val="1591190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83CAF-BF65-9368-7324-474DE8C054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6F0DBD-407C-D758-F0F6-1E8A746FEEF6}"/>
              </a:ext>
            </a:extLst>
          </p:cNvPr>
          <p:cNvSpPr>
            <a:spLocks noGrp="1"/>
          </p:cNvSpPr>
          <p:nvPr>
            <p:ph type="title"/>
          </p:nvPr>
        </p:nvSpPr>
        <p:spPr/>
        <p:txBody>
          <a:bodyPr/>
          <a:lstStyle/>
          <a:p>
            <a:r>
              <a:rPr lang="en-US" dirty="0"/>
              <a:t>Membrane Potential</a:t>
            </a:r>
          </a:p>
        </p:txBody>
      </p:sp>
      <p:sp>
        <p:nvSpPr>
          <p:cNvPr id="3" name="Content Placeholder 2">
            <a:extLst>
              <a:ext uri="{FF2B5EF4-FFF2-40B4-BE49-F238E27FC236}">
                <a16:creationId xmlns:a16="http://schemas.microsoft.com/office/drawing/2014/main" id="{51D8E930-F225-42B1-203B-374EA2BD6316}"/>
              </a:ext>
            </a:extLst>
          </p:cNvPr>
          <p:cNvSpPr>
            <a:spLocks noGrp="1"/>
          </p:cNvSpPr>
          <p:nvPr>
            <p:ph idx="1"/>
          </p:nvPr>
        </p:nvSpPr>
        <p:spPr>
          <a:xfrm>
            <a:off x="838198" y="1825625"/>
            <a:ext cx="6191993" cy="4351338"/>
          </a:xfrm>
        </p:spPr>
        <p:txBody>
          <a:bodyPr>
            <a:normAutofit fontScale="92500" lnSpcReduction="20000"/>
          </a:bodyPr>
          <a:lstStyle/>
          <a:p>
            <a:pPr marL="0" indent="0">
              <a:buNone/>
            </a:pPr>
            <a:r>
              <a:rPr lang="en-US" altLang="en-US" b="1" dirty="0"/>
              <a:t>Ions</a:t>
            </a:r>
            <a:r>
              <a:rPr lang="en-US" altLang="en-US" dirty="0"/>
              <a:t>: Electrically charged molecules (positive or negative)</a:t>
            </a:r>
          </a:p>
          <a:p>
            <a:r>
              <a:rPr lang="en-US" altLang="en-US" dirty="0"/>
              <a:t>Their transportation across the membrane changes the membrane potential, which can cause neuronal firing</a:t>
            </a:r>
          </a:p>
          <a:p>
            <a:endParaRPr lang="en-US" altLang="en-US" dirty="0"/>
          </a:p>
          <a:p>
            <a:r>
              <a:rPr lang="en-US" altLang="en-US" b="1" dirty="0"/>
              <a:t>Ion Channels</a:t>
            </a:r>
            <a:r>
              <a:rPr lang="en-US" altLang="en-US" dirty="0"/>
              <a:t>: Passive transport</a:t>
            </a:r>
          </a:p>
          <a:p>
            <a:pPr lvl="1"/>
            <a:r>
              <a:rPr lang="en-US" altLang="en-US" dirty="0"/>
              <a:t>e.g., potassium channel</a:t>
            </a:r>
          </a:p>
          <a:p>
            <a:pPr marL="457200" lvl="1" indent="0">
              <a:buNone/>
            </a:pPr>
            <a:endParaRPr lang="en-US" altLang="en-US" dirty="0"/>
          </a:p>
          <a:p>
            <a:r>
              <a:rPr lang="en-US" altLang="en-US" b="1" dirty="0"/>
              <a:t>Ion Pumps</a:t>
            </a:r>
            <a:r>
              <a:rPr lang="en-US" altLang="en-US" dirty="0"/>
              <a:t>: Active transport</a:t>
            </a:r>
          </a:p>
          <a:p>
            <a:pPr lvl="1"/>
            <a:r>
              <a:rPr lang="en-CA" sz="2000" dirty="0"/>
              <a:t>e.g., sodium-potassium pump</a:t>
            </a:r>
          </a:p>
          <a:p>
            <a:pPr lvl="1"/>
            <a:endParaRPr lang="en-CA" sz="2000" dirty="0"/>
          </a:p>
          <a:p>
            <a:pPr lvl="1"/>
            <a:endParaRPr lang="en-CA" sz="2000" dirty="0"/>
          </a:p>
          <a:p>
            <a:pPr lvl="1"/>
            <a:endParaRPr lang="en-CA" sz="2000" dirty="0"/>
          </a:p>
          <a:p>
            <a:pPr lvl="1"/>
            <a:endParaRPr lang="en-CA" sz="2000" dirty="0"/>
          </a:p>
          <a:p>
            <a:pPr marL="457200" lvl="1" indent="0">
              <a:buNone/>
            </a:pPr>
            <a:endParaRPr lang="en-US" altLang="en-US" dirty="0"/>
          </a:p>
          <a:p>
            <a:pPr marL="0" indent="0">
              <a:buNone/>
            </a:pPr>
            <a:endParaRPr lang="en-US" altLang="en-US" dirty="0"/>
          </a:p>
        </p:txBody>
      </p:sp>
      <p:pic>
        <p:nvPicPr>
          <p:cNvPr id="5" name="Content Placeholder 6" descr="The diagram shows the human brain as viewed by naked eye, light microscope, and an electron microscope. The brain as seen by the naked eye is as follows. There is a scale at the top that shows 1 to 15 centimeter. The width of the brain as measured against this scale is 15 centimeters. Life size: The adult human brain, on&#10;average, is 15 centimeter from front to back. There is a layer known as cortex below the surface curves of the brain. Life size: The cortex of the human brain is about 3 millimeters thick. On the brain layer, a circle is drawn and it has an almost invisible dot in the center. Life size: The tiny black dot in the center of this circle is how the largest nerve cell bodies appear to the naked eye when stained. A magnifying glass shows a ten times magnified view of this tiny dot. The dot is now clearly visible. In the Light microscope view, you can see the neurons with the axon and dendrites. Magnification into 100, 10 to second: Large nerve cell bodies are about 100 micrometer or 0.1 millimeter in diameter. For the axon terminals or parts of neurons, Magnification into 1,000 or 10 to third. Large axons and dendrites are about 10 micrometer or 0.01 millimeter in diameter. In the electron microscope view, the axon terminal expands and you can see the synapses. Magnification into 10 to fourth: An axon terminal is about 1 micrometer in diameter. Further magnification shows the synaptic cleft that has dots on the surface. Magnification into 10 top fifth: The synaptic cleft between neurons is about 20 nanometers across. Further magnification shows a thick strand of neuronal membrane. Magnification into 10 to sixth: A neuronal membrane is about 5 nanometers thick. Further magnification shows the ion channel. Magnification into 10 to seventh: The diameter of an ion channel is about 0.5 nanometer.&#10;">
            <a:extLst>
              <a:ext uri="{FF2B5EF4-FFF2-40B4-BE49-F238E27FC236}">
                <a16:creationId xmlns:a16="http://schemas.microsoft.com/office/drawing/2014/main" id="{5E6C2F31-76AB-1265-EE77-BC219543A579}"/>
              </a:ext>
            </a:extLst>
          </p:cNvPr>
          <p:cNvPicPr>
            <a:picLocks noGrp="1" noChangeAspect="1"/>
          </p:cNvPicPr>
          <p:nvPr/>
        </p:nvPicPr>
        <p:blipFill>
          <a:blip r:embed="rId2"/>
          <a:stretch>
            <a:fillRect/>
          </a:stretch>
        </p:blipFill>
        <p:spPr>
          <a:xfrm>
            <a:off x="6506594" y="450798"/>
            <a:ext cx="5579613" cy="6300788"/>
          </a:xfrm>
          <a:prstGeom prst="rect">
            <a:avLst/>
          </a:prstGeom>
        </p:spPr>
      </p:pic>
      <p:pic>
        <p:nvPicPr>
          <p:cNvPr id="7" name="Content Placeholder 6" descr="Experiment to measure the resting potential. In a small cup there lies a neuron in the horizontal position. It is immersed in the extracellular fluid. A reference electrode is placed in the extra cellular fluid. Another electrode is placed near the Axon. The output from both these electrodes is fed to an amplifier. The amplifier connects to a Computer and the output is seen on the monitor. The graph on the monitor is plotted for millivolts that range from minus 90 to zero versus time. In the first scenario, the electrode is outside the axon. Outside the axons on both sides are positive ions. Inside the axon on both sides are negative ions. There is zero potential difference between the two electrodes when both are in the bath. The graph is the monitor shows a straight line at 0 volts. In the second scenario, the electrode is inside the axon. Outside the axons on both sides are positive ions. Inside the axon on both sides are negative ions. When the microelectrode enters the axon, it records a negative potential, the inside of the axon is more negative than the outside. In the graph in the monitor, when the microelectrode enters cell the voltage is at zero. After some time, the voltage falls down to minus 65 and is steady at minus 65 for a long time. ">
            <a:extLst>
              <a:ext uri="{FF2B5EF4-FFF2-40B4-BE49-F238E27FC236}">
                <a16:creationId xmlns:a16="http://schemas.microsoft.com/office/drawing/2014/main" id="{18AFCF3C-B1FC-FEEA-7651-60EDBE36F9E1}"/>
              </a:ext>
            </a:extLst>
          </p:cNvPr>
          <p:cNvPicPr>
            <a:picLocks noGrp="1" noChangeAspect="1"/>
          </p:cNvPicPr>
          <p:nvPr/>
        </p:nvPicPr>
        <p:blipFill>
          <a:blip r:embed="rId3"/>
          <a:srcRect t="35063" r="66163" b="5100"/>
          <a:stretch>
            <a:fillRect/>
          </a:stretch>
        </p:blipFill>
        <p:spPr>
          <a:xfrm>
            <a:off x="10248292" y="2822818"/>
            <a:ext cx="1733911" cy="2796638"/>
          </a:xfrm>
          <a:prstGeom prst="rect">
            <a:avLst/>
          </a:prstGeom>
        </p:spPr>
      </p:pic>
    </p:spTree>
    <p:extLst>
      <p:ext uri="{BB962C8B-B14F-4D97-AF65-F5344CB8AC3E}">
        <p14:creationId xmlns:p14="http://schemas.microsoft.com/office/powerpoint/2010/main" val="951352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15853-F8CA-4F21-FF83-6CBA9DCD97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76882B-9793-C913-9D16-C02AA5F6A06E}"/>
              </a:ext>
            </a:extLst>
          </p:cNvPr>
          <p:cNvSpPr>
            <a:spLocks noGrp="1"/>
          </p:cNvSpPr>
          <p:nvPr>
            <p:ph type="title"/>
          </p:nvPr>
        </p:nvSpPr>
        <p:spPr/>
        <p:txBody>
          <a:bodyPr/>
          <a:lstStyle/>
          <a:p>
            <a:r>
              <a:rPr lang="en-US" dirty="0"/>
              <a:t>Membrane Potential</a:t>
            </a:r>
          </a:p>
        </p:txBody>
      </p:sp>
      <p:sp>
        <p:nvSpPr>
          <p:cNvPr id="3" name="Content Placeholder 2">
            <a:extLst>
              <a:ext uri="{FF2B5EF4-FFF2-40B4-BE49-F238E27FC236}">
                <a16:creationId xmlns:a16="http://schemas.microsoft.com/office/drawing/2014/main" id="{1F8B9748-A81B-A57A-BCD5-E87771358148}"/>
              </a:ext>
            </a:extLst>
          </p:cNvPr>
          <p:cNvSpPr>
            <a:spLocks noGrp="1"/>
          </p:cNvSpPr>
          <p:nvPr>
            <p:ph idx="1"/>
          </p:nvPr>
        </p:nvSpPr>
        <p:spPr>
          <a:xfrm>
            <a:off x="838198" y="1825624"/>
            <a:ext cx="6191993" cy="4955185"/>
          </a:xfrm>
        </p:spPr>
        <p:txBody>
          <a:bodyPr>
            <a:normAutofit/>
          </a:bodyPr>
          <a:lstStyle/>
          <a:p>
            <a:pPr marL="0" indent="0">
              <a:buNone/>
            </a:pPr>
            <a:r>
              <a:rPr lang="en-US" altLang="en-US" b="1" dirty="0"/>
              <a:t>Ion Channels</a:t>
            </a:r>
            <a:r>
              <a:rPr lang="en-US" altLang="en-US" dirty="0"/>
              <a:t>: Passive transport</a:t>
            </a:r>
          </a:p>
          <a:p>
            <a:r>
              <a:rPr lang="en-US" altLang="en-US" b="1"/>
              <a:t>Electrical </a:t>
            </a:r>
            <a:r>
              <a:rPr lang="en-US" altLang="en-US" b="1" dirty="0"/>
              <a:t>Gradient</a:t>
            </a:r>
            <a:r>
              <a:rPr lang="en-US" altLang="en-US" dirty="0"/>
              <a:t>: Ions flow towards oppositely charged areas</a:t>
            </a:r>
          </a:p>
          <a:p>
            <a:endParaRPr lang="en-US" altLang="en-US" dirty="0"/>
          </a:p>
          <a:p>
            <a:r>
              <a:rPr lang="en-US" altLang="en-US" b="1" dirty="0"/>
              <a:t>Concentration Gradient: </a:t>
            </a:r>
            <a:r>
              <a:rPr lang="en-US" altLang="en-US" dirty="0"/>
              <a:t>Ions flow from areas of higher to lower concentration</a:t>
            </a:r>
          </a:p>
          <a:p>
            <a:endParaRPr lang="en-US" altLang="en-US" dirty="0"/>
          </a:p>
          <a:p>
            <a:r>
              <a:rPr lang="en-US" altLang="en-US" b="1" dirty="0"/>
              <a:t>Selectively Permeable</a:t>
            </a:r>
            <a:r>
              <a:rPr lang="en-US" altLang="en-US" dirty="0"/>
              <a:t>: Channels can be specific to a charge or molecule</a:t>
            </a:r>
          </a:p>
          <a:p>
            <a:endParaRPr lang="en-US" altLang="en-US" dirty="0"/>
          </a:p>
          <a:p>
            <a:pPr marL="0" indent="0">
              <a:buNone/>
            </a:pPr>
            <a:endParaRPr lang="en-CA" sz="2000" dirty="0"/>
          </a:p>
          <a:p>
            <a:pPr lvl="1"/>
            <a:endParaRPr lang="en-CA" sz="2000" dirty="0"/>
          </a:p>
          <a:p>
            <a:pPr lvl="1"/>
            <a:endParaRPr lang="en-CA" sz="2000" dirty="0"/>
          </a:p>
          <a:p>
            <a:pPr lvl="1"/>
            <a:endParaRPr lang="en-CA" sz="2000" dirty="0"/>
          </a:p>
          <a:p>
            <a:pPr marL="457200" lvl="1" indent="0">
              <a:buNone/>
            </a:pPr>
            <a:endParaRPr lang="en-US" altLang="en-US" dirty="0"/>
          </a:p>
          <a:p>
            <a:pPr marL="0" indent="0">
              <a:buNone/>
            </a:pPr>
            <a:endParaRPr lang="en-US" altLang="en-US" dirty="0"/>
          </a:p>
        </p:txBody>
      </p:sp>
      <p:pic>
        <p:nvPicPr>
          <p:cNvPr id="4" name="Content Placeholder 6" descr="Six figures show the Ionic Forces Underlying Electrical Signaling in Neurons. In Figure A, shows Electrostatic forces. In the left of the rectangular tub with liquid, there are two positive ions. One ion moves to the left and another ion moves to the right. A label that points to them reads, like charges repel each other. In the right, there is a positive and a negative ion that move towards and stick to each other. A label that points to them reads, Opposite charges are attracted to each other. Figure B shows Diffusion. There is a rectangular tub shape filled with liquid. From a small beaker on the top left, liquid with small round particles pours into the tub. There is more concentration of particles in the left end of the tub. In the other parts of the tub there are few particles. The arrow movement is from left to right. Particles move from areas of high concentration to areas of low concentration. That is, they move down their concentration gradient. Figure C shows diffusion through semipermeable membranes. Inside a rectangular tub with liquid a vertical cell membrane is present in the center. There are big and small particles on the left of the membrane. There are small particles on the right of the membrane. Arrows pass from the left to right across the cell membrane. Cell membranes permit some substances to pass through, but not others. ">
            <a:extLst>
              <a:ext uri="{FF2B5EF4-FFF2-40B4-BE49-F238E27FC236}">
                <a16:creationId xmlns:a16="http://schemas.microsoft.com/office/drawing/2014/main" id="{2A8D9ACD-EABA-1337-5273-ED49F564E9AB}"/>
              </a:ext>
            </a:extLst>
          </p:cNvPr>
          <p:cNvPicPr>
            <a:picLocks noGrp="1" noChangeAspect="1"/>
          </p:cNvPicPr>
          <p:nvPr/>
        </p:nvPicPr>
        <p:blipFill>
          <a:blip r:embed="rId2"/>
          <a:stretch>
            <a:fillRect/>
          </a:stretch>
        </p:blipFill>
        <p:spPr>
          <a:xfrm>
            <a:off x="7182543" y="365125"/>
            <a:ext cx="4643351" cy="6300788"/>
          </a:xfrm>
          <a:prstGeom prst="rect">
            <a:avLst/>
          </a:prstGeom>
        </p:spPr>
      </p:pic>
    </p:spTree>
    <p:extLst>
      <p:ext uri="{BB962C8B-B14F-4D97-AF65-F5344CB8AC3E}">
        <p14:creationId xmlns:p14="http://schemas.microsoft.com/office/powerpoint/2010/main" val="2721315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3CF1F-C089-2229-6140-03371BB1E4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85235-C82B-3F6E-5EB3-59DF27FAE17E}"/>
              </a:ext>
            </a:extLst>
          </p:cNvPr>
          <p:cNvSpPr>
            <a:spLocks noGrp="1"/>
          </p:cNvSpPr>
          <p:nvPr>
            <p:ph type="title"/>
          </p:nvPr>
        </p:nvSpPr>
        <p:spPr/>
        <p:txBody>
          <a:bodyPr/>
          <a:lstStyle/>
          <a:p>
            <a:r>
              <a:rPr lang="en-US" dirty="0"/>
              <a:t>Membrane Potential</a:t>
            </a:r>
          </a:p>
        </p:txBody>
      </p:sp>
      <p:sp>
        <p:nvSpPr>
          <p:cNvPr id="3" name="Content Placeholder 2">
            <a:extLst>
              <a:ext uri="{FF2B5EF4-FFF2-40B4-BE49-F238E27FC236}">
                <a16:creationId xmlns:a16="http://schemas.microsoft.com/office/drawing/2014/main" id="{99D56753-107C-37E6-5E71-2BB336123982}"/>
              </a:ext>
            </a:extLst>
          </p:cNvPr>
          <p:cNvSpPr>
            <a:spLocks noGrp="1"/>
          </p:cNvSpPr>
          <p:nvPr>
            <p:ph idx="1"/>
          </p:nvPr>
        </p:nvSpPr>
        <p:spPr>
          <a:xfrm>
            <a:off x="838198" y="1825625"/>
            <a:ext cx="6191993" cy="4351338"/>
          </a:xfrm>
        </p:spPr>
        <p:txBody>
          <a:bodyPr>
            <a:normAutofit/>
          </a:bodyPr>
          <a:lstStyle/>
          <a:p>
            <a:pPr marL="0" indent="0">
              <a:buNone/>
            </a:pPr>
            <a:r>
              <a:rPr lang="en-US" altLang="en-US" b="1" dirty="0"/>
              <a:t>Ion Pumps</a:t>
            </a:r>
            <a:r>
              <a:rPr lang="en-US" altLang="en-US" dirty="0"/>
              <a:t>: Active transport</a:t>
            </a:r>
          </a:p>
          <a:p>
            <a:endParaRPr lang="en-US" altLang="en-US" dirty="0"/>
          </a:p>
          <a:p>
            <a:r>
              <a:rPr lang="en-US" altLang="en-US" b="1" dirty="0"/>
              <a:t>Sodium-Potassium Pump:</a:t>
            </a:r>
          </a:p>
          <a:p>
            <a:pPr lvl="1"/>
            <a:r>
              <a:rPr lang="en-US" altLang="en-US" dirty="0"/>
              <a:t>Three sodium (Na+) out of cell</a:t>
            </a:r>
          </a:p>
          <a:p>
            <a:pPr lvl="1"/>
            <a:r>
              <a:rPr lang="en-US" altLang="en-US" dirty="0"/>
              <a:t>Two potassium (K+) into the cell</a:t>
            </a:r>
          </a:p>
          <a:p>
            <a:pPr lvl="1"/>
            <a:endParaRPr lang="en-US" altLang="en-US" dirty="0"/>
          </a:p>
          <a:p>
            <a:pPr marL="0" indent="0">
              <a:buNone/>
            </a:pPr>
            <a:endParaRPr lang="en-CA" sz="2000" dirty="0"/>
          </a:p>
          <a:p>
            <a:pPr lvl="1"/>
            <a:endParaRPr lang="en-CA" sz="2000" dirty="0"/>
          </a:p>
          <a:p>
            <a:pPr lvl="1"/>
            <a:endParaRPr lang="en-CA" sz="2000" dirty="0"/>
          </a:p>
          <a:p>
            <a:pPr lvl="1"/>
            <a:endParaRPr lang="en-CA" sz="2000" dirty="0"/>
          </a:p>
          <a:p>
            <a:pPr marL="457200" lvl="1" indent="0">
              <a:buNone/>
            </a:pPr>
            <a:endParaRPr lang="en-US" altLang="en-US" dirty="0"/>
          </a:p>
          <a:p>
            <a:pPr marL="0" indent="0">
              <a:buNone/>
            </a:pPr>
            <a:endParaRPr lang="en-US" altLang="en-US" dirty="0"/>
          </a:p>
        </p:txBody>
      </p:sp>
      <p:pic>
        <p:nvPicPr>
          <p:cNvPr id="4" name="Content Placeholder 6" descr="Six figures show the Ionic Forces Underlying Electrical Signaling in Neurons. In Figure A, shows Electrostatic forces. In the left of the rectangular tub with liquid, there are two positive ions. One ion moves to the left and another ion moves to the right. A label that points to them reads, like charges repel each other. In the right, there is a positive and a negative ion that move towards and stick to each other. A label that points to them reads, Opposite charges are attracted to each other. Figure B shows Diffusion. There is a rectangular tub shape filled with liquid. From a small beaker on the top left, liquid with small round particles pours into the tub. There is more concentration of particles in the left end of the tub. In the other parts of the tub there are few particles. The arrow movement is from left to right. Particles move from areas of high concentration to areas of low concentration. That is, they move down their concentration gradient. Figure C shows diffusion through semipermeable membranes. Inside a rectangular tub with liquid a vertical cell membrane is present in the center. There are big and small particles on the left of the membrane. There are small particles on the right of the membrane. Arrows pass from the left to right across the cell membrane. Cell membranes permit some substances to pass through, but not others. ">
            <a:extLst>
              <a:ext uri="{FF2B5EF4-FFF2-40B4-BE49-F238E27FC236}">
                <a16:creationId xmlns:a16="http://schemas.microsoft.com/office/drawing/2014/main" id="{201285F4-58BB-AF4E-7919-D7C21E1B08CB}"/>
              </a:ext>
            </a:extLst>
          </p:cNvPr>
          <p:cNvPicPr>
            <a:picLocks noGrp="1" noChangeAspect="1"/>
          </p:cNvPicPr>
          <p:nvPr/>
        </p:nvPicPr>
        <p:blipFill>
          <a:blip r:embed="rId2"/>
          <a:stretch>
            <a:fillRect/>
          </a:stretch>
        </p:blipFill>
        <p:spPr>
          <a:xfrm>
            <a:off x="7182543" y="365125"/>
            <a:ext cx="4643351" cy="6300788"/>
          </a:xfrm>
          <a:prstGeom prst="rect">
            <a:avLst/>
          </a:prstGeom>
        </p:spPr>
      </p:pic>
    </p:spTree>
    <p:extLst>
      <p:ext uri="{BB962C8B-B14F-4D97-AF65-F5344CB8AC3E}">
        <p14:creationId xmlns:p14="http://schemas.microsoft.com/office/powerpoint/2010/main" val="124804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08B40-C8BA-29DA-FD9C-E317AECCE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B08BE9-1C95-6EB8-E1F3-A887BDB4C4EF}"/>
              </a:ext>
            </a:extLst>
          </p:cNvPr>
          <p:cNvSpPr>
            <a:spLocks noGrp="1"/>
          </p:cNvSpPr>
          <p:nvPr>
            <p:ph type="title"/>
          </p:nvPr>
        </p:nvSpPr>
        <p:spPr/>
        <p:txBody>
          <a:bodyPr/>
          <a:lstStyle/>
          <a:p>
            <a:r>
              <a:rPr lang="en-US" dirty="0"/>
              <a:t>Membrane Potential</a:t>
            </a:r>
          </a:p>
        </p:txBody>
      </p:sp>
      <p:sp>
        <p:nvSpPr>
          <p:cNvPr id="3" name="Content Placeholder 2">
            <a:extLst>
              <a:ext uri="{FF2B5EF4-FFF2-40B4-BE49-F238E27FC236}">
                <a16:creationId xmlns:a16="http://schemas.microsoft.com/office/drawing/2014/main" id="{D7CD75FB-2AEF-B0C8-F4F9-8D6A53E7B5FC}"/>
              </a:ext>
            </a:extLst>
          </p:cNvPr>
          <p:cNvSpPr>
            <a:spLocks noGrp="1"/>
          </p:cNvSpPr>
          <p:nvPr>
            <p:ph idx="1"/>
          </p:nvPr>
        </p:nvSpPr>
        <p:spPr>
          <a:xfrm>
            <a:off x="838198" y="1825625"/>
            <a:ext cx="6191993" cy="4351338"/>
          </a:xfrm>
        </p:spPr>
        <p:txBody>
          <a:bodyPr>
            <a:normAutofit/>
          </a:bodyPr>
          <a:lstStyle/>
          <a:p>
            <a:pPr marL="0" indent="0">
              <a:buNone/>
            </a:pPr>
            <a:r>
              <a:rPr lang="en-US" altLang="en-US" b="1" dirty="0"/>
              <a:t>Ion Transportation at Rest:</a:t>
            </a:r>
          </a:p>
          <a:p>
            <a:r>
              <a:rPr lang="en-US" altLang="en-US" b="1" dirty="0"/>
              <a:t>Potassium (K+) </a:t>
            </a:r>
          </a:p>
          <a:p>
            <a:pPr lvl="1"/>
            <a:r>
              <a:rPr lang="en-US" altLang="en-US" dirty="0"/>
              <a:t>Moves into cell because of electrical gradient and sodium-potassium pump</a:t>
            </a:r>
          </a:p>
          <a:p>
            <a:pPr lvl="1"/>
            <a:r>
              <a:rPr lang="en-US" altLang="en-US" dirty="0"/>
              <a:t>Moves out of cell because of concentration gradient</a:t>
            </a:r>
          </a:p>
          <a:p>
            <a:pPr lvl="1"/>
            <a:endParaRPr lang="en-US" altLang="en-US" dirty="0"/>
          </a:p>
          <a:p>
            <a:r>
              <a:rPr lang="en-US" altLang="en-US" b="1" dirty="0"/>
              <a:t>Sodium (Na+)</a:t>
            </a:r>
          </a:p>
          <a:p>
            <a:pPr lvl="1"/>
            <a:r>
              <a:rPr lang="en-US" altLang="en-US" dirty="0"/>
              <a:t>Moves out of cell because of sodium-potassium pump</a:t>
            </a:r>
          </a:p>
          <a:p>
            <a:pPr lvl="1"/>
            <a:endParaRPr lang="en-US" altLang="en-US" dirty="0"/>
          </a:p>
          <a:p>
            <a:endParaRPr lang="en-US" altLang="en-US" dirty="0"/>
          </a:p>
          <a:p>
            <a:pPr marL="0" indent="0">
              <a:buNone/>
            </a:pPr>
            <a:endParaRPr lang="en-CA" sz="2000" dirty="0"/>
          </a:p>
          <a:p>
            <a:pPr lvl="1"/>
            <a:endParaRPr lang="en-CA" sz="2000" dirty="0"/>
          </a:p>
          <a:p>
            <a:pPr lvl="1"/>
            <a:endParaRPr lang="en-CA" sz="2000" dirty="0"/>
          </a:p>
          <a:p>
            <a:pPr lvl="1"/>
            <a:endParaRPr lang="en-CA" sz="2000" dirty="0"/>
          </a:p>
          <a:p>
            <a:pPr marL="457200" lvl="1" indent="0">
              <a:buNone/>
            </a:pPr>
            <a:endParaRPr lang="en-US" altLang="en-US" dirty="0"/>
          </a:p>
          <a:p>
            <a:pPr marL="0" indent="0">
              <a:buNone/>
            </a:pPr>
            <a:endParaRPr lang="en-US" altLang="en-US" dirty="0"/>
          </a:p>
        </p:txBody>
      </p:sp>
      <p:pic>
        <p:nvPicPr>
          <p:cNvPr id="5" name="Content Placeholder 6" descr="The figure shows Distribution of Ions Inside and Outside a Neuron. A long cell membrane or lipid bilayer is present above the neuron. There are ion channels in the cell membrane. Ion channels of larger width alternate with ion channels of smaller width. Ions are exchanged back and forth through the ion channels. From the top of the ion channel of smaller width, Sodium plus ions go to the Outside of the neuron. Through the ion channel of larger width, potassium ions go back and forth. Above the membrane and outside the neuron, N ay plus sodium ions, K plus potassium ions, C l minus chloride ions, C A 2 plus calcium ions, and protein ions are distributed. Sodium plus concentration outside cell in m M is 145, and inside is 5 to 15. K plus concentration outside the cell is 5 and inside is 140. Chloride ions concentration outside the cell is 110 and inside the cell is 4 to 30. Calcium ion concentration outside the cell is 1 to 2 and inside the cell is 0.0001. Protein molecules outside the cell are low and inside the cell are high. ">
            <a:extLst>
              <a:ext uri="{FF2B5EF4-FFF2-40B4-BE49-F238E27FC236}">
                <a16:creationId xmlns:a16="http://schemas.microsoft.com/office/drawing/2014/main" id="{DD76A29C-7906-2D11-F430-E244383B29D7}"/>
              </a:ext>
            </a:extLst>
          </p:cNvPr>
          <p:cNvPicPr>
            <a:picLocks noGrp="1" noChangeAspect="1"/>
          </p:cNvPicPr>
          <p:nvPr/>
        </p:nvPicPr>
        <p:blipFill>
          <a:blip r:embed="rId2"/>
          <a:stretch>
            <a:fillRect/>
          </a:stretch>
        </p:blipFill>
        <p:spPr>
          <a:xfrm>
            <a:off x="7030191" y="811026"/>
            <a:ext cx="4920528" cy="5235947"/>
          </a:xfrm>
          <a:prstGeom prst="rect">
            <a:avLst/>
          </a:prstGeom>
        </p:spPr>
      </p:pic>
    </p:spTree>
    <p:extLst>
      <p:ext uri="{BB962C8B-B14F-4D97-AF65-F5344CB8AC3E}">
        <p14:creationId xmlns:p14="http://schemas.microsoft.com/office/powerpoint/2010/main" val="3836987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11F82-2B53-C09B-FBAF-81B5E2425D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7DD790-F5D8-A696-3EF7-FE1E6584B4B7}"/>
              </a:ext>
            </a:extLst>
          </p:cNvPr>
          <p:cNvSpPr>
            <a:spLocks noGrp="1"/>
          </p:cNvSpPr>
          <p:nvPr>
            <p:ph type="title"/>
          </p:nvPr>
        </p:nvSpPr>
        <p:spPr/>
        <p:txBody>
          <a:bodyPr/>
          <a:lstStyle/>
          <a:p>
            <a:r>
              <a:rPr lang="en-US" dirty="0"/>
              <a:t>Membrane Potential</a:t>
            </a:r>
          </a:p>
        </p:txBody>
      </p:sp>
      <p:sp>
        <p:nvSpPr>
          <p:cNvPr id="3" name="Content Placeholder 2">
            <a:extLst>
              <a:ext uri="{FF2B5EF4-FFF2-40B4-BE49-F238E27FC236}">
                <a16:creationId xmlns:a16="http://schemas.microsoft.com/office/drawing/2014/main" id="{37E27B53-C1C6-2CA6-C058-E0521BFE04A4}"/>
              </a:ext>
            </a:extLst>
          </p:cNvPr>
          <p:cNvSpPr>
            <a:spLocks noGrp="1"/>
          </p:cNvSpPr>
          <p:nvPr>
            <p:ph idx="1"/>
          </p:nvPr>
        </p:nvSpPr>
        <p:spPr>
          <a:xfrm>
            <a:off x="838198" y="1825625"/>
            <a:ext cx="6191993" cy="4351338"/>
          </a:xfrm>
        </p:spPr>
        <p:txBody>
          <a:bodyPr>
            <a:normAutofit/>
          </a:bodyPr>
          <a:lstStyle/>
          <a:p>
            <a:pPr marL="0" indent="0">
              <a:buNone/>
            </a:pPr>
            <a:r>
              <a:rPr lang="en-US" altLang="en-US" b="1" dirty="0"/>
              <a:t>Ion Transportation at Rest:</a:t>
            </a:r>
          </a:p>
          <a:p>
            <a:r>
              <a:rPr lang="en-US" altLang="en-US" b="1" dirty="0"/>
              <a:t>Negative Proteins</a:t>
            </a:r>
          </a:p>
          <a:p>
            <a:pPr lvl="1"/>
            <a:r>
              <a:rPr lang="en-US" altLang="en-US" dirty="0"/>
              <a:t>Do not cross the membrane </a:t>
            </a:r>
          </a:p>
          <a:p>
            <a:pPr lvl="1"/>
            <a:r>
              <a:rPr lang="en-US" altLang="en-US" dirty="0"/>
              <a:t>Higher concentration within the cell</a:t>
            </a:r>
          </a:p>
          <a:p>
            <a:pPr lvl="1"/>
            <a:r>
              <a:rPr lang="en-US" altLang="en-US" dirty="0"/>
              <a:t>Leads to a negatively charged interior, which drives the electrical gradient</a:t>
            </a:r>
          </a:p>
          <a:p>
            <a:pPr lvl="1"/>
            <a:endParaRPr lang="en-US" altLang="en-US" dirty="0"/>
          </a:p>
          <a:p>
            <a:pPr lvl="1"/>
            <a:endParaRPr lang="en-US" altLang="en-US" dirty="0"/>
          </a:p>
          <a:p>
            <a:endParaRPr lang="en-US" altLang="en-US" dirty="0"/>
          </a:p>
          <a:p>
            <a:pPr marL="0" indent="0">
              <a:buNone/>
            </a:pPr>
            <a:endParaRPr lang="en-CA" sz="2000" dirty="0"/>
          </a:p>
          <a:p>
            <a:pPr lvl="1"/>
            <a:endParaRPr lang="en-CA" sz="2000" dirty="0"/>
          </a:p>
          <a:p>
            <a:pPr lvl="1"/>
            <a:endParaRPr lang="en-CA" sz="2000" dirty="0"/>
          </a:p>
          <a:p>
            <a:pPr lvl="1"/>
            <a:endParaRPr lang="en-CA" sz="2000" dirty="0"/>
          </a:p>
          <a:p>
            <a:pPr marL="457200" lvl="1" indent="0">
              <a:buNone/>
            </a:pPr>
            <a:endParaRPr lang="en-US" altLang="en-US" dirty="0"/>
          </a:p>
          <a:p>
            <a:pPr marL="0" indent="0">
              <a:buNone/>
            </a:pPr>
            <a:endParaRPr lang="en-US" altLang="en-US" dirty="0"/>
          </a:p>
        </p:txBody>
      </p:sp>
      <p:pic>
        <p:nvPicPr>
          <p:cNvPr id="5" name="Content Placeholder 6" descr="The figure shows Distribution of Ions Inside and Outside a Neuron. A long cell membrane or lipid bilayer is present above the neuron. There are ion channels in the cell membrane. Ion channels of larger width alternate with ion channels of smaller width. Ions are exchanged back and forth through the ion channels. From the top of the ion channel of smaller width, Sodium plus ions go to the Outside of the neuron. Through the ion channel of larger width, potassium ions go back and forth. Above the membrane and outside the neuron, N ay plus sodium ions, K plus potassium ions, C l minus chloride ions, C A 2 plus calcium ions, and protein ions are distributed. Sodium plus concentration outside cell in m M is 145, and inside is 5 to 15. K plus concentration outside the cell is 5 and inside is 140. Chloride ions concentration outside the cell is 110 and inside the cell is 4 to 30. Calcium ion concentration outside the cell is 1 to 2 and inside the cell is 0.0001. Protein molecules outside the cell are low and inside the cell are high. ">
            <a:extLst>
              <a:ext uri="{FF2B5EF4-FFF2-40B4-BE49-F238E27FC236}">
                <a16:creationId xmlns:a16="http://schemas.microsoft.com/office/drawing/2014/main" id="{17B1ACB3-B302-7387-8714-C34AFB3E8629}"/>
              </a:ext>
            </a:extLst>
          </p:cNvPr>
          <p:cNvPicPr>
            <a:picLocks noGrp="1" noChangeAspect="1"/>
          </p:cNvPicPr>
          <p:nvPr/>
        </p:nvPicPr>
        <p:blipFill>
          <a:blip r:embed="rId2"/>
          <a:stretch>
            <a:fillRect/>
          </a:stretch>
        </p:blipFill>
        <p:spPr>
          <a:xfrm>
            <a:off x="7030191" y="811026"/>
            <a:ext cx="4920528" cy="5235947"/>
          </a:xfrm>
          <a:prstGeom prst="rect">
            <a:avLst/>
          </a:prstGeom>
        </p:spPr>
      </p:pic>
    </p:spTree>
    <p:extLst>
      <p:ext uri="{BB962C8B-B14F-4D97-AF65-F5344CB8AC3E}">
        <p14:creationId xmlns:p14="http://schemas.microsoft.com/office/powerpoint/2010/main" val="771933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78EE9-231D-3994-0014-D7F144BA41E4}"/>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4F519CFF-7361-5FE4-34C3-934B41C0569C}"/>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4000" dirty="0">
                <a:latin typeface="Calibri" panose="020F0502020204030204" pitchFamily="34" charset="0"/>
                <a:cs typeface="Calibri" panose="020F0502020204030204" pitchFamily="34" charset="0"/>
              </a:rPr>
              <a:t>Neurons &amp; the Membrane Potential</a:t>
            </a:r>
          </a:p>
          <a:p>
            <a:endParaRPr lang="en-US" sz="4000" dirty="0">
              <a:latin typeface="Calibri" panose="020F0502020204030204" pitchFamily="34" charset="0"/>
              <a:cs typeface="Calibri" panose="020F0502020204030204" pitchFamily="34" charset="0"/>
            </a:endParaRPr>
          </a:p>
          <a:p>
            <a:r>
              <a:rPr lang="en-US" sz="4000" dirty="0">
                <a:solidFill>
                  <a:srgbClr val="FF0000"/>
                </a:solidFill>
                <a:latin typeface="Calibri" panose="020F0502020204030204" pitchFamily="34" charset="0"/>
                <a:cs typeface="Calibri" panose="020F0502020204030204" pitchFamily="34" charset="0"/>
              </a:rPr>
              <a:t>Action Potentials</a:t>
            </a:r>
          </a:p>
          <a:p>
            <a:endParaRPr lang="en-US" sz="4000" dirty="0">
              <a:latin typeface="Calibri" panose="020F0502020204030204" pitchFamily="34" charset="0"/>
              <a:cs typeface="Calibri" panose="020F0502020204030204" pitchFamily="34" charset="0"/>
            </a:endParaRPr>
          </a:p>
          <a:p>
            <a:r>
              <a:rPr lang="en-US" sz="4000" dirty="0">
                <a:latin typeface="Calibri" panose="020F0502020204030204" pitchFamily="34" charset="0"/>
                <a:cs typeface="Calibri" panose="020F0502020204030204" pitchFamily="34" charset="0"/>
              </a:rPr>
              <a:t>Synapses &amp; Communication</a:t>
            </a:r>
          </a:p>
        </p:txBody>
      </p:sp>
      <p:pic>
        <p:nvPicPr>
          <p:cNvPr id="2" name="Picture 1" descr="A colorful and black and white brain&#10;&#10;AI-generated content may be incorrect.">
            <a:extLst>
              <a:ext uri="{FF2B5EF4-FFF2-40B4-BE49-F238E27FC236}">
                <a16:creationId xmlns:a16="http://schemas.microsoft.com/office/drawing/2014/main" id="{BC6F2F54-A0BD-FE2F-1A3F-28A79F8096E4}"/>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72790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CE3D6-FCEC-C2B7-9C78-D827EDE71245}"/>
              </a:ext>
            </a:extLst>
          </p:cNvPr>
          <p:cNvSpPr>
            <a:spLocks noGrp="1"/>
          </p:cNvSpPr>
          <p:nvPr>
            <p:ph type="title"/>
          </p:nvPr>
        </p:nvSpPr>
        <p:spPr/>
        <p:txBody>
          <a:bodyPr/>
          <a:lstStyle/>
          <a:p>
            <a:r>
              <a:rPr lang="en-US" dirty="0"/>
              <a:t>Action Potentials</a:t>
            </a:r>
          </a:p>
        </p:txBody>
      </p:sp>
      <p:sp>
        <p:nvSpPr>
          <p:cNvPr id="3" name="Content Placeholder 2">
            <a:extLst>
              <a:ext uri="{FF2B5EF4-FFF2-40B4-BE49-F238E27FC236}">
                <a16:creationId xmlns:a16="http://schemas.microsoft.com/office/drawing/2014/main" id="{DDEF36D7-C6FE-E7E4-197B-02D3E2584C3F}"/>
              </a:ext>
            </a:extLst>
          </p:cNvPr>
          <p:cNvSpPr>
            <a:spLocks noGrp="1"/>
          </p:cNvSpPr>
          <p:nvPr>
            <p:ph idx="1"/>
          </p:nvPr>
        </p:nvSpPr>
        <p:spPr>
          <a:xfrm>
            <a:off x="838200" y="1825624"/>
            <a:ext cx="5257800" cy="4746625"/>
          </a:xfrm>
        </p:spPr>
        <p:txBody>
          <a:bodyPr>
            <a:normAutofit fontScale="77500" lnSpcReduction="20000"/>
          </a:bodyPr>
          <a:lstStyle/>
          <a:p>
            <a:pPr marL="0" indent="0">
              <a:buNone/>
            </a:pPr>
            <a:r>
              <a:rPr lang="en-US" b="1" dirty="0"/>
              <a:t>Action Potential</a:t>
            </a:r>
            <a:r>
              <a:rPr lang="en-US" dirty="0"/>
              <a:t>: An event that causes a change in membrane potential leading to the </a:t>
            </a:r>
            <a:r>
              <a:rPr lang="en-US" i="1" dirty="0"/>
              <a:t>firing</a:t>
            </a:r>
            <a:r>
              <a:rPr lang="en-US" dirty="0"/>
              <a:t> of the cell and communication with other cells</a:t>
            </a:r>
          </a:p>
          <a:p>
            <a:pPr marL="228600" lvl="3" indent="-217488"/>
            <a:r>
              <a:rPr lang="en-CA" sz="2800" b="1" dirty="0"/>
              <a:t>Depolarization</a:t>
            </a:r>
            <a:r>
              <a:rPr lang="en-CA" sz="2800" dirty="0"/>
              <a:t>: Molecules from other neurons change the potential of the membrane, depolarizing it until it reaches a threshold (-55 mV) at the </a:t>
            </a:r>
            <a:r>
              <a:rPr lang="en-CA" sz="2800" i="1" dirty="0"/>
              <a:t>axon hillock</a:t>
            </a:r>
            <a:endParaRPr lang="en-CA" sz="2800" dirty="0"/>
          </a:p>
          <a:p>
            <a:pPr marL="228600" lvl="3" indent="-217488"/>
            <a:endParaRPr lang="en-CA" sz="2800" dirty="0"/>
          </a:p>
          <a:p>
            <a:pPr marL="228600" lvl="3" indent="-217488"/>
            <a:r>
              <a:rPr lang="en-CA" sz="2800" b="1" dirty="0"/>
              <a:t>Action Potential</a:t>
            </a:r>
            <a:r>
              <a:rPr lang="en-CA" sz="2800" dirty="0"/>
              <a:t>: </a:t>
            </a:r>
            <a:r>
              <a:rPr lang="en-CA" sz="2800" i="1" dirty="0"/>
              <a:t>Voltage-gated</a:t>
            </a:r>
            <a:r>
              <a:rPr lang="en-CA" sz="2800" dirty="0"/>
              <a:t> sodium channels open and sodium flows into the neuron</a:t>
            </a:r>
          </a:p>
          <a:p>
            <a:pPr marL="228600" lvl="3" indent="-217488"/>
            <a:endParaRPr lang="en-CA" sz="2800" dirty="0"/>
          </a:p>
          <a:p>
            <a:pPr marL="228600" lvl="3" indent="-217488"/>
            <a:r>
              <a:rPr lang="en-CA" sz="2800" b="1" dirty="0"/>
              <a:t>Repolarization</a:t>
            </a:r>
            <a:r>
              <a:rPr lang="en-CA" sz="2800" dirty="0"/>
              <a:t>: Sodium channels close, and potassium channels open so they leave the cell</a:t>
            </a:r>
          </a:p>
        </p:txBody>
      </p:sp>
      <p:pic>
        <p:nvPicPr>
          <p:cNvPr id="9" name="Picture 8" descr="A diagram of a nervous system&#10;&#10;AI-generated content may be incorrect.">
            <a:extLst>
              <a:ext uri="{FF2B5EF4-FFF2-40B4-BE49-F238E27FC236}">
                <a16:creationId xmlns:a16="http://schemas.microsoft.com/office/drawing/2014/main" id="{6840C9DC-05D7-66C6-5F71-BC280C71D67B}"/>
              </a:ext>
            </a:extLst>
          </p:cNvPr>
          <p:cNvPicPr>
            <a:picLocks noChangeAspect="1"/>
          </p:cNvPicPr>
          <p:nvPr/>
        </p:nvPicPr>
        <p:blipFill>
          <a:blip r:embed="rId3">
            <a:extLst>
              <a:ext uri="{28A0092B-C50C-407E-A947-70E740481C1C}">
                <a14:useLocalDpi xmlns:a14="http://schemas.microsoft.com/office/drawing/2010/main" val="0"/>
              </a:ext>
            </a:extLst>
          </a:blip>
          <a:srcRect r="38920" b="70417"/>
          <a:stretch>
            <a:fillRect/>
          </a:stretch>
        </p:blipFill>
        <p:spPr>
          <a:xfrm>
            <a:off x="8016467" y="0"/>
            <a:ext cx="3689758" cy="2407437"/>
          </a:xfrm>
          <a:prstGeom prst="rect">
            <a:avLst/>
          </a:prstGeom>
        </p:spPr>
      </p:pic>
      <p:sp>
        <p:nvSpPr>
          <p:cNvPr id="10" name="TextBox 9">
            <a:extLst>
              <a:ext uri="{FF2B5EF4-FFF2-40B4-BE49-F238E27FC236}">
                <a16:creationId xmlns:a16="http://schemas.microsoft.com/office/drawing/2014/main" id="{B849F0F3-8807-1E11-C1DE-C0B51B7865B7}"/>
              </a:ext>
            </a:extLst>
          </p:cNvPr>
          <p:cNvSpPr txBox="1"/>
          <p:nvPr/>
        </p:nvSpPr>
        <p:spPr>
          <a:xfrm>
            <a:off x="11242865" y="1520267"/>
            <a:ext cx="774571" cy="584775"/>
          </a:xfrm>
          <a:prstGeom prst="rect">
            <a:avLst/>
          </a:prstGeom>
          <a:noFill/>
        </p:spPr>
        <p:txBody>
          <a:bodyPr wrap="none" rtlCol="0">
            <a:spAutoFit/>
          </a:bodyPr>
          <a:lstStyle/>
          <a:p>
            <a:pPr algn="ctr"/>
            <a:r>
              <a:rPr lang="en-US" sz="1600" dirty="0"/>
              <a:t>Axon</a:t>
            </a:r>
          </a:p>
          <a:p>
            <a:pPr algn="ctr"/>
            <a:r>
              <a:rPr lang="en-US" sz="1600" dirty="0"/>
              <a:t>hillock</a:t>
            </a:r>
          </a:p>
        </p:txBody>
      </p:sp>
      <p:cxnSp>
        <p:nvCxnSpPr>
          <p:cNvPr id="12" name="Straight Connector 11">
            <a:extLst>
              <a:ext uri="{FF2B5EF4-FFF2-40B4-BE49-F238E27FC236}">
                <a16:creationId xmlns:a16="http://schemas.microsoft.com/office/drawing/2014/main" id="{1062E3C6-5B70-F6C2-2A2D-06BEB6568916}"/>
              </a:ext>
            </a:extLst>
          </p:cNvPr>
          <p:cNvCxnSpPr>
            <a:cxnSpLocks/>
            <a:stCxn id="10" idx="1"/>
          </p:cNvCxnSpPr>
          <p:nvPr/>
        </p:nvCxnSpPr>
        <p:spPr>
          <a:xfrm flipH="1">
            <a:off x="10677525" y="1812655"/>
            <a:ext cx="565340" cy="12969"/>
          </a:xfrm>
          <a:prstGeom prst="line">
            <a:avLst/>
          </a:prstGeom>
        </p:spPr>
        <p:style>
          <a:lnRef idx="2">
            <a:schemeClr val="accent1"/>
          </a:lnRef>
          <a:fillRef idx="0">
            <a:schemeClr val="accent1"/>
          </a:fillRef>
          <a:effectRef idx="1">
            <a:schemeClr val="accent1"/>
          </a:effectRef>
          <a:fontRef idx="minor">
            <a:schemeClr val="tx1"/>
          </a:fontRef>
        </p:style>
      </p:cxnSp>
      <p:pic>
        <p:nvPicPr>
          <p:cNvPr id="16" name="Content Placeholder 6" descr="The figure shows how Voltage Gated Sodium Channels Produce the Action Potential. There are five box shaped figures and in each of them are two N ay plus ion channels and two K plus ion channels along a horizontal line. The two N ay plus channels are in-between the K plus ion channels on either side. There are more N ay plus ions in the top of the box and more K plus ions in the bottom of the box. In figure A, there is an open K plus channel, two closed N ay plus channels, and one closed K plus gated channel. Through the open K plus channel, K plus ions move up and down the channel back and forth. Open K plus channels create the resting potential. In figure 2, the ion channels are in same position as figure one. Any depolarizing force will bring the membrane potential closer to threshold. In figure three, the first K plus channel is open, the two N ay plus channels are open, and the last K plus channel is closed. N ay plus ions move from the top of the box down the Na y plus channels into the bottom of the box. At threshold, voltage gated N ay plus channels open, causing a rapid change of polarity; the action potential. In figure 4, both the K plus channels are open and both the N ay plus channels are closed and are inactivated. K plus ions moves from the bottom of the box upwards through the last K plus channel. N ay plus channels automatically close again; gated K plus channels open, repolarizing and even hyperpolarizing the cell after potential. In figure 5, All gated channels close. Only the first K plus channel is open. The cell returns to its resting potential. &#10;The graph that shows the corresponding voltage pattern for each figure is as follows. The graph is plotted for voltage minus 50 to 65 millivolts versus time. For Figure 1, the resting potential is at minus 65. For Figure 2, the voltage rises to minus 40 and reaches the threshold there. At this point, Sufficient depolarization of the axon results in an action potential. For Figure 3, The voltage rises to 40 and then falls down and touches 0 volt. From 0 to 40 millivolts is positive polarization. The period for figure three is termed Absolute. For figure 4, the voltage falls further down from 0 millivolts to minus 70 millivolts and the raises slightly up to minus 66. In this period, for minus 40 to minus 65 millivolts the graph slope is labeled as, the membrane potential at any given time depends on how many and which channels are open. The After potential is at minus 70. The band for figure 4 is termed as Relative. Relative and Absolute of figure 3 combine to form Refractory period. In figure five the voltage reaches the resting potential of minus 65 millivolts. &#10;">
            <a:extLst>
              <a:ext uri="{FF2B5EF4-FFF2-40B4-BE49-F238E27FC236}">
                <a16:creationId xmlns:a16="http://schemas.microsoft.com/office/drawing/2014/main" id="{9BDE4E03-CF06-3DB0-5575-EBB23215D1C4}"/>
              </a:ext>
            </a:extLst>
          </p:cNvPr>
          <p:cNvPicPr>
            <a:picLocks noChangeAspect="1"/>
          </p:cNvPicPr>
          <p:nvPr/>
        </p:nvPicPr>
        <p:blipFill>
          <a:blip r:embed="rId4"/>
          <a:stretch>
            <a:fillRect/>
          </a:stretch>
        </p:blipFill>
        <p:spPr>
          <a:xfrm>
            <a:off x="6578983" y="2529404"/>
            <a:ext cx="5613017" cy="4248150"/>
          </a:xfrm>
          <a:prstGeom prst="rect">
            <a:avLst/>
          </a:prstGeom>
        </p:spPr>
      </p:pic>
    </p:spTree>
    <p:extLst>
      <p:ext uri="{BB962C8B-B14F-4D97-AF65-F5344CB8AC3E}">
        <p14:creationId xmlns:p14="http://schemas.microsoft.com/office/powerpoint/2010/main" val="3671191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685A7-C8A8-B25C-97EC-83B50E3F8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F7A7D-32A1-7F1F-6482-D9731E5BB111}"/>
              </a:ext>
            </a:extLst>
          </p:cNvPr>
          <p:cNvSpPr>
            <a:spLocks noGrp="1"/>
          </p:cNvSpPr>
          <p:nvPr>
            <p:ph type="title"/>
          </p:nvPr>
        </p:nvSpPr>
        <p:spPr/>
        <p:txBody>
          <a:bodyPr/>
          <a:lstStyle/>
          <a:p>
            <a:r>
              <a:rPr lang="en-US" dirty="0"/>
              <a:t>Action Potentials</a:t>
            </a:r>
          </a:p>
        </p:txBody>
      </p:sp>
      <p:sp>
        <p:nvSpPr>
          <p:cNvPr id="3" name="Content Placeholder 2">
            <a:extLst>
              <a:ext uri="{FF2B5EF4-FFF2-40B4-BE49-F238E27FC236}">
                <a16:creationId xmlns:a16="http://schemas.microsoft.com/office/drawing/2014/main" id="{1FCD4824-99B4-A85C-A303-091D40BA95A8}"/>
              </a:ext>
            </a:extLst>
          </p:cNvPr>
          <p:cNvSpPr>
            <a:spLocks noGrp="1"/>
          </p:cNvSpPr>
          <p:nvPr>
            <p:ph idx="1"/>
          </p:nvPr>
        </p:nvSpPr>
        <p:spPr>
          <a:xfrm>
            <a:off x="838200" y="1825624"/>
            <a:ext cx="5257800" cy="4746625"/>
          </a:xfrm>
        </p:spPr>
        <p:txBody>
          <a:bodyPr>
            <a:normAutofit fontScale="92500"/>
          </a:bodyPr>
          <a:lstStyle/>
          <a:p>
            <a:pPr marL="0" indent="0">
              <a:buNone/>
            </a:pPr>
            <a:r>
              <a:rPr lang="en-US" b="1" dirty="0"/>
              <a:t>Action Potential</a:t>
            </a:r>
            <a:r>
              <a:rPr lang="en-US" dirty="0"/>
              <a:t>:</a:t>
            </a:r>
          </a:p>
          <a:p>
            <a:r>
              <a:rPr lang="en-CA" sz="2800" b="1" dirty="0"/>
              <a:t>Hyperpolarization</a:t>
            </a:r>
            <a:r>
              <a:rPr lang="en-CA" sz="2800" dirty="0"/>
              <a:t>: A period where the neuron is more negative due to the large loss of potassium (-80 mV), which then closes potassium channels</a:t>
            </a:r>
          </a:p>
          <a:p>
            <a:pPr marL="228600" lvl="3" indent="-217488"/>
            <a:endParaRPr lang="en-CA" sz="2800" dirty="0"/>
          </a:p>
          <a:p>
            <a:pPr marL="228600" lvl="3" indent="-217488"/>
            <a:r>
              <a:rPr lang="en-CA" sz="2800" b="1" dirty="0"/>
              <a:t>Resting state</a:t>
            </a:r>
            <a:r>
              <a:rPr lang="en-CA" sz="2800" dirty="0"/>
              <a:t>: Sodium-Potassium pump pushes out more sodium than it takes potassium in, resulting in the neuron to return to a passive state</a:t>
            </a:r>
            <a:endParaRPr lang="en-US" sz="2800" dirty="0"/>
          </a:p>
        </p:txBody>
      </p:sp>
      <p:pic>
        <p:nvPicPr>
          <p:cNvPr id="9" name="Picture 8" descr="A diagram of a nervous system&#10;&#10;AI-generated content may be incorrect.">
            <a:extLst>
              <a:ext uri="{FF2B5EF4-FFF2-40B4-BE49-F238E27FC236}">
                <a16:creationId xmlns:a16="http://schemas.microsoft.com/office/drawing/2014/main" id="{943E3DA9-C8FE-80B8-8032-C2A5B8BA6756}"/>
              </a:ext>
            </a:extLst>
          </p:cNvPr>
          <p:cNvPicPr>
            <a:picLocks noChangeAspect="1"/>
          </p:cNvPicPr>
          <p:nvPr/>
        </p:nvPicPr>
        <p:blipFill>
          <a:blip r:embed="rId3">
            <a:extLst>
              <a:ext uri="{28A0092B-C50C-407E-A947-70E740481C1C}">
                <a14:useLocalDpi xmlns:a14="http://schemas.microsoft.com/office/drawing/2010/main" val="0"/>
              </a:ext>
            </a:extLst>
          </a:blip>
          <a:srcRect r="38920" b="70417"/>
          <a:stretch>
            <a:fillRect/>
          </a:stretch>
        </p:blipFill>
        <p:spPr>
          <a:xfrm>
            <a:off x="8016467" y="0"/>
            <a:ext cx="3689758" cy="2407437"/>
          </a:xfrm>
          <a:prstGeom prst="rect">
            <a:avLst/>
          </a:prstGeom>
        </p:spPr>
      </p:pic>
      <p:sp>
        <p:nvSpPr>
          <p:cNvPr id="10" name="TextBox 9">
            <a:extLst>
              <a:ext uri="{FF2B5EF4-FFF2-40B4-BE49-F238E27FC236}">
                <a16:creationId xmlns:a16="http://schemas.microsoft.com/office/drawing/2014/main" id="{CD421BF4-53FA-7F75-3A1F-03D5713067DC}"/>
              </a:ext>
            </a:extLst>
          </p:cNvPr>
          <p:cNvSpPr txBox="1"/>
          <p:nvPr/>
        </p:nvSpPr>
        <p:spPr>
          <a:xfrm>
            <a:off x="11242865" y="1520267"/>
            <a:ext cx="774571" cy="584775"/>
          </a:xfrm>
          <a:prstGeom prst="rect">
            <a:avLst/>
          </a:prstGeom>
          <a:noFill/>
        </p:spPr>
        <p:txBody>
          <a:bodyPr wrap="none" rtlCol="0">
            <a:spAutoFit/>
          </a:bodyPr>
          <a:lstStyle/>
          <a:p>
            <a:pPr algn="ctr"/>
            <a:r>
              <a:rPr lang="en-US" sz="1600" dirty="0"/>
              <a:t>Axon</a:t>
            </a:r>
          </a:p>
          <a:p>
            <a:pPr algn="ctr"/>
            <a:r>
              <a:rPr lang="en-US" sz="1600" dirty="0"/>
              <a:t>hillock</a:t>
            </a:r>
          </a:p>
        </p:txBody>
      </p:sp>
      <p:cxnSp>
        <p:nvCxnSpPr>
          <p:cNvPr id="12" name="Straight Connector 11">
            <a:extLst>
              <a:ext uri="{FF2B5EF4-FFF2-40B4-BE49-F238E27FC236}">
                <a16:creationId xmlns:a16="http://schemas.microsoft.com/office/drawing/2014/main" id="{C37ADEC7-8A2E-8BA9-81B4-A118190A776B}"/>
              </a:ext>
            </a:extLst>
          </p:cNvPr>
          <p:cNvCxnSpPr>
            <a:cxnSpLocks/>
            <a:stCxn id="10" idx="1"/>
          </p:cNvCxnSpPr>
          <p:nvPr/>
        </p:nvCxnSpPr>
        <p:spPr>
          <a:xfrm flipH="1">
            <a:off x="10677525" y="1812655"/>
            <a:ext cx="565340" cy="12969"/>
          </a:xfrm>
          <a:prstGeom prst="line">
            <a:avLst/>
          </a:prstGeom>
        </p:spPr>
        <p:style>
          <a:lnRef idx="2">
            <a:schemeClr val="accent1"/>
          </a:lnRef>
          <a:fillRef idx="0">
            <a:schemeClr val="accent1"/>
          </a:fillRef>
          <a:effectRef idx="1">
            <a:schemeClr val="accent1"/>
          </a:effectRef>
          <a:fontRef idx="minor">
            <a:schemeClr val="tx1"/>
          </a:fontRef>
        </p:style>
      </p:cxnSp>
      <p:pic>
        <p:nvPicPr>
          <p:cNvPr id="16" name="Content Placeholder 6" descr="The figure shows how Voltage Gated Sodium Channels Produce the Action Potential. There are five box shaped figures and in each of them are two N ay plus ion channels and two K plus ion channels along a horizontal line. The two N ay plus channels are in-between the K plus ion channels on either side. There are more N ay plus ions in the top of the box and more K plus ions in the bottom of the box. In figure A, there is an open K plus channel, two closed N ay plus channels, and one closed K plus gated channel. Through the open K plus channel, K plus ions move up and down the channel back and forth. Open K plus channels create the resting potential. In figure 2, the ion channels are in same position as figure one. Any depolarizing force will bring the membrane potential closer to threshold. In figure three, the first K plus channel is open, the two N ay plus channels are open, and the last K plus channel is closed. N ay plus ions move from the top of the box down the Na y plus channels into the bottom of the box. At threshold, voltage gated N ay plus channels open, causing a rapid change of polarity; the action potential. In figure 4, both the K plus channels are open and both the N ay plus channels are closed and are inactivated. K plus ions moves from the bottom of the box upwards through the last K plus channel. N ay plus channels automatically close again; gated K plus channels open, repolarizing and even hyperpolarizing the cell after potential. In figure 5, All gated channels close. Only the first K plus channel is open. The cell returns to its resting potential. &#10;The graph that shows the corresponding voltage pattern for each figure is as follows. The graph is plotted for voltage minus 50 to 65 millivolts versus time. For Figure 1, the resting potential is at minus 65. For Figure 2, the voltage rises to minus 40 and reaches the threshold there. At this point, Sufficient depolarization of the axon results in an action potential. For Figure 3, The voltage rises to 40 and then falls down and touches 0 volt. From 0 to 40 millivolts is positive polarization. The period for figure three is termed Absolute. For figure 4, the voltage falls further down from 0 millivolts to minus 70 millivolts and the raises slightly up to minus 66. In this period, for minus 40 to minus 65 millivolts the graph slope is labeled as, the membrane potential at any given time depends on how many and which channels are open. The After potential is at minus 70. The band for figure 4 is termed as Relative. Relative and Absolute of figure 3 combine to form Refractory period. In figure five the voltage reaches the resting potential of minus 65 millivolts. &#10;">
            <a:extLst>
              <a:ext uri="{FF2B5EF4-FFF2-40B4-BE49-F238E27FC236}">
                <a16:creationId xmlns:a16="http://schemas.microsoft.com/office/drawing/2014/main" id="{9C8B448B-59F6-573A-262A-D2CDA6D6F048}"/>
              </a:ext>
            </a:extLst>
          </p:cNvPr>
          <p:cNvPicPr>
            <a:picLocks noChangeAspect="1"/>
          </p:cNvPicPr>
          <p:nvPr/>
        </p:nvPicPr>
        <p:blipFill>
          <a:blip r:embed="rId4"/>
          <a:stretch>
            <a:fillRect/>
          </a:stretch>
        </p:blipFill>
        <p:spPr>
          <a:xfrm>
            <a:off x="6578983" y="2529404"/>
            <a:ext cx="5613017" cy="4248150"/>
          </a:xfrm>
          <a:prstGeom prst="rect">
            <a:avLst/>
          </a:prstGeom>
        </p:spPr>
      </p:pic>
    </p:spTree>
    <p:extLst>
      <p:ext uri="{BB962C8B-B14F-4D97-AF65-F5344CB8AC3E}">
        <p14:creationId xmlns:p14="http://schemas.microsoft.com/office/powerpoint/2010/main" val="2384214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09223-CAEA-FB18-CD4E-FEC310EC16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51A2B5-8F46-2131-61EF-66343FB6C658}"/>
              </a:ext>
            </a:extLst>
          </p:cNvPr>
          <p:cNvSpPr>
            <a:spLocks noGrp="1"/>
          </p:cNvSpPr>
          <p:nvPr>
            <p:ph type="title"/>
          </p:nvPr>
        </p:nvSpPr>
        <p:spPr/>
        <p:txBody>
          <a:bodyPr/>
          <a:lstStyle/>
          <a:p>
            <a:r>
              <a:rPr lang="en-US" dirty="0"/>
              <a:t>Action Potentials</a:t>
            </a:r>
          </a:p>
        </p:txBody>
      </p:sp>
      <p:sp>
        <p:nvSpPr>
          <p:cNvPr id="10" name="TextBox 9">
            <a:extLst>
              <a:ext uri="{FF2B5EF4-FFF2-40B4-BE49-F238E27FC236}">
                <a16:creationId xmlns:a16="http://schemas.microsoft.com/office/drawing/2014/main" id="{E3A63BCF-01AF-9CFE-840F-7D5CB07B653E}"/>
              </a:ext>
            </a:extLst>
          </p:cNvPr>
          <p:cNvSpPr txBox="1"/>
          <p:nvPr/>
        </p:nvSpPr>
        <p:spPr>
          <a:xfrm>
            <a:off x="11242865" y="1520267"/>
            <a:ext cx="774571" cy="584775"/>
          </a:xfrm>
          <a:prstGeom prst="rect">
            <a:avLst/>
          </a:prstGeom>
          <a:noFill/>
        </p:spPr>
        <p:txBody>
          <a:bodyPr wrap="none" rtlCol="0">
            <a:spAutoFit/>
          </a:bodyPr>
          <a:lstStyle/>
          <a:p>
            <a:pPr algn="ctr"/>
            <a:r>
              <a:rPr lang="en-US" sz="1600" dirty="0"/>
              <a:t>Axon</a:t>
            </a:r>
          </a:p>
          <a:p>
            <a:pPr algn="ctr"/>
            <a:r>
              <a:rPr lang="en-US" sz="1600" dirty="0"/>
              <a:t>hillock</a:t>
            </a:r>
          </a:p>
        </p:txBody>
      </p:sp>
      <p:cxnSp>
        <p:nvCxnSpPr>
          <p:cNvPr id="12" name="Straight Connector 11">
            <a:extLst>
              <a:ext uri="{FF2B5EF4-FFF2-40B4-BE49-F238E27FC236}">
                <a16:creationId xmlns:a16="http://schemas.microsoft.com/office/drawing/2014/main" id="{9EC5CBEC-BB9A-7E32-D20D-CFE1B320F33D}"/>
              </a:ext>
            </a:extLst>
          </p:cNvPr>
          <p:cNvCxnSpPr>
            <a:cxnSpLocks/>
            <a:stCxn id="10" idx="1"/>
          </p:cNvCxnSpPr>
          <p:nvPr/>
        </p:nvCxnSpPr>
        <p:spPr>
          <a:xfrm flipH="1">
            <a:off x="10677525" y="1812655"/>
            <a:ext cx="565340" cy="12969"/>
          </a:xfrm>
          <a:prstGeom prst="line">
            <a:avLst/>
          </a:prstGeom>
        </p:spPr>
        <p:style>
          <a:lnRef idx="2">
            <a:schemeClr val="accent1"/>
          </a:lnRef>
          <a:fillRef idx="0">
            <a:schemeClr val="accent1"/>
          </a:fillRef>
          <a:effectRef idx="1">
            <a:schemeClr val="accent1"/>
          </a:effectRef>
          <a:fontRef idx="minor">
            <a:schemeClr val="tx1"/>
          </a:fontRef>
        </p:style>
      </p:cxnSp>
      <p:pic>
        <p:nvPicPr>
          <p:cNvPr id="16" name="Content Placeholder 6" descr="The figure shows how Voltage Gated Sodium Channels Produce the Action Potential. There are five box shaped figures and in each of them are two N ay plus ion channels and two K plus ion channels along a horizontal line. The two N ay plus channels are in-between the K plus ion channels on either side. There are more N ay plus ions in the top of the box and more K plus ions in the bottom of the box. In figure A, there is an open K plus channel, two closed N ay plus channels, and one closed K plus gated channel. Through the open K plus channel, K plus ions move up and down the channel back and forth. Open K plus channels create the resting potential. In figure 2, the ion channels are in same position as figure one. Any depolarizing force will bring the membrane potential closer to threshold. In figure three, the first K plus channel is open, the two N ay plus channels are open, and the last K plus channel is closed. N ay plus ions move from the top of the box down the Na y plus channels into the bottom of the box. At threshold, voltage gated N ay plus channels open, causing a rapid change of polarity; the action potential. In figure 4, both the K plus channels are open and both the N ay plus channels are closed and are inactivated. K plus ions moves from the bottom of the box upwards through the last K plus channel. N ay plus channels automatically close again; gated K plus channels open, repolarizing and even hyperpolarizing the cell after potential. In figure 5, All gated channels close. Only the first K plus channel is open. The cell returns to its resting potential. &#10;The graph that shows the corresponding voltage pattern for each figure is as follows. The graph is plotted for voltage minus 50 to 65 millivolts versus time. For Figure 1, the resting potential is at minus 65. For Figure 2, the voltage rises to minus 40 and reaches the threshold there. At this point, Sufficient depolarization of the axon results in an action potential. For Figure 3, The voltage rises to 40 and then falls down and touches 0 volt. From 0 to 40 millivolts is positive polarization. The period for figure three is termed Absolute. For figure 4, the voltage falls further down from 0 millivolts to minus 70 millivolts and the raises slightly up to minus 66. In this period, for minus 40 to minus 65 millivolts the graph slope is labeled as, the membrane potential at any given time depends on how many and which channels are open. The After potential is at minus 70. The band for figure 4 is termed as Relative. Relative and Absolute of figure 3 combine to form Refractory period. In figure five the voltage reaches the resting potential of minus 65 millivolts. &#10;">
            <a:extLst>
              <a:ext uri="{FF2B5EF4-FFF2-40B4-BE49-F238E27FC236}">
                <a16:creationId xmlns:a16="http://schemas.microsoft.com/office/drawing/2014/main" id="{E2CB782E-A342-A0CA-5AEF-800A2934E704}"/>
              </a:ext>
            </a:extLst>
          </p:cNvPr>
          <p:cNvPicPr>
            <a:picLocks noChangeAspect="1"/>
          </p:cNvPicPr>
          <p:nvPr/>
        </p:nvPicPr>
        <p:blipFill>
          <a:blip r:embed="rId3"/>
          <a:srcRect b="4666"/>
          <a:stretch>
            <a:fillRect/>
          </a:stretch>
        </p:blipFill>
        <p:spPr>
          <a:xfrm>
            <a:off x="2274098" y="1309559"/>
            <a:ext cx="7643804" cy="5515233"/>
          </a:xfrm>
          <a:prstGeom prst="rect">
            <a:avLst/>
          </a:prstGeom>
        </p:spPr>
      </p:pic>
      <p:pic>
        <p:nvPicPr>
          <p:cNvPr id="9" name="Picture 8" descr="A diagram of a nervous system&#10;&#10;AI-generated content may be incorrect.">
            <a:extLst>
              <a:ext uri="{FF2B5EF4-FFF2-40B4-BE49-F238E27FC236}">
                <a16:creationId xmlns:a16="http://schemas.microsoft.com/office/drawing/2014/main" id="{A7F68D2F-7064-31A8-84F4-A3CB231DB7E5}"/>
              </a:ext>
            </a:extLst>
          </p:cNvPr>
          <p:cNvPicPr>
            <a:picLocks noChangeAspect="1"/>
          </p:cNvPicPr>
          <p:nvPr/>
        </p:nvPicPr>
        <p:blipFill>
          <a:blip r:embed="rId4">
            <a:extLst>
              <a:ext uri="{28A0092B-C50C-407E-A947-70E740481C1C}">
                <a14:useLocalDpi xmlns:a14="http://schemas.microsoft.com/office/drawing/2010/main" val="0"/>
              </a:ext>
            </a:extLst>
          </a:blip>
          <a:srcRect r="38920" b="70417"/>
          <a:stretch>
            <a:fillRect/>
          </a:stretch>
        </p:blipFill>
        <p:spPr>
          <a:xfrm>
            <a:off x="8016467" y="0"/>
            <a:ext cx="3689758" cy="2407437"/>
          </a:xfrm>
          <a:prstGeom prst="rect">
            <a:avLst/>
          </a:prstGeom>
        </p:spPr>
      </p:pic>
      <p:sp>
        <p:nvSpPr>
          <p:cNvPr id="6" name="Arrow: Right 5">
            <a:extLst>
              <a:ext uri="{FF2B5EF4-FFF2-40B4-BE49-F238E27FC236}">
                <a16:creationId xmlns:a16="http://schemas.microsoft.com/office/drawing/2014/main" id="{DA812707-4DC5-BC01-6EE2-F6F34B127C6F}"/>
              </a:ext>
            </a:extLst>
          </p:cNvPr>
          <p:cNvSpPr/>
          <p:nvPr/>
        </p:nvSpPr>
        <p:spPr>
          <a:xfrm>
            <a:off x="1490327" y="5980370"/>
            <a:ext cx="783771" cy="234230"/>
          </a:xfrm>
          <a:prstGeom prst="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8B4071A5-36A1-186F-27C1-0FFAB05C92E9}"/>
              </a:ext>
            </a:extLst>
          </p:cNvPr>
          <p:cNvSpPr/>
          <p:nvPr/>
        </p:nvSpPr>
        <p:spPr>
          <a:xfrm>
            <a:off x="3057869" y="5980370"/>
            <a:ext cx="783771" cy="234230"/>
          </a:xfrm>
          <a:prstGeom prst="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2495030A-E72F-E7A9-3AB6-D06D0358D1F7}"/>
              </a:ext>
            </a:extLst>
          </p:cNvPr>
          <p:cNvSpPr/>
          <p:nvPr/>
        </p:nvSpPr>
        <p:spPr>
          <a:xfrm>
            <a:off x="4625411" y="5980370"/>
            <a:ext cx="783771" cy="234230"/>
          </a:xfrm>
          <a:prstGeom prst="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E59D8C2F-B2D3-E2D5-8E6F-AC63D13856BC}"/>
              </a:ext>
            </a:extLst>
          </p:cNvPr>
          <p:cNvSpPr/>
          <p:nvPr/>
        </p:nvSpPr>
        <p:spPr>
          <a:xfrm>
            <a:off x="6096000" y="5980370"/>
            <a:ext cx="783771" cy="234230"/>
          </a:xfrm>
          <a:prstGeom prst="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4F1F0675-6774-4B6E-9FA1-89F7E697DEFB}"/>
              </a:ext>
            </a:extLst>
          </p:cNvPr>
          <p:cNvSpPr/>
          <p:nvPr/>
        </p:nvSpPr>
        <p:spPr>
          <a:xfrm>
            <a:off x="7836934" y="5980370"/>
            <a:ext cx="783771" cy="234230"/>
          </a:xfrm>
          <a:prstGeom prst="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3961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7"/>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1"/>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11" grpId="0" animBg="1"/>
      <p:bldP spid="11" grpId="1" animBg="1"/>
      <p:bldP spid="13" grpId="0" animBg="1"/>
      <p:bldP spid="13"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4E53E-6D1B-FD60-8743-98907AE010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72E71B-DDB2-669B-2B73-45AFE6B0E38A}"/>
              </a:ext>
            </a:extLst>
          </p:cNvPr>
          <p:cNvSpPr>
            <a:spLocks noGrp="1"/>
          </p:cNvSpPr>
          <p:nvPr>
            <p:ph type="title"/>
          </p:nvPr>
        </p:nvSpPr>
        <p:spPr/>
        <p:txBody>
          <a:bodyPr/>
          <a:lstStyle/>
          <a:p>
            <a:r>
              <a:rPr lang="en-US" dirty="0"/>
              <a:t>Action Potentials</a:t>
            </a:r>
          </a:p>
        </p:txBody>
      </p:sp>
      <p:sp>
        <p:nvSpPr>
          <p:cNvPr id="3" name="Content Placeholder 2">
            <a:extLst>
              <a:ext uri="{FF2B5EF4-FFF2-40B4-BE49-F238E27FC236}">
                <a16:creationId xmlns:a16="http://schemas.microsoft.com/office/drawing/2014/main" id="{1FB9F890-3A3A-E02C-6C30-C8CCB2BCBEC5}"/>
              </a:ext>
            </a:extLst>
          </p:cNvPr>
          <p:cNvSpPr>
            <a:spLocks noGrp="1"/>
          </p:cNvSpPr>
          <p:nvPr>
            <p:ph idx="1"/>
          </p:nvPr>
        </p:nvSpPr>
        <p:spPr>
          <a:xfrm>
            <a:off x="838199" y="1825624"/>
            <a:ext cx="6257925" cy="4746625"/>
          </a:xfrm>
        </p:spPr>
        <p:txBody>
          <a:bodyPr>
            <a:normAutofit/>
          </a:bodyPr>
          <a:lstStyle/>
          <a:p>
            <a:pPr marL="11112" lvl="3" indent="0">
              <a:buNone/>
            </a:pPr>
            <a:r>
              <a:rPr lang="en-CA" sz="2800" b="1" dirty="0"/>
              <a:t>Self-Regenerating</a:t>
            </a:r>
          </a:p>
          <a:p>
            <a:pPr marL="228600" lvl="3" indent="-217488"/>
            <a:r>
              <a:rPr lang="en-CA" sz="2800" dirty="0"/>
              <a:t>Action potentials occur at specific slices of the axon</a:t>
            </a:r>
          </a:p>
          <a:p>
            <a:pPr marL="228600" lvl="3" indent="-217488"/>
            <a:r>
              <a:rPr lang="en-CA" sz="2800" dirty="0"/>
              <a:t>The change of polarity at one slice will cause the same change at the next slice</a:t>
            </a:r>
          </a:p>
          <a:p>
            <a:pPr marL="228600" lvl="3" indent="-217488"/>
            <a:r>
              <a:rPr lang="en-CA" sz="2800" dirty="0"/>
              <a:t>The hyperpolarization of the last slice stops the action potential from going back towards cell body</a:t>
            </a:r>
          </a:p>
          <a:p>
            <a:pPr marL="228600" lvl="3" indent="-217488"/>
            <a:r>
              <a:rPr lang="en-CA" sz="2800" dirty="0"/>
              <a:t>Sped up by </a:t>
            </a:r>
            <a:r>
              <a:rPr lang="en-CA" sz="2800" i="1" dirty="0"/>
              <a:t>jumping </a:t>
            </a:r>
            <a:r>
              <a:rPr lang="en-CA" sz="2800" dirty="0"/>
              <a:t>to nodes of </a:t>
            </a:r>
            <a:r>
              <a:rPr lang="en-CA" sz="2800" dirty="0" err="1"/>
              <a:t>ranvier</a:t>
            </a:r>
            <a:r>
              <a:rPr lang="en-CA" sz="2800" dirty="0"/>
              <a:t>, between myelin</a:t>
            </a:r>
          </a:p>
          <a:p>
            <a:pPr marL="685800" lvl="4" indent="-217488"/>
            <a:endParaRPr lang="en-CA" sz="2800" dirty="0"/>
          </a:p>
          <a:p>
            <a:pPr marL="228600" lvl="3" indent="-217488"/>
            <a:endParaRPr lang="en-US" sz="2800" dirty="0"/>
          </a:p>
        </p:txBody>
      </p:sp>
      <p:grpSp>
        <p:nvGrpSpPr>
          <p:cNvPr id="6" name="Group 5">
            <a:extLst>
              <a:ext uri="{FF2B5EF4-FFF2-40B4-BE49-F238E27FC236}">
                <a16:creationId xmlns:a16="http://schemas.microsoft.com/office/drawing/2014/main" id="{6FC0C0CC-30B2-5291-78A5-51EBB279BA05}"/>
              </a:ext>
            </a:extLst>
          </p:cNvPr>
          <p:cNvGrpSpPr/>
          <p:nvPr/>
        </p:nvGrpSpPr>
        <p:grpSpPr>
          <a:xfrm>
            <a:off x="7401944" y="290514"/>
            <a:ext cx="4666233" cy="6525300"/>
            <a:chOff x="7007435" y="0"/>
            <a:chExt cx="5348333" cy="7479159"/>
          </a:xfrm>
        </p:grpSpPr>
        <p:pic>
          <p:nvPicPr>
            <p:cNvPr id="4" name="Content Placeholder 6" descr="Figure shows the Propagation of the Action Potential along a neuron. The stimulating electrode is placed just below the dendrite head of the neuron. Further down the axon the first, second, and third recording electrodes are placed one after the other at a certain distance to each other. The direction of propagation is from the dendrites down to the axons and along it. Each of the recording electrode connects to an amplifier and a graph is plotted. All the graphs are plotted from minus 65 to 40 millivolt versus time. All the graphs start at minus 65 millivolts for a certain time and then peaks to 38 millivolts. The second graph peaks at a little time after the first graph. The farther the recording electrode is from the site of stimulation, the later the action potential reaches it. The third graph peaks at a little time after the second graph. However, the size of the action potential is the same at each point along the axon.">
              <a:extLst>
                <a:ext uri="{FF2B5EF4-FFF2-40B4-BE49-F238E27FC236}">
                  <a16:creationId xmlns:a16="http://schemas.microsoft.com/office/drawing/2014/main" id="{F99CE963-5072-598D-3E0E-A3484202F7D0}"/>
                </a:ext>
              </a:extLst>
            </p:cNvPr>
            <p:cNvPicPr>
              <a:picLocks noChangeAspect="1"/>
            </p:cNvPicPr>
            <p:nvPr/>
          </p:nvPicPr>
          <p:blipFill>
            <a:blip r:embed="rId3"/>
            <a:srcRect r="18337"/>
            <a:stretch>
              <a:fillRect/>
            </a:stretch>
          </p:blipFill>
          <p:spPr>
            <a:xfrm>
              <a:off x="7007435" y="0"/>
              <a:ext cx="5184565" cy="4465638"/>
            </a:xfrm>
            <a:prstGeom prst="rect">
              <a:avLst/>
            </a:prstGeom>
          </p:spPr>
        </p:pic>
        <p:pic>
          <p:nvPicPr>
            <p:cNvPr id="5" name="Content Placeholder 6" descr="Figure shows Conduction along Unmyelinated versus Myelinated Axons. Figure A shows continuous conduction along unmyelinated axon. The neuron shows the cell body with the nucleus, Axon hillock, and Unmyelinated Axons. The Na ay plus channels are present all along the axon. The Refractory N ay plus channels are spread across three ion channels. Next to it, one of the ion channels is open. The conduction moves forward along the axon. The inrush of N ay plus ions depolarizes the neighboring region of axon, opening up N ay plus channels there. The neighboring N ay plus channel after the Refractory N ay plus channels then opens up. The successive opening of neighboring N ay plus channels continues down every branch of the axon. Figure B shows Rapid saltatory conduction along myelinated axon. On the surface of the axon, the myelin sheath and Nodes of Ranvier alternate with each other. The N ay plus channels are present in the Nodes of Ranvier. In the first expanded view of the axon, Na+ channels open, generating an action potential. There are N ay plus ions in the node, and N ay plus ions enter from the top and bottom of the ion channel. Myelin channels the depolarization down the axon interior. Depolarization spreads within the axon very rapidly, like electricity through a wire. In the next expanded view of the axon, the adjacent or next N ay plus channel is open and depolarized. The depolarized N ay plus channels open, recreating the action potential at the new node. And this continues from node to node as fast as 150 meters per second, up to 15 times faster than in unmyelinated axons. ">
              <a:extLst>
                <a:ext uri="{FF2B5EF4-FFF2-40B4-BE49-F238E27FC236}">
                  <a16:creationId xmlns:a16="http://schemas.microsoft.com/office/drawing/2014/main" id="{9B567EBE-7B87-B0A9-971F-6F75FAF641BD}"/>
                </a:ext>
              </a:extLst>
            </p:cNvPr>
            <p:cNvPicPr>
              <a:picLocks noChangeAspect="1"/>
            </p:cNvPicPr>
            <p:nvPr/>
          </p:nvPicPr>
          <p:blipFill>
            <a:blip r:embed="rId4"/>
            <a:srcRect t="40463"/>
            <a:stretch>
              <a:fillRect/>
            </a:stretch>
          </p:blipFill>
          <p:spPr>
            <a:xfrm>
              <a:off x="7017178" y="4235622"/>
              <a:ext cx="5338590" cy="3243537"/>
            </a:xfrm>
            <a:prstGeom prst="rect">
              <a:avLst/>
            </a:prstGeom>
          </p:spPr>
        </p:pic>
      </p:grpSp>
    </p:spTree>
    <p:extLst>
      <p:ext uri="{BB962C8B-B14F-4D97-AF65-F5344CB8AC3E}">
        <p14:creationId xmlns:p14="http://schemas.microsoft.com/office/powerpoint/2010/main" val="3715074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93C79-74CA-0592-AE79-5DA70AB9B942}"/>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AA8C3111-609A-FC2D-462B-69605934BEBB}"/>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4000" dirty="0">
                <a:latin typeface="Calibri" panose="020F0502020204030204" pitchFamily="34" charset="0"/>
                <a:cs typeface="Calibri" panose="020F0502020204030204" pitchFamily="34" charset="0"/>
              </a:rPr>
              <a:t>Neurons &amp; the Membrane Potential</a:t>
            </a:r>
          </a:p>
          <a:p>
            <a:endParaRPr lang="en-US" sz="4000" dirty="0">
              <a:latin typeface="Calibri" panose="020F0502020204030204" pitchFamily="34" charset="0"/>
              <a:cs typeface="Calibri" panose="020F0502020204030204" pitchFamily="34" charset="0"/>
            </a:endParaRPr>
          </a:p>
          <a:p>
            <a:r>
              <a:rPr lang="en-US" sz="4000" dirty="0">
                <a:latin typeface="Calibri" panose="020F0502020204030204" pitchFamily="34" charset="0"/>
                <a:cs typeface="Calibri" panose="020F0502020204030204" pitchFamily="34" charset="0"/>
              </a:rPr>
              <a:t>Action Potentials</a:t>
            </a:r>
          </a:p>
          <a:p>
            <a:endParaRPr lang="en-US" sz="4000" dirty="0">
              <a:latin typeface="Calibri" panose="020F0502020204030204" pitchFamily="34" charset="0"/>
              <a:cs typeface="Calibri" panose="020F0502020204030204" pitchFamily="34" charset="0"/>
            </a:endParaRPr>
          </a:p>
          <a:p>
            <a:r>
              <a:rPr lang="en-US" sz="4000" dirty="0">
                <a:solidFill>
                  <a:srgbClr val="FF0000"/>
                </a:solidFill>
                <a:latin typeface="Calibri" panose="020F0502020204030204" pitchFamily="34" charset="0"/>
                <a:cs typeface="Calibri" panose="020F0502020204030204" pitchFamily="34" charset="0"/>
              </a:rPr>
              <a:t>Synapses &amp; Communication</a:t>
            </a:r>
          </a:p>
        </p:txBody>
      </p:sp>
      <p:pic>
        <p:nvPicPr>
          <p:cNvPr id="2" name="Picture 1" descr="A colorful and black and white brain&#10;&#10;AI-generated content may be incorrect.">
            <a:extLst>
              <a:ext uri="{FF2B5EF4-FFF2-40B4-BE49-F238E27FC236}">
                <a16:creationId xmlns:a16="http://schemas.microsoft.com/office/drawing/2014/main" id="{F08D7E6D-A9C6-10B8-2D63-F7B0BD4A8599}"/>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3039862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30349-D03E-C016-E461-A1007814784A}"/>
            </a:ext>
          </a:extLst>
        </p:cNvPr>
        <p:cNvGrpSpPr/>
        <p:nvPr/>
      </p:nvGrpSpPr>
      <p:grpSpPr>
        <a:xfrm>
          <a:off x="0" y="0"/>
          <a:ext cx="0" cy="0"/>
          <a:chOff x="0" y="0"/>
          <a:chExt cx="0" cy="0"/>
        </a:xfrm>
      </p:grpSpPr>
      <p:pic>
        <p:nvPicPr>
          <p:cNvPr id="3" name="Content Placeholder 4" descr="The figure shows the Steps in Transmission at a Chemical Synapse. At the top, the Axon is covered by the myelin sheath. Then there is a bulb shaped Synapse in which the thin bulb neck connects with the axon. The synaptic vesicles fall down from the axon area into the synapse. The synaptic vesicles are filled with transmitter molecules. The synaptic vesicles reach the big base of the synapse and open up into the synaptic cleft which is the thin gap between the synapse and the dendrite of the next neuron. There are small transporters in the presynaptic membrane. The dendrite has transmitter receptors on its border that faces the synapse. The steps in transmission are as follows. 1. The action potential is propagated over the presynaptic membrane at the junction between the synapse and axon. 2. Depolarization of the presynaptic terminal leads to influx of C a 2 plus into the synapse through a channel. 3. C a 2 plus causes vesicles to fuse with the presynaptic membrane and release transmitter into the synaptic cleft. 4. The binding of transmitter to neurotransmitter receptors in the postsynaptic membrane opens channels, permitting ion flow and initiating an excitatory or inhibitory postsynaptic potential. 5. Excitatory or inhibitory postsynaptic potentials spread passively over dendrites and the cell body to the axon hillock. 6 a. Enzymes in the synaptic cleft break down excess neurotransmitter. 6 b. Reuptake of transmitter through the transporter slows synaptic action and recycles transmitter for later use. These transmitters enter into the existing vesicles inside the synapse. 7. Transmitter binds to auto receptors in the presynaptic membrane. E P S P or I P S P spread on both sides of the dendrite across cell membrane. ">
            <a:extLst>
              <a:ext uri="{FF2B5EF4-FFF2-40B4-BE49-F238E27FC236}">
                <a16:creationId xmlns:a16="http://schemas.microsoft.com/office/drawing/2014/main" id="{E16AFB8D-959A-9A8C-F747-F3D95643FC97}"/>
              </a:ext>
            </a:extLst>
          </p:cNvPr>
          <p:cNvPicPr>
            <a:picLocks noChangeAspect="1"/>
          </p:cNvPicPr>
          <p:nvPr/>
        </p:nvPicPr>
        <p:blipFill>
          <a:blip r:embed="rId3"/>
          <a:stretch>
            <a:fillRect/>
          </a:stretch>
        </p:blipFill>
        <p:spPr>
          <a:xfrm>
            <a:off x="6715529" y="1285875"/>
            <a:ext cx="5377073" cy="4995863"/>
          </a:xfrm>
          <a:prstGeom prst="rect">
            <a:avLst/>
          </a:prstGeom>
        </p:spPr>
      </p:pic>
      <p:sp>
        <p:nvSpPr>
          <p:cNvPr id="2" name="Title 1">
            <a:extLst>
              <a:ext uri="{FF2B5EF4-FFF2-40B4-BE49-F238E27FC236}">
                <a16:creationId xmlns:a16="http://schemas.microsoft.com/office/drawing/2014/main" id="{0BC14FEB-5F02-C54B-7C5D-DC082E5CA2DA}"/>
              </a:ext>
            </a:extLst>
          </p:cNvPr>
          <p:cNvSpPr>
            <a:spLocks noGrp="1"/>
          </p:cNvSpPr>
          <p:nvPr>
            <p:ph type="title"/>
          </p:nvPr>
        </p:nvSpPr>
        <p:spPr/>
        <p:txBody>
          <a:bodyPr/>
          <a:lstStyle/>
          <a:p>
            <a:r>
              <a:rPr lang="en-US" dirty="0"/>
              <a:t>Synapses and Communication</a:t>
            </a:r>
          </a:p>
        </p:txBody>
      </p:sp>
      <p:sp>
        <p:nvSpPr>
          <p:cNvPr id="6" name="Content Placeholder 5">
            <a:extLst>
              <a:ext uri="{FF2B5EF4-FFF2-40B4-BE49-F238E27FC236}">
                <a16:creationId xmlns:a16="http://schemas.microsoft.com/office/drawing/2014/main" id="{753086CB-49C5-83E1-FF34-BCFA9FCAFA09}"/>
              </a:ext>
            </a:extLst>
          </p:cNvPr>
          <p:cNvSpPr>
            <a:spLocks noGrp="1"/>
          </p:cNvSpPr>
          <p:nvPr>
            <p:ph idx="1"/>
          </p:nvPr>
        </p:nvSpPr>
        <p:spPr>
          <a:xfrm>
            <a:off x="838200" y="1825625"/>
            <a:ext cx="5962650" cy="4775200"/>
          </a:xfrm>
        </p:spPr>
        <p:txBody>
          <a:bodyPr>
            <a:normAutofit lnSpcReduction="10000"/>
          </a:bodyPr>
          <a:lstStyle/>
          <a:p>
            <a:pPr marL="0" indent="0">
              <a:buNone/>
            </a:pPr>
            <a:r>
              <a:rPr lang="en-US" b="1" dirty="0"/>
              <a:t>Neurotransmitter release: </a:t>
            </a:r>
          </a:p>
          <a:p>
            <a:r>
              <a:rPr lang="en-US" dirty="0"/>
              <a:t>The action potential ends in the axon terminal, which triggers communication with other neurons</a:t>
            </a:r>
          </a:p>
          <a:p>
            <a:pPr lvl="1"/>
            <a:endParaRPr lang="en-US" dirty="0"/>
          </a:p>
          <a:p>
            <a:r>
              <a:rPr lang="en-US" dirty="0"/>
              <a:t>Action potentials result in calcium (Ca</a:t>
            </a:r>
            <a:r>
              <a:rPr lang="en-US" baseline="30000" dirty="0"/>
              <a:t>2+</a:t>
            </a:r>
            <a:r>
              <a:rPr lang="en-US" dirty="0"/>
              <a:t>) entering the terminal</a:t>
            </a:r>
          </a:p>
          <a:p>
            <a:pPr lvl="1"/>
            <a:r>
              <a:rPr lang="en-US" dirty="0"/>
              <a:t>Causes vesicles to fuse with membrane</a:t>
            </a:r>
          </a:p>
          <a:p>
            <a:pPr lvl="1"/>
            <a:r>
              <a:rPr lang="en-US" b="1" dirty="0"/>
              <a:t>Exocytosis</a:t>
            </a:r>
            <a:r>
              <a:rPr lang="en-US" dirty="0"/>
              <a:t>: Vesicle fusing which releases transmitters in the synaptic cleft </a:t>
            </a:r>
          </a:p>
          <a:p>
            <a:pPr lvl="1"/>
            <a:r>
              <a:rPr lang="en-US" i="1" dirty="0"/>
              <a:t>More on transmitters in next unit</a:t>
            </a:r>
          </a:p>
        </p:txBody>
      </p:sp>
      <p:pic>
        <p:nvPicPr>
          <p:cNvPr id="4" name="Content Placeholder 6" descr="The synaptic inputs of minus and plus land on the cell. Excitory inputs cause the cell to fire. Threshold is reached and action potential is triggered from the axon hillock. Inhibition also plays a role. Inhibition counteracts excitation; no action potential is triggered. The cell integrates excitation and inhibition. Additional excitation overcomes inhibition; action potential triggered. ">
            <a:extLst>
              <a:ext uri="{FF2B5EF4-FFF2-40B4-BE49-F238E27FC236}">
                <a16:creationId xmlns:a16="http://schemas.microsoft.com/office/drawing/2014/main" id="{2BA50F20-7095-4E73-921A-3CE68366C300}"/>
              </a:ext>
            </a:extLst>
          </p:cNvPr>
          <p:cNvPicPr>
            <a:picLocks noChangeAspect="1"/>
          </p:cNvPicPr>
          <p:nvPr/>
        </p:nvPicPr>
        <p:blipFill>
          <a:blip r:embed="rId4"/>
          <a:srcRect l="66662" t="8510" r="768" b="6855"/>
          <a:stretch>
            <a:fillRect/>
          </a:stretch>
        </p:blipFill>
        <p:spPr>
          <a:xfrm>
            <a:off x="10061290" y="365125"/>
            <a:ext cx="1797335" cy="1654103"/>
          </a:xfrm>
          <a:prstGeom prst="rect">
            <a:avLst/>
          </a:prstGeom>
        </p:spPr>
      </p:pic>
      <p:sp>
        <p:nvSpPr>
          <p:cNvPr id="5" name="Rectangle 4">
            <a:extLst>
              <a:ext uri="{FF2B5EF4-FFF2-40B4-BE49-F238E27FC236}">
                <a16:creationId xmlns:a16="http://schemas.microsoft.com/office/drawing/2014/main" id="{09C0934C-4AF6-4953-B2C8-0B15C1B3E329}"/>
              </a:ext>
            </a:extLst>
          </p:cNvPr>
          <p:cNvSpPr/>
          <p:nvPr/>
        </p:nvSpPr>
        <p:spPr>
          <a:xfrm>
            <a:off x="11049000" y="365125"/>
            <a:ext cx="790575" cy="444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91FEC28-3107-B6E3-5FB6-16B78CA435E4}"/>
              </a:ext>
            </a:extLst>
          </p:cNvPr>
          <p:cNvSpPr/>
          <p:nvPr/>
        </p:nvSpPr>
        <p:spPr>
          <a:xfrm>
            <a:off x="7748587" y="5438777"/>
            <a:ext cx="876300" cy="4857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D165FB7-77EC-4B97-CD53-7AE02CD84355}"/>
              </a:ext>
            </a:extLst>
          </p:cNvPr>
          <p:cNvSpPr/>
          <p:nvPr/>
        </p:nvSpPr>
        <p:spPr>
          <a:xfrm>
            <a:off x="9184990" y="5438777"/>
            <a:ext cx="1095660" cy="4857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2E7F6BB-075B-B13C-2A94-A90C800E57D3}"/>
              </a:ext>
            </a:extLst>
          </p:cNvPr>
          <p:cNvSpPr/>
          <p:nvPr/>
        </p:nvSpPr>
        <p:spPr>
          <a:xfrm>
            <a:off x="10521806" y="5438777"/>
            <a:ext cx="1016143" cy="3587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63985CD-778A-4F3F-ACD9-1F201F0A4B77}"/>
              </a:ext>
            </a:extLst>
          </p:cNvPr>
          <p:cNvSpPr/>
          <p:nvPr/>
        </p:nvSpPr>
        <p:spPr>
          <a:xfrm>
            <a:off x="6894155" y="3552826"/>
            <a:ext cx="1132245" cy="549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47716AD-3B04-CA90-9662-712624BF13F6}"/>
              </a:ext>
            </a:extLst>
          </p:cNvPr>
          <p:cNvSpPr/>
          <p:nvPr/>
        </p:nvSpPr>
        <p:spPr>
          <a:xfrm>
            <a:off x="10869409" y="2697090"/>
            <a:ext cx="1152924" cy="5731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92512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FDF08-E9D4-302B-5674-34549DA38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F4EA17-FC72-7751-0601-A2783438B1E1}"/>
              </a:ext>
            </a:extLst>
          </p:cNvPr>
          <p:cNvSpPr>
            <a:spLocks noGrp="1"/>
          </p:cNvSpPr>
          <p:nvPr>
            <p:ph type="title"/>
          </p:nvPr>
        </p:nvSpPr>
        <p:spPr/>
        <p:txBody>
          <a:bodyPr/>
          <a:lstStyle/>
          <a:p>
            <a:r>
              <a:rPr lang="en-US" dirty="0"/>
              <a:t>Synapses and Communication</a:t>
            </a:r>
          </a:p>
        </p:txBody>
      </p:sp>
      <p:pic>
        <p:nvPicPr>
          <p:cNvPr id="4" name="Content Placeholder 6" descr="The synaptic inputs of minus and plus land on the cell. Excitory inputs cause the cell to fire. Threshold is reached and action potential is triggered from the axon hillock. Inhibition also plays a role. Inhibition counteracts excitation; no action potential is triggered. The cell integrates excitation and inhibition. Additional excitation overcomes inhibition; action potential triggered. ">
            <a:extLst>
              <a:ext uri="{FF2B5EF4-FFF2-40B4-BE49-F238E27FC236}">
                <a16:creationId xmlns:a16="http://schemas.microsoft.com/office/drawing/2014/main" id="{2829A8B0-FF1A-6F8E-E369-A9FBD12A860E}"/>
              </a:ext>
            </a:extLst>
          </p:cNvPr>
          <p:cNvPicPr>
            <a:picLocks noChangeAspect="1"/>
          </p:cNvPicPr>
          <p:nvPr/>
        </p:nvPicPr>
        <p:blipFill>
          <a:blip r:embed="rId3"/>
          <a:srcRect l="66662" t="8510" r="768" b="6855"/>
          <a:stretch>
            <a:fillRect/>
          </a:stretch>
        </p:blipFill>
        <p:spPr>
          <a:xfrm>
            <a:off x="10061290" y="365125"/>
            <a:ext cx="1797335" cy="1654103"/>
          </a:xfrm>
          <a:prstGeom prst="rect">
            <a:avLst/>
          </a:prstGeom>
        </p:spPr>
      </p:pic>
      <p:sp>
        <p:nvSpPr>
          <p:cNvPr id="5" name="Rectangle 4">
            <a:extLst>
              <a:ext uri="{FF2B5EF4-FFF2-40B4-BE49-F238E27FC236}">
                <a16:creationId xmlns:a16="http://schemas.microsoft.com/office/drawing/2014/main" id="{DFEC7479-9654-3606-513F-D133CE79587D}"/>
              </a:ext>
            </a:extLst>
          </p:cNvPr>
          <p:cNvSpPr/>
          <p:nvPr/>
        </p:nvSpPr>
        <p:spPr>
          <a:xfrm>
            <a:off x="11049000" y="365125"/>
            <a:ext cx="790575" cy="444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2712090A-1ED6-FEE4-9D37-DA3D643E7A3A}"/>
              </a:ext>
            </a:extLst>
          </p:cNvPr>
          <p:cNvGrpSpPr/>
          <p:nvPr/>
        </p:nvGrpSpPr>
        <p:grpSpPr>
          <a:xfrm>
            <a:off x="2731325" y="1321501"/>
            <a:ext cx="7081215" cy="6108801"/>
            <a:chOff x="6715529" y="1285875"/>
            <a:chExt cx="5377073" cy="4638677"/>
          </a:xfrm>
        </p:grpSpPr>
        <p:pic>
          <p:nvPicPr>
            <p:cNvPr id="3" name="Content Placeholder 4" descr="The figure shows the Steps in Transmission at a Chemical Synapse. At the top, the Axon is covered by the myelin sheath. Then there is a bulb shaped Synapse in which the thin bulb neck connects with the axon. The synaptic vesicles fall down from the axon area into the synapse. The synaptic vesicles are filled with transmitter molecules. The synaptic vesicles reach the big base of the synapse and open up into the synaptic cleft which is the thin gap between the synapse and the dendrite of the next neuron. There are small transporters in the presynaptic membrane. The dendrite has transmitter receptors on its border that faces the synapse. The steps in transmission are as follows. 1. The action potential is propagated over the presynaptic membrane at the junction between the synapse and axon. 2. Depolarization of the presynaptic terminal leads to influx of C a 2 plus into the synapse through a channel. 3. C a 2 plus causes vesicles to fuse with the presynaptic membrane and release transmitter into the synaptic cleft. 4. The binding of transmitter to neurotransmitter receptors in the postsynaptic membrane opens channels, permitting ion flow and initiating an excitatory or inhibitory postsynaptic potential. 5. Excitatory or inhibitory postsynaptic potentials spread passively over dendrites and the cell body to the axon hillock. 6 a. Enzymes in the synaptic cleft break down excess neurotransmitter. 6 b. Reuptake of transmitter through the transporter slows synaptic action and recycles transmitter for later use. These transmitters enter into the existing vesicles inside the synapse. 7. Transmitter binds to auto receptors in the presynaptic membrane. E P S P or I P S P spread on both sides of the dendrite across cell membrane. ">
              <a:extLst>
                <a:ext uri="{FF2B5EF4-FFF2-40B4-BE49-F238E27FC236}">
                  <a16:creationId xmlns:a16="http://schemas.microsoft.com/office/drawing/2014/main" id="{02FA4A9D-CFFD-7B04-3B4E-6B08364D932E}"/>
                </a:ext>
              </a:extLst>
            </p:cNvPr>
            <p:cNvPicPr>
              <a:picLocks noChangeAspect="1"/>
            </p:cNvPicPr>
            <p:nvPr/>
          </p:nvPicPr>
          <p:blipFill>
            <a:blip r:embed="rId4"/>
            <a:srcRect b="17924"/>
            <a:stretch>
              <a:fillRect/>
            </a:stretch>
          </p:blipFill>
          <p:spPr>
            <a:xfrm>
              <a:off x="6715529" y="1285875"/>
              <a:ext cx="5377073" cy="4100403"/>
            </a:xfrm>
            <a:prstGeom prst="rect">
              <a:avLst/>
            </a:prstGeom>
          </p:spPr>
        </p:pic>
        <p:sp>
          <p:nvSpPr>
            <p:cNvPr id="7" name="Rectangle 6">
              <a:extLst>
                <a:ext uri="{FF2B5EF4-FFF2-40B4-BE49-F238E27FC236}">
                  <a16:creationId xmlns:a16="http://schemas.microsoft.com/office/drawing/2014/main" id="{6B7F0FD9-78B0-88F0-A66B-4A19A71F4968}"/>
                </a:ext>
              </a:extLst>
            </p:cNvPr>
            <p:cNvSpPr/>
            <p:nvPr/>
          </p:nvSpPr>
          <p:spPr>
            <a:xfrm>
              <a:off x="7748587" y="5438777"/>
              <a:ext cx="876300" cy="4857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7358F40B-8C92-E334-67E7-3E7854623F96}"/>
                </a:ext>
              </a:extLst>
            </p:cNvPr>
            <p:cNvSpPr/>
            <p:nvPr/>
          </p:nvSpPr>
          <p:spPr>
            <a:xfrm>
              <a:off x="9184990" y="5438777"/>
              <a:ext cx="1095660" cy="4857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B62CC80-2638-BE80-DA2C-4123463755DD}"/>
                </a:ext>
              </a:extLst>
            </p:cNvPr>
            <p:cNvSpPr/>
            <p:nvPr/>
          </p:nvSpPr>
          <p:spPr>
            <a:xfrm>
              <a:off x="10521806" y="5438777"/>
              <a:ext cx="1016143" cy="3587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C753050-F088-2900-AA3F-B3F6EB4D4E22}"/>
                </a:ext>
              </a:extLst>
            </p:cNvPr>
            <p:cNvSpPr/>
            <p:nvPr/>
          </p:nvSpPr>
          <p:spPr>
            <a:xfrm>
              <a:off x="6887315" y="3552826"/>
              <a:ext cx="1132245" cy="549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Arrow: Right 13">
            <a:extLst>
              <a:ext uri="{FF2B5EF4-FFF2-40B4-BE49-F238E27FC236}">
                <a16:creationId xmlns:a16="http://schemas.microsoft.com/office/drawing/2014/main" id="{2AB4B892-DB33-0F21-983E-95B7C6819003}"/>
              </a:ext>
            </a:extLst>
          </p:cNvPr>
          <p:cNvSpPr/>
          <p:nvPr/>
        </p:nvSpPr>
        <p:spPr>
          <a:xfrm>
            <a:off x="2545005" y="1617092"/>
            <a:ext cx="783771" cy="234230"/>
          </a:xfrm>
          <a:prstGeom prst="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B5FB5CF4-9504-A364-BD9B-32CC67ED8719}"/>
              </a:ext>
            </a:extLst>
          </p:cNvPr>
          <p:cNvSpPr/>
          <p:nvPr/>
        </p:nvSpPr>
        <p:spPr>
          <a:xfrm>
            <a:off x="2545004" y="2146913"/>
            <a:ext cx="783771" cy="234230"/>
          </a:xfrm>
          <a:prstGeom prst="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EC504C9E-AFB5-F9D4-F6E5-517F8E13A7C3}"/>
              </a:ext>
            </a:extLst>
          </p:cNvPr>
          <p:cNvSpPr/>
          <p:nvPr/>
        </p:nvSpPr>
        <p:spPr>
          <a:xfrm>
            <a:off x="2153118" y="2786151"/>
            <a:ext cx="783771" cy="234230"/>
          </a:xfrm>
          <a:prstGeom prst="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6CF19FD3-DE71-3514-8559-FDEDC260D648}"/>
              </a:ext>
            </a:extLst>
          </p:cNvPr>
          <p:cNvSpPr/>
          <p:nvPr/>
        </p:nvSpPr>
        <p:spPr>
          <a:xfrm>
            <a:off x="1987574" y="3670122"/>
            <a:ext cx="783771" cy="234230"/>
          </a:xfrm>
          <a:prstGeom prst="right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2032E45-7214-F51B-3835-623ACF53EDC1}"/>
              </a:ext>
            </a:extLst>
          </p:cNvPr>
          <p:cNvSpPr/>
          <p:nvPr/>
        </p:nvSpPr>
        <p:spPr>
          <a:xfrm>
            <a:off x="8190956" y="3216088"/>
            <a:ext cx="1491085" cy="7233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91069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4"/>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5"/>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16"/>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5" grpId="0" animBg="1"/>
      <p:bldP spid="15" grpId="1" animBg="1"/>
      <p:bldP spid="16" grpId="0" animBg="1"/>
      <p:bldP spid="16" grpId="1" animBg="1"/>
      <p:bldP spid="17" grpId="0" animBg="1"/>
      <p:bldP spid="17"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20069-F161-599B-15ED-89F79731F7E8}"/>
              </a:ext>
            </a:extLst>
          </p:cNvPr>
          <p:cNvSpPr>
            <a:spLocks noGrp="1"/>
          </p:cNvSpPr>
          <p:nvPr>
            <p:ph type="title"/>
          </p:nvPr>
        </p:nvSpPr>
        <p:spPr/>
        <p:txBody>
          <a:bodyPr/>
          <a:lstStyle/>
          <a:p>
            <a:r>
              <a:rPr lang="en-US" dirty="0"/>
              <a:t>Synapses and Communication</a:t>
            </a:r>
          </a:p>
        </p:txBody>
      </p:sp>
      <p:sp>
        <p:nvSpPr>
          <p:cNvPr id="6" name="Content Placeholder 5">
            <a:extLst>
              <a:ext uri="{FF2B5EF4-FFF2-40B4-BE49-F238E27FC236}">
                <a16:creationId xmlns:a16="http://schemas.microsoft.com/office/drawing/2014/main" id="{D6DC61B1-6C91-BA16-85BD-9F1FD334E345}"/>
              </a:ext>
            </a:extLst>
          </p:cNvPr>
          <p:cNvSpPr>
            <a:spLocks noGrp="1"/>
          </p:cNvSpPr>
          <p:nvPr>
            <p:ph idx="1"/>
          </p:nvPr>
        </p:nvSpPr>
        <p:spPr>
          <a:xfrm>
            <a:off x="838200" y="1825625"/>
            <a:ext cx="5867548" cy="4351338"/>
          </a:xfrm>
        </p:spPr>
        <p:txBody>
          <a:bodyPr>
            <a:normAutofit/>
          </a:bodyPr>
          <a:lstStyle/>
          <a:p>
            <a:pPr marL="0" indent="0">
              <a:buNone/>
            </a:pPr>
            <a:r>
              <a:rPr lang="en-US" b="1" dirty="0"/>
              <a:t>Types of Synapses</a:t>
            </a:r>
          </a:p>
          <a:p>
            <a:pPr marL="0" indent="0">
              <a:buNone/>
            </a:pPr>
            <a:endParaRPr lang="en-US" dirty="0"/>
          </a:p>
        </p:txBody>
      </p:sp>
      <p:pic>
        <p:nvPicPr>
          <p:cNvPr id="13" name="Content Placeholder 6" descr="The diagram shows the Different Types of Synaptic Connections. Figure A shows Axo dendritic connection. Two neurons connect with each other. The neuron at the top is Presynaptic neuron. The neuron at the bottom is Postsynaptic neuron. The axon of the presynaptic neuron connects with the dendrite of the post synaptic neuron. The cell body is known as soma. The Post synaptic neuron has an axon that goes downwards. Figure B shows Axo somatic connection. There are two neurons. The neuron at the top connects with the cell body of the neuron at the bottom. Figure C shows Axo axonic connection. Here there are two neurons at the top side by side each other. There is a neuron at the bottom. The axon of the left neuron at the top connects with the axon of the right neuron at the top. The axon of the right neuron at the top connects with the cell body of the neuron at the bottom. Figure D shows dendro dendritic connection. The dendrite of the neuron at the top connects with the dendrite of the neuron at the bottom. ">
            <a:extLst>
              <a:ext uri="{FF2B5EF4-FFF2-40B4-BE49-F238E27FC236}">
                <a16:creationId xmlns:a16="http://schemas.microsoft.com/office/drawing/2014/main" id="{74CB2295-D9D1-5BF9-2188-34A9DCBC50F6}"/>
              </a:ext>
            </a:extLst>
          </p:cNvPr>
          <p:cNvPicPr>
            <a:picLocks noChangeAspect="1"/>
          </p:cNvPicPr>
          <p:nvPr/>
        </p:nvPicPr>
        <p:blipFill>
          <a:blip r:embed="rId3"/>
          <a:stretch>
            <a:fillRect/>
          </a:stretch>
        </p:blipFill>
        <p:spPr>
          <a:xfrm>
            <a:off x="1613693" y="2283734"/>
            <a:ext cx="8964613" cy="4423329"/>
          </a:xfrm>
          <a:prstGeom prst="rect">
            <a:avLst/>
          </a:prstGeom>
        </p:spPr>
      </p:pic>
    </p:spTree>
    <p:extLst>
      <p:ext uri="{BB962C8B-B14F-4D97-AF65-F5344CB8AC3E}">
        <p14:creationId xmlns:p14="http://schemas.microsoft.com/office/powerpoint/2010/main" val="4119842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D3852-A470-45C9-2A4F-1976178891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E3AB2-45C1-DE3E-12C2-AFDE2DF10A23}"/>
              </a:ext>
            </a:extLst>
          </p:cNvPr>
          <p:cNvSpPr>
            <a:spLocks noGrp="1"/>
          </p:cNvSpPr>
          <p:nvPr>
            <p:ph type="title"/>
          </p:nvPr>
        </p:nvSpPr>
        <p:spPr/>
        <p:txBody>
          <a:bodyPr/>
          <a:lstStyle/>
          <a:p>
            <a:r>
              <a:rPr lang="en-US" dirty="0"/>
              <a:t>Synapses and Communication</a:t>
            </a:r>
          </a:p>
        </p:txBody>
      </p:sp>
      <p:sp>
        <p:nvSpPr>
          <p:cNvPr id="6" name="Content Placeholder 5">
            <a:extLst>
              <a:ext uri="{FF2B5EF4-FFF2-40B4-BE49-F238E27FC236}">
                <a16:creationId xmlns:a16="http://schemas.microsoft.com/office/drawing/2014/main" id="{539BC52B-CC38-70D8-209C-C16C3DCB2E85}"/>
              </a:ext>
            </a:extLst>
          </p:cNvPr>
          <p:cNvSpPr>
            <a:spLocks noGrp="1"/>
          </p:cNvSpPr>
          <p:nvPr>
            <p:ph idx="1"/>
          </p:nvPr>
        </p:nvSpPr>
        <p:spPr>
          <a:xfrm>
            <a:off x="838200" y="1825625"/>
            <a:ext cx="6604000" cy="4351338"/>
          </a:xfrm>
        </p:spPr>
        <p:txBody>
          <a:bodyPr>
            <a:normAutofit lnSpcReduction="10000"/>
          </a:bodyPr>
          <a:lstStyle/>
          <a:p>
            <a:pPr marL="0" indent="0">
              <a:buNone/>
            </a:pPr>
            <a:r>
              <a:rPr lang="en-US" b="1" dirty="0"/>
              <a:t>Types </a:t>
            </a:r>
            <a:r>
              <a:rPr lang="en-US" b="1"/>
              <a:t>of Communication</a:t>
            </a:r>
            <a:endParaRPr lang="en-US" b="1" dirty="0"/>
          </a:p>
          <a:p>
            <a:r>
              <a:rPr lang="en-US" b="1" dirty="0"/>
              <a:t>Neurotransmitter Communication</a:t>
            </a:r>
            <a:r>
              <a:rPr lang="en-US" dirty="0"/>
              <a:t>: Action potential releases neurotransmitter which binds to channels on next neuron</a:t>
            </a:r>
          </a:p>
          <a:p>
            <a:endParaRPr lang="en-US" dirty="0"/>
          </a:p>
          <a:p>
            <a:r>
              <a:rPr lang="en-US" b="1" dirty="0"/>
              <a:t>Ionic Communication</a:t>
            </a:r>
            <a:r>
              <a:rPr lang="en-US" dirty="0"/>
              <a:t>: Action potential moves ions directly into next neuron via connexon</a:t>
            </a:r>
          </a:p>
          <a:p>
            <a:pPr lvl="1"/>
            <a:r>
              <a:rPr lang="en-US" dirty="0"/>
              <a:t>Does not require moving through the cleft</a:t>
            </a:r>
          </a:p>
          <a:p>
            <a:pPr lvl="1"/>
            <a:r>
              <a:rPr lang="en-US" dirty="0"/>
              <a:t>Faster than converting to NT</a:t>
            </a:r>
          </a:p>
          <a:p>
            <a:endParaRPr lang="en-US" dirty="0"/>
          </a:p>
          <a:p>
            <a:pPr marL="0" indent="0">
              <a:buNone/>
            </a:pPr>
            <a:endParaRPr lang="en-US" dirty="0"/>
          </a:p>
        </p:txBody>
      </p:sp>
      <p:grpSp>
        <p:nvGrpSpPr>
          <p:cNvPr id="13" name="Group 12">
            <a:extLst>
              <a:ext uri="{FF2B5EF4-FFF2-40B4-BE49-F238E27FC236}">
                <a16:creationId xmlns:a16="http://schemas.microsoft.com/office/drawing/2014/main" id="{3B4654F7-E716-01F5-79F4-7884119360D8}"/>
              </a:ext>
            </a:extLst>
          </p:cNvPr>
          <p:cNvGrpSpPr/>
          <p:nvPr/>
        </p:nvGrpSpPr>
        <p:grpSpPr>
          <a:xfrm>
            <a:off x="7805022" y="774755"/>
            <a:ext cx="4386978" cy="5954234"/>
            <a:chOff x="8046322" y="1393310"/>
            <a:chExt cx="3741480" cy="5078131"/>
          </a:xfrm>
        </p:grpSpPr>
        <p:grpSp>
          <p:nvGrpSpPr>
            <p:cNvPr id="5" name="Group 4">
              <a:extLst>
                <a:ext uri="{FF2B5EF4-FFF2-40B4-BE49-F238E27FC236}">
                  <a16:creationId xmlns:a16="http://schemas.microsoft.com/office/drawing/2014/main" id="{AD0E76A6-4EDE-F985-18E2-3C972B75DAD2}"/>
                </a:ext>
              </a:extLst>
            </p:cNvPr>
            <p:cNvGrpSpPr/>
            <p:nvPr/>
          </p:nvGrpSpPr>
          <p:grpSpPr>
            <a:xfrm>
              <a:off x="8402520" y="1393310"/>
              <a:ext cx="2748672" cy="2484438"/>
              <a:chOff x="6894155" y="1329530"/>
              <a:chExt cx="5527201" cy="4995863"/>
            </a:xfrm>
          </p:grpSpPr>
          <p:pic>
            <p:nvPicPr>
              <p:cNvPr id="7" name="Content Placeholder 4" descr="The figure shows the Steps in Transmission at a Chemical Synapse. At the top, the Axon is covered by the myelin sheath. Then there is a bulb shaped Synapse in which the thin bulb neck connects with the axon. The synaptic vesicles fall down from the axon area into the synapse. The synaptic vesicles are filled with transmitter molecules. The synaptic vesicles reach the big base of the synapse and open up into the synaptic cleft which is the thin gap between the synapse and the dendrite of the next neuron. There are small transporters in the presynaptic membrane. The dendrite has transmitter receptors on its border that faces the synapse. The steps in transmission are as follows. 1. The action potential is propagated over the presynaptic membrane at the junction between the synapse and axon. 2. Depolarization of the presynaptic terminal leads to influx of C a 2 plus into the synapse through a channel. 3. C a 2 plus causes vesicles to fuse with the presynaptic membrane and release transmitter into the synaptic cleft. 4. The binding of transmitter to neurotransmitter receptors in the postsynaptic membrane opens channels, permitting ion flow and initiating an excitatory or inhibitory postsynaptic potential. 5. Excitatory or inhibitory postsynaptic potentials spread passively over dendrites and the cell body to the axon hillock. 6 a. Enzymes in the synaptic cleft break down excess neurotransmitter. 6 b. Reuptake of transmitter through the transporter slows synaptic action and recycles transmitter for later use. These transmitters enter into the existing vesicles inside the synapse. 7. Transmitter binds to auto receptors in the presynaptic membrane. E P S P or I P S P spread on both sides of the dendrite across cell membrane. ">
                <a:extLst>
                  <a:ext uri="{FF2B5EF4-FFF2-40B4-BE49-F238E27FC236}">
                    <a16:creationId xmlns:a16="http://schemas.microsoft.com/office/drawing/2014/main" id="{A68CCEAD-9E9C-4D63-8563-EBC985125525}"/>
                  </a:ext>
                </a:extLst>
              </p:cNvPr>
              <p:cNvPicPr>
                <a:picLocks noChangeAspect="1"/>
              </p:cNvPicPr>
              <p:nvPr/>
            </p:nvPicPr>
            <p:blipFill>
              <a:blip r:embed="rId3"/>
              <a:stretch>
                <a:fillRect/>
              </a:stretch>
            </p:blipFill>
            <p:spPr>
              <a:xfrm>
                <a:off x="7044283" y="1329530"/>
                <a:ext cx="5377073" cy="4995863"/>
              </a:xfrm>
              <a:prstGeom prst="rect">
                <a:avLst/>
              </a:prstGeom>
            </p:spPr>
          </p:pic>
          <p:sp>
            <p:nvSpPr>
              <p:cNvPr id="8" name="Rectangle 7">
                <a:extLst>
                  <a:ext uri="{FF2B5EF4-FFF2-40B4-BE49-F238E27FC236}">
                    <a16:creationId xmlns:a16="http://schemas.microsoft.com/office/drawing/2014/main" id="{A53A030F-1305-3E79-325E-8AB2F91207E6}"/>
                  </a:ext>
                </a:extLst>
              </p:cNvPr>
              <p:cNvSpPr/>
              <p:nvPr/>
            </p:nvSpPr>
            <p:spPr>
              <a:xfrm>
                <a:off x="7748587" y="5438777"/>
                <a:ext cx="876300" cy="4857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B962BAC-F2FA-0FF5-391B-D563D15FC4EC}"/>
                  </a:ext>
                </a:extLst>
              </p:cNvPr>
              <p:cNvSpPr/>
              <p:nvPr/>
            </p:nvSpPr>
            <p:spPr>
              <a:xfrm>
                <a:off x="9184990" y="5438777"/>
                <a:ext cx="1095660" cy="4857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2EDB340-7731-CC20-B518-20089358B01B}"/>
                  </a:ext>
                </a:extLst>
              </p:cNvPr>
              <p:cNvSpPr/>
              <p:nvPr/>
            </p:nvSpPr>
            <p:spPr>
              <a:xfrm>
                <a:off x="10521806" y="5438777"/>
                <a:ext cx="1016143" cy="3587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A27E6A06-2181-2696-DD80-349C9332602C}"/>
                  </a:ext>
                </a:extLst>
              </p:cNvPr>
              <p:cNvSpPr/>
              <p:nvPr/>
            </p:nvSpPr>
            <p:spPr>
              <a:xfrm>
                <a:off x="6894155" y="3552826"/>
                <a:ext cx="1132245" cy="549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2" name="Content Placeholder 6" descr="Electron micrograph of an electrical synapse shows a long tube like structure that branches into two at one end. Diagram of an electrical synapse shows a layer of Neuron 1 and Neuron 2 one below the other. Connexon connect between the two layers. There are flower shaped structures on top of the neuron 1 layer. The thickness of the neuron 2 layer is 4.2 nanometer. The thickness between the neuron 1 and neuron 2 layers in the center is 3.5 nano meters. The distance between neuron 1 and neuron 2 layers in the sides is 20 nanometers. Ions pass freely between cells from the top to the bottom of the connexons. An illustration displays depolarizing stimulation and hyperpolarizing stimulation and the corresponding pulse for neuron 1 and neuron 2. The displacements of the pulses are upward for depolarizing stimulation and downward for hyperpolarizing stimulation. The interval is 200 milliseconds. Text reads, When stimulation is applied, neuron 1 is depolarized without delay, and neuron 2 is simultaneously depolarized thanks to its electrical coupling to neuron 1.">
              <a:extLst>
                <a:ext uri="{FF2B5EF4-FFF2-40B4-BE49-F238E27FC236}">
                  <a16:creationId xmlns:a16="http://schemas.microsoft.com/office/drawing/2014/main" id="{88A79C42-8625-93E0-81CF-8DA0CDD28202}"/>
                </a:ext>
              </a:extLst>
            </p:cNvPr>
            <p:cNvPicPr>
              <a:picLocks noChangeAspect="1"/>
            </p:cNvPicPr>
            <p:nvPr/>
          </p:nvPicPr>
          <p:blipFill>
            <a:blip r:embed="rId4"/>
            <a:srcRect t="42378" r="30789"/>
            <a:stretch>
              <a:fillRect/>
            </a:stretch>
          </p:blipFill>
          <p:spPr>
            <a:xfrm>
              <a:off x="8046322" y="3997355"/>
              <a:ext cx="3741480" cy="2474086"/>
            </a:xfrm>
            <a:prstGeom prst="rect">
              <a:avLst/>
            </a:prstGeom>
          </p:spPr>
        </p:pic>
      </p:grpSp>
    </p:spTree>
    <p:extLst>
      <p:ext uri="{BB962C8B-B14F-4D97-AF65-F5344CB8AC3E}">
        <p14:creationId xmlns:p14="http://schemas.microsoft.com/office/powerpoint/2010/main" val="2545598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96D60-508F-9E50-7ABE-052CA427C3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B04604-5652-499C-47C1-AAD47707A53B}"/>
              </a:ext>
            </a:extLst>
          </p:cNvPr>
          <p:cNvSpPr>
            <a:spLocks noGrp="1"/>
          </p:cNvSpPr>
          <p:nvPr>
            <p:ph type="title"/>
          </p:nvPr>
        </p:nvSpPr>
        <p:spPr/>
        <p:txBody>
          <a:bodyPr/>
          <a:lstStyle/>
          <a:p>
            <a:r>
              <a:rPr lang="en-US" dirty="0"/>
              <a:t>Synapses and Communication</a:t>
            </a:r>
          </a:p>
        </p:txBody>
      </p:sp>
      <p:sp>
        <p:nvSpPr>
          <p:cNvPr id="6" name="Content Placeholder 5">
            <a:extLst>
              <a:ext uri="{FF2B5EF4-FFF2-40B4-BE49-F238E27FC236}">
                <a16:creationId xmlns:a16="http://schemas.microsoft.com/office/drawing/2014/main" id="{77EABD37-B40F-4A88-D00B-35C11E1EE82D}"/>
              </a:ext>
            </a:extLst>
          </p:cNvPr>
          <p:cNvSpPr>
            <a:spLocks noGrp="1"/>
          </p:cNvSpPr>
          <p:nvPr>
            <p:ph idx="1"/>
          </p:nvPr>
        </p:nvSpPr>
        <p:spPr>
          <a:xfrm>
            <a:off x="838200" y="1825624"/>
            <a:ext cx="6604000" cy="5032375"/>
          </a:xfrm>
        </p:spPr>
        <p:txBody>
          <a:bodyPr>
            <a:normAutofit fontScale="92500" lnSpcReduction="10000"/>
          </a:bodyPr>
          <a:lstStyle/>
          <a:p>
            <a:pPr marL="0" indent="0">
              <a:buNone/>
            </a:pPr>
            <a:r>
              <a:rPr lang="en-US" b="1" dirty="0"/>
              <a:t>Postsynaptic potential (PSP): </a:t>
            </a:r>
            <a:r>
              <a:rPr lang="en-US" dirty="0"/>
              <a:t>Brief changes in membrane potential</a:t>
            </a:r>
          </a:p>
          <a:p>
            <a:pPr lvl="1"/>
            <a:r>
              <a:rPr lang="en-US" dirty="0"/>
              <a:t>These are </a:t>
            </a:r>
            <a:r>
              <a:rPr lang="en-US" i="1" dirty="0"/>
              <a:t>localized</a:t>
            </a:r>
            <a:r>
              <a:rPr lang="en-US" dirty="0"/>
              <a:t> and </a:t>
            </a:r>
            <a:r>
              <a:rPr lang="en-US" i="1" dirty="0"/>
              <a:t>temporary</a:t>
            </a:r>
          </a:p>
          <a:p>
            <a:pPr lvl="1"/>
            <a:r>
              <a:rPr lang="en-US" dirty="0"/>
              <a:t>They move outward (like a drop in water)</a:t>
            </a:r>
          </a:p>
          <a:p>
            <a:pPr lvl="1"/>
            <a:endParaRPr lang="en-US" b="1" dirty="0"/>
          </a:p>
          <a:p>
            <a:r>
              <a:rPr lang="en-US" b="1" dirty="0"/>
              <a:t>Inhibitory: </a:t>
            </a:r>
            <a:r>
              <a:rPr lang="en-US" dirty="0"/>
              <a:t>Reducing the likelihood of an action potential</a:t>
            </a:r>
          </a:p>
          <a:p>
            <a:pPr lvl="1"/>
            <a:r>
              <a:rPr lang="en-US" dirty="0"/>
              <a:t>Hyperpolarizing </a:t>
            </a:r>
          </a:p>
          <a:p>
            <a:pPr lvl="1"/>
            <a:r>
              <a:rPr lang="en-US" dirty="0"/>
              <a:t>Causes Inhibitory PSP (IPSP)</a:t>
            </a:r>
          </a:p>
          <a:p>
            <a:pPr lvl="1"/>
            <a:endParaRPr lang="en-US" dirty="0"/>
          </a:p>
          <a:p>
            <a:r>
              <a:rPr lang="en-US" b="1" dirty="0"/>
              <a:t>Excitatory: </a:t>
            </a:r>
            <a:r>
              <a:rPr lang="en-US" dirty="0"/>
              <a:t>Increasing the likelihood of an action potential</a:t>
            </a:r>
          </a:p>
          <a:p>
            <a:pPr lvl="1"/>
            <a:r>
              <a:rPr lang="en-US" dirty="0"/>
              <a:t>Depolarizing</a:t>
            </a:r>
          </a:p>
          <a:p>
            <a:pPr lvl="1"/>
            <a:r>
              <a:rPr lang="en-US" dirty="0"/>
              <a:t>Causes Excitatory PSP (EPSP)</a:t>
            </a:r>
          </a:p>
          <a:p>
            <a:pPr marL="0" indent="0">
              <a:buNone/>
            </a:pPr>
            <a:endParaRPr lang="en-US" dirty="0"/>
          </a:p>
        </p:txBody>
      </p:sp>
      <p:grpSp>
        <p:nvGrpSpPr>
          <p:cNvPr id="7" name="Group 6">
            <a:extLst>
              <a:ext uri="{FF2B5EF4-FFF2-40B4-BE49-F238E27FC236}">
                <a16:creationId xmlns:a16="http://schemas.microsoft.com/office/drawing/2014/main" id="{51AC6DCB-1236-09D5-4670-11086A7CA1CE}"/>
              </a:ext>
            </a:extLst>
          </p:cNvPr>
          <p:cNvGrpSpPr/>
          <p:nvPr/>
        </p:nvGrpSpPr>
        <p:grpSpPr>
          <a:xfrm>
            <a:off x="8547100" y="189187"/>
            <a:ext cx="3225800" cy="6303688"/>
            <a:chOff x="3633787" y="-1265237"/>
            <a:chExt cx="3808413" cy="7442200"/>
          </a:xfrm>
        </p:grpSpPr>
        <p:pic>
          <p:nvPicPr>
            <p:cNvPr id="3" name="Content Placeholder 6" descr="The synaptic inputs of minus and plus land on the cell. Excitory inputs cause the cell to fire. Threshold is reached and action potential is triggered from the axon hillock. Inhibition also plays a role. Inhibition counteracts excitation; no action potential is triggered. The cell integrates excitation and inhibition. Additional excitation overcomes inhibition; action potential triggered. ">
              <a:extLst>
                <a:ext uri="{FF2B5EF4-FFF2-40B4-BE49-F238E27FC236}">
                  <a16:creationId xmlns:a16="http://schemas.microsoft.com/office/drawing/2014/main" id="{447D71A2-C73B-6B74-A888-982A6D64FB2C}"/>
                </a:ext>
              </a:extLst>
            </p:cNvPr>
            <p:cNvPicPr>
              <a:picLocks noChangeAspect="1"/>
            </p:cNvPicPr>
            <p:nvPr/>
          </p:nvPicPr>
          <p:blipFill>
            <a:blip r:embed="rId3"/>
            <a:srcRect r="66522" b="7642"/>
            <a:stretch>
              <a:fillRect/>
            </a:stretch>
          </p:blipFill>
          <p:spPr>
            <a:xfrm>
              <a:off x="3633787" y="-1265237"/>
              <a:ext cx="3808413" cy="3721100"/>
            </a:xfrm>
            <a:prstGeom prst="rect">
              <a:avLst/>
            </a:prstGeom>
          </p:spPr>
        </p:pic>
        <p:pic>
          <p:nvPicPr>
            <p:cNvPr id="5" name="Content Placeholder 6" descr="The synaptic inputs of minus and plus land on the cell. Excitory inputs cause the cell to fire. Threshold is reached and action potential is triggered from the axon hillock. Inhibition also plays a role. Inhibition counteracts excitation; no action potential is triggered. The cell integrates excitation and inhibition. Additional excitation overcomes inhibition; action potential triggered. ">
              <a:extLst>
                <a:ext uri="{FF2B5EF4-FFF2-40B4-BE49-F238E27FC236}">
                  <a16:creationId xmlns:a16="http://schemas.microsoft.com/office/drawing/2014/main" id="{AE01FF03-3667-E12F-540A-FE68CA47B520}"/>
                </a:ext>
              </a:extLst>
            </p:cNvPr>
            <p:cNvPicPr>
              <a:picLocks noChangeAspect="1"/>
            </p:cNvPicPr>
            <p:nvPr/>
          </p:nvPicPr>
          <p:blipFill>
            <a:blip r:embed="rId3"/>
            <a:srcRect l="32822" t="-1340" r="33700" b="8982"/>
            <a:stretch>
              <a:fillRect/>
            </a:stretch>
          </p:blipFill>
          <p:spPr>
            <a:xfrm>
              <a:off x="3633787" y="2455863"/>
              <a:ext cx="3808413" cy="3721100"/>
            </a:xfrm>
            <a:prstGeom prst="rect">
              <a:avLst/>
            </a:prstGeom>
          </p:spPr>
        </p:pic>
      </p:grpSp>
    </p:spTree>
    <p:extLst>
      <p:ext uri="{BB962C8B-B14F-4D97-AF65-F5344CB8AC3E}">
        <p14:creationId xmlns:p14="http://schemas.microsoft.com/office/powerpoint/2010/main" val="4031194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F4E04-997A-4233-7E99-E197D388B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CCD4A-37DB-5175-4520-A0172A1421AF}"/>
              </a:ext>
            </a:extLst>
          </p:cNvPr>
          <p:cNvSpPr>
            <a:spLocks noGrp="1"/>
          </p:cNvSpPr>
          <p:nvPr>
            <p:ph type="title"/>
          </p:nvPr>
        </p:nvSpPr>
        <p:spPr/>
        <p:txBody>
          <a:bodyPr/>
          <a:lstStyle/>
          <a:p>
            <a:r>
              <a:rPr lang="en-US" dirty="0"/>
              <a:t>Synapses and Communication</a:t>
            </a:r>
          </a:p>
        </p:txBody>
      </p:sp>
      <p:sp>
        <p:nvSpPr>
          <p:cNvPr id="6" name="Content Placeholder 5">
            <a:extLst>
              <a:ext uri="{FF2B5EF4-FFF2-40B4-BE49-F238E27FC236}">
                <a16:creationId xmlns:a16="http://schemas.microsoft.com/office/drawing/2014/main" id="{56A4701D-7C9F-1461-A842-C2F3C4754462}"/>
              </a:ext>
            </a:extLst>
          </p:cNvPr>
          <p:cNvSpPr>
            <a:spLocks noGrp="1"/>
          </p:cNvSpPr>
          <p:nvPr>
            <p:ph idx="1"/>
          </p:nvPr>
        </p:nvSpPr>
        <p:spPr>
          <a:xfrm>
            <a:off x="838200" y="1825624"/>
            <a:ext cx="6604000" cy="5032375"/>
          </a:xfrm>
        </p:spPr>
        <p:txBody>
          <a:bodyPr>
            <a:normAutofit fontScale="92500" lnSpcReduction="10000"/>
          </a:bodyPr>
          <a:lstStyle/>
          <a:p>
            <a:pPr marL="0" indent="0">
              <a:buNone/>
            </a:pPr>
            <a:r>
              <a:rPr lang="en-US" b="1" dirty="0"/>
              <a:t>Postsynaptic potential (PSP)</a:t>
            </a:r>
            <a:endParaRPr lang="en-US" dirty="0"/>
          </a:p>
          <a:p>
            <a:r>
              <a:rPr lang="en-US" b="1" dirty="0"/>
              <a:t>Spatial summation</a:t>
            </a:r>
            <a:r>
              <a:rPr lang="en-US" dirty="0"/>
              <a:t>: Potentials summate if close together </a:t>
            </a:r>
            <a:r>
              <a:rPr lang="en-US" i="1" dirty="0"/>
              <a:t>in space</a:t>
            </a:r>
            <a:endParaRPr lang="en-US" dirty="0"/>
          </a:p>
          <a:p>
            <a:pPr lvl="1"/>
            <a:r>
              <a:rPr lang="en-US" dirty="0"/>
              <a:t>The </a:t>
            </a:r>
            <a:r>
              <a:rPr lang="en-US"/>
              <a:t>distance of </a:t>
            </a:r>
            <a:r>
              <a:rPr lang="en-US" dirty="0"/>
              <a:t>the synaptic input from the axon hillock also determines the strength of the communication</a:t>
            </a:r>
          </a:p>
          <a:p>
            <a:endParaRPr lang="en-US" dirty="0"/>
          </a:p>
          <a:p>
            <a:r>
              <a:rPr lang="en-US" b="1" dirty="0"/>
              <a:t>Temporal summation</a:t>
            </a:r>
            <a:r>
              <a:rPr lang="en-US" dirty="0"/>
              <a:t>: Potentials summate if close together </a:t>
            </a:r>
            <a:r>
              <a:rPr lang="en-US" i="1" dirty="0"/>
              <a:t>in time</a:t>
            </a:r>
          </a:p>
          <a:p>
            <a:pPr lvl="1"/>
            <a:r>
              <a:rPr lang="en-US" dirty="0"/>
              <a:t>PSPs fade over time, so timing is important</a:t>
            </a:r>
          </a:p>
          <a:p>
            <a:pPr lvl="1"/>
            <a:endParaRPr lang="en-US" dirty="0"/>
          </a:p>
          <a:p>
            <a:r>
              <a:rPr lang="en-US" dirty="0"/>
              <a:t>If there are sufficiently more EPSPs than IPSPs </a:t>
            </a:r>
            <a:r>
              <a:rPr lang="en-US" i="1" dirty="0"/>
              <a:t>at the axon hillock</a:t>
            </a:r>
            <a:r>
              <a:rPr lang="en-US" dirty="0"/>
              <a:t>, an action potential will fire</a:t>
            </a:r>
          </a:p>
          <a:p>
            <a:pPr lvl="1"/>
            <a:endParaRPr lang="en-US" dirty="0"/>
          </a:p>
          <a:p>
            <a:pPr marL="0" indent="0">
              <a:buNone/>
            </a:pPr>
            <a:endParaRPr lang="en-US" dirty="0"/>
          </a:p>
          <a:p>
            <a:endParaRPr lang="en-US" dirty="0"/>
          </a:p>
          <a:p>
            <a:pPr marL="0" indent="0">
              <a:buNone/>
            </a:pPr>
            <a:endParaRPr lang="en-US" dirty="0"/>
          </a:p>
        </p:txBody>
      </p:sp>
      <p:grpSp>
        <p:nvGrpSpPr>
          <p:cNvPr id="7" name="Group 6">
            <a:extLst>
              <a:ext uri="{FF2B5EF4-FFF2-40B4-BE49-F238E27FC236}">
                <a16:creationId xmlns:a16="http://schemas.microsoft.com/office/drawing/2014/main" id="{6F380D39-B78E-62A1-13F2-48EC54F32606}"/>
              </a:ext>
            </a:extLst>
          </p:cNvPr>
          <p:cNvGrpSpPr/>
          <p:nvPr/>
        </p:nvGrpSpPr>
        <p:grpSpPr>
          <a:xfrm>
            <a:off x="8547100" y="189187"/>
            <a:ext cx="3225800" cy="6303688"/>
            <a:chOff x="3633787" y="-1265237"/>
            <a:chExt cx="3808413" cy="7442200"/>
          </a:xfrm>
        </p:grpSpPr>
        <p:pic>
          <p:nvPicPr>
            <p:cNvPr id="3" name="Content Placeholder 6" descr="The synaptic inputs of minus and plus land on the cell. Excitory inputs cause the cell to fire. Threshold is reached and action potential is triggered from the axon hillock. Inhibition also plays a role. Inhibition counteracts excitation; no action potential is triggered. The cell integrates excitation and inhibition. Additional excitation overcomes inhibition; action potential triggered. ">
              <a:extLst>
                <a:ext uri="{FF2B5EF4-FFF2-40B4-BE49-F238E27FC236}">
                  <a16:creationId xmlns:a16="http://schemas.microsoft.com/office/drawing/2014/main" id="{CA63328A-3AFC-308A-CE20-71D7E9F3F9BE}"/>
                </a:ext>
              </a:extLst>
            </p:cNvPr>
            <p:cNvPicPr>
              <a:picLocks noChangeAspect="1"/>
            </p:cNvPicPr>
            <p:nvPr/>
          </p:nvPicPr>
          <p:blipFill>
            <a:blip r:embed="rId3"/>
            <a:srcRect r="66522" b="7642"/>
            <a:stretch>
              <a:fillRect/>
            </a:stretch>
          </p:blipFill>
          <p:spPr>
            <a:xfrm>
              <a:off x="3633787" y="-1265237"/>
              <a:ext cx="3808413" cy="3721100"/>
            </a:xfrm>
            <a:prstGeom prst="rect">
              <a:avLst/>
            </a:prstGeom>
          </p:spPr>
        </p:pic>
        <p:pic>
          <p:nvPicPr>
            <p:cNvPr id="5" name="Content Placeholder 6" descr="The synaptic inputs of minus and plus land on the cell. Excitory inputs cause the cell to fire. Threshold is reached and action potential is triggered from the axon hillock. Inhibition also plays a role. Inhibition counteracts excitation; no action potential is triggered. The cell integrates excitation and inhibition. Additional excitation overcomes inhibition; action potential triggered. ">
              <a:extLst>
                <a:ext uri="{FF2B5EF4-FFF2-40B4-BE49-F238E27FC236}">
                  <a16:creationId xmlns:a16="http://schemas.microsoft.com/office/drawing/2014/main" id="{79E6C859-0773-21ED-F4F6-F575F4F9B039}"/>
                </a:ext>
              </a:extLst>
            </p:cNvPr>
            <p:cNvPicPr>
              <a:picLocks noChangeAspect="1"/>
            </p:cNvPicPr>
            <p:nvPr/>
          </p:nvPicPr>
          <p:blipFill>
            <a:blip r:embed="rId3"/>
            <a:srcRect l="32822" t="-1340" r="33700" b="8982"/>
            <a:stretch>
              <a:fillRect/>
            </a:stretch>
          </p:blipFill>
          <p:spPr>
            <a:xfrm>
              <a:off x="3633787" y="2455863"/>
              <a:ext cx="3808413" cy="3721100"/>
            </a:xfrm>
            <a:prstGeom prst="rect">
              <a:avLst/>
            </a:prstGeom>
          </p:spPr>
        </p:pic>
      </p:grpSp>
    </p:spTree>
    <p:extLst>
      <p:ext uri="{BB962C8B-B14F-4D97-AF65-F5344CB8AC3E}">
        <p14:creationId xmlns:p14="http://schemas.microsoft.com/office/powerpoint/2010/main" val="2830282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DF2B4-568B-D52A-4346-CA1507357329}"/>
            </a:ext>
          </a:extLst>
        </p:cNvPr>
        <p:cNvGrpSpPr/>
        <p:nvPr/>
      </p:nvGrpSpPr>
      <p:grpSpPr>
        <a:xfrm>
          <a:off x="0" y="0"/>
          <a:ext cx="0" cy="0"/>
          <a:chOff x="0" y="0"/>
          <a:chExt cx="0" cy="0"/>
        </a:xfrm>
      </p:grpSpPr>
      <p:pic>
        <p:nvPicPr>
          <p:cNvPr id="9" name="Picture 8" descr="A diagram of a synapse&#10;&#10;AI-generated content may be incorrect.">
            <a:extLst>
              <a:ext uri="{FF2B5EF4-FFF2-40B4-BE49-F238E27FC236}">
                <a16:creationId xmlns:a16="http://schemas.microsoft.com/office/drawing/2014/main" id="{E079B545-2147-56D0-B4E0-6FFFE6C05323}"/>
              </a:ext>
            </a:extLst>
          </p:cNvPr>
          <p:cNvPicPr>
            <a:picLocks noChangeAspect="1"/>
          </p:cNvPicPr>
          <p:nvPr/>
        </p:nvPicPr>
        <p:blipFill>
          <a:blip r:embed="rId3">
            <a:extLst>
              <a:ext uri="{28A0092B-C50C-407E-A947-70E740481C1C}">
                <a14:useLocalDpi xmlns:a14="http://schemas.microsoft.com/office/drawing/2010/main" val="0"/>
              </a:ext>
            </a:extLst>
          </a:blip>
          <a:srcRect b="16347"/>
          <a:stretch>
            <a:fillRect/>
          </a:stretch>
        </p:blipFill>
        <p:spPr>
          <a:xfrm>
            <a:off x="3128560" y="1985963"/>
            <a:ext cx="6577416" cy="2239271"/>
          </a:xfrm>
          <a:prstGeom prst="rect">
            <a:avLst/>
          </a:prstGeom>
        </p:spPr>
      </p:pic>
      <p:sp>
        <p:nvSpPr>
          <p:cNvPr id="6" name="Content Placeholder 5">
            <a:extLst>
              <a:ext uri="{FF2B5EF4-FFF2-40B4-BE49-F238E27FC236}">
                <a16:creationId xmlns:a16="http://schemas.microsoft.com/office/drawing/2014/main" id="{028E3DA5-6729-7EBE-7C78-2F71F528E286}"/>
              </a:ext>
            </a:extLst>
          </p:cNvPr>
          <p:cNvSpPr>
            <a:spLocks noGrp="1"/>
          </p:cNvSpPr>
          <p:nvPr>
            <p:ph idx="1"/>
          </p:nvPr>
        </p:nvSpPr>
        <p:spPr>
          <a:xfrm>
            <a:off x="838200" y="1825624"/>
            <a:ext cx="10058400" cy="5032375"/>
          </a:xfrm>
        </p:spPr>
        <p:txBody>
          <a:bodyPr>
            <a:normAutofit/>
          </a:bodyPr>
          <a:lstStyle/>
          <a:p>
            <a:pPr marL="0" indent="0">
              <a:buNone/>
            </a:pPr>
            <a:r>
              <a:rPr lang="en-US" dirty="0"/>
              <a:t>Neurons are chained together</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Chains of neurons form neural networks that can span the brain and body</a:t>
            </a:r>
          </a:p>
          <a:p>
            <a:pPr marL="0" indent="0">
              <a:buNone/>
            </a:pPr>
            <a:r>
              <a:rPr lang="en-US" dirty="0"/>
              <a:t> </a:t>
            </a:r>
          </a:p>
          <a:p>
            <a:pPr marL="0" indent="0">
              <a:buNone/>
            </a:pPr>
            <a:endParaRPr lang="en-US" dirty="0"/>
          </a:p>
          <a:p>
            <a:endParaRPr lang="en-US" dirty="0"/>
          </a:p>
          <a:p>
            <a:pPr marL="0" indent="0">
              <a:buNone/>
            </a:pPr>
            <a:endParaRPr lang="en-US" dirty="0"/>
          </a:p>
        </p:txBody>
      </p:sp>
      <p:sp>
        <p:nvSpPr>
          <p:cNvPr id="2" name="Title 1">
            <a:extLst>
              <a:ext uri="{FF2B5EF4-FFF2-40B4-BE49-F238E27FC236}">
                <a16:creationId xmlns:a16="http://schemas.microsoft.com/office/drawing/2014/main" id="{B11D2A3E-A5EF-779D-116C-6F77558DEF36}"/>
              </a:ext>
            </a:extLst>
          </p:cNvPr>
          <p:cNvSpPr>
            <a:spLocks noGrp="1"/>
          </p:cNvSpPr>
          <p:nvPr>
            <p:ph type="title"/>
          </p:nvPr>
        </p:nvSpPr>
        <p:spPr/>
        <p:txBody>
          <a:bodyPr/>
          <a:lstStyle/>
          <a:p>
            <a:r>
              <a:rPr lang="en-US" dirty="0"/>
              <a:t>Neural Networks</a:t>
            </a:r>
          </a:p>
        </p:txBody>
      </p:sp>
      <p:pic>
        <p:nvPicPr>
          <p:cNvPr id="11" name="Picture 10" descr="A brain with colorful dots and lines&#10;&#10;AI-generated content may be incorrect.">
            <a:extLst>
              <a:ext uri="{FF2B5EF4-FFF2-40B4-BE49-F238E27FC236}">
                <a16:creationId xmlns:a16="http://schemas.microsoft.com/office/drawing/2014/main" id="{2C8F4647-A126-6237-D1F4-3ECE9ABDBA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09949" y="4811593"/>
            <a:ext cx="2814638" cy="2046407"/>
          </a:xfrm>
          <a:prstGeom prst="rect">
            <a:avLst/>
          </a:prstGeom>
        </p:spPr>
      </p:pic>
    </p:spTree>
    <p:extLst>
      <p:ext uri="{BB962C8B-B14F-4D97-AF65-F5344CB8AC3E}">
        <p14:creationId xmlns:p14="http://schemas.microsoft.com/office/powerpoint/2010/main" val="2801426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076176F-5A0E-0080-99AE-1BF8FD57412B}"/>
              </a:ext>
            </a:extLst>
          </p:cNvPr>
          <p:cNvPicPr>
            <a:picLocks noChangeAspect="1"/>
          </p:cNvPicPr>
          <p:nvPr/>
        </p:nvPicPr>
        <p:blipFill>
          <a:blip r:embed="rId2">
            <a:extLst>
              <a:ext uri="{28A0092B-C50C-407E-A947-70E740481C1C}">
                <a14:useLocalDpi xmlns:a14="http://schemas.microsoft.com/office/drawing/2010/main" val="0"/>
              </a:ext>
            </a:extLst>
          </a:blip>
          <a:srcRect l="17534"/>
          <a:stretch>
            <a:fillRect/>
          </a:stretch>
        </p:blipFill>
        <p:spPr>
          <a:xfrm>
            <a:off x="7737231" y="0"/>
            <a:ext cx="4454769" cy="6858000"/>
          </a:xfrm>
          <a:prstGeom prst="rect">
            <a:avLst/>
          </a:prstGeom>
        </p:spPr>
      </p:pic>
      <p:sp>
        <p:nvSpPr>
          <p:cNvPr id="2" name="Title 1">
            <a:extLst>
              <a:ext uri="{FF2B5EF4-FFF2-40B4-BE49-F238E27FC236}">
                <a16:creationId xmlns:a16="http://schemas.microsoft.com/office/drawing/2014/main" id="{BA416ADD-E773-4270-74A4-6EEDDBBC93B6}"/>
              </a:ext>
            </a:extLst>
          </p:cNvPr>
          <p:cNvSpPr>
            <a:spLocks noGrp="1"/>
          </p:cNvSpPr>
          <p:nvPr>
            <p:ph type="title"/>
          </p:nvPr>
        </p:nvSpPr>
        <p:spPr/>
        <p:txBody>
          <a:bodyPr/>
          <a:lstStyle/>
          <a:p>
            <a:r>
              <a:rPr lang="en-US" dirty="0"/>
              <a:t>Testable Figures</a:t>
            </a:r>
          </a:p>
        </p:txBody>
      </p:sp>
      <p:sp>
        <p:nvSpPr>
          <p:cNvPr id="3" name="TextBox 2">
            <a:extLst>
              <a:ext uri="{FF2B5EF4-FFF2-40B4-BE49-F238E27FC236}">
                <a16:creationId xmlns:a16="http://schemas.microsoft.com/office/drawing/2014/main" id="{83BD16DB-37E6-F1F5-7348-E2153B7BC2FD}"/>
              </a:ext>
            </a:extLst>
          </p:cNvPr>
          <p:cNvSpPr txBox="1"/>
          <p:nvPr/>
        </p:nvSpPr>
        <p:spPr>
          <a:xfrm>
            <a:off x="0" y="6492875"/>
            <a:ext cx="7212103" cy="369332"/>
          </a:xfrm>
          <a:prstGeom prst="rect">
            <a:avLst/>
          </a:prstGeom>
          <a:noFill/>
        </p:spPr>
        <p:txBody>
          <a:bodyPr wrap="none" rtlCol="0">
            <a:spAutoFit/>
          </a:bodyPr>
          <a:lstStyle/>
          <a:p>
            <a:r>
              <a:rPr lang="en-US" i="1" dirty="0"/>
              <a:t>All figures corresponding to the results of a study are testable material. </a:t>
            </a:r>
          </a:p>
        </p:txBody>
      </p:sp>
      <p:sp>
        <p:nvSpPr>
          <p:cNvPr id="5" name="Content Placeholder 2">
            <a:extLst>
              <a:ext uri="{FF2B5EF4-FFF2-40B4-BE49-F238E27FC236}">
                <a16:creationId xmlns:a16="http://schemas.microsoft.com/office/drawing/2014/main" id="{67F61BB8-1FC1-AFE2-DABD-CEF63125C9FB}"/>
              </a:ext>
            </a:extLst>
          </p:cNvPr>
          <p:cNvSpPr>
            <a:spLocks noGrp="1"/>
          </p:cNvSpPr>
          <p:nvPr>
            <p:ph idx="1"/>
          </p:nvPr>
        </p:nvSpPr>
        <p:spPr>
          <a:xfrm>
            <a:off x="838200" y="1825625"/>
            <a:ext cx="10515600" cy="4351338"/>
          </a:xfrm>
        </p:spPr>
        <p:txBody>
          <a:bodyPr/>
          <a:lstStyle/>
          <a:p>
            <a:pPr marL="0" indent="0">
              <a:buNone/>
            </a:pPr>
            <a:r>
              <a:rPr lang="en-US" dirty="0"/>
              <a:t>Slide 21</a:t>
            </a:r>
          </a:p>
        </p:txBody>
      </p:sp>
    </p:spTree>
    <p:extLst>
      <p:ext uri="{BB962C8B-B14F-4D97-AF65-F5344CB8AC3E}">
        <p14:creationId xmlns:p14="http://schemas.microsoft.com/office/powerpoint/2010/main" val="3048017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c61d377-9894-427c-b13b-1d6a51662b4e}" enabled="0" method="" siteId="{9c61d377-9894-427c-b13b-1d6a51662b4e}" removed="1"/>
</clbl:labelList>
</file>

<file path=docProps/app.xml><?xml version="1.0" encoding="utf-8"?>
<Properties xmlns="http://schemas.openxmlformats.org/officeDocument/2006/extended-properties" xmlns:vt="http://schemas.openxmlformats.org/officeDocument/2006/docPropsVTypes">
  <TotalTime>428</TotalTime>
  <Words>887</Words>
  <Application>Microsoft Office PowerPoint</Application>
  <PresentationFormat>Widescreen</PresentationFormat>
  <Paragraphs>204</Paragraphs>
  <Slides>26</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Aptos Display</vt:lpstr>
      <vt:lpstr>Arial</vt:lpstr>
      <vt:lpstr>Calibri</vt:lpstr>
      <vt:lpstr>Office Theme</vt:lpstr>
      <vt:lpstr>Neurophysiology</vt:lpstr>
      <vt:lpstr>PowerPoint Presentation</vt:lpstr>
      <vt:lpstr>PowerPoint Presentation</vt:lpstr>
      <vt:lpstr>Neurophysiology</vt:lpstr>
      <vt:lpstr>Neurons</vt:lpstr>
      <vt:lpstr>Neurons</vt:lpstr>
      <vt:lpstr>Membrane Potential</vt:lpstr>
      <vt:lpstr>Membrane Potential</vt:lpstr>
      <vt:lpstr>Membrane Potential</vt:lpstr>
      <vt:lpstr>Membrane Potential</vt:lpstr>
      <vt:lpstr>Membrane Potential</vt:lpstr>
      <vt:lpstr>Membrane Potential</vt:lpstr>
      <vt:lpstr>PowerPoint Presentation</vt:lpstr>
      <vt:lpstr>Action Potentials</vt:lpstr>
      <vt:lpstr>Action Potentials</vt:lpstr>
      <vt:lpstr>Action Potentials</vt:lpstr>
      <vt:lpstr>Action Potentials</vt:lpstr>
      <vt:lpstr>PowerPoint Presentation</vt:lpstr>
      <vt:lpstr>Synapses and Communication</vt:lpstr>
      <vt:lpstr>Synapses and Communication</vt:lpstr>
      <vt:lpstr>Synapses and Communication</vt:lpstr>
      <vt:lpstr>Synapses and Communication</vt:lpstr>
      <vt:lpstr>Synapses and Communication</vt:lpstr>
      <vt:lpstr>Synapses and Communication</vt:lpstr>
      <vt:lpstr>Neural Networks</vt:lpstr>
      <vt:lpstr>Testable Figures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Chad Williams</dc:creator>
  <cp:lastModifiedBy>Chad Williams</cp:lastModifiedBy>
  <cp:revision>1</cp:revision>
  <dcterms:created xsi:type="dcterms:W3CDTF">2025-08-11T14:51:42Z</dcterms:created>
  <dcterms:modified xsi:type="dcterms:W3CDTF">2026-07-28T21:34:48Z</dcterms:modified>
</cp:coreProperties>
</file>