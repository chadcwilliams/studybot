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80" r:id="rId3"/>
    <p:sldId id="324" r:id="rId4"/>
    <p:sldId id="298" r:id="rId5"/>
    <p:sldId id="299" r:id="rId6"/>
    <p:sldId id="300" r:id="rId7"/>
    <p:sldId id="304" r:id="rId8"/>
    <p:sldId id="305" r:id="rId9"/>
    <p:sldId id="328" r:id="rId10"/>
    <p:sldId id="306" r:id="rId11"/>
    <p:sldId id="307" r:id="rId12"/>
    <p:sldId id="325" r:id="rId13"/>
    <p:sldId id="308" r:id="rId14"/>
    <p:sldId id="329" r:id="rId15"/>
    <p:sldId id="314" r:id="rId16"/>
    <p:sldId id="315" r:id="rId17"/>
    <p:sldId id="309" r:id="rId18"/>
    <p:sldId id="310" r:id="rId19"/>
    <p:sldId id="313" r:id="rId20"/>
    <p:sldId id="330" r:id="rId21"/>
    <p:sldId id="311" r:id="rId22"/>
    <p:sldId id="312" r:id="rId23"/>
    <p:sldId id="331" r:id="rId24"/>
    <p:sldId id="326" r:id="rId25"/>
    <p:sldId id="317" r:id="rId26"/>
    <p:sldId id="332" r:id="rId27"/>
    <p:sldId id="327" r:id="rId28"/>
    <p:sldId id="333" r:id="rId29"/>
    <p:sldId id="33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5F3FD2-19A6-4925-83F6-9E51C6C590EB}" v="2" dt="2026-07-28T21:35:47.1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93" autoAdjust="0"/>
    <p:restoredTop sz="94660"/>
  </p:normalViewPr>
  <p:slideViewPr>
    <p:cSldViewPr snapToGrid="0">
      <p:cViewPr varScale="1">
        <p:scale>
          <a:sx n="117" d="100"/>
          <a:sy n="117" d="100"/>
        </p:scale>
        <p:origin x="108"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d Williams" userId="618f96a3-8672-4e43-ae03-eeed93bb7387" providerId="ADAL" clId="{DFF2BB08-185E-495B-B2A0-BE0942C7B81E}"/>
    <pc:docChg chg="undo custSel addSld delSld modSld sldOrd">
      <pc:chgData name="Chad Williams" userId="618f96a3-8672-4e43-ae03-eeed93bb7387" providerId="ADAL" clId="{DFF2BB08-185E-495B-B2A0-BE0942C7B81E}" dt="2026-07-28T21:35:55.121" v="2713" actId="114"/>
      <pc:docMkLst>
        <pc:docMk/>
      </pc:docMkLst>
      <pc:sldChg chg="addSp delSp modSp add del mod">
        <pc:chgData name="Chad Williams" userId="618f96a3-8672-4e43-ae03-eeed93bb7387" providerId="ADAL" clId="{DFF2BB08-185E-495B-B2A0-BE0942C7B81E}" dt="2026-07-28T21:35:55.121" v="2713" actId="114"/>
        <pc:sldMkLst>
          <pc:docMk/>
          <pc:sldMk cId="304801725" sldId="334"/>
        </pc:sldMkLst>
        <pc:spChg chg="mod">
          <ac:chgData name="Chad Williams" userId="618f96a3-8672-4e43-ae03-eeed93bb7387" providerId="ADAL" clId="{DFF2BB08-185E-495B-B2A0-BE0942C7B81E}" dt="2026-07-28T21:35:55.121" v="2713" actId="114"/>
          <ac:spMkLst>
            <pc:docMk/>
            <pc:sldMk cId="304801725" sldId="334"/>
            <ac:spMk id="5" creationId="{67F61BB8-1FC1-AFE2-DABD-CEF63125C9FB}"/>
          </ac:spMkLst>
        </pc:spChg>
        <pc:spChg chg="add">
          <ac:chgData name="Chad Williams" userId="618f96a3-8672-4e43-ae03-eeed93bb7387" providerId="ADAL" clId="{DFF2BB08-185E-495B-B2A0-BE0942C7B81E}" dt="2026-07-28T21:28:05.943" v="2704" actId="22"/>
          <ac:spMkLst>
            <pc:docMk/>
            <pc:sldMk cId="304801725" sldId="334"/>
            <ac:spMk id="5" creationId="{D2D2808B-73AB-3B35-9268-899590D5DDA2}"/>
          </ac:spMkLst>
        </pc:spChg>
        <pc:graphicFrameChg chg="modGraphic">
          <ac:chgData name="Chad Williams" userId="618f96a3-8672-4e43-ae03-eeed93bb7387" providerId="ADAL" clId="{DFF2BB08-185E-495B-B2A0-BE0942C7B81E}" dt="2026-07-28T21:19:41.787" v="2703" actId="114"/>
          <ac:graphicFrameMkLst>
            <pc:docMk/>
            <pc:sldMk cId="304801725" sldId="334"/>
            <ac:graphicFrameMk id="4" creationId="{7D018100-1EC6-0F2B-0EEE-9C92B65C2F9D}"/>
          </ac:graphicFrameMkLst>
        </pc:graphicFrameChg>
        <pc:picChg chg="del">
          <ac:chgData name="Chad Williams" userId="618f96a3-8672-4e43-ae03-eeed93bb7387" providerId="ADAL" clId="{DFF2BB08-185E-495B-B2A0-BE0942C7B81E}" dt="2026-07-28T21:19:03.272" v="2689" actId="478"/>
          <ac:picMkLst>
            <pc:docMk/>
            <pc:sldMk cId="304801725" sldId="334"/>
            <ac:picMk id="6" creationId="{B7728C68-DF3B-6F1A-44DA-E6FD841A7BF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A58E55-DF54-4DED-9AD7-D46FCB7DC95A}"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5B977-0B2D-4610-A9FA-D6352649F8AC}" type="slidenum">
              <a:rPr lang="en-US" smtClean="0"/>
              <a:t>‹#›</a:t>
            </a:fld>
            <a:endParaRPr lang="en-US"/>
          </a:p>
        </p:txBody>
      </p:sp>
    </p:spTree>
    <p:extLst>
      <p:ext uri="{BB962C8B-B14F-4D97-AF65-F5344CB8AC3E}">
        <p14:creationId xmlns:p14="http://schemas.microsoft.com/office/powerpoint/2010/main" val="4105498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4</a:t>
            </a:fld>
            <a:endParaRPr lang="en-US"/>
          </a:p>
        </p:txBody>
      </p:sp>
    </p:spTree>
    <p:extLst>
      <p:ext uri="{BB962C8B-B14F-4D97-AF65-F5344CB8AC3E}">
        <p14:creationId xmlns:p14="http://schemas.microsoft.com/office/powerpoint/2010/main" val="146338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EAE00-430B-5F62-528B-9FC1770E9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8F241C-4074-75B6-B185-1348DAAC5E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5FD9E-EC59-9D64-6D09-7DE2EF0273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2AF293-F718-665E-0463-84AC01B34219}"/>
              </a:ext>
            </a:extLst>
          </p:cNvPr>
          <p:cNvSpPr>
            <a:spLocks noGrp="1"/>
          </p:cNvSpPr>
          <p:nvPr>
            <p:ph type="sldNum" sz="quarter" idx="5"/>
          </p:nvPr>
        </p:nvSpPr>
        <p:spPr/>
        <p:txBody>
          <a:bodyPr/>
          <a:lstStyle/>
          <a:p>
            <a:fld id="{81B5B977-0B2D-4610-A9FA-D6352649F8AC}" type="slidenum">
              <a:rPr lang="en-US" smtClean="0"/>
              <a:t>5</a:t>
            </a:fld>
            <a:endParaRPr lang="en-US"/>
          </a:p>
        </p:txBody>
      </p:sp>
    </p:spTree>
    <p:extLst>
      <p:ext uri="{BB962C8B-B14F-4D97-AF65-F5344CB8AC3E}">
        <p14:creationId xmlns:p14="http://schemas.microsoft.com/office/powerpoint/2010/main" val="2349785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8AEC4-DB1B-A349-06E8-F0358E1BC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9E24D-7951-2703-85CF-A9498E254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344AD-BB6F-5214-375D-1302F72001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E7EA1D-3BDA-BF20-0622-148233872A66}"/>
              </a:ext>
            </a:extLst>
          </p:cNvPr>
          <p:cNvSpPr>
            <a:spLocks noGrp="1"/>
          </p:cNvSpPr>
          <p:nvPr>
            <p:ph type="sldNum" sz="quarter" idx="5"/>
          </p:nvPr>
        </p:nvSpPr>
        <p:spPr/>
        <p:txBody>
          <a:bodyPr/>
          <a:lstStyle/>
          <a:p>
            <a:fld id="{81B5B977-0B2D-4610-A9FA-D6352649F8AC}" type="slidenum">
              <a:rPr lang="en-US" smtClean="0"/>
              <a:t>6</a:t>
            </a:fld>
            <a:endParaRPr lang="en-US"/>
          </a:p>
        </p:txBody>
      </p:sp>
    </p:spTree>
    <p:extLst>
      <p:ext uri="{BB962C8B-B14F-4D97-AF65-F5344CB8AC3E}">
        <p14:creationId xmlns:p14="http://schemas.microsoft.com/office/powerpoint/2010/main" val="870696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22B6E-BE3B-4C94-DDAA-D2848BC91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AEA83E-A603-B39F-0CEF-79E0EEA8EE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527397-B66A-9532-0197-C7D96E658B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608BEE-92BB-FCBE-50E2-FCB787BE3101}"/>
              </a:ext>
            </a:extLst>
          </p:cNvPr>
          <p:cNvSpPr>
            <a:spLocks noGrp="1"/>
          </p:cNvSpPr>
          <p:nvPr>
            <p:ph type="sldNum" sz="quarter" idx="5"/>
          </p:nvPr>
        </p:nvSpPr>
        <p:spPr/>
        <p:txBody>
          <a:bodyPr/>
          <a:lstStyle/>
          <a:p>
            <a:fld id="{81B5B977-0B2D-4610-A9FA-D6352649F8AC}" type="slidenum">
              <a:rPr lang="en-US" smtClean="0"/>
              <a:t>7</a:t>
            </a:fld>
            <a:endParaRPr lang="en-US"/>
          </a:p>
        </p:txBody>
      </p:sp>
    </p:spTree>
    <p:extLst>
      <p:ext uri="{BB962C8B-B14F-4D97-AF65-F5344CB8AC3E}">
        <p14:creationId xmlns:p14="http://schemas.microsoft.com/office/powerpoint/2010/main" val="3684409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3E18-9E0C-ACE5-F9E8-3F607C9A54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54B59-001E-89C7-E739-E84E5C356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9B3CA9-93A1-6998-6D14-3D8B533FFD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139669-7023-5D61-5A14-BE6E63EEC9CB}"/>
              </a:ext>
            </a:extLst>
          </p:cNvPr>
          <p:cNvSpPr>
            <a:spLocks noGrp="1"/>
          </p:cNvSpPr>
          <p:nvPr>
            <p:ph type="sldNum" sz="quarter" idx="5"/>
          </p:nvPr>
        </p:nvSpPr>
        <p:spPr/>
        <p:txBody>
          <a:bodyPr/>
          <a:lstStyle/>
          <a:p>
            <a:fld id="{81B5B977-0B2D-4610-A9FA-D6352649F8AC}" type="slidenum">
              <a:rPr lang="en-US" smtClean="0"/>
              <a:t>8</a:t>
            </a:fld>
            <a:endParaRPr lang="en-US"/>
          </a:p>
        </p:txBody>
      </p:sp>
    </p:spTree>
    <p:extLst>
      <p:ext uri="{BB962C8B-B14F-4D97-AF65-F5344CB8AC3E}">
        <p14:creationId xmlns:p14="http://schemas.microsoft.com/office/powerpoint/2010/main" val="2571702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1254C-1ADC-14D7-5510-3748C1403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B17F8-2178-9960-4AD8-59F3F7BCE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5A224A-9B61-66B2-C18E-E49CAB68F5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5D380F-3E98-3D9B-12B4-F899EE4C5F28}"/>
              </a:ext>
            </a:extLst>
          </p:cNvPr>
          <p:cNvSpPr>
            <a:spLocks noGrp="1"/>
          </p:cNvSpPr>
          <p:nvPr>
            <p:ph type="sldNum" sz="quarter" idx="5"/>
          </p:nvPr>
        </p:nvSpPr>
        <p:spPr/>
        <p:txBody>
          <a:bodyPr/>
          <a:lstStyle/>
          <a:p>
            <a:fld id="{81B5B977-0B2D-4610-A9FA-D6352649F8AC}" type="slidenum">
              <a:rPr lang="en-US" smtClean="0"/>
              <a:t>9</a:t>
            </a:fld>
            <a:endParaRPr lang="en-US"/>
          </a:p>
        </p:txBody>
      </p:sp>
    </p:spTree>
    <p:extLst>
      <p:ext uri="{BB962C8B-B14F-4D97-AF65-F5344CB8AC3E}">
        <p14:creationId xmlns:p14="http://schemas.microsoft.com/office/powerpoint/2010/main" val="2760258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FD740-D8E2-8AA5-C92B-97E304E44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9C745-D864-DC4A-E4CF-4429BFB8F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A76FD9-5D00-A82F-8350-0D529C8E28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4E299A-26BC-0BF0-A8FF-65EFED7B173E}"/>
              </a:ext>
            </a:extLst>
          </p:cNvPr>
          <p:cNvSpPr>
            <a:spLocks noGrp="1"/>
          </p:cNvSpPr>
          <p:nvPr>
            <p:ph type="sldNum" sz="quarter" idx="5"/>
          </p:nvPr>
        </p:nvSpPr>
        <p:spPr/>
        <p:txBody>
          <a:bodyPr/>
          <a:lstStyle/>
          <a:p>
            <a:fld id="{81B5B977-0B2D-4610-A9FA-D6352649F8AC}" type="slidenum">
              <a:rPr lang="en-US" smtClean="0"/>
              <a:t>10</a:t>
            </a:fld>
            <a:endParaRPr lang="en-US"/>
          </a:p>
        </p:txBody>
      </p:sp>
    </p:spTree>
    <p:extLst>
      <p:ext uri="{BB962C8B-B14F-4D97-AF65-F5344CB8AC3E}">
        <p14:creationId xmlns:p14="http://schemas.microsoft.com/office/powerpoint/2010/main" val="1715288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5C9D6-E511-EB6D-D454-923B28B58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E040B-9710-8A24-99BB-15B861469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8DF0C4-D062-ADF0-7F7D-2BE9335BBF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DDED59-3197-8182-60E1-27A97D17D5F2}"/>
              </a:ext>
            </a:extLst>
          </p:cNvPr>
          <p:cNvSpPr>
            <a:spLocks noGrp="1"/>
          </p:cNvSpPr>
          <p:nvPr>
            <p:ph type="sldNum" sz="quarter" idx="5"/>
          </p:nvPr>
        </p:nvSpPr>
        <p:spPr/>
        <p:txBody>
          <a:bodyPr/>
          <a:lstStyle/>
          <a:p>
            <a:fld id="{81B5B977-0B2D-4610-A9FA-D6352649F8AC}" type="slidenum">
              <a:rPr lang="en-US" smtClean="0"/>
              <a:t>11</a:t>
            </a:fld>
            <a:endParaRPr lang="en-US"/>
          </a:p>
        </p:txBody>
      </p:sp>
    </p:spTree>
    <p:extLst>
      <p:ext uri="{BB962C8B-B14F-4D97-AF65-F5344CB8AC3E}">
        <p14:creationId xmlns:p14="http://schemas.microsoft.com/office/powerpoint/2010/main" val="2361555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2C2C1-8DC6-C3AB-F21B-7D4C414F6A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39E125-A843-BA88-FAB7-7F18D6E4A1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C138B-2E15-E10A-2F2C-B931E8410F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33E240-BFFB-F417-32AD-5EED660CBEF6}"/>
              </a:ext>
            </a:extLst>
          </p:cNvPr>
          <p:cNvSpPr>
            <a:spLocks noGrp="1"/>
          </p:cNvSpPr>
          <p:nvPr>
            <p:ph type="sldNum" sz="quarter" idx="5"/>
          </p:nvPr>
        </p:nvSpPr>
        <p:spPr/>
        <p:txBody>
          <a:bodyPr/>
          <a:lstStyle/>
          <a:p>
            <a:fld id="{81B5B977-0B2D-4610-A9FA-D6352649F8AC}" type="slidenum">
              <a:rPr lang="en-US" smtClean="0"/>
              <a:t>13</a:t>
            </a:fld>
            <a:endParaRPr lang="en-US"/>
          </a:p>
        </p:txBody>
      </p:sp>
    </p:spTree>
    <p:extLst>
      <p:ext uri="{BB962C8B-B14F-4D97-AF65-F5344CB8AC3E}">
        <p14:creationId xmlns:p14="http://schemas.microsoft.com/office/powerpoint/2010/main" val="3270201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C74C0-094B-28DC-B712-08A4D0C734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B96CD-82AC-64C7-D71D-4B67871000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445D3-1FE2-22CC-B834-42031D97B4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A16502-3519-2C3E-5CB5-A0732E7BA843}"/>
              </a:ext>
            </a:extLst>
          </p:cNvPr>
          <p:cNvSpPr>
            <a:spLocks noGrp="1"/>
          </p:cNvSpPr>
          <p:nvPr>
            <p:ph type="sldNum" sz="quarter" idx="5"/>
          </p:nvPr>
        </p:nvSpPr>
        <p:spPr/>
        <p:txBody>
          <a:bodyPr/>
          <a:lstStyle/>
          <a:p>
            <a:fld id="{81B5B977-0B2D-4610-A9FA-D6352649F8AC}" type="slidenum">
              <a:rPr lang="en-US" smtClean="0"/>
              <a:t>14</a:t>
            </a:fld>
            <a:endParaRPr lang="en-US"/>
          </a:p>
        </p:txBody>
      </p:sp>
    </p:spTree>
    <p:extLst>
      <p:ext uri="{BB962C8B-B14F-4D97-AF65-F5344CB8AC3E}">
        <p14:creationId xmlns:p14="http://schemas.microsoft.com/office/powerpoint/2010/main" val="3955415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F2B3F-6B45-7001-771E-D0F1CE517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FA68F-D724-8CB5-29BF-0F778FD2E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A98A7-BB0B-E1F2-9584-69942D1FF6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E03779-3AE6-0A96-0BED-1BF49C3C23D5}"/>
              </a:ext>
            </a:extLst>
          </p:cNvPr>
          <p:cNvSpPr>
            <a:spLocks noGrp="1"/>
          </p:cNvSpPr>
          <p:nvPr>
            <p:ph type="sldNum" sz="quarter" idx="5"/>
          </p:nvPr>
        </p:nvSpPr>
        <p:spPr/>
        <p:txBody>
          <a:bodyPr/>
          <a:lstStyle/>
          <a:p>
            <a:fld id="{81B5B977-0B2D-4610-A9FA-D6352649F8AC}" type="slidenum">
              <a:rPr lang="en-US" smtClean="0"/>
              <a:t>23</a:t>
            </a:fld>
            <a:endParaRPr lang="en-US"/>
          </a:p>
        </p:txBody>
      </p:sp>
    </p:spTree>
    <p:extLst>
      <p:ext uri="{BB962C8B-B14F-4D97-AF65-F5344CB8AC3E}">
        <p14:creationId xmlns:p14="http://schemas.microsoft.com/office/powerpoint/2010/main" val="4113276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CC9F-153C-5BED-77D1-0EA8FA851C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4AFA1B-9317-E4FA-9E5F-71F307F14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BA73E4-6544-A008-5669-868A3733E124}"/>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ECEB6D09-B653-253C-7468-CB6957216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3E8E0-BCE4-8E2F-3CAF-4A0155F06C56}"/>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63491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D079-863E-8E80-51B0-7CE72BACC0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103BEF-88ED-FA81-799F-132222CC51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772EFB-BE09-46CC-5EB5-923F524CE21A}"/>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4826EFA9-57FE-A7B8-0152-0677077C8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9A541-BCB9-1489-0D4F-34671F1D1B0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0467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1885-73A8-5C98-F85B-FD93EF337A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C37A30-0AAF-9C64-D450-3D3E62C28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DA13C8-8130-0C7A-54B4-8B2AA151012C}"/>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3FD934BF-4EF4-090A-5327-72E3A1116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3C1FC7-CF5C-AD75-EEBC-C726161ED01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46782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6A28B-31B8-90E0-AADB-E4AC95AD4C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A5B33-9A1F-2B19-2C08-444D6F7E55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6D7EEE-51DA-00F0-2BC4-0203809C71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3B6CCE-3D6C-9C92-E8CD-17CF1A156521}"/>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867C9986-80E1-876A-BDE4-EF8F4D69CA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FFCFA4-1493-0C60-41EB-5E0360F8EA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205517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F673-6B17-CAA7-EDD6-EB6A46BEC5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E42013-5E11-D28F-B4C3-E07D6D43AE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74C146-9506-960E-B2C6-114BA15006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EBEDC7-17C2-A78A-F73C-3BFFAAC160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AF650B-E297-256A-06A0-1688F72543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01E005-308A-9E31-CDC4-583D302CCF90}"/>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8" name="Footer Placeholder 7">
            <a:extLst>
              <a:ext uri="{FF2B5EF4-FFF2-40B4-BE49-F238E27FC236}">
                <a16:creationId xmlns:a16="http://schemas.microsoft.com/office/drawing/2014/main" id="{4888BA9C-2513-9724-E7D8-B6AEAE22AF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60F89A-69C7-2DC4-2A67-FB0B568A64EF}"/>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39020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9B60-4ECB-D4C5-8F9C-72E834BA59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469B5F-2004-DA7B-ABF6-7D712B038AE9}"/>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4" name="Footer Placeholder 3">
            <a:extLst>
              <a:ext uri="{FF2B5EF4-FFF2-40B4-BE49-F238E27FC236}">
                <a16:creationId xmlns:a16="http://schemas.microsoft.com/office/drawing/2014/main" id="{EA00A102-A3B7-C8B1-77C9-E4C9BB985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487EC4-7497-0271-3E6A-E842B57483B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020666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E70430-559B-8C59-E57F-58CA50ADF97A}"/>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3" name="Footer Placeholder 2">
            <a:extLst>
              <a:ext uri="{FF2B5EF4-FFF2-40B4-BE49-F238E27FC236}">
                <a16:creationId xmlns:a16="http://schemas.microsoft.com/office/drawing/2014/main" id="{A5199E04-CCEF-3AEF-0EB8-28DACA6714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C6E08-EFFD-76A2-23F6-9951F33CF72A}"/>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5277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980C6-0265-BCB2-D248-70F79E4FA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6C3128-5EA3-9110-61E8-6E54054C5D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6DFD61-4640-6E89-117E-8033F215A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CDAE60-E065-FA6D-E126-F6A63283DD69}"/>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1E7DA105-935B-CDCB-5819-3E9730FC0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2526E-01B6-82CE-B0F6-217F7B28CF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56566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489F-F723-CF7F-7BF9-B198245EF6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1D3A86-032B-BCD7-6A72-9F5BEBC9AF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6F5CEA-D30D-B373-82E9-DCD1FAE807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9203E-0C3D-FD43-06CF-BFC0FE6F73A7}"/>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8D0392B7-3636-A5E9-BA01-ECA6E682D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85FEB-1518-7D4D-8A18-4FE72BCE5F6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962545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48754-A5FA-D976-080B-7F0E83EF78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BD0E94-9358-341D-4038-E768882680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095BA3-992C-3CDB-41CD-646B7C252618}"/>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6EAEFD14-CAE1-5E67-18B9-50B714E34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5021C-74B3-CB99-976A-1F95B561168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995634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E7540-105A-F4AF-F5BE-954009823E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C61B68-319D-3491-F4AB-52C88C4C74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548040-C41C-A2CF-88F3-C132E0479FCB}"/>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ADDF7DA8-1DE6-4EA3-1B7F-D800D360C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EBA4F0-46E8-02C8-7D5F-BE788AB8E0D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50557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EEC4E-DC2D-5EE1-5C7A-4C25929572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D4BA5-8DC3-EE54-47B9-587EBF40AD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1E6DD-3F7D-93DE-45F6-7A594444FC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C9C9E689-9319-DF25-D096-A79BFECCEA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9A93C1-3576-E67E-2759-17A9F78C5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F13C4C-01C6-4528-B855-C0BB2AC8454B}" type="slidenum">
              <a:rPr lang="en-US" smtClean="0"/>
              <a:t>‹#›</a:t>
            </a:fld>
            <a:endParaRPr lang="en-US"/>
          </a:p>
        </p:txBody>
      </p:sp>
    </p:spTree>
    <p:extLst>
      <p:ext uri="{BB962C8B-B14F-4D97-AF65-F5344CB8AC3E}">
        <p14:creationId xmlns:p14="http://schemas.microsoft.com/office/powerpoint/2010/main" val="1616205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4505-984A-784F-B784-AEBB8FD005B0}"/>
              </a:ext>
            </a:extLst>
          </p:cNvPr>
          <p:cNvSpPr>
            <a:spLocks noGrp="1"/>
          </p:cNvSpPr>
          <p:nvPr>
            <p:ph type="ctrTitle"/>
          </p:nvPr>
        </p:nvSpPr>
        <p:spPr>
          <a:xfrm>
            <a:off x="5872805" y="1122363"/>
            <a:ext cx="6197089" cy="2387600"/>
          </a:xfrm>
        </p:spPr>
        <p:txBody>
          <a:bodyPr>
            <a:noAutofit/>
          </a:bodyPr>
          <a:lstStyle/>
          <a:p>
            <a:r>
              <a:rPr lang="en-US" sz="4800" b="1" dirty="0">
                <a:latin typeface="Calibri" panose="020F0502020204030204" pitchFamily="34" charset="0"/>
                <a:cs typeface="Calibri" panose="020F0502020204030204" pitchFamily="34" charset="0"/>
              </a:rPr>
              <a:t>Neurotransmitters</a:t>
            </a:r>
          </a:p>
        </p:txBody>
      </p:sp>
      <p:sp>
        <p:nvSpPr>
          <p:cNvPr id="3" name="Subtitle 2">
            <a:extLst>
              <a:ext uri="{FF2B5EF4-FFF2-40B4-BE49-F238E27FC236}">
                <a16:creationId xmlns:a16="http://schemas.microsoft.com/office/drawing/2014/main" id="{3C4BDEC7-4CE5-0C42-AD2E-FA8453064E39}"/>
              </a:ext>
            </a:extLst>
          </p:cNvPr>
          <p:cNvSpPr>
            <a:spLocks noGrp="1"/>
          </p:cNvSpPr>
          <p:nvPr>
            <p:ph type="subTitle" idx="1"/>
          </p:nvPr>
        </p:nvSpPr>
        <p:spPr>
          <a:xfrm>
            <a:off x="5872805" y="3602038"/>
            <a:ext cx="6197089" cy="1655762"/>
          </a:xfrm>
        </p:spPr>
        <p:txBody>
          <a:bodyPr>
            <a:normAutofit/>
          </a:bodyPr>
          <a:lstStyle/>
          <a:p>
            <a:r>
              <a:rPr lang="en-US" sz="3600" dirty="0"/>
              <a:t>Chad Williams</a:t>
            </a:r>
          </a:p>
          <a:p>
            <a:r>
              <a:rPr lang="en-US" sz="2800" dirty="0"/>
              <a:t>University of Victoria</a:t>
            </a:r>
            <a:endParaRPr lang="en-US" dirty="0"/>
          </a:p>
        </p:txBody>
      </p:sp>
      <p:pic>
        <p:nvPicPr>
          <p:cNvPr id="10" name="Picture 9" descr="A colorful and black and white brain&#10;&#10;AI-generated content may be incorrect.">
            <a:extLst>
              <a:ext uri="{FF2B5EF4-FFF2-40B4-BE49-F238E27FC236}">
                <a16:creationId xmlns:a16="http://schemas.microsoft.com/office/drawing/2014/main" id="{2517674F-1EF5-6501-66B2-CCB81D59B9A8}"/>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63952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7E4F8C96-B1F8-F340-9530-E0398316CFA5}"/>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Communication</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Types of NTs </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Drugs</a:t>
            </a:r>
          </a:p>
        </p:txBody>
      </p:sp>
      <p:pic>
        <p:nvPicPr>
          <p:cNvPr id="2" name="Picture 1" descr="A colorful and black and white brain&#10;&#10;AI-generated content may be incorrect.">
            <a:extLst>
              <a:ext uri="{FF2B5EF4-FFF2-40B4-BE49-F238E27FC236}">
                <a16:creationId xmlns:a16="http://schemas.microsoft.com/office/drawing/2014/main" id="{FF63C198-1FEA-CEA5-594F-622A66BCB8FD}"/>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97783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5D96D-CD48-014C-B20B-9DF914814127}"/>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251CF1AF-7804-B202-EBE0-516B2E02BCA7}"/>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4000" dirty="0">
                <a:solidFill>
                  <a:srgbClr val="FF0000"/>
                </a:solidFill>
                <a:latin typeface="Calibri" panose="020F0502020204030204" pitchFamily="34" charset="0"/>
                <a:cs typeface="Calibri" panose="020F0502020204030204" pitchFamily="34" charset="0"/>
              </a:rPr>
              <a:t>Communication</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Types of NTs </a:t>
            </a:r>
            <a:br>
              <a:rPr lang="en-US" sz="4000" dirty="0">
                <a:latin typeface="Calibri" panose="020F0502020204030204" pitchFamily="34" charset="0"/>
                <a:cs typeface="Calibri" panose="020F0502020204030204" pitchFamily="34" charset="0"/>
              </a:rPr>
            </a:br>
            <a:br>
              <a:rPr lang="en-US" sz="4000" dirty="0">
                <a:latin typeface="Calibri" panose="020F0502020204030204" pitchFamily="34" charset="0"/>
                <a:cs typeface="Calibri" panose="020F0502020204030204" pitchFamily="34" charset="0"/>
              </a:rPr>
            </a:br>
            <a:r>
              <a:rPr lang="en-US" sz="4000" dirty="0">
                <a:latin typeface="Calibri" panose="020F0502020204030204" pitchFamily="34" charset="0"/>
                <a:cs typeface="Calibri" panose="020F0502020204030204" pitchFamily="34" charset="0"/>
              </a:rPr>
              <a:t>Drugs</a:t>
            </a:r>
          </a:p>
        </p:txBody>
      </p:sp>
      <p:pic>
        <p:nvPicPr>
          <p:cNvPr id="2" name="Picture 1" descr="A colorful and black and white brain&#10;&#10;AI-generated content may be incorrect.">
            <a:extLst>
              <a:ext uri="{FF2B5EF4-FFF2-40B4-BE49-F238E27FC236}">
                <a16:creationId xmlns:a16="http://schemas.microsoft.com/office/drawing/2014/main" id="{6EB3C863-4602-290B-699A-13A4B04594DE}"/>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543646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30349-D03E-C016-E461-A1007814784A}"/>
            </a:ext>
          </a:extLst>
        </p:cNvPr>
        <p:cNvGrpSpPr/>
        <p:nvPr/>
      </p:nvGrpSpPr>
      <p:grpSpPr>
        <a:xfrm>
          <a:off x="0" y="0"/>
          <a:ext cx="0" cy="0"/>
          <a:chOff x="0" y="0"/>
          <a:chExt cx="0" cy="0"/>
        </a:xfrm>
      </p:grpSpPr>
      <p:pic>
        <p:nvPicPr>
          <p:cNvPr id="3" name="Content Placeholder 4" descr="The figure shows the Steps in Transmission at a Chemical Synapse. At the top, the Axon is covered by the myelin sheath. Then there is a bulb shaped Synapse in which the thin bulb neck connects with the axon. The synaptic vesicles fall down from the axon area into the synapse. The synaptic vesicles are filled with transmitter molecules. The synaptic vesicles reach the big base of the synapse and open up into the synaptic cleft which is the thin gap between the synapse and the dendrite of the next neuron. There are small transporters in the presynaptic membrane. The dendrite has transmitter receptors on its border that faces the synapse. The steps in transmission are as follows. 1. The action potential is propagated over the presynaptic membrane at the junction between the synapse and axon. 2. Depolarization of the presynaptic terminal leads to influx of C a 2 plus into the synapse through a channel. 3. C a 2 plus causes vesicles to fuse with the presynaptic membrane and release transmitter into the synaptic cleft. 4. The binding of transmitter to neurotransmitter receptors in the postsynaptic membrane opens channels, permitting ion flow and initiating an excitatory or inhibitory postsynaptic potential. 5. Excitatory or inhibitory postsynaptic potentials spread passively over dendrites and the cell body to the axon hillock. 6 a. Enzymes in the synaptic cleft break down excess neurotransmitter. 6 b. Reuptake of transmitter through the transporter slows synaptic action and recycles transmitter for later use. These transmitters enter into the existing vesicles inside the synapse. 7. Transmitter binds to auto receptors in the presynaptic membrane. E P S P or I P S P spread on both sides of the dendrite across cell membrane. ">
            <a:extLst>
              <a:ext uri="{FF2B5EF4-FFF2-40B4-BE49-F238E27FC236}">
                <a16:creationId xmlns:a16="http://schemas.microsoft.com/office/drawing/2014/main" id="{E16AFB8D-959A-9A8C-F747-F3D95643FC97}"/>
              </a:ext>
            </a:extLst>
          </p:cNvPr>
          <p:cNvPicPr>
            <a:picLocks noChangeAspect="1"/>
          </p:cNvPicPr>
          <p:nvPr/>
        </p:nvPicPr>
        <p:blipFill>
          <a:blip r:embed="rId3"/>
          <a:stretch>
            <a:fillRect/>
          </a:stretch>
        </p:blipFill>
        <p:spPr>
          <a:xfrm>
            <a:off x="6715529" y="1285875"/>
            <a:ext cx="5377073" cy="4995863"/>
          </a:xfrm>
          <a:prstGeom prst="rect">
            <a:avLst/>
          </a:prstGeom>
        </p:spPr>
      </p:pic>
      <p:sp>
        <p:nvSpPr>
          <p:cNvPr id="2" name="Title 1">
            <a:extLst>
              <a:ext uri="{FF2B5EF4-FFF2-40B4-BE49-F238E27FC236}">
                <a16:creationId xmlns:a16="http://schemas.microsoft.com/office/drawing/2014/main" id="{0BC14FEB-5F02-C54B-7C5D-DC082E5CA2DA}"/>
              </a:ext>
            </a:extLst>
          </p:cNvPr>
          <p:cNvSpPr>
            <a:spLocks noGrp="1"/>
          </p:cNvSpPr>
          <p:nvPr>
            <p:ph type="title"/>
          </p:nvPr>
        </p:nvSpPr>
        <p:spPr/>
        <p:txBody>
          <a:bodyPr/>
          <a:lstStyle/>
          <a:p>
            <a:r>
              <a:rPr lang="en-US" dirty="0"/>
              <a:t>Neurotransmitters</a:t>
            </a:r>
          </a:p>
        </p:txBody>
      </p:sp>
      <p:sp>
        <p:nvSpPr>
          <p:cNvPr id="6" name="Content Placeholder 5">
            <a:extLst>
              <a:ext uri="{FF2B5EF4-FFF2-40B4-BE49-F238E27FC236}">
                <a16:creationId xmlns:a16="http://schemas.microsoft.com/office/drawing/2014/main" id="{753086CB-49C5-83E1-FF34-BCFA9FCAFA09}"/>
              </a:ext>
            </a:extLst>
          </p:cNvPr>
          <p:cNvSpPr>
            <a:spLocks noGrp="1"/>
          </p:cNvSpPr>
          <p:nvPr>
            <p:ph idx="1"/>
          </p:nvPr>
        </p:nvSpPr>
        <p:spPr>
          <a:xfrm>
            <a:off x="838200" y="1825625"/>
            <a:ext cx="5962650" cy="4775200"/>
          </a:xfrm>
        </p:spPr>
        <p:txBody>
          <a:bodyPr>
            <a:normAutofit lnSpcReduction="10000"/>
          </a:bodyPr>
          <a:lstStyle/>
          <a:p>
            <a:pPr marL="0" indent="0">
              <a:buNone/>
            </a:pPr>
            <a:r>
              <a:rPr lang="en-US" b="1" dirty="0"/>
              <a:t>Neurotransmitter release: </a:t>
            </a:r>
          </a:p>
          <a:p>
            <a:r>
              <a:rPr lang="en-US" dirty="0"/>
              <a:t>The action potential ends in the axon terminal, which triggers communication with other neurons</a:t>
            </a:r>
          </a:p>
          <a:p>
            <a:pPr lvl="1"/>
            <a:endParaRPr lang="en-US" dirty="0"/>
          </a:p>
          <a:p>
            <a:r>
              <a:rPr lang="en-US" dirty="0"/>
              <a:t>Action potentials result in calcium (Ca</a:t>
            </a:r>
            <a:r>
              <a:rPr lang="en-US" baseline="30000" dirty="0"/>
              <a:t>2+</a:t>
            </a:r>
            <a:r>
              <a:rPr lang="en-US" dirty="0"/>
              <a:t>) entering the terminal</a:t>
            </a:r>
          </a:p>
          <a:p>
            <a:pPr lvl="1"/>
            <a:r>
              <a:rPr lang="en-US" dirty="0"/>
              <a:t>Causes Vesicles to fuse with membrane</a:t>
            </a:r>
          </a:p>
          <a:p>
            <a:pPr lvl="1"/>
            <a:r>
              <a:rPr lang="en-US" b="1" dirty="0"/>
              <a:t>Exocytosis</a:t>
            </a:r>
            <a:r>
              <a:rPr lang="en-US" dirty="0"/>
              <a:t>: Vesicle fusing which releases neurotransmitters in the synaptic cleft </a:t>
            </a:r>
          </a:p>
        </p:txBody>
      </p:sp>
      <p:pic>
        <p:nvPicPr>
          <p:cNvPr id="4" name="Content Placeholder 6" descr="The synaptic inputs of minus and plus land on the cell. Excitory inputs cause the cell to fire. Threshold is reached and action potential is triggered from the axon hillock. Inhibition also plays a role. Inhibition counteracts excitation; no action potential is triggered. The cell integrates excitation and inhibition. Additional excitation overcomes inhibition; action potential triggered. ">
            <a:extLst>
              <a:ext uri="{FF2B5EF4-FFF2-40B4-BE49-F238E27FC236}">
                <a16:creationId xmlns:a16="http://schemas.microsoft.com/office/drawing/2014/main" id="{2BA50F20-7095-4E73-921A-3CE68366C300}"/>
              </a:ext>
            </a:extLst>
          </p:cNvPr>
          <p:cNvPicPr>
            <a:picLocks noChangeAspect="1"/>
          </p:cNvPicPr>
          <p:nvPr/>
        </p:nvPicPr>
        <p:blipFill>
          <a:blip r:embed="rId4"/>
          <a:srcRect l="66662" t="8510" r="768" b="6855"/>
          <a:stretch>
            <a:fillRect/>
          </a:stretch>
        </p:blipFill>
        <p:spPr>
          <a:xfrm>
            <a:off x="10061290" y="365125"/>
            <a:ext cx="1797335" cy="1654103"/>
          </a:xfrm>
          <a:prstGeom prst="rect">
            <a:avLst/>
          </a:prstGeom>
        </p:spPr>
      </p:pic>
      <p:sp>
        <p:nvSpPr>
          <p:cNvPr id="5" name="Rectangle 4">
            <a:extLst>
              <a:ext uri="{FF2B5EF4-FFF2-40B4-BE49-F238E27FC236}">
                <a16:creationId xmlns:a16="http://schemas.microsoft.com/office/drawing/2014/main" id="{09C0934C-4AF6-4953-B2C8-0B15C1B3E329}"/>
              </a:ext>
            </a:extLst>
          </p:cNvPr>
          <p:cNvSpPr/>
          <p:nvPr/>
        </p:nvSpPr>
        <p:spPr>
          <a:xfrm>
            <a:off x="11049000" y="365125"/>
            <a:ext cx="790575" cy="444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91FEC28-3107-B6E3-5FB6-16B78CA435E4}"/>
              </a:ext>
            </a:extLst>
          </p:cNvPr>
          <p:cNvSpPr/>
          <p:nvPr/>
        </p:nvSpPr>
        <p:spPr>
          <a:xfrm>
            <a:off x="7748587" y="5438777"/>
            <a:ext cx="87630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D165FB7-77EC-4B97-CD53-7AE02CD84355}"/>
              </a:ext>
            </a:extLst>
          </p:cNvPr>
          <p:cNvSpPr/>
          <p:nvPr/>
        </p:nvSpPr>
        <p:spPr>
          <a:xfrm>
            <a:off x="9184990" y="5438777"/>
            <a:ext cx="109566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2E7F6BB-075B-B13C-2A94-A90C800E57D3}"/>
              </a:ext>
            </a:extLst>
          </p:cNvPr>
          <p:cNvSpPr/>
          <p:nvPr/>
        </p:nvSpPr>
        <p:spPr>
          <a:xfrm>
            <a:off x="10521806" y="5438777"/>
            <a:ext cx="1016143" cy="358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63985CD-778A-4F3F-ACD9-1F201F0A4B77}"/>
              </a:ext>
            </a:extLst>
          </p:cNvPr>
          <p:cNvSpPr/>
          <p:nvPr/>
        </p:nvSpPr>
        <p:spPr>
          <a:xfrm>
            <a:off x="6894155" y="3552826"/>
            <a:ext cx="1132245" cy="549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9251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F1755-CF51-F3DE-0897-0B1A78AA0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20085-D0A3-3494-4A14-3437481BEBA1}"/>
              </a:ext>
            </a:extLst>
          </p:cNvPr>
          <p:cNvSpPr>
            <a:spLocks noGrp="1"/>
          </p:cNvSpPr>
          <p:nvPr>
            <p:ph type="title"/>
          </p:nvPr>
        </p:nvSpPr>
        <p:spPr/>
        <p:txBody>
          <a:bodyPr/>
          <a:lstStyle/>
          <a:p>
            <a:r>
              <a:rPr lang="en-US" dirty="0"/>
              <a:t>Neurotransmitters</a:t>
            </a:r>
          </a:p>
        </p:txBody>
      </p:sp>
      <p:sp>
        <p:nvSpPr>
          <p:cNvPr id="6" name="Content Placeholder 5">
            <a:extLst>
              <a:ext uri="{FF2B5EF4-FFF2-40B4-BE49-F238E27FC236}">
                <a16:creationId xmlns:a16="http://schemas.microsoft.com/office/drawing/2014/main" id="{359D8410-8067-09CA-50EC-61F7B7E44239}"/>
              </a:ext>
            </a:extLst>
          </p:cNvPr>
          <p:cNvSpPr>
            <a:spLocks noGrp="1"/>
          </p:cNvSpPr>
          <p:nvPr>
            <p:ph idx="1"/>
          </p:nvPr>
        </p:nvSpPr>
        <p:spPr>
          <a:xfrm>
            <a:off x="838199" y="1825625"/>
            <a:ext cx="7908893" cy="4775200"/>
          </a:xfrm>
        </p:spPr>
        <p:txBody>
          <a:bodyPr>
            <a:normAutofit/>
          </a:bodyPr>
          <a:lstStyle/>
          <a:p>
            <a:pPr marL="0" indent="0">
              <a:buNone/>
            </a:pPr>
            <a:r>
              <a:rPr lang="en-US" b="1" dirty="0"/>
              <a:t>Neurotransmitter (NT) Release</a:t>
            </a:r>
          </a:p>
          <a:p>
            <a:r>
              <a:rPr lang="en-US" dirty="0"/>
              <a:t>Within an axon terminal, neurotransmitters are held within </a:t>
            </a:r>
            <a:r>
              <a:rPr lang="en-US" i="1" dirty="0"/>
              <a:t>vesicles</a:t>
            </a:r>
          </a:p>
          <a:p>
            <a:r>
              <a:rPr lang="en-US" dirty="0"/>
              <a:t>An action potential at the axon terminal results in the intake of </a:t>
            </a:r>
            <a:r>
              <a:rPr lang="en-US" i="1" dirty="0"/>
              <a:t>calcium</a:t>
            </a:r>
            <a:r>
              <a:rPr lang="en-US" dirty="0"/>
              <a:t> (Ca</a:t>
            </a:r>
            <a:r>
              <a:rPr lang="en-US" baseline="30000" dirty="0"/>
              <a:t>2+</a:t>
            </a:r>
            <a:r>
              <a:rPr lang="en-US" dirty="0"/>
              <a:t>)</a:t>
            </a:r>
          </a:p>
          <a:p>
            <a:r>
              <a:rPr lang="en-US" dirty="0"/>
              <a:t>These calcium ions bind to </a:t>
            </a:r>
            <a:r>
              <a:rPr lang="en-US" i="1" dirty="0" err="1"/>
              <a:t>synaptotagmin</a:t>
            </a:r>
            <a:r>
              <a:rPr lang="en-US" dirty="0"/>
              <a:t>, which in turn bind to </a:t>
            </a:r>
            <a:r>
              <a:rPr lang="en-US" i="1" dirty="0"/>
              <a:t>SNARE proteins</a:t>
            </a:r>
            <a:r>
              <a:rPr lang="en-US" dirty="0"/>
              <a:t> on the membrane</a:t>
            </a:r>
            <a:endParaRPr lang="en-US" i="1" dirty="0"/>
          </a:p>
          <a:p>
            <a:r>
              <a:rPr lang="en-US" dirty="0"/>
              <a:t>This binding pulls the vesicle towards the membrane</a:t>
            </a:r>
          </a:p>
        </p:txBody>
      </p:sp>
      <p:sp>
        <p:nvSpPr>
          <p:cNvPr id="5" name="Rectangle 4">
            <a:extLst>
              <a:ext uri="{FF2B5EF4-FFF2-40B4-BE49-F238E27FC236}">
                <a16:creationId xmlns:a16="http://schemas.microsoft.com/office/drawing/2014/main" id="{C5670DEE-D633-E14F-369E-984CDCD1DE8E}"/>
              </a:ext>
            </a:extLst>
          </p:cNvPr>
          <p:cNvSpPr/>
          <p:nvPr/>
        </p:nvSpPr>
        <p:spPr>
          <a:xfrm>
            <a:off x="11049000" y="365125"/>
            <a:ext cx="790575" cy="444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B76644-180B-A09D-7C2F-014444AC79DB}"/>
              </a:ext>
            </a:extLst>
          </p:cNvPr>
          <p:cNvSpPr/>
          <p:nvPr/>
        </p:nvSpPr>
        <p:spPr>
          <a:xfrm>
            <a:off x="10521806" y="5438777"/>
            <a:ext cx="1016143" cy="358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6" descr="Snares and Synaptotagmin Mediate Exocytosis is as follows. From the undocked vesicle, synaptotagmin and v snare come out. Between the calcium 2 plus channels there are u shaped and straight T snares. In the docked vesicle, the V snare and T snare entangle with each other. Entering calcium 2 plus binds to synaptotagmin. Calcium 2 plus bound synaptotagmin catalyzes&#10;membrane fusion by binding to snares and the plasma membrane. &#10;">
            <a:extLst>
              <a:ext uri="{FF2B5EF4-FFF2-40B4-BE49-F238E27FC236}">
                <a16:creationId xmlns:a16="http://schemas.microsoft.com/office/drawing/2014/main" id="{0CE4C7F4-BD40-DC08-4188-7017791BAA3A}"/>
              </a:ext>
            </a:extLst>
          </p:cNvPr>
          <p:cNvPicPr>
            <a:picLocks noChangeAspect="1"/>
          </p:cNvPicPr>
          <p:nvPr/>
        </p:nvPicPr>
        <p:blipFill>
          <a:blip r:embed="rId3"/>
          <a:stretch>
            <a:fillRect/>
          </a:stretch>
        </p:blipFill>
        <p:spPr>
          <a:xfrm>
            <a:off x="9410356" y="278606"/>
            <a:ext cx="2429219" cy="6300788"/>
          </a:xfrm>
          <a:prstGeom prst="rect">
            <a:avLst/>
          </a:prstGeom>
        </p:spPr>
      </p:pic>
    </p:spTree>
    <p:extLst>
      <p:ext uri="{BB962C8B-B14F-4D97-AF65-F5344CB8AC3E}">
        <p14:creationId xmlns:p14="http://schemas.microsoft.com/office/powerpoint/2010/main" val="416469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D8A66-52AF-216C-C19D-8BDFC7F569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BEC32-DA8E-1664-2E51-01EED3E6E1F8}"/>
              </a:ext>
            </a:extLst>
          </p:cNvPr>
          <p:cNvSpPr>
            <a:spLocks noGrp="1"/>
          </p:cNvSpPr>
          <p:nvPr>
            <p:ph type="title"/>
          </p:nvPr>
        </p:nvSpPr>
        <p:spPr/>
        <p:txBody>
          <a:bodyPr/>
          <a:lstStyle/>
          <a:p>
            <a:r>
              <a:rPr lang="en-US" dirty="0"/>
              <a:t>Neurotransmitters</a:t>
            </a:r>
          </a:p>
        </p:txBody>
      </p:sp>
      <p:sp>
        <p:nvSpPr>
          <p:cNvPr id="6" name="Content Placeholder 5">
            <a:extLst>
              <a:ext uri="{FF2B5EF4-FFF2-40B4-BE49-F238E27FC236}">
                <a16:creationId xmlns:a16="http://schemas.microsoft.com/office/drawing/2014/main" id="{E0C53CC0-59DF-68E4-6C35-F75269942883}"/>
              </a:ext>
            </a:extLst>
          </p:cNvPr>
          <p:cNvSpPr>
            <a:spLocks noGrp="1"/>
          </p:cNvSpPr>
          <p:nvPr>
            <p:ph idx="1"/>
          </p:nvPr>
        </p:nvSpPr>
        <p:spPr>
          <a:xfrm>
            <a:off x="838199" y="1825625"/>
            <a:ext cx="11210925" cy="3089275"/>
          </a:xfrm>
        </p:spPr>
        <p:txBody>
          <a:bodyPr>
            <a:normAutofit lnSpcReduction="10000"/>
          </a:bodyPr>
          <a:lstStyle/>
          <a:p>
            <a:pPr marL="0" indent="0">
              <a:buNone/>
            </a:pPr>
            <a:r>
              <a:rPr lang="en-US" b="1" dirty="0"/>
              <a:t>Neurotransmitters (NT) in the Cleft</a:t>
            </a:r>
          </a:p>
          <a:p>
            <a:r>
              <a:rPr lang="en-US" dirty="0"/>
              <a:t>Vesicles are built as lipid bilayers, the same thing the membrane is built from, so it easily combines with the membrane, releasing the NT</a:t>
            </a:r>
          </a:p>
          <a:p>
            <a:r>
              <a:rPr lang="en-US" dirty="0"/>
              <a:t>NTs then float in the extracellular space (within the synaptic cleft) and may bind to receptors on the next neuron’s membrane</a:t>
            </a:r>
          </a:p>
          <a:p>
            <a:pPr lvl="1"/>
            <a:r>
              <a:rPr lang="en-US" dirty="0"/>
              <a:t>Binding is the communication between the first and second neuron</a:t>
            </a:r>
          </a:p>
          <a:p>
            <a:pPr lvl="1"/>
            <a:r>
              <a:rPr lang="en-US" dirty="0"/>
              <a:t>The same NT may cause very different responses depending on the bound receptor</a:t>
            </a:r>
          </a:p>
          <a:p>
            <a:pPr lvl="1"/>
            <a:endParaRPr lang="en-US" dirty="0"/>
          </a:p>
          <a:p>
            <a:pPr lvl="1"/>
            <a:endParaRPr lang="en-US" dirty="0"/>
          </a:p>
          <a:p>
            <a:pPr lvl="1"/>
            <a:endParaRPr lang="en-US" dirty="0"/>
          </a:p>
          <a:p>
            <a:pPr lvl="1"/>
            <a:endParaRPr lang="en-US" dirty="0"/>
          </a:p>
        </p:txBody>
      </p:sp>
      <p:sp>
        <p:nvSpPr>
          <p:cNvPr id="5" name="Rectangle 4">
            <a:extLst>
              <a:ext uri="{FF2B5EF4-FFF2-40B4-BE49-F238E27FC236}">
                <a16:creationId xmlns:a16="http://schemas.microsoft.com/office/drawing/2014/main" id="{4642C305-ECC1-4D0C-96F7-DDA5C2E7FE84}"/>
              </a:ext>
            </a:extLst>
          </p:cNvPr>
          <p:cNvSpPr/>
          <p:nvPr/>
        </p:nvSpPr>
        <p:spPr>
          <a:xfrm>
            <a:off x="11049000" y="365125"/>
            <a:ext cx="790575" cy="444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C2AF9FF-44B3-7FB0-FF71-67959D6E7305}"/>
              </a:ext>
            </a:extLst>
          </p:cNvPr>
          <p:cNvSpPr/>
          <p:nvPr/>
        </p:nvSpPr>
        <p:spPr>
          <a:xfrm>
            <a:off x="10521806" y="5438777"/>
            <a:ext cx="1016143" cy="358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6" descr="Drug effects on post synaptic mechanisms are as follows. Effects on Transmitter Receptors. 1, Blockade of receptors. Example: Antipsychotic drugs like haloperidol block some dopamine receptors.2, Activation of receptors. Example: Nicotine activates A C h receptors. L S D is an agonist at some serotonin receptors. Box B, Effects on Cellular Processes. 3, Alteration of the number of postsynaptic receptors. Example: Alcohol increases the number of receptors for the inhibitory transmitter GABA. 4, Modulation of second messengers. Example: Lithium, used to treat of bipolar disorder, inhibits the second messenger cyclic A M P.">
            <a:extLst>
              <a:ext uri="{FF2B5EF4-FFF2-40B4-BE49-F238E27FC236}">
                <a16:creationId xmlns:a16="http://schemas.microsoft.com/office/drawing/2014/main" id="{BD7B21F3-2B78-85BA-8F90-7C2EE1DD6E26}"/>
              </a:ext>
            </a:extLst>
          </p:cNvPr>
          <p:cNvPicPr>
            <a:picLocks noChangeAspect="1"/>
          </p:cNvPicPr>
          <p:nvPr/>
        </p:nvPicPr>
        <p:blipFill>
          <a:blip r:embed="rId3"/>
          <a:srcRect b="37415"/>
          <a:stretch>
            <a:fillRect/>
          </a:stretch>
        </p:blipFill>
        <p:spPr>
          <a:xfrm>
            <a:off x="3036474" y="4604871"/>
            <a:ext cx="6119052" cy="2130891"/>
          </a:xfrm>
          <a:prstGeom prst="rect">
            <a:avLst/>
          </a:prstGeom>
        </p:spPr>
      </p:pic>
    </p:spTree>
    <p:extLst>
      <p:ext uri="{BB962C8B-B14F-4D97-AF65-F5344CB8AC3E}">
        <p14:creationId xmlns:p14="http://schemas.microsoft.com/office/powerpoint/2010/main" val="3779145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13420-C20D-CF59-F242-95B326CC8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5C4C2-01CD-42F2-5E16-38070EF75712}"/>
              </a:ext>
            </a:extLst>
          </p:cNvPr>
          <p:cNvSpPr>
            <a:spLocks noGrp="1"/>
          </p:cNvSpPr>
          <p:nvPr>
            <p:ph type="title"/>
          </p:nvPr>
        </p:nvSpPr>
        <p:spPr/>
        <p:txBody>
          <a:bodyPr/>
          <a:lstStyle/>
          <a:p>
            <a:r>
              <a:rPr lang="en-US" dirty="0"/>
              <a:t>Neurotransmitters</a:t>
            </a:r>
          </a:p>
        </p:txBody>
      </p:sp>
      <p:sp>
        <p:nvSpPr>
          <p:cNvPr id="6" name="Content Placeholder 5">
            <a:extLst>
              <a:ext uri="{FF2B5EF4-FFF2-40B4-BE49-F238E27FC236}">
                <a16:creationId xmlns:a16="http://schemas.microsoft.com/office/drawing/2014/main" id="{736AEEBB-EC57-DFAF-9A91-87EFEAEE94B6}"/>
              </a:ext>
            </a:extLst>
          </p:cNvPr>
          <p:cNvSpPr>
            <a:spLocks noGrp="1"/>
          </p:cNvSpPr>
          <p:nvPr>
            <p:ph idx="1"/>
          </p:nvPr>
        </p:nvSpPr>
        <p:spPr>
          <a:xfrm>
            <a:off x="838199" y="1825625"/>
            <a:ext cx="11096625" cy="2316857"/>
          </a:xfrm>
        </p:spPr>
        <p:txBody>
          <a:bodyPr>
            <a:normAutofit lnSpcReduction="10000"/>
          </a:bodyPr>
          <a:lstStyle/>
          <a:p>
            <a:pPr marL="0" indent="0">
              <a:buNone/>
            </a:pPr>
            <a:r>
              <a:rPr lang="en-US" b="1" dirty="0"/>
              <a:t>Neurotransmitters (NT) in the Cleft</a:t>
            </a:r>
          </a:p>
          <a:p>
            <a:r>
              <a:rPr lang="en-US" dirty="0"/>
              <a:t>When NTs do not bind to next neuron:</a:t>
            </a:r>
          </a:p>
          <a:p>
            <a:pPr lvl="1"/>
            <a:r>
              <a:rPr lang="en-US" b="1" dirty="0"/>
              <a:t>Degradation</a:t>
            </a:r>
            <a:r>
              <a:rPr lang="en-US" dirty="0"/>
              <a:t>: Broken down by enzymes in the synaptic cleft</a:t>
            </a:r>
          </a:p>
          <a:p>
            <a:pPr lvl="1"/>
            <a:r>
              <a:rPr lang="en-US" b="1" dirty="0"/>
              <a:t>Reuptake</a:t>
            </a:r>
            <a:r>
              <a:rPr lang="en-US" dirty="0"/>
              <a:t>: Absorbed by the first neuron through </a:t>
            </a:r>
            <a:r>
              <a:rPr lang="en-US" i="1" dirty="0"/>
              <a:t>transporters </a:t>
            </a:r>
            <a:r>
              <a:rPr lang="en-US" dirty="0"/>
              <a:t>for reuse</a:t>
            </a:r>
            <a:endParaRPr lang="en-US" i="1" dirty="0"/>
          </a:p>
          <a:p>
            <a:pPr lvl="2"/>
            <a:r>
              <a:rPr lang="en-US" dirty="0"/>
              <a:t>Repackaged into vesicles or degradation</a:t>
            </a:r>
          </a:p>
          <a:p>
            <a:pPr lvl="2"/>
            <a:r>
              <a:rPr lang="en-US" b="1" dirty="0"/>
              <a:t>Glial Reuptake</a:t>
            </a:r>
            <a:r>
              <a:rPr lang="en-US" dirty="0"/>
              <a:t>: NTs can also be absorbed by supporting glial cells</a:t>
            </a:r>
          </a:p>
          <a:p>
            <a:endParaRPr lang="en-US" dirty="0"/>
          </a:p>
        </p:txBody>
      </p:sp>
      <p:sp>
        <p:nvSpPr>
          <p:cNvPr id="5" name="Rectangle 4">
            <a:extLst>
              <a:ext uri="{FF2B5EF4-FFF2-40B4-BE49-F238E27FC236}">
                <a16:creationId xmlns:a16="http://schemas.microsoft.com/office/drawing/2014/main" id="{F54C1CE8-5C39-AA72-9F97-89A1F06B0F85}"/>
              </a:ext>
            </a:extLst>
          </p:cNvPr>
          <p:cNvSpPr/>
          <p:nvPr/>
        </p:nvSpPr>
        <p:spPr>
          <a:xfrm>
            <a:off x="11049000" y="365125"/>
            <a:ext cx="790575" cy="444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295218-2F1D-BAF6-CCEB-13A2D2F2E43E}"/>
              </a:ext>
            </a:extLst>
          </p:cNvPr>
          <p:cNvSpPr/>
          <p:nvPr/>
        </p:nvSpPr>
        <p:spPr>
          <a:xfrm>
            <a:off x="10521806" y="5438777"/>
            <a:ext cx="1016143" cy="358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Content Placeholder 4" descr="The figure shows the Steps in Transmission at a Chemical Synapse. At the top, the Axon is covered by the myelin sheath. Then there is a bulb shaped Synapse in which the thin bulb neck connects with the axon. The synaptic vesicles fall down from the axon area into the synapse. The synaptic vesicles are filled with transmitter molecules. The synaptic vesicles reach the big base of the synapse and open up into the synaptic cleft which is the thin gap between the synapse and the dendrite of the next neuron. There are small transporters in the presynaptic membrane. The dendrite has transmitter receptors on its border that faces the synapse. The steps in transmission are as follows. 1. The action potential is propagated over the presynaptic membrane at the junction between the synapse and axon. 2. Depolarization of the presynaptic terminal leads to influx of C a 2 plus into the synapse through a channel. 3. C a 2 plus causes vesicles to fuse with the presynaptic membrane and release transmitter into the synaptic cleft. 4. The binding of transmitter to neurotransmitter receptors in the postsynaptic membrane opens channels, permitting ion flow and initiating an excitatory or inhibitory postsynaptic potential. 5. Excitatory or inhibitory postsynaptic potentials spread passively over dendrites and the cell body to the axon hillock. 6 a. Enzymes in the synaptic cleft break down excess neurotransmitter. 6 b. Reuptake of transmitter through the transporter slows synaptic action and recycles transmitter for later use. These transmitters enter into the existing vesicles inside the synapse. 7. Transmitter binds to auto receptors in the presynaptic membrane. E P S P or I P S P spread on both sides of the dendrite across cell membrane. ">
            <a:extLst>
              <a:ext uri="{FF2B5EF4-FFF2-40B4-BE49-F238E27FC236}">
                <a16:creationId xmlns:a16="http://schemas.microsoft.com/office/drawing/2014/main" id="{E5B33AD2-0379-F3D6-42A7-6DC8D532219A}"/>
              </a:ext>
            </a:extLst>
          </p:cNvPr>
          <p:cNvPicPr>
            <a:picLocks noChangeAspect="1"/>
          </p:cNvPicPr>
          <p:nvPr/>
        </p:nvPicPr>
        <p:blipFill>
          <a:blip r:embed="rId3"/>
          <a:srcRect t="57726" b="5219"/>
          <a:stretch>
            <a:fillRect/>
          </a:stretch>
        </p:blipFill>
        <p:spPr>
          <a:xfrm>
            <a:off x="2330826" y="4142482"/>
            <a:ext cx="7530348" cy="2592590"/>
          </a:xfrm>
          <a:prstGeom prst="rect">
            <a:avLst/>
          </a:prstGeom>
        </p:spPr>
      </p:pic>
    </p:spTree>
    <p:extLst>
      <p:ext uri="{BB962C8B-B14F-4D97-AF65-F5344CB8AC3E}">
        <p14:creationId xmlns:p14="http://schemas.microsoft.com/office/powerpoint/2010/main" val="237249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543F4-04F8-6085-A49B-47D1E2FF6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FB696-698F-A06D-98F4-146462C68086}"/>
              </a:ext>
            </a:extLst>
          </p:cNvPr>
          <p:cNvSpPr>
            <a:spLocks noGrp="1"/>
          </p:cNvSpPr>
          <p:nvPr>
            <p:ph type="title"/>
          </p:nvPr>
        </p:nvSpPr>
        <p:spPr/>
        <p:txBody>
          <a:bodyPr/>
          <a:lstStyle/>
          <a:p>
            <a:r>
              <a:rPr lang="en-US" dirty="0"/>
              <a:t>Neurotransmitters</a:t>
            </a:r>
          </a:p>
        </p:txBody>
      </p:sp>
      <p:sp>
        <p:nvSpPr>
          <p:cNvPr id="6" name="Content Placeholder 5">
            <a:extLst>
              <a:ext uri="{FF2B5EF4-FFF2-40B4-BE49-F238E27FC236}">
                <a16:creationId xmlns:a16="http://schemas.microsoft.com/office/drawing/2014/main" id="{C3545605-2D16-9AFB-F9C4-80B83C004908}"/>
              </a:ext>
            </a:extLst>
          </p:cNvPr>
          <p:cNvSpPr>
            <a:spLocks noGrp="1"/>
          </p:cNvSpPr>
          <p:nvPr>
            <p:ph idx="1"/>
          </p:nvPr>
        </p:nvSpPr>
        <p:spPr>
          <a:xfrm>
            <a:off x="838199" y="1825625"/>
            <a:ext cx="11096625" cy="4775200"/>
          </a:xfrm>
        </p:spPr>
        <p:txBody>
          <a:bodyPr>
            <a:normAutofit/>
          </a:bodyPr>
          <a:lstStyle/>
          <a:p>
            <a:pPr marL="0" indent="0">
              <a:buNone/>
            </a:pPr>
            <a:r>
              <a:rPr lang="en-US" b="1" dirty="0"/>
              <a:t>Neurotransmitters (NT) in the Cleft</a:t>
            </a:r>
          </a:p>
          <a:p>
            <a:r>
              <a:rPr lang="en-US" dirty="0"/>
              <a:t>When NTs do not bind to next neuron:</a:t>
            </a:r>
          </a:p>
          <a:p>
            <a:pPr lvl="1"/>
            <a:r>
              <a:rPr lang="en-US" b="1" dirty="0" err="1"/>
              <a:t>Autoreceptors</a:t>
            </a:r>
            <a:r>
              <a:rPr lang="en-US" dirty="0"/>
              <a:t>: Receptors on the first cell used as a signal for change</a:t>
            </a:r>
          </a:p>
          <a:p>
            <a:pPr lvl="2"/>
            <a:r>
              <a:rPr lang="en-US" b="1" dirty="0"/>
              <a:t>Feedback Loop</a:t>
            </a:r>
            <a:r>
              <a:rPr lang="en-US" dirty="0"/>
              <a:t>: </a:t>
            </a:r>
            <a:r>
              <a:rPr lang="en-US" dirty="0" err="1"/>
              <a:t>Autoreceptor</a:t>
            </a:r>
            <a:r>
              <a:rPr lang="en-US" dirty="0"/>
              <a:t> binding indicates too many NTs were released and can cause the first neuron to produce less in the future</a:t>
            </a:r>
          </a:p>
          <a:p>
            <a:pPr lvl="1"/>
            <a:endParaRPr lang="en-US" dirty="0"/>
          </a:p>
          <a:p>
            <a:pPr lvl="2"/>
            <a:endParaRPr lang="en-US" dirty="0"/>
          </a:p>
          <a:p>
            <a:endParaRPr lang="en-US" dirty="0"/>
          </a:p>
        </p:txBody>
      </p:sp>
      <p:sp>
        <p:nvSpPr>
          <p:cNvPr id="5" name="Rectangle 4">
            <a:extLst>
              <a:ext uri="{FF2B5EF4-FFF2-40B4-BE49-F238E27FC236}">
                <a16:creationId xmlns:a16="http://schemas.microsoft.com/office/drawing/2014/main" id="{B3E666DC-3E9D-D0A5-484A-54E1C3E404F5}"/>
              </a:ext>
            </a:extLst>
          </p:cNvPr>
          <p:cNvSpPr/>
          <p:nvPr/>
        </p:nvSpPr>
        <p:spPr>
          <a:xfrm>
            <a:off x="11049000" y="365125"/>
            <a:ext cx="790575" cy="444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223D9F3-8AAB-FDA5-9077-8D05FE5D45BA}"/>
              </a:ext>
            </a:extLst>
          </p:cNvPr>
          <p:cNvSpPr/>
          <p:nvPr/>
        </p:nvSpPr>
        <p:spPr>
          <a:xfrm>
            <a:off x="10521806" y="5438777"/>
            <a:ext cx="1016143" cy="358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4" descr="The figure shows the Steps in Transmission at a Chemical Synapse. At the top, the Axon is covered by the myelin sheath. Then there is a bulb shaped Synapse in which the thin bulb neck connects with the axon. The synaptic vesicles fall down from the axon area into the synapse. The synaptic vesicles are filled with transmitter molecules. The synaptic vesicles reach the big base of the synapse and open up into the synaptic cleft which is the thin gap between the synapse and the dendrite of the next neuron. There are small transporters in the presynaptic membrane. The dendrite has transmitter receptors on its border that faces the synapse. The steps in transmission are as follows. 1. The action potential is propagated over the presynaptic membrane at the junction between the synapse and axon. 2. Depolarization of the presynaptic terminal leads to influx of C a 2 plus into the synapse through a channel. 3. C a 2 plus causes vesicles to fuse with the presynaptic membrane and release transmitter into the synaptic cleft. 4. The binding of transmitter to neurotransmitter receptors in the postsynaptic membrane opens channels, permitting ion flow and initiating an excitatory or inhibitory postsynaptic potential. 5. Excitatory or inhibitory postsynaptic potentials spread passively over dendrites and the cell body to the axon hillock. 6 a. Enzymes in the synaptic cleft break down excess neurotransmitter. 6 b. Reuptake of transmitter through the transporter slows synaptic action and recycles transmitter for later use. These transmitters enter into the existing vesicles inside the synapse. 7. Transmitter binds to auto receptors in the presynaptic membrane. E P S P or I P S P spread on both sides of the dendrite across cell membrane. ">
            <a:extLst>
              <a:ext uri="{FF2B5EF4-FFF2-40B4-BE49-F238E27FC236}">
                <a16:creationId xmlns:a16="http://schemas.microsoft.com/office/drawing/2014/main" id="{A16675B8-0EBD-9231-A281-D39190C98C77}"/>
              </a:ext>
            </a:extLst>
          </p:cNvPr>
          <p:cNvPicPr>
            <a:picLocks noChangeAspect="1"/>
          </p:cNvPicPr>
          <p:nvPr/>
        </p:nvPicPr>
        <p:blipFill>
          <a:blip r:embed="rId3"/>
          <a:srcRect t="57726" b="5219"/>
          <a:stretch>
            <a:fillRect/>
          </a:stretch>
        </p:blipFill>
        <p:spPr>
          <a:xfrm>
            <a:off x="2330826" y="4142482"/>
            <a:ext cx="7530348" cy="2592590"/>
          </a:xfrm>
          <a:prstGeom prst="rect">
            <a:avLst/>
          </a:prstGeom>
        </p:spPr>
      </p:pic>
    </p:spTree>
    <p:extLst>
      <p:ext uri="{BB962C8B-B14F-4D97-AF65-F5344CB8AC3E}">
        <p14:creationId xmlns:p14="http://schemas.microsoft.com/office/powerpoint/2010/main" val="4237909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AE9FF-21CF-F689-7193-8CE0E605D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6FCB7-5076-44FE-E839-79A6C6B1081C}"/>
              </a:ext>
            </a:extLst>
          </p:cNvPr>
          <p:cNvSpPr>
            <a:spLocks noGrp="1"/>
          </p:cNvSpPr>
          <p:nvPr>
            <p:ph type="title"/>
          </p:nvPr>
        </p:nvSpPr>
        <p:spPr/>
        <p:txBody>
          <a:bodyPr/>
          <a:lstStyle/>
          <a:p>
            <a:r>
              <a:rPr lang="en-US" dirty="0"/>
              <a:t>Neurotransmitters</a:t>
            </a:r>
          </a:p>
        </p:txBody>
      </p:sp>
      <p:sp>
        <p:nvSpPr>
          <p:cNvPr id="6" name="Content Placeholder 5">
            <a:extLst>
              <a:ext uri="{FF2B5EF4-FFF2-40B4-BE49-F238E27FC236}">
                <a16:creationId xmlns:a16="http://schemas.microsoft.com/office/drawing/2014/main" id="{46143458-AC77-5F1E-6C25-1F8CBE634A62}"/>
              </a:ext>
            </a:extLst>
          </p:cNvPr>
          <p:cNvSpPr>
            <a:spLocks noGrp="1"/>
          </p:cNvSpPr>
          <p:nvPr>
            <p:ph idx="1"/>
          </p:nvPr>
        </p:nvSpPr>
        <p:spPr>
          <a:xfrm>
            <a:off x="838199" y="1825625"/>
            <a:ext cx="11096625" cy="4775200"/>
          </a:xfrm>
        </p:spPr>
        <p:txBody>
          <a:bodyPr>
            <a:normAutofit/>
          </a:bodyPr>
          <a:lstStyle/>
          <a:p>
            <a:pPr marL="0" indent="0">
              <a:buNone/>
            </a:pPr>
            <a:r>
              <a:rPr lang="en-US" b="1" dirty="0"/>
              <a:t>Neurotransmitters (NT) in the Cleft</a:t>
            </a:r>
          </a:p>
          <a:p>
            <a:r>
              <a:rPr lang="en-US" dirty="0"/>
              <a:t>When NTs do not bind to next neuron:</a:t>
            </a:r>
          </a:p>
          <a:p>
            <a:pPr lvl="1"/>
            <a:r>
              <a:rPr lang="en-US" b="1" dirty="0"/>
              <a:t>Diffusion</a:t>
            </a:r>
            <a:r>
              <a:rPr lang="en-US" dirty="0"/>
              <a:t>: A </a:t>
            </a:r>
            <a:r>
              <a:rPr lang="en-US" i="1" dirty="0"/>
              <a:t>small</a:t>
            </a:r>
            <a:r>
              <a:rPr lang="en-US" dirty="0"/>
              <a:t> amount of NTs passively diffuse out of the synaptic cleft</a:t>
            </a:r>
          </a:p>
          <a:p>
            <a:pPr lvl="2"/>
            <a:r>
              <a:rPr lang="en-US" dirty="0"/>
              <a:t>But this is </a:t>
            </a:r>
            <a:r>
              <a:rPr lang="en-US" b="1" dirty="0"/>
              <a:t>not</a:t>
            </a:r>
            <a:r>
              <a:rPr lang="en-US" dirty="0"/>
              <a:t> a main mechanism of recycling unused neurotransmitters</a:t>
            </a:r>
          </a:p>
          <a:p>
            <a:pPr lvl="1"/>
            <a:endParaRPr lang="en-US" dirty="0"/>
          </a:p>
          <a:p>
            <a:pPr lvl="2"/>
            <a:endParaRPr lang="en-US" dirty="0"/>
          </a:p>
          <a:p>
            <a:endParaRPr lang="en-US" dirty="0"/>
          </a:p>
        </p:txBody>
      </p:sp>
      <p:sp>
        <p:nvSpPr>
          <p:cNvPr id="5" name="Rectangle 4">
            <a:extLst>
              <a:ext uri="{FF2B5EF4-FFF2-40B4-BE49-F238E27FC236}">
                <a16:creationId xmlns:a16="http://schemas.microsoft.com/office/drawing/2014/main" id="{5F95CA68-D7C6-D473-7EB2-F16E5AE92B16}"/>
              </a:ext>
            </a:extLst>
          </p:cNvPr>
          <p:cNvSpPr/>
          <p:nvPr/>
        </p:nvSpPr>
        <p:spPr>
          <a:xfrm>
            <a:off x="11049000" y="365125"/>
            <a:ext cx="790575" cy="444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2ADA8EF-A365-4CC9-F040-0A7A272EE20F}"/>
              </a:ext>
            </a:extLst>
          </p:cNvPr>
          <p:cNvSpPr/>
          <p:nvPr/>
        </p:nvSpPr>
        <p:spPr>
          <a:xfrm>
            <a:off x="10521806" y="5438777"/>
            <a:ext cx="1016143" cy="358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4" descr="The figure shows the Steps in Transmission at a Chemical Synapse. At the top, the Axon is covered by the myelin sheath. Then there is a bulb shaped Synapse in which the thin bulb neck connects with the axon. The synaptic vesicles fall down from the axon area into the synapse. The synaptic vesicles are filled with transmitter molecules. The synaptic vesicles reach the big base of the synapse and open up into the synaptic cleft which is the thin gap between the synapse and the dendrite of the next neuron. There are small transporters in the presynaptic membrane. The dendrite has transmitter receptors on its border that faces the synapse. The steps in transmission are as follows. 1. The action potential is propagated over the presynaptic membrane at the junction between the synapse and axon. 2. Depolarization of the presynaptic terminal leads to influx of C a 2 plus into the synapse through a channel. 3. C a 2 plus causes vesicles to fuse with the presynaptic membrane and release transmitter into the synaptic cleft. 4. The binding of transmitter to neurotransmitter receptors in the postsynaptic membrane opens channels, permitting ion flow and initiating an excitatory or inhibitory postsynaptic potential. 5. Excitatory or inhibitory postsynaptic potentials spread passively over dendrites and the cell body to the axon hillock. 6 a. Enzymes in the synaptic cleft break down excess neurotransmitter. 6 b. Reuptake of transmitter through the transporter slows synaptic action and recycles transmitter for later use. These transmitters enter into the existing vesicles inside the synapse. 7. Transmitter binds to auto receptors in the presynaptic membrane. E P S P or I P S P spread on both sides of the dendrite across cell membrane. ">
            <a:extLst>
              <a:ext uri="{FF2B5EF4-FFF2-40B4-BE49-F238E27FC236}">
                <a16:creationId xmlns:a16="http://schemas.microsoft.com/office/drawing/2014/main" id="{797F2692-0EC2-04A2-62DA-68D251C59472}"/>
              </a:ext>
            </a:extLst>
          </p:cNvPr>
          <p:cNvPicPr>
            <a:picLocks noChangeAspect="1"/>
          </p:cNvPicPr>
          <p:nvPr/>
        </p:nvPicPr>
        <p:blipFill>
          <a:blip r:embed="rId3"/>
          <a:srcRect t="57726" b="5219"/>
          <a:stretch>
            <a:fillRect/>
          </a:stretch>
        </p:blipFill>
        <p:spPr>
          <a:xfrm>
            <a:off x="2330826" y="4142482"/>
            <a:ext cx="7530348" cy="2592590"/>
          </a:xfrm>
          <a:prstGeom prst="rect">
            <a:avLst/>
          </a:prstGeom>
        </p:spPr>
      </p:pic>
    </p:spTree>
    <p:extLst>
      <p:ext uri="{BB962C8B-B14F-4D97-AF65-F5344CB8AC3E}">
        <p14:creationId xmlns:p14="http://schemas.microsoft.com/office/powerpoint/2010/main" val="134356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BE385-3909-D796-E8C8-1657D25F7D1C}"/>
            </a:ext>
          </a:extLst>
        </p:cNvPr>
        <p:cNvGrpSpPr/>
        <p:nvPr/>
      </p:nvGrpSpPr>
      <p:grpSpPr>
        <a:xfrm>
          <a:off x="0" y="0"/>
          <a:ext cx="0" cy="0"/>
          <a:chOff x="0" y="0"/>
          <a:chExt cx="0" cy="0"/>
        </a:xfrm>
      </p:grpSpPr>
      <p:pic>
        <p:nvPicPr>
          <p:cNvPr id="3" name="Content Placeholder 6" descr="A given neurotransmitter may interact with many different receptors in different parts of the brain. A neurotransmitter may activate an ionotropic receptor, also called a ligand-gated ion channel, at some synapses, opening an ion channel to affect the postsynaptic cell’s membrane potential. The same neurotransmitter may, at another synapse, activate a metabiotropic receptor, which activates second messengers, via G proteins, that open other ion channels, and or cause other changes in the cell.">
            <a:extLst>
              <a:ext uri="{FF2B5EF4-FFF2-40B4-BE49-F238E27FC236}">
                <a16:creationId xmlns:a16="http://schemas.microsoft.com/office/drawing/2014/main" id="{8806EFA5-E79A-B1E5-F899-0DB105386F90}"/>
              </a:ext>
            </a:extLst>
          </p:cNvPr>
          <p:cNvPicPr>
            <a:picLocks noChangeAspect="1"/>
          </p:cNvPicPr>
          <p:nvPr/>
        </p:nvPicPr>
        <p:blipFill>
          <a:blip r:embed="rId3"/>
          <a:stretch>
            <a:fillRect/>
          </a:stretch>
        </p:blipFill>
        <p:spPr>
          <a:xfrm>
            <a:off x="5605707" y="3263437"/>
            <a:ext cx="6586293" cy="3567575"/>
          </a:xfrm>
          <a:prstGeom prst="rect">
            <a:avLst/>
          </a:prstGeom>
        </p:spPr>
      </p:pic>
      <p:sp>
        <p:nvSpPr>
          <p:cNvPr id="2" name="Title 1">
            <a:extLst>
              <a:ext uri="{FF2B5EF4-FFF2-40B4-BE49-F238E27FC236}">
                <a16:creationId xmlns:a16="http://schemas.microsoft.com/office/drawing/2014/main" id="{7711D994-7CB7-802E-2362-20A5B77B7692}"/>
              </a:ext>
            </a:extLst>
          </p:cNvPr>
          <p:cNvSpPr>
            <a:spLocks noGrp="1"/>
          </p:cNvSpPr>
          <p:nvPr>
            <p:ph type="title"/>
          </p:nvPr>
        </p:nvSpPr>
        <p:spPr/>
        <p:txBody>
          <a:bodyPr/>
          <a:lstStyle/>
          <a:p>
            <a:r>
              <a:rPr lang="en-US" dirty="0"/>
              <a:t>Neurotransmitters</a:t>
            </a:r>
          </a:p>
        </p:txBody>
      </p:sp>
      <p:sp>
        <p:nvSpPr>
          <p:cNvPr id="6" name="Content Placeholder 5">
            <a:extLst>
              <a:ext uri="{FF2B5EF4-FFF2-40B4-BE49-F238E27FC236}">
                <a16:creationId xmlns:a16="http://schemas.microsoft.com/office/drawing/2014/main" id="{01330ED8-5096-181C-CD3E-F03B9D2A338E}"/>
              </a:ext>
            </a:extLst>
          </p:cNvPr>
          <p:cNvSpPr>
            <a:spLocks noGrp="1"/>
          </p:cNvSpPr>
          <p:nvPr>
            <p:ph idx="1"/>
          </p:nvPr>
        </p:nvSpPr>
        <p:spPr>
          <a:xfrm>
            <a:off x="838200" y="1825625"/>
            <a:ext cx="6086476" cy="4775200"/>
          </a:xfrm>
        </p:spPr>
        <p:txBody>
          <a:bodyPr>
            <a:normAutofit/>
          </a:bodyPr>
          <a:lstStyle/>
          <a:p>
            <a:pPr marL="0" indent="0">
              <a:buNone/>
            </a:pPr>
            <a:r>
              <a:rPr lang="en-US" b="1" dirty="0"/>
              <a:t>Neurotransmitters (NT) in the Cleft</a:t>
            </a:r>
          </a:p>
          <a:p>
            <a:r>
              <a:rPr lang="en-US" dirty="0"/>
              <a:t>NTs may bind to:</a:t>
            </a:r>
          </a:p>
          <a:p>
            <a:pPr lvl="1"/>
            <a:r>
              <a:rPr lang="en-US" b="1" dirty="0"/>
              <a:t>Ionotropic Receptors</a:t>
            </a:r>
            <a:r>
              <a:rPr lang="en-US" dirty="0"/>
              <a:t>: A receptor that allows ions through the membrane</a:t>
            </a:r>
          </a:p>
          <a:p>
            <a:pPr lvl="2"/>
            <a:r>
              <a:rPr lang="en-US" dirty="0"/>
              <a:t>Involved in changing membrane polarity to facilitate or inhibit an action potential</a:t>
            </a:r>
          </a:p>
          <a:p>
            <a:pPr lvl="2"/>
            <a:r>
              <a:rPr lang="en-US" dirty="0"/>
              <a:t>Fast and temporary changes</a:t>
            </a:r>
          </a:p>
          <a:p>
            <a:endParaRPr lang="en-US" dirty="0"/>
          </a:p>
        </p:txBody>
      </p:sp>
      <p:pic>
        <p:nvPicPr>
          <p:cNvPr id="7" name="Content Placeholder 6" descr="The diagram shows A Nicotinic Acetylcholine Receptor. The receptors look like three rectangular boxes one within the other with curved ends and a curved bump in the top portions like a torch. The outline of the innermost rectangle has dotted lines. The bottom of the innermost rectangle has fan shaped round blade shapes shown as dotted lines. On both sides of the receptor are neuronal membranes that are made up of tiny structures that have a small round head and a thin tail. On the top layer of the membrane the heads face upwards. In the bottom layer of the membrane the heads face downwards. Above the neuronal membrane is the extracellular space. Below the neural membrane is the Intracellular space. Inside the innermost rectangle is a vertical midline with the N ay plus symbol at both the ends. There is a small rectangular area known as ligand binding site both the top end sides of the inner rectangle. In the left ligand binding site there is an A C H molecule. Another A C H molecule is above the receptor and an arrow from it points downwards into the ligand binding site in the right. The lower part of the innermost rectangular shape is marked as gate open. When A C h molecules&#10;occupy both binding sites, the sodium channel opens allowing sodium ions to enter the cell. This results in a local depolarization. The binding sites normally bind A C h molecules, but they also bind nicotine and other drugs.&#10;">
            <a:extLst>
              <a:ext uri="{FF2B5EF4-FFF2-40B4-BE49-F238E27FC236}">
                <a16:creationId xmlns:a16="http://schemas.microsoft.com/office/drawing/2014/main" id="{72352FAA-C415-7C9F-0929-A7E08DFB35C9}"/>
              </a:ext>
            </a:extLst>
          </p:cNvPr>
          <p:cNvPicPr>
            <a:picLocks noChangeAspect="1"/>
          </p:cNvPicPr>
          <p:nvPr/>
        </p:nvPicPr>
        <p:blipFill>
          <a:blip r:embed="rId4"/>
          <a:srcRect r="40856" b="6372"/>
          <a:stretch>
            <a:fillRect/>
          </a:stretch>
        </p:blipFill>
        <p:spPr>
          <a:xfrm>
            <a:off x="9620119" y="365125"/>
            <a:ext cx="2072064" cy="3306762"/>
          </a:xfrm>
          <a:prstGeom prst="rect">
            <a:avLst/>
          </a:prstGeom>
        </p:spPr>
      </p:pic>
    </p:spTree>
    <p:extLst>
      <p:ext uri="{BB962C8B-B14F-4D97-AF65-F5344CB8AC3E}">
        <p14:creationId xmlns:p14="http://schemas.microsoft.com/office/powerpoint/2010/main" val="2202282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91ED4-02B7-0321-446C-7855B06E7CF3}"/>
            </a:ext>
          </a:extLst>
        </p:cNvPr>
        <p:cNvGrpSpPr/>
        <p:nvPr/>
      </p:nvGrpSpPr>
      <p:grpSpPr>
        <a:xfrm>
          <a:off x="0" y="0"/>
          <a:ext cx="0" cy="0"/>
          <a:chOff x="0" y="0"/>
          <a:chExt cx="0" cy="0"/>
        </a:xfrm>
      </p:grpSpPr>
      <p:pic>
        <p:nvPicPr>
          <p:cNvPr id="3" name="Content Placeholder 6" descr="A given neurotransmitter may interact with many different receptors in different parts of the brain. A neurotransmitter may activate an ionotropic receptor, also called a ligand-gated ion channel, at some synapses, opening an ion channel to affect the postsynaptic cell’s membrane potential. The same neurotransmitter may, at another synapse, activate a metabiotropic receptor, which activates second messengers, via G proteins, that open other ion channels, and or cause other changes in the cell.">
            <a:extLst>
              <a:ext uri="{FF2B5EF4-FFF2-40B4-BE49-F238E27FC236}">
                <a16:creationId xmlns:a16="http://schemas.microsoft.com/office/drawing/2014/main" id="{8101523B-E504-2B1E-0E35-5E252E936754}"/>
              </a:ext>
            </a:extLst>
          </p:cNvPr>
          <p:cNvPicPr>
            <a:picLocks noChangeAspect="1"/>
          </p:cNvPicPr>
          <p:nvPr/>
        </p:nvPicPr>
        <p:blipFill>
          <a:blip r:embed="rId3"/>
          <a:stretch>
            <a:fillRect/>
          </a:stretch>
        </p:blipFill>
        <p:spPr>
          <a:xfrm>
            <a:off x="5605707" y="3263437"/>
            <a:ext cx="6586293" cy="3567575"/>
          </a:xfrm>
          <a:prstGeom prst="rect">
            <a:avLst/>
          </a:prstGeom>
        </p:spPr>
      </p:pic>
      <p:sp>
        <p:nvSpPr>
          <p:cNvPr id="2" name="Title 1">
            <a:extLst>
              <a:ext uri="{FF2B5EF4-FFF2-40B4-BE49-F238E27FC236}">
                <a16:creationId xmlns:a16="http://schemas.microsoft.com/office/drawing/2014/main" id="{D7683823-44E6-EE6C-093B-64011FF2CCB9}"/>
              </a:ext>
            </a:extLst>
          </p:cNvPr>
          <p:cNvSpPr>
            <a:spLocks noGrp="1"/>
          </p:cNvSpPr>
          <p:nvPr>
            <p:ph type="title"/>
          </p:nvPr>
        </p:nvSpPr>
        <p:spPr/>
        <p:txBody>
          <a:bodyPr/>
          <a:lstStyle/>
          <a:p>
            <a:r>
              <a:rPr lang="en-US" dirty="0"/>
              <a:t>Neurotransmitters</a:t>
            </a:r>
          </a:p>
        </p:txBody>
      </p:sp>
      <p:sp>
        <p:nvSpPr>
          <p:cNvPr id="6" name="Content Placeholder 5">
            <a:extLst>
              <a:ext uri="{FF2B5EF4-FFF2-40B4-BE49-F238E27FC236}">
                <a16:creationId xmlns:a16="http://schemas.microsoft.com/office/drawing/2014/main" id="{D4027A98-AB5B-2CC9-6F54-3B02F746ED0F}"/>
              </a:ext>
            </a:extLst>
          </p:cNvPr>
          <p:cNvSpPr>
            <a:spLocks noGrp="1"/>
          </p:cNvSpPr>
          <p:nvPr>
            <p:ph idx="1"/>
          </p:nvPr>
        </p:nvSpPr>
        <p:spPr>
          <a:xfrm>
            <a:off x="838200" y="1825625"/>
            <a:ext cx="6086476" cy="4775200"/>
          </a:xfrm>
        </p:spPr>
        <p:txBody>
          <a:bodyPr>
            <a:normAutofit/>
          </a:bodyPr>
          <a:lstStyle/>
          <a:p>
            <a:pPr marL="0" indent="0">
              <a:buNone/>
            </a:pPr>
            <a:r>
              <a:rPr lang="en-US" b="1" dirty="0"/>
              <a:t>Neurotransmitters (NT) in the Cleft</a:t>
            </a:r>
          </a:p>
          <a:p>
            <a:r>
              <a:rPr lang="en-US" dirty="0"/>
              <a:t>NTs may bind to:</a:t>
            </a:r>
          </a:p>
          <a:p>
            <a:pPr lvl="1"/>
            <a:r>
              <a:rPr lang="en-US" b="1" dirty="0"/>
              <a:t>Metabotropic Receptors</a:t>
            </a:r>
            <a:r>
              <a:rPr lang="en-US" dirty="0"/>
              <a:t>: A receptor that begins a </a:t>
            </a:r>
            <a:r>
              <a:rPr lang="en-US" i="1" dirty="0"/>
              <a:t>cascade</a:t>
            </a:r>
            <a:r>
              <a:rPr lang="en-US" dirty="0"/>
              <a:t> of activity within the neuron</a:t>
            </a:r>
            <a:endParaRPr lang="en-US" i="1" dirty="0"/>
          </a:p>
          <a:p>
            <a:pPr lvl="2"/>
            <a:r>
              <a:rPr lang="en-US" dirty="0"/>
              <a:t>It does not allow anything to pass the membrane directly</a:t>
            </a:r>
          </a:p>
          <a:p>
            <a:pPr lvl="2"/>
            <a:r>
              <a:rPr lang="en-US" dirty="0"/>
              <a:t>Instead, </a:t>
            </a:r>
            <a:r>
              <a:rPr lang="en-US"/>
              <a:t>it activates </a:t>
            </a:r>
            <a:r>
              <a:rPr lang="en-US" dirty="0"/>
              <a:t>a G-Protein that can have diverse consequences</a:t>
            </a:r>
          </a:p>
          <a:p>
            <a:pPr lvl="2"/>
            <a:r>
              <a:rPr lang="en-US" dirty="0"/>
              <a:t>Slow and lasting changes</a:t>
            </a:r>
          </a:p>
          <a:p>
            <a:pPr lvl="3"/>
            <a:r>
              <a:rPr lang="en-US" dirty="0"/>
              <a:t>Ion channel conductance</a:t>
            </a:r>
          </a:p>
          <a:p>
            <a:pPr lvl="3"/>
            <a:r>
              <a:rPr lang="en-US" dirty="0"/>
              <a:t>Enzyme production</a:t>
            </a:r>
          </a:p>
          <a:p>
            <a:pPr lvl="3"/>
            <a:r>
              <a:rPr lang="en-US" dirty="0"/>
              <a:t>Etc.</a:t>
            </a:r>
          </a:p>
          <a:p>
            <a:pPr lvl="3"/>
            <a:endParaRPr lang="en-US" dirty="0"/>
          </a:p>
          <a:p>
            <a:pPr lvl="2"/>
            <a:endParaRPr lang="en-US" i="1" dirty="0"/>
          </a:p>
          <a:p>
            <a:pPr lvl="1"/>
            <a:endParaRPr lang="en-US" dirty="0"/>
          </a:p>
          <a:p>
            <a:pPr lvl="2"/>
            <a:endParaRPr lang="en-US" dirty="0"/>
          </a:p>
          <a:p>
            <a:pPr lvl="1"/>
            <a:endParaRPr lang="en-US" dirty="0"/>
          </a:p>
          <a:p>
            <a:pPr lvl="2"/>
            <a:endParaRPr lang="en-US" dirty="0"/>
          </a:p>
          <a:p>
            <a:endParaRPr lang="en-US" dirty="0"/>
          </a:p>
        </p:txBody>
      </p:sp>
      <p:pic>
        <p:nvPicPr>
          <p:cNvPr id="7" name="Content Placeholder 6" descr="The diagram shows A Nicotinic Acetylcholine Receptor. The receptors look like three rectangular boxes one within the other with curved ends and a curved bump in the top portions like a torch. The outline of the innermost rectangle has dotted lines. The bottom of the innermost rectangle has fan shaped round blade shapes shown as dotted lines. On both sides of the receptor are neuronal membranes that are made up of tiny structures that have a small round head and a thin tail. On the top layer of the membrane the heads face upwards. In the bottom layer of the membrane the heads face downwards. Above the neuronal membrane is the extracellular space. Below the neural membrane is the Intracellular space. Inside the innermost rectangle is a vertical midline with the N ay plus symbol at both the ends. There is a small rectangular area known as ligand binding site both the top end sides of the inner rectangle. In the left ligand binding site there is an A C H molecule. Another A C H molecule is above the receptor and an arrow from it points downwards into the ligand binding site in the right. The lower part of the innermost rectangular shape is marked as gate open. When A C h molecules&#10;occupy both binding sites, the sodium channel opens allowing sodium ions to enter the cell. This results in a local depolarization. The binding sites normally bind A C h molecules, but they also bind nicotine and other drugs.&#10;">
            <a:extLst>
              <a:ext uri="{FF2B5EF4-FFF2-40B4-BE49-F238E27FC236}">
                <a16:creationId xmlns:a16="http://schemas.microsoft.com/office/drawing/2014/main" id="{C78AEC11-01C9-9EB6-2701-7C1A8DEF0D4B}"/>
              </a:ext>
            </a:extLst>
          </p:cNvPr>
          <p:cNvPicPr>
            <a:picLocks noChangeAspect="1"/>
          </p:cNvPicPr>
          <p:nvPr/>
        </p:nvPicPr>
        <p:blipFill>
          <a:blip r:embed="rId4"/>
          <a:srcRect r="40856" b="6372"/>
          <a:stretch>
            <a:fillRect/>
          </a:stretch>
        </p:blipFill>
        <p:spPr>
          <a:xfrm>
            <a:off x="9620119" y="365125"/>
            <a:ext cx="2072064" cy="3306762"/>
          </a:xfrm>
          <a:prstGeom prst="rect">
            <a:avLst/>
          </a:prstGeom>
        </p:spPr>
      </p:pic>
    </p:spTree>
    <p:extLst>
      <p:ext uri="{BB962C8B-B14F-4D97-AF65-F5344CB8AC3E}">
        <p14:creationId xmlns:p14="http://schemas.microsoft.com/office/powerpoint/2010/main" val="348451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AA0C3-D732-CD0A-1387-732DEE89CAF7}"/>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02BDA1D2-7FC8-6E7B-5DCA-B2D96045C626}"/>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Communication</a:t>
            </a:r>
          </a:p>
          <a:p>
            <a:endParaRPr lang="en-US" sz="4000" dirty="0">
              <a:latin typeface="Calibri" panose="020F0502020204030204" pitchFamily="34" charset="0"/>
              <a:cs typeface="Calibri" panose="020F0502020204030204" pitchFamily="34" charset="0"/>
            </a:endParaRPr>
          </a:p>
          <a:p>
            <a:r>
              <a:rPr lang="en-US" sz="4000" dirty="0">
                <a:solidFill>
                  <a:srgbClr val="FF0000"/>
                </a:solidFill>
                <a:latin typeface="Calibri" panose="020F0502020204030204" pitchFamily="34" charset="0"/>
                <a:cs typeface="Calibri" panose="020F0502020204030204" pitchFamily="34" charset="0"/>
              </a:rPr>
              <a:t>Types of NTs </a:t>
            </a:r>
            <a:br>
              <a:rPr lang="en-US" sz="4000" dirty="0">
                <a:latin typeface="Calibri" panose="020F0502020204030204" pitchFamily="34" charset="0"/>
                <a:cs typeface="Calibri" panose="020F0502020204030204" pitchFamily="34" charset="0"/>
              </a:rPr>
            </a:br>
            <a:br>
              <a:rPr lang="en-US" sz="4000" dirty="0">
                <a:latin typeface="Calibri" panose="020F0502020204030204" pitchFamily="34" charset="0"/>
                <a:cs typeface="Calibri" panose="020F0502020204030204" pitchFamily="34" charset="0"/>
              </a:rPr>
            </a:br>
            <a:r>
              <a:rPr lang="en-US" sz="4000" dirty="0">
                <a:latin typeface="Calibri" panose="020F0502020204030204" pitchFamily="34" charset="0"/>
                <a:cs typeface="Calibri" panose="020F0502020204030204" pitchFamily="34" charset="0"/>
              </a:rPr>
              <a:t>Drugs</a:t>
            </a:r>
          </a:p>
        </p:txBody>
      </p:sp>
      <p:pic>
        <p:nvPicPr>
          <p:cNvPr id="2" name="Picture 1" descr="A colorful and black and white brain&#10;&#10;AI-generated content may be incorrect.">
            <a:extLst>
              <a:ext uri="{FF2B5EF4-FFF2-40B4-BE49-F238E27FC236}">
                <a16:creationId xmlns:a16="http://schemas.microsoft.com/office/drawing/2014/main" id="{504E13DE-C0BC-94DB-3F9F-7F32987BA7F3}"/>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748993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4E30C-0625-C171-4677-2D4E8C0A894D}"/>
            </a:ext>
          </a:extLst>
        </p:cNvPr>
        <p:cNvGrpSpPr/>
        <p:nvPr/>
      </p:nvGrpSpPr>
      <p:grpSpPr>
        <a:xfrm>
          <a:off x="0" y="0"/>
          <a:ext cx="0" cy="0"/>
          <a:chOff x="0" y="0"/>
          <a:chExt cx="0" cy="0"/>
        </a:xfrm>
      </p:grpSpPr>
      <p:pic>
        <p:nvPicPr>
          <p:cNvPr id="3" name="Content Placeholder 6" descr="A given neurotransmitter may interact with many different receptors in different parts of the brain. A neurotransmitter may activate an ionotropic receptor, also called a ligand-gated ion channel, at some synapses, opening an ion channel to affect the postsynaptic cell’s membrane potential. The same neurotransmitter may, at another synapse, activate a metabiotropic receptor, which activates second messengers, via G proteins, that open other ion channels, and or cause other changes in the cell.">
            <a:extLst>
              <a:ext uri="{FF2B5EF4-FFF2-40B4-BE49-F238E27FC236}">
                <a16:creationId xmlns:a16="http://schemas.microsoft.com/office/drawing/2014/main" id="{00569F58-1C8D-A89A-B9AC-B7AEBD5EA63A}"/>
              </a:ext>
            </a:extLst>
          </p:cNvPr>
          <p:cNvPicPr>
            <a:picLocks noChangeAspect="1"/>
          </p:cNvPicPr>
          <p:nvPr/>
        </p:nvPicPr>
        <p:blipFill>
          <a:blip r:embed="rId3"/>
          <a:stretch>
            <a:fillRect/>
          </a:stretch>
        </p:blipFill>
        <p:spPr>
          <a:xfrm>
            <a:off x="5605707" y="3263437"/>
            <a:ext cx="6586293" cy="3567575"/>
          </a:xfrm>
          <a:prstGeom prst="rect">
            <a:avLst/>
          </a:prstGeom>
        </p:spPr>
      </p:pic>
      <p:sp>
        <p:nvSpPr>
          <p:cNvPr id="2" name="Title 1">
            <a:extLst>
              <a:ext uri="{FF2B5EF4-FFF2-40B4-BE49-F238E27FC236}">
                <a16:creationId xmlns:a16="http://schemas.microsoft.com/office/drawing/2014/main" id="{E5B98653-85A2-4634-C05C-DDCB78A28A24}"/>
              </a:ext>
            </a:extLst>
          </p:cNvPr>
          <p:cNvSpPr>
            <a:spLocks noGrp="1"/>
          </p:cNvSpPr>
          <p:nvPr>
            <p:ph type="title"/>
          </p:nvPr>
        </p:nvSpPr>
        <p:spPr/>
        <p:txBody>
          <a:bodyPr/>
          <a:lstStyle/>
          <a:p>
            <a:r>
              <a:rPr lang="en-US" dirty="0"/>
              <a:t>Neurotransmitters</a:t>
            </a:r>
          </a:p>
        </p:txBody>
      </p:sp>
      <p:sp>
        <p:nvSpPr>
          <p:cNvPr id="6" name="Content Placeholder 5">
            <a:extLst>
              <a:ext uri="{FF2B5EF4-FFF2-40B4-BE49-F238E27FC236}">
                <a16:creationId xmlns:a16="http://schemas.microsoft.com/office/drawing/2014/main" id="{0F4E6572-148D-1F75-A1C6-3A9809EF4F32}"/>
              </a:ext>
            </a:extLst>
          </p:cNvPr>
          <p:cNvSpPr>
            <a:spLocks noGrp="1"/>
          </p:cNvSpPr>
          <p:nvPr>
            <p:ph idx="1"/>
          </p:nvPr>
        </p:nvSpPr>
        <p:spPr>
          <a:xfrm>
            <a:off x="838199" y="1825625"/>
            <a:ext cx="6000751" cy="4775200"/>
          </a:xfrm>
        </p:spPr>
        <p:txBody>
          <a:bodyPr>
            <a:normAutofit/>
          </a:bodyPr>
          <a:lstStyle/>
          <a:p>
            <a:pPr marL="0" indent="0">
              <a:buNone/>
            </a:pPr>
            <a:r>
              <a:rPr lang="en-US" b="1" dirty="0"/>
              <a:t>Classification of a Neurotransmitter:</a:t>
            </a:r>
          </a:p>
          <a:p>
            <a:r>
              <a:rPr lang="en-US" sz="2000" dirty="0"/>
              <a:t>Exists in axon terminal</a:t>
            </a:r>
          </a:p>
          <a:p>
            <a:r>
              <a:rPr lang="en-US" sz="2000" dirty="0"/>
              <a:t>Neuron contains enzymes to synthesize NT</a:t>
            </a:r>
          </a:p>
          <a:p>
            <a:r>
              <a:rPr lang="en-US" sz="2000" dirty="0"/>
              <a:t>NT released in significant quantities due to an action potential</a:t>
            </a:r>
          </a:p>
          <a:p>
            <a:r>
              <a:rPr lang="en-US" sz="2000" dirty="0"/>
              <a:t>There exists post-synaptic receptors specific to the NT</a:t>
            </a:r>
          </a:p>
          <a:p>
            <a:r>
              <a:rPr lang="en-US" sz="2000" dirty="0"/>
              <a:t>Causes a change in post-synaptic cell</a:t>
            </a:r>
          </a:p>
          <a:p>
            <a:r>
              <a:rPr lang="en-US" sz="2000" dirty="0"/>
              <a:t>Blocking the NT prevents change in postsynaptic cell</a:t>
            </a:r>
          </a:p>
          <a:p>
            <a:endParaRPr lang="en-US" dirty="0"/>
          </a:p>
          <a:p>
            <a:pPr lvl="1"/>
            <a:endParaRPr lang="en-US" dirty="0"/>
          </a:p>
          <a:p>
            <a:pPr lvl="2"/>
            <a:endParaRPr lang="en-US" dirty="0"/>
          </a:p>
          <a:p>
            <a:endParaRPr lang="en-US" dirty="0"/>
          </a:p>
        </p:txBody>
      </p:sp>
      <p:pic>
        <p:nvPicPr>
          <p:cNvPr id="7" name="Content Placeholder 6" descr="The diagram shows A Nicotinic Acetylcholine Receptor. The receptors look like three rectangular boxes one within the other with curved ends and a curved bump in the top portions like a torch. The outline of the innermost rectangle has dotted lines. The bottom of the innermost rectangle has fan shaped round blade shapes shown as dotted lines. On both sides of the receptor are neuronal membranes that are made up of tiny structures that have a small round head and a thin tail. On the top layer of the membrane the heads face upwards. In the bottom layer of the membrane the heads face downwards. Above the neuronal membrane is the extracellular space. Below the neural membrane is the Intracellular space. Inside the innermost rectangle is a vertical midline with the N ay plus symbol at both the ends. There is a small rectangular area known as ligand binding site both the top end sides of the inner rectangle. In the left ligand binding site there is an A C H molecule. Another A C H molecule is above the receptor and an arrow from it points downwards into the ligand binding site in the right. The lower part of the innermost rectangular shape is marked as gate open. When A C h molecules&#10;occupy both binding sites, the sodium channel opens allowing sodium ions to enter the cell. This results in a local depolarization. The binding sites normally bind A C h molecules, but they also bind nicotine and other drugs.&#10;">
            <a:extLst>
              <a:ext uri="{FF2B5EF4-FFF2-40B4-BE49-F238E27FC236}">
                <a16:creationId xmlns:a16="http://schemas.microsoft.com/office/drawing/2014/main" id="{258BD2B8-8B7F-8E97-80F7-66CAF1BC14FC}"/>
              </a:ext>
            </a:extLst>
          </p:cNvPr>
          <p:cNvPicPr>
            <a:picLocks noChangeAspect="1"/>
          </p:cNvPicPr>
          <p:nvPr/>
        </p:nvPicPr>
        <p:blipFill>
          <a:blip r:embed="rId4"/>
          <a:srcRect r="40856" b="6372"/>
          <a:stretch>
            <a:fillRect/>
          </a:stretch>
        </p:blipFill>
        <p:spPr>
          <a:xfrm>
            <a:off x="9620119" y="365125"/>
            <a:ext cx="2072064" cy="3306762"/>
          </a:xfrm>
          <a:prstGeom prst="rect">
            <a:avLst/>
          </a:prstGeom>
        </p:spPr>
      </p:pic>
    </p:spTree>
    <p:extLst>
      <p:ext uri="{BB962C8B-B14F-4D97-AF65-F5344CB8AC3E}">
        <p14:creationId xmlns:p14="http://schemas.microsoft.com/office/powerpoint/2010/main" val="3240394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810CE-9552-608E-0CE7-78610BFCA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3CB9E-FD8C-FC17-22F1-9CA2B2E5E442}"/>
              </a:ext>
            </a:extLst>
          </p:cNvPr>
          <p:cNvSpPr>
            <a:spLocks noGrp="1"/>
          </p:cNvSpPr>
          <p:nvPr>
            <p:ph type="title"/>
          </p:nvPr>
        </p:nvSpPr>
        <p:spPr/>
        <p:txBody>
          <a:bodyPr/>
          <a:lstStyle/>
          <a:p>
            <a:r>
              <a:rPr lang="en-US" dirty="0"/>
              <a:t>Neurotransmitters</a:t>
            </a:r>
          </a:p>
        </p:txBody>
      </p:sp>
      <p:graphicFrame>
        <p:nvGraphicFramePr>
          <p:cNvPr id="9" name="Table 8">
            <a:extLst>
              <a:ext uri="{FF2B5EF4-FFF2-40B4-BE49-F238E27FC236}">
                <a16:creationId xmlns:a16="http://schemas.microsoft.com/office/drawing/2014/main" id="{3CD7E89D-7247-722C-EB7B-AADDD79CD616}"/>
              </a:ext>
            </a:extLst>
          </p:cNvPr>
          <p:cNvGraphicFramePr>
            <a:graphicFrameLocks noGrp="1"/>
          </p:cNvGraphicFramePr>
          <p:nvPr>
            <p:extLst>
              <p:ext uri="{D42A27DB-BD31-4B8C-83A1-F6EECF244321}">
                <p14:modId xmlns:p14="http://schemas.microsoft.com/office/powerpoint/2010/main" val="3247610259"/>
              </p:ext>
            </p:extLst>
          </p:nvPr>
        </p:nvGraphicFramePr>
        <p:xfrm>
          <a:off x="758369" y="1319955"/>
          <a:ext cx="11183015" cy="5491480"/>
        </p:xfrm>
        <a:graphic>
          <a:graphicData uri="http://schemas.openxmlformats.org/drawingml/2006/table">
            <a:tbl>
              <a:tblPr firstRow="1" bandRow="1">
                <a:tableStyleId>{5C22544A-7EE6-4342-B048-85BDC9FD1C3A}</a:tableStyleId>
              </a:tblPr>
              <a:tblGrid>
                <a:gridCol w="2236603">
                  <a:extLst>
                    <a:ext uri="{9D8B030D-6E8A-4147-A177-3AD203B41FA5}">
                      <a16:colId xmlns:a16="http://schemas.microsoft.com/office/drawing/2014/main" val="3043887353"/>
                    </a:ext>
                  </a:extLst>
                </a:gridCol>
                <a:gridCol w="2236603">
                  <a:extLst>
                    <a:ext uri="{9D8B030D-6E8A-4147-A177-3AD203B41FA5}">
                      <a16:colId xmlns:a16="http://schemas.microsoft.com/office/drawing/2014/main" val="4102595565"/>
                    </a:ext>
                  </a:extLst>
                </a:gridCol>
                <a:gridCol w="2236603">
                  <a:extLst>
                    <a:ext uri="{9D8B030D-6E8A-4147-A177-3AD203B41FA5}">
                      <a16:colId xmlns:a16="http://schemas.microsoft.com/office/drawing/2014/main" val="1874462719"/>
                    </a:ext>
                  </a:extLst>
                </a:gridCol>
                <a:gridCol w="2236603">
                  <a:extLst>
                    <a:ext uri="{9D8B030D-6E8A-4147-A177-3AD203B41FA5}">
                      <a16:colId xmlns:a16="http://schemas.microsoft.com/office/drawing/2014/main" val="2509141144"/>
                    </a:ext>
                  </a:extLst>
                </a:gridCol>
                <a:gridCol w="2236603">
                  <a:extLst>
                    <a:ext uri="{9D8B030D-6E8A-4147-A177-3AD203B41FA5}">
                      <a16:colId xmlns:a16="http://schemas.microsoft.com/office/drawing/2014/main" val="2430078636"/>
                    </a:ext>
                  </a:extLst>
                </a:gridCol>
              </a:tblGrid>
              <a:tr h="370840">
                <a:tc>
                  <a:txBody>
                    <a:bodyPr/>
                    <a:lstStyle/>
                    <a:p>
                      <a:endParaRPr lang="en-US"/>
                    </a:p>
                  </a:txBody>
                  <a:tcPr/>
                </a:tc>
                <a:tc>
                  <a:txBody>
                    <a:bodyPr/>
                    <a:lstStyle/>
                    <a:p>
                      <a:pPr algn="ctr"/>
                      <a:r>
                        <a:rPr lang="en-US" dirty="0"/>
                        <a:t>Origin</a:t>
                      </a:r>
                    </a:p>
                  </a:txBody>
                  <a:tcPr/>
                </a:tc>
                <a:tc>
                  <a:txBody>
                    <a:bodyPr/>
                    <a:lstStyle/>
                    <a:p>
                      <a:pPr algn="ctr"/>
                      <a:r>
                        <a:rPr lang="en-US" dirty="0"/>
                        <a:t>Projection</a:t>
                      </a:r>
                    </a:p>
                  </a:txBody>
                  <a:tcPr/>
                </a:tc>
                <a:tc>
                  <a:txBody>
                    <a:bodyPr/>
                    <a:lstStyle/>
                    <a:p>
                      <a:pPr algn="ctr"/>
                      <a:r>
                        <a:rPr lang="en-US" dirty="0"/>
                        <a:t>Function</a:t>
                      </a:r>
                    </a:p>
                  </a:txBody>
                  <a:tcPr/>
                </a:tc>
                <a:tc>
                  <a:txBody>
                    <a:bodyPr/>
                    <a:lstStyle/>
                    <a:p>
                      <a:pPr algn="ctr"/>
                      <a:r>
                        <a:rPr lang="en-US" dirty="0"/>
                        <a:t>Receptor</a:t>
                      </a:r>
                    </a:p>
                  </a:txBody>
                  <a:tcPr/>
                </a:tc>
                <a:extLst>
                  <a:ext uri="{0D108BD9-81ED-4DB2-BD59-A6C34878D82A}">
                    <a16:rowId xmlns:a16="http://schemas.microsoft.com/office/drawing/2014/main" val="1120425325"/>
                  </a:ext>
                </a:extLst>
              </a:tr>
              <a:tr h="370840">
                <a:tc>
                  <a:txBody>
                    <a:bodyPr/>
                    <a:lstStyle/>
                    <a:p>
                      <a:r>
                        <a:rPr lang="en-US" b="1" dirty="0"/>
                        <a:t>Glutamate</a:t>
                      </a:r>
                    </a:p>
                  </a:txBody>
                  <a:tcPr anchor="ctr"/>
                </a:tc>
                <a:tc>
                  <a:txBody>
                    <a:bodyPr/>
                    <a:lstStyle/>
                    <a:p>
                      <a:r>
                        <a:rPr lang="en-US" dirty="0"/>
                        <a:t>Across the brain</a:t>
                      </a:r>
                    </a:p>
                  </a:txBody>
                  <a:tcPr anchor="ctr"/>
                </a:tc>
                <a:tc>
                  <a:txBody>
                    <a:bodyPr/>
                    <a:lstStyle/>
                    <a:p>
                      <a:r>
                        <a:rPr lang="en-US" dirty="0"/>
                        <a:t>Across the brain</a:t>
                      </a:r>
                    </a:p>
                  </a:txBody>
                  <a:tcPr anchor="ctr"/>
                </a:tc>
                <a:tc>
                  <a:txBody>
                    <a:bodyPr/>
                    <a:lstStyle/>
                    <a:p>
                      <a:r>
                        <a:rPr lang="en-US" dirty="0"/>
                        <a:t>Major excitatory</a:t>
                      </a:r>
                    </a:p>
                  </a:txBody>
                  <a:tcPr anchor="ctr"/>
                </a:tc>
                <a:tc>
                  <a:txBody>
                    <a:bodyPr/>
                    <a:lstStyle/>
                    <a:p>
                      <a:r>
                        <a:rPr lang="en-US" dirty="0"/>
                        <a:t>Ionotropic &amp; metabotropic</a:t>
                      </a:r>
                    </a:p>
                  </a:txBody>
                  <a:tcPr anchor="ctr"/>
                </a:tc>
                <a:extLst>
                  <a:ext uri="{0D108BD9-81ED-4DB2-BD59-A6C34878D82A}">
                    <a16:rowId xmlns:a16="http://schemas.microsoft.com/office/drawing/2014/main" val="3172102326"/>
                  </a:ext>
                </a:extLst>
              </a:tr>
              <a:tr h="370840">
                <a:tc>
                  <a:txBody>
                    <a:bodyPr/>
                    <a:lstStyle/>
                    <a:p>
                      <a:r>
                        <a:rPr lang="en-US" b="1" dirty="0"/>
                        <a:t>GABA</a:t>
                      </a:r>
                    </a:p>
                  </a:txBody>
                  <a:tcPr anchor="ctr"/>
                </a:tc>
                <a:tc>
                  <a:txBody>
                    <a:bodyPr/>
                    <a:lstStyle/>
                    <a:p>
                      <a:r>
                        <a:rPr lang="en-US" dirty="0"/>
                        <a:t>Across the brain</a:t>
                      </a:r>
                    </a:p>
                  </a:txBody>
                  <a:tcPr anchor="ctr"/>
                </a:tc>
                <a:tc>
                  <a:txBody>
                    <a:bodyPr/>
                    <a:lstStyle/>
                    <a:p>
                      <a:r>
                        <a:rPr lang="en-US" dirty="0"/>
                        <a:t>Across the brain</a:t>
                      </a:r>
                    </a:p>
                  </a:txBody>
                  <a:tcPr anchor="ctr"/>
                </a:tc>
                <a:tc>
                  <a:txBody>
                    <a:bodyPr/>
                    <a:lstStyle/>
                    <a:p>
                      <a:r>
                        <a:rPr lang="en-US" dirty="0"/>
                        <a:t>Major inhibitory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Ionotropic &amp; metabotropic</a:t>
                      </a:r>
                    </a:p>
                  </a:txBody>
                  <a:tcPr anchor="ctr"/>
                </a:tc>
                <a:extLst>
                  <a:ext uri="{0D108BD9-81ED-4DB2-BD59-A6C34878D82A}">
                    <a16:rowId xmlns:a16="http://schemas.microsoft.com/office/drawing/2014/main" val="2222017584"/>
                  </a:ext>
                </a:extLst>
              </a:tr>
              <a:tr h="370840">
                <a:tc>
                  <a:txBody>
                    <a:bodyPr/>
                    <a:lstStyle/>
                    <a:p>
                      <a:r>
                        <a:rPr lang="en-US" b="1" dirty="0"/>
                        <a:t>Acetylcholine</a:t>
                      </a:r>
                    </a:p>
                  </a:txBody>
                  <a:tcPr anchor="ctr"/>
                </a:tc>
                <a:tc>
                  <a:txBody>
                    <a:bodyPr/>
                    <a:lstStyle/>
                    <a:p>
                      <a:r>
                        <a:rPr lang="en-US" dirty="0"/>
                        <a:t>Basal forebrain, brainstem</a:t>
                      </a:r>
                    </a:p>
                  </a:txBody>
                  <a:tcPr anchor="ctr"/>
                </a:tc>
                <a:tc>
                  <a:txBody>
                    <a:bodyPr/>
                    <a:lstStyle/>
                    <a:p>
                      <a:r>
                        <a:rPr lang="en-US" dirty="0"/>
                        <a:t>Hippocampus, amygdala, cortex</a:t>
                      </a:r>
                    </a:p>
                  </a:txBody>
                  <a:tcPr anchor="ctr"/>
                </a:tc>
                <a:tc>
                  <a:txBody>
                    <a:bodyPr/>
                    <a:lstStyle/>
                    <a:p>
                      <a:r>
                        <a:rPr lang="en-US" dirty="0"/>
                        <a:t>Learning, memory, attention, arousal</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Ionotropic &amp; metabotropic</a:t>
                      </a:r>
                    </a:p>
                  </a:txBody>
                  <a:tcPr anchor="ctr"/>
                </a:tc>
                <a:extLst>
                  <a:ext uri="{0D108BD9-81ED-4DB2-BD59-A6C34878D82A}">
                    <a16:rowId xmlns:a16="http://schemas.microsoft.com/office/drawing/2014/main" val="3087165396"/>
                  </a:ext>
                </a:extLst>
              </a:tr>
              <a:tr h="370840">
                <a:tc>
                  <a:txBody>
                    <a:bodyPr/>
                    <a:lstStyle/>
                    <a:p>
                      <a:r>
                        <a:rPr lang="en-US" b="1" dirty="0"/>
                        <a:t>Dopamine</a:t>
                      </a:r>
                    </a:p>
                    <a:p>
                      <a:r>
                        <a:rPr lang="en-US" b="1" dirty="0"/>
                        <a:t>   (Nigrostriatal)</a:t>
                      </a:r>
                    </a:p>
                  </a:txBody>
                  <a:tcPr anchor="ctr"/>
                </a:tc>
                <a:tc>
                  <a:txBody>
                    <a:bodyPr/>
                    <a:lstStyle/>
                    <a:p>
                      <a:r>
                        <a:rPr lang="en-US" dirty="0"/>
                        <a:t>Substantia nigra</a:t>
                      </a:r>
                    </a:p>
                  </a:txBody>
                  <a:tcPr anchor="ctr"/>
                </a:tc>
                <a:tc>
                  <a:txBody>
                    <a:bodyPr/>
                    <a:lstStyle/>
                    <a:p>
                      <a:r>
                        <a:rPr lang="en-US" dirty="0"/>
                        <a:t>Basal ganglia</a:t>
                      </a:r>
                    </a:p>
                  </a:txBody>
                  <a:tcPr anchor="ctr"/>
                </a:tc>
                <a:tc>
                  <a:txBody>
                    <a:bodyPr/>
                    <a:lstStyle/>
                    <a:p>
                      <a:r>
                        <a:rPr lang="en-US"/>
                        <a:t>Motor Control</a:t>
                      </a:r>
                      <a:endParaRPr 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Metabotropic</a:t>
                      </a:r>
                    </a:p>
                  </a:txBody>
                  <a:tcPr anchor="ctr"/>
                </a:tc>
                <a:extLst>
                  <a:ext uri="{0D108BD9-81ED-4DB2-BD59-A6C34878D82A}">
                    <a16:rowId xmlns:a16="http://schemas.microsoft.com/office/drawing/2014/main" val="3807204555"/>
                  </a:ext>
                </a:extLst>
              </a:tr>
              <a:tr h="370840">
                <a:tc>
                  <a:txBody>
                    <a:bodyPr/>
                    <a:lstStyle/>
                    <a:p>
                      <a:r>
                        <a:rPr lang="en-US" b="1" dirty="0"/>
                        <a:t>Dopamine    </a:t>
                      </a:r>
                    </a:p>
                    <a:p>
                      <a:r>
                        <a:rPr lang="en-US" b="1" dirty="0"/>
                        <a:t>    (Mesolimbic)</a:t>
                      </a:r>
                    </a:p>
                  </a:txBody>
                  <a:tcPr anchor="ctr"/>
                </a:tc>
                <a:tc>
                  <a:txBody>
                    <a:bodyPr/>
                    <a:lstStyle/>
                    <a:p>
                      <a:r>
                        <a:rPr lang="en-US" dirty="0"/>
                        <a:t>Ventral tegmental area</a:t>
                      </a:r>
                    </a:p>
                  </a:txBody>
                  <a:tcPr anchor="ctr"/>
                </a:tc>
                <a:tc>
                  <a:txBody>
                    <a:bodyPr/>
                    <a:lstStyle/>
                    <a:p>
                      <a:r>
                        <a:rPr lang="en-US" dirty="0"/>
                        <a:t>Limbic system</a:t>
                      </a:r>
                    </a:p>
                  </a:txBody>
                  <a:tcPr anchor="ctr"/>
                </a:tc>
                <a:tc>
                  <a:txBody>
                    <a:bodyPr/>
                    <a:lstStyle/>
                    <a:p>
                      <a:r>
                        <a:rPr lang="en-US" dirty="0"/>
                        <a:t>Reward and reinforcement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Metabotropic</a:t>
                      </a:r>
                    </a:p>
                  </a:txBody>
                  <a:tcPr anchor="ctr"/>
                </a:tc>
                <a:extLst>
                  <a:ext uri="{0D108BD9-81ED-4DB2-BD59-A6C34878D82A}">
                    <a16:rowId xmlns:a16="http://schemas.microsoft.com/office/drawing/2014/main" val="1440950092"/>
                  </a:ext>
                </a:extLst>
              </a:tr>
              <a:tr h="370840">
                <a:tc>
                  <a:txBody>
                    <a:bodyPr/>
                    <a:lstStyle/>
                    <a:p>
                      <a:r>
                        <a:rPr lang="en-US" b="1" dirty="0"/>
                        <a:t>Dopamine</a:t>
                      </a:r>
                    </a:p>
                    <a:p>
                      <a:r>
                        <a:rPr lang="en-US" b="1" dirty="0"/>
                        <a:t>    (</a:t>
                      </a:r>
                      <a:r>
                        <a:rPr lang="en-US" b="1" dirty="0" err="1"/>
                        <a:t>Mesocortical</a:t>
                      </a:r>
                      <a:r>
                        <a:rPr lang="en-US" b="1" dirty="0"/>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Ventral tegmental area</a:t>
                      </a:r>
                    </a:p>
                  </a:txBody>
                  <a:tcPr anchor="ctr"/>
                </a:tc>
                <a:tc>
                  <a:txBody>
                    <a:bodyPr/>
                    <a:lstStyle/>
                    <a:p>
                      <a:r>
                        <a:rPr lang="en-US" dirty="0"/>
                        <a:t>Prefrontal cortex</a:t>
                      </a:r>
                    </a:p>
                  </a:txBody>
                  <a:tcPr anchor="ctr"/>
                </a:tc>
                <a:tc>
                  <a:txBody>
                    <a:bodyPr/>
                    <a:lstStyle/>
                    <a:p>
                      <a:r>
                        <a:rPr lang="en-US" dirty="0"/>
                        <a:t>Executive functioning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Metabotropic</a:t>
                      </a:r>
                    </a:p>
                  </a:txBody>
                  <a:tcPr anchor="ctr"/>
                </a:tc>
                <a:extLst>
                  <a:ext uri="{0D108BD9-81ED-4DB2-BD59-A6C34878D82A}">
                    <a16:rowId xmlns:a16="http://schemas.microsoft.com/office/drawing/2014/main" val="3672035807"/>
                  </a:ext>
                </a:extLst>
              </a:tr>
              <a:tr h="370840">
                <a:tc>
                  <a:txBody>
                    <a:bodyPr/>
                    <a:lstStyle/>
                    <a:p>
                      <a:r>
                        <a:rPr lang="en-US" b="1" dirty="0"/>
                        <a:t>Serotonin</a:t>
                      </a:r>
                    </a:p>
                  </a:txBody>
                  <a:tcPr anchor="ctr"/>
                </a:tc>
                <a:tc>
                  <a:txBody>
                    <a:bodyPr/>
                    <a:lstStyle/>
                    <a:p>
                      <a:r>
                        <a:rPr lang="en-US" dirty="0"/>
                        <a:t>Raphe nuclei</a:t>
                      </a:r>
                    </a:p>
                  </a:txBody>
                  <a:tcPr anchor="ctr"/>
                </a:tc>
                <a:tc>
                  <a:txBody>
                    <a:bodyPr/>
                    <a:lstStyle/>
                    <a:p>
                      <a:r>
                        <a:rPr lang="en-US" dirty="0"/>
                        <a:t>Hippocampus, cerebellum, cortex</a:t>
                      </a:r>
                    </a:p>
                  </a:txBody>
                  <a:tcPr anchor="ctr"/>
                </a:tc>
                <a:tc>
                  <a:txBody>
                    <a:bodyPr/>
                    <a:lstStyle/>
                    <a:p>
                      <a:r>
                        <a:rPr lang="en-US" dirty="0"/>
                        <a:t>Sleep, mood, sex, anxiety</a:t>
                      </a:r>
                    </a:p>
                  </a:txBody>
                  <a:tcPr anchor="ctr"/>
                </a:tc>
                <a:tc>
                  <a:txBody>
                    <a:bodyPr/>
                    <a:lstStyle/>
                    <a:p>
                      <a:r>
                        <a:rPr lang="en-US" dirty="0"/>
                        <a:t>Metabotropic</a:t>
                      </a:r>
                    </a:p>
                  </a:txBody>
                  <a:tcPr anchor="ctr"/>
                </a:tc>
                <a:extLst>
                  <a:ext uri="{0D108BD9-81ED-4DB2-BD59-A6C34878D82A}">
                    <a16:rowId xmlns:a16="http://schemas.microsoft.com/office/drawing/2014/main" val="1304340408"/>
                  </a:ext>
                </a:extLst>
              </a:tr>
              <a:tr h="370840">
                <a:tc>
                  <a:txBody>
                    <a:bodyPr/>
                    <a:lstStyle/>
                    <a:p>
                      <a:r>
                        <a:rPr lang="en-US" b="1" dirty="0"/>
                        <a:t>Norepinephrine</a:t>
                      </a:r>
                    </a:p>
                  </a:txBody>
                  <a:tcPr anchor="ctr"/>
                </a:tc>
                <a:tc>
                  <a:txBody>
                    <a:bodyPr/>
                    <a:lstStyle/>
                    <a:p>
                      <a:r>
                        <a:rPr lang="en-US" dirty="0"/>
                        <a:t>Locus coeruleus</a:t>
                      </a:r>
                    </a:p>
                  </a:txBody>
                  <a:tcPr anchor="ctr"/>
                </a:tc>
                <a:tc>
                  <a:txBody>
                    <a:bodyPr/>
                    <a:lstStyle/>
                    <a:p>
                      <a:r>
                        <a:rPr lang="en-US" dirty="0"/>
                        <a:t>Thalamus, limbic, cerebellum, cortex</a:t>
                      </a:r>
                    </a:p>
                  </a:txBody>
                  <a:tcPr anchor="ctr"/>
                </a:tc>
                <a:tc>
                  <a:txBody>
                    <a:bodyPr/>
                    <a:lstStyle/>
                    <a:p>
                      <a:r>
                        <a:rPr lang="en-US" dirty="0"/>
                        <a:t>Mood, arousal, sex</a:t>
                      </a:r>
                    </a:p>
                  </a:txBody>
                  <a:tcPr anchor="ctr"/>
                </a:tc>
                <a:tc>
                  <a:txBody>
                    <a:bodyPr/>
                    <a:lstStyle/>
                    <a:p>
                      <a:r>
                        <a:rPr lang="en-US" dirty="0"/>
                        <a:t>Metabotropic</a:t>
                      </a:r>
                    </a:p>
                  </a:txBody>
                  <a:tcPr anchor="ctr"/>
                </a:tc>
                <a:extLst>
                  <a:ext uri="{0D108BD9-81ED-4DB2-BD59-A6C34878D82A}">
                    <a16:rowId xmlns:a16="http://schemas.microsoft.com/office/drawing/2014/main" val="2468992860"/>
                  </a:ext>
                </a:extLst>
              </a:tr>
            </a:tbl>
          </a:graphicData>
        </a:graphic>
      </p:graphicFrame>
    </p:spTree>
    <p:extLst>
      <p:ext uri="{BB962C8B-B14F-4D97-AF65-F5344CB8AC3E}">
        <p14:creationId xmlns:p14="http://schemas.microsoft.com/office/powerpoint/2010/main" val="2952695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D6B05-BADC-4BBE-B184-E53C5B56170F}"/>
            </a:ext>
          </a:extLst>
        </p:cNvPr>
        <p:cNvGrpSpPr/>
        <p:nvPr/>
      </p:nvGrpSpPr>
      <p:grpSpPr>
        <a:xfrm>
          <a:off x="0" y="0"/>
          <a:ext cx="0" cy="0"/>
          <a:chOff x="0" y="0"/>
          <a:chExt cx="0" cy="0"/>
        </a:xfrm>
      </p:grpSpPr>
      <p:pic>
        <p:nvPicPr>
          <p:cNvPr id="5" name="Picture 4" descr="A diagram of the brain&#10;&#10;AI-generated content may be incorrect.">
            <a:extLst>
              <a:ext uri="{FF2B5EF4-FFF2-40B4-BE49-F238E27FC236}">
                <a16:creationId xmlns:a16="http://schemas.microsoft.com/office/drawing/2014/main" id="{73777732-3F22-ABC2-3AF8-49BAB527E6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7494" y="1535023"/>
            <a:ext cx="6937831" cy="3787954"/>
          </a:xfrm>
          <a:prstGeom prst="rect">
            <a:avLst/>
          </a:prstGeom>
        </p:spPr>
      </p:pic>
      <p:sp>
        <p:nvSpPr>
          <p:cNvPr id="2" name="Title 1">
            <a:extLst>
              <a:ext uri="{FF2B5EF4-FFF2-40B4-BE49-F238E27FC236}">
                <a16:creationId xmlns:a16="http://schemas.microsoft.com/office/drawing/2014/main" id="{0EBA1130-3B41-5FAA-2B49-62E71FD28A39}"/>
              </a:ext>
            </a:extLst>
          </p:cNvPr>
          <p:cNvSpPr>
            <a:spLocks noGrp="1"/>
          </p:cNvSpPr>
          <p:nvPr>
            <p:ph type="title"/>
          </p:nvPr>
        </p:nvSpPr>
        <p:spPr/>
        <p:txBody>
          <a:bodyPr/>
          <a:lstStyle/>
          <a:p>
            <a:r>
              <a:rPr lang="en-US" dirty="0"/>
              <a:t>Glutamate (Glu)</a:t>
            </a:r>
          </a:p>
        </p:txBody>
      </p:sp>
      <p:sp>
        <p:nvSpPr>
          <p:cNvPr id="3" name="Content Placeholder 2">
            <a:extLst>
              <a:ext uri="{FF2B5EF4-FFF2-40B4-BE49-F238E27FC236}">
                <a16:creationId xmlns:a16="http://schemas.microsoft.com/office/drawing/2014/main" id="{F5EB7EDA-CC2A-3964-5DAF-D15FD48B41FB}"/>
              </a:ext>
            </a:extLst>
          </p:cNvPr>
          <p:cNvSpPr>
            <a:spLocks noGrp="1"/>
          </p:cNvSpPr>
          <p:nvPr>
            <p:ph idx="1"/>
          </p:nvPr>
        </p:nvSpPr>
        <p:spPr>
          <a:xfrm>
            <a:off x="838200" y="1825625"/>
            <a:ext cx="6086475" cy="4351338"/>
          </a:xfrm>
        </p:spPr>
        <p:txBody>
          <a:bodyPr/>
          <a:lstStyle/>
          <a:p>
            <a:r>
              <a:rPr lang="en-US" b="1" dirty="0"/>
              <a:t>Pathway</a:t>
            </a:r>
            <a:endParaRPr lang="en-US" dirty="0"/>
          </a:p>
          <a:p>
            <a:pPr lvl="1"/>
            <a:r>
              <a:rPr lang="en-US" b="1" dirty="0"/>
              <a:t>Origin</a:t>
            </a:r>
            <a:r>
              <a:rPr lang="en-US" dirty="0"/>
              <a:t>: Across the brain</a:t>
            </a:r>
          </a:p>
          <a:p>
            <a:pPr lvl="1"/>
            <a:r>
              <a:rPr lang="en-US" b="1" dirty="0"/>
              <a:t>Projects</a:t>
            </a:r>
            <a:r>
              <a:rPr lang="en-US" dirty="0"/>
              <a:t>: Across the brain</a:t>
            </a:r>
          </a:p>
          <a:p>
            <a:r>
              <a:rPr lang="en-US" b="1" dirty="0"/>
              <a:t>Function</a:t>
            </a:r>
            <a:r>
              <a:rPr lang="en-US" dirty="0"/>
              <a:t>: Diverse, the major </a:t>
            </a:r>
            <a:r>
              <a:rPr lang="en-US" i="1" dirty="0"/>
              <a:t>excitatory</a:t>
            </a:r>
            <a:r>
              <a:rPr lang="en-US" dirty="0"/>
              <a:t> NT</a:t>
            </a:r>
          </a:p>
          <a:p>
            <a:r>
              <a:rPr lang="en-US" b="1" dirty="0"/>
              <a:t>Receptors</a:t>
            </a:r>
            <a:r>
              <a:rPr lang="en-US" dirty="0"/>
              <a:t>: Ionotropic and metabotropic</a:t>
            </a:r>
          </a:p>
          <a:p>
            <a:pPr lvl="2"/>
            <a:endParaRPr lang="en-US" dirty="0"/>
          </a:p>
        </p:txBody>
      </p:sp>
    </p:spTree>
    <p:extLst>
      <p:ext uri="{BB962C8B-B14F-4D97-AF65-F5344CB8AC3E}">
        <p14:creationId xmlns:p14="http://schemas.microsoft.com/office/powerpoint/2010/main" val="230361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F0B44-F67C-D3F3-6B13-55FC6FFE44EA}"/>
            </a:ext>
          </a:extLst>
        </p:cNvPr>
        <p:cNvGrpSpPr/>
        <p:nvPr/>
      </p:nvGrpSpPr>
      <p:grpSpPr>
        <a:xfrm>
          <a:off x="0" y="0"/>
          <a:ext cx="0" cy="0"/>
          <a:chOff x="0" y="0"/>
          <a:chExt cx="0" cy="0"/>
        </a:xfrm>
      </p:grpSpPr>
      <p:pic>
        <p:nvPicPr>
          <p:cNvPr id="10" name="Picture 9" descr="A diagram of the brain&#10;&#10;AI-generated content may be incorrect.">
            <a:extLst>
              <a:ext uri="{FF2B5EF4-FFF2-40B4-BE49-F238E27FC236}">
                <a16:creationId xmlns:a16="http://schemas.microsoft.com/office/drawing/2014/main" id="{08A19B1F-75EF-C062-5C0A-FEC91CA53D0E}"/>
              </a:ext>
            </a:extLst>
          </p:cNvPr>
          <p:cNvPicPr>
            <a:picLocks noChangeAspect="1"/>
          </p:cNvPicPr>
          <p:nvPr/>
        </p:nvPicPr>
        <p:blipFill>
          <a:blip r:embed="rId2">
            <a:extLst>
              <a:ext uri="{28A0092B-C50C-407E-A947-70E740481C1C}">
                <a14:useLocalDpi xmlns:a14="http://schemas.microsoft.com/office/drawing/2010/main" val="0"/>
              </a:ext>
            </a:extLst>
          </a:blip>
          <a:srcRect l="15018" t="8590" r="12686" b="2412"/>
          <a:stretch>
            <a:fillRect/>
          </a:stretch>
        </p:blipFill>
        <p:spPr>
          <a:xfrm>
            <a:off x="6029326" y="1690688"/>
            <a:ext cx="5943600" cy="4802187"/>
          </a:xfrm>
          <a:prstGeom prst="rect">
            <a:avLst/>
          </a:prstGeom>
        </p:spPr>
      </p:pic>
      <p:sp>
        <p:nvSpPr>
          <p:cNvPr id="2" name="Title 1">
            <a:extLst>
              <a:ext uri="{FF2B5EF4-FFF2-40B4-BE49-F238E27FC236}">
                <a16:creationId xmlns:a16="http://schemas.microsoft.com/office/drawing/2014/main" id="{DC7E5576-810B-F90E-6226-DFAFCAE326CB}"/>
              </a:ext>
            </a:extLst>
          </p:cNvPr>
          <p:cNvSpPr>
            <a:spLocks noGrp="1"/>
          </p:cNvSpPr>
          <p:nvPr>
            <p:ph type="title"/>
          </p:nvPr>
        </p:nvSpPr>
        <p:spPr/>
        <p:txBody>
          <a:bodyPr/>
          <a:lstStyle/>
          <a:p>
            <a:r>
              <a:rPr lang="en-US" dirty="0"/>
              <a:t>Gamma-Aminobutyric Acid (GABA)</a:t>
            </a:r>
          </a:p>
        </p:txBody>
      </p:sp>
      <p:sp>
        <p:nvSpPr>
          <p:cNvPr id="3" name="Content Placeholder 2">
            <a:extLst>
              <a:ext uri="{FF2B5EF4-FFF2-40B4-BE49-F238E27FC236}">
                <a16:creationId xmlns:a16="http://schemas.microsoft.com/office/drawing/2014/main" id="{2BEB5240-DC7E-0953-B3A8-24E71EF7F018}"/>
              </a:ext>
            </a:extLst>
          </p:cNvPr>
          <p:cNvSpPr>
            <a:spLocks noGrp="1"/>
          </p:cNvSpPr>
          <p:nvPr>
            <p:ph idx="1"/>
          </p:nvPr>
        </p:nvSpPr>
        <p:spPr>
          <a:xfrm>
            <a:off x="838200" y="1825625"/>
            <a:ext cx="6086475" cy="4351338"/>
          </a:xfrm>
        </p:spPr>
        <p:txBody>
          <a:bodyPr/>
          <a:lstStyle/>
          <a:p>
            <a:r>
              <a:rPr lang="en-US" b="1" dirty="0"/>
              <a:t>Pathway</a:t>
            </a:r>
            <a:endParaRPr lang="en-US" dirty="0"/>
          </a:p>
          <a:p>
            <a:pPr lvl="1"/>
            <a:r>
              <a:rPr lang="en-US" b="1" dirty="0"/>
              <a:t>Origin</a:t>
            </a:r>
            <a:r>
              <a:rPr lang="en-US" dirty="0"/>
              <a:t>: Across the brain</a:t>
            </a:r>
          </a:p>
          <a:p>
            <a:pPr lvl="1"/>
            <a:r>
              <a:rPr lang="en-US" b="1" dirty="0"/>
              <a:t>Projects</a:t>
            </a:r>
            <a:r>
              <a:rPr lang="en-US" dirty="0"/>
              <a:t>: Across the brain</a:t>
            </a:r>
          </a:p>
          <a:p>
            <a:r>
              <a:rPr lang="en-US" b="1" dirty="0"/>
              <a:t>Function</a:t>
            </a:r>
            <a:r>
              <a:rPr lang="en-US" dirty="0"/>
              <a:t>: Diverse, the major </a:t>
            </a:r>
            <a:r>
              <a:rPr lang="en-US" i="1" dirty="0"/>
              <a:t>inhibitory</a:t>
            </a:r>
            <a:r>
              <a:rPr lang="en-US" dirty="0"/>
              <a:t> NT</a:t>
            </a:r>
          </a:p>
          <a:p>
            <a:r>
              <a:rPr lang="en-US" b="1" dirty="0"/>
              <a:t>Receptors</a:t>
            </a:r>
            <a:r>
              <a:rPr lang="en-US" dirty="0"/>
              <a:t>: Ionotropic and metabotropic</a:t>
            </a:r>
          </a:p>
          <a:p>
            <a:pPr lvl="2"/>
            <a:endParaRPr lang="en-US" dirty="0"/>
          </a:p>
        </p:txBody>
      </p:sp>
    </p:spTree>
    <p:extLst>
      <p:ext uri="{BB962C8B-B14F-4D97-AF65-F5344CB8AC3E}">
        <p14:creationId xmlns:p14="http://schemas.microsoft.com/office/powerpoint/2010/main" val="14747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AA40C-04EF-EF49-D6CE-5DCC26064E03}"/>
              </a:ext>
            </a:extLst>
          </p:cNvPr>
          <p:cNvSpPr>
            <a:spLocks noGrp="1"/>
          </p:cNvSpPr>
          <p:nvPr>
            <p:ph type="title"/>
          </p:nvPr>
        </p:nvSpPr>
        <p:spPr/>
        <p:txBody>
          <a:bodyPr/>
          <a:lstStyle/>
          <a:p>
            <a:r>
              <a:rPr lang="en-US" dirty="0"/>
              <a:t>Acetylcholine (</a:t>
            </a:r>
            <a:r>
              <a:rPr lang="en-US" dirty="0" err="1"/>
              <a:t>ACh</a:t>
            </a:r>
            <a:r>
              <a:rPr lang="en-US" dirty="0"/>
              <a:t>)</a:t>
            </a:r>
          </a:p>
        </p:txBody>
      </p:sp>
      <p:sp>
        <p:nvSpPr>
          <p:cNvPr id="3" name="Content Placeholder 2">
            <a:extLst>
              <a:ext uri="{FF2B5EF4-FFF2-40B4-BE49-F238E27FC236}">
                <a16:creationId xmlns:a16="http://schemas.microsoft.com/office/drawing/2014/main" id="{0392AE59-3650-D6E3-1AFC-B246A23CB61E}"/>
              </a:ext>
            </a:extLst>
          </p:cNvPr>
          <p:cNvSpPr>
            <a:spLocks noGrp="1"/>
          </p:cNvSpPr>
          <p:nvPr>
            <p:ph idx="1"/>
          </p:nvPr>
        </p:nvSpPr>
        <p:spPr>
          <a:xfrm>
            <a:off x="838200" y="1825625"/>
            <a:ext cx="6086475" cy="4351338"/>
          </a:xfrm>
        </p:spPr>
        <p:txBody>
          <a:bodyPr/>
          <a:lstStyle/>
          <a:p>
            <a:r>
              <a:rPr lang="en-US" b="1" dirty="0"/>
              <a:t>Pathway</a:t>
            </a:r>
            <a:endParaRPr lang="en-US" dirty="0"/>
          </a:p>
          <a:p>
            <a:pPr lvl="1"/>
            <a:r>
              <a:rPr lang="en-US" b="1" dirty="0"/>
              <a:t>Origin</a:t>
            </a:r>
            <a:r>
              <a:rPr lang="en-US" dirty="0"/>
              <a:t>: Basal forebrain + brainstem</a:t>
            </a:r>
          </a:p>
          <a:p>
            <a:pPr lvl="1"/>
            <a:r>
              <a:rPr lang="en-US" b="1" dirty="0"/>
              <a:t>Projects</a:t>
            </a:r>
            <a:r>
              <a:rPr lang="en-US" dirty="0"/>
              <a:t>: Hippocampus, amygdala, and cortex</a:t>
            </a:r>
          </a:p>
          <a:p>
            <a:pPr lvl="2"/>
            <a:r>
              <a:rPr lang="en-US" dirty="0"/>
              <a:t>+ widely across the brain</a:t>
            </a:r>
          </a:p>
          <a:p>
            <a:r>
              <a:rPr lang="en-US" b="1" dirty="0"/>
              <a:t>Function</a:t>
            </a:r>
            <a:r>
              <a:rPr lang="en-US" dirty="0"/>
              <a:t>: Learning, memory, attention, arousal</a:t>
            </a:r>
          </a:p>
          <a:p>
            <a:r>
              <a:rPr lang="en-US" b="1" dirty="0"/>
              <a:t>Receptors</a:t>
            </a:r>
            <a:r>
              <a:rPr lang="en-US" dirty="0"/>
              <a:t>: Ionotropic and metabotropic</a:t>
            </a:r>
          </a:p>
        </p:txBody>
      </p:sp>
      <p:pic>
        <p:nvPicPr>
          <p:cNvPr id="4" name="Content Placeholder 6" descr="The Cholinergic pathways in the brain are as follows. The basal forebrain has the Nucleus basalis and Medial septal nucleus&#10;and nucleus of diagonal band next to each other. The Hippocampus is under the surface below the nucleus basalis. Pedunculopontine nucleus and laterodorsal tegmental nucleus is to the top left of the cerebellum. Fornix to Hippocampus formation is a curved line from the medial septal nucleus to the Hippocampus. Curved line paths go from all the parts. &#10;">
            <a:extLst>
              <a:ext uri="{FF2B5EF4-FFF2-40B4-BE49-F238E27FC236}">
                <a16:creationId xmlns:a16="http://schemas.microsoft.com/office/drawing/2014/main" id="{56695494-F705-38F8-2498-F0B5307A05C1}"/>
              </a:ext>
            </a:extLst>
          </p:cNvPr>
          <p:cNvPicPr>
            <a:picLocks noChangeAspect="1"/>
          </p:cNvPicPr>
          <p:nvPr/>
        </p:nvPicPr>
        <p:blipFill>
          <a:blip r:embed="rId2"/>
          <a:stretch>
            <a:fillRect/>
          </a:stretch>
        </p:blipFill>
        <p:spPr>
          <a:xfrm>
            <a:off x="7230924" y="1418501"/>
            <a:ext cx="4761051" cy="5165585"/>
          </a:xfrm>
          <a:prstGeom prst="rect">
            <a:avLst/>
          </a:prstGeom>
        </p:spPr>
      </p:pic>
    </p:spTree>
    <p:extLst>
      <p:ext uri="{BB962C8B-B14F-4D97-AF65-F5344CB8AC3E}">
        <p14:creationId xmlns:p14="http://schemas.microsoft.com/office/powerpoint/2010/main" val="368641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94A3C-3FE7-9E81-8521-6A62C1670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49777-6A7D-952C-352F-C38FAD048D69}"/>
              </a:ext>
            </a:extLst>
          </p:cNvPr>
          <p:cNvSpPr>
            <a:spLocks noGrp="1"/>
          </p:cNvSpPr>
          <p:nvPr>
            <p:ph type="title"/>
          </p:nvPr>
        </p:nvSpPr>
        <p:spPr/>
        <p:txBody>
          <a:bodyPr/>
          <a:lstStyle/>
          <a:p>
            <a:r>
              <a:rPr lang="en-US" dirty="0"/>
              <a:t>Dopamine (DA)</a:t>
            </a:r>
          </a:p>
        </p:txBody>
      </p:sp>
      <p:sp>
        <p:nvSpPr>
          <p:cNvPr id="3" name="Content Placeholder 2">
            <a:extLst>
              <a:ext uri="{FF2B5EF4-FFF2-40B4-BE49-F238E27FC236}">
                <a16:creationId xmlns:a16="http://schemas.microsoft.com/office/drawing/2014/main" id="{4916E018-ED3C-D6A3-906D-69AD49CF189D}"/>
              </a:ext>
            </a:extLst>
          </p:cNvPr>
          <p:cNvSpPr>
            <a:spLocks noGrp="1"/>
          </p:cNvSpPr>
          <p:nvPr>
            <p:ph idx="1"/>
          </p:nvPr>
        </p:nvSpPr>
        <p:spPr>
          <a:xfrm>
            <a:off x="838200" y="1825625"/>
            <a:ext cx="6086475" cy="4667250"/>
          </a:xfrm>
        </p:spPr>
        <p:txBody>
          <a:bodyPr>
            <a:normAutofit/>
          </a:bodyPr>
          <a:lstStyle/>
          <a:p>
            <a:r>
              <a:rPr lang="en-US" b="1" dirty="0"/>
              <a:t>Nigrostriatal (</a:t>
            </a:r>
            <a:r>
              <a:rPr lang="en-US" b="1" dirty="0" err="1"/>
              <a:t>Mesostriatal</a:t>
            </a:r>
            <a:r>
              <a:rPr lang="en-US" b="1" dirty="0"/>
              <a:t>): </a:t>
            </a:r>
          </a:p>
          <a:p>
            <a:pPr lvl="1"/>
            <a:r>
              <a:rPr lang="en-US" sz="2800" b="1" dirty="0"/>
              <a:t>Pathway</a:t>
            </a:r>
          </a:p>
          <a:p>
            <a:pPr lvl="2"/>
            <a:r>
              <a:rPr lang="en-US" sz="2400" b="1" dirty="0"/>
              <a:t>Origin: </a:t>
            </a:r>
            <a:r>
              <a:rPr lang="en-US" sz="2400" dirty="0"/>
              <a:t>Substantia Nigra </a:t>
            </a:r>
          </a:p>
          <a:p>
            <a:pPr lvl="2"/>
            <a:r>
              <a:rPr lang="en-US" sz="2400" b="1" dirty="0"/>
              <a:t>Projects</a:t>
            </a:r>
            <a:r>
              <a:rPr lang="en-US" sz="2400" dirty="0"/>
              <a:t>: Basal ganglia</a:t>
            </a:r>
          </a:p>
          <a:p>
            <a:pPr lvl="1"/>
            <a:r>
              <a:rPr lang="en-US" sz="2800" b="1" dirty="0"/>
              <a:t>Function</a:t>
            </a:r>
            <a:r>
              <a:rPr lang="en-US" sz="2800" dirty="0"/>
              <a:t>: Motor control</a:t>
            </a:r>
          </a:p>
          <a:p>
            <a:pPr lvl="1"/>
            <a:r>
              <a:rPr lang="en-US" sz="2800" b="1" dirty="0"/>
              <a:t>Receptors</a:t>
            </a:r>
            <a:r>
              <a:rPr lang="en-US" sz="2800" dirty="0"/>
              <a:t>: Metabotropic</a:t>
            </a:r>
            <a:endParaRPr lang="en-US" dirty="0"/>
          </a:p>
          <a:p>
            <a:pPr lvl="1"/>
            <a:endParaRPr lang="en-US" dirty="0"/>
          </a:p>
        </p:txBody>
      </p:sp>
      <p:pic>
        <p:nvPicPr>
          <p:cNvPr id="5" name="Content Placeholder 6" descr="Dopaminergic pathways in the brain are as follows. Near the midbrain area are the Mesostriatal pathway and Mesolimbocortical pathway. Mesostriatal pathway: substantia nigra to striatum, caudate and putamen. Mesolimbocortical pathway: ventral tegmental area V T A, to nucleus accumbens, cortex, including the insula, and hippocampus. From the mesostriatal pathway area, four pathways go above the mid brain. From the Mesolimbocortical pathway area, many paths diverge into the brain. One of these pathways go to the insula located lateral to Basal Ganglia. Paths also go to amygdala and Hippocampus. ">
            <a:extLst>
              <a:ext uri="{FF2B5EF4-FFF2-40B4-BE49-F238E27FC236}">
                <a16:creationId xmlns:a16="http://schemas.microsoft.com/office/drawing/2014/main" id="{68008AA6-A6D3-33E6-7CA6-5D6F3C0BFB93}"/>
              </a:ext>
            </a:extLst>
          </p:cNvPr>
          <p:cNvPicPr>
            <a:picLocks noChangeAspect="1"/>
          </p:cNvPicPr>
          <p:nvPr/>
        </p:nvPicPr>
        <p:blipFill>
          <a:blip r:embed="rId2"/>
          <a:stretch>
            <a:fillRect/>
          </a:stretch>
        </p:blipFill>
        <p:spPr>
          <a:xfrm>
            <a:off x="6924675" y="1610198"/>
            <a:ext cx="4984358" cy="5247802"/>
          </a:xfrm>
          <a:prstGeom prst="rect">
            <a:avLst/>
          </a:prstGeom>
        </p:spPr>
      </p:pic>
    </p:spTree>
    <p:extLst>
      <p:ext uri="{BB962C8B-B14F-4D97-AF65-F5344CB8AC3E}">
        <p14:creationId xmlns:p14="http://schemas.microsoft.com/office/powerpoint/2010/main" val="3335553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3192D-2706-E64A-0083-E90C7405C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34887-03E6-878C-8F3E-5A10DACFDBFC}"/>
              </a:ext>
            </a:extLst>
          </p:cNvPr>
          <p:cNvSpPr>
            <a:spLocks noGrp="1"/>
          </p:cNvSpPr>
          <p:nvPr>
            <p:ph type="title"/>
          </p:nvPr>
        </p:nvSpPr>
        <p:spPr/>
        <p:txBody>
          <a:bodyPr/>
          <a:lstStyle/>
          <a:p>
            <a:r>
              <a:rPr lang="en-US" dirty="0"/>
              <a:t>Dopamine (DA)</a:t>
            </a:r>
          </a:p>
        </p:txBody>
      </p:sp>
      <p:sp>
        <p:nvSpPr>
          <p:cNvPr id="3" name="Content Placeholder 2">
            <a:extLst>
              <a:ext uri="{FF2B5EF4-FFF2-40B4-BE49-F238E27FC236}">
                <a16:creationId xmlns:a16="http://schemas.microsoft.com/office/drawing/2014/main" id="{4EBB9C5F-51E4-A14B-BE1F-45F5BD8F586A}"/>
              </a:ext>
            </a:extLst>
          </p:cNvPr>
          <p:cNvSpPr>
            <a:spLocks noGrp="1"/>
          </p:cNvSpPr>
          <p:nvPr>
            <p:ph idx="1"/>
          </p:nvPr>
        </p:nvSpPr>
        <p:spPr>
          <a:xfrm>
            <a:off x="838200" y="1825625"/>
            <a:ext cx="6086475" cy="4667250"/>
          </a:xfrm>
        </p:spPr>
        <p:txBody>
          <a:bodyPr>
            <a:normAutofit/>
          </a:bodyPr>
          <a:lstStyle/>
          <a:p>
            <a:r>
              <a:rPr lang="en-US" b="1" dirty="0"/>
              <a:t>Mesolimbic: </a:t>
            </a:r>
          </a:p>
          <a:p>
            <a:pPr lvl="1"/>
            <a:r>
              <a:rPr lang="en-US" sz="2800" b="1" dirty="0"/>
              <a:t>Pathway</a:t>
            </a:r>
          </a:p>
          <a:p>
            <a:pPr lvl="2"/>
            <a:r>
              <a:rPr lang="en-US" sz="2400" b="1" dirty="0"/>
              <a:t>Origin: </a:t>
            </a:r>
            <a:r>
              <a:rPr lang="en-US" sz="2400" dirty="0"/>
              <a:t>Ventral tegmental area </a:t>
            </a:r>
          </a:p>
          <a:p>
            <a:pPr lvl="2"/>
            <a:r>
              <a:rPr lang="en-US" sz="2400" b="1" dirty="0"/>
              <a:t>Projects</a:t>
            </a:r>
            <a:r>
              <a:rPr lang="en-US" sz="2400" dirty="0"/>
              <a:t>: Limbic system</a:t>
            </a:r>
          </a:p>
          <a:p>
            <a:pPr lvl="1"/>
            <a:r>
              <a:rPr lang="en-US" sz="2800" b="1" dirty="0"/>
              <a:t>Function</a:t>
            </a:r>
            <a:r>
              <a:rPr lang="en-US" sz="2800" dirty="0"/>
              <a:t>: Reward and reinforcement</a:t>
            </a:r>
          </a:p>
          <a:p>
            <a:pPr lvl="1"/>
            <a:r>
              <a:rPr lang="en-US" sz="2800" b="1" dirty="0"/>
              <a:t>Receptors</a:t>
            </a:r>
            <a:r>
              <a:rPr lang="en-US" sz="2800" dirty="0"/>
              <a:t>: Metabotropic</a:t>
            </a:r>
            <a:endParaRPr lang="en-US" dirty="0"/>
          </a:p>
        </p:txBody>
      </p:sp>
      <p:pic>
        <p:nvPicPr>
          <p:cNvPr id="5" name="Content Placeholder 6" descr="Dopaminergic pathways in the brain are as follows. Near the midbrain area are the Mesostriatal pathway and Mesolimbocortical pathway. Mesostriatal pathway: substantia nigra to striatum, caudate and putamen. Mesolimbocortical pathway: ventral tegmental area V T A, to nucleus accumbens, cortex, including the insula, and hippocampus. From the mesostriatal pathway area, four pathways go above the mid brain. From the Mesolimbocortical pathway area, many paths diverge into the brain. One of these pathways go to the insula located lateral to Basal Ganglia. Paths also go to amygdala and Hippocampus. ">
            <a:extLst>
              <a:ext uri="{FF2B5EF4-FFF2-40B4-BE49-F238E27FC236}">
                <a16:creationId xmlns:a16="http://schemas.microsoft.com/office/drawing/2014/main" id="{C7393C74-8CA7-972B-87F5-79F6301872E7}"/>
              </a:ext>
            </a:extLst>
          </p:cNvPr>
          <p:cNvPicPr>
            <a:picLocks noChangeAspect="1"/>
          </p:cNvPicPr>
          <p:nvPr/>
        </p:nvPicPr>
        <p:blipFill>
          <a:blip r:embed="rId2"/>
          <a:stretch>
            <a:fillRect/>
          </a:stretch>
        </p:blipFill>
        <p:spPr>
          <a:xfrm>
            <a:off x="6924675" y="1610198"/>
            <a:ext cx="4984358" cy="5247802"/>
          </a:xfrm>
          <a:prstGeom prst="rect">
            <a:avLst/>
          </a:prstGeom>
        </p:spPr>
      </p:pic>
    </p:spTree>
    <p:extLst>
      <p:ext uri="{BB962C8B-B14F-4D97-AF65-F5344CB8AC3E}">
        <p14:creationId xmlns:p14="http://schemas.microsoft.com/office/powerpoint/2010/main" val="2376278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A90FE-02DE-98AC-43B8-1E5803319E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8FA0A-AA2A-40AF-6F64-610F2DB2DC3E}"/>
              </a:ext>
            </a:extLst>
          </p:cNvPr>
          <p:cNvSpPr>
            <a:spLocks noGrp="1"/>
          </p:cNvSpPr>
          <p:nvPr>
            <p:ph type="title"/>
          </p:nvPr>
        </p:nvSpPr>
        <p:spPr/>
        <p:txBody>
          <a:bodyPr/>
          <a:lstStyle/>
          <a:p>
            <a:r>
              <a:rPr lang="en-US" dirty="0"/>
              <a:t>Dopamine (DA)</a:t>
            </a:r>
          </a:p>
        </p:txBody>
      </p:sp>
      <p:sp>
        <p:nvSpPr>
          <p:cNvPr id="3" name="Content Placeholder 2">
            <a:extLst>
              <a:ext uri="{FF2B5EF4-FFF2-40B4-BE49-F238E27FC236}">
                <a16:creationId xmlns:a16="http://schemas.microsoft.com/office/drawing/2014/main" id="{51632708-47C2-04C7-DE76-31E773803E42}"/>
              </a:ext>
            </a:extLst>
          </p:cNvPr>
          <p:cNvSpPr>
            <a:spLocks noGrp="1"/>
          </p:cNvSpPr>
          <p:nvPr>
            <p:ph idx="1"/>
          </p:nvPr>
        </p:nvSpPr>
        <p:spPr>
          <a:xfrm>
            <a:off x="838200" y="1825625"/>
            <a:ext cx="6086475" cy="4667250"/>
          </a:xfrm>
        </p:spPr>
        <p:txBody>
          <a:bodyPr>
            <a:normAutofit/>
          </a:bodyPr>
          <a:lstStyle/>
          <a:p>
            <a:r>
              <a:rPr lang="en-US" b="1" dirty="0" err="1"/>
              <a:t>Mesocortical</a:t>
            </a:r>
            <a:r>
              <a:rPr lang="en-US" b="1" dirty="0"/>
              <a:t>: </a:t>
            </a:r>
          </a:p>
          <a:p>
            <a:pPr lvl="1"/>
            <a:r>
              <a:rPr lang="en-US" sz="2800" b="1" dirty="0"/>
              <a:t>Pathway</a:t>
            </a:r>
          </a:p>
          <a:p>
            <a:pPr lvl="2"/>
            <a:r>
              <a:rPr lang="en-US" sz="2400" b="1" dirty="0"/>
              <a:t>Origin: </a:t>
            </a:r>
            <a:r>
              <a:rPr lang="en-US" sz="2400" dirty="0"/>
              <a:t>Ventral tegmental area </a:t>
            </a:r>
          </a:p>
          <a:p>
            <a:pPr lvl="2"/>
            <a:r>
              <a:rPr lang="en-US" sz="2400" b="1" dirty="0"/>
              <a:t>Projects</a:t>
            </a:r>
            <a:r>
              <a:rPr lang="en-US" sz="2400" dirty="0"/>
              <a:t>: Prefrontal cortex</a:t>
            </a:r>
          </a:p>
          <a:p>
            <a:pPr lvl="1"/>
            <a:r>
              <a:rPr lang="en-US" sz="2800" b="1" dirty="0"/>
              <a:t>Function</a:t>
            </a:r>
            <a:r>
              <a:rPr lang="en-US" sz="2800" dirty="0"/>
              <a:t>: Executive functioning</a:t>
            </a:r>
          </a:p>
          <a:p>
            <a:pPr lvl="1"/>
            <a:r>
              <a:rPr lang="en-US" sz="2800" b="1" dirty="0"/>
              <a:t>Receptors</a:t>
            </a:r>
            <a:r>
              <a:rPr lang="en-US" sz="2800" dirty="0"/>
              <a:t>: Metabotropic</a:t>
            </a:r>
          </a:p>
          <a:p>
            <a:pPr lvl="1"/>
            <a:endParaRPr lang="en-US" dirty="0"/>
          </a:p>
        </p:txBody>
      </p:sp>
      <p:pic>
        <p:nvPicPr>
          <p:cNvPr id="5" name="Content Placeholder 6" descr="Dopaminergic pathways in the brain are as follows. Near the midbrain area are the Mesostriatal pathway and Mesolimbocortical pathway. Mesostriatal pathway: substantia nigra to striatum, caudate and putamen. Mesolimbocortical pathway: ventral tegmental area V T A, to nucleus accumbens, cortex, including the insula, and hippocampus. From the mesostriatal pathway area, four pathways go above the mid brain. From the Mesolimbocortical pathway area, many paths diverge into the brain. One of these pathways go to the insula located lateral to Basal Ganglia. Paths also go to amygdala and Hippocampus. ">
            <a:extLst>
              <a:ext uri="{FF2B5EF4-FFF2-40B4-BE49-F238E27FC236}">
                <a16:creationId xmlns:a16="http://schemas.microsoft.com/office/drawing/2014/main" id="{82BA6BC1-2B78-AC8E-30A9-8035FF011D05}"/>
              </a:ext>
            </a:extLst>
          </p:cNvPr>
          <p:cNvPicPr>
            <a:picLocks noChangeAspect="1"/>
          </p:cNvPicPr>
          <p:nvPr/>
        </p:nvPicPr>
        <p:blipFill>
          <a:blip r:embed="rId2"/>
          <a:stretch>
            <a:fillRect/>
          </a:stretch>
        </p:blipFill>
        <p:spPr>
          <a:xfrm>
            <a:off x="6924675" y="1610198"/>
            <a:ext cx="4984358" cy="5247802"/>
          </a:xfrm>
          <a:prstGeom prst="rect">
            <a:avLst/>
          </a:prstGeom>
        </p:spPr>
      </p:pic>
    </p:spTree>
    <p:extLst>
      <p:ext uri="{BB962C8B-B14F-4D97-AF65-F5344CB8AC3E}">
        <p14:creationId xmlns:p14="http://schemas.microsoft.com/office/powerpoint/2010/main" val="378772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2CAB9-FE6A-235C-BF8B-0020FF4B0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AA76A-6889-68D2-6B2D-928A86E24038}"/>
              </a:ext>
            </a:extLst>
          </p:cNvPr>
          <p:cNvSpPr>
            <a:spLocks noGrp="1"/>
          </p:cNvSpPr>
          <p:nvPr>
            <p:ph type="title"/>
          </p:nvPr>
        </p:nvSpPr>
        <p:spPr/>
        <p:txBody>
          <a:bodyPr/>
          <a:lstStyle/>
          <a:p>
            <a:r>
              <a:rPr lang="en-US" dirty="0"/>
              <a:t>Serotonin (5-HT)</a:t>
            </a:r>
          </a:p>
        </p:txBody>
      </p:sp>
      <p:sp>
        <p:nvSpPr>
          <p:cNvPr id="3" name="Content Placeholder 2">
            <a:extLst>
              <a:ext uri="{FF2B5EF4-FFF2-40B4-BE49-F238E27FC236}">
                <a16:creationId xmlns:a16="http://schemas.microsoft.com/office/drawing/2014/main" id="{FE609901-38AB-F774-2543-7BC8EDBF0450}"/>
              </a:ext>
            </a:extLst>
          </p:cNvPr>
          <p:cNvSpPr>
            <a:spLocks noGrp="1"/>
          </p:cNvSpPr>
          <p:nvPr>
            <p:ph idx="1"/>
          </p:nvPr>
        </p:nvSpPr>
        <p:spPr>
          <a:xfrm>
            <a:off x="838200" y="1825625"/>
            <a:ext cx="6086475" cy="4351338"/>
          </a:xfrm>
        </p:spPr>
        <p:txBody>
          <a:bodyPr/>
          <a:lstStyle/>
          <a:p>
            <a:r>
              <a:rPr lang="en-US" b="1" dirty="0"/>
              <a:t>Pathway</a:t>
            </a:r>
          </a:p>
          <a:p>
            <a:pPr lvl="1"/>
            <a:r>
              <a:rPr lang="en-US" b="1" dirty="0"/>
              <a:t>Origin: </a:t>
            </a:r>
            <a:r>
              <a:rPr lang="en-US" dirty="0"/>
              <a:t>Raphe nuclei</a:t>
            </a:r>
          </a:p>
          <a:p>
            <a:pPr lvl="1"/>
            <a:r>
              <a:rPr lang="en-US" b="1" dirty="0"/>
              <a:t>Projects:</a:t>
            </a:r>
            <a:r>
              <a:rPr lang="en-US" dirty="0"/>
              <a:t> Hippocampus, cerebellum </a:t>
            </a:r>
          </a:p>
          <a:p>
            <a:pPr lvl="2"/>
            <a:r>
              <a:rPr lang="en-US" dirty="0"/>
              <a:t>+ widely across the brain</a:t>
            </a:r>
          </a:p>
          <a:p>
            <a:r>
              <a:rPr lang="en-US" b="1" dirty="0"/>
              <a:t>Function: </a:t>
            </a:r>
            <a:r>
              <a:rPr lang="en-US" dirty="0"/>
              <a:t>Sleep, mood, sex, anxiety</a:t>
            </a:r>
          </a:p>
          <a:p>
            <a:r>
              <a:rPr lang="en-US" b="1" dirty="0"/>
              <a:t>Receptors</a:t>
            </a:r>
            <a:r>
              <a:rPr lang="en-US" dirty="0"/>
              <a:t>: Mostly metabotropic</a:t>
            </a:r>
          </a:p>
          <a:p>
            <a:pPr lvl="1"/>
            <a:r>
              <a:rPr lang="en-US" dirty="0"/>
              <a:t>Very diverse with many subtypes</a:t>
            </a:r>
          </a:p>
        </p:txBody>
      </p:sp>
      <p:pic>
        <p:nvPicPr>
          <p:cNvPr id="4" name="Content Placeholder 6" descr="Serotogenic pathways in the brain are as follows. Raphe nuclei are seen in the brainstem area. From the nuclei the pathways go to the spinal cord and the other parts of the brain which includes the cerebellum and the Hippocampus under the surface. Mesencephalic serotonergic cells project to thalamus, hypothalamus, basal ganglia, and the cortex. ">
            <a:extLst>
              <a:ext uri="{FF2B5EF4-FFF2-40B4-BE49-F238E27FC236}">
                <a16:creationId xmlns:a16="http://schemas.microsoft.com/office/drawing/2014/main" id="{313D31A0-14BD-264F-D03B-72CF4207F55F}"/>
              </a:ext>
            </a:extLst>
          </p:cNvPr>
          <p:cNvPicPr>
            <a:picLocks noChangeAspect="1"/>
          </p:cNvPicPr>
          <p:nvPr/>
        </p:nvPicPr>
        <p:blipFill>
          <a:blip r:embed="rId2"/>
          <a:stretch>
            <a:fillRect/>
          </a:stretch>
        </p:blipFill>
        <p:spPr>
          <a:xfrm>
            <a:off x="7147622" y="1128713"/>
            <a:ext cx="4837323" cy="5029200"/>
          </a:xfrm>
          <a:prstGeom prst="rect">
            <a:avLst/>
          </a:prstGeom>
        </p:spPr>
      </p:pic>
    </p:spTree>
    <p:extLst>
      <p:ext uri="{BB962C8B-B14F-4D97-AF65-F5344CB8AC3E}">
        <p14:creationId xmlns:p14="http://schemas.microsoft.com/office/powerpoint/2010/main" val="1127932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AF108-650C-4277-EF9D-8E36F8F38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87FA9-5810-6D3A-B262-58A64814D055}"/>
              </a:ext>
            </a:extLst>
          </p:cNvPr>
          <p:cNvSpPr>
            <a:spLocks noGrp="1"/>
          </p:cNvSpPr>
          <p:nvPr>
            <p:ph type="title"/>
          </p:nvPr>
        </p:nvSpPr>
        <p:spPr/>
        <p:txBody>
          <a:bodyPr/>
          <a:lstStyle/>
          <a:p>
            <a:r>
              <a:rPr lang="en-US" dirty="0"/>
              <a:t>Norepinephrine (NE) / Noradrenaline (NA)</a:t>
            </a:r>
          </a:p>
        </p:txBody>
      </p:sp>
      <p:sp>
        <p:nvSpPr>
          <p:cNvPr id="3" name="Content Placeholder 2">
            <a:extLst>
              <a:ext uri="{FF2B5EF4-FFF2-40B4-BE49-F238E27FC236}">
                <a16:creationId xmlns:a16="http://schemas.microsoft.com/office/drawing/2014/main" id="{08BB5F1E-A8B1-9B2E-3662-3B948B2CC65B}"/>
              </a:ext>
            </a:extLst>
          </p:cNvPr>
          <p:cNvSpPr>
            <a:spLocks noGrp="1"/>
          </p:cNvSpPr>
          <p:nvPr>
            <p:ph idx="1"/>
          </p:nvPr>
        </p:nvSpPr>
        <p:spPr>
          <a:xfrm>
            <a:off x="838200" y="1825625"/>
            <a:ext cx="6086475" cy="4351338"/>
          </a:xfrm>
        </p:spPr>
        <p:txBody>
          <a:bodyPr/>
          <a:lstStyle/>
          <a:p>
            <a:r>
              <a:rPr lang="en-US" b="1" dirty="0"/>
              <a:t>Pathway: </a:t>
            </a:r>
          </a:p>
          <a:p>
            <a:pPr lvl="1"/>
            <a:r>
              <a:rPr lang="en-US" b="1" dirty="0"/>
              <a:t>Origin: </a:t>
            </a:r>
            <a:r>
              <a:rPr lang="en-US" dirty="0"/>
              <a:t>Locus coeruleus </a:t>
            </a:r>
          </a:p>
          <a:p>
            <a:pPr lvl="1"/>
            <a:r>
              <a:rPr lang="en-US" b="1" dirty="0"/>
              <a:t>Projects: </a:t>
            </a:r>
            <a:r>
              <a:rPr lang="en-US" dirty="0"/>
              <a:t>Thalamus, limbic system, cortex, cerebellum</a:t>
            </a:r>
          </a:p>
          <a:p>
            <a:pPr lvl="2"/>
            <a:r>
              <a:rPr lang="en-US" dirty="0"/>
              <a:t>+ widely across the brain</a:t>
            </a:r>
          </a:p>
          <a:p>
            <a:r>
              <a:rPr lang="en-US" b="1" dirty="0"/>
              <a:t>Function: </a:t>
            </a:r>
            <a:r>
              <a:rPr lang="en-US" dirty="0"/>
              <a:t>Diverse, including mood, arousal, sexual </a:t>
            </a:r>
            <a:r>
              <a:rPr lang="en-US" dirty="0" err="1"/>
              <a:t>behaviour</a:t>
            </a:r>
            <a:endParaRPr lang="en-US" dirty="0"/>
          </a:p>
          <a:p>
            <a:r>
              <a:rPr lang="en-US" b="1" dirty="0"/>
              <a:t>Receptors</a:t>
            </a:r>
            <a:r>
              <a:rPr lang="en-US" dirty="0"/>
              <a:t>: Metabotropic</a:t>
            </a:r>
          </a:p>
        </p:txBody>
      </p:sp>
      <p:pic>
        <p:nvPicPr>
          <p:cNvPr id="5" name="Content Placeholder 6" descr="Noradrenergic pathways in the brain are as follows. The pathways go to Hippocampus under the surface; Locus coeruleus&#10;to hippocampus, basal ganglia, and cortex; Lateral tegmental area; to spinal cord, Cerebellum, and the other parts of the brain at the top. &#10;">
            <a:extLst>
              <a:ext uri="{FF2B5EF4-FFF2-40B4-BE49-F238E27FC236}">
                <a16:creationId xmlns:a16="http://schemas.microsoft.com/office/drawing/2014/main" id="{33510AAE-1B9B-71B6-B099-6F75032B2731}"/>
              </a:ext>
            </a:extLst>
          </p:cNvPr>
          <p:cNvPicPr>
            <a:picLocks noChangeAspect="1"/>
          </p:cNvPicPr>
          <p:nvPr/>
        </p:nvPicPr>
        <p:blipFill>
          <a:blip r:embed="rId2"/>
          <a:stretch>
            <a:fillRect/>
          </a:stretch>
        </p:blipFill>
        <p:spPr>
          <a:xfrm>
            <a:off x="7067550" y="1585591"/>
            <a:ext cx="5124450" cy="5208115"/>
          </a:xfrm>
          <a:prstGeom prst="rect">
            <a:avLst/>
          </a:prstGeom>
        </p:spPr>
      </p:pic>
    </p:spTree>
    <p:extLst>
      <p:ext uri="{BB962C8B-B14F-4D97-AF65-F5344CB8AC3E}">
        <p14:creationId xmlns:p14="http://schemas.microsoft.com/office/powerpoint/2010/main" val="1996465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5CA8-853A-5D75-D3C6-03FE6CEF2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CF6AD-E986-333D-5AAE-88BA997C889C}"/>
              </a:ext>
            </a:extLst>
          </p:cNvPr>
          <p:cNvSpPr>
            <a:spLocks noGrp="1"/>
          </p:cNvSpPr>
          <p:nvPr>
            <p:ph type="title"/>
          </p:nvPr>
        </p:nvSpPr>
        <p:spPr/>
        <p:txBody>
          <a:bodyPr/>
          <a:lstStyle/>
          <a:p>
            <a:r>
              <a:rPr lang="en-US" dirty="0"/>
              <a:t>Neurotransmitters</a:t>
            </a:r>
          </a:p>
        </p:txBody>
      </p:sp>
      <p:graphicFrame>
        <p:nvGraphicFramePr>
          <p:cNvPr id="9" name="Table 8">
            <a:extLst>
              <a:ext uri="{FF2B5EF4-FFF2-40B4-BE49-F238E27FC236}">
                <a16:creationId xmlns:a16="http://schemas.microsoft.com/office/drawing/2014/main" id="{FECA3746-F47F-8B10-A76C-6BE0C918B748}"/>
              </a:ext>
            </a:extLst>
          </p:cNvPr>
          <p:cNvGraphicFramePr>
            <a:graphicFrameLocks noGrp="1"/>
          </p:cNvGraphicFramePr>
          <p:nvPr>
            <p:extLst>
              <p:ext uri="{D42A27DB-BD31-4B8C-83A1-F6EECF244321}">
                <p14:modId xmlns:p14="http://schemas.microsoft.com/office/powerpoint/2010/main" val="748048383"/>
              </p:ext>
            </p:extLst>
          </p:nvPr>
        </p:nvGraphicFramePr>
        <p:xfrm>
          <a:off x="758369" y="1319955"/>
          <a:ext cx="11183015" cy="5491480"/>
        </p:xfrm>
        <a:graphic>
          <a:graphicData uri="http://schemas.openxmlformats.org/drawingml/2006/table">
            <a:tbl>
              <a:tblPr firstRow="1" bandRow="1">
                <a:tableStyleId>{5C22544A-7EE6-4342-B048-85BDC9FD1C3A}</a:tableStyleId>
              </a:tblPr>
              <a:tblGrid>
                <a:gridCol w="2236603">
                  <a:extLst>
                    <a:ext uri="{9D8B030D-6E8A-4147-A177-3AD203B41FA5}">
                      <a16:colId xmlns:a16="http://schemas.microsoft.com/office/drawing/2014/main" val="3043887353"/>
                    </a:ext>
                  </a:extLst>
                </a:gridCol>
                <a:gridCol w="2236603">
                  <a:extLst>
                    <a:ext uri="{9D8B030D-6E8A-4147-A177-3AD203B41FA5}">
                      <a16:colId xmlns:a16="http://schemas.microsoft.com/office/drawing/2014/main" val="4102595565"/>
                    </a:ext>
                  </a:extLst>
                </a:gridCol>
                <a:gridCol w="2236603">
                  <a:extLst>
                    <a:ext uri="{9D8B030D-6E8A-4147-A177-3AD203B41FA5}">
                      <a16:colId xmlns:a16="http://schemas.microsoft.com/office/drawing/2014/main" val="1874462719"/>
                    </a:ext>
                  </a:extLst>
                </a:gridCol>
                <a:gridCol w="2236603">
                  <a:extLst>
                    <a:ext uri="{9D8B030D-6E8A-4147-A177-3AD203B41FA5}">
                      <a16:colId xmlns:a16="http://schemas.microsoft.com/office/drawing/2014/main" val="2509141144"/>
                    </a:ext>
                  </a:extLst>
                </a:gridCol>
                <a:gridCol w="2236603">
                  <a:extLst>
                    <a:ext uri="{9D8B030D-6E8A-4147-A177-3AD203B41FA5}">
                      <a16:colId xmlns:a16="http://schemas.microsoft.com/office/drawing/2014/main" val="2430078636"/>
                    </a:ext>
                  </a:extLst>
                </a:gridCol>
              </a:tblGrid>
              <a:tr h="370840">
                <a:tc>
                  <a:txBody>
                    <a:bodyPr/>
                    <a:lstStyle/>
                    <a:p>
                      <a:endParaRPr lang="en-US"/>
                    </a:p>
                  </a:txBody>
                  <a:tcPr/>
                </a:tc>
                <a:tc>
                  <a:txBody>
                    <a:bodyPr/>
                    <a:lstStyle/>
                    <a:p>
                      <a:pPr algn="ctr"/>
                      <a:r>
                        <a:rPr lang="en-US" dirty="0"/>
                        <a:t>Origin</a:t>
                      </a:r>
                    </a:p>
                  </a:txBody>
                  <a:tcPr/>
                </a:tc>
                <a:tc>
                  <a:txBody>
                    <a:bodyPr/>
                    <a:lstStyle/>
                    <a:p>
                      <a:pPr algn="ctr"/>
                      <a:r>
                        <a:rPr lang="en-US" dirty="0"/>
                        <a:t>Projection</a:t>
                      </a:r>
                    </a:p>
                  </a:txBody>
                  <a:tcPr/>
                </a:tc>
                <a:tc>
                  <a:txBody>
                    <a:bodyPr/>
                    <a:lstStyle/>
                    <a:p>
                      <a:pPr algn="ctr"/>
                      <a:r>
                        <a:rPr lang="en-US" dirty="0"/>
                        <a:t>Function</a:t>
                      </a:r>
                    </a:p>
                  </a:txBody>
                  <a:tcPr/>
                </a:tc>
                <a:tc>
                  <a:txBody>
                    <a:bodyPr/>
                    <a:lstStyle/>
                    <a:p>
                      <a:pPr algn="ctr"/>
                      <a:r>
                        <a:rPr lang="en-US" dirty="0"/>
                        <a:t>Receptor</a:t>
                      </a:r>
                    </a:p>
                  </a:txBody>
                  <a:tcPr/>
                </a:tc>
                <a:extLst>
                  <a:ext uri="{0D108BD9-81ED-4DB2-BD59-A6C34878D82A}">
                    <a16:rowId xmlns:a16="http://schemas.microsoft.com/office/drawing/2014/main" val="1120425325"/>
                  </a:ext>
                </a:extLst>
              </a:tr>
              <a:tr h="370840">
                <a:tc>
                  <a:txBody>
                    <a:bodyPr/>
                    <a:lstStyle/>
                    <a:p>
                      <a:r>
                        <a:rPr lang="en-US" b="1" dirty="0"/>
                        <a:t>Glutamate</a:t>
                      </a:r>
                    </a:p>
                  </a:txBody>
                  <a:tcPr anchor="ctr"/>
                </a:tc>
                <a:tc>
                  <a:txBody>
                    <a:bodyPr/>
                    <a:lstStyle/>
                    <a:p>
                      <a:r>
                        <a:rPr lang="en-US" dirty="0"/>
                        <a:t>Across the brain</a:t>
                      </a:r>
                    </a:p>
                  </a:txBody>
                  <a:tcPr anchor="ctr"/>
                </a:tc>
                <a:tc>
                  <a:txBody>
                    <a:bodyPr/>
                    <a:lstStyle/>
                    <a:p>
                      <a:r>
                        <a:rPr lang="en-US" dirty="0"/>
                        <a:t>Across the brain</a:t>
                      </a:r>
                    </a:p>
                  </a:txBody>
                  <a:tcPr anchor="ctr"/>
                </a:tc>
                <a:tc>
                  <a:txBody>
                    <a:bodyPr/>
                    <a:lstStyle/>
                    <a:p>
                      <a:r>
                        <a:rPr lang="en-US" dirty="0"/>
                        <a:t>Major excitatory</a:t>
                      </a:r>
                    </a:p>
                  </a:txBody>
                  <a:tcPr anchor="ctr"/>
                </a:tc>
                <a:tc>
                  <a:txBody>
                    <a:bodyPr/>
                    <a:lstStyle/>
                    <a:p>
                      <a:r>
                        <a:rPr lang="en-US" dirty="0"/>
                        <a:t>Ionotropic &amp; metabotropic</a:t>
                      </a:r>
                    </a:p>
                  </a:txBody>
                  <a:tcPr anchor="ctr"/>
                </a:tc>
                <a:extLst>
                  <a:ext uri="{0D108BD9-81ED-4DB2-BD59-A6C34878D82A}">
                    <a16:rowId xmlns:a16="http://schemas.microsoft.com/office/drawing/2014/main" val="3172102326"/>
                  </a:ext>
                </a:extLst>
              </a:tr>
              <a:tr h="370840">
                <a:tc>
                  <a:txBody>
                    <a:bodyPr/>
                    <a:lstStyle/>
                    <a:p>
                      <a:r>
                        <a:rPr lang="en-US" b="1" dirty="0"/>
                        <a:t>GABA</a:t>
                      </a:r>
                    </a:p>
                  </a:txBody>
                  <a:tcPr anchor="ctr"/>
                </a:tc>
                <a:tc>
                  <a:txBody>
                    <a:bodyPr/>
                    <a:lstStyle/>
                    <a:p>
                      <a:r>
                        <a:rPr lang="en-US" dirty="0"/>
                        <a:t>Across the brain</a:t>
                      </a:r>
                    </a:p>
                  </a:txBody>
                  <a:tcPr anchor="ctr"/>
                </a:tc>
                <a:tc>
                  <a:txBody>
                    <a:bodyPr/>
                    <a:lstStyle/>
                    <a:p>
                      <a:r>
                        <a:rPr lang="en-US" dirty="0"/>
                        <a:t>Across the brain</a:t>
                      </a:r>
                    </a:p>
                  </a:txBody>
                  <a:tcPr anchor="ctr"/>
                </a:tc>
                <a:tc>
                  <a:txBody>
                    <a:bodyPr/>
                    <a:lstStyle/>
                    <a:p>
                      <a:r>
                        <a:rPr lang="en-US" dirty="0"/>
                        <a:t>Major inhibitory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Ionotropic &amp; metabotropic</a:t>
                      </a:r>
                    </a:p>
                  </a:txBody>
                  <a:tcPr anchor="ctr"/>
                </a:tc>
                <a:extLst>
                  <a:ext uri="{0D108BD9-81ED-4DB2-BD59-A6C34878D82A}">
                    <a16:rowId xmlns:a16="http://schemas.microsoft.com/office/drawing/2014/main" val="2222017584"/>
                  </a:ext>
                </a:extLst>
              </a:tr>
              <a:tr h="370840">
                <a:tc>
                  <a:txBody>
                    <a:bodyPr/>
                    <a:lstStyle/>
                    <a:p>
                      <a:r>
                        <a:rPr lang="en-US" b="1" dirty="0"/>
                        <a:t>Acetylcholine</a:t>
                      </a:r>
                    </a:p>
                  </a:txBody>
                  <a:tcPr anchor="ctr"/>
                </a:tc>
                <a:tc>
                  <a:txBody>
                    <a:bodyPr/>
                    <a:lstStyle/>
                    <a:p>
                      <a:r>
                        <a:rPr lang="en-US" dirty="0"/>
                        <a:t>Basal forebrain, brainstem</a:t>
                      </a:r>
                    </a:p>
                  </a:txBody>
                  <a:tcPr anchor="ctr"/>
                </a:tc>
                <a:tc>
                  <a:txBody>
                    <a:bodyPr/>
                    <a:lstStyle/>
                    <a:p>
                      <a:r>
                        <a:rPr lang="en-US" dirty="0"/>
                        <a:t>Hippocampus, amygdala</a:t>
                      </a:r>
                    </a:p>
                  </a:txBody>
                  <a:tcPr anchor="ctr"/>
                </a:tc>
                <a:tc>
                  <a:txBody>
                    <a:bodyPr/>
                    <a:lstStyle/>
                    <a:p>
                      <a:r>
                        <a:rPr lang="en-US" dirty="0"/>
                        <a:t>Learning, memory, attention, arousal</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Ionotropic &amp; metabotropic</a:t>
                      </a:r>
                    </a:p>
                  </a:txBody>
                  <a:tcPr anchor="ctr"/>
                </a:tc>
                <a:extLst>
                  <a:ext uri="{0D108BD9-81ED-4DB2-BD59-A6C34878D82A}">
                    <a16:rowId xmlns:a16="http://schemas.microsoft.com/office/drawing/2014/main" val="3087165396"/>
                  </a:ext>
                </a:extLst>
              </a:tr>
              <a:tr h="370840">
                <a:tc>
                  <a:txBody>
                    <a:bodyPr/>
                    <a:lstStyle/>
                    <a:p>
                      <a:r>
                        <a:rPr lang="en-US" b="1" dirty="0"/>
                        <a:t>Dopamine</a:t>
                      </a:r>
                    </a:p>
                    <a:p>
                      <a:r>
                        <a:rPr lang="en-US" b="1" dirty="0"/>
                        <a:t>   (Nigrostriatal)</a:t>
                      </a:r>
                    </a:p>
                  </a:txBody>
                  <a:tcPr anchor="ctr"/>
                </a:tc>
                <a:tc>
                  <a:txBody>
                    <a:bodyPr/>
                    <a:lstStyle/>
                    <a:p>
                      <a:r>
                        <a:rPr lang="en-US" dirty="0"/>
                        <a:t>Substantia nigra</a:t>
                      </a:r>
                    </a:p>
                  </a:txBody>
                  <a:tcPr anchor="ctr"/>
                </a:tc>
                <a:tc>
                  <a:txBody>
                    <a:bodyPr/>
                    <a:lstStyle/>
                    <a:p>
                      <a:r>
                        <a:rPr lang="en-US" dirty="0"/>
                        <a:t>Basal ganglia</a:t>
                      </a:r>
                    </a:p>
                  </a:txBody>
                  <a:tcPr anchor="ctr"/>
                </a:tc>
                <a:tc>
                  <a:txBody>
                    <a:bodyPr/>
                    <a:lstStyle/>
                    <a:p>
                      <a:r>
                        <a:rPr lang="en-US"/>
                        <a:t>Motor Control</a:t>
                      </a:r>
                      <a:endParaRPr 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Metabotropic</a:t>
                      </a:r>
                    </a:p>
                  </a:txBody>
                  <a:tcPr anchor="ctr"/>
                </a:tc>
                <a:extLst>
                  <a:ext uri="{0D108BD9-81ED-4DB2-BD59-A6C34878D82A}">
                    <a16:rowId xmlns:a16="http://schemas.microsoft.com/office/drawing/2014/main" val="3807204555"/>
                  </a:ext>
                </a:extLst>
              </a:tr>
              <a:tr h="370840">
                <a:tc>
                  <a:txBody>
                    <a:bodyPr/>
                    <a:lstStyle/>
                    <a:p>
                      <a:r>
                        <a:rPr lang="en-US" b="1" dirty="0"/>
                        <a:t>Dopamine    </a:t>
                      </a:r>
                    </a:p>
                    <a:p>
                      <a:r>
                        <a:rPr lang="en-US" b="1" dirty="0"/>
                        <a:t>    (Mesolimbic)</a:t>
                      </a:r>
                    </a:p>
                  </a:txBody>
                  <a:tcPr anchor="ctr"/>
                </a:tc>
                <a:tc>
                  <a:txBody>
                    <a:bodyPr/>
                    <a:lstStyle/>
                    <a:p>
                      <a:r>
                        <a:rPr lang="en-US" dirty="0"/>
                        <a:t>Ventral tegmental area</a:t>
                      </a:r>
                    </a:p>
                  </a:txBody>
                  <a:tcPr anchor="ctr"/>
                </a:tc>
                <a:tc>
                  <a:txBody>
                    <a:bodyPr/>
                    <a:lstStyle/>
                    <a:p>
                      <a:r>
                        <a:rPr lang="en-US" dirty="0"/>
                        <a:t>Limbic system</a:t>
                      </a:r>
                    </a:p>
                  </a:txBody>
                  <a:tcPr anchor="ctr"/>
                </a:tc>
                <a:tc>
                  <a:txBody>
                    <a:bodyPr/>
                    <a:lstStyle/>
                    <a:p>
                      <a:r>
                        <a:rPr lang="en-US" dirty="0"/>
                        <a:t>Reward and reinforcement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Metabotropic</a:t>
                      </a:r>
                    </a:p>
                  </a:txBody>
                  <a:tcPr anchor="ctr"/>
                </a:tc>
                <a:extLst>
                  <a:ext uri="{0D108BD9-81ED-4DB2-BD59-A6C34878D82A}">
                    <a16:rowId xmlns:a16="http://schemas.microsoft.com/office/drawing/2014/main" val="1440950092"/>
                  </a:ext>
                </a:extLst>
              </a:tr>
              <a:tr h="370840">
                <a:tc>
                  <a:txBody>
                    <a:bodyPr/>
                    <a:lstStyle/>
                    <a:p>
                      <a:r>
                        <a:rPr lang="en-US" b="1" dirty="0"/>
                        <a:t>Dopamine</a:t>
                      </a:r>
                    </a:p>
                    <a:p>
                      <a:r>
                        <a:rPr lang="en-US" b="1" dirty="0"/>
                        <a:t>    (</a:t>
                      </a:r>
                      <a:r>
                        <a:rPr lang="en-US" b="1" dirty="0" err="1"/>
                        <a:t>Mesocortical</a:t>
                      </a:r>
                      <a:r>
                        <a:rPr lang="en-US" b="1" dirty="0"/>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Ventral tegmental area</a:t>
                      </a:r>
                    </a:p>
                  </a:txBody>
                  <a:tcPr anchor="ctr"/>
                </a:tc>
                <a:tc>
                  <a:txBody>
                    <a:bodyPr/>
                    <a:lstStyle/>
                    <a:p>
                      <a:r>
                        <a:rPr lang="en-US" dirty="0"/>
                        <a:t>Prefrontal cortex</a:t>
                      </a:r>
                    </a:p>
                  </a:txBody>
                  <a:tcPr anchor="ctr"/>
                </a:tc>
                <a:tc>
                  <a:txBody>
                    <a:bodyPr/>
                    <a:lstStyle/>
                    <a:p>
                      <a:r>
                        <a:rPr lang="en-US" dirty="0"/>
                        <a:t>Executive functioning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Metabotropic</a:t>
                      </a:r>
                    </a:p>
                  </a:txBody>
                  <a:tcPr anchor="ctr"/>
                </a:tc>
                <a:extLst>
                  <a:ext uri="{0D108BD9-81ED-4DB2-BD59-A6C34878D82A}">
                    <a16:rowId xmlns:a16="http://schemas.microsoft.com/office/drawing/2014/main" val="3672035807"/>
                  </a:ext>
                </a:extLst>
              </a:tr>
              <a:tr h="370840">
                <a:tc>
                  <a:txBody>
                    <a:bodyPr/>
                    <a:lstStyle/>
                    <a:p>
                      <a:r>
                        <a:rPr lang="en-US" b="1" dirty="0"/>
                        <a:t>Serotonin</a:t>
                      </a:r>
                    </a:p>
                  </a:txBody>
                  <a:tcPr anchor="ctr"/>
                </a:tc>
                <a:tc>
                  <a:txBody>
                    <a:bodyPr/>
                    <a:lstStyle/>
                    <a:p>
                      <a:r>
                        <a:rPr lang="en-US" dirty="0"/>
                        <a:t>Raphe nuclei</a:t>
                      </a:r>
                    </a:p>
                  </a:txBody>
                  <a:tcPr anchor="ctr"/>
                </a:tc>
                <a:tc>
                  <a:txBody>
                    <a:bodyPr/>
                    <a:lstStyle/>
                    <a:p>
                      <a:r>
                        <a:rPr lang="en-US" dirty="0"/>
                        <a:t>Hippocampus, cerebellum, cortex</a:t>
                      </a:r>
                    </a:p>
                  </a:txBody>
                  <a:tcPr anchor="ctr"/>
                </a:tc>
                <a:tc>
                  <a:txBody>
                    <a:bodyPr/>
                    <a:lstStyle/>
                    <a:p>
                      <a:r>
                        <a:rPr lang="en-US" dirty="0"/>
                        <a:t>Sleep, mood, sex, anxiety</a:t>
                      </a:r>
                    </a:p>
                  </a:txBody>
                  <a:tcPr anchor="ctr"/>
                </a:tc>
                <a:tc>
                  <a:txBody>
                    <a:bodyPr/>
                    <a:lstStyle/>
                    <a:p>
                      <a:r>
                        <a:rPr lang="en-US" dirty="0"/>
                        <a:t>Metabotropic</a:t>
                      </a:r>
                    </a:p>
                  </a:txBody>
                  <a:tcPr anchor="ctr"/>
                </a:tc>
                <a:extLst>
                  <a:ext uri="{0D108BD9-81ED-4DB2-BD59-A6C34878D82A}">
                    <a16:rowId xmlns:a16="http://schemas.microsoft.com/office/drawing/2014/main" val="1304340408"/>
                  </a:ext>
                </a:extLst>
              </a:tr>
              <a:tr h="370840">
                <a:tc>
                  <a:txBody>
                    <a:bodyPr/>
                    <a:lstStyle/>
                    <a:p>
                      <a:r>
                        <a:rPr lang="en-US" b="1" dirty="0"/>
                        <a:t>Norepinephrine</a:t>
                      </a:r>
                    </a:p>
                  </a:txBody>
                  <a:tcPr anchor="ctr"/>
                </a:tc>
                <a:tc>
                  <a:txBody>
                    <a:bodyPr/>
                    <a:lstStyle/>
                    <a:p>
                      <a:r>
                        <a:rPr lang="en-US" dirty="0"/>
                        <a:t>Locus coeruleus</a:t>
                      </a:r>
                    </a:p>
                  </a:txBody>
                  <a:tcPr anchor="ctr"/>
                </a:tc>
                <a:tc>
                  <a:txBody>
                    <a:bodyPr/>
                    <a:lstStyle/>
                    <a:p>
                      <a:r>
                        <a:rPr lang="en-US" dirty="0"/>
                        <a:t>Thalamus, limbic, cerebellum, cortex</a:t>
                      </a:r>
                    </a:p>
                  </a:txBody>
                  <a:tcPr anchor="ctr"/>
                </a:tc>
                <a:tc>
                  <a:txBody>
                    <a:bodyPr/>
                    <a:lstStyle/>
                    <a:p>
                      <a:r>
                        <a:rPr lang="en-US" dirty="0"/>
                        <a:t>Mood, arousal, sex</a:t>
                      </a:r>
                    </a:p>
                  </a:txBody>
                  <a:tcPr anchor="ctr"/>
                </a:tc>
                <a:tc>
                  <a:txBody>
                    <a:bodyPr/>
                    <a:lstStyle/>
                    <a:p>
                      <a:r>
                        <a:rPr lang="en-US" dirty="0"/>
                        <a:t>Metabotropic</a:t>
                      </a:r>
                    </a:p>
                  </a:txBody>
                  <a:tcPr anchor="ctr"/>
                </a:tc>
                <a:extLst>
                  <a:ext uri="{0D108BD9-81ED-4DB2-BD59-A6C34878D82A}">
                    <a16:rowId xmlns:a16="http://schemas.microsoft.com/office/drawing/2014/main" val="2468992860"/>
                  </a:ext>
                </a:extLst>
              </a:tr>
            </a:tbl>
          </a:graphicData>
        </a:graphic>
      </p:graphicFrame>
    </p:spTree>
    <p:extLst>
      <p:ext uri="{BB962C8B-B14F-4D97-AF65-F5344CB8AC3E}">
        <p14:creationId xmlns:p14="http://schemas.microsoft.com/office/powerpoint/2010/main" val="1599647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445F4-97E5-241C-A447-DF3E9D282A96}"/>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1755F42B-EFE1-0784-03E6-964DAED129BC}"/>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Communication</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Types of NTs </a:t>
            </a:r>
            <a:br>
              <a:rPr lang="en-US" sz="4000" dirty="0">
                <a:latin typeface="Calibri" panose="020F0502020204030204" pitchFamily="34" charset="0"/>
                <a:cs typeface="Calibri" panose="020F0502020204030204" pitchFamily="34" charset="0"/>
              </a:rPr>
            </a:br>
            <a:br>
              <a:rPr lang="en-US" sz="4000" dirty="0">
                <a:latin typeface="Calibri" panose="020F0502020204030204" pitchFamily="34" charset="0"/>
                <a:cs typeface="Calibri" panose="020F0502020204030204" pitchFamily="34" charset="0"/>
              </a:rPr>
            </a:br>
            <a:r>
              <a:rPr lang="en-US" sz="4000" dirty="0">
                <a:solidFill>
                  <a:srgbClr val="FF0000"/>
                </a:solidFill>
                <a:latin typeface="Calibri" panose="020F0502020204030204" pitchFamily="34" charset="0"/>
                <a:cs typeface="Calibri" panose="020F0502020204030204" pitchFamily="34" charset="0"/>
              </a:rPr>
              <a:t>Drugs</a:t>
            </a:r>
          </a:p>
        </p:txBody>
      </p:sp>
      <p:pic>
        <p:nvPicPr>
          <p:cNvPr id="2" name="Picture 1" descr="A colorful and black and white brain&#10;&#10;AI-generated content may be incorrect.">
            <a:extLst>
              <a:ext uri="{FF2B5EF4-FFF2-40B4-BE49-F238E27FC236}">
                <a16:creationId xmlns:a16="http://schemas.microsoft.com/office/drawing/2014/main" id="{485991BF-DA31-6BEC-03EF-61D4E2100558}"/>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122286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2516-454B-5552-E1DE-8BF54271F321}"/>
              </a:ext>
            </a:extLst>
          </p:cNvPr>
          <p:cNvSpPr>
            <a:spLocks noGrp="1"/>
          </p:cNvSpPr>
          <p:nvPr>
            <p:ph type="title"/>
          </p:nvPr>
        </p:nvSpPr>
        <p:spPr/>
        <p:txBody>
          <a:bodyPr/>
          <a:lstStyle/>
          <a:p>
            <a:r>
              <a:rPr lang="en-US" dirty="0"/>
              <a:t>Drugs</a:t>
            </a:r>
          </a:p>
        </p:txBody>
      </p:sp>
      <p:sp>
        <p:nvSpPr>
          <p:cNvPr id="3" name="Content Placeholder 2">
            <a:extLst>
              <a:ext uri="{FF2B5EF4-FFF2-40B4-BE49-F238E27FC236}">
                <a16:creationId xmlns:a16="http://schemas.microsoft.com/office/drawing/2014/main" id="{D1A8F96D-6980-2305-C1C0-7E56D62730C9}"/>
              </a:ext>
            </a:extLst>
          </p:cNvPr>
          <p:cNvSpPr>
            <a:spLocks noGrp="1"/>
          </p:cNvSpPr>
          <p:nvPr>
            <p:ph idx="1"/>
          </p:nvPr>
        </p:nvSpPr>
        <p:spPr>
          <a:xfrm>
            <a:off x="838201" y="1825625"/>
            <a:ext cx="5048250" cy="4813300"/>
          </a:xfrm>
        </p:spPr>
        <p:txBody>
          <a:bodyPr>
            <a:normAutofit/>
          </a:bodyPr>
          <a:lstStyle/>
          <a:p>
            <a:pPr marL="0" indent="0">
              <a:buNone/>
            </a:pPr>
            <a:r>
              <a:rPr lang="en-US" b="1" dirty="0"/>
              <a:t>Drugs: </a:t>
            </a:r>
            <a:r>
              <a:rPr lang="en-US" dirty="0"/>
              <a:t>Substances that alter neurotransmission by modifying the effects of neurotransmitters</a:t>
            </a:r>
          </a:p>
          <a:p>
            <a:r>
              <a:rPr lang="en-US" dirty="0"/>
              <a:t>Can act </a:t>
            </a:r>
            <a:r>
              <a:rPr lang="en-US" b="1" i="1" dirty="0"/>
              <a:t>directly</a:t>
            </a:r>
            <a:r>
              <a:rPr lang="en-US" dirty="0"/>
              <a:t> by binding to receptors</a:t>
            </a:r>
          </a:p>
          <a:p>
            <a:r>
              <a:rPr lang="en-US" dirty="0"/>
              <a:t>Can act </a:t>
            </a:r>
            <a:r>
              <a:rPr lang="en-US" b="1" i="1" dirty="0"/>
              <a:t>indirectly</a:t>
            </a:r>
            <a:r>
              <a:rPr lang="en-US" dirty="0"/>
              <a:t> by altering neurotransmitter availability or signaling</a:t>
            </a:r>
          </a:p>
        </p:txBody>
      </p:sp>
      <p:pic>
        <p:nvPicPr>
          <p:cNvPr id="4" name="Content Placeholder 6" descr="A. In this example, the unbound receptor is normally closed. When the transmitter molecule comes, the receptor is open. An endogenous ligand is a naturally occurring molecule such as a transmitter that binds to the receptor. An endogenous ligand usually activates its receptor and is therefore classified as an agonist. When there is an agonistic drug, the receptor is open. An exogenous ligand, that is, a drug or a toxin that resembles the endogenous ligand and is capable of binding to the receptor and activating it is also classified as a receptor agonist. When there is an antagonist drug the receptors are closed. Some substances bind to receptors but do not activate them. Instead they simply block agonists from binding to the receptors. These are classified as receptor antagonists. When there is a noncompetitive antagonist and the transmitter binds but does not activate, the receptor is closed. Some agonist or antagonist drugs may bind to target receptors at a site that is different from where the endogenous ligand binds. Such drugs are known as noncompetitive agonists or antagonists. B. Schematic illustrations show the agonistic and antagonistic actions of a drug to a metabotropic receptor. During normal receptor operation, the closed metabotropic receptor is closed. After the receptor bounds a transmitter molecule, the G-protein activates, and the second messenger-mediated action activates through open-channel ionotropic receptors. During agonist drug action on the metabotropic receptors, the G-protein activates. During antagonist drug action on the metabotropic receptors, some substances bind to receptors but do not activate them, and block other molecules. During noncompetitive antagonist drug action on the metabotropic receptors, a transmitter binds to the target receptor.">
            <a:extLst>
              <a:ext uri="{FF2B5EF4-FFF2-40B4-BE49-F238E27FC236}">
                <a16:creationId xmlns:a16="http://schemas.microsoft.com/office/drawing/2014/main" id="{FAC70552-B349-6D85-5BE4-1F858C00EC15}"/>
              </a:ext>
            </a:extLst>
          </p:cNvPr>
          <p:cNvPicPr>
            <a:picLocks noChangeAspect="1"/>
          </p:cNvPicPr>
          <p:nvPr/>
        </p:nvPicPr>
        <p:blipFill>
          <a:blip r:embed="rId2"/>
          <a:srcRect l="18506" t="5241" r="24762" b="33988"/>
          <a:stretch>
            <a:fillRect/>
          </a:stretch>
        </p:blipFill>
        <p:spPr>
          <a:xfrm>
            <a:off x="6096000" y="1426939"/>
            <a:ext cx="5972175" cy="4564286"/>
          </a:xfrm>
          <a:prstGeom prst="rect">
            <a:avLst/>
          </a:prstGeom>
        </p:spPr>
      </p:pic>
    </p:spTree>
    <p:extLst>
      <p:ext uri="{BB962C8B-B14F-4D97-AF65-F5344CB8AC3E}">
        <p14:creationId xmlns:p14="http://schemas.microsoft.com/office/powerpoint/2010/main" val="424326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679E8-1FBF-FB57-279A-948876B854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D3EE8-E785-2506-CDC2-CA7CA8EBF386}"/>
              </a:ext>
            </a:extLst>
          </p:cNvPr>
          <p:cNvSpPr>
            <a:spLocks noGrp="1"/>
          </p:cNvSpPr>
          <p:nvPr>
            <p:ph type="title"/>
          </p:nvPr>
        </p:nvSpPr>
        <p:spPr/>
        <p:txBody>
          <a:bodyPr/>
          <a:lstStyle/>
          <a:p>
            <a:r>
              <a:rPr lang="en-US" dirty="0"/>
              <a:t>Drugs</a:t>
            </a:r>
          </a:p>
        </p:txBody>
      </p:sp>
      <p:sp>
        <p:nvSpPr>
          <p:cNvPr id="3" name="Content Placeholder 2">
            <a:extLst>
              <a:ext uri="{FF2B5EF4-FFF2-40B4-BE49-F238E27FC236}">
                <a16:creationId xmlns:a16="http://schemas.microsoft.com/office/drawing/2014/main" id="{68F00D4E-4B2B-078F-85EF-5413AC56DC1D}"/>
              </a:ext>
            </a:extLst>
          </p:cNvPr>
          <p:cNvSpPr>
            <a:spLocks noGrp="1"/>
          </p:cNvSpPr>
          <p:nvPr>
            <p:ph idx="1"/>
          </p:nvPr>
        </p:nvSpPr>
        <p:spPr>
          <a:xfrm>
            <a:off x="838200" y="1825625"/>
            <a:ext cx="5359399" cy="4813300"/>
          </a:xfrm>
        </p:spPr>
        <p:txBody>
          <a:bodyPr>
            <a:normAutofit/>
          </a:bodyPr>
          <a:lstStyle/>
          <a:p>
            <a:pPr marL="0" indent="0">
              <a:buNone/>
            </a:pPr>
            <a:r>
              <a:rPr lang="en-US" b="1" dirty="0"/>
              <a:t>Direct (Receptor-Level)</a:t>
            </a:r>
            <a:endParaRPr lang="en-US" dirty="0"/>
          </a:p>
          <a:p>
            <a:r>
              <a:rPr lang="en-US" b="1" dirty="0"/>
              <a:t>Types</a:t>
            </a:r>
          </a:p>
          <a:p>
            <a:pPr lvl="1"/>
            <a:r>
              <a:rPr lang="en-US" b="1" dirty="0"/>
              <a:t>Agonist</a:t>
            </a:r>
            <a:r>
              <a:rPr lang="en-US" dirty="0"/>
              <a:t>: Activates the receptor, producing a similar effect as the neurotransmitter</a:t>
            </a:r>
          </a:p>
          <a:p>
            <a:pPr lvl="1"/>
            <a:r>
              <a:rPr lang="en-US" b="1" dirty="0"/>
              <a:t>Antagonist</a:t>
            </a:r>
            <a:r>
              <a:rPr lang="en-US" dirty="0"/>
              <a:t>: Blocks the receptor, preventing the neurotransmitter’s effect</a:t>
            </a:r>
          </a:p>
          <a:p>
            <a:pPr lvl="1"/>
            <a:r>
              <a:rPr lang="en-US" b="1" dirty="0"/>
              <a:t>Inverse Agonist</a:t>
            </a:r>
            <a:r>
              <a:rPr lang="en-US" dirty="0"/>
              <a:t>: Produces the opposite effect</a:t>
            </a:r>
          </a:p>
        </p:txBody>
      </p:sp>
      <p:pic>
        <p:nvPicPr>
          <p:cNvPr id="4" name="Content Placeholder 6" descr="A. In this example, the unbound receptor is normally closed. When the transmitter molecule comes, the receptor is open. An endogenous ligand is a naturally occurring molecule such as a transmitter that binds to the receptor. An endogenous ligand usually activates its receptor and is therefore classified as an agonist. When there is an agonistic drug, the receptor is open. An exogenous ligand, that is, a drug or a toxin that resembles the endogenous ligand and is capable of binding to the receptor and activating it is also classified as a receptor agonist. When there is an antagonist drug the receptors are closed. Some substances bind to receptors but do not activate them. Instead they simply block agonists from binding to the receptors. These are classified as receptor antagonists. When there is a noncompetitive antagonist and the transmitter binds but does not activate, the receptor is closed. Some agonist or antagonist drugs may bind to target receptors at a site that is different from where the endogenous ligand binds. Such drugs are known as noncompetitive agonists or antagonists. B. Schematic illustrations show the agonistic and antagonistic actions of a drug to a metabotropic receptor. During normal receptor operation, the closed metabotropic receptor is closed. After the receptor bounds a transmitter molecule, the G-protein activates, and the second messenger-mediated action activates through open-channel ionotropic receptors. During agonist drug action on the metabotropic receptors, the G-protein activates. During antagonist drug action on the metabotropic receptors, some substances bind to receptors but do not activate them, and block other molecules. During noncompetitive antagonist drug action on the metabotropic receptors, a transmitter binds to the target receptor.">
            <a:extLst>
              <a:ext uri="{FF2B5EF4-FFF2-40B4-BE49-F238E27FC236}">
                <a16:creationId xmlns:a16="http://schemas.microsoft.com/office/drawing/2014/main" id="{11EB3121-32C0-8D24-1728-50DD468932DA}"/>
              </a:ext>
            </a:extLst>
          </p:cNvPr>
          <p:cNvPicPr>
            <a:picLocks noChangeAspect="1"/>
          </p:cNvPicPr>
          <p:nvPr/>
        </p:nvPicPr>
        <p:blipFill>
          <a:blip r:embed="rId2"/>
          <a:srcRect l="18506" t="5241" r="24762" b="33988"/>
          <a:stretch>
            <a:fillRect/>
          </a:stretch>
        </p:blipFill>
        <p:spPr>
          <a:xfrm>
            <a:off x="6096000" y="1426939"/>
            <a:ext cx="5972175" cy="4564286"/>
          </a:xfrm>
          <a:prstGeom prst="rect">
            <a:avLst/>
          </a:prstGeom>
        </p:spPr>
      </p:pic>
    </p:spTree>
    <p:extLst>
      <p:ext uri="{BB962C8B-B14F-4D97-AF65-F5344CB8AC3E}">
        <p14:creationId xmlns:p14="http://schemas.microsoft.com/office/powerpoint/2010/main" val="227298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4D772-5B93-2E2F-DAD7-7FAF0DED0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AB256-D8F6-D456-F87D-1EA6D986A51F}"/>
              </a:ext>
            </a:extLst>
          </p:cNvPr>
          <p:cNvSpPr>
            <a:spLocks noGrp="1"/>
          </p:cNvSpPr>
          <p:nvPr>
            <p:ph type="title"/>
          </p:nvPr>
        </p:nvSpPr>
        <p:spPr/>
        <p:txBody>
          <a:bodyPr/>
          <a:lstStyle/>
          <a:p>
            <a:r>
              <a:rPr lang="en-US" dirty="0"/>
              <a:t>Drugs</a:t>
            </a:r>
          </a:p>
        </p:txBody>
      </p:sp>
      <p:sp>
        <p:nvSpPr>
          <p:cNvPr id="3" name="Content Placeholder 2">
            <a:extLst>
              <a:ext uri="{FF2B5EF4-FFF2-40B4-BE49-F238E27FC236}">
                <a16:creationId xmlns:a16="http://schemas.microsoft.com/office/drawing/2014/main" id="{9B07A2EC-1CAE-5DE3-D0EE-8852AE1BEDFA}"/>
              </a:ext>
            </a:extLst>
          </p:cNvPr>
          <p:cNvSpPr>
            <a:spLocks noGrp="1"/>
          </p:cNvSpPr>
          <p:nvPr>
            <p:ph idx="1"/>
          </p:nvPr>
        </p:nvSpPr>
        <p:spPr>
          <a:xfrm>
            <a:off x="838201" y="1825625"/>
            <a:ext cx="5048250" cy="4813300"/>
          </a:xfrm>
        </p:spPr>
        <p:txBody>
          <a:bodyPr>
            <a:normAutofit/>
          </a:bodyPr>
          <a:lstStyle/>
          <a:p>
            <a:pPr marL="0" indent="0">
              <a:buNone/>
            </a:pPr>
            <a:r>
              <a:rPr lang="en-US" b="1" dirty="0"/>
              <a:t>Direct (Receptor-Level)</a:t>
            </a:r>
          </a:p>
          <a:p>
            <a:r>
              <a:rPr lang="en-US" b="1" dirty="0"/>
              <a:t>Binding Site</a:t>
            </a:r>
          </a:p>
          <a:p>
            <a:pPr lvl="1"/>
            <a:r>
              <a:rPr lang="en-US" b="1" dirty="0"/>
              <a:t>Competitive</a:t>
            </a:r>
            <a:r>
              <a:rPr lang="en-US" dirty="0"/>
              <a:t>: Binds to same site as the NT</a:t>
            </a:r>
          </a:p>
          <a:p>
            <a:pPr lvl="2"/>
            <a:endParaRPr lang="en-US" dirty="0"/>
          </a:p>
          <a:p>
            <a:pPr lvl="1"/>
            <a:r>
              <a:rPr lang="en-US" b="1" dirty="0"/>
              <a:t>Noncompetitive</a:t>
            </a:r>
            <a:r>
              <a:rPr lang="en-US" dirty="0"/>
              <a:t>: Binds to a different site than the NT</a:t>
            </a:r>
          </a:p>
          <a:p>
            <a:pPr lvl="2"/>
            <a:endParaRPr lang="en-US" dirty="0"/>
          </a:p>
        </p:txBody>
      </p:sp>
      <p:pic>
        <p:nvPicPr>
          <p:cNvPr id="4" name="Content Placeholder 6" descr="A. In this example, the unbound receptor is normally closed. When the transmitter molecule comes, the receptor is open. An endogenous ligand is a naturally occurring molecule such as a transmitter that binds to the receptor. An endogenous ligand usually activates its receptor and is therefore classified as an agonist. When there is an agonistic drug, the receptor is open. An exogenous ligand, that is, a drug or a toxin that resembles the endogenous ligand and is capable of binding to the receptor and activating it is also classified as a receptor agonist. When there is an antagonist drug the receptors are closed. Some substances bind to receptors but do not activate them. Instead they simply block agonists from binding to the receptors. These are classified as receptor antagonists. When there is a noncompetitive antagonist and the transmitter binds but does not activate, the receptor is closed. Some agonist or antagonist drugs may bind to target receptors at a site that is different from where the endogenous ligand binds. Such drugs are known as noncompetitive agonists or antagonists. B. Schematic illustrations show the agonistic and antagonistic actions of a drug to a metabotropic receptor. During normal receptor operation, the closed metabotropic receptor is closed. After the receptor bounds a transmitter molecule, the G-protein activates, and the second messenger-mediated action activates through open-channel ionotropic receptors. During agonist drug action on the metabotropic receptors, the G-protein activates. During antagonist drug action on the metabotropic receptors, some substances bind to receptors but do not activate them, and block other molecules. During noncompetitive antagonist drug action on the metabotropic receptors, a transmitter binds to the target receptor.">
            <a:extLst>
              <a:ext uri="{FF2B5EF4-FFF2-40B4-BE49-F238E27FC236}">
                <a16:creationId xmlns:a16="http://schemas.microsoft.com/office/drawing/2014/main" id="{90605C02-ACF4-9806-9A06-1CE323201DDD}"/>
              </a:ext>
            </a:extLst>
          </p:cNvPr>
          <p:cNvPicPr>
            <a:picLocks noChangeAspect="1"/>
          </p:cNvPicPr>
          <p:nvPr/>
        </p:nvPicPr>
        <p:blipFill>
          <a:blip r:embed="rId2"/>
          <a:srcRect l="43710" t="5241" r="-1041" b="33988"/>
          <a:stretch>
            <a:fillRect/>
          </a:stretch>
        </p:blipFill>
        <p:spPr>
          <a:xfrm>
            <a:off x="6156960" y="1378813"/>
            <a:ext cx="6035040" cy="4564286"/>
          </a:xfrm>
          <a:prstGeom prst="rect">
            <a:avLst/>
          </a:prstGeom>
        </p:spPr>
      </p:pic>
    </p:spTree>
    <p:extLst>
      <p:ext uri="{BB962C8B-B14F-4D97-AF65-F5344CB8AC3E}">
        <p14:creationId xmlns:p14="http://schemas.microsoft.com/office/powerpoint/2010/main" val="368933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93ABB-6756-DF2D-CD5F-BCDA08547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4E2C0-2BF2-A6A3-C414-11E7577F124D}"/>
              </a:ext>
            </a:extLst>
          </p:cNvPr>
          <p:cNvSpPr>
            <a:spLocks noGrp="1"/>
          </p:cNvSpPr>
          <p:nvPr>
            <p:ph type="title"/>
          </p:nvPr>
        </p:nvSpPr>
        <p:spPr/>
        <p:txBody>
          <a:bodyPr/>
          <a:lstStyle/>
          <a:p>
            <a:r>
              <a:rPr lang="en-US" dirty="0"/>
              <a:t>Drugs</a:t>
            </a:r>
          </a:p>
        </p:txBody>
      </p:sp>
      <p:sp>
        <p:nvSpPr>
          <p:cNvPr id="3" name="Content Placeholder 2">
            <a:extLst>
              <a:ext uri="{FF2B5EF4-FFF2-40B4-BE49-F238E27FC236}">
                <a16:creationId xmlns:a16="http://schemas.microsoft.com/office/drawing/2014/main" id="{7ED4E36C-3E9F-CF47-3066-A0610701EBC9}"/>
              </a:ext>
            </a:extLst>
          </p:cNvPr>
          <p:cNvSpPr>
            <a:spLocks noGrp="1"/>
          </p:cNvSpPr>
          <p:nvPr>
            <p:ph idx="1"/>
          </p:nvPr>
        </p:nvSpPr>
        <p:spPr>
          <a:xfrm>
            <a:off x="838200" y="1825625"/>
            <a:ext cx="11089639" cy="2861522"/>
          </a:xfrm>
        </p:spPr>
        <p:txBody>
          <a:bodyPr>
            <a:normAutofit fontScale="85000" lnSpcReduction="20000"/>
          </a:bodyPr>
          <a:lstStyle/>
          <a:p>
            <a:pPr marL="0" indent="0">
              <a:buNone/>
            </a:pPr>
            <a:r>
              <a:rPr lang="en-US" b="1" dirty="0"/>
              <a:t>Indirect (Neurotransmitter-Level)</a:t>
            </a:r>
          </a:p>
          <a:p>
            <a:r>
              <a:rPr lang="en-US" b="1" dirty="0"/>
              <a:t>Synthesis: </a:t>
            </a:r>
            <a:r>
              <a:rPr lang="en-US" dirty="0"/>
              <a:t>Alters neurotransmitter production</a:t>
            </a:r>
          </a:p>
          <a:p>
            <a:r>
              <a:rPr lang="en-US" b="1" dirty="0"/>
              <a:t>Release: </a:t>
            </a:r>
            <a:r>
              <a:rPr lang="en-US" dirty="0"/>
              <a:t>Alters neurotransmitter release</a:t>
            </a:r>
          </a:p>
          <a:p>
            <a:r>
              <a:rPr lang="en-US" b="1" dirty="0"/>
              <a:t>Reuptake Inhibition: </a:t>
            </a:r>
            <a:r>
              <a:rPr lang="en-US" dirty="0"/>
              <a:t>Blocks the reuptake of neurotransmitters, leaving them in the synaptic cleft</a:t>
            </a:r>
          </a:p>
          <a:p>
            <a:pPr lvl="1"/>
            <a:r>
              <a:rPr lang="en-US" dirty="0"/>
              <a:t>Increases the effect of neurotransmitters (stronger and longer lasting effect)</a:t>
            </a:r>
          </a:p>
          <a:p>
            <a:r>
              <a:rPr lang="en-US" b="1" dirty="0"/>
              <a:t>Enzymatic Degradation Inhibition: </a:t>
            </a:r>
            <a:r>
              <a:rPr lang="en-US" dirty="0"/>
              <a:t>Blocks enzymes from degrading NTs</a:t>
            </a:r>
          </a:p>
          <a:p>
            <a:pPr lvl="1"/>
            <a:r>
              <a:rPr lang="en-US" dirty="0"/>
              <a:t>Increases the effect of neurotransmitters (stronger and longer lasting effect)</a:t>
            </a:r>
          </a:p>
        </p:txBody>
      </p:sp>
      <p:pic>
        <p:nvPicPr>
          <p:cNvPr id="5" name="Content Placeholder 4" descr="The figure shows the Steps in Transmission at a Chemical Synapse. At the top, the Axon is covered by the myelin sheath. Then there is a bulb shaped Synapse in which the thin bulb neck connects with the axon. The synaptic vesicles fall down from the axon area into the synapse. The synaptic vesicles are filled with transmitter molecules. The synaptic vesicles reach the big base of the synapse and open up into the synaptic cleft which is the thin gap between the synapse and the dendrite of the next neuron. There are small transporters in the presynaptic membrane. The dendrite has transmitter receptors on its border that faces the synapse. The steps in transmission are as follows. 1. The action potential is propagated over the presynaptic membrane at the junction between the synapse and axon. 2. Depolarization of the presynaptic terminal leads to influx of C a 2 plus into the synapse through a channel. 3. C a 2 plus causes vesicles to fuse with the presynaptic membrane and release transmitter into the synaptic cleft. 4. The binding of transmitter to neurotransmitter receptors in the postsynaptic membrane opens channels, permitting ion flow and initiating an excitatory or inhibitory postsynaptic potential. 5. Excitatory or inhibitory postsynaptic potentials spread passively over dendrites and the cell body to the axon hillock. 6 a. Enzymes in the synaptic cleft break down excess neurotransmitter. 6 b. Reuptake of transmitter through the transporter slows synaptic action and recycles transmitter for later use. These transmitters enter into the existing vesicles inside the synapse. 7. Transmitter binds to auto receptors in the presynaptic membrane. E P S P or I P S P spread on both sides of the dendrite across cell membrane. ">
            <a:extLst>
              <a:ext uri="{FF2B5EF4-FFF2-40B4-BE49-F238E27FC236}">
                <a16:creationId xmlns:a16="http://schemas.microsoft.com/office/drawing/2014/main" id="{DCB40A24-551F-60C4-2FB8-D3B6111CF498}"/>
              </a:ext>
            </a:extLst>
          </p:cNvPr>
          <p:cNvPicPr>
            <a:picLocks noChangeAspect="1"/>
          </p:cNvPicPr>
          <p:nvPr/>
        </p:nvPicPr>
        <p:blipFill>
          <a:blip r:embed="rId2"/>
          <a:srcRect t="57726" b="5219"/>
          <a:stretch>
            <a:fillRect/>
          </a:stretch>
        </p:blipFill>
        <p:spPr>
          <a:xfrm>
            <a:off x="2984053" y="4612594"/>
            <a:ext cx="6223894" cy="2142797"/>
          </a:xfrm>
          <a:prstGeom prst="rect">
            <a:avLst/>
          </a:prstGeom>
        </p:spPr>
      </p:pic>
    </p:spTree>
    <p:extLst>
      <p:ext uri="{BB962C8B-B14F-4D97-AF65-F5344CB8AC3E}">
        <p14:creationId xmlns:p14="http://schemas.microsoft.com/office/powerpoint/2010/main" val="399679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76176F-5A0E-0080-99AE-1BF8FD57412B}"/>
              </a:ext>
            </a:extLst>
          </p:cNvPr>
          <p:cNvPicPr>
            <a:picLocks noChangeAspect="1"/>
          </p:cNvPicPr>
          <p:nvPr/>
        </p:nvPicPr>
        <p:blipFill>
          <a:blip r:embed="rId2">
            <a:extLst>
              <a:ext uri="{28A0092B-C50C-407E-A947-70E740481C1C}">
                <a14:useLocalDpi xmlns:a14="http://schemas.microsoft.com/office/drawing/2010/main" val="0"/>
              </a:ext>
            </a:extLst>
          </a:blip>
          <a:srcRect l="17534"/>
          <a:stretch>
            <a:fillRect/>
          </a:stretch>
        </p:blipFill>
        <p:spPr>
          <a:xfrm>
            <a:off x="7737231" y="0"/>
            <a:ext cx="4454769" cy="6858000"/>
          </a:xfrm>
          <a:prstGeom prst="rect">
            <a:avLst/>
          </a:prstGeom>
        </p:spPr>
      </p:pic>
      <p:sp>
        <p:nvSpPr>
          <p:cNvPr id="2" name="Title 1">
            <a:extLst>
              <a:ext uri="{FF2B5EF4-FFF2-40B4-BE49-F238E27FC236}">
                <a16:creationId xmlns:a16="http://schemas.microsoft.com/office/drawing/2014/main" id="{BA416ADD-E773-4270-74A4-6EEDDBBC93B6}"/>
              </a:ext>
            </a:extLst>
          </p:cNvPr>
          <p:cNvSpPr>
            <a:spLocks noGrp="1"/>
          </p:cNvSpPr>
          <p:nvPr>
            <p:ph type="title"/>
          </p:nvPr>
        </p:nvSpPr>
        <p:spPr/>
        <p:txBody>
          <a:bodyPr/>
          <a:lstStyle/>
          <a:p>
            <a:r>
              <a:rPr lang="en-US" dirty="0"/>
              <a:t>Testable Figures</a:t>
            </a:r>
          </a:p>
        </p:txBody>
      </p:sp>
      <p:sp>
        <p:nvSpPr>
          <p:cNvPr id="3" name="TextBox 2">
            <a:extLst>
              <a:ext uri="{FF2B5EF4-FFF2-40B4-BE49-F238E27FC236}">
                <a16:creationId xmlns:a16="http://schemas.microsoft.com/office/drawing/2014/main" id="{83BD16DB-37E6-F1F5-7348-E2153B7BC2FD}"/>
              </a:ext>
            </a:extLst>
          </p:cNvPr>
          <p:cNvSpPr txBox="1"/>
          <p:nvPr/>
        </p:nvSpPr>
        <p:spPr>
          <a:xfrm>
            <a:off x="0" y="6492875"/>
            <a:ext cx="7212103" cy="369332"/>
          </a:xfrm>
          <a:prstGeom prst="rect">
            <a:avLst/>
          </a:prstGeom>
          <a:noFill/>
        </p:spPr>
        <p:txBody>
          <a:bodyPr wrap="none" rtlCol="0">
            <a:spAutoFit/>
          </a:bodyPr>
          <a:lstStyle/>
          <a:p>
            <a:r>
              <a:rPr lang="en-US" i="1" dirty="0"/>
              <a:t>All figures corresponding to the results of a study are testable material. </a:t>
            </a:r>
          </a:p>
        </p:txBody>
      </p:sp>
      <p:sp>
        <p:nvSpPr>
          <p:cNvPr id="5" name="Content Placeholder 2">
            <a:extLst>
              <a:ext uri="{FF2B5EF4-FFF2-40B4-BE49-F238E27FC236}">
                <a16:creationId xmlns:a16="http://schemas.microsoft.com/office/drawing/2014/main" id="{67F61BB8-1FC1-AFE2-DABD-CEF63125C9FB}"/>
              </a:ext>
            </a:extLst>
          </p:cNvPr>
          <p:cNvSpPr>
            <a:spLocks noGrp="1"/>
          </p:cNvSpPr>
          <p:nvPr>
            <p:ph idx="1"/>
          </p:nvPr>
        </p:nvSpPr>
        <p:spPr>
          <a:xfrm>
            <a:off x="838200" y="1825625"/>
            <a:ext cx="10515600" cy="4351338"/>
          </a:xfrm>
        </p:spPr>
        <p:txBody>
          <a:bodyPr/>
          <a:lstStyle/>
          <a:p>
            <a:pPr marL="0" indent="0">
              <a:buNone/>
            </a:pPr>
            <a:r>
              <a:rPr lang="en-US" i="1" dirty="0"/>
              <a:t>None</a:t>
            </a:r>
          </a:p>
        </p:txBody>
      </p:sp>
    </p:spTree>
    <p:extLst>
      <p:ext uri="{BB962C8B-B14F-4D97-AF65-F5344CB8AC3E}">
        <p14:creationId xmlns:p14="http://schemas.microsoft.com/office/powerpoint/2010/main" val="304801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c61d377-9894-427c-b13b-1d6a51662b4e}" enabled="0" method="" siteId="{9c61d377-9894-427c-b13b-1d6a51662b4e}" removed="1"/>
</clbl:labelList>
</file>

<file path=docProps/app.xml><?xml version="1.0" encoding="utf-8"?>
<Properties xmlns="http://schemas.openxmlformats.org/officeDocument/2006/extended-properties" xmlns:vt="http://schemas.openxmlformats.org/officeDocument/2006/docPropsVTypes">
  <TotalTime>4625</TotalTime>
  <Words>1188</Words>
  <Application>Microsoft Office PowerPoint</Application>
  <PresentationFormat>Widescreen</PresentationFormat>
  <Paragraphs>285</Paragraphs>
  <Slides>29</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Calibri</vt:lpstr>
      <vt:lpstr>Office Theme</vt:lpstr>
      <vt:lpstr>Neurotransmitters</vt:lpstr>
      <vt:lpstr>PowerPoint Presentation</vt:lpstr>
      <vt:lpstr>PowerPoint Presentation</vt:lpstr>
      <vt:lpstr>Neurotransmitters</vt:lpstr>
      <vt:lpstr>Neurotransmitters</vt:lpstr>
      <vt:lpstr>Neurotransmitters</vt:lpstr>
      <vt:lpstr>Neurotransmitters</vt:lpstr>
      <vt:lpstr>Neurotransmitters</vt:lpstr>
      <vt:lpstr>Neurotransmitters</vt:lpstr>
      <vt:lpstr>Neurotransmitters</vt:lpstr>
      <vt:lpstr>Neurotransmitters</vt:lpstr>
      <vt:lpstr>PowerPoint Presentation</vt:lpstr>
      <vt:lpstr>Neurotransmitters</vt:lpstr>
      <vt:lpstr>Neurotransmitters</vt:lpstr>
      <vt:lpstr>Glutamate (Glu)</vt:lpstr>
      <vt:lpstr>Gamma-Aminobutyric Acid (GABA)</vt:lpstr>
      <vt:lpstr>Acetylcholine (ACh)</vt:lpstr>
      <vt:lpstr>Dopamine (DA)</vt:lpstr>
      <vt:lpstr>Dopamine (DA)</vt:lpstr>
      <vt:lpstr>Dopamine (DA)</vt:lpstr>
      <vt:lpstr>Serotonin (5-HT)</vt:lpstr>
      <vt:lpstr>Norepinephrine (NE) / Noradrenaline (NA)</vt:lpstr>
      <vt:lpstr>Neurotransmitters</vt:lpstr>
      <vt:lpstr>PowerPoint Presentation</vt:lpstr>
      <vt:lpstr>Drugs</vt:lpstr>
      <vt:lpstr>Drugs</vt:lpstr>
      <vt:lpstr>Drugs</vt:lpstr>
      <vt:lpstr>Drugs</vt:lpstr>
      <vt:lpstr>Testable Figures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Williams</dc:creator>
  <cp:lastModifiedBy>Chad Williams</cp:lastModifiedBy>
  <cp:revision>1</cp:revision>
  <dcterms:created xsi:type="dcterms:W3CDTF">2025-08-11T14:51:42Z</dcterms:created>
  <dcterms:modified xsi:type="dcterms:W3CDTF">2026-07-28T21:35:55Z</dcterms:modified>
</cp:coreProperties>
</file>