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7" r:id="rId2"/>
    <p:sldId id="387" r:id="rId3"/>
    <p:sldId id="446" r:id="rId4"/>
    <p:sldId id="324" r:id="rId5"/>
    <p:sldId id="409" r:id="rId6"/>
    <p:sldId id="408" r:id="rId7"/>
    <p:sldId id="407" r:id="rId8"/>
    <p:sldId id="326" r:id="rId9"/>
    <p:sldId id="406" r:id="rId10"/>
    <p:sldId id="328" r:id="rId11"/>
    <p:sldId id="338" r:id="rId12"/>
    <p:sldId id="330" r:id="rId13"/>
    <p:sldId id="352" r:id="rId14"/>
    <p:sldId id="331" r:id="rId15"/>
    <p:sldId id="329" r:id="rId16"/>
    <p:sldId id="447" r:id="rId17"/>
    <p:sldId id="327" r:id="rId18"/>
    <p:sldId id="453" r:id="rId19"/>
    <p:sldId id="454" r:id="rId20"/>
    <p:sldId id="455" r:id="rId21"/>
    <p:sldId id="456" r:id="rId22"/>
    <p:sldId id="457" r:id="rId23"/>
    <p:sldId id="458" r:id="rId24"/>
    <p:sldId id="332" r:id="rId25"/>
    <p:sldId id="335" r:id="rId26"/>
    <p:sldId id="333" r:id="rId27"/>
    <p:sldId id="336" r:id="rId28"/>
    <p:sldId id="334" r:id="rId29"/>
    <p:sldId id="450" r:id="rId30"/>
    <p:sldId id="337" r:id="rId31"/>
    <p:sldId id="339" r:id="rId32"/>
    <p:sldId id="344" r:id="rId33"/>
    <p:sldId id="341" r:id="rId34"/>
    <p:sldId id="345" r:id="rId35"/>
    <p:sldId id="256" r:id="rId36"/>
    <p:sldId id="451" r:id="rId37"/>
    <p:sldId id="258" r:id="rId38"/>
    <p:sldId id="259" r:id="rId39"/>
    <p:sldId id="260" r:id="rId40"/>
    <p:sldId id="452" r:id="rId41"/>
    <p:sldId id="354" r:id="rId42"/>
    <p:sldId id="348" r:id="rId43"/>
    <p:sldId id="448" r:id="rId44"/>
    <p:sldId id="358" r:id="rId45"/>
    <p:sldId id="428" r:id="rId46"/>
    <p:sldId id="430" r:id="rId47"/>
    <p:sldId id="412" r:id="rId48"/>
    <p:sldId id="413" r:id="rId49"/>
    <p:sldId id="415" r:id="rId50"/>
    <p:sldId id="416" r:id="rId51"/>
    <p:sldId id="419" r:id="rId52"/>
    <p:sldId id="417" r:id="rId53"/>
    <p:sldId id="418" r:id="rId54"/>
    <p:sldId id="420" r:id="rId55"/>
    <p:sldId id="422" r:id="rId56"/>
    <p:sldId id="423" r:id="rId57"/>
    <p:sldId id="424" r:id="rId58"/>
    <p:sldId id="425" r:id="rId59"/>
    <p:sldId id="426" r:id="rId60"/>
    <p:sldId id="427" r:id="rId61"/>
    <p:sldId id="364" r:id="rId62"/>
    <p:sldId id="365" r:id="rId63"/>
    <p:sldId id="449" r:id="rId64"/>
    <p:sldId id="366" r:id="rId65"/>
    <p:sldId id="384" r:id="rId66"/>
    <p:sldId id="381" r:id="rId67"/>
    <p:sldId id="382" r:id="rId68"/>
    <p:sldId id="367" r:id="rId69"/>
    <p:sldId id="368" r:id="rId70"/>
    <p:sldId id="369" r:id="rId71"/>
    <p:sldId id="370" r:id="rId72"/>
    <p:sldId id="371" r:id="rId73"/>
    <p:sldId id="404" r:id="rId74"/>
    <p:sldId id="444" r:id="rId75"/>
    <p:sldId id="445" r:id="rId76"/>
    <p:sldId id="431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4B"/>
    <a:srgbClr val="EAF2F7"/>
    <a:srgbClr val="2C5F7C"/>
    <a:srgbClr val="FFFFFF"/>
    <a:srgbClr val="000000"/>
    <a:srgbClr val="4472C4"/>
    <a:srgbClr val="B953FF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4" autoAdjust="0"/>
    <p:restoredTop sz="96327"/>
  </p:normalViewPr>
  <p:slideViewPr>
    <p:cSldViewPr snapToGrid="0" snapToObjects="1">
      <p:cViewPr varScale="1">
        <p:scale>
          <a:sx n="98" d="100"/>
          <a:sy n="98" d="100"/>
        </p:scale>
        <p:origin x="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redo custSel addSld delSld modSld">
      <pc:chgData name="Chad Williams" userId="618f96a3-8672-4e43-ae03-eeed93bb7387" providerId="ADAL" clId="{DFF2BB08-185E-495B-B2A0-BE0942C7B81E}" dt="2026-08-17T19:30:20.148" v="579" actId="167"/>
      <pc:docMkLst>
        <pc:docMk/>
      </pc:docMkLst>
      <pc:sldChg chg="add setBg">
        <pc:chgData name="Chad Williams" userId="618f96a3-8672-4e43-ae03-eeed93bb7387" providerId="ADAL" clId="{DFF2BB08-185E-495B-B2A0-BE0942C7B81E}" dt="2026-07-23T21:53:54.205" v="555"/>
        <pc:sldMkLst>
          <pc:docMk/>
          <pc:sldMk cId="0" sldId="256"/>
        </pc:sldMkLst>
      </pc:sldChg>
      <pc:sldChg chg="add setBg">
        <pc:chgData name="Chad Williams" userId="618f96a3-8672-4e43-ae03-eeed93bb7387" providerId="ADAL" clId="{DFF2BB08-185E-495B-B2A0-BE0942C7B81E}" dt="2026-07-23T21:53:54.205" v="555"/>
        <pc:sldMkLst>
          <pc:docMk/>
          <pc:sldMk cId="0" sldId="258"/>
        </pc:sldMkLst>
      </pc:sldChg>
      <pc:sldChg chg="add setBg">
        <pc:chgData name="Chad Williams" userId="618f96a3-8672-4e43-ae03-eeed93bb7387" providerId="ADAL" clId="{DFF2BB08-185E-495B-B2A0-BE0942C7B81E}" dt="2026-07-23T21:53:54.205" v="555"/>
        <pc:sldMkLst>
          <pc:docMk/>
          <pc:sldMk cId="0" sldId="259"/>
        </pc:sldMkLst>
      </pc:sldChg>
      <pc:sldChg chg="add setBg">
        <pc:chgData name="Chad Williams" userId="618f96a3-8672-4e43-ae03-eeed93bb7387" providerId="ADAL" clId="{DFF2BB08-185E-495B-B2A0-BE0942C7B81E}" dt="2026-07-23T21:53:54.205" v="555"/>
        <pc:sldMkLst>
          <pc:docMk/>
          <pc:sldMk cId="0" sldId="260"/>
        </pc:sldMkLst>
      </pc:sldChg>
      <pc:sldChg chg="addSp delSp modSp mod">
        <pc:chgData name="Chad Williams" userId="618f96a3-8672-4e43-ae03-eeed93bb7387" providerId="ADAL" clId="{DFF2BB08-185E-495B-B2A0-BE0942C7B81E}" dt="2026-08-17T19:30:20.148" v="579" actId="167"/>
        <pc:sldMkLst>
          <pc:docMk/>
          <pc:sldMk cId="2014181835" sldId="445"/>
        </pc:sldMkLst>
        <pc:spChg chg="add">
          <ac:chgData name="Chad Williams" userId="618f96a3-8672-4e43-ae03-eeed93bb7387" providerId="ADAL" clId="{DFF2BB08-185E-495B-B2A0-BE0942C7B81E}" dt="2026-08-17T19:30:01.967" v="574" actId="22"/>
          <ac:spMkLst>
            <pc:docMk/>
            <pc:sldMk cId="2014181835" sldId="445"/>
            <ac:spMk id="4" creationId="{5ECBF4CE-79C9-745B-666D-AD631F6E69F1}"/>
          </ac:spMkLst>
        </pc:spChg>
        <pc:spChg chg="add del">
          <ac:chgData name="Chad Williams" userId="618f96a3-8672-4e43-ae03-eeed93bb7387" providerId="ADAL" clId="{DFF2BB08-185E-495B-B2A0-BE0942C7B81E}" dt="2026-08-17T19:29:50.088" v="573" actId="478"/>
          <ac:spMkLst>
            <pc:docMk/>
            <pc:sldMk cId="2014181835" sldId="445"/>
            <ac:spMk id="7" creationId="{B2037FD9-3430-CE84-7E0F-D27FEF357806}"/>
          </ac:spMkLst>
        </pc:spChg>
        <pc:picChg chg="add del">
          <ac:chgData name="Chad Williams" userId="618f96a3-8672-4e43-ae03-eeed93bb7387" providerId="ADAL" clId="{DFF2BB08-185E-495B-B2A0-BE0942C7B81E}" dt="2026-08-17T19:29:49.704" v="572" actId="478"/>
          <ac:picMkLst>
            <pc:docMk/>
            <pc:sldMk cId="2014181835" sldId="445"/>
            <ac:picMk id="5" creationId="{1E4E413F-46F4-E5F4-4E09-FE8918732A83}"/>
          </ac:picMkLst>
        </pc:picChg>
        <pc:picChg chg="add del">
          <ac:chgData name="Chad Williams" userId="618f96a3-8672-4e43-ae03-eeed93bb7387" providerId="ADAL" clId="{DFF2BB08-185E-495B-B2A0-BE0942C7B81E}" dt="2026-08-17T19:29:49.704" v="572" actId="478"/>
          <ac:picMkLst>
            <pc:docMk/>
            <pc:sldMk cId="2014181835" sldId="445"/>
            <ac:picMk id="6" creationId="{A7FCB672-E7AC-43A9-2AA3-EC2A4A51541B}"/>
          </ac:picMkLst>
        </pc:picChg>
        <pc:picChg chg="add mod ord">
          <ac:chgData name="Chad Williams" userId="618f96a3-8672-4e43-ae03-eeed93bb7387" providerId="ADAL" clId="{DFF2BB08-185E-495B-B2A0-BE0942C7B81E}" dt="2026-08-17T19:30:20.148" v="579" actId="167"/>
          <ac:picMkLst>
            <pc:docMk/>
            <pc:sldMk cId="2014181835" sldId="445"/>
            <ac:picMk id="9" creationId="{09BF46D8-83F2-20C5-E5A0-BBE93B03716A}"/>
          </ac:picMkLst>
        </pc:picChg>
      </pc:sldChg>
      <pc:sldChg chg="add setBg">
        <pc:chgData name="Chad Williams" userId="618f96a3-8672-4e43-ae03-eeed93bb7387" providerId="ADAL" clId="{DFF2BB08-185E-495B-B2A0-BE0942C7B81E}" dt="2026-07-23T21:53:54.205" v="555"/>
        <pc:sldMkLst>
          <pc:docMk/>
          <pc:sldMk cId="0" sldId="451"/>
        </pc:sldMkLst>
      </pc:sldChg>
      <pc:sldChg chg="modSp add mod modAnim">
        <pc:chgData name="Chad Williams" userId="618f96a3-8672-4e43-ae03-eeed93bb7387" providerId="ADAL" clId="{DFF2BB08-185E-495B-B2A0-BE0942C7B81E}" dt="2026-07-23T21:55:45.817" v="565" actId="207"/>
        <pc:sldMkLst>
          <pc:docMk/>
          <pc:sldMk cId="531667807" sldId="452"/>
        </pc:sldMkLst>
        <pc:spChg chg="mod">
          <ac:chgData name="Chad Williams" userId="618f96a3-8672-4e43-ae03-eeed93bb7387" providerId="ADAL" clId="{DFF2BB08-185E-495B-B2A0-BE0942C7B81E}" dt="2026-07-23T21:54:29.026" v="561" actId="207"/>
          <ac:spMkLst>
            <pc:docMk/>
            <pc:sldMk cId="531667807" sldId="452"/>
            <ac:spMk id="70" creationId="{D3FF71E0-B4EF-FEF7-DE42-C0388C381B1A}"/>
          </ac:spMkLst>
        </pc:spChg>
        <pc:spChg chg="mod">
          <ac:chgData name="Chad Williams" userId="618f96a3-8672-4e43-ae03-eeed93bb7387" providerId="ADAL" clId="{DFF2BB08-185E-495B-B2A0-BE0942C7B81E}" dt="2026-07-23T21:55:45.817" v="565" actId="207"/>
          <ac:spMkLst>
            <pc:docMk/>
            <pc:sldMk cId="531667807" sldId="452"/>
            <ac:spMk id="71" creationId="{6EA932FD-290A-DF1D-6769-600B6227AA77}"/>
          </ac:spMkLst>
        </pc:spChg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2706330715" sldId="453"/>
        </pc:sldMkLst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777890982" sldId="454"/>
        </pc:sldMkLst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257150322" sldId="455"/>
        </pc:sldMkLst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3151178574" sldId="456"/>
        </pc:sldMkLst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3822358918" sldId="457"/>
        </pc:sldMkLst>
      </pc:sldChg>
      <pc:sldChg chg="add">
        <pc:chgData name="Chad Williams" userId="618f96a3-8672-4e43-ae03-eeed93bb7387" providerId="ADAL" clId="{DFF2BB08-185E-495B-B2A0-BE0942C7B81E}" dt="2026-07-23T21:56:06.200" v="566"/>
        <pc:sldMkLst>
          <pc:docMk/>
          <pc:sldMk cId="1404198038" sldId="4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4589-BC20-4B01-837D-5C6E476F984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9748D-8741-4F73-BEA2-B46746901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3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A238-B817-C6D0-6E6C-F2B284C0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6814A-C923-2194-338E-188AC6D0B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A335-16F1-B07C-89E9-2BA4363BD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87C21-04F1-3FF2-AB3C-9B020C5DE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7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8A58-A03F-E739-AB28-DEB193A9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8A305-67AE-8307-FCAE-C92328446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1FEAB-CB05-BA7B-89D3-A430C43E8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D5001-F96B-40A3-054F-EC443C0E5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B96D-6C96-3454-3FB1-667EB451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63D93-1747-061E-C340-1420CDEC1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2B60B-2EC6-A35C-CAAD-593A04A51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33364-889A-A379-B2FB-0BADECCA6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3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5525-AD43-DE3F-E05C-430BF688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4AEA2-12D8-BEEF-88F4-32B67374F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BEB68-53BD-6AB3-0FC2-0F13C6A2E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45804-3517-5FC2-3CD7-2E4CD6B9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6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7024-F102-8CF9-F623-E291D783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11699-DB8A-0D9B-B966-EFC65C69A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2EDCF-09C2-0FE5-B223-1DD8F7A2E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4AE4D-61C4-BAC1-CD96-EEC58D2C9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33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C433-0C49-5554-0DE3-AEC9F49F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B3C39-9D33-B9ED-2A94-792AB3761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EE27A-C071-4930-F829-8ACAFB043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10F40-18D0-9864-13D4-47E04EF86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00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6268-04B3-AD1C-C5AD-E28A2610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6F8A2-CEBD-014F-42F5-C78F0E374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A0CCA-1DFF-E944-F867-9FCDDF222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B596B-0BE4-5FDD-E0AC-F58AFBE86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3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9D05-47B4-9E4F-AC74-139D468D3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026AB-2982-C242-84C5-5937C72E3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3087F-C3FB-0643-8313-F4E8B6BE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13D40-7CAD-D946-AAAC-ED1FFD25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F5AF9-006A-374F-83A9-C362C0D8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9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15E0-8590-B543-965A-DBB632C3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AA53-671B-8B4F-B14F-B2B32A8F2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29BF-E701-7643-864C-B2E95E17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344CA-5697-DD40-B59C-24B9A3C3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9A48-EF0A-E346-8259-D914095B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9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35B4-C01B-BD4E-8205-94ECFF24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07D1A-C0C9-7341-83FB-27DCF94DC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3ECB5-5B48-1C4A-B5C5-1E1E9D4F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605AA-2B96-364F-BD49-12557AFF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91E3-3B37-A74B-B87D-FC0A9BE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9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CEEC-92AA-FD4B-84DF-C79A15A5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898A4-558E-3D40-AF37-4945A53CD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8D82E-A4A5-6342-A62F-4C75B7ADB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FA14F-B010-0F47-8461-C0482987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5474-3FFF-3848-B65A-EA755A9D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1C853-173E-1B48-A0A0-6E0A9D23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4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4E84-94D7-FE46-AF0D-75DAB8A3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8DD12-0635-6641-B7DF-47588745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0C8FE-D9F4-CD43-8637-441CB4D3D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90CED-944A-5942-A982-21CD6823E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782F7-9886-2449-98A4-9186CDB03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42615-43AB-CA4D-8524-C9C140BD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2BDCD-9798-3443-9E00-928B96C2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870A2-F9F6-9645-89AC-A6781074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8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ECF8-D23C-9743-AFBB-5AC69A07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2E07-CB99-8947-9F8A-27828394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4F873-ED01-574C-A11C-35AC6E79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4AAE0-B966-CA4F-9F07-3F9F1060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3A72C-A276-DD43-B6F5-8E9036CA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84383-9F1D-E44D-B9DF-AB0289EC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114EF-7315-7241-82B2-8EFDBFF1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2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0514-38F1-E24F-9026-AD9A1DC2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61739-E039-374E-B580-7AF68EEE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6BA21-C15D-4C40-996E-428EE47CA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0E849-04F0-6848-9C4D-72D0951B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8905B-A22E-9342-808C-31DD6FF4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6A6AB-470A-5F46-855E-0DD2E118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6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1DCA-88E5-5F43-BB29-8D0F7DD1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BC12B-17CD-3B47-8E85-613410F7C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804B6-6BB3-1547-92FD-938AF6A99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25C65-786A-AA46-AF05-8AB3FC3B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C37EF-A25D-984C-9EF6-CE0F4637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C4FA3-062C-8044-A8BF-0464B5C8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51E7-72D4-8A45-A73C-16CDA552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A234C-02C8-5044-A095-B0671CBED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D4486-D84B-6D49-AA96-8EE710B0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0A49D-DE8B-754D-8C82-EBAF7426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9A498-41FC-DF4A-B1FB-2186F310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4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41CAD-10EF-D24F-B6F0-B141DB105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A3CBA-6BE3-4F42-AAC4-924F9A913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0CDC1-6CF8-394F-A92E-F578F941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CC63-922F-DB46-9207-C76F6733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268E5-DD52-C048-AA4F-70A2702D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1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93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8CE8A-5316-1840-A164-4D13892B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7A4B6-0931-DF45-B907-B01BEE0A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05127-2AA6-D64E-B802-B1F0B9F5B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9128B-E4CE-6747-9789-EF79E24002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D042-2B7A-2A4F-9BE1-B5D9375C0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C924A-EA6C-5445-9457-04E1520B3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68E10-5708-654B-A5DF-02F6F74A9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1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1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youtu.be/xZ_z8KWkhXE?si=sugbroD_SrSyx54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hyperlink" Target="https://youtu.be/qtaqvPAeEJY?si=i8UDPkEHkQSG7b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805" y="1122363"/>
            <a:ext cx="6197089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805" y="3602038"/>
            <a:ext cx="619708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Bivariate Data</a:t>
            </a:r>
          </a:p>
          <a:p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Computing Correlation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Factors that Influence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Other Scales and Correlations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8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1CD6-A656-B589-036F-CFFC94AD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786C3A-B0EC-F0A1-24D4-823434B2FAE1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008E93-9926-B2BC-2211-8539A6B24CAB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DF10AB3-2348-3589-2A2A-A50EEA6A36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998ADD7-EFA4-4AED-5BE0-9D49C00369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6DFA33-586B-FD66-F564-4C298E1334C1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D620F0E-4749-D18F-2421-C438545E02D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C6A6F91-FE43-B73D-AAA4-4EAC260F5384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4B59C01-A130-B12B-3450-F139D378CDF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7852761-BE6F-07AC-1D82-19A7D7D7FE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4174376-A9A6-7226-61B7-31C256FFD962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797BBA-60B2-0DD2-C604-E997762E802B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779E4B-FD09-EDCA-E44F-DC5428D6991A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85EDC5-FCDB-4BCB-60C6-EF2FB0DE7340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C47B45A-7825-9B5B-7F24-AE58BEC3611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DE0514-F9FC-8C6E-8DEF-6A3E5BD13F16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D66D4-4804-6B03-4183-3EED00230585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4D28E13C-D2B5-B848-C3D7-CEC75B11F88B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Bivariate Data</a:t>
            </a:r>
          </a:p>
          <a:p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Computing Correlation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Factors that Influence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Other Scales and Correlations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5637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Involves two variables (X &amp; Y)</a:t>
            </a:r>
          </a:p>
          <a:p>
            <a:r>
              <a:rPr lang="en-US" dirty="0"/>
              <a:t>Often two datapoints from the same thing (e.g., person)</a:t>
            </a:r>
          </a:p>
          <a:p>
            <a:r>
              <a:rPr lang="en-US" dirty="0"/>
              <a:t>But can be two things related by something (such as date)</a:t>
            </a:r>
          </a:p>
          <a:p>
            <a:r>
              <a:rPr lang="en-US" b="1" dirty="0"/>
              <a:t>Correlation</a:t>
            </a:r>
            <a:r>
              <a:rPr lang="en-US" dirty="0"/>
              <a:t>: Method to describe the relationship between two variables</a:t>
            </a:r>
          </a:p>
          <a:p>
            <a:pPr lvl="1"/>
            <a:r>
              <a:rPr lang="en-US" dirty="0"/>
              <a:t>Varies from -1 to 1 (e.g., </a:t>
            </a:r>
            <a:r>
              <a:rPr lang="en-US" i="1" dirty="0"/>
              <a:t>r</a:t>
            </a:r>
            <a:r>
              <a:rPr lang="en-US" dirty="0"/>
              <a:t> = 0.30)</a:t>
            </a:r>
          </a:p>
          <a:p>
            <a:r>
              <a:rPr lang="en-US" b="1" dirty="0"/>
              <a:t>Regression</a:t>
            </a:r>
            <a:r>
              <a:rPr lang="en-US" dirty="0"/>
              <a:t>: Predicting the values of one variable from another variable (Unit 2.2.)</a:t>
            </a:r>
          </a:p>
          <a:p>
            <a:pPr lvl="1"/>
            <a:r>
              <a:rPr lang="en-US" dirty="0"/>
              <a:t>Includes a </a:t>
            </a:r>
            <a:r>
              <a:rPr lang="en-US" i="1" dirty="0"/>
              <a:t>slope</a:t>
            </a:r>
            <a:r>
              <a:rPr lang="en-US" dirty="0"/>
              <a:t> and an </a:t>
            </a:r>
            <a:r>
              <a:rPr lang="en-US" i="1" dirty="0"/>
              <a:t>intercept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977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103C-FA37-7DC9-46D3-B9A1407C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7E128-F3C2-E350-984F-FAE3294F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26" y="1330324"/>
            <a:ext cx="11222748" cy="43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480A21-5B55-3701-7A31-238A5C55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48636"/>
            <a:ext cx="9696450" cy="61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3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uck walking on a driveway&#10;&#10;AI-generated content may be incorrect.">
            <a:extLst>
              <a:ext uri="{FF2B5EF4-FFF2-40B4-BE49-F238E27FC236}">
                <a16:creationId xmlns:a16="http://schemas.microsoft.com/office/drawing/2014/main" id="{3156D090-C3F5-4F06-9316-86712DC6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2" t="11250" r="1880"/>
          <a:stretch>
            <a:fillRect/>
          </a:stretch>
        </p:blipFill>
        <p:spPr>
          <a:xfrm>
            <a:off x="3759200" y="1320800"/>
            <a:ext cx="4673600" cy="54101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D33E2D-3D9E-EEB4-3E24-867ED4B3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97800" cy="1325563"/>
          </a:xfrm>
        </p:spPr>
        <p:txBody>
          <a:bodyPr/>
          <a:lstStyle/>
          <a:p>
            <a:r>
              <a:rPr lang="en-US" dirty="0"/>
              <a:t>Correlation is not causation!</a:t>
            </a:r>
          </a:p>
        </p:txBody>
      </p:sp>
    </p:spTree>
    <p:extLst>
      <p:ext uri="{BB962C8B-B14F-4D97-AF65-F5344CB8AC3E}">
        <p14:creationId xmlns:p14="http://schemas.microsoft.com/office/powerpoint/2010/main" val="110823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D9ED8C7-B20B-6538-9156-3A2A5095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Correlation is not causation!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BA0A76-0735-29FE-9045-3369643AE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65" y="1302988"/>
            <a:ext cx="6212469" cy="5435910"/>
          </a:xfrm>
          <a:prstGeom prst="rect">
            <a:avLst/>
          </a:prstGeom>
        </p:spPr>
      </p:pic>
      <p:pic>
        <p:nvPicPr>
          <p:cNvPr id="1026" name="Picture 2" descr="Cute Puppy">
            <a:extLst>
              <a:ext uri="{FF2B5EF4-FFF2-40B4-BE49-F238E27FC236}">
                <a16:creationId xmlns:a16="http://schemas.microsoft.com/office/drawing/2014/main" id="{85DF879C-5498-7B77-01FE-05BA962DF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621" y="318656"/>
            <a:ext cx="1915885" cy="311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18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E642-322C-77D0-9CC2-89D837CC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0AAC-33E8-E5E2-E9A9-BCB23ED5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Correlation is not causation!</a:t>
            </a:r>
          </a:p>
        </p:txBody>
      </p:sp>
      <p:pic>
        <p:nvPicPr>
          <p:cNvPr id="8" name="Picture 7" descr="A person with long hair and beard&#10;&#10;AI-generated content may be incorrect.">
            <a:extLst>
              <a:ext uri="{FF2B5EF4-FFF2-40B4-BE49-F238E27FC236}">
                <a16:creationId xmlns:a16="http://schemas.microsoft.com/office/drawing/2014/main" id="{9DCA7FCA-0DE9-0144-6932-6175415C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54" r="19270"/>
          <a:stretch>
            <a:fillRect/>
          </a:stretch>
        </p:blipFill>
        <p:spPr>
          <a:xfrm>
            <a:off x="9907309" y="365125"/>
            <a:ext cx="2075141" cy="1908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B768AC-E6E4-B172-8FE7-6D8C6D5D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752" y="1409700"/>
            <a:ext cx="6138907" cy="53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6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91812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Scatterplot:</a:t>
            </a:r>
          </a:p>
          <a:p>
            <a:pPr lvl="1"/>
            <a:r>
              <a:rPr lang="en-US" b="1" dirty="0"/>
              <a:t>Direction: </a:t>
            </a:r>
            <a:r>
              <a:rPr lang="en-US" dirty="0"/>
              <a:t>Positive or negative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 Weak, moderate, strong (subjective; based on visual)</a:t>
            </a:r>
          </a:p>
          <a:p>
            <a:pPr lvl="1"/>
            <a:r>
              <a:rPr lang="en-US" b="1" dirty="0"/>
              <a:t>Shape</a:t>
            </a:r>
            <a:r>
              <a:rPr lang="en-US" dirty="0"/>
              <a:t>: Linear or curvilinear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67F4874E-12CE-C24F-8C44-AFE3A274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815" y="3934935"/>
            <a:ext cx="5819797" cy="29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Scatterplot: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Direction</a:t>
            </a:r>
            <a:r>
              <a:rPr lang="en-US" b="1" dirty="0"/>
              <a:t>: </a:t>
            </a:r>
            <a:r>
              <a:rPr lang="en-US" dirty="0"/>
              <a:t>Positive or negative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F1C9A2A7-16B6-ED42-946F-2B0B72D9F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239" y="3222310"/>
            <a:ext cx="5649146" cy="34481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A21A48-4325-1A2F-D39B-6A2E8CD5927A}"/>
              </a:ext>
            </a:extLst>
          </p:cNvPr>
          <p:cNvSpPr txBox="1"/>
          <p:nvPr/>
        </p:nvSpPr>
        <p:spPr>
          <a:xfrm>
            <a:off x="2755079" y="3608211"/>
            <a:ext cx="19950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Negative Quadrant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9DB3C0-38C8-5697-D4A7-6A42D152E77D}"/>
              </a:ext>
            </a:extLst>
          </p:cNvPr>
          <p:cNvSpPr txBox="1"/>
          <p:nvPr/>
        </p:nvSpPr>
        <p:spPr>
          <a:xfrm>
            <a:off x="5282544" y="5929948"/>
            <a:ext cx="19950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Negative Quadrant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21B46-BAC1-FCF4-482F-1D48B843BB56}"/>
              </a:ext>
            </a:extLst>
          </p:cNvPr>
          <p:cNvSpPr txBox="1"/>
          <p:nvPr/>
        </p:nvSpPr>
        <p:spPr>
          <a:xfrm>
            <a:off x="5230645" y="3604451"/>
            <a:ext cx="19950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Positive Quadrant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F1A729-E051-25FB-EEF7-15C8AEB1A449}"/>
              </a:ext>
            </a:extLst>
          </p:cNvPr>
          <p:cNvSpPr txBox="1"/>
          <p:nvPr/>
        </p:nvSpPr>
        <p:spPr>
          <a:xfrm>
            <a:off x="2755079" y="5929948"/>
            <a:ext cx="19950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Positive Quadrant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99DB61-D1D8-A060-D69C-86297A649DD8}"/>
              </a:ext>
            </a:extLst>
          </p:cNvPr>
          <p:cNvSpPr/>
          <p:nvPr/>
        </p:nvSpPr>
        <p:spPr>
          <a:xfrm>
            <a:off x="7083425" y="4592638"/>
            <a:ext cx="61913" cy="420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8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235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Scatterplot:</a:t>
            </a:r>
          </a:p>
          <a:p>
            <a:pPr lvl="1"/>
            <a:r>
              <a:rPr lang="en-US" b="1" dirty="0"/>
              <a:t>Direction: </a:t>
            </a:r>
            <a:r>
              <a:rPr lang="en-US" dirty="0"/>
              <a:t>Positive or negative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Strength</a:t>
            </a:r>
            <a:r>
              <a:rPr lang="en-US" dirty="0"/>
              <a:t>: Weak, moderate, strong (subjective; based on visual)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Picture 20" descr="Chart, scatter chart&#10;&#10;Description automatically generated">
            <a:extLst>
              <a:ext uri="{FF2B5EF4-FFF2-40B4-BE49-F238E27FC236}">
                <a16:creationId xmlns:a16="http://schemas.microsoft.com/office/drawing/2014/main" id="{ECA2E7B4-6379-524B-8BB8-05F3ACA1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815" y="3934935"/>
            <a:ext cx="5819797" cy="29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1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235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Scatterplot:</a:t>
            </a:r>
          </a:p>
          <a:p>
            <a:pPr lvl="1"/>
            <a:r>
              <a:rPr lang="en-US" b="1" dirty="0"/>
              <a:t>Direction: </a:t>
            </a:r>
            <a:r>
              <a:rPr lang="en-US" dirty="0"/>
              <a:t>Positive or negative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 Weak, moderate, strong (subjective; based on visual)</a:t>
            </a:r>
          </a:p>
          <a:p>
            <a:pPr lvl="1"/>
            <a:r>
              <a:rPr lang="en-US" b="1" dirty="0"/>
              <a:t>Shape</a:t>
            </a:r>
            <a:r>
              <a:rPr lang="en-US" dirty="0"/>
              <a:t>: Linear or </a:t>
            </a:r>
            <a:r>
              <a:rPr lang="en-US" dirty="0">
                <a:solidFill>
                  <a:srgbClr val="FF0000"/>
                </a:solidFill>
              </a:rPr>
              <a:t>curvilinear</a:t>
            </a:r>
          </a:p>
          <a:p>
            <a:pPr lvl="2"/>
            <a:r>
              <a:rPr lang="en-US" dirty="0"/>
              <a:t>A linear description of a curvilinear relationship underestimates real rel.</a:t>
            </a:r>
          </a:p>
          <a:p>
            <a:pPr lvl="2"/>
            <a:r>
              <a:rPr lang="en-US" dirty="0"/>
              <a:t>Always important to plot data!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Diagram, venn diagram&#10;&#10;Description automatically generated">
            <a:extLst>
              <a:ext uri="{FF2B5EF4-FFF2-40B4-BE49-F238E27FC236}">
                <a16:creationId xmlns:a16="http://schemas.microsoft.com/office/drawing/2014/main" id="{D6AA124D-594B-ED42-8ABC-A82D2538D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73" y="4712744"/>
            <a:ext cx="7096442" cy="21728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961D53-82EE-D746-B633-4A753996110B}"/>
              </a:ext>
            </a:extLst>
          </p:cNvPr>
          <p:cNvCxnSpPr>
            <a:cxnSpLocks/>
          </p:cNvCxnSpPr>
          <p:nvPr/>
        </p:nvCxnSpPr>
        <p:spPr>
          <a:xfrm>
            <a:off x="5259378" y="4884420"/>
            <a:ext cx="1507182" cy="14274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2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67F4874E-12CE-C24F-8C44-AFE3A274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02" y="2405059"/>
            <a:ext cx="86634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19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84235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Correlation Coefficient:</a:t>
            </a:r>
          </a:p>
          <a:p>
            <a:pPr lvl="1"/>
            <a:r>
              <a:rPr lang="en-US" b="1" dirty="0"/>
              <a:t>Direction: </a:t>
            </a:r>
            <a:r>
              <a:rPr lang="en-US" dirty="0"/>
              <a:t>Positive or negative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Magnitude</a:t>
            </a:r>
            <a:r>
              <a:rPr lang="en-US" dirty="0">
                <a:solidFill>
                  <a:srgbClr val="FF0000"/>
                </a:solidFill>
              </a:rPr>
              <a:t>: Size (objective)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 Weak, moderate, strong (subjective; based on visual)</a:t>
            </a:r>
          </a:p>
          <a:p>
            <a:pPr lvl="1"/>
            <a:r>
              <a:rPr lang="en-US" b="1" dirty="0"/>
              <a:t>Shape</a:t>
            </a:r>
            <a:r>
              <a:rPr lang="en-US" dirty="0"/>
              <a:t>: Linear or curvilinear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67F4874E-12CE-C24F-8C44-AFE3A274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4431094"/>
            <a:ext cx="4870562" cy="24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0F1B-F39B-E262-D8A0-318C142A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A5C4D9C-473C-2257-83B5-9D2631492909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834C77-8E84-FC76-ACC8-610B727A7BE4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F66A9A2-3937-0D82-8B40-67E78F5C38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D3DFFD0-3A7B-AD97-D6EF-CB40BF9081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3169BBF-AE0B-65CF-34C5-7D8FD54C03DC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A775A39-4F77-8A47-FFDE-18943D7EF8E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F76455E-A6DB-CBCC-D69F-E762A2736E9D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AFE6DB1-5A54-A634-BBA9-299C900007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E226F74-4241-3268-FDFB-2BE005BD4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9F31431-63B4-D65D-C568-A67A2C8F51E5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D5376FE-7438-5B24-5649-81D5495CA248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40FA3BE-23B0-2F58-F734-80F9DE5B8C57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D4F9B2-AECE-D544-2543-A00662C4B823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BE3F41-43AF-5227-BBF5-8A64F7130465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C9A53E-DC58-BDD1-6D95-4EC89F908A20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C39B03-C9AE-597B-518C-2CF82C3F7A65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89C3C6FC-CB85-8DB0-B96A-B2EA9A7350AD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Bivariate Data</a:t>
            </a:r>
          </a:p>
          <a:p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Computing Correlation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Factors that Influence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Other Scales and Correlations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005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for Dealing with Bivariate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(mean, SD) to each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to the joint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correlation coefficient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7717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387C7-2D81-652E-CE31-ACD6A752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0464BB14-ECB7-F982-DBB8-E0CC9028902B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B80B72D4-9B64-E940-61A9-FBD6B6B16AAC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B80B72D4-9B64-E940-61A9-FBD6B6B16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FA333A5D-45A3-59BF-AEB5-07FAEDE89E6C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93EFD74F-DD4F-AF76-5700-4B4732E21358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93EFD74F-DD4F-AF76-5700-4B4732E213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>
            <a:extLst>
              <a:ext uri="{FF2B5EF4-FFF2-40B4-BE49-F238E27FC236}">
                <a16:creationId xmlns:a16="http://schemas.microsoft.com/office/drawing/2014/main" id="{80B1C798-EA48-8D1E-E8E1-B4379B2E645B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66F6EC32-9B5A-C239-E839-4FA5B4B09946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66F6EC32-9B5A-C239-E839-4FA5B4B09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36623144-DF7E-E484-4134-6CB87A8931F3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62D69892-CF53-6F29-7AAE-2FF6F95B0862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62D69892-CF53-6F29-7AAE-2FF6F95B08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0A039CB3-1FDB-9877-99A6-0D89E384836C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611E40A0-252F-BAE0-5449-7CC71839DCF2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611E40A0-252F-BAE0-5449-7CC71839DC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017BC5A4-6A71-90A8-62AF-2E8251163B64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032BE1CA-D2BE-05FC-D79A-A76041BB7367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032BE1CA-D2BE-05FC-D79A-A76041BB73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8A6ADEC6-EECC-1987-0FB2-0CA6377246C1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DBEC577-091F-FC33-D162-688A54BB6E13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DF3A913-3215-4394-18EB-4F2A4A9A71AB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5E867028-C141-47A8-97AC-79025CF1A48C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5E867028-C141-47A8-97AC-79025CF1A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DA02FCF5-1995-E738-A9BF-9D978BE56CB2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FD5169FA-AEEA-60C2-4356-E95987723E46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FD5169FA-AEEA-60C2-4356-E95987723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40772E82-02AC-182E-1895-37FA5B721D08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432777-16BE-98D7-0BFA-5A92C6BD2A39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657FAFE-700A-6208-15E5-13DA7247A511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ED1EE42-78E3-2A05-EC41-DFAA7E8FD8FE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28A39B5-4935-D915-07B3-2CEE639E3247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990B015-4A43-EF4A-8C34-FC4751AF61C3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117F0-9CDD-5E10-9F0C-585D29A6B98C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28B6896-45A1-2AFC-CC99-776F6E00040B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A7D083F-A1B9-0319-1A4B-1B58FE4F6E09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CC62132-D566-C3BB-7E0F-44E7163D14DA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AF9CBAC-AABC-014C-44B5-FE60019FB328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FB7CF0D-2C40-C711-C808-E397439A66C3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A42AC18-4F92-86B9-3988-59E73DF757FF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9AE0851-0840-7FD4-17FA-392271A60363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D7BA99C-E6E8-4A55-991B-5F137FA2C3F7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C26C755-583C-0295-B310-8042C37AF052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D4B31A6-1407-E338-9C6A-7000227D44F1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1296AF5-F652-BAD2-E515-B673320E40F7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9BBE9C1-E1E9-33B0-52C4-7DD9F32BDBA8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8B05ED8-7613-0341-B529-A77B00BABFCE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E6D271D-D988-A363-E0A0-6183FCEE66C6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6136A59-57DD-C70A-5A89-BCD3CAFCBD30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DCA0997-4CE5-3652-12CE-A175122F2CE0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A3D2A88-5129-C4E7-1D34-278D058C0568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3B94996F-9206-3ADD-01EB-A73B6CF2B16C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3B94996F-9206-3ADD-01EB-A73B6CF2B1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6">
                <a:extLst>
                  <a:ext uri="{FF2B5EF4-FFF2-40B4-BE49-F238E27FC236}">
                    <a16:creationId xmlns:a16="http://schemas.microsoft.com/office/drawing/2014/main" id="{3E734111-4367-3C73-BE73-2FF0C366DA11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53" name="Text 6">
                <a:extLst>
                  <a:ext uri="{FF2B5EF4-FFF2-40B4-BE49-F238E27FC236}">
                    <a16:creationId xmlns:a16="http://schemas.microsoft.com/office/drawing/2014/main" id="{3E734111-4367-3C73-BE73-2FF0C366D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33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C355-54EA-9818-1572-0DC38928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1B7750EF-F6AB-2D54-42E3-4DBB767285BD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6D48939F-7279-CBBB-0C4F-3B32DBC123B2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6D48939F-7279-CBBB-0C4F-3B32DBC12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82C5E741-AAAD-4715-4771-40ADA0F7D9DD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C22EA90-9786-A147-0683-0071AC4DB1BF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5AD8CE-3B0E-70FA-4DB6-1226680A4B1E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68753FF7-84B0-C5CC-812F-DC211F07A070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68753FF7-84B0-C5CC-812F-DC211F07A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880CBA0E-DDB1-6BCE-6647-8DF450FEA63E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6A1EEF04-43DA-CBEF-0AA6-33252E65085C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6A1EEF04-43DA-CBEF-0AA6-33252E650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9A78170D-F7D1-92BB-9BA3-67226E82976E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7D86B94D-B193-81DE-00BC-AA33A0EDD610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7D86B94D-B193-81DE-00BC-AA33A0EDD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CEE92F1B-717F-050A-E705-DBC8E66E4415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F2B1DA5-E69E-79DD-B51B-08294F5F0627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2E9190C-CD36-CEC0-2B73-3935245EC547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D8939ED3-EFF6-4C77-EEE4-CB0A38D739BE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D8939ED3-EFF6-4C77-EEE4-CB0A38D73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BA2B7CD7-CEE4-4B26-09A6-E853062C5899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D22CFD2-AA95-0FB8-6FFE-8FD552326ED2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D22CFD2-AA95-0FB8-6FFE-8FD552326E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575B375F-6E0D-990A-66E3-4E37E17AD8FB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B3A956F-926F-631F-40A8-0C8CB784E48F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893C61E-2809-0973-CA14-1DD76E83FE48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750E141-CA9C-7591-82EB-1CE5DF86A72A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DE56338-FDEB-1983-2F9B-E6333C482538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0EF372C-DA8C-1BC6-EB9C-9EC6DFED8B22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5E7D343-E617-292F-8D17-2F346AE0A139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446A0C5-56E7-28F8-3B6C-70DCDCACE4F2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B87692F-F590-E873-FF13-A11008497BDB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E24CE5E-D274-43A3-E76A-FEC907766E5B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6079558-3092-0D68-259A-AE9BC24C488C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8FE5EA0-24D0-3516-5A86-FB6BBC2A389B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0E69CA3-FF1B-5BB0-320C-E1EC12FC043D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039084D-4EBF-F394-4C0D-0F16EFA9B3E6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5113314-5AAC-1495-74F0-F812DD9E8FCC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C684573-5257-6A98-2294-469262F15327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7BF02B7-E863-F3AA-4864-6BD1894137FC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11227F6-7F83-144E-4EF7-DA327A5A8EF9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C31519B-69F7-84A2-681E-D1E8F49C609D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F89BEFD-A6C5-F1DF-CCCD-8792E7C23787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6C963E2-F6F9-2424-3323-B4B97B06B67B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B2617F3-1C22-1DC5-DFF9-016B0DEB187D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FC42EB9-B8AF-F79E-A249-C23003783CCA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89A2C05-2F55-C3AA-EB93-9514F666D4AF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63310DA-7822-7D3F-7A2A-5292C2AA3319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288DCC2-D72E-9FF2-A526-D7CE57D4B0E0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D8D2224-F12E-D563-CE15-4B902B1C46CC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7AADB82-372A-F6F8-C8E1-F108E118342F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7E34600-9A2F-611C-F8E8-59C30C44294D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A9F73D9-0979-419E-FEFE-DE7CFC4A6A0A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4E969360-7CFA-AD3C-CD6E-6B37F2C7C79F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6666ADB-5E57-2467-F3E2-D8A8B2C012FC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8">
                <a:extLst>
                  <a:ext uri="{FF2B5EF4-FFF2-40B4-BE49-F238E27FC236}">
                    <a16:creationId xmlns:a16="http://schemas.microsoft.com/office/drawing/2014/main" id="{A82D0D47-AC2F-2E11-EA4D-87703A88A64E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0" name="Text 8">
                <a:extLst>
                  <a:ext uri="{FF2B5EF4-FFF2-40B4-BE49-F238E27FC236}">
                    <a16:creationId xmlns:a16="http://schemas.microsoft.com/office/drawing/2014/main" id="{A82D0D47-AC2F-2E11-EA4D-87703A88A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8">
                <a:extLst>
                  <a:ext uri="{FF2B5EF4-FFF2-40B4-BE49-F238E27FC236}">
                    <a16:creationId xmlns:a16="http://schemas.microsoft.com/office/drawing/2014/main" id="{69E71728-9094-12BF-4A70-DC4E173D10EF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2" name="Text 8">
                <a:extLst>
                  <a:ext uri="{FF2B5EF4-FFF2-40B4-BE49-F238E27FC236}">
                    <a16:creationId xmlns:a16="http://schemas.microsoft.com/office/drawing/2014/main" id="{69E71728-9094-12BF-4A70-DC4E173D10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29">
                <a:extLst>
                  <a:ext uri="{FF2B5EF4-FFF2-40B4-BE49-F238E27FC236}">
                    <a16:creationId xmlns:a16="http://schemas.microsoft.com/office/drawing/2014/main" id="{DCC1BB1B-590E-739A-1EEA-94AF107C2790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 29">
                <a:extLst>
                  <a:ext uri="{FF2B5EF4-FFF2-40B4-BE49-F238E27FC236}">
                    <a16:creationId xmlns:a16="http://schemas.microsoft.com/office/drawing/2014/main" id="{DCC1BB1B-590E-739A-1EEA-94AF107C27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1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6">
                <a:extLst>
                  <a:ext uri="{FF2B5EF4-FFF2-40B4-BE49-F238E27FC236}">
                    <a16:creationId xmlns:a16="http://schemas.microsoft.com/office/drawing/2014/main" id="{8755EF35-E316-A9BF-C0B4-9EF57F717EBD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6" name="Text 6">
                <a:extLst>
                  <a:ext uri="{FF2B5EF4-FFF2-40B4-BE49-F238E27FC236}">
                    <a16:creationId xmlns:a16="http://schemas.microsoft.com/office/drawing/2014/main" id="{8755EF35-E316-A9BF-C0B4-9EF57F717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49B3880A-D116-F363-7213-039411B51428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49B3880A-D116-F363-7213-039411B51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89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0695-CD76-74E8-FF23-9D992F52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B4EEB96A-BA9B-941C-EB7E-6A72CF2A8D93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46CE291-CC30-AC47-44B3-C58B0E4EEF44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46CE291-CC30-AC47-44B3-C58B0E4EE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0AD44C2E-379E-0C58-7F12-FE822E09685C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C9D679-241F-D507-1A3E-EADD2EC4B6CC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0188208-A19B-6427-AF1E-653641BFB191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106D13C-2387-9F97-1AFD-C3C4724DF757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106D13C-2387-9F97-1AFD-C3C4724DF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C38E6ABB-9225-4410-7702-73AF42486C3F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55A9473-9927-9A0D-0E4C-76DD81C38BDA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55A9473-9927-9A0D-0E4C-76DD81C38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EFF3A546-8063-A033-6E22-D3D6744A129C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A032E44E-38CD-6EBA-D94D-3AFD8CC993C2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A032E44E-38CD-6EBA-D94D-3AFD8CC993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7C947669-9641-F8E5-1AA0-6F5478DFCEF4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1C1C1E1-CF15-533D-E830-8370B0C69C11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920914-95D9-BD99-4E5F-97C83F89531B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2B0A95B-6C32-A0EE-6456-90D1EC3E3AC1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2B0A95B-6C32-A0EE-6456-90D1EC3E3A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78CCB8E4-580C-BBBA-E48D-1C51FFAF644E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F847239-47E8-ACA3-3E5C-44F43C200D99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F847239-47E8-ACA3-3E5C-44F43C200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1FEB1734-6EFF-7C6A-BCCA-40A78F5ED511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855134C-EC30-0E1A-95E8-BA2B63250CC4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9082528-F8F3-8E3F-B76C-B0F523E5679F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65ED924-C076-DBC6-6D70-C50BC07F4F34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F623F0B-C0CA-EB71-8000-197B1F242CD8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2518634-DC51-8E21-32C5-17C32688E8EF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9">
                <a:extLst>
                  <a:ext uri="{FF2B5EF4-FFF2-40B4-BE49-F238E27FC236}">
                    <a16:creationId xmlns:a16="http://schemas.microsoft.com/office/drawing/2014/main" id="{1444227C-63BE-C667-9772-623BC21AF02B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 29">
                <a:extLst>
                  <a:ext uri="{FF2B5EF4-FFF2-40B4-BE49-F238E27FC236}">
                    <a16:creationId xmlns:a16="http://schemas.microsoft.com/office/drawing/2014/main" id="{1444227C-63BE-C667-9772-623BC21AF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9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30">
            <a:extLst>
              <a:ext uri="{FF2B5EF4-FFF2-40B4-BE49-F238E27FC236}">
                <a16:creationId xmlns:a16="http://schemas.microsoft.com/office/drawing/2014/main" id="{627EF380-D774-9713-FD66-27CA9293648D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>
                <a:extLst>
                  <a:ext uri="{FF2B5EF4-FFF2-40B4-BE49-F238E27FC236}">
                    <a16:creationId xmlns:a16="http://schemas.microsoft.com/office/drawing/2014/main" id="{645FA5F0-A3EF-ABD7-F941-71C6B81BC709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3" name="Text 31">
                <a:extLst>
                  <a:ext uri="{FF2B5EF4-FFF2-40B4-BE49-F238E27FC236}">
                    <a16:creationId xmlns:a16="http://schemas.microsoft.com/office/drawing/2014/main" id="{645FA5F0-A3EF-ABD7-F941-71C6B81BC7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32">
            <a:extLst>
              <a:ext uri="{FF2B5EF4-FFF2-40B4-BE49-F238E27FC236}">
                <a16:creationId xmlns:a16="http://schemas.microsoft.com/office/drawing/2014/main" id="{F220B2E5-78CF-EC69-12CC-BA1FB33B8C50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23FCAC1-2DD4-D0E9-FE26-E2A6C280C058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18D3358-AE3B-B416-8134-6A155112C22A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9B2F7D4-A533-34CA-968F-D6DD80F32BFE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79F2EC1-0F94-A6CF-7619-178E5BF8E52C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82DC024-5EE0-657C-B2EE-F4D2F8D16230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2D838D0-EC1F-E560-27D0-B0EB2D8CB99D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1908F22-5D18-D783-12D1-C5577F4DBFD9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2506F05-41A5-33F5-CE56-736275C22B93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9A365D9-304B-BCF8-A074-FBEB86E85C6B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5BFA68E-CC28-67B3-7E60-A438CE158543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09B6799-3BD9-C95F-B5EC-9BA97545FC1E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6AFC89C-A075-A286-00FB-4AE430E3FC08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29987EB-8724-5ABE-095F-17A65F775969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8C4D3D-D62E-56BC-A8D2-B35A1B103D70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3A8D16D-5A42-0095-EC3B-9D15209E00CE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CBCEEC6-B69E-D254-DF82-12D30769CC52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CCCE64B-255F-9F25-4C83-BC0F4D3D18F2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59A5B52-118E-4833-4213-B54549444B97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C0AFAA4-3411-0BC3-A985-3A2AB9847736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AF678D1-670A-CC26-3E16-640E06A9091F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531CB77-29B5-EAFA-A19B-D8EDDB824430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3A2A766-DA6F-939E-43F7-576B94520043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D82764C-34A8-88D5-C8AD-D475FE5137C7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35CB0F9-DBE6-3F11-9726-B1EA14323F18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72970FC-E5AE-BC7C-8FB5-2E38DF480ECE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AF42460-247C-3B0F-8826-C3E25796E07A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3DC0E625-0D64-687C-FABD-9CFC34DBB7B7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8">
                <a:extLst>
                  <a:ext uri="{FF2B5EF4-FFF2-40B4-BE49-F238E27FC236}">
                    <a16:creationId xmlns:a16="http://schemas.microsoft.com/office/drawing/2014/main" id="{CD8C05D4-F840-D975-C4A3-AD7C5BBF6041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4" name="Text 8">
                <a:extLst>
                  <a:ext uri="{FF2B5EF4-FFF2-40B4-BE49-F238E27FC236}">
                    <a16:creationId xmlns:a16="http://schemas.microsoft.com/office/drawing/2014/main" id="{CD8C05D4-F840-D975-C4A3-AD7C5BBF6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8">
                <a:extLst>
                  <a:ext uri="{FF2B5EF4-FFF2-40B4-BE49-F238E27FC236}">
                    <a16:creationId xmlns:a16="http://schemas.microsoft.com/office/drawing/2014/main" id="{59A2F3E4-BEA4-00EF-217B-18CE1C309CD7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6" name="Text 8">
                <a:extLst>
                  <a:ext uri="{FF2B5EF4-FFF2-40B4-BE49-F238E27FC236}">
                    <a16:creationId xmlns:a16="http://schemas.microsoft.com/office/drawing/2014/main" id="{59A2F3E4-BEA4-00EF-217B-18CE1C309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11854A5C-1F9B-8E1A-EB1C-50089FABC9BB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11854A5C-1F9B-8E1A-EB1C-50089FABC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6">
                <a:extLst>
                  <a:ext uri="{FF2B5EF4-FFF2-40B4-BE49-F238E27FC236}">
                    <a16:creationId xmlns:a16="http://schemas.microsoft.com/office/drawing/2014/main" id="{849BA568-C17A-56B4-C486-2B73F1AEB7C4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0" name="Text 6">
                <a:extLst>
                  <a:ext uri="{FF2B5EF4-FFF2-40B4-BE49-F238E27FC236}">
                    <a16:creationId xmlns:a16="http://schemas.microsoft.com/office/drawing/2014/main" id="{849BA568-C17A-56B4-C486-2B73F1AEB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B3FD375-A6E5-E1F9-9DA6-EBA5E953E6AC}"/>
              </a:ext>
            </a:extLst>
          </p:cNvPr>
          <p:cNvCxnSpPr>
            <a:stCxn id="60" idx="2"/>
          </p:cNvCxnSpPr>
          <p:nvPr/>
        </p:nvCxnSpPr>
        <p:spPr>
          <a:xfrm>
            <a:off x="4846320" y="3894684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02C044D-3154-D619-46C8-9061529B5017}"/>
              </a:ext>
            </a:extLst>
          </p:cNvPr>
          <p:cNvCxnSpPr/>
          <p:nvPr/>
        </p:nvCxnSpPr>
        <p:spPr>
          <a:xfrm>
            <a:off x="4848578" y="2050588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5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9ACC-A3C5-E87F-7D61-34FFEEA4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0AF7BA4C-9C4B-F826-A338-5187E25F4BB0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A762EAB-926C-8C43-6F7F-1D81C6D7248D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A762EAB-926C-8C43-6F7F-1D81C6D72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1577437D-13A1-198D-A815-F07857432E6C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53C64A-D927-2DA2-C60F-48BF7860FB86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85B745-C5A6-46D6-4C77-02E258C77274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DC753E0C-9C85-8D00-3807-D4D16D5B2B6F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DC753E0C-9C85-8D00-3807-D4D16D5B2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E01AA01D-5A79-E4B2-331C-55480A7A5722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AF268CE-B1CD-DC2F-8EE5-DB59C5384DB9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AF268CE-B1CD-DC2F-8EE5-DB59C5384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0329460A-4B04-0F1C-E914-4B0FDF59EEED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E7A5C0AE-9B79-DAE8-AF6D-462EA2116A94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E7A5C0AE-9B79-DAE8-AF6D-462EA2116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2F2984A8-ED6A-0EDA-DB5A-12DFF6DDC5A7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B3321B3-CD65-FAD5-F85F-CAA375A44A98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CD95802-D308-00B1-38E7-3FEA3339E31A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A79E04DF-F510-ADE0-BB7B-69B590A34870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A79E04DF-F510-ADE0-BB7B-69B590A348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E62140ED-F1CD-9FD1-689A-A7292E53752F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7C1FF558-5A98-66BD-498E-B366A5F854F9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7C1FF558-5A98-66BD-498E-B366A5F85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F90CCB58-DCC7-362D-F0D6-86CF9628E4BF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7E3B300-831C-CAA4-0B12-D4BA2CCE553B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0FA50F5-E1BB-8497-B28B-7681E15E8CFA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139FC3C-11B7-F48A-E2BE-A9EB9509CAA4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D09FEF0-FB91-FDCF-E28A-34B55694A1DB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36B095-EF32-F288-E2CC-358871282EF9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07CC846-F453-D69A-83A2-2CBA1961337F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8EBD639-CC76-EC80-2C25-0A0B350410BE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74F70CB5-B419-A35E-D679-A2C3FA66E98C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74F70CB5-B419-A35E-D679-A2C3FA66E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E8AD1EA2-DF06-B9D8-7528-051B386530B3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2386697-402E-F46B-9B1F-292E89DA9E4B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5CB6AA6-84B3-825E-F683-1713577BB7E5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E078DA8-2ED4-6387-6A4F-17C2CA8A8551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AD52553-E8CE-19E0-0283-995900A7753A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5B1A333-635D-C48A-5A5C-7ECE9A6F99D9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753CE65-55F5-465B-1187-EF99508956BB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EBE6137-E77D-F82A-74C6-66BEBEBB7109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5F5EEEC-3691-76D5-3303-1CB3D66EAAC4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A8C7413-D087-34C4-AFF0-9BB7CB20B284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9A6E36B-E155-8E85-2E4C-043D51480F61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11840B0-C95A-314C-F2A2-442B936D5FDD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346CA4C-13AA-0B49-6B8D-D5B4DEE7893F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1F54812-D4F7-83E8-8318-CD2DBEF70206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5761928-4B4E-A88D-7A45-9F82D305544C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26B41BF-0F36-5AAA-63D1-4F5478930226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40CD3D1-C338-7B8B-73E2-C0EC9185A5D7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DF76AD0-5FEA-B61F-3536-1D7D4293A293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4183697-BA31-7A4F-D00D-B34CB42C59B5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0EA669B-D6E9-01A9-027E-24DDDC77C98B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09B2C01-EE44-7358-7923-D1080DBF2A48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726693A-E6AF-4C7F-7C80-986E713EA642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550C95B-061A-ED01-0FF0-B43506BDC58B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7595D3B-DC87-FF12-F1E4-526B273B5B22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7977890-4510-F762-C1A1-E7CF189A654E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C54ACE77-F99E-A528-ED61-A959C5115541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7047E53-7733-B50E-A434-EB2307EAC3CF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31497D6-A41F-CD74-CCE9-5EC165667CE3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39926456-B068-2B5C-899B-B9BA9339D451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92C91CF-F877-EE4F-CAC3-B9C108558A23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8">
                <a:extLst>
                  <a:ext uri="{FF2B5EF4-FFF2-40B4-BE49-F238E27FC236}">
                    <a16:creationId xmlns:a16="http://schemas.microsoft.com/office/drawing/2014/main" id="{227B0A8A-3876-4D7E-0621-6101C66D8A5B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8" name="Text 8">
                <a:extLst>
                  <a:ext uri="{FF2B5EF4-FFF2-40B4-BE49-F238E27FC236}">
                    <a16:creationId xmlns:a16="http://schemas.microsoft.com/office/drawing/2014/main" id="{227B0A8A-3876-4D7E-0621-6101C66D8A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8">
                <a:extLst>
                  <a:ext uri="{FF2B5EF4-FFF2-40B4-BE49-F238E27FC236}">
                    <a16:creationId xmlns:a16="http://schemas.microsoft.com/office/drawing/2014/main" id="{54CDC36D-314B-9F1E-57F3-6A1839AEDA26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0" name="Text 8">
                <a:extLst>
                  <a:ext uri="{FF2B5EF4-FFF2-40B4-BE49-F238E27FC236}">
                    <a16:creationId xmlns:a16="http://schemas.microsoft.com/office/drawing/2014/main" id="{54CDC36D-314B-9F1E-57F3-6A1839AED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29">
                <a:extLst>
                  <a:ext uri="{FF2B5EF4-FFF2-40B4-BE49-F238E27FC236}">
                    <a16:creationId xmlns:a16="http://schemas.microsoft.com/office/drawing/2014/main" id="{A856B940-6DD1-3604-B818-7734B8BC5590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 29">
                <a:extLst>
                  <a:ext uri="{FF2B5EF4-FFF2-40B4-BE49-F238E27FC236}">
                    <a16:creationId xmlns:a16="http://schemas.microsoft.com/office/drawing/2014/main" id="{A856B940-6DD1-3604-B818-7734B8BC5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2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6">
                <a:extLst>
                  <a:ext uri="{FF2B5EF4-FFF2-40B4-BE49-F238E27FC236}">
                    <a16:creationId xmlns:a16="http://schemas.microsoft.com/office/drawing/2014/main" id="{120DC153-98AA-4884-81C1-36CD1FC0A484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4" name="Text 6">
                <a:extLst>
                  <a:ext uri="{FF2B5EF4-FFF2-40B4-BE49-F238E27FC236}">
                    <a16:creationId xmlns:a16="http://schemas.microsoft.com/office/drawing/2014/main" id="{120DC153-98AA-4884-81C1-36CD1FC0A4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6">
                <a:extLst>
                  <a:ext uri="{FF2B5EF4-FFF2-40B4-BE49-F238E27FC236}">
                    <a16:creationId xmlns:a16="http://schemas.microsoft.com/office/drawing/2014/main" id="{C9B4C9B8-9469-3882-8DB2-2729438A8428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6" name="Text 6">
                <a:extLst>
                  <a:ext uri="{FF2B5EF4-FFF2-40B4-BE49-F238E27FC236}">
                    <a16:creationId xmlns:a16="http://schemas.microsoft.com/office/drawing/2014/main" id="{C9B4C9B8-9469-3882-8DB2-2729438A8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31">
                <a:extLst>
                  <a:ext uri="{FF2B5EF4-FFF2-40B4-BE49-F238E27FC236}">
                    <a16:creationId xmlns:a16="http://schemas.microsoft.com/office/drawing/2014/main" id="{DDB19F17-A3E7-6234-4EE9-35DAEC93DCEA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8" name="Text 31">
                <a:extLst>
                  <a:ext uri="{FF2B5EF4-FFF2-40B4-BE49-F238E27FC236}">
                    <a16:creationId xmlns:a16="http://schemas.microsoft.com/office/drawing/2014/main" id="{DDB19F17-A3E7-6234-4EE9-35DAEC93DC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19D94A6-3147-406D-99B7-7A8326E0E4A6}"/>
              </a:ext>
            </a:extLst>
          </p:cNvPr>
          <p:cNvCxnSpPr/>
          <p:nvPr/>
        </p:nvCxnSpPr>
        <p:spPr>
          <a:xfrm>
            <a:off x="6444262" y="3923527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A34C5BE-30EF-EB55-9BFA-994B29EFF583}"/>
              </a:ext>
            </a:extLst>
          </p:cNvPr>
          <p:cNvCxnSpPr/>
          <p:nvPr/>
        </p:nvCxnSpPr>
        <p:spPr>
          <a:xfrm>
            <a:off x="6446520" y="2079431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17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E97A-2FB1-D0DE-9A5A-05434C01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1DF6AAA3-9E56-1E21-8CF8-225F1C298676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7D8C1FA-7F93-9043-6E4C-3714FCA303A1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7D8C1FA-7F93-9043-6E4C-3714FCA30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886D97D0-B471-8B51-2EC5-F64967D59D7A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758B34-2D79-D0AD-2734-94BEC29F3BB4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48005C3-8DDB-E0B6-2565-76FBB3E23C76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4075900-3A08-7B71-BC89-E629F9064CF7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4075900-3A08-7B71-BC89-E629F9064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40B5660E-A5A8-6B5E-BA43-02488999C8A8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D232F0B-069B-E80A-74C8-81A2555020BA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D232F0B-069B-E80A-74C8-81A255502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31E7DFCD-44D6-542A-D12A-3B3000BBFF80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900775F7-BDDA-EC9C-9B21-4A98E34344AF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900775F7-BDDA-EC9C-9B21-4A98E3434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F4C80454-3818-85F4-139C-7FC4C1A965C3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828F3D7-FAF2-4D1E-78D8-6ED3A35043D9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A9426A3-D5EF-DE5A-0745-4A01093BA2CC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013D3B17-9500-FEE1-9B7D-0F4C48D16D60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013D3B17-9500-FEE1-9B7D-0F4C48D16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16615A29-4EA7-BFAB-F81F-B7E0849A2D8C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DD2D0B39-4A00-1014-4CD3-72C09BA90A60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DD2D0B39-4A00-1014-4CD3-72C09BA90A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0B31030D-D56A-DE5F-50C6-3037B32F046E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3FCD26D-3B7C-74B0-7671-81D1FA1F728C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8A93FF8-B7EF-6C01-8C2D-EB1FFC792C96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54C552E-9AAB-3326-2194-4D95D850E856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DE5BCDD-303A-24B7-EA88-1762617D0B7E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08A44A5-FFF6-C7AC-8CDF-654284EA2787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FFC7B58-1643-756C-2DAC-E0191CC3A235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C60A6E8-D909-DCE4-3025-166DAA582D33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45F02312-82EB-CC37-DF8D-87E71F5B0BE3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45F02312-82EB-CC37-DF8D-87E71F5B0B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02E5AA39-1837-796B-BE8F-81186D3326BE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3916A3D0-5959-DE70-3EBA-081B3CC7684D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3916A3D0-5959-DE70-3EBA-081B3CC76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80269C12-4F72-4F25-A21F-EFCEB6C20896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A555FC2-2784-842D-A229-B0D5174B2FE9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9FACD5C-0CFE-2ECE-63C5-B9353AC38121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40761EA-75BA-09A4-E918-E7C1F51A046D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787F4E2-FEE7-2557-E9B6-AFFE0487D2AF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E883AA9-D4F1-8AF2-012D-7A2F4057C238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0BBBB6A-CC3A-BF44-FB0C-30DC579A7AFE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0A07B69-47B2-AD01-083C-F0CF029A2337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374A231-63D0-F11E-7C11-1838AFF3C111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CAE0E4F-C4DC-F83C-3E7A-9894C435E13A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C9B1353-38EB-8FD9-4214-5C1B187F12A0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3AA83BE-BF57-D2D2-8183-E12D5AD15A67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022C1E30-9175-9ED6-7642-5B222AC75E8F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2DD2EE6-C0CF-E66B-755F-464F219E3CBE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A68483C-C34F-3A86-A0C1-2FE0354B4CBE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AF5DA0C-9C08-138F-E6A9-40A54892EE06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E81F05A-E018-28C2-2759-E041DA2EF409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B39095B-D195-3680-92BF-BF80927BD526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2CF911A-8F58-34A5-F1BA-E64D8F1E5C4C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0C9F216-195F-5F20-BEF5-7D478C431347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93631DE-F6F3-4352-DCD2-7E907A1402FF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9F09DA6-170B-ABAD-D646-120C902A56C2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FD9A400-C6F6-FD7F-A0F5-F7F787C8D1CD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2DDC4F29-70A9-1DA5-E404-CEAF6D91171C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0C96BF6-9FF9-606D-E021-F6E439577AE9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5C25449-93C5-5826-E6D5-BEAAB47250AA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73F8074-6020-97C9-504A-08EEF9B3B77C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4D7929A1-E2E0-3EF4-B881-0461844E12A7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82E69F3-3397-4942-D224-76DC4D1EB5EF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65FD8FC-C7D6-43B8-C1A9-B3340BC93738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BAF0135-9FEB-821B-ADBF-0BAE0686FEBD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7BEFCE96-C3CC-5F62-C80A-6ADA26143969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5B67FAA9-2345-79D6-E51E-BEB8D7AC71E1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C136F55-113F-39F3-FB4B-B2F3D909F87E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97456436-5AA4-DEE4-E781-C5F4726FA206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97456436-5AA4-DEE4-E781-C5F4726FA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09C8ED6E-AA23-709F-747D-B7B89DC34DBC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09C8ED6E-AA23-709F-747D-B7B89DC34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A7BE9D99-FFAB-F819-EF1F-7F84A9CE259A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A7BE9D99-FFAB-F819-EF1F-7F84A9CE2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4237953B-F8CE-DBF1-063D-CD42087B8C6F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4237953B-F8CE-DBF1-063D-CD42087B8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47D286DC-A4B2-1A01-D81D-FA505CF2D2E7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47D286DC-A4B2-1A01-D81D-FA505CF2D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EC617B46-518B-E239-AB39-BE83898FDD81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EC617B46-518B-E239-AB39-BE83898FDD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35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D74D-7734-4636-F84C-3F4FC16B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B606CAF0-6544-40FA-2387-6FAD6ADD0841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83D404FC-1DE2-CA5A-0F3B-E1B90EF57958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83D404FC-1DE2-CA5A-0F3B-E1B90EF57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0A3A42F0-C5C2-65B1-3BAC-617A788D439B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7B73568-8881-6B85-DC90-1853CA7428F5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C2790D-BC05-3F80-0A40-6B8FCDC1D220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9B30CF6F-085D-4648-4DE0-F55DDCBA553F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9B30CF6F-085D-4648-4DE0-F55DDCBA5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18C26691-0E7D-EEBF-41AA-567D9D47F9C9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E759B0AD-8315-2483-4E3F-CF41FDD71F3C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E759B0AD-8315-2483-4E3F-CF41FDD71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6F55E409-6548-1777-EED3-671620498E4A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720890B8-21EE-7DC1-9C0A-BD089B294C75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720890B8-21EE-7DC1-9C0A-BD089B294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53CB7970-19B0-279C-9975-CD2E3F792BE0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006B891-7474-22A9-0646-B41C43B8B9F2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F387D4F-CB2B-4B12-9ED8-EC2A0E49590F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4BCD9ED6-39AD-072D-A5E8-5BF39205213C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4BCD9ED6-39AD-072D-A5E8-5BF392052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71DBA100-F412-5CC2-D26A-3FA0E3EE19CB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A7715955-2B45-626C-4358-2ED8437EBB01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A7715955-2B45-626C-4358-2ED8437EB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EFCCD415-A3B2-185C-263C-AAC1F0A5665C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A30D27B-6F2B-DF06-C697-D94919485FB0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B1283D4-32D5-DB57-14B2-220C30C65528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8DEF255-CC1B-60D9-B1B3-34CE996FD7FB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95D56BD-1F91-9164-FEE4-50BC4D1DB2EB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00AF00-477C-2C9F-8D16-2D741D1E4096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53B2355-B72B-B4CE-FCF7-7FDFB034714D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8CD9BAB-9F31-21BF-7CDB-CEE8AD6BCF42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4B4C14A1-953F-E6FD-2E7A-718264536E02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4B4C14A1-953F-E6FD-2E7A-718264536E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53DA074D-02AE-2315-76A7-C2D8F96956A7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81DC0CA8-0C4B-E731-9DBE-D52F86493EAC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81DC0CA8-0C4B-E731-9DBE-D52F86493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7AA9C312-3093-8729-E7E3-88A83916F450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2DA758E-DD7E-F284-B6DE-9AA629DEA6B1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700F06C-C5E5-6499-6A2A-D3E920A56DB3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5C3135E-B207-9799-C44A-316FA0E13B57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5756149-43B7-88BC-8261-73BD9667C48C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113071E-1200-9AB3-A011-8B098ADAEF70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72DA2C8-4FD1-7144-45E8-B374A1CE3136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09E5F37-4488-AE5C-3739-159A20360690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2D793D5-A78F-0443-1905-27C9E5869F2B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0750A7B-40A8-57C1-82DF-12622BB17549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DEC34BF-D59D-AF50-12C8-3C1751C7DA20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A303022-A191-C77E-D263-6303408FDFF2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5A4FCF1-2432-5661-002D-8C67E09BA271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4D15BD02-5561-2367-78B3-96813CA8ED01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DE0F0F7-6C3B-01B4-FDA5-71E9D2871655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91EAD28-D683-E553-3E14-787D04766528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6D6AC41-EE79-3D01-3954-580952E6315F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CC7EE48-5D6C-2799-4B10-4982E2E21C0C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D1734DB-BD25-4B2D-B02F-3FC886CA474E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C51F862-A162-484C-219E-EB5C38BA31E2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7EEC7897-A806-1AF6-5A4C-E9C778801212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483F691E-6CA9-1B52-74FB-78EA39BB3467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E950863F-FE4A-4587-66EF-8D43CCED1698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1A14C98A-4D0E-0296-E41D-EC31726DA308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BE6DAA7-7009-E0C2-11E3-46FA272DE681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C6E0D7D-0AF3-8906-B7DC-016A681D42AB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2474995-04B7-FA72-F6D7-CB2EACE7D458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4A15ABE6-E3BA-E772-03A6-560FC7D0E9C6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5EB3DCFD-AFEA-D259-A429-C0DF1AA6EEF2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9B82244-843D-D41C-F59C-BE976B9B359E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AC3BA9D-37FE-FE7D-E7E0-A73DAE5D4B4B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9EB5BE7-D490-7107-1263-4DC99446E302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C8F8FE4F-5CF6-83EC-853E-0A530EC01710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1F13398D-330A-6EC3-9703-0EDCA1D809D0}"/>
              </a:ext>
            </a:extLst>
          </p:cNvPr>
          <p:cNvSpPr/>
          <p:nvPr/>
        </p:nvSpPr>
        <p:spPr>
          <a:xfrm>
            <a:off x="7360920" y="3357782"/>
            <a:ext cx="14630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CE3DF1B4-884B-6648-AD75-2A0BC8AD0C42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CE3DF1B4-884B-6648-AD75-2A0BC8AD0C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AB127A29-30D3-9439-BC28-0777A0EA9EC0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AB127A29-30D3-9439-BC28-0777A0EA9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44B512A-D5D7-1085-6EE5-5001D85C8C59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44B512A-D5D7-1085-6EE5-5001D85C8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24061E76-D604-1942-3DAC-BC8798799F45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24061E76-D604-1942-3DAC-BC8798799F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F2295408-0778-A06C-0C94-67F43754BCC4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F2295408-0778-A06C-0C94-67F43754BC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61EC153E-BAC5-9DC6-943A-DE8B3EA5ABEC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61EC153E-BAC5-9DC6-943A-DE8B3EA5AB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198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B50A48E-FB73-A844-AA93-78CFD66CC06A}"/>
              </a:ext>
            </a:extLst>
          </p:cNvPr>
          <p:cNvGraphicFramePr>
            <a:graphicFrameLocks noGrp="1"/>
          </p:cNvGraphicFramePr>
          <p:nvPr/>
        </p:nvGraphicFramePr>
        <p:xfrm>
          <a:off x="2222604" y="2200695"/>
          <a:ext cx="6799476" cy="465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92">
                  <a:extLst>
                    <a:ext uri="{9D8B030D-6E8A-4147-A177-3AD203B41FA5}">
                      <a16:colId xmlns:a16="http://schemas.microsoft.com/office/drawing/2014/main" val="3401693264"/>
                    </a:ext>
                  </a:extLst>
                </a:gridCol>
                <a:gridCol w="2266492">
                  <a:extLst>
                    <a:ext uri="{9D8B030D-6E8A-4147-A177-3AD203B41FA5}">
                      <a16:colId xmlns:a16="http://schemas.microsoft.com/office/drawing/2014/main" val="2375474460"/>
                    </a:ext>
                  </a:extLst>
                </a:gridCol>
                <a:gridCol w="2266492">
                  <a:extLst>
                    <a:ext uri="{9D8B030D-6E8A-4147-A177-3AD203B41FA5}">
                      <a16:colId xmlns:a16="http://schemas.microsoft.com/office/drawing/2014/main" val="3049601155"/>
                    </a:ext>
                  </a:extLst>
                </a:gridCol>
              </a:tblGrid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Person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(Run Time)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(Shoe Size)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825799"/>
                  </a:ext>
                </a:extLst>
              </a:tr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60342"/>
                  </a:ext>
                </a:extLst>
              </a:tr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56858"/>
                  </a:ext>
                </a:extLst>
              </a:tr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597335"/>
                  </a:ext>
                </a:extLst>
              </a:tr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725758"/>
                  </a:ext>
                </a:extLst>
              </a:tr>
              <a:tr h="69371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29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44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for Dealing with Bivariate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Plot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(mean, SD) to each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to the joint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correlation coefficient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31396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</a:t>
            </a:r>
          </a:p>
        </p:txBody>
      </p:sp>
      <p:pic>
        <p:nvPicPr>
          <p:cNvPr id="14" name="Picture 13" descr="Chart, scatter chart&#10;&#10;Description automatically generated">
            <a:extLst>
              <a:ext uri="{FF2B5EF4-FFF2-40B4-BE49-F238E27FC236}">
                <a16:creationId xmlns:a16="http://schemas.microsoft.com/office/drawing/2014/main" id="{DCADC084-1CF5-DE44-81E8-5D66BA977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650" y="1825625"/>
            <a:ext cx="6210300" cy="4889500"/>
          </a:xfrm>
          <a:prstGeom prst="rect">
            <a:avLst/>
          </a:prstGeom>
        </p:spPr>
      </p:pic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F206ABB5-9DF5-3D49-B475-46EDE3CA8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785815"/>
              </p:ext>
            </p:extLst>
          </p:nvPr>
        </p:nvGraphicFramePr>
        <p:xfrm>
          <a:off x="354382" y="2810573"/>
          <a:ext cx="4914795" cy="3366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265">
                  <a:extLst>
                    <a:ext uri="{9D8B030D-6E8A-4147-A177-3AD203B41FA5}">
                      <a16:colId xmlns:a16="http://schemas.microsoft.com/office/drawing/2014/main" val="3401693264"/>
                    </a:ext>
                  </a:extLst>
                </a:gridCol>
                <a:gridCol w="1638265">
                  <a:extLst>
                    <a:ext uri="{9D8B030D-6E8A-4147-A177-3AD203B41FA5}">
                      <a16:colId xmlns:a16="http://schemas.microsoft.com/office/drawing/2014/main" val="2375474460"/>
                    </a:ext>
                  </a:extLst>
                </a:gridCol>
                <a:gridCol w="1638265">
                  <a:extLst>
                    <a:ext uri="{9D8B030D-6E8A-4147-A177-3AD203B41FA5}">
                      <a16:colId xmlns:a16="http://schemas.microsoft.com/office/drawing/2014/main" val="3049601155"/>
                    </a:ext>
                  </a:extLst>
                </a:gridCol>
              </a:tblGrid>
              <a:tr h="85923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Person</a:t>
                      </a:r>
                    </a:p>
                  </a:txBody>
                  <a:tcPr marL="66095" marR="66095" marT="33047" marB="330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  <a:p>
                      <a:pPr algn="ctr"/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(Run Time)</a:t>
                      </a:r>
                    </a:p>
                  </a:txBody>
                  <a:tcPr marL="66095" marR="66095" marT="33047" marB="330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  <a:p>
                      <a:pPr algn="ctr"/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(Shoe Size)</a:t>
                      </a:r>
                    </a:p>
                  </a:txBody>
                  <a:tcPr marL="66095" marR="66095" marT="33047" marB="330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825799"/>
                  </a:ext>
                </a:extLst>
              </a:tr>
              <a:tr h="501432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A</a:t>
                      </a:r>
                    </a:p>
                  </a:txBody>
                  <a:tcPr marL="66095" marR="66095" marT="33047" marB="330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 marL="66095" marR="66095" marT="33047" marB="330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 marL="66095" marR="66095" marT="33047" marB="330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60342"/>
                  </a:ext>
                </a:extLst>
              </a:tr>
              <a:tr h="501432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B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4</a:t>
                      </a:r>
                    </a:p>
                  </a:txBody>
                  <a:tcPr marL="66095" marR="66095" marT="33047" marB="3304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56858"/>
                  </a:ext>
                </a:extLst>
              </a:tr>
              <a:tr h="501432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C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 marL="66095" marR="66095" marT="33047" marB="3304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597335"/>
                  </a:ext>
                </a:extLst>
              </a:tr>
              <a:tr h="501432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D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 marL="66095" marR="66095" marT="33047" marB="3304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 marL="66095" marR="66095" marT="33047" marB="3304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725758"/>
                  </a:ext>
                </a:extLst>
              </a:tr>
              <a:tr h="501432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E</a:t>
                      </a:r>
                    </a:p>
                  </a:txBody>
                  <a:tcPr marL="66095" marR="66095" marT="33047" marB="3304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 marL="66095" marR="66095" marT="33047" marB="3304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6</a:t>
                      </a:r>
                    </a:p>
                  </a:txBody>
                  <a:tcPr marL="66095" marR="66095" marT="33047" marB="3304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2963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2236B27-617F-274C-A8A0-2D7202C8832E}"/>
              </a:ext>
            </a:extLst>
          </p:cNvPr>
          <p:cNvSpPr/>
          <p:nvPr/>
        </p:nvSpPr>
        <p:spPr>
          <a:xfrm>
            <a:off x="5816600" y="2794000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355A9-D658-314E-A955-5376303F5D48}"/>
              </a:ext>
            </a:extLst>
          </p:cNvPr>
          <p:cNvSpPr/>
          <p:nvPr/>
        </p:nvSpPr>
        <p:spPr>
          <a:xfrm rot="5400000">
            <a:off x="9251898" y="5331445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3B488F-85D1-1145-B20E-9864A74A97DD}"/>
              </a:ext>
            </a:extLst>
          </p:cNvPr>
          <p:cNvSpPr txBox="1"/>
          <p:nvPr/>
        </p:nvSpPr>
        <p:spPr>
          <a:xfrm>
            <a:off x="8064638" y="5984378"/>
            <a:ext cx="2882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1KM Run Time (Mins)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214983-65F8-2846-8B76-13237FA3EFF7}"/>
              </a:ext>
            </a:extLst>
          </p:cNvPr>
          <p:cNvSpPr txBox="1"/>
          <p:nvPr/>
        </p:nvSpPr>
        <p:spPr>
          <a:xfrm rot="16200000">
            <a:off x="5579575" y="3770461"/>
            <a:ext cx="13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Shoe Size</a:t>
            </a:r>
          </a:p>
        </p:txBody>
      </p:sp>
    </p:spTree>
    <p:extLst>
      <p:ext uri="{BB962C8B-B14F-4D97-AF65-F5344CB8AC3E}">
        <p14:creationId xmlns:p14="http://schemas.microsoft.com/office/powerpoint/2010/main" val="4284324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for Dealing with Bivariate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Apply descriptive statistics (mean, SD) to each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to the joint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correlation coefficient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0494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X and Y Descriptives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36B27-617F-274C-A8A0-2D7202C8832E}"/>
              </a:ext>
            </a:extLst>
          </p:cNvPr>
          <p:cNvSpPr/>
          <p:nvPr/>
        </p:nvSpPr>
        <p:spPr>
          <a:xfrm>
            <a:off x="5816600" y="2794000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355A9-D658-314E-A955-5376303F5D48}"/>
              </a:ext>
            </a:extLst>
          </p:cNvPr>
          <p:cNvSpPr/>
          <p:nvPr/>
        </p:nvSpPr>
        <p:spPr>
          <a:xfrm rot="5400000">
            <a:off x="9251898" y="5331445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C84CB59-21C3-AF44-8ACD-686F5863DB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725"/>
          <a:stretch/>
        </p:blipFill>
        <p:spPr>
          <a:xfrm>
            <a:off x="914400" y="2355637"/>
            <a:ext cx="10363200" cy="2146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3B5ADB-3471-7F44-9973-01999521EBB5}"/>
              </a:ext>
            </a:extLst>
          </p:cNvPr>
          <p:cNvSpPr/>
          <p:nvPr/>
        </p:nvSpPr>
        <p:spPr>
          <a:xfrm>
            <a:off x="3038622" y="2950758"/>
            <a:ext cx="2011680" cy="1470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BDE671-3A81-4F4C-A865-A1C5A0580DE3}"/>
              </a:ext>
            </a:extLst>
          </p:cNvPr>
          <p:cNvSpPr/>
          <p:nvPr/>
        </p:nvSpPr>
        <p:spPr>
          <a:xfrm>
            <a:off x="5574082" y="2950757"/>
            <a:ext cx="858033" cy="1470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48BE7A-AE72-8249-A29B-3934471DF4E3}"/>
              </a:ext>
            </a:extLst>
          </p:cNvPr>
          <p:cNvSpPr/>
          <p:nvPr/>
        </p:nvSpPr>
        <p:spPr>
          <a:xfrm>
            <a:off x="8040093" y="2947656"/>
            <a:ext cx="2011680" cy="1470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8C9A0-23D7-CF4A-8E9C-262335D3E470}"/>
              </a:ext>
            </a:extLst>
          </p:cNvPr>
          <p:cNvSpPr/>
          <p:nvPr/>
        </p:nvSpPr>
        <p:spPr>
          <a:xfrm>
            <a:off x="10288269" y="2947656"/>
            <a:ext cx="858033" cy="1470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8ED9FC72-2EF2-7F46-A528-0BDE44FF5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625" y="4575258"/>
            <a:ext cx="7947950" cy="216114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54DEF19-1F57-1541-A758-7AE1815C6249}"/>
              </a:ext>
            </a:extLst>
          </p:cNvPr>
          <p:cNvSpPr/>
          <p:nvPr/>
        </p:nvSpPr>
        <p:spPr>
          <a:xfrm>
            <a:off x="2350625" y="4576027"/>
            <a:ext cx="1512715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4CA55-2252-864C-9054-FC5C0A5DC0C5}"/>
              </a:ext>
            </a:extLst>
          </p:cNvPr>
          <p:cNvSpPr/>
          <p:nvPr/>
        </p:nvSpPr>
        <p:spPr>
          <a:xfrm>
            <a:off x="2350624" y="5199484"/>
            <a:ext cx="1512715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B1D8D-4925-6D4E-A4A9-7E462179D1DE}"/>
              </a:ext>
            </a:extLst>
          </p:cNvPr>
          <p:cNvSpPr/>
          <p:nvPr/>
        </p:nvSpPr>
        <p:spPr>
          <a:xfrm>
            <a:off x="2350624" y="5642808"/>
            <a:ext cx="1764176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C12AC9-AEB4-C94E-BB8B-DE1F325F1472}"/>
              </a:ext>
            </a:extLst>
          </p:cNvPr>
          <p:cNvSpPr/>
          <p:nvPr/>
        </p:nvSpPr>
        <p:spPr>
          <a:xfrm>
            <a:off x="2158877" y="6246127"/>
            <a:ext cx="4630543" cy="41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68BC51-9AD7-D049-BEB7-4CF1F22AAD1A}"/>
              </a:ext>
            </a:extLst>
          </p:cNvPr>
          <p:cNvSpPr/>
          <p:nvPr/>
        </p:nvSpPr>
        <p:spPr>
          <a:xfrm>
            <a:off x="7080667" y="4609773"/>
            <a:ext cx="1512715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887115-48D3-6546-A1C3-6CDDFB9BFDC0}"/>
              </a:ext>
            </a:extLst>
          </p:cNvPr>
          <p:cNvSpPr/>
          <p:nvPr/>
        </p:nvSpPr>
        <p:spPr>
          <a:xfrm>
            <a:off x="7080666" y="5176416"/>
            <a:ext cx="1766154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C85C0D-EA1F-EE4C-815A-AB1DC8B866FB}"/>
              </a:ext>
            </a:extLst>
          </p:cNvPr>
          <p:cNvSpPr/>
          <p:nvPr/>
        </p:nvSpPr>
        <p:spPr>
          <a:xfrm>
            <a:off x="7080667" y="5655831"/>
            <a:ext cx="1764176" cy="456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1E78C5-4C0F-7541-BC4D-97AC6D1E6EF7}"/>
              </a:ext>
            </a:extLst>
          </p:cNvPr>
          <p:cNvSpPr/>
          <p:nvPr/>
        </p:nvSpPr>
        <p:spPr>
          <a:xfrm>
            <a:off x="7090617" y="6135038"/>
            <a:ext cx="3195032" cy="530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9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F060-E676-DB55-688C-0DEF0FB5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A253B-DE49-89A9-AD1B-D768B460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X and Y Descriptives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B273-C801-E3C1-83D6-D5E35634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CDCE3-2A83-8EB0-AB89-7772F23E7919}"/>
              </a:ext>
            </a:extLst>
          </p:cNvPr>
          <p:cNvSpPr/>
          <p:nvPr/>
        </p:nvSpPr>
        <p:spPr>
          <a:xfrm>
            <a:off x="5816600" y="2794000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3BA1DE-66F5-A666-02ED-778EEF993D9C}"/>
              </a:ext>
            </a:extLst>
          </p:cNvPr>
          <p:cNvSpPr/>
          <p:nvPr/>
        </p:nvSpPr>
        <p:spPr>
          <a:xfrm rot="5400000">
            <a:off x="9251898" y="5331445"/>
            <a:ext cx="508000" cy="1968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1D7ECE0-0014-0CB0-B13E-8750B3D2A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725"/>
          <a:stretch/>
        </p:blipFill>
        <p:spPr>
          <a:xfrm>
            <a:off x="914400" y="2355637"/>
            <a:ext cx="10363200" cy="2146725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84A61D4-9840-7C4D-4EC1-EA29D004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625" y="4575258"/>
            <a:ext cx="7947950" cy="21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34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for Dealing with Bivariate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(mean, SD) to each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Apply descriptive statistics to the joint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correlation coefficient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8350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Joint XY Descriptives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675D051-48D4-5649-B275-B7A60ECCC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18388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Sums of Products (</a:t>
            </a:r>
            <a:r>
              <a:rPr lang="en-US" b="1" i="1" dirty="0"/>
              <a:t>SP</a:t>
            </a:r>
            <a:r>
              <a:rPr lang="en-US" b="1" dirty="0"/>
              <a:t>)</a:t>
            </a:r>
            <a:r>
              <a:rPr lang="en-US" dirty="0"/>
              <a:t>: ∑(</a:t>
            </a:r>
            <a:r>
              <a:rPr lang="en-US" dirty="0">
                <a:solidFill>
                  <a:srgbClr val="FF0000"/>
                </a:solidFill>
              </a:rPr>
              <a:t>(x-</a:t>
            </a:r>
            <a:r>
              <a:rPr lang="en-CA" dirty="0">
                <a:solidFill>
                  <a:srgbClr val="FF0000"/>
                </a:solidFill>
              </a:rPr>
              <a:t>x</a:t>
            </a:r>
            <a:r>
              <a:rPr lang="en-CA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CA" dirty="0">
                <a:solidFill>
                  <a:srgbClr val="FF0000"/>
                </a:solidFill>
              </a:rPr>
              <a:t>)(y-y</a:t>
            </a:r>
            <a:r>
              <a:rPr lang="en-CA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CA" dirty="0">
                <a:solidFill>
                  <a:srgbClr val="FF0000"/>
                </a:solidFill>
              </a:rPr>
              <a:t>)</a:t>
            </a:r>
            <a:r>
              <a:rPr lang="en-CA" dirty="0"/>
              <a:t>) </a:t>
            </a:r>
          </a:p>
          <a:p>
            <a:pPr lvl="1"/>
            <a:r>
              <a:rPr lang="en-CA" dirty="0"/>
              <a:t>= -7.0000 (report: -7.00)</a:t>
            </a:r>
          </a:p>
          <a:p>
            <a:r>
              <a:rPr lang="en-US" dirty="0"/>
              <a:t>Like sums of squares, but for the products </a:t>
            </a:r>
          </a:p>
          <a:p>
            <a:r>
              <a:rPr lang="en-US" dirty="0"/>
              <a:t>Describes how each score deviated from each mean</a:t>
            </a:r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13BC1227-14D1-2F44-AB61-81F166E2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2032000"/>
          </a:xfrm>
          <a:prstGeom prst="rect">
            <a:avLst/>
          </a:prstGeom>
        </p:spPr>
      </p:pic>
      <p:sp>
        <p:nvSpPr>
          <p:cNvPr id="14" name="Bent Arrow 13">
            <a:extLst>
              <a:ext uri="{FF2B5EF4-FFF2-40B4-BE49-F238E27FC236}">
                <a16:creationId xmlns:a16="http://schemas.microsoft.com/office/drawing/2014/main" id="{27761251-0124-E944-B8BD-771B0AF017D7}"/>
              </a:ext>
            </a:extLst>
          </p:cNvPr>
          <p:cNvSpPr/>
          <p:nvPr/>
        </p:nvSpPr>
        <p:spPr>
          <a:xfrm rot="5400000">
            <a:off x="9971500" y="1071354"/>
            <a:ext cx="628029" cy="2136569"/>
          </a:xfrm>
          <a:prstGeom prst="bentArrow">
            <a:avLst>
              <a:gd name="adj1" fmla="val 7353"/>
              <a:gd name="adj2" fmla="val 14412"/>
              <a:gd name="adj3" fmla="val 25000"/>
              <a:gd name="adj4" fmla="val 437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DB81B-B967-6849-BF3C-641311DACDCC}"/>
              </a:ext>
            </a:extLst>
          </p:cNvPr>
          <p:cNvSpPr txBox="1"/>
          <p:nvPr/>
        </p:nvSpPr>
        <p:spPr>
          <a:xfrm>
            <a:off x="7483270" y="1458893"/>
            <a:ext cx="17915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Product of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Deviations</a:t>
            </a:r>
          </a:p>
        </p:txBody>
      </p:sp>
    </p:spTree>
    <p:extLst>
      <p:ext uri="{BB962C8B-B14F-4D97-AF65-F5344CB8AC3E}">
        <p14:creationId xmlns:p14="http://schemas.microsoft.com/office/powerpoint/2010/main" val="359607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Joint XY Descriptives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675D051-48D4-5649-B275-B7A60ECCC8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8183880" cy="525281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Covariance (</a:t>
                </a:r>
                <a:r>
                  <a:rPr lang="en-US" b="1" i="1" dirty="0" err="1"/>
                  <a:t>Cov</a:t>
                </a:r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𝑆𝑃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−7.00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 1.4000 (</m:t>
                    </m:r>
                    <m:r>
                      <m:rPr>
                        <m:sty m:val="p"/>
                      </m:rPr>
                      <a:rPr lang="en-US" sz="2600" b="0" i="1" smtClean="0">
                        <a:latin typeface="Cambria Math" panose="02040503050406030204" pitchFamily="18" charset="0"/>
                      </a:rPr>
                      <m:t>report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: −1.40)</m:t>
                    </m:r>
                  </m:oMath>
                </a14:m>
                <a:endParaRPr lang="en-US" sz="2600" dirty="0"/>
              </a:p>
              <a:p>
                <a:r>
                  <a:rPr lang="en-US" dirty="0"/>
                  <a:t>Like variance, but for the products</a:t>
                </a:r>
              </a:p>
              <a:p>
                <a:r>
                  <a:rPr lang="en-US" dirty="0"/>
                  <a:t>Measure of </a:t>
                </a:r>
                <a:r>
                  <a:rPr lang="en-US" dirty="0" err="1"/>
                  <a:t>covariability</a:t>
                </a:r>
                <a:endParaRPr lang="en-US" dirty="0"/>
              </a:p>
              <a:p>
                <a:r>
                  <a:rPr lang="en-US" dirty="0"/>
                  <a:t>Not in any meaningful units (products of units)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675D051-48D4-5649-B275-B7A60ECCC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8183880" cy="5252812"/>
              </a:xfrm>
              <a:blipFill>
                <a:blip r:embed="rId2"/>
                <a:stretch>
                  <a:fillRect l="-1341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13BC1227-14D1-2F44-AB61-81F166E28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000"/>
            <a:ext cx="1219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8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for Dealing with Bivariate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(mean, SD) to each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descriptive statistics to the joint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Compute correlation coefficient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0950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</a:t>
            </a:r>
            <a:r>
              <a:rPr lang="en-US" i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10E2E-9552-6A4F-84E0-C19A63CDC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18388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Pearson </a:t>
                </a:r>
                <a:r>
                  <a:rPr lang="en-US" b="1" i="1" dirty="0"/>
                  <a:t>r</a:t>
                </a:r>
                <a:r>
                  <a:rPr lang="en-US" dirty="0"/>
                  <a:t>: Degree to which two variables covary</a:t>
                </a:r>
              </a:p>
              <a:p>
                <a:r>
                  <a:rPr lang="en-US" dirty="0"/>
                  <a:t>Standardized measure of correlation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r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i="1" dirty="0"/>
                  <a:t>r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4000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0954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den>
                    </m:f>
                  </m:oMath>
                </a14:m>
                <a:r>
                  <a:rPr lang="en-US" dirty="0"/>
                  <a:t> = -0.6390 = -.64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10E2E-9552-6A4F-84E0-C19A63CDC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183880" cy="4351338"/>
              </a:xfrm>
              <a:blipFill>
                <a:blip r:embed="rId2"/>
                <a:stretch>
                  <a:fillRect l="-155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79B5DB73-6A72-4546-8452-AE6A9DC19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21" y="4373643"/>
            <a:ext cx="7382933" cy="1230489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41D6E71E-E626-9D47-9731-86E326F68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521" y="5688647"/>
            <a:ext cx="4270892" cy="1161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EB936DC-CE32-F241-9F2F-8D95D23B13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76461" y="5685472"/>
                <a:ext cx="818388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b="1" dirty="0"/>
                  <a:t>Sums of Product (</a:t>
                </a:r>
                <a:r>
                  <a:rPr lang="en-US" sz="1400" b="1" i="1" dirty="0"/>
                  <a:t>SP</a:t>
                </a:r>
                <a:r>
                  <a:rPr lang="en-US" sz="1400" b="1" dirty="0"/>
                  <a:t>)</a:t>
                </a:r>
                <a:r>
                  <a:rPr lang="en-US" sz="1400" dirty="0"/>
                  <a:t>: ∑((X-</a:t>
                </a:r>
                <a:r>
                  <a:rPr lang="en-CA" sz="1400" dirty="0"/>
                  <a:t>X̄)(Y-Ȳ)) = -7.00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Covariance (</a:t>
                </a:r>
                <a:r>
                  <a:rPr lang="en-US" sz="1400" b="1" i="1" dirty="0" err="1"/>
                  <a:t>Cov</a:t>
                </a:r>
                <a:r>
                  <a:rPr lang="en-US" sz="1400" b="1" dirty="0"/>
                  <a:t>)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𝑆𝑃</m:t>
                        </m:r>
                      </m:num>
                      <m:den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lang="en-US" sz="1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sz="1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sz="14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EB936DC-CE32-F241-9F2F-8D95D23B1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461" y="5685472"/>
                <a:ext cx="8183880" cy="5032375"/>
              </a:xfrm>
              <a:prstGeom prst="rect">
                <a:avLst/>
              </a:prstGeom>
              <a:blipFill>
                <a:blip r:embed="rId6"/>
                <a:stretch>
                  <a:fillRect l="-223"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85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4582086A-43E4-46EB-D4CE-2A90A756A146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4582086A-43E4-46EB-D4CE-2A90A756A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6">
                <a:extLst>
                  <a:ext uri="{FF2B5EF4-FFF2-40B4-BE49-F238E27FC236}">
                    <a16:creationId xmlns:a16="http://schemas.microsoft.com/office/drawing/2014/main" id="{A3E737EA-C9B6-A0C7-908D-3FE16A935852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53" name="Text 6">
                <a:extLst>
                  <a:ext uri="{FF2B5EF4-FFF2-40B4-BE49-F238E27FC236}">
                    <a16:creationId xmlns:a16="http://schemas.microsoft.com/office/drawing/2014/main" id="{A3E737EA-C9B6-A0C7-908D-3FE16A935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8">
                <a:extLst>
                  <a:ext uri="{FF2B5EF4-FFF2-40B4-BE49-F238E27FC236}">
                    <a16:creationId xmlns:a16="http://schemas.microsoft.com/office/drawing/2014/main" id="{0B7306EC-E856-B280-FFF8-3ADCB3C4F638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0" name="Text 8">
                <a:extLst>
                  <a:ext uri="{FF2B5EF4-FFF2-40B4-BE49-F238E27FC236}">
                    <a16:creationId xmlns:a16="http://schemas.microsoft.com/office/drawing/2014/main" id="{0B7306EC-E856-B280-FFF8-3ADCB3C4F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8">
                <a:extLst>
                  <a:ext uri="{FF2B5EF4-FFF2-40B4-BE49-F238E27FC236}">
                    <a16:creationId xmlns:a16="http://schemas.microsoft.com/office/drawing/2014/main" id="{66061048-FFB4-6BBD-44B1-966AD57C144D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2" name="Text 8">
                <a:extLst>
                  <a:ext uri="{FF2B5EF4-FFF2-40B4-BE49-F238E27FC236}">
                    <a16:creationId xmlns:a16="http://schemas.microsoft.com/office/drawing/2014/main" id="{66061048-FFB4-6BBD-44B1-966AD57C1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29">
                <a:extLst>
                  <a:ext uri="{FF2B5EF4-FFF2-40B4-BE49-F238E27FC236}">
                    <a16:creationId xmlns:a16="http://schemas.microsoft.com/office/drawing/2014/main" id="{B0A9A847-0C94-E8E1-CEB6-1DC2E7FF4D72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 29">
                <a:extLst>
                  <a:ext uri="{FF2B5EF4-FFF2-40B4-BE49-F238E27FC236}">
                    <a16:creationId xmlns:a16="http://schemas.microsoft.com/office/drawing/2014/main" id="{B0A9A847-0C94-E8E1-CEB6-1DC2E7FF4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1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6">
                <a:extLst>
                  <a:ext uri="{FF2B5EF4-FFF2-40B4-BE49-F238E27FC236}">
                    <a16:creationId xmlns:a16="http://schemas.microsoft.com/office/drawing/2014/main" id="{742F75DB-6301-6EEC-BA66-3164D64D2F90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6" name="Text 6">
                <a:extLst>
                  <a:ext uri="{FF2B5EF4-FFF2-40B4-BE49-F238E27FC236}">
                    <a16:creationId xmlns:a16="http://schemas.microsoft.com/office/drawing/2014/main" id="{742F75DB-6301-6EEC-BA66-3164D64D2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708D809A-BFF2-DC5C-FA7D-A3946E318B70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708D809A-BFF2-DC5C-FA7D-A3946E318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9"/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9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30"/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32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8">
                <a:extLst>
                  <a:ext uri="{FF2B5EF4-FFF2-40B4-BE49-F238E27FC236}">
                    <a16:creationId xmlns:a16="http://schemas.microsoft.com/office/drawing/2014/main" id="{77A3A8D9-C7C6-A541-977F-E4E63E36C0BD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4" name="Text 8">
                <a:extLst>
                  <a:ext uri="{FF2B5EF4-FFF2-40B4-BE49-F238E27FC236}">
                    <a16:creationId xmlns:a16="http://schemas.microsoft.com/office/drawing/2014/main" id="{77A3A8D9-C7C6-A541-977F-E4E63E36C0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8">
                <a:extLst>
                  <a:ext uri="{FF2B5EF4-FFF2-40B4-BE49-F238E27FC236}">
                    <a16:creationId xmlns:a16="http://schemas.microsoft.com/office/drawing/2014/main" id="{CB9BA336-777F-3159-0A8F-BE6E7C31BE5C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6" name="Text 8">
                <a:extLst>
                  <a:ext uri="{FF2B5EF4-FFF2-40B4-BE49-F238E27FC236}">
                    <a16:creationId xmlns:a16="http://schemas.microsoft.com/office/drawing/2014/main" id="{CB9BA336-777F-3159-0A8F-BE6E7C31BE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FAF41DF4-6C1F-34DA-5473-B8C0840738ED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8" name="Text 6">
                <a:extLst>
                  <a:ext uri="{FF2B5EF4-FFF2-40B4-BE49-F238E27FC236}">
                    <a16:creationId xmlns:a16="http://schemas.microsoft.com/office/drawing/2014/main" id="{FAF41DF4-6C1F-34DA-5473-B8C084073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6">
                <a:extLst>
                  <a:ext uri="{FF2B5EF4-FFF2-40B4-BE49-F238E27FC236}">
                    <a16:creationId xmlns:a16="http://schemas.microsoft.com/office/drawing/2014/main" id="{8695294E-2AF3-13AC-010F-27E54E833921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0" name="Text 6">
                <a:extLst>
                  <a:ext uri="{FF2B5EF4-FFF2-40B4-BE49-F238E27FC236}">
                    <a16:creationId xmlns:a16="http://schemas.microsoft.com/office/drawing/2014/main" id="{8695294E-2AF3-13AC-010F-27E54E833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813A3D-C10C-E9C0-260D-DC6E379DE602}"/>
              </a:ext>
            </a:extLst>
          </p:cNvPr>
          <p:cNvCxnSpPr>
            <a:stCxn id="60" idx="2"/>
          </p:cNvCxnSpPr>
          <p:nvPr/>
        </p:nvCxnSpPr>
        <p:spPr>
          <a:xfrm>
            <a:off x="4846320" y="3894684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042A0B-7868-BB8B-5B7B-650A8EB1CAD1}"/>
              </a:ext>
            </a:extLst>
          </p:cNvPr>
          <p:cNvCxnSpPr/>
          <p:nvPr/>
        </p:nvCxnSpPr>
        <p:spPr>
          <a:xfrm>
            <a:off x="4848578" y="2050588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8">
                <a:extLst>
                  <a:ext uri="{FF2B5EF4-FFF2-40B4-BE49-F238E27FC236}">
                    <a16:creationId xmlns:a16="http://schemas.microsoft.com/office/drawing/2014/main" id="{3FC60521-4FBD-BE56-B380-94F72E885918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8" name="Text 8">
                <a:extLst>
                  <a:ext uri="{FF2B5EF4-FFF2-40B4-BE49-F238E27FC236}">
                    <a16:creationId xmlns:a16="http://schemas.microsoft.com/office/drawing/2014/main" id="{3FC60521-4FBD-BE56-B380-94F72E885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8">
                <a:extLst>
                  <a:ext uri="{FF2B5EF4-FFF2-40B4-BE49-F238E27FC236}">
                    <a16:creationId xmlns:a16="http://schemas.microsoft.com/office/drawing/2014/main" id="{D79E02AB-78D6-7DF6-9FAA-9AE8B3882DC7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0" name="Text 8">
                <a:extLst>
                  <a:ext uri="{FF2B5EF4-FFF2-40B4-BE49-F238E27FC236}">
                    <a16:creationId xmlns:a16="http://schemas.microsoft.com/office/drawing/2014/main" id="{D79E02AB-78D6-7DF6-9FAA-9AE8B3882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29">
                <a:extLst>
                  <a:ext uri="{FF2B5EF4-FFF2-40B4-BE49-F238E27FC236}">
                    <a16:creationId xmlns:a16="http://schemas.microsoft.com/office/drawing/2014/main" id="{FFE63460-A434-66E9-8E74-1372CDCE6265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 29">
                <a:extLst>
                  <a:ext uri="{FF2B5EF4-FFF2-40B4-BE49-F238E27FC236}">
                    <a16:creationId xmlns:a16="http://schemas.microsoft.com/office/drawing/2014/main" id="{FFE63460-A434-66E9-8E74-1372CDCE6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2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6">
                <a:extLst>
                  <a:ext uri="{FF2B5EF4-FFF2-40B4-BE49-F238E27FC236}">
                    <a16:creationId xmlns:a16="http://schemas.microsoft.com/office/drawing/2014/main" id="{791ADD49-3485-84B4-A9A7-9AD41C2559C9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4" name="Text 6">
                <a:extLst>
                  <a:ext uri="{FF2B5EF4-FFF2-40B4-BE49-F238E27FC236}">
                    <a16:creationId xmlns:a16="http://schemas.microsoft.com/office/drawing/2014/main" id="{791ADD49-3485-84B4-A9A7-9AD41C2559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6">
                <a:extLst>
                  <a:ext uri="{FF2B5EF4-FFF2-40B4-BE49-F238E27FC236}">
                    <a16:creationId xmlns:a16="http://schemas.microsoft.com/office/drawing/2014/main" id="{1B986261-F986-A0BA-DE78-8E1BA827E2B4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6" name="Text 6">
                <a:extLst>
                  <a:ext uri="{FF2B5EF4-FFF2-40B4-BE49-F238E27FC236}">
                    <a16:creationId xmlns:a16="http://schemas.microsoft.com/office/drawing/2014/main" id="{1B986261-F986-A0BA-DE78-8E1BA827E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31">
                <a:extLst>
                  <a:ext uri="{FF2B5EF4-FFF2-40B4-BE49-F238E27FC236}">
                    <a16:creationId xmlns:a16="http://schemas.microsoft.com/office/drawing/2014/main" id="{8178F40B-5E3F-58B3-1F53-C5B132E513C2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8" name="Text 31">
                <a:extLst>
                  <a:ext uri="{FF2B5EF4-FFF2-40B4-BE49-F238E27FC236}">
                    <a16:creationId xmlns:a16="http://schemas.microsoft.com/office/drawing/2014/main" id="{8178F40B-5E3F-58B3-1F53-C5B132E513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730AFC0-C7FF-66C7-EAE9-58C79F4AE645}"/>
              </a:ext>
            </a:extLst>
          </p:cNvPr>
          <p:cNvCxnSpPr/>
          <p:nvPr/>
        </p:nvCxnSpPr>
        <p:spPr>
          <a:xfrm>
            <a:off x="6444262" y="3923527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37828CE-225C-25D7-0CDC-2E4797DA09B3}"/>
              </a:ext>
            </a:extLst>
          </p:cNvPr>
          <p:cNvCxnSpPr/>
          <p:nvPr/>
        </p:nvCxnSpPr>
        <p:spPr>
          <a:xfrm>
            <a:off x="6446520" y="2079431"/>
            <a:ext cx="2258" cy="1161288"/>
          </a:xfrm>
          <a:prstGeom prst="line">
            <a:avLst/>
          </a:prstGeom>
          <a:ln w="28575">
            <a:solidFill>
              <a:srgbClr val="2C5F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/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/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/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360920" y="3236316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2381C03-3E13-BA02-1CC0-DA063F5DAE21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2381C03-3E13-BA02-1CC0-DA063F5DA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9B410020-3995-69FE-1948-BC4DD23F6321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9B410020-3995-69FE-1948-BC4DD23F6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98092C2-CFC0-6D76-5956-A73488CCE8F1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98092C2-CFC0-6D76-5956-A73488CC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E54FA57B-0EE0-E66F-7732-C98965067EBD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E54FA57B-0EE0-E66F-7732-C98965067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12E8993F-56F4-83F8-4D0D-15E99FDFBEA3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12E8993F-56F4-83F8-4D0D-15E99FDFB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0FC955BD-C767-D52C-9AA7-F2846FEEBF4E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0FC955BD-C767-D52C-9AA7-F2846FEEB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F3DD-983F-A5E5-8DC8-79C3D9F2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27784128-6CD5-C32F-2638-F62D3436943A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D1FFC41-14B1-54BE-3D7E-441CAF90DA00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D1FFC41-14B1-54BE-3D7E-441CAF90D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FBE243D9-48FC-6A81-B229-BA0B17C67D65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358CE6B-BDCC-1D65-3B05-B065EECC1495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267F6DE-831B-7C52-D724-09A5448D4271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9EE01672-913E-3E7E-CEBB-D0D809E7FF91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9EE01672-913E-3E7E-CEBB-D0D809E7FF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45A82D63-6D83-00AF-A1F5-74647F50B55D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825B103-0B31-00D4-6779-9E282D7D7A22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825B103-0B31-00D4-6779-9E282D7D7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50FD7E17-A7E4-3020-3A26-3F85776769DA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A6CE10E-274E-7044-A1B0-04210DB866C1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A6CE10E-274E-7044-A1B0-04210DB86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07E55D31-5157-05B4-1E63-E7A447780BC7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B83306D-DC8D-F86F-3078-6490953394EA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7462822-68E0-3A63-53FC-31CBE067655F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8C0004F5-8404-A1B4-019B-5A6E76407F77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8C0004F5-8404-A1B4-019B-5A6E76407F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F1FC4210-6F74-3125-EE89-7516D5F4EBED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DA07A208-0E0B-E01A-32AE-1BBE78B93E1E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DA07A208-0E0B-E01A-32AE-1BBE78B93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C31908F7-FE1E-D76D-6D27-28E1FAC5EAC6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516B41F-60C5-CEF8-240D-F3699BA6AA20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C647B40-DE72-55A3-82BC-7D8FFAC8EAD3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28C0A13-965C-26EC-C257-1F364F7FB3E5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CD51277-8100-787D-01B4-1E080C5E6EBD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5108954-7CD5-17DC-6A5F-F6392CF65977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EAFC2A1-3B31-5ED6-EDD7-AB5D73D3F50B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D894FD2-A59A-25AC-B46D-194A7BC90DEC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006CD209-C28F-4E32-2BDC-C1F59758232A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006CD209-C28F-4E32-2BDC-C1F597582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DEFA1619-3AF0-CA06-18B8-041EB735E998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C21F03F4-378C-0D57-85EC-420944BDE836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C21F03F4-378C-0D57-85EC-420944BD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829C2CA8-CFFE-550B-2D31-0DCB45FCA06F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0E4E2AA-275C-CCE0-401A-0165A9F7FC61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8F69163-33B5-B038-202C-D183DD1921D2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E81BCF5-BB61-C42B-B4F6-5CAC95693F70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1106198-158D-299F-FA7C-6A45543D2148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05A15DE-8BAB-EB06-A950-A70BB99B42A3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FFF53D7-6D85-6794-6300-6159B4262E2C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83569C8-2DC3-4BFB-B32B-52EE516B81BF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1BFB7E7-8B54-19F9-E897-05F086F35CC2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8778275-8F7A-C2AE-CD16-4B5E5A16ED6B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A01518A-182F-54ED-480E-523B58AED2FB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0FAE13B-AEE2-3BF9-48C3-A202C73F3E5F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CBA7216-77DC-4F63-C9B1-4E5592345FAF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30B4950-52FE-8B5B-97C6-55A6F3D4A29A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F7CFA3E-F5C5-0468-BF25-0F84F20044AE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B1CC478-F5D1-5416-CB6A-772BE02EA40A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FCEC517-71D1-5321-C39E-AA480D80A9E3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581AA96-014C-92ED-AE32-F7FFA1739332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AC139D7-2C0E-0191-EA66-2440CE0A654C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AB0174D-2ACF-5B42-5BA0-3F899069CF6E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D41BB2C-25AA-C874-E2C9-944A14DE9BBD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F224598A-F823-9A29-E5FE-F9799157C850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F105DA2-B944-2CD3-A430-F89E49B56D12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A62E52A-0898-E048-2DD1-CBCB5A64019A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0F8BB9A5-2FDC-4BCE-005F-A45A300DDAF4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E79C37C-6CDF-B56F-3742-08FB78370ADD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1D78E178-059A-FB0B-E75E-58DD4695E55F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8516171-6201-6C5A-CDC0-B506473542BB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D830AF73-24A7-745B-68D0-49473F476A68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97F6C3F-4AEC-E57E-9C97-505362F1164D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A43DBE3-07D6-2E34-DA39-8F48DFD78E5C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3B561A1-8F91-E087-8F06-C98B61174C6F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D3FF71E0-B4EF-FEF7-DE42-C0388C381B1A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EA932FD-290A-DF1D-6769-600B6227AA77}"/>
              </a:ext>
            </a:extLst>
          </p:cNvPr>
          <p:cNvSpPr/>
          <p:nvPr/>
        </p:nvSpPr>
        <p:spPr>
          <a:xfrm>
            <a:off x="7360920" y="3357782"/>
            <a:ext cx="14630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058B36E-EDFE-24DE-36C1-4D42BB50C041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058B36E-EDFE-24DE-36C1-4D42BB50C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6502EE33-6D56-C298-7C46-BCADBC8220F7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6502EE33-6D56-C298-7C46-BCADBC822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24445903-796D-F0F3-37F7-FD660D0BF9C5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24445903-796D-F0F3-37F7-FD660D0BF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1D97EAE3-973C-F4E6-DFFE-27BE6D6558FD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1D97EAE3-973C-F4E6-DFFE-27BE6D6558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FE0E5553-B3F2-D3CD-6839-AD56D672C33B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FE0E5553-B3F2-D3CD-6839-AD56D672C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64909743-748A-3EB5-3683-9BBABD3533CA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64909743-748A-3EB5-3683-9BBABD353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667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064B9F6-D8CE-F04C-83F1-E608426DAF3D}"/>
              </a:ext>
            </a:extLst>
          </p:cNvPr>
          <p:cNvGrpSpPr/>
          <p:nvPr/>
        </p:nvGrpSpPr>
        <p:grpSpPr>
          <a:xfrm>
            <a:off x="-124892" y="4538365"/>
            <a:ext cx="9649107" cy="1954510"/>
            <a:chOff x="-250371" y="4369335"/>
            <a:chExt cx="12192000" cy="2469595"/>
          </a:xfrm>
        </p:grpSpPr>
        <p:pic>
          <p:nvPicPr>
            <p:cNvPr id="12" name="Picture 11" descr="Chart&#10;&#10;Description automatically generated with medium confidence">
              <a:extLst>
                <a:ext uri="{FF2B5EF4-FFF2-40B4-BE49-F238E27FC236}">
                  <a16:creationId xmlns:a16="http://schemas.microsoft.com/office/drawing/2014/main" id="{BE49C4C2-4BD3-3F48-AD94-074FC6406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50371" y="4369335"/>
              <a:ext cx="12192000" cy="246959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05AC8E-9707-2240-9F5B-75BDDAD2EB82}"/>
                </a:ext>
              </a:extLst>
            </p:cNvPr>
            <p:cNvSpPr/>
            <p:nvPr/>
          </p:nvSpPr>
          <p:spPr>
            <a:xfrm>
              <a:off x="5343605" y="5083850"/>
              <a:ext cx="1111624" cy="368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EA1AB5-BF2F-B845-BADE-FF47AB90CEEC}"/>
                </a:ext>
              </a:extLst>
            </p:cNvPr>
            <p:cNvSpPr/>
            <p:nvPr/>
          </p:nvSpPr>
          <p:spPr>
            <a:xfrm>
              <a:off x="4231981" y="5083850"/>
              <a:ext cx="1111624" cy="3683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B733F74-09EF-794D-ADA3-3413D89A1FE3}"/>
                </a:ext>
              </a:extLst>
            </p:cNvPr>
            <p:cNvSpPr/>
            <p:nvPr/>
          </p:nvSpPr>
          <p:spPr>
            <a:xfrm>
              <a:off x="3120355" y="5083850"/>
              <a:ext cx="1111625" cy="3683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3D64B7-E551-8D44-B37F-33258CD874F0}"/>
                </a:ext>
              </a:extLst>
            </p:cNvPr>
            <p:cNvSpPr/>
            <p:nvPr/>
          </p:nvSpPr>
          <p:spPr>
            <a:xfrm>
              <a:off x="341299" y="5083850"/>
              <a:ext cx="2770098" cy="3683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D53774-5BAA-944E-ACF0-0C9D73195295}"/>
                </a:ext>
              </a:extLst>
            </p:cNvPr>
            <p:cNvSpPr/>
            <p:nvPr/>
          </p:nvSpPr>
          <p:spPr>
            <a:xfrm>
              <a:off x="6455229" y="5083850"/>
              <a:ext cx="1111624" cy="3683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05D883-AA64-FF4E-B9F1-D62D996DD4C9}"/>
                </a:ext>
              </a:extLst>
            </p:cNvPr>
            <p:cNvSpPr/>
            <p:nvPr/>
          </p:nvSpPr>
          <p:spPr>
            <a:xfrm>
              <a:off x="7575811" y="5083850"/>
              <a:ext cx="1111625" cy="3683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8F210F5-B9F2-824D-A40A-B0FE6B9F56AC}"/>
                </a:ext>
              </a:extLst>
            </p:cNvPr>
            <p:cNvSpPr/>
            <p:nvPr/>
          </p:nvSpPr>
          <p:spPr>
            <a:xfrm>
              <a:off x="8678477" y="5083850"/>
              <a:ext cx="2783533" cy="3683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47B0C4-FBFC-244D-9879-7CC6296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Bivariate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0E2E-9552-6A4F-84E0-C19A63C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3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Describing Relationships</a:t>
            </a:r>
          </a:p>
          <a:p>
            <a:r>
              <a:rPr lang="en-US" b="1" dirty="0"/>
              <a:t>From a Correlation Coefficient:</a:t>
            </a:r>
          </a:p>
          <a:p>
            <a:pPr lvl="1"/>
            <a:r>
              <a:rPr lang="en-US" b="1" dirty="0"/>
              <a:t>Direction: </a:t>
            </a:r>
            <a:r>
              <a:rPr lang="en-US" dirty="0"/>
              <a:t>Positive or negative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Magnitude</a:t>
            </a:r>
            <a:r>
              <a:rPr lang="en-US" dirty="0">
                <a:solidFill>
                  <a:srgbClr val="FF0000"/>
                </a:solidFill>
              </a:rPr>
              <a:t>: Size (</a:t>
            </a:r>
            <a:r>
              <a:rPr lang="en-US" i="1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 = -.64)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 Weak, moderate, strong </a:t>
            </a:r>
            <a:r>
              <a:rPr lang="en-US" dirty="0">
                <a:solidFill>
                  <a:srgbClr val="FF0000"/>
                </a:solidFill>
              </a:rPr>
              <a:t>(based on </a:t>
            </a:r>
            <a:r>
              <a:rPr lang="en-US" i="1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 value)</a:t>
            </a:r>
          </a:p>
          <a:p>
            <a:pPr lvl="1"/>
            <a:r>
              <a:rPr lang="en-US" b="1" dirty="0"/>
              <a:t>Shape</a:t>
            </a:r>
            <a:r>
              <a:rPr lang="en-US" dirty="0"/>
              <a:t>: Linear or curvilinear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3A436-DFAC-034D-A0CC-2C679DE2410C}"/>
              </a:ext>
            </a:extLst>
          </p:cNvPr>
          <p:cNvGrpSpPr/>
          <p:nvPr/>
        </p:nvGrpSpPr>
        <p:grpSpPr>
          <a:xfrm>
            <a:off x="9409131" y="187509"/>
            <a:ext cx="2219508" cy="6482981"/>
            <a:chOff x="6504971" y="131179"/>
            <a:chExt cx="3432028" cy="10024642"/>
          </a:xfrm>
        </p:grpSpPr>
        <p:pic>
          <p:nvPicPr>
            <p:cNvPr id="6" name="Picture 2" descr="How To Get Correlation Coefficient In Power BI">
              <a:extLst>
                <a:ext uri="{FF2B5EF4-FFF2-40B4-BE49-F238E27FC236}">
                  <a16:creationId xmlns:a16="http://schemas.microsoft.com/office/drawing/2014/main" id="{75AB1E1D-A4D3-424D-9BFD-310EBEE8BC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30" t="2969" r="6944" b="22386"/>
            <a:stretch/>
          </p:blipFill>
          <p:spPr bwMode="auto">
            <a:xfrm>
              <a:off x="6568765" y="6858000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ow To Get Correlation Coefficient In Power BI">
              <a:extLst>
                <a:ext uri="{FF2B5EF4-FFF2-40B4-BE49-F238E27FC236}">
                  <a16:creationId xmlns:a16="http://schemas.microsoft.com/office/drawing/2014/main" id="{4BE86EBC-BAD0-4D44-8045-1EA830038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 r="68861" b="25355"/>
            <a:stretch/>
          </p:blipFill>
          <p:spPr bwMode="auto">
            <a:xfrm>
              <a:off x="6504971" y="131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ow To Get Correlation Coefficient In Power BI">
              <a:extLst>
                <a:ext uri="{FF2B5EF4-FFF2-40B4-BE49-F238E27FC236}">
                  <a16:creationId xmlns:a16="http://schemas.microsoft.com/office/drawing/2014/main" id="{393DECE7-E255-7948-A4FB-13CF042B48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3450" r="39036" b="21905"/>
            <a:stretch/>
          </p:blipFill>
          <p:spPr bwMode="auto">
            <a:xfrm>
              <a:off x="6568766" y="3560179"/>
              <a:ext cx="3368233" cy="32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AFA9-5AA5-C94C-907C-756DD4F0C784}"/>
              </a:ext>
            </a:extLst>
          </p:cNvPr>
          <p:cNvGrpSpPr/>
          <p:nvPr/>
        </p:nvGrpSpPr>
        <p:grpSpPr>
          <a:xfrm>
            <a:off x="9639300" y="4884420"/>
            <a:ext cx="2034540" cy="1608455"/>
            <a:chOff x="9639300" y="4884420"/>
            <a:chExt cx="2034540" cy="1608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A7FB8-1073-274A-9CE6-3BF9618B46E1}"/>
                </a:ext>
              </a:extLst>
            </p:cNvPr>
            <p:cNvSpPr/>
            <p:nvPr/>
          </p:nvSpPr>
          <p:spPr>
            <a:xfrm>
              <a:off x="9639300" y="4884420"/>
              <a:ext cx="2034540" cy="16084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How To Get Correlation Coefficient In Power BI">
              <a:extLst>
                <a:ext uri="{FF2B5EF4-FFF2-40B4-BE49-F238E27FC236}">
                  <a16:creationId xmlns:a16="http://schemas.microsoft.com/office/drawing/2014/main" id="{5ED1C6CB-9C10-684E-A453-52DF34C47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2" t="16086" r="43968" b="44002"/>
            <a:stretch/>
          </p:blipFill>
          <p:spPr bwMode="auto">
            <a:xfrm rot="19801621">
              <a:off x="9859010" y="5033959"/>
              <a:ext cx="1591176" cy="114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1298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3A3E-AE5A-F444-BDB6-42478A4E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241D-857C-EE48-9960-ABD8A0058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For our five participants, there was a </a:t>
            </a:r>
            <a:r>
              <a:rPr lang="en-US" sz="4000" b="1" dirty="0"/>
              <a:t>strong</a:t>
            </a:r>
            <a:r>
              <a:rPr lang="en-US" sz="4000" dirty="0"/>
              <a:t>, </a:t>
            </a:r>
            <a:r>
              <a:rPr lang="en-US" sz="4000" b="1" dirty="0"/>
              <a:t>negative</a:t>
            </a:r>
            <a:r>
              <a:rPr lang="en-US" sz="4000" dirty="0"/>
              <a:t>, </a:t>
            </a:r>
            <a:r>
              <a:rPr lang="en-US" sz="4000" b="1" dirty="0"/>
              <a:t>linear</a:t>
            </a:r>
            <a:r>
              <a:rPr lang="en-US" sz="4000" dirty="0"/>
              <a:t> relationship, </a:t>
            </a:r>
            <a:r>
              <a:rPr lang="en-US" sz="4000" b="1" i="1" dirty="0"/>
              <a:t>r</a:t>
            </a:r>
            <a:r>
              <a:rPr lang="en-US" sz="4000" b="1" dirty="0"/>
              <a:t> = -.64</a:t>
            </a:r>
            <a:r>
              <a:rPr lang="en-US" sz="4000" dirty="0"/>
              <a:t>, between participant shoe size (</a:t>
            </a:r>
            <a:r>
              <a:rPr lang="en-US" sz="4000" b="1" i="1" dirty="0"/>
              <a:t>Ȳ</a:t>
            </a:r>
            <a:r>
              <a:rPr lang="en-US" sz="4000" b="1" dirty="0"/>
              <a:t> = 7.00, </a:t>
            </a:r>
            <a:r>
              <a:rPr lang="en-US" sz="4000" b="1" i="1" dirty="0"/>
              <a:t>SD</a:t>
            </a:r>
            <a:r>
              <a:rPr lang="en-US" sz="4000" b="1" dirty="0"/>
              <a:t> = 2.00</a:t>
            </a:r>
            <a:r>
              <a:rPr lang="en-US" sz="4000" dirty="0"/>
              <a:t>) and 1km run time (</a:t>
            </a:r>
            <a:r>
              <a:rPr lang="en-CA" sz="4000" b="1" i="1" dirty="0"/>
              <a:t>x̅</a:t>
            </a:r>
            <a:r>
              <a:rPr lang="en-US" sz="4000" b="1" i="1" dirty="0"/>
              <a:t> </a:t>
            </a:r>
            <a:r>
              <a:rPr lang="en-US" sz="4000" b="1" dirty="0"/>
              <a:t>= 3.00, </a:t>
            </a:r>
            <a:r>
              <a:rPr lang="en-US" sz="4000" b="1" i="1" dirty="0"/>
              <a:t>SD</a:t>
            </a:r>
            <a:r>
              <a:rPr lang="en-US" sz="4000" b="1" dirty="0"/>
              <a:t> = 1.10</a:t>
            </a:r>
            <a:r>
              <a:rPr lang="en-US" sz="4000" dirty="0"/>
              <a:t>). </a:t>
            </a:r>
            <a:r>
              <a:rPr lang="en-US" sz="4000" b="1" dirty="0"/>
              <a:t>As shoe size increased, run time decreased. </a:t>
            </a:r>
          </a:p>
        </p:txBody>
      </p:sp>
    </p:spTree>
    <p:extLst>
      <p:ext uri="{BB962C8B-B14F-4D97-AF65-F5344CB8AC3E}">
        <p14:creationId xmlns:p14="http://schemas.microsoft.com/office/powerpoint/2010/main" val="4010524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63CA-688E-683D-6FDB-D7385645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B24905-1113-D317-1962-99B2B35A8113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42A59A-C730-8FD3-32C0-035584C4B9B7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CBD3570-CB64-EE28-14F8-C8950EBAC0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170AEA6-652A-2FC8-55E5-7C82059AE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8438B00-2A76-FD34-0150-8A252E0BF15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8811D73-4636-3C7A-C563-F78F4CF68B15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480D84-C243-FC96-A829-8AD2F6ECC2A0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1885BA0-908D-E92D-B9A5-8AA468A1EA14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C312675-6C4F-76DC-4E94-8F3C42403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002B906-A4C8-B6D9-DC9D-BEBBBA52B46B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C54873-BB57-1A0E-5933-82EE9EB8F997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71F5CC2-EC2A-A6AE-5834-B349D43343CC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CEEF02-4DA0-835E-3BB1-55B66484694C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E31F71-2DB6-DBC8-4CF0-D0203290F508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AF3380-2E3D-1401-2C17-D391D9237B3A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936E482-EE83-C371-C930-88836D8523A1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268D30A-C240-448B-48F5-1D6D99C36B90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Bivariate Data</a:t>
            </a:r>
          </a:p>
          <a:p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Computing Correlation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Factors that Influence </a:t>
            </a:r>
            <a:r>
              <a:rPr lang="en-US" sz="36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Other Scales and Correlations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511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81660A7-7C14-2E47-A78F-C21E7D21C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A03D9-87CA-3440-A056-50FE15FD8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0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B719-6040-69D1-C972-AEB041C4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4CF609A-64DA-0128-F458-2ABBF0AC6F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7B0F55-DFF4-5402-27F3-BA430276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62B0E-1298-8A21-CC19-A2BB67E9F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89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F0B7-C399-149F-FD82-78294D95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2F8B-E418-CD4B-EDBE-43E43B4B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D564-8862-BB2B-5F29-387D57B22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Of course, our correlation depends on how strong the real (population) relationship is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121C675C-7416-540D-B3CD-7AD286DF9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836" y="2747119"/>
            <a:ext cx="7662327" cy="384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858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81AB-8D30-85D7-AFF5-8F38B017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9DADD6A-181A-81FA-3339-9278646DD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965081-51BB-50BC-87A0-DED6DE5D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E51F-20A9-4D54-8934-ADDBBFCF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71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3409-0D13-61F4-03E7-A248B18D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3CAFC9C-20C3-3327-855D-42A65C233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DBC4E0-1302-D171-C5C5-2BA5D7A5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4BB9-F19A-7443-F4B5-197FD4271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506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Sampling Error</a:t>
            </a:r>
            <a:r>
              <a:rPr lang="en-US" dirty="0"/>
              <a:t>:  Discrepancy between sample statistics and population parameter</a:t>
            </a:r>
          </a:p>
          <a:p>
            <a:r>
              <a:rPr lang="en-US" dirty="0"/>
              <a:t>Each sample had inherent variability from the population</a:t>
            </a:r>
          </a:p>
          <a:p>
            <a:r>
              <a:rPr lang="en-US" dirty="0"/>
              <a:t>Central tendency and variability then may differ across samples</a:t>
            </a:r>
          </a:p>
          <a:p>
            <a:r>
              <a:rPr lang="en-US" dirty="0"/>
              <a:t>Each sample may increase or decrease r </a:t>
            </a:r>
            <a:r>
              <a:rPr lang="en-US" b="1" i="1" dirty="0"/>
              <a:t>by chance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63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1BBD-A8B8-E691-5BD6-B1212DB7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77E4877-CE1F-DF97-728C-EFB58FF80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FABC4-7730-7414-C5F3-F9881ABA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62D7-CF11-1E92-B819-8CBD41B6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197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2FC3-23EF-794A-6184-8990EB37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6F2C746-E6C1-C000-06B7-79E5D0910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C8B13-4F23-C570-861C-5CBD38F2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41585-A2CD-68DB-E785-CFDFF6C3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5063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Unmeasured Third Variable</a:t>
            </a:r>
            <a:r>
              <a:rPr lang="en-US" dirty="0"/>
              <a:t>:</a:t>
            </a:r>
          </a:p>
          <a:p>
            <a:r>
              <a:rPr lang="en-US" dirty="0"/>
              <a:t>Two things can be related because of some other factor that we didn’t track in our study</a:t>
            </a:r>
          </a:p>
          <a:p>
            <a:pPr lvl="1"/>
            <a:r>
              <a:rPr lang="en-US" dirty="0"/>
              <a:t>E.g., crime is correlated with ice cream sales because both increase with better weather</a:t>
            </a:r>
          </a:p>
          <a:p>
            <a:r>
              <a:rPr lang="en-US" dirty="0"/>
              <a:t>Mediation and moderation tests can be used to test for third variable influences (</a:t>
            </a:r>
            <a:r>
              <a:rPr lang="en-US" i="1" dirty="0"/>
              <a:t>these are not covered in this course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08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0991-005D-8CE9-A497-EFCD0A94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DCFCE9E-8AA4-2F59-81CC-01DC02758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96F927-E306-81DC-E247-2D0A88DE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C4616-4915-84A2-DA21-E4D9C0C13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748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F848-2726-0A08-1C70-639B1BDE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E148-CE97-8443-4059-39CB9546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C2D5D-8DF5-293F-2CE2-A02D01A6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611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Heterogenous Sample</a:t>
            </a:r>
            <a:r>
              <a:rPr lang="en-US" dirty="0"/>
              <a:t>: When your sample includes multiple sub-samples</a:t>
            </a:r>
          </a:p>
          <a:p>
            <a:r>
              <a:rPr lang="en-US" dirty="0"/>
              <a:t>Can decrease </a:t>
            </a:r>
            <a:r>
              <a:rPr lang="en-US" i="1" dirty="0"/>
              <a:t>r</a:t>
            </a:r>
            <a:r>
              <a:rPr lang="en-US" dirty="0"/>
              <a:t> if sub-samples behave differently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73BD7E3E-4753-AAC3-3519-123F918DB4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897"/>
          <a:stretch/>
        </p:blipFill>
        <p:spPr>
          <a:xfrm>
            <a:off x="7263442" y="1990530"/>
            <a:ext cx="4649418" cy="465296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08116E-8F51-A9AE-6066-BE86C3342186}"/>
              </a:ext>
            </a:extLst>
          </p:cNvPr>
          <p:cNvCxnSpPr/>
          <p:nvPr/>
        </p:nvCxnSpPr>
        <p:spPr>
          <a:xfrm>
            <a:off x="8193444" y="4287417"/>
            <a:ext cx="3510643" cy="0"/>
          </a:xfrm>
          <a:prstGeom prst="line">
            <a:avLst/>
          </a:prstGeom>
          <a:ln w="508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1615F6-4E9B-568A-3950-FCCFDF874D3C}"/>
              </a:ext>
            </a:extLst>
          </p:cNvPr>
          <p:cNvCxnSpPr>
            <a:cxnSpLocks/>
          </p:cNvCxnSpPr>
          <p:nvPr/>
        </p:nvCxnSpPr>
        <p:spPr>
          <a:xfrm>
            <a:off x="8402217" y="3068217"/>
            <a:ext cx="2812013" cy="224790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220CC4-0CBA-C83B-2ABB-A24AF0EE074B}"/>
              </a:ext>
            </a:extLst>
          </p:cNvPr>
          <p:cNvCxnSpPr>
            <a:cxnSpLocks/>
          </p:cNvCxnSpPr>
          <p:nvPr/>
        </p:nvCxnSpPr>
        <p:spPr>
          <a:xfrm flipV="1">
            <a:off x="8402217" y="3068216"/>
            <a:ext cx="2952554" cy="2451328"/>
          </a:xfrm>
          <a:prstGeom prst="line">
            <a:avLst/>
          </a:prstGeom>
          <a:ln w="508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3BF335-ADE0-A5E8-96AB-58BE05B7155A}"/>
              </a:ext>
            </a:extLst>
          </p:cNvPr>
          <p:cNvSpPr txBox="1"/>
          <p:nvPr/>
        </p:nvSpPr>
        <p:spPr>
          <a:xfrm>
            <a:off x="9294469" y="1269147"/>
            <a:ext cx="16658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r  = -.03</a:t>
            </a:r>
          </a:p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r  = -.93</a:t>
            </a:r>
          </a:p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r = .92</a:t>
            </a:r>
          </a:p>
        </p:txBody>
      </p:sp>
    </p:spTree>
    <p:extLst>
      <p:ext uri="{BB962C8B-B14F-4D97-AF65-F5344CB8AC3E}">
        <p14:creationId xmlns:p14="http://schemas.microsoft.com/office/powerpoint/2010/main" val="1149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9B788-FAEB-D0CC-D797-A6111650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C5C0-6646-AF69-C2AE-2807C690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3C76-45C4-E86D-9B01-CED0157C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611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Heterogenous Sample</a:t>
            </a:r>
            <a:r>
              <a:rPr lang="en-US" dirty="0"/>
              <a:t>: When your sample includes multiple sub-samples</a:t>
            </a:r>
          </a:p>
          <a:p>
            <a:r>
              <a:rPr lang="en-US" dirty="0"/>
              <a:t>Can decrease </a:t>
            </a:r>
            <a:r>
              <a:rPr lang="en-US" i="1" dirty="0"/>
              <a:t>r</a:t>
            </a:r>
            <a:r>
              <a:rPr lang="en-US" dirty="0"/>
              <a:t> if sub-samples behave differently</a:t>
            </a:r>
          </a:p>
          <a:p>
            <a:r>
              <a:rPr lang="en-US" dirty="0"/>
              <a:t>Can increase </a:t>
            </a:r>
            <a:r>
              <a:rPr lang="en-US" i="1" dirty="0"/>
              <a:t>r</a:t>
            </a:r>
            <a:r>
              <a:rPr lang="en-US" dirty="0"/>
              <a:t> by chance if subsamples line up into a correlation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02AEA1D0-A3EF-73B3-ED28-DBAEADA9C5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940" t="-4350" r="83861" b="58560"/>
          <a:stretch/>
        </p:blipFill>
        <p:spPr>
          <a:xfrm>
            <a:off x="8254784" y="185409"/>
            <a:ext cx="3319874" cy="3901707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B240D0B-982E-5E3B-7E89-0755CE2968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70" t="-2506" r="61794" b="56716"/>
          <a:stretch/>
        </p:blipFill>
        <p:spPr>
          <a:xfrm>
            <a:off x="8254784" y="2591168"/>
            <a:ext cx="3844668" cy="39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541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0228F-7382-CC55-56E5-7E0B5164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C54D16A-8ACD-7C0B-DBFC-E20A3C0CB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55990-5B83-C897-17D3-5F9FAA0A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44640-7D8A-E54F-CEE2-74A4BBF56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735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E4EE-0474-AA25-0297-2F821440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24F9-498D-D758-75FF-1D366C63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7430B-34F4-B356-98B7-77EC286A9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8470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Truncated Range</a:t>
            </a:r>
            <a:r>
              <a:rPr lang="en-US" dirty="0"/>
              <a:t>: When data are collected from a restricted range of the full scale, the resulting scores may provide incomplete or misleading information about the true relationship across the entire range</a:t>
            </a:r>
          </a:p>
          <a:p>
            <a:r>
              <a:rPr lang="en-US" dirty="0"/>
              <a:t>Most often reduces </a:t>
            </a:r>
            <a:r>
              <a:rPr lang="en-US" i="1" dirty="0"/>
              <a:t>r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2E12772-8186-FB19-BD64-EC70E6DC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907" y="0"/>
            <a:ext cx="3495189" cy="6720777"/>
          </a:xfrm>
          <a:prstGeom prst="rect">
            <a:avLst/>
          </a:prstGeom>
        </p:spPr>
      </p:pic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7BBFB945-D216-C5B4-0077-E5046822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10" t="58417" r="6951" b="30353"/>
          <a:stretch>
            <a:fillRect/>
          </a:stretch>
        </p:blipFill>
        <p:spPr>
          <a:xfrm>
            <a:off x="9158512" y="3552459"/>
            <a:ext cx="2659584" cy="251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5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4DA7-98FE-F8B7-9DFF-1E785BE5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26E9-9AE3-14E7-4225-908943A6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6B47C-D88B-E089-71F5-B4F77F85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8470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Truncated Range</a:t>
            </a:r>
            <a:r>
              <a:rPr lang="en-US" dirty="0"/>
              <a:t>: When data are collected from a restricted range of the full scale, the resulting scores may provide incomplete or misleading information about the true relationship across the entire range</a:t>
            </a:r>
          </a:p>
          <a:p>
            <a:r>
              <a:rPr lang="en-US" dirty="0"/>
              <a:t>Most often reduces </a:t>
            </a:r>
            <a:r>
              <a:rPr lang="en-US" i="1" dirty="0"/>
              <a:t>r</a:t>
            </a:r>
          </a:p>
          <a:p>
            <a:r>
              <a:rPr lang="en-US" dirty="0"/>
              <a:t>But in some cases can increase </a:t>
            </a:r>
            <a:r>
              <a:rPr lang="en-US" i="1" dirty="0"/>
              <a:t>r</a:t>
            </a:r>
            <a:r>
              <a:rPr lang="en-US" dirty="0"/>
              <a:t> by chance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C41DEA-696E-955A-D300-61F1797BE8FA}"/>
              </a:ext>
            </a:extLst>
          </p:cNvPr>
          <p:cNvGrpSpPr/>
          <p:nvPr/>
        </p:nvGrpSpPr>
        <p:grpSpPr>
          <a:xfrm>
            <a:off x="8322907" y="1371374"/>
            <a:ext cx="3687497" cy="4623026"/>
            <a:chOff x="2969844" y="-2074380"/>
            <a:chExt cx="9021434" cy="113102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ED2537-53E2-3058-3E49-18E3D3ECC286}"/>
                </a:ext>
              </a:extLst>
            </p:cNvPr>
            <p:cNvGrpSpPr/>
            <p:nvPr/>
          </p:nvGrpSpPr>
          <p:grpSpPr>
            <a:xfrm>
              <a:off x="2969844" y="3548602"/>
              <a:ext cx="9021434" cy="5687219"/>
              <a:chOff x="1585283" y="585390"/>
              <a:chExt cx="9021434" cy="5687219"/>
            </a:xfrm>
          </p:grpSpPr>
          <p:pic>
            <p:nvPicPr>
              <p:cNvPr id="10" name="Picture 9" descr="A graph with blue dots&#10;&#10;AI-generated content may be incorrect.">
                <a:extLst>
                  <a:ext uri="{FF2B5EF4-FFF2-40B4-BE49-F238E27FC236}">
                    <a16:creationId xmlns:a16="http://schemas.microsoft.com/office/drawing/2014/main" id="{9D6A00D0-4B7F-4F2D-46FE-86E230DEE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85283" y="585390"/>
                <a:ext cx="9021434" cy="5687219"/>
              </a:xfrm>
              <a:prstGeom prst="rect">
                <a:avLst/>
              </a:prstGeom>
            </p:spPr>
          </p:pic>
          <p:pic>
            <p:nvPicPr>
              <p:cNvPr id="13" name="Picture 12" descr="A graph with blue dots&#10;&#10;AI-generated content may be incorrect.">
                <a:extLst>
                  <a:ext uri="{FF2B5EF4-FFF2-40B4-BE49-F238E27FC236}">
                    <a16:creationId xmlns:a16="http://schemas.microsoft.com/office/drawing/2014/main" id="{1A338AD8-4CB1-F49B-84C9-49A357324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6133" t="6168" r="76374" b="80872"/>
              <a:stretch>
                <a:fillRect/>
              </a:stretch>
            </p:blipFill>
            <p:spPr>
              <a:xfrm>
                <a:off x="1727200" y="717096"/>
                <a:ext cx="675951" cy="737054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5137E8-A8EA-47EB-DD68-E027A927627A}"/>
                </a:ext>
              </a:extLst>
            </p:cNvPr>
            <p:cNvGrpSpPr/>
            <p:nvPr/>
          </p:nvGrpSpPr>
          <p:grpSpPr>
            <a:xfrm>
              <a:off x="3046503" y="-2074380"/>
              <a:ext cx="8926171" cy="5687219"/>
              <a:chOff x="1585283" y="6392212"/>
              <a:chExt cx="8926171" cy="5687219"/>
            </a:xfrm>
          </p:grpSpPr>
          <p:pic>
            <p:nvPicPr>
              <p:cNvPr id="12" name="Picture 11" descr="A graph of blue dots&#10;&#10;AI-generated content may be incorrect.">
                <a:extLst>
                  <a:ext uri="{FF2B5EF4-FFF2-40B4-BE49-F238E27FC236}">
                    <a16:creationId xmlns:a16="http://schemas.microsoft.com/office/drawing/2014/main" id="{E4A9DC74-0142-31A2-335B-7BE114D8E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5283" y="6392212"/>
                <a:ext cx="8926171" cy="5687219"/>
              </a:xfrm>
              <a:prstGeom prst="rect">
                <a:avLst/>
              </a:prstGeom>
            </p:spPr>
          </p:pic>
          <p:pic>
            <p:nvPicPr>
              <p:cNvPr id="14" name="Picture 13" descr="A graph with blue dots&#10;&#10;AI-generated content may be incorrect.">
                <a:extLst>
                  <a:ext uri="{FF2B5EF4-FFF2-40B4-BE49-F238E27FC236}">
                    <a16:creationId xmlns:a16="http://schemas.microsoft.com/office/drawing/2014/main" id="{D06066F6-E1D2-A4FE-07D1-F242967ECA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6133" t="6168" r="76374" b="80872"/>
              <a:stretch>
                <a:fillRect/>
              </a:stretch>
            </p:blipFill>
            <p:spPr>
              <a:xfrm>
                <a:off x="1680546" y="6489473"/>
                <a:ext cx="675951" cy="737054"/>
              </a:xfrm>
              <a:prstGeom prst="rect">
                <a:avLst/>
              </a:prstGeom>
            </p:spPr>
          </p:pic>
        </p:grpSp>
      </p:grp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0CF07FCD-DCA1-B8F9-286E-88C9CF508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5" t="57137" r="74634" b="19119"/>
          <a:stretch>
            <a:fillRect/>
          </a:stretch>
        </p:blipFill>
        <p:spPr>
          <a:xfrm>
            <a:off x="8496300" y="3874229"/>
            <a:ext cx="3167955" cy="20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6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B767-3387-BD41-5EB3-689A7299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B18DEA8-4CA2-A8EC-E8D2-E18983E03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7DA17-9A70-A358-7161-4C24620B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DE5B-0746-F9CA-59E5-246703A2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178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48F3-944E-4ACB-FE9D-A9BCC384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AF2E-6A61-6852-56DA-54528742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2E040-F0C3-6F42-C6EC-72A66B72F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Non-Linear Relationships</a:t>
            </a:r>
            <a:r>
              <a:rPr lang="en-US" dirty="0"/>
              <a:t>: Correlations may not be linear</a:t>
            </a:r>
          </a:p>
          <a:p>
            <a:r>
              <a:rPr lang="en-US" dirty="0"/>
              <a:t>Treating a non-linear relationship as linear can decrease r</a:t>
            </a:r>
          </a:p>
          <a:p>
            <a:r>
              <a:rPr lang="en-US" dirty="0"/>
              <a:t>Treating a linear relationship as non-linear can also decrease r</a:t>
            </a:r>
          </a:p>
          <a:p>
            <a:r>
              <a:rPr lang="en-US" dirty="0"/>
              <a:t>There exists non-linear tests (</a:t>
            </a:r>
            <a:r>
              <a:rPr lang="en-US" i="1" dirty="0"/>
              <a:t>this is part of regr</a:t>
            </a:r>
            <a:r>
              <a:rPr lang="en-US" dirty="0"/>
              <a:t>ession)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F63061C8-4ECE-6CFD-0ECC-D2B49F9F1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052" y="1569244"/>
            <a:ext cx="4965700" cy="48641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B23E4-FAF5-7F51-2866-1911FD6F42FA}"/>
              </a:ext>
            </a:extLst>
          </p:cNvPr>
          <p:cNvCxnSpPr>
            <a:cxnSpLocks/>
          </p:cNvCxnSpPr>
          <p:nvPr/>
        </p:nvCxnSpPr>
        <p:spPr>
          <a:xfrm>
            <a:off x="7512908" y="2669059"/>
            <a:ext cx="4280759" cy="3178895"/>
          </a:xfrm>
          <a:prstGeom prst="line">
            <a:avLst/>
          </a:prstGeom>
          <a:ln w="508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82D834-1F54-9F58-A624-EED7A9BC5E4F}"/>
              </a:ext>
            </a:extLst>
          </p:cNvPr>
          <p:cNvSpPr txBox="1"/>
          <p:nvPr/>
        </p:nvSpPr>
        <p:spPr>
          <a:xfrm>
            <a:off x="8473963" y="4910949"/>
            <a:ext cx="1471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r  = .12</a:t>
            </a:r>
          </a:p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r  = .78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A1FB51A-79D6-0CAD-E21A-ECC3ACA44B80}"/>
              </a:ext>
            </a:extLst>
          </p:cNvPr>
          <p:cNvSpPr/>
          <p:nvPr/>
        </p:nvSpPr>
        <p:spPr>
          <a:xfrm>
            <a:off x="7166919" y="3015039"/>
            <a:ext cx="4324865" cy="2496075"/>
          </a:xfrm>
          <a:custGeom>
            <a:avLst/>
            <a:gdLst>
              <a:gd name="connsiteX0" fmla="*/ 0 w 4324865"/>
              <a:gd name="connsiteY0" fmla="*/ 2496075 h 2496075"/>
              <a:gd name="connsiteX1" fmla="*/ 2100649 w 4324865"/>
              <a:gd name="connsiteY1" fmla="*/ 10 h 2496075"/>
              <a:gd name="connsiteX2" fmla="*/ 4324865 w 4324865"/>
              <a:gd name="connsiteY2" fmla="*/ 2471361 h 249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4865" h="2496075">
                <a:moveTo>
                  <a:pt x="0" y="2496075"/>
                </a:moveTo>
                <a:cubicBezTo>
                  <a:pt x="689919" y="1250102"/>
                  <a:pt x="1379838" y="4129"/>
                  <a:pt x="2100649" y="10"/>
                </a:cubicBezTo>
                <a:cubicBezTo>
                  <a:pt x="2821460" y="-4109"/>
                  <a:pt x="3573162" y="1233626"/>
                  <a:pt x="4324865" y="2471361"/>
                </a:cubicBezTo>
              </a:path>
            </a:pathLst>
          </a:cu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15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C17F-EC5A-3C5D-D7FE-7C047B5F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2F25402-962E-8504-B7FC-56F3537B8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937" y="1825625"/>
            <a:ext cx="5665063" cy="412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46C8EA-2F2B-ECE1-3009-F0B1DBF5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615C-0893-F74A-FA33-DAB2ADB4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15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0164-098D-427B-E3B3-9308CB05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CF87-82A0-BE4B-6DBB-CC71D120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BFC7-06B5-711A-9CFA-020826A11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Relationship is real and strong/weak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Unmeasured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Heterogenous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Truncated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Non-Linear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Heteroscedasticity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7D97EDF8-BB1F-C879-8B57-0FAF83FC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358" y="1427025"/>
            <a:ext cx="2461364" cy="5430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6ED579-4AF4-4C1D-3A12-FEE1FBFFA32B}"/>
              </a:ext>
            </a:extLst>
          </p:cNvPr>
          <p:cNvSpPr txBox="1"/>
          <p:nvPr/>
        </p:nvSpPr>
        <p:spPr>
          <a:xfrm>
            <a:off x="8093172" y="1322753"/>
            <a:ext cx="3983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Homoscedasticity (r = .93)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EC42E-081E-1040-146F-BB4EFCAAF15B}"/>
              </a:ext>
            </a:extLst>
          </p:cNvPr>
          <p:cNvSpPr txBox="1"/>
          <p:nvPr/>
        </p:nvSpPr>
        <p:spPr>
          <a:xfrm>
            <a:off x="8093171" y="4276158"/>
            <a:ext cx="4099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Heteroscedasticity (r = .67)</a:t>
            </a:r>
          </a:p>
        </p:txBody>
      </p:sp>
    </p:spTree>
    <p:extLst>
      <p:ext uri="{BB962C8B-B14F-4D97-AF65-F5344CB8AC3E}">
        <p14:creationId xmlns:p14="http://schemas.microsoft.com/office/powerpoint/2010/main" val="222583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Influence Pearson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A03D9-87CA-3440-A056-50FE15FD8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496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Heteroscedasticity</a:t>
                </a:r>
                <a:r>
                  <a:rPr lang="en-US" dirty="0"/>
                  <a:t>: Variability changes across our range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Remember</a:t>
                </a:r>
                <a:r>
                  <a:rPr lang="en-US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𝐶𝑂𝑉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US" b="0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US" b="0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</a:rPr>
                  <a:t>so increases in variability (SD) will reduce r</a:t>
                </a:r>
              </a:p>
              <a:p>
                <a:r>
                  <a:rPr lang="en-US" dirty="0"/>
                  <a:t>Heteroscedasticity can be caused by a skew in one or both of our variables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A03D9-87CA-3440-A056-50FE15FD8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49611" cy="4351338"/>
              </a:xfrm>
              <a:blipFill>
                <a:blip r:embed="rId2"/>
                <a:stretch>
                  <a:fillRect l="-1842" t="-2241" r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478E0723-E8A9-874A-BF96-0031E372F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358" y="1427025"/>
            <a:ext cx="2461364" cy="5430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43083B-C546-D44D-B10C-51C9878D5BF0}"/>
              </a:ext>
            </a:extLst>
          </p:cNvPr>
          <p:cNvSpPr txBox="1"/>
          <p:nvPr/>
        </p:nvSpPr>
        <p:spPr>
          <a:xfrm>
            <a:off x="8093172" y="1322753"/>
            <a:ext cx="3983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Homoscedasticity (r = .93)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C4417-0634-FC4C-A2DB-70178546EDB2}"/>
              </a:ext>
            </a:extLst>
          </p:cNvPr>
          <p:cNvSpPr txBox="1"/>
          <p:nvPr/>
        </p:nvSpPr>
        <p:spPr>
          <a:xfrm>
            <a:off x="8093171" y="4276158"/>
            <a:ext cx="4099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Heteroscedasticity (r = .67)</a:t>
            </a:r>
          </a:p>
        </p:txBody>
      </p:sp>
    </p:spTree>
    <p:extLst>
      <p:ext uri="{BB962C8B-B14F-4D97-AF65-F5344CB8AC3E}">
        <p14:creationId xmlns:p14="http://schemas.microsoft.com/office/powerpoint/2010/main" val="31662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 on Sample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A03D9-87CA-3440-A056-50FE15FD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459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Sample Size:</a:t>
            </a:r>
          </a:p>
          <a:p>
            <a:r>
              <a:rPr lang="en-US" dirty="0"/>
              <a:t>There is an incorrect assumption that the larger the sample size, the larger the correlation</a:t>
            </a:r>
          </a:p>
          <a:p>
            <a:r>
              <a:rPr lang="en-US" dirty="0"/>
              <a:t>In fact, sample size does not have any direct impact on correlations</a:t>
            </a:r>
          </a:p>
          <a:p>
            <a:r>
              <a:rPr lang="en-US" dirty="0"/>
              <a:t>It will, however, have an impact on whether we decide the correlation is </a:t>
            </a:r>
            <a:r>
              <a:rPr lang="en-US" i="1" dirty="0"/>
              <a:t>significant </a:t>
            </a:r>
            <a:r>
              <a:rPr lang="en-US" dirty="0"/>
              <a:t>(Unit 3.1. but mostly 300B)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2A3475-5C2C-4A44-9E49-FB053DA39B57}"/>
              </a:ext>
            </a:extLst>
          </p:cNvPr>
          <p:cNvGrpSpPr/>
          <p:nvPr/>
        </p:nvGrpSpPr>
        <p:grpSpPr>
          <a:xfrm>
            <a:off x="8144609" y="359687"/>
            <a:ext cx="3400646" cy="3335421"/>
            <a:chOff x="7953154" y="1406700"/>
            <a:chExt cx="3400646" cy="33354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FA86CA-72E1-0B46-A2F9-3AC735A3B21C}"/>
                </a:ext>
              </a:extLst>
            </p:cNvPr>
            <p:cNvGrpSpPr/>
            <p:nvPr/>
          </p:nvGrpSpPr>
          <p:grpSpPr>
            <a:xfrm>
              <a:off x="7953154" y="1825625"/>
              <a:ext cx="3400646" cy="2916496"/>
              <a:chOff x="7953154" y="1825625"/>
              <a:chExt cx="3400646" cy="2916496"/>
            </a:xfrm>
          </p:grpSpPr>
          <p:pic>
            <p:nvPicPr>
              <p:cNvPr id="9" name="Picture 8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2F1C6A06-15D6-9F44-9FC1-B2071BD159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831" r="-16749" b="1016"/>
              <a:stretch/>
            </p:blipFill>
            <p:spPr>
              <a:xfrm>
                <a:off x="7953154" y="1825625"/>
                <a:ext cx="3400646" cy="2916496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AD3F85-06CA-044C-94FC-E08811D53FAC}"/>
                  </a:ext>
                </a:extLst>
              </p:cNvPr>
              <p:cNvSpPr/>
              <p:nvPr/>
            </p:nvSpPr>
            <p:spPr>
              <a:xfrm>
                <a:off x="8139448" y="2083391"/>
                <a:ext cx="2627290" cy="24009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" name="Picture 4" descr="Chart, scatter chart&#10;&#10;Description automatically generated">
              <a:extLst>
                <a:ext uri="{FF2B5EF4-FFF2-40B4-BE49-F238E27FC236}">
                  <a16:creationId xmlns:a16="http://schemas.microsoft.com/office/drawing/2014/main" id="{80D013B1-3644-B34F-A006-868D5ED620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977" r="47584" b="9764"/>
            <a:stretch/>
          </p:blipFill>
          <p:spPr>
            <a:xfrm>
              <a:off x="8502142" y="1406700"/>
              <a:ext cx="1620653" cy="323229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5C49AD-B7B6-4144-B465-271AAD7B4371}"/>
              </a:ext>
            </a:extLst>
          </p:cNvPr>
          <p:cNvGrpSpPr/>
          <p:nvPr/>
        </p:nvGrpSpPr>
        <p:grpSpPr>
          <a:xfrm>
            <a:off x="8144609" y="3715182"/>
            <a:ext cx="3400646" cy="2916496"/>
            <a:chOff x="7953154" y="1825625"/>
            <a:chExt cx="3400646" cy="291649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5512451-8A83-C942-98B7-964F79A5618B}"/>
                </a:ext>
              </a:extLst>
            </p:cNvPr>
            <p:cNvGrpSpPr/>
            <p:nvPr/>
          </p:nvGrpSpPr>
          <p:grpSpPr>
            <a:xfrm>
              <a:off x="7953154" y="1825625"/>
              <a:ext cx="3400646" cy="2916496"/>
              <a:chOff x="7953154" y="1825625"/>
              <a:chExt cx="3400646" cy="2916496"/>
            </a:xfrm>
          </p:grpSpPr>
          <p:pic>
            <p:nvPicPr>
              <p:cNvPr id="16" name="Picture 15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2787C290-4533-5549-B083-E0F2BA4236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831" r="-16749" b="1016"/>
              <a:stretch/>
            </p:blipFill>
            <p:spPr>
              <a:xfrm>
                <a:off x="7953154" y="1825625"/>
                <a:ext cx="3400646" cy="2916496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29A7D9A-43D6-0047-A0AB-82E49D7EFAC5}"/>
                  </a:ext>
                </a:extLst>
              </p:cNvPr>
              <p:cNvSpPr/>
              <p:nvPr/>
            </p:nvSpPr>
            <p:spPr>
              <a:xfrm>
                <a:off x="8139448" y="2083391"/>
                <a:ext cx="2627290" cy="24009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 descr="Chart, scatter chart&#10;&#10;Description automatically generated">
              <a:extLst>
                <a:ext uri="{FF2B5EF4-FFF2-40B4-BE49-F238E27FC236}">
                  <a16:creationId xmlns:a16="http://schemas.microsoft.com/office/drawing/2014/main" id="{E359C46E-BD40-384B-BFDD-9710C4044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977" t="12371" r="47584" b="9764"/>
            <a:stretch/>
          </p:blipFill>
          <p:spPr>
            <a:xfrm>
              <a:off x="8502142" y="1849804"/>
              <a:ext cx="1620653" cy="2789191"/>
            </a:xfrm>
            <a:prstGeom prst="rect">
              <a:avLst/>
            </a:prstGeom>
          </p:spPr>
        </p:pic>
      </p:grpSp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0F7FC542-46FD-1443-8225-7BE617763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7" r="47584" b="18643"/>
          <a:stretch/>
        </p:blipFill>
        <p:spPr>
          <a:xfrm rot="11263058">
            <a:off x="8857614" y="3848113"/>
            <a:ext cx="1620653" cy="2914266"/>
          </a:xfrm>
          <a:prstGeom prst="rect">
            <a:avLst/>
          </a:prstGeom>
        </p:spPr>
      </p:pic>
      <p:pic>
        <p:nvPicPr>
          <p:cNvPr id="19" name="Picture 18" descr="Chart, scatter chart&#10;&#10;Description automatically generated">
            <a:extLst>
              <a:ext uri="{FF2B5EF4-FFF2-40B4-BE49-F238E27FC236}">
                <a16:creationId xmlns:a16="http://schemas.microsoft.com/office/drawing/2014/main" id="{A0BE21F9-9C53-604A-9464-FFF4061AE4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7" r="47584" b="18643"/>
          <a:stretch/>
        </p:blipFill>
        <p:spPr>
          <a:xfrm rot="11263058">
            <a:off x="9055418" y="3512888"/>
            <a:ext cx="1620653" cy="29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5909-7A04-2BD0-C23C-B61D38E7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07E86E-55F3-A5C6-3224-F041DBD3014F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365E50C-8500-7D5B-878F-6593EB17D5FB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4ADE310-A845-C3D8-E082-B50F81DC39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93B83A-12C9-BAAB-660B-691A03627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D66C268-DAD7-DB1D-D1B2-860D0EC9EB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430B01D-2B71-7F88-24DD-2F62B3907D65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E2DB704-7436-892C-34A6-394DD4EE6974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8E50515-C314-C5D0-9973-6A94F6209E07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593AB67-3AEC-883F-84DB-464E5C390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2CD3C30-D323-4B46-BEC6-104CECCA0302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45C01D8-0B36-0013-C2FE-6D14CA10CA69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25D924A-29AC-7F53-F8A3-BD7313156FE7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127BC51-84DA-87A1-CBC2-193E7BF0D7C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394AC10-2B0D-40C8-3643-23A147E1DCC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A4CE52E-C94F-8432-78FD-A8160D5D21B1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CCADCB3-ECCB-D883-D232-4F240D66556D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E7B4F366-0697-8F18-FA6C-81FE3BE64E9A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Bivariate Data</a:t>
            </a:r>
          </a:p>
          <a:p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Computing Correlation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Factors that Influence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Scales and Correlations</a:t>
            </a:r>
            <a:endParaRPr lang="en-US" sz="3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139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70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9CE8B-893E-6842-BEA8-B70A57553DC4}"/>
              </a:ext>
            </a:extLst>
          </p:cNvPr>
          <p:cNvSpPr txBox="1"/>
          <p:nvPr/>
        </p:nvSpPr>
        <p:spPr>
          <a:xfrm rot="20627475">
            <a:off x="3420611" y="3105481"/>
            <a:ext cx="4185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3E4C4-9058-4641-951B-E6BA00FD787F}"/>
              </a:ext>
            </a:extLst>
          </p:cNvPr>
          <p:cNvSpPr txBox="1"/>
          <p:nvPr/>
        </p:nvSpPr>
        <p:spPr>
          <a:xfrm rot="20627475">
            <a:off x="9127580" y="5705593"/>
            <a:ext cx="2793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F351D-EBD4-4345-9604-C5AA0AA5F0F5}"/>
              </a:ext>
            </a:extLst>
          </p:cNvPr>
          <p:cNvSpPr txBox="1"/>
          <p:nvPr/>
        </p:nvSpPr>
        <p:spPr>
          <a:xfrm rot="20627475">
            <a:off x="3452020" y="5552958"/>
            <a:ext cx="377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5918D0-ACC7-834A-ACB5-D1F0A678E998}"/>
              </a:ext>
            </a:extLst>
          </p:cNvPr>
          <p:cNvSpPr txBox="1"/>
          <p:nvPr/>
        </p:nvSpPr>
        <p:spPr>
          <a:xfrm rot="20627475">
            <a:off x="9082863" y="3144811"/>
            <a:ext cx="3102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5AA9B-FBE0-7841-8CBD-0C25019D0E8D}"/>
              </a:ext>
            </a:extLst>
          </p:cNvPr>
          <p:cNvSpPr txBox="1"/>
          <p:nvPr/>
        </p:nvSpPr>
        <p:spPr>
          <a:xfrm rot="20627475">
            <a:off x="6208003" y="3113898"/>
            <a:ext cx="2996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F3E126-06B4-D34A-9986-2D68117CCEED}"/>
              </a:ext>
            </a:extLst>
          </p:cNvPr>
          <p:cNvSpPr txBox="1"/>
          <p:nvPr/>
        </p:nvSpPr>
        <p:spPr>
          <a:xfrm rot="20627475">
            <a:off x="3404026" y="4386578"/>
            <a:ext cx="2915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84BD00-4DE1-DE4C-A025-3A8DE6A8FECE}"/>
              </a:ext>
            </a:extLst>
          </p:cNvPr>
          <p:cNvSpPr txBox="1"/>
          <p:nvPr/>
        </p:nvSpPr>
        <p:spPr>
          <a:xfrm rot="20627475">
            <a:off x="6244717" y="4322717"/>
            <a:ext cx="3090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559AEF-F4CE-FE40-AA0C-0371C6A110E2}"/>
              </a:ext>
            </a:extLst>
          </p:cNvPr>
          <p:cNvSpPr txBox="1"/>
          <p:nvPr/>
        </p:nvSpPr>
        <p:spPr>
          <a:xfrm rot="20627475">
            <a:off x="6364522" y="5607644"/>
            <a:ext cx="2956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6483DC-6A46-7742-8A77-52EF2B9FADCD}"/>
              </a:ext>
            </a:extLst>
          </p:cNvPr>
          <p:cNvSpPr txBox="1"/>
          <p:nvPr/>
        </p:nvSpPr>
        <p:spPr>
          <a:xfrm rot="20627475">
            <a:off x="8969322" y="4307847"/>
            <a:ext cx="304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</p:spTree>
    <p:extLst>
      <p:ext uri="{BB962C8B-B14F-4D97-AF65-F5344CB8AC3E}">
        <p14:creationId xmlns:p14="http://schemas.microsoft.com/office/powerpoint/2010/main" val="363978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19" grpId="0"/>
      <p:bldP spid="32" grpId="0"/>
      <p:bldP spid="33" grpId="0"/>
      <p:bldP spid="34" grpId="0"/>
      <p:bldP spid="3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54E6C-0CA3-0F41-8A1B-0FDD9C127BF1}"/>
              </a:ext>
            </a:extLst>
          </p:cNvPr>
          <p:cNvSpPr/>
          <p:nvPr/>
        </p:nvSpPr>
        <p:spPr>
          <a:xfrm>
            <a:off x="3513958" y="2947963"/>
            <a:ext cx="2762343" cy="125059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404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0395-93FE-774A-AD72-2AF8F647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Phi(</a:t>
            </a:r>
            <a:r>
              <a:rPr lang="en-US" i="1" dirty="0" err="1"/>
              <a:t>ɸ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5DB1-7435-3241-9D4E-65965529C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Scales:</a:t>
            </a:r>
          </a:p>
          <a:p>
            <a:r>
              <a:rPr lang="en-US" dirty="0"/>
              <a:t>Two nominal scales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CA" dirty="0"/>
              <a:t>Use Pearson r</a:t>
            </a:r>
            <a:endParaRPr lang="en-US" dirty="0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79343852-4D85-3449-8D60-AE48E549E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07" y="1825625"/>
            <a:ext cx="6034296" cy="5032375"/>
          </a:xfrm>
          <a:prstGeom prst="rect">
            <a:avLst/>
          </a:prstGeom>
        </p:spPr>
      </p:pic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EE5C3946-0498-F242-87B1-B01585FE2ACB}"/>
              </a:ext>
            </a:extLst>
          </p:cNvPr>
          <p:cNvGraphicFramePr>
            <a:graphicFrameLocks noGrp="1"/>
          </p:cNvGraphicFramePr>
          <p:nvPr/>
        </p:nvGraphicFramePr>
        <p:xfrm>
          <a:off x="3384235" y="4424249"/>
          <a:ext cx="2444972" cy="228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486">
                  <a:extLst>
                    <a:ext uri="{9D8B030D-6E8A-4147-A177-3AD203B41FA5}">
                      <a16:colId xmlns:a16="http://schemas.microsoft.com/office/drawing/2014/main" val="2463692046"/>
                    </a:ext>
                  </a:extLst>
                </a:gridCol>
                <a:gridCol w="1222486">
                  <a:extLst>
                    <a:ext uri="{9D8B030D-6E8A-4147-A177-3AD203B41FA5}">
                      <a16:colId xmlns:a16="http://schemas.microsoft.com/office/drawing/2014/main" val="133035262"/>
                    </a:ext>
                  </a:extLst>
                </a:gridCol>
              </a:tblGrid>
              <a:tr h="3309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marL="82261" marR="82261" marT="41131" marB="411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82261" marR="82261" marT="41131" marB="411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4919"/>
                  </a:ext>
                </a:extLst>
              </a:tr>
              <a:tr h="390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665726"/>
                  </a:ext>
                </a:extLst>
              </a:tr>
              <a:tr h="390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2261" marR="82261" marT="41131" marB="411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977869"/>
                  </a:ext>
                </a:extLst>
              </a:tr>
              <a:tr h="390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89094"/>
                  </a:ext>
                </a:extLst>
              </a:tr>
              <a:tr h="390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2261" marR="82261" marT="41131" marB="411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2261" marR="82261" marT="41131" marB="411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69459"/>
                  </a:ext>
                </a:extLst>
              </a:tr>
              <a:tr h="390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2261" marR="82261" marT="41131" marB="411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2261" marR="82261" marT="41131" marB="411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778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18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7325A-F330-E64A-BBCB-A35F81FD89DE}"/>
              </a:ext>
            </a:extLst>
          </p:cNvPr>
          <p:cNvSpPr/>
          <p:nvPr/>
        </p:nvSpPr>
        <p:spPr>
          <a:xfrm>
            <a:off x="9077389" y="2929179"/>
            <a:ext cx="2785590" cy="12969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54E6C-0CA3-0F41-8A1B-0FDD9C127BF1}"/>
              </a:ext>
            </a:extLst>
          </p:cNvPr>
          <p:cNvSpPr/>
          <p:nvPr/>
        </p:nvSpPr>
        <p:spPr>
          <a:xfrm>
            <a:off x="3490711" y="5362489"/>
            <a:ext cx="2785590" cy="12969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344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0395-93FE-774A-AD72-2AF8F647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Biserial (</a:t>
            </a:r>
            <a:r>
              <a:rPr lang="en-US" dirty="0" err="1"/>
              <a:t>r</a:t>
            </a:r>
            <a:r>
              <a:rPr lang="en-US" baseline="-25000" dirty="0" err="1"/>
              <a:t>pb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5DB1-7435-3241-9D4E-65965529C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Scales:</a:t>
            </a:r>
          </a:p>
          <a:p>
            <a:r>
              <a:rPr lang="en-US" dirty="0"/>
              <a:t>X Variable = Nominal Data (only two groups)</a:t>
            </a:r>
          </a:p>
          <a:p>
            <a:r>
              <a:rPr lang="en-US" dirty="0"/>
              <a:t>Y Variable = Score Data (interval/ratio)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Use Pearson r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95C7F58B-B9FC-0442-9CD8-9F33AEF6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878114"/>
            <a:ext cx="4771068" cy="397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8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7325A-F330-E64A-BBCB-A35F81FD89DE}"/>
              </a:ext>
            </a:extLst>
          </p:cNvPr>
          <p:cNvSpPr/>
          <p:nvPr/>
        </p:nvSpPr>
        <p:spPr>
          <a:xfrm>
            <a:off x="6284050" y="2929178"/>
            <a:ext cx="2785590" cy="376112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54E6C-0CA3-0F41-8A1B-0FDD9C127BF1}"/>
              </a:ext>
            </a:extLst>
          </p:cNvPr>
          <p:cNvSpPr/>
          <p:nvPr/>
        </p:nvSpPr>
        <p:spPr>
          <a:xfrm>
            <a:off x="3490711" y="4193583"/>
            <a:ext cx="8387766" cy="116290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428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0395-93FE-774A-AD72-2AF8F647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 Rho (</a:t>
            </a:r>
            <a:r>
              <a:rPr lang="en-US" dirty="0" err="1"/>
              <a:t>ρ</a:t>
            </a:r>
            <a:r>
              <a:rPr lang="en-US" dirty="0"/>
              <a:t> or </a:t>
            </a:r>
            <a:r>
              <a:rPr lang="en-US" dirty="0" err="1"/>
              <a:t>r</a:t>
            </a:r>
            <a:r>
              <a:rPr lang="en-US" baseline="-25000" dirty="0" err="1"/>
              <a:t>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5DB1-7435-3241-9D4E-65965529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300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Scales:</a:t>
            </a:r>
          </a:p>
          <a:p>
            <a:r>
              <a:rPr lang="en-US" dirty="0"/>
              <a:t>Any of the scales (X or Y) are ordinal</a:t>
            </a:r>
          </a:p>
          <a:p>
            <a:r>
              <a:rPr lang="en-US" dirty="0"/>
              <a:t>But should also transform data into ordinal when there is heteroscedasticity or skew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Transform your data into ranks</a:t>
            </a:r>
          </a:p>
          <a:p>
            <a:r>
              <a:rPr lang="en-US" dirty="0"/>
              <a:t>Use Pearson </a:t>
            </a:r>
            <a:r>
              <a:rPr lang="en-US" i="1" dirty="0"/>
              <a:t>r</a:t>
            </a:r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3C28E89C-DF3C-AB4B-BC18-F79646E4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293" y="2827008"/>
            <a:ext cx="4762252" cy="40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2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0395-93FE-774A-AD72-2AF8F647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 Rho (</a:t>
            </a:r>
            <a:r>
              <a:rPr lang="en-US" dirty="0" err="1"/>
              <a:t>ρ</a:t>
            </a:r>
            <a:r>
              <a:rPr lang="en-US" dirty="0"/>
              <a:t> or </a:t>
            </a:r>
            <a:r>
              <a:rPr lang="en-US" dirty="0" err="1"/>
              <a:t>r</a:t>
            </a:r>
            <a:r>
              <a:rPr lang="en-US" baseline="-25000" dirty="0" err="1"/>
              <a:t>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5DB1-7435-3241-9D4E-65965529C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Transform your data into ranks</a:t>
            </a:r>
          </a:p>
          <a:p>
            <a:r>
              <a:rPr lang="en-US" dirty="0"/>
              <a:t>Use Pearson </a:t>
            </a:r>
            <a:r>
              <a:rPr lang="en-US" i="1" dirty="0"/>
              <a:t>r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603CD2-1377-7C42-8288-03D43ECEC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30136"/>
              </p:ext>
            </p:extLst>
          </p:nvPr>
        </p:nvGraphicFramePr>
        <p:xfrm>
          <a:off x="2286001" y="3651559"/>
          <a:ext cx="2717800" cy="303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463692046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33035262"/>
                    </a:ext>
                  </a:extLst>
                </a:gridCol>
              </a:tblGrid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 Ranked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4919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665726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977869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89094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69459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778537"/>
                  </a:ext>
                </a:extLst>
              </a:tr>
              <a:tr h="433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4495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2E4F5-A2A4-8544-B254-4B8CDF19B98B}"/>
              </a:ext>
            </a:extLst>
          </p:cNvPr>
          <p:cNvCxnSpPr>
            <a:cxnSpLocks/>
          </p:cNvCxnSpPr>
          <p:nvPr/>
        </p:nvCxnSpPr>
        <p:spPr>
          <a:xfrm flipH="1">
            <a:off x="4639734" y="5206785"/>
            <a:ext cx="728132" cy="36428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B5C235-3440-794D-9B6C-B05B7DC724A1}"/>
              </a:ext>
            </a:extLst>
          </p:cNvPr>
          <p:cNvCxnSpPr>
            <a:cxnSpLocks/>
          </p:cNvCxnSpPr>
          <p:nvPr/>
        </p:nvCxnSpPr>
        <p:spPr>
          <a:xfrm flipH="1" flipV="1">
            <a:off x="4639733" y="4707568"/>
            <a:ext cx="728133" cy="49921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F9178D3E-CE7C-9F44-9B03-EC768E0A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293" y="2827008"/>
            <a:ext cx="4762252" cy="40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85CF-5242-9D43-B7C2-81068E26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Scales and Correlation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61B008F-2AE1-134F-A66D-C70CD3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47800"/>
            <a:ext cx="11938000" cy="5410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1BA046-F38D-D94C-BB9D-872AD405A629}"/>
              </a:ext>
            </a:extLst>
          </p:cNvPr>
          <p:cNvSpPr/>
          <p:nvPr/>
        </p:nvSpPr>
        <p:spPr>
          <a:xfrm>
            <a:off x="6291799" y="2929179"/>
            <a:ext cx="2785590" cy="1261315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D025A-338F-5141-B4C1-7150CEA52861}"/>
              </a:ext>
            </a:extLst>
          </p:cNvPr>
          <p:cNvSpPr/>
          <p:nvPr/>
        </p:nvSpPr>
        <p:spPr>
          <a:xfrm>
            <a:off x="6291799" y="419049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619C97-6886-3B4F-BD5A-E8DD55B1CE16}"/>
              </a:ext>
            </a:extLst>
          </p:cNvPr>
          <p:cNvSpPr/>
          <p:nvPr/>
        </p:nvSpPr>
        <p:spPr>
          <a:xfrm>
            <a:off x="9092887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2DE5A-DCA5-DD45-A206-5C7D94D3AAD9}"/>
              </a:ext>
            </a:extLst>
          </p:cNvPr>
          <p:cNvSpPr/>
          <p:nvPr/>
        </p:nvSpPr>
        <p:spPr>
          <a:xfrm>
            <a:off x="3490711" y="4209279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F919-A10B-2D4C-8961-83C87B46FE0C}"/>
              </a:ext>
            </a:extLst>
          </p:cNvPr>
          <p:cNvSpPr/>
          <p:nvPr/>
        </p:nvSpPr>
        <p:spPr>
          <a:xfrm>
            <a:off x="6291799" y="5428985"/>
            <a:ext cx="2785590" cy="1219706"/>
          </a:xfrm>
          <a:prstGeom prst="rect">
            <a:avLst/>
          </a:prstGeom>
          <a:solidFill>
            <a:srgbClr val="F4B183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1080-134C-3646-B7B4-10BCFA7CE05D}"/>
              </a:ext>
            </a:extLst>
          </p:cNvPr>
          <p:cNvSpPr/>
          <p:nvPr/>
        </p:nvSpPr>
        <p:spPr>
          <a:xfrm>
            <a:off x="3506209" y="5398100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02EE-CC5C-1946-AA16-7933F8872488}"/>
              </a:ext>
            </a:extLst>
          </p:cNvPr>
          <p:cNvSpPr/>
          <p:nvPr/>
        </p:nvSpPr>
        <p:spPr>
          <a:xfrm>
            <a:off x="9077389" y="2929179"/>
            <a:ext cx="2785590" cy="1261315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B6C68-4ACF-554D-AA3D-6BB40E3BAE2E}"/>
              </a:ext>
            </a:extLst>
          </p:cNvPr>
          <p:cNvSpPr/>
          <p:nvPr/>
        </p:nvSpPr>
        <p:spPr>
          <a:xfrm>
            <a:off x="3513958" y="2964790"/>
            <a:ext cx="2785590" cy="1261315"/>
          </a:xfrm>
          <a:prstGeom prst="rect">
            <a:avLst/>
          </a:prstGeom>
          <a:solidFill>
            <a:schemeClr val="accent1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9D36ED-DC7F-A148-B391-F77622225C7F}"/>
              </a:ext>
            </a:extLst>
          </p:cNvPr>
          <p:cNvSpPr/>
          <p:nvPr/>
        </p:nvSpPr>
        <p:spPr>
          <a:xfrm>
            <a:off x="9077389" y="5428985"/>
            <a:ext cx="2785590" cy="1261315"/>
          </a:xfrm>
          <a:prstGeom prst="rect">
            <a:avLst/>
          </a:prstGeom>
          <a:solidFill>
            <a:srgbClr val="B953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9CE8B-893E-6842-BEA8-B70A57553DC4}"/>
              </a:ext>
            </a:extLst>
          </p:cNvPr>
          <p:cNvSpPr txBox="1"/>
          <p:nvPr/>
        </p:nvSpPr>
        <p:spPr>
          <a:xfrm rot="20627475">
            <a:off x="3429892" y="3170663"/>
            <a:ext cx="371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3E4C4-9058-4641-951B-E6BA00FD787F}"/>
              </a:ext>
            </a:extLst>
          </p:cNvPr>
          <p:cNvSpPr txBox="1"/>
          <p:nvPr/>
        </p:nvSpPr>
        <p:spPr>
          <a:xfrm rot="20627475">
            <a:off x="9113544" y="5607023"/>
            <a:ext cx="349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F351D-EBD4-4345-9604-C5AA0AA5F0F5}"/>
              </a:ext>
            </a:extLst>
          </p:cNvPr>
          <p:cNvSpPr txBox="1"/>
          <p:nvPr/>
        </p:nvSpPr>
        <p:spPr>
          <a:xfrm rot="20627475">
            <a:off x="3452837" y="5558698"/>
            <a:ext cx="3733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5918D0-ACC7-834A-ACB5-D1F0A678E998}"/>
              </a:ext>
            </a:extLst>
          </p:cNvPr>
          <p:cNvSpPr txBox="1"/>
          <p:nvPr/>
        </p:nvSpPr>
        <p:spPr>
          <a:xfrm rot="20627475">
            <a:off x="9080978" y="3131572"/>
            <a:ext cx="3197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5AA9B-FBE0-7841-8CBD-0C25019D0E8D}"/>
              </a:ext>
            </a:extLst>
          </p:cNvPr>
          <p:cNvSpPr txBox="1"/>
          <p:nvPr/>
        </p:nvSpPr>
        <p:spPr>
          <a:xfrm rot="20627475">
            <a:off x="6212050" y="3142318"/>
            <a:ext cx="279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F3E126-06B4-D34A-9986-2D68117CCEED}"/>
              </a:ext>
            </a:extLst>
          </p:cNvPr>
          <p:cNvSpPr txBox="1"/>
          <p:nvPr/>
        </p:nvSpPr>
        <p:spPr>
          <a:xfrm rot="20627475">
            <a:off x="3406455" y="4403633"/>
            <a:ext cx="279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84BD00-4DE1-DE4C-A025-3A8DE6A8FECE}"/>
              </a:ext>
            </a:extLst>
          </p:cNvPr>
          <p:cNvSpPr txBox="1"/>
          <p:nvPr/>
        </p:nvSpPr>
        <p:spPr>
          <a:xfrm rot="20627475">
            <a:off x="6250617" y="4364150"/>
            <a:ext cx="279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559AEF-F4CE-FE40-AA0C-0371C6A110E2}"/>
              </a:ext>
            </a:extLst>
          </p:cNvPr>
          <p:cNvSpPr txBox="1"/>
          <p:nvPr/>
        </p:nvSpPr>
        <p:spPr>
          <a:xfrm rot="20627475">
            <a:off x="6367762" y="5630397"/>
            <a:ext cx="279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6483DC-6A46-7742-8A77-52EF2B9FADCD}"/>
              </a:ext>
            </a:extLst>
          </p:cNvPr>
          <p:cNvSpPr txBox="1"/>
          <p:nvPr/>
        </p:nvSpPr>
        <p:spPr>
          <a:xfrm rot="20627475">
            <a:off x="8968504" y="4302103"/>
            <a:ext cx="3089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Turn scores to ranks,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Use Pearson r</a:t>
            </a:r>
          </a:p>
        </p:txBody>
      </p:sp>
    </p:spTree>
    <p:extLst>
      <p:ext uri="{BB962C8B-B14F-4D97-AF65-F5344CB8AC3E}">
        <p14:creationId xmlns:p14="http://schemas.microsoft.com/office/powerpoint/2010/main" val="76780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19" grpId="0"/>
      <p:bldP spid="32" grpId="0"/>
      <p:bldP spid="33" grpId="0"/>
      <p:bldP spid="34" grpId="0"/>
      <p:bldP spid="3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BF46D8-83F2-20C5-E5A0-BBE93B037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9" y="1354922"/>
            <a:ext cx="9558341" cy="54059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3FC71E-40EC-04AE-1ECB-C58B47DE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 Problem Generator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BF4CE-79C9-745B-666D-AD631F6E69F1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</p:spTree>
    <p:extLst>
      <p:ext uri="{BB962C8B-B14F-4D97-AF65-F5344CB8AC3E}">
        <p14:creationId xmlns:p14="http://schemas.microsoft.com/office/powerpoint/2010/main" val="2014181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5057-EAA4-AB81-E2EF-A86049D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89542EF-C77D-EDB3-5456-F26EEA3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69" y="2030682"/>
            <a:ext cx="5598367" cy="313508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D0F3D7F9-612F-643B-81EA-69FDF93CD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253" y="2030681"/>
            <a:ext cx="5598368" cy="313508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126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61d377-9894-427c-b13b-1d6a51662b4e}" enabled="0" method="" siteId="{9c61d377-9894-427c-b13b-1d6a51662b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2583</Words>
  <Application>Microsoft Office PowerPoint</Application>
  <PresentationFormat>Widescreen</PresentationFormat>
  <Paragraphs>882</Paragraphs>
  <Slides>76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Aptos</vt:lpstr>
      <vt:lpstr>Arial</vt:lpstr>
      <vt:lpstr>Calibri</vt:lpstr>
      <vt:lpstr>Calibri Light</vt:lpstr>
      <vt:lpstr>Cambria Math</vt:lpstr>
      <vt:lpstr>Office Theme</vt:lpstr>
      <vt:lpstr>Correlation</vt:lpstr>
      <vt:lpstr>PowerPoint Presentation</vt:lpstr>
      <vt:lpstr>PowerPoint Presentation</vt:lpstr>
      <vt:lpstr>Bivariate Data</vt:lpstr>
      <vt:lpstr>PowerPoint Presentation</vt:lpstr>
      <vt:lpstr>PowerPoint Presentation</vt:lpstr>
      <vt:lpstr>Correlation is not causation!</vt:lpstr>
      <vt:lpstr>Correlation is not causation!</vt:lpstr>
      <vt:lpstr>Correlation is not causation!</vt:lpstr>
      <vt:lpstr>Visualizing Bivariate Data</vt:lpstr>
      <vt:lpstr>Visualizing Bivariate Data</vt:lpstr>
      <vt:lpstr>Visualizing Bivariate Data</vt:lpstr>
      <vt:lpstr>Visualizing Bivariate Data</vt:lpstr>
      <vt:lpstr>Visualizing Bivariate Data</vt:lpstr>
      <vt:lpstr>Measuring Bivariate Data</vt:lpstr>
      <vt:lpstr>PowerPoint Presentation</vt:lpstr>
      <vt:lpstr>Computing Correlation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Computing Correlation</vt:lpstr>
      <vt:lpstr>Computing Correlation</vt:lpstr>
      <vt:lpstr>Computing Correlation</vt:lpstr>
      <vt:lpstr>Computing Correlation</vt:lpstr>
      <vt:lpstr>Computing X and Y Descriptives</vt:lpstr>
      <vt:lpstr>Computing X and Y Descriptives</vt:lpstr>
      <vt:lpstr>Computing Correlation</vt:lpstr>
      <vt:lpstr>Computing Joint XY Descriptives</vt:lpstr>
      <vt:lpstr>Computing Joint XY Descriptives</vt:lpstr>
      <vt:lpstr>Computing Correlation</vt:lpstr>
      <vt:lpstr>Pearson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Measuring Bivariate Data</vt:lpstr>
      <vt:lpstr>Formal Report</vt:lpstr>
      <vt:lpstr>PowerPoint Presentation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Factors that Influence Pearson r</vt:lpstr>
      <vt:lpstr>Final Note on Sample Size</vt:lpstr>
      <vt:lpstr>PowerPoint Presentation</vt:lpstr>
      <vt:lpstr>Other Scales and Correlation</vt:lpstr>
      <vt:lpstr>Other Scales and Correlation</vt:lpstr>
      <vt:lpstr>Other Scales and Correlation</vt:lpstr>
      <vt:lpstr>Phi(ɸ)</vt:lpstr>
      <vt:lpstr>Other Scales and Correlation</vt:lpstr>
      <vt:lpstr>Point Biserial (rpb)</vt:lpstr>
      <vt:lpstr>Other Scales and Correlation</vt:lpstr>
      <vt:lpstr>Spearman Rho (ρ or rs)</vt:lpstr>
      <vt:lpstr>Spearman Rho (ρ or rs)</vt:lpstr>
      <vt:lpstr>Other Scales and Correlation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&amp; Regression</dc:title>
  <dc:creator>Microsoft Office User</dc:creator>
  <cp:lastModifiedBy>Chad Williams</cp:lastModifiedBy>
  <cp:revision>179</cp:revision>
  <dcterms:created xsi:type="dcterms:W3CDTF">2021-05-31T15:40:46Z</dcterms:created>
  <dcterms:modified xsi:type="dcterms:W3CDTF">2026-08-17T19:30:22Z</dcterms:modified>
</cp:coreProperties>
</file>