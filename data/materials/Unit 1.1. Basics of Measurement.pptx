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80" r:id="rId3"/>
    <p:sldId id="289" r:id="rId4"/>
    <p:sldId id="258" r:id="rId5"/>
    <p:sldId id="272" r:id="rId6"/>
    <p:sldId id="300" r:id="rId7"/>
    <p:sldId id="290" r:id="rId8"/>
    <p:sldId id="293" r:id="rId9"/>
    <p:sldId id="264" r:id="rId10"/>
    <p:sldId id="445" r:id="rId11"/>
    <p:sldId id="295" r:id="rId12"/>
    <p:sldId id="265" r:id="rId13"/>
    <p:sldId id="294" r:id="rId14"/>
    <p:sldId id="267" r:id="rId15"/>
    <p:sldId id="268" r:id="rId16"/>
    <p:sldId id="269" r:id="rId17"/>
    <p:sldId id="271" r:id="rId18"/>
    <p:sldId id="301" r:id="rId19"/>
    <p:sldId id="302" r:id="rId20"/>
    <p:sldId id="291" r:id="rId21"/>
    <p:sldId id="260" r:id="rId22"/>
    <p:sldId id="298" r:id="rId23"/>
    <p:sldId id="261" r:id="rId24"/>
    <p:sldId id="297" r:id="rId25"/>
    <p:sldId id="263" r:id="rId26"/>
    <p:sldId id="259" r:id="rId27"/>
    <p:sldId id="270" r:id="rId28"/>
    <p:sldId id="287" r:id="rId29"/>
    <p:sldId id="304" r:id="rId30"/>
    <p:sldId id="292" r:id="rId31"/>
    <p:sldId id="274" r:id="rId32"/>
    <p:sldId id="275" r:id="rId33"/>
    <p:sldId id="276" r:id="rId34"/>
    <p:sldId id="277" r:id="rId35"/>
    <p:sldId id="279" r:id="rId36"/>
    <p:sldId id="446" r:id="rId37"/>
    <p:sldId id="303" r:id="rId38"/>
    <p:sldId id="299" r:id="rId39"/>
    <p:sldId id="444" r:id="rId40"/>
    <p:sldId id="305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FCEC2-1208-4FB1-BE88-800017C37031}" v="90" dt="2026-08-20T19:37:41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2"/>
    <p:restoredTop sz="96327"/>
  </p:normalViewPr>
  <p:slideViewPr>
    <p:cSldViewPr snapToGrid="0" snapToObjects="1">
      <p:cViewPr>
        <p:scale>
          <a:sx n="74" d="100"/>
          <a:sy n="74" d="100"/>
        </p:scale>
        <p:origin x="1648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d Williams" userId="618f96a3-8672-4e43-ae03-eeed93bb7387" providerId="ADAL" clId="{DFF2BB08-185E-495B-B2A0-BE0942C7B81E}"/>
    <pc:docChg chg="custSel addSld delSld modSld">
      <pc:chgData name="Chad Williams" userId="618f96a3-8672-4e43-ae03-eeed93bb7387" providerId="ADAL" clId="{DFF2BB08-185E-495B-B2A0-BE0942C7B81E}" dt="2026-08-20T19:37:44.827" v="844" actId="27636"/>
      <pc:docMkLst>
        <pc:docMk/>
      </pc:docMkLst>
      <pc:sldChg chg="addSp delSp modSp add mod modAnim">
        <pc:chgData name="Chad Williams" userId="618f96a3-8672-4e43-ae03-eeed93bb7387" providerId="ADAL" clId="{DFF2BB08-185E-495B-B2A0-BE0942C7B81E}" dt="2026-08-20T19:37:44.827" v="844" actId="27636"/>
        <pc:sldMkLst>
          <pc:docMk/>
          <pc:sldMk cId="1474957198" sldId="446"/>
        </pc:sldMkLst>
        <pc:spChg chg="mod">
          <ac:chgData name="Chad Williams" userId="618f96a3-8672-4e43-ae03-eeed93bb7387" providerId="ADAL" clId="{DFF2BB08-185E-495B-B2A0-BE0942C7B81E}" dt="2026-08-20T19:37:44.827" v="844" actId="27636"/>
          <ac:spMkLst>
            <pc:docMk/>
            <pc:sldMk cId="1474957198" sldId="446"/>
            <ac:spMk id="3" creationId="{66C5E5EE-79DE-8E50-A75D-DBB2D56242DF}"/>
          </ac:spMkLst>
        </pc:spChg>
        <pc:graphicFrameChg chg="add mod modGraphic">
          <ac:chgData name="Chad Williams" userId="618f96a3-8672-4e43-ae03-eeed93bb7387" providerId="ADAL" clId="{DFF2BB08-185E-495B-B2A0-BE0942C7B81E}" dt="2026-08-20T19:36:00.656" v="795" actId="1076"/>
          <ac:graphicFrameMkLst>
            <pc:docMk/>
            <pc:sldMk cId="1474957198" sldId="446"/>
            <ac:graphicFrameMk id="5" creationId="{301BA3D0-75EF-5CA8-0724-EAA881D51C2C}"/>
          </ac:graphicFrameMkLst>
        </pc:graphicFrameChg>
        <pc:picChg chg="add del mod modCrop">
          <ac:chgData name="Chad Williams" userId="618f96a3-8672-4e43-ae03-eeed93bb7387" providerId="ADAL" clId="{DFF2BB08-185E-495B-B2A0-BE0942C7B81E}" dt="2026-08-20T19:34:38.537" v="521" actId="478"/>
          <ac:picMkLst>
            <pc:docMk/>
            <pc:sldMk cId="1474957198" sldId="446"/>
            <ac:picMk id="4" creationId="{129695BE-3CE9-6C94-5C25-823711C6835D}"/>
          </ac:picMkLst>
        </pc:picChg>
        <pc:picChg chg="del">
          <ac:chgData name="Chad Williams" userId="618f96a3-8672-4e43-ae03-eeed93bb7387" providerId="ADAL" clId="{DFF2BB08-185E-495B-B2A0-BE0942C7B81E}" dt="2026-08-20T19:34:06.640" v="517" actId="478"/>
          <ac:picMkLst>
            <pc:docMk/>
            <pc:sldMk cId="1474957198" sldId="446"/>
            <ac:picMk id="14338" creationId="{71E0F7C2-DF42-9C18-86AC-223A5307CAE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AFAB-6CE4-064E-BC14-92588C165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6E821-DC99-5B4E-9AF4-7E7318400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AC48F-DAA3-D14C-B212-09D2C511D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CEC06-E1F4-7542-B598-0D42D34DF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63209-CDD7-414C-9743-A51405B15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33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91DF7-7D6F-1A44-B671-4E9DAA442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020540-0226-7D44-AE44-887D6F1C6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90B20-F543-A94E-A3CC-BCBB71960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D44D-81E4-4C4E-8A0E-3C7657C1E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9B96F-CCD5-6640-AC59-A5680DED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59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D4FA-D2AD-F341-BFD9-DAA6F246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5579D-0C67-8648-B552-EDC0E51843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2A428-A300-A54D-9541-4B339040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06CD7-536A-454F-A2AA-AC8598606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D5ADA-1D72-BE48-A7CC-90443436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302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A5975-6DA7-2E42-9E7D-C66D1A500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A7A0-9BF4-E54D-B796-A79A1F776D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32642-05D9-3542-83C0-A888F5BB1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6AF74-CA5A-BA44-8DFB-2BF197A4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61142-C8FC-294A-ACD2-7F914E6D7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91EEC-B9E3-5F48-AEAC-122D4643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14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3278-1F1A-8642-B481-137A5F045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24579-21C3-114A-BE3A-53C825BA8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CE8CB-F349-9D4B-A6D6-A73829287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86701-BD4F-9F48-AB98-03F2FEE23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555A9-0343-DB4F-925D-3E2548918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DCB884-4432-2C45-B1C4-7C1070867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80936-F6EE-D842-A9BE-A03D5BFD8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553D2F-9BB8-6840-AEF9-ECABF015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6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FB5F6-4CFD-FE4D-A4D7-3DA8D8AAE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8BAB71-57C6-FD43-AE2B-889AC0C7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D36E3-A90F-834D-AD7C-125DE108A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799D9-B798-2748-8D52-7D8CD42DE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033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7109DB-9A22-1D45-9660-49179CAC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7A8A8-A9C1-4945-B3CC-D70F251C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31EF7-0A13-F444-AE69-CE8BD737E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6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E3E64-F92F-F747-90AC-D3CE81497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F3B7E-CFFF-B649-9E47-DF8B6BC61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490A6-0967-B442-941F-24EB85548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E6935A-79D8-CE4C-87B4-8D4A272E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E7E8E7-B9B5-5544-9971-7C69B0D6A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CA5F9-63C3-4045-BDC6-4C75B703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03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F9550-BB09-034C-9CFC-BF640C91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211FE9-4F5C-A34E-AAAC-579AF5A19C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1B737-0ED5-8143-A984-3523282023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EC38D-AE56-D140-A431-89D1164F0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47E56-D68F-B34B-8411-E0891599A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91004-32CD-784A-99F2-ED781BE63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89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B75B-E2C8-CE44-9DD9-2DF52455B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95F1A4-9555-4443-A4C5-CBD6BEA78F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461E7-F349-DA4B-B37D-A0BE44BF6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C745F-0FF0-3645-B144-21DFCBA17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75734-8782-4545-A7D6-B56AD34B6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15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6B298-522F-7941-AF65-DEA241664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3924D-7BC1-F84D-ABA7-44CB9A182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094D2-0BB7-3749-9A6D-281F3C3E0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6DED-6D03-7041-949B-BA2BD2AF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E343B-17D8-6A40-9158-BC4CB2841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0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2F01F-77AD-4D44-8DE2-60E67AC6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6C6E7-9E02-1948-AE68-E6A2A6266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A8AC0-91BF-7B43-AE3F-6AA269BD4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A7F19-FE50-344A-A577-C3C71B5EC4DC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DAF17-BAF1-C844-B71E-8ECF659027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E2520-4E5F-4849-BB07-18971C3DB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565E22-0C71-F149-A246-41DC3B354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185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youtu.be/5Yh-9xdJzAs?si=wd3X6r6vzSDFi-u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04505-984A-784F-B784-AEBB8FD00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9315" y="1122363"/>
            <a:ext cx="6878304" cy="2387600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Basics of </a:t>
            </a:r>
            <a:b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Measurement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4BDEC7-4CE5-0C42-AD2E-FA8453064E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7187" y="3602038"/>
            <a:ext cx="6404813" cy="1655762"/>
          </a:xfrm>
        </p:spPr>
        <p:txBody>
          <a:bodyPr>
            <a:normAutofit/>
          </a:bodyPr>
          <a:lstStyle/>
          <a:p>
            <a:r>
              <a:rPr lang="en-US" sz="3600" dirty="0"/>
              <a:t>Chad Williams</a:t>
            </a:r>
          </a:p>
          <a:p>
            <a:r>
              <a:rPr lang="en-US" sz="2800" dirty="0"/>
              <a:t>University of Victoria</a:t>
            </a:r>
            <a:endParaRPr lang="en-US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3A07B0-5ED5-F74E-A1D2-DB896138B20F}"/>
              </a:ext>
            </a:extLst>
          </p:cNvPr>
          <p:cNvGrpSpPr/>
          <p:nvPr/>
        </p:nvGrpSpPr>
        <p:grpSpPr>
          <a:xfrm>
            <a:off x="1462829" y="602117"/>
            <a:ext cx="5458932" cy="5307690"/>
            <a:chOff x="1462829" y="602117"/>
            <a:chExt cx="5458932" cy="53076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1367C81-ADE9-1F41-8FEA-4AF5AD77BDCE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57A84D5C-C387-1D47-9772-854B66FD33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1AE5A16A-F773-0646-9683-42DD8F3889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6E9A222-DCDE-EB4E-839F-B23FEDA593F5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419066EF-2FB6-1F47-B4D8-42A849FE2AD4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0448620-62B4-4F4D-946A-BF7ACA620963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1D410515-89AE-9540-8E50-AA444F8EC47A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09B93DB-C642-8A4B-85C0-D6AE3FB6D3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9158FB07-577C-1C48-BE6C-59B0CA0BB524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3095749-45C8-8A4A-979E-7C4B025D4FDF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E1A4B310-E851-814F-9BAA-0DD6B54C5EB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DBCC1C8-A7F4-9D45-B58E-21EF51AE8B3F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E602794-B522-FC44-BC63-545173E3DBFC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76F9C99-A770-9E43-955D-38F4554386A4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5704A3B-D9E0-7D4E-B43D-C5BABAB8D583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395291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Structure of Statistics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Research Design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Scales of Measurement</a:t>
            </a:r>
          </a:p>
        </p:txBody>
      </p:sp>
    </p:spTree>
    <p:extLst>
      <p:ext uri="{BB962C8B-B14F-4D97-AF65-F5344CB8AC3E}">
        <p14:creationId xmlns:p14="http://schemas.microsoft.com/office/powerpoint/2010/main" val="297783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 of Statistics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Research Design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Scales of Measurement</a:t>
            </a:r>
          </a:p>
        </p:txBody>
      </p:sp>
    </p:spTree>
    <p:extLst>
      <p:ext uri="{BB962C8B-B14F-4D97-AF65-F5344CB8AC3E}">
        <p14:creationId xmlns:p14="http://schemas.microsoft.com/office/powerpoint/2010/main" val="1533443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222B-D86D-B246-B951-7479A0CD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1630-F5DC-9D43-AA70-F2377A9D2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b="1" dirty="0"/>
              <a:t>Two Main Types:</a:t>
            </a:r>
          </a:p>
          <a:p>
            <a:r>
              <a:rPr lang="en-US" sz="3200" b="1" dirty="0"/>
              <a:t>Null Hypothesis Significance Testing (NHST)</a:t>
            </a:r>
          </a:p>
          <a:p>
            <a:pPr lvl="1"/>
            <a:r>
              <a:rPr lang="en-US" sz="2800" dirty="0"/>
              <a:t>Focuses on p-value thresholds </a:t>
            </a:r>
          </a:p>
          <a:p>
            <a:endParaRPr lang="en-US" sz="3200" dirty="0"/>
          </a:p>
          <a:p>
            <a:r>
              <a:rPr lang="en-US" sz="3200" b="1" dirty="0"/>
              <a:t>Bayesian Statistics</a:t>
            </a:r>
          </a:p>
          <a:p>
            <a:pPr lvl="1"/>
            <a:r>
              <a:rPr lang="en-US" sz="2800" dirty="0"/>
              <a:t>Data driven approach to statistics</a:t>
            </a:r>
          </a:p>
        </p:txBody>
      </p:sp>
      <p:pic>
        <p:nvPicPr>
          <p:cNvPr id="1026" name="Picture 2" descr="P-Value and Statistical Significance | Simply Psychology">
            <a:extLst>
              <a:ext uri="{FF2B5EF4-FFF2-40B4-BE49-F238E27FC236}">
                <a16:creationId xmlns:a16="http://schemas.microsoft.com/office/drawing/2014/main" id="{311F1E25-1967-8640-A9B5-C49B31E1D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3254375"/>
            <a:ext cx="518795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016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C9764-0FAE-394F-8E3B-CD7207306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NHST Statistics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308FA9-4F91-F143-9C6B-401BF6BE9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95529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Descriptive Statistics</a:t>
            </a:r>
            <a:r>
              <a:rPr lang="en-US" sz="3600" dirty="0"/>
              <a:t>: Defines a set of data using metrics</a:t>
            </a:r>
          </a:p>
          <a:p>
            <a:r>
              <a:rPr lang="en-US" sz="3600" dirty="0"/>
              <a:t>Organizes and summarizes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E82B01-6967-8329-A0C5-CD4029A78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75" y="3523301"/>
            <a:ext cx="10387449" cy="296957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E6A6F80-FD9A-2B6B-1FB5-D12E45A91629}"/>
              </a:ext>
            </a:extLst>
          </p:cNvPr>
          <p:cNvSpPr/>
          <p:nvPr/>
        </p:nvSpPr>
        <p:spPr>
          <a:xfrm>
            <a:off x="902275" y="6076949"/>
            <a:ext cx="10387449" cy="3796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39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CE968-97F3-50A4-C0C2-02655B9D1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8AA53-DAC5-A1E4-20F4-542473E2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NHST Statistics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BA46A87-A86B-1051-B5AA-7891AC153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Inferential Statistics</a:t>
            </a:r>
            <a:r>
              <a:rPr lang="en-US" sz="3600" dirty="0"/>
              <a:t>: Compares two or more things to determine if they are the same or different</a:t>
            </a:r>
          </a:p>
          <a:p>
            <a:r>
              <a:rPr lang="en-US" sz="3600" dirty="0"/>
              <a:t>Objective procedure</a:t>
            </a:r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09B2D7-8DAF-80DD-EEE8-E682362C6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275" y="3523301"/>
            <a:ext cx="10387449" cy="2969574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1489761-87F0-C30F-6704-B5F938B8D230}"/>
              </a:ext>
            </a:extLst>
          </p:cNvPr>
          <p:cNvSpPr/>
          <p:nvPr/>
        </p:nvSpPr>
        <p:spPr>
          <a:xfrm>
            <a:off x="902275" y="5638799"/>
            <a:ext cx="10387449" cy="3796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2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Structure of Statistics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Research Design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Scales of Measurement</a:t>
            </a:r>
          </a:p>
        </p:txBody>
      </p:sp>
    </p:spTree>
    <p:extLst>
      <p:ext uri="{BB962C8B-B14F-4D97-AF65-F5344CB8AC3E}">
        <p14:creationId xmlns:p14="http://schemas.microsoft.com/office/powerpoint/2010/main" val="3612911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83DC8D9-F3FF-E444-887C-3650AF188BBD}"/>
              </a:ext>
            </a:extLst>
          </p:cNvPr>
          <p:cNvGrpSpPr/>
          <p:nvPr/>
        </p:nvGrpSpPr>
        <p:grpSpPr>
          <a:xfrm>
            <a:off x="3723429" y="775155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DF65DB3-A621-0742-A3A0-AEF67CCE3BB7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C41B0C5-6DA6-1444-8782-563F9567A4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6D1DA42-0C1F-E54B-89BB-D286767E6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09FEF1C-2C80-7641-953C-4921A61FFCB3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4AB34A0-C8A6-5449-87F0-2A74277EB3D1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322CEE6-3462-C440-9190-122833D22F7F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DFE9DB3-E2CB-4C47-B29D-171A256623A9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D22B010-4FA1-B249-8050-1A7783540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945F114-C4B6-4644-B2D7-E1012516AFE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D5A8E8E-93BB-3D4D-9BDE-D59EA3B3318E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9A57D73-D190-EF46-8F96-88CEE2B984D4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DD7EE50-C920-EC43-9242-A0FBFB8173FE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656B6DD-6C07-774E-9C1E-C928F36CFDDE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05E7F1-92D7-5C4F-9A5D-670956758B2B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C1E8D63-9ACC-9648-9E93-C9312011A6A2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0317A58-785A-0947-A982-0809E70A9633}"/>
              </a:ext>
            </a:extLst>
          </p:cNvPr>
          <p:cNvSpPr txBox="1"/>
          <p:nvPr/>
        </p:nvSpPr>
        <p:spPr>
          <a:xfrm>
            <a:off x="4105628" y="6220557"/>
            <a:ext cx="4492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X-Axis (Independent Variable)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6BB582-C252-544B-88AC-6A82F70C2EBF}"/>
              </a:ext>
            </a:extLst>
          </p:cNvPr>
          <p:cNvSpPr txBox="1"/>
          <p:nvPr/>
        </p:nvSpPr>
        <p:spPr>
          <a:xfrm rot="16200000">
            <a:off x="1212819" y="3314814"/>
            <a:ext cx="4228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Y-Axis (Dependent Variable)</a:t>
            </a:r>
          </a:p>
        </p:txBody>
      </p:sp>
    </p:spTree>
    <p:extLst>
      <p:ext uri="{BB962C8B-B14F-4D97-AF65-F5344CB8AC3E}">
        <p14:creationId xmlns:p14="http://schemas.microsoft.com/office/powerpoint/2010/main" val="792745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B75F-36EF-2549-9F96-9EBF9447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99063-0911-3C4B-8A07-A274D88DA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3768" cy="48869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Independent Variable (IV)</a:t>
            </a:r>
            <a:r>
              <a:rPr lang="en-US" sz="3600" dirty="0"/>
              <a:t>: Feature of research used to explain participants’ </a:t>
            </a:r>
            <a:r>
              <a:rPr lang="en-US" sz="3600" dirty="0" err="1"/>
              <a:t>behaviour</a:t>
            </a:r>
            <a:endParaRPr lang="en-US" sz="3600" dirty="0"/>
          </a:p>
          <a:p>
            <a:r>
              <a:rPr lang="en-US" sz="3600" dirty="0"/>
              <a:t>Often called the </a:t>
            </a:r>
            <a:r>
              <a:rPr lang="en-US" sz="3600" i="1" dirty="0"/>
              <a:t>predictor </a:t>
            </a:r>
            <a:r>
              <a:rPr lang="en-US" sz="3600" dirty="0"/>
              <a:t>or </a:t>
            </a:r>
            <a:r>
              <a:rPr lang="en-US" sz="3600" i="1" dirty="0"/>
              <a:t>X</a:t>
            </a:r>
          </a:p>
          <a:p>
            <a:r>
              <a:rPr lang="en-US" sz="3600" dirty="0"/>
              <a:t>Can be manipulated or measured</a:t>
            </a:r>
          </a:p>
          <a:p>
            <a:endParaRPr lang="en-US" sz="3200" dirty="0"/>
          </a:p>
        </p:txBody>
      </p:sp>
      <p:pic>
        <p:nvPicPr>
          <p:cNvPr id="2050" name="Picture 2" descr="How to Learn to Study">
            <a:extLst>
              <a:ext uri="{FF2B5EF4-FFF2-40B4-BE49-F238E27FC236}">
                <a16:creationId xmlns:a16="http://schemas.microsoft.com/office/drawing/2014/main" id="{02F17894-D126-D048-A71F-10186C5A3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968" y="2554576"/>
            <a:ext cx="515223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10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7EC54-A454-6DF7-DC09-A35300170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218C-2AA4-4687-541D-C59553CF4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BAD57-4DEC-FAF6-3BD8-E1EB65E97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3768" cy="48869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Independent Variable (IV)</a:t>
            </a:r>
            <a:endParaRPr lang="en-US" sz="3600" i="1" dirty="0"/>
          </a:p>
          <a:p>
            <a:r>
              <a:rPr lang="en-US" sz="3600" b="1" dirty="0"/>
              <a:t>Manipulated</a:t>
            </a:r>
            <a:r>
              <a:rPr lang="en-US" sz="3600" dirty="0"/>
              <a:t>: The experimenter explicitly changes conditions</a:t>
            </a:r>
          </a:p>
          <a:p>
            <a:pPr lvl="1"/>
            <a:r>
              <a:rPr lang="en-US" sz="3200" dirty="0"/>
              <a:t>E.g., Studying in a loud room vs quiet room</a:t>
            </a:r>
          </a:p>
          <a:p>
            <a:endParaRPr lang="en-US" sz="3200" dirty="0"/>
          </a:p>
        </p:txBody>
      </p:sp>
      <p:pic>
        <p:nvPicPr>
          <p:cNvPr id="2050" name="Picture 2" descr="How to Learn to Study">
            <a:extLst>
              <a:ext uri="{FF2B5EF4-FFF2-40B4-BE49-F238E27FC236}">
                <a16:creationId xmlns:a16="http://schemas.microsoft.com/office/drawing/2014/main" id="{331DD3AE-EBBA-71CB-BF3C-086A2D4D9D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968" y="2554576"/>
            <a:ext cx="5152232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434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B75F-36EF-2549-9F96-9EBF9447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99063-0911-3C4B-8A07-A274D88DA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23768" cy="48869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Independent Variable (IV)</a:t>
            </a:r>
            <a:endParaRPr lang="en-US" sz="3600" i="1" dirty="0"/>
          </a:p>
          <a:p>
            <a:r>
              <a:rPr lang="en-US" sz="3600" b="1" dirty="0"/>
              <a:t>Measured</a:t>
            </a:r>
            <a:r>
              <a:rPr lang="en-US" sz="3600" dirty="0"/>
              <a:t>: The experimenter finds participants that already fit conditions</a:t>
            </a:r>
          </a:p>
          <a:p>
            <a:pPr lvl="1"/>
            <a:r>
              <a:rPr lang="en-US" sz="3200" dirty="0"/>
              <a:t>E.g., Young vs old participants</a:t>
            </a:r>
          </a:p>
          <a:p>
            <a:endParaRPr lang="en-US" sz="3200" dirty="0"/>
          </a:p>
        </p:txBody>
      </p:sp>
      <p:pic>
        <p:nvPicPr>
          <p:cNvPr id="3076" name="Picture 4" descr="Grandma should understand Artificial Intelligence. Here's how I explained  her. | by Gianluca Mauro | Medium">
            <a:extLst>
              <a:ext uri="{FF2B5EF4-FFF2-40B4-BE49-F238E27FC236}">
                <a16:creationId xmlns:a16="http://schemas.microsoft.com/office/drawing/2014/main" id="{8199DB64-D9B3-494F-BFF6-1793306B9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01"/>
          <a:stretch/>
        </p:blipFill>
        <p:spPr bwMode="auto">
          <a:xfrm>
            <a:off x="6861968" y="1690688"/>
            <a:ext cx="5053012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272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B75F-36EF-2549-9F96-9EBF9447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99063-0911-3C4B-8A07-A274D88DA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76000" cy="5572702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Dependent Variable (DV)</a:t>
            </a:r>
            <a:r>
              <a:rPr lang="en-US" sz="3600" dirty="0"/>
              <a:t>: Number that represents a measure of participant </a:t>
            </a:r>
            <a:r>
              <a:rPr lang="en-US" sz="3600" dirty="0" err="1"/>
              <a:t>behaviour</a:t>
            </a:r>
            <a:endParaRPr lang="en-US" sz="3600" dirty="0"/>
          </a:p>
          <a:p>
            <a:r>
              <a:rPr lang="en-US" sz="3600" dirty="0"/>
              <a:t>Often called the </a:t>
            </a:r>
            <a:r>
              <a:rPr lang="en-US" sz="3600" i="1" dirty="0"/>
              <a:t>criterion </a:t>
            </a:r>
            <a:r>
              <a:rPr lang="en-US" sz="3600" dirty="0"/>
              <a:t>or </a:t>
            </a:r>
            <a:r>
              <a:rPr lang="en-US" sz="3600" i="1" dirty="0"/>
              <a:t>Y</a:t>
            </a:r>
          </a:p>
          <a:p>
            <a:r>
              <a:rPr lang="en-US" sz="3600" dirty="0"/>
              <a:t>These are the values we will use </a:t>
            </a:r>
          </a:p>
          <a:p>
            <a:pPr marL="0" indent="0">
              <a:buNone/>
            </a:pPr>
            <a:r>
              <a:rPr lang="en-US" sz="3600" dirty="0"/>
              <a:t>  in computations</a:t>
            </a:r>
          </a:p>
          <a:p>
            <a:pPr lvl="1"/>
            <a:r>
              <a:rPr lang="en-US" sz="3200" dirty="0"/>
              <a:t>E.g., time in </a:t>
            </a:r>
            <a:r>
              <a:rPr lang="en-US" sz="3200" i="1" dirty="0" err="1"/>
              <a:t>ms</a:t>
            </a:r>
            <a:r>
              <a:rPr lang="en-US" sz="3200" dirty="0"/>
              <a:t> to complete a race</a:t>
            </a:r>
          </a:p>
        </p:txBody>
      </p:sp>
      <p:pic>
        <p:nvPicPr>
          <p:cNvPr id="4098" name="Picture 2" descr="Physicists Create Formula To Improve Runner Race Times, And It's Easier  Than You Might Think">
            <a:extLst>
              <a:ext uri="{FF2B5EF4-FFF2-40B4-BE49-F238E27FC236}">
                <a16:creationId xmlns:a16="http://schemas.microsoft.com/office/drawing/2014/main" id="{C2B2F022-FCB7-6F40-9CAD-106C50CE2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256" y="2686049"/>
            <a:ext cx="4515820" cy="2998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2120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83DC8D9-F3FF-E444-887C-3650AF188BBD}"/>
              </a:ext>
            </a:extLst>
          </p:cNvPr>
          <p:cNvGrpSpPr/>
          <p:nvPr/>
        </p:nvGrpSpPr>
        <p:grpSpPr>
          <a:xfrm>
            <a:off x="3723429" y="775155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DF65DB3-A621-0742-A3A0-AEF67CCE3BB7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FC41B0C5-6DA6-1444-8782-563F9567A4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6D1DA42-0C1F-E54B-89BB-D286767E6C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09FEF1C-2C80-7641-953C-4921A61FFCB3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34AB34A0-C8A6-5449-87F0-2A74277EB3D1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322CEE6-3462-C440-9190-122833D22F7F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8DFE9DB3-E2CB-4C47-B29D-171A256623A9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D22B010-4FA1-B249-8050-1A77835406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8945F114-C4B6-4644-B2D7-E1012516AFE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CD5A8E8E-93BB-3D4D-9BDE-D59EA3B3318E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9A57D73-D190-EF46-8F96-88CEE2B984D4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EDD7EE50-C920-EC43-9242-A0FBFB8173FE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656B6DD-6C07-774E-9C1E-C928F36CFDDE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105E7F1-92D7-5C4F-9A5D-670956758B2B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C1E8D63-9ACC-9648-9E93-C9312011A6A2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0317A58-785A-0947-A982-0809E70A9633}"/>
              </a:ext>
            </a:extLst>
          </p:cNvPr>
          <p:cNvSpPr txBox="1"/>
          <p:nvPr/>
        </p:nvSpPr>
        <p:spPr>
          <a:xfrm>
            <a:off x="4105628" y="6220557"/>
            <a:ext cx="4492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X-Axis (Independent Variable)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6BB582-C252-544B-88AC-6A82F70C2EBF}"/>
              </a:ext>
            </a:extLst>
          </p:cNvPr>
          <p:cNvSpPr txBox="1"/>
          <p:nvPr/>
        </p:nvSpPr>
        <p:spPr>
          <a:xfrm rot="16200000">
            <a:off x="1212819" y="3314814"/>
            <a:ext cx="4228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Y-Axis (Dependent Variable)</a:t>
            </a:r>
          </a:p>
        </p:txBody>
      </p:sp>
    </p:spTree>
    <p:extLst>
      <p:ext uri="{BB962C8B-B14F-4D97-AF65-F5344CB8AC3E}">
        <p14:creationId xmlns:p14="http://schemas.microsoft.com/office/powerpoint/2010/main" val="2786869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B75F-36EF-2549-9F96-9EBF9447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0A601D-F7E1-174D-B562-C92C9B055306}"/>
              </a:ext>
            </a:extLst>
          </p:cNvPr>
          <p:cNvSpPr/>
          <p:nvPr/>
        </p:nvSpPr>
        <p:spPr>
          <a:xfrm>
            <a:off x="2792186" y="3233057"/>
            <a:ext cx="1616528" cy="1110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FABDC8-297E-C442-AB3D-AEC41CA7E484}"/>
              </a:ext>
            </a:extLst>
          </p:cNvPr>
          <p:cNvSpPr/>
          <p:nvPr/>
        </p:nvSpPr>
        <p:spPr>
          <a:xfrm>
            <a:off x="3004457" y="1355271"/>
            <a:ext cx="751114" cy="522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graph of a person with a phone&#10;&#10;AI-generated content may be incorrect.">
            <a:extLst>
              <a:ext uri="{FF2B5EF4-FFF2-40B4-BE49-F238E27FC236}">
                <a16:creationId xmlns:a16="http://schemas.microsoft.com/office/drawing/2014/main" id="{48BF68F9-0F6B-C6AB-4CAB-0DA1EC541C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00" t="22361" r="12187" b="5324"/>
          <a:stretch>
            <a:fillRect/>
          </a:stretch>
        </p:blipFill>
        <p:spPr>
          <a:xfrm>
            <a:off x="2066925" y="1416222"/>
            <a:ext cx="8058150" cy="5441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64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1B75F-36EF-2549-9F96-9EBF9447B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Design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0A601D-F7E1-174D-B562-C92C9B055306}"/>
              </a:ext>
            </a:extLst>
          </p:cNvPr>
          <p:cNvSpPr/>
          <p:nvPr/>
        </p:nvSpPr>
        <p:spPr>
          <a:xfrm>
            <a:off x="2792186" y="3233057"/>
            <a:ext cx="1616528" cy="11103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FABDC8-297E-C442-AB3D-AEC41CA7E484}"/>
              </a:ext>
            </a:extLst>
          </p:cNvPr>
          <p:cNvSpPr/>
          <p:nvPr/>
        </p:nvSpPr>
        <p:spPr>
          <a:xfrm>
            <a:off x="3004457" y="1355271"/>
            <a:ext cx="751114" cy="522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28435B0-3303-CD43-9AFD-24633A34F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945726" cy="536345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/>
              <a:t>Research Design</a:t>
            </a:r>
            <a:r>
              <a:rPr lang="en-US" sz="3600" dirty="0"/>
              <a:t>: A structured plan to investigate a research question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b="1" dirty="0"/>
              <a:t>Research Question</a:t>
            </a:r>
            <a:r>
              <a:rPr lang="en-US" sz="3600" dirty="0"/>
              <a:t>: The question a study aims to answer</a:t>
            </a:r>
          </a:p>
          <a:p>
            <a:r>
              <a:rPr lang="en-US" sz="3600" dirty="0"/>
              <a:t>I want to see if there is a difference in height between basketball players and soccer players</a:t>
            </a:r>
          </a:p>
          <a:p>
            <a:r>
              <a:rPr lang="en-US" sz="3600" dirty="0"/>
              <a:t>I want to know whether cats believe they disappear when they close their eyes</a:t>
            </a:r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4" name="Picture 4" descr="How to Choose the Right Research Design for Qualitative Research">
            <a:extLst>
              <a:ext uri="{FF2B5EF4-FFF2-40B4-BE49-F238E27FC236}">
                <a16:creationId xmlns:a16="http://schemas.microsoft.com/office/drawing/2014/main" id="{D31F7215-71E2-5C79-2353-3EBBB020BF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9" t="24652"/>
          <a:stretch>
            <a:fillRect/>
          </a:stretch>
        </p:blipFill>
        <p:spPr bwMode="auto">
          <a:xfrm flipH="1">
            <a:off x="7892086" y="2474259"/>
            <a:ext cx="3905728" cy="401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83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6901-BC83-0D48-8F56-4192E117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843E5-FC2B-5341-A306-0844E9B968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Operational Definitions</a:t>
            </a:r>
            <a:r>
              <a:rPr lang="en-US" sz="3600" dirty="0"/>
              <a:t>: A precise description of how something is being measured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99F6B9-7373-1946-A543-6158CA357467}"/>
              </a:ext>
            </a:extLst>
          </p:cNvPr>
          <p:cNvSpPr/>
          <p:nvPr/>
        </p:nvSpPr>
        <p:spPr>
          <a:xfrm>
            <a:off x="838199" y="2844076"/>
            <a:ext cx="654905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E.g., Reaction time will be measured in milliseconds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3200" dirty="0"/>
              <a:t>Reaction time will be measured in milliseconds from the start buzzer until the racer completely passes the finish line</a:t>
            </a:r>
          </a:p>
        </p:txBody>
      </p:sp>
      <p:pic>
        <p:nvPicPr>
          <p:cNvPr id="7" name="Picture 4" descr="How to Choose the Right Research Design for Qualitative Research">
            <a:extLst>
              <a:ext uri="{FF2B5EF4-FFF2-40B4-BE49-F238E27FC236}">
                <a16:creationId xmlns:a16="http://schemas.microsoft.com/office/drawing/2014/main" id="{2DB38958-B3F0-B61D-5036-19E00510DE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69" t="24652"/>
          <a:stretch>
            <a:fillRect/>
          </a:stretch>
        </p:blipFill>
        <p:spPr bwMode="auto">
          <a:xfrm flipH="1">
            <a:off x="7892086" y="2474259"/>
            <a:ext cx="3905728" cy="401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99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1A560-8E48-E641-AEA8-CF65031A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and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78223-EC5C-FA47-BC0C-87A82EF4F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137400" cy="5387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Population</a:t>
            </a:r>
            <a:r>
              <a:rPr lang="en-US" sz="3600" dirty="0"/>
              <a:t>: Set of all individuals of interest</a:t>
            </a:r>
          </a:p>
          <a:p>
            <a:r>
              <a:rPr lang="en-US" sz="3600" dirty="0"/>
              <a:t>The students in this class</a:t>
            </a:r>
          </a:p>
          <a:p>
            <a:r>
              <a:rPr lang="en-US" sz="3600" dirty="0"/>
              <a:t>Canadians</a:t>
            </a:r>
          </a:p>
          <a:p>
            <a:r>
              <a:rPr lang="en-US" sz="3600" dirty="0"/>
              <a:t>Humans</a:t>
            </a:r>
          </a:p>
        </p:txBody>
      </p:sp>
      <p:pic>
        <p:nvPicPr>
          <p:cNvPr id="1028" name="Picture 4" descr="1.2 - Samples &amp; Populations">
            <a:extLst>
              <a:ext uri="{FF2B5EF4-FFF2-40B4-BE49-F238E27FC236}">
                <a16:creationId xmlns:a16="http://schemas.microsoft.com/office/drawing/2014/main" id="{D51971C2-7A93-1D45-843F-D34EC0582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436" y="2311400"/>
            <a:ext cx="5675689" cy="454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396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12BD1-3870-88C8-1762-442C6063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1.2 - Samples &amp; Populations">
            <a:extLst>
              <a:ext uri="{FF2B5EF4-FFF2-40B4-BE49-F238E27FC236}">
                <a16:creationId xmlns:a16="http://schemas.microsoft.com/office/drawing/2014/main" id="{EA7C046E-8DE3-FE99-01F3-FCF6EAA1E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436" y="2311400"/>
            <a:ext cx="5675689" cy="454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7B441-9353-33ED-70FE-35487A2A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and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13F93-1C46-BC26-1F16-B96072452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137400" cy="5387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Sample</a:t>
            </a:r>
            <a:r>
              <a:rPr lang="en-US" sz="3600" dirty="0"/>
              <a:t>: Set of individuals selected from population to represent the population</a:t>
            </a:r>
          </a:p>
          <a:p>
            <a:r>
              <a:rPr lang="en-US" sz="3200" dirty="0"/>
              <a:t>10 students randomly chosen</a:t>
            </a:r>
          </a:p>
          <a:p>
            <a:r>
              <a:rPr lang="en-US" sz="3200" dirty="0"/>
              <a:t>Any Canadian that answered my     phone call</a:t>
            </a:r>
          </a:p>
          <a:p>
            <a:r>
              <a:rPr lang="en-US" sz="3200" dirty="0"/>
              <a:t>Any human that signed up for my     study online</a:t>
            </a:r>
          </a:p>
        </p:txBody>
      </p:sp>
    </p:spTree>
    <p:extLst>
      <p:ext uri="{BB962C8B-B14F-4D97-AF65-F5344CB8AC3E}">
        <p14:creationId xmlns:p14="http://schemas.microsoft.com/office/powerpoint/2010/main" val="11604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AB2B-CC1D-543D-76C8-AAEA2AD53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.2 - Samples &amp; Populations">
            <a:extLst>
              <a:ext uri="{FF2B5EF4-FFF2-40B4-BE49-F238E27FC236}">
                <a16:creationId xmlns:a16="http://schemas.microsoft.com/office/drawing/2014/main" id="{E9E71012-B69E-CDA1-F489-AB24F5E5DC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436" y="2311400"/>
            <a:ext cx="5675689" cy="454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128CE6-E70A-49C0-4AEA-FC74F0DC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and Sample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526B5-C27E-8869-3DCB-F9D7AFF6B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137400" cy="5387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Sampling Error: </a:t>
            </a:r>
            <a:r>
              <a:rPr lang="en-US" sz="3600" dirty="0"/>
              <a:t>Discrepancy (error) between sample and population</a:t>
            </a:r>
          </a:p>
          <a:p>
            <a:r>
              <a:rPr lang="en-US" sz="3200" dirty="0"/>
              <a:t>Samples must represent           population for us to generalize               to population</a:t>
            </a:r>
          </a:p>
          <a:p>
            <a:r>
              <a:rPr lang="en-US" sz="3200" dirty="0"/>
              <a:t>e.g., If you measure the height               of all UVic students but by chance mostly recruit basketball players</a:t>
            </a:r>
          </a:p>
        </p:txBody>
      </p:sp>
    </p:spTree>
    <p:extLst>
      <p:ext uri="{BB962C8B-B14F-4D97-AF65-F5344CB8AC3E}">
        <p14:creationId xmlns:p14="http://schemas.microsoft.com/office/powerpoint/2010/main" val="49146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Structure of Statistics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Research Design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Scales of Measurement</a:t>
            </a:r>
          </a:p>
        </p:txBody>
      </p:sp>
    </p:spTree>
    <p:extLst>
      <p:ext uri="{BB962C8B-B14F-4D97-AF65-F5344CB8AC3E}">
        <p14:creationId xmlns:p14="http://schemas.microsoft.com/office/powerpoint/2010/main" val="2624393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222B-D86D-B246-B951-7479A0CD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Numerals vs Numbers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1630-F5DC-9D43-AA70-F2377A9D2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Numerals: </a:t>
            </a:r>
            <a:r>
              <a:rPr lang="en-US" sz="3600" dirty="0"/>
              <a:t>Symbolic classification or code</a:t>
            </a:r>
          </a:p>
          <a:p>
            <a:r>
              <a:rPr lang="en-US" sz="2800" dirty="0"/>
              <a:t>Has </a:t>
            </a:r>
            <a:r>
              <a:rPr lang="en-US" sz="2800" i="1" dirty="0"/>
              <a:t>qualitative </a:t>
            </a:r>
            <a:r>
              <a:rPr lang="en-US" sz="2800" dirty="0"/>
              <a:t>meaning</a:t>
            </a:r>
          </a:p>
          <a:p>
            <a:r>
              <a:rPr lang="en-US" dirty="0"/>
              <a:t>e.g., Birthplace: Canada, United States, China…</a:t>
            </a:r>
          </a:p>
          <a:p>
            <a:pPr lvl="1"/>
            <a:r>
              <a:rPr lang="en-US" dirty="0"/>
              <a:t>OR 1 = Canada, 2 = United States, 3 = China…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sz="3600" b="1" dirty="0"/>
              <a:t>Numbers: </a:t>
            </a:r>
            <a:r>
              <a:rPr lang="en-US" sz="3600" dirty="0"/>
              <a:t>Symbolic measurement</a:t>
            </a:r>
          </a:p>
          <a:p>
            <a:r>
              <a:rPr lang="en-US" dirty="0"/>
              <a:t>Has </a:t>
            </a:r>
            <a:r>
              <a:rPr lang="en-US" i="1" dirty="0"/>
              <a:t>quantitative </a:t>
            </a:r>
            <a:r>
              <a:rPr lang="en-US" dirty="0"/>
              <a:t>meaning</a:t>
            </a:r>
          </a:p>
          <a:p>
            <a:r>
              <a:rPr lang="en-US" dirty="0"/>
              <a:t>e.g., Height: 5’2”, 6’0”, 4’11”</a:t>
            </a:r>
          </a:p>
          <a:p>
            <a:pPr lvl="1"/>
            <a:endParaRPr lang="en-US" dirty="0"/>
          </a:p>
        </p:txBody>
      </p:sp>
      <p:pic>
        <p:nvPicPr>
          <p:cNvPr id="7170" name="Picture 2" descr="Random numbers written in chalk on a ... | Stock image | Colourbox">
            <a:extLst>
              <a:ext uri="{FF2B5EF4-FFF2-40B4-BE49-F238E27FC236}">
                <a16:creationId xmlns:a16="http://schemas.microsoft.com/office/drawing/2014/main" id="{4183E2BC-3892-C04F-8FED-2E3B2DFF69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990"/>
          <a:stretch/>
        </p:blipFill>
        <p:spPr bwMode="auto">
          <a:xfrm>
            <a:off x="8112609" y="2472531"/>
            <a:ext cx="3869842" cy="3057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9052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3602-1E5F-884B-B915-05BD728A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E8185-C6D1-5847-AF19-3153AF7E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0615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Measurement:</a:t>
            </a:r>
            <a:r>
              <a:rPr lang="en-CA" dirty="0"/>
              <a:t> </a:t>
            </a:r>
            <a:r>
              <a:rPr lang="en-CA" sz="3600" dirty="0"/>
              <a:t>Is the act of assigning a number or numeral to an attribute or property of an object, organism, or event according to specific rules </a:t>
            </a:r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8194" name="Picture 2" descr="Are There Too Many Kids in Your Child's Class?">
            <a:extLst>
              <a:ext uri="{FF2B5EF4-FFF2-40B4-BE49-F238E27FC236}">
                <a16:creationId xmlns:a16="http://schemas.microsoft.com/office/drawing/2014/main" id="{38E8E569-3A9E-9F4C-AE39-3C44D427AD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3"/>
          <a:stretch/>
        </p:blipFill>
        <p:spPr bwMode="auto">
          <a:xfrm>
            <a:off x="6362700" y="3063875"/>
            <a:ext cx="53149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5071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3602-1E5F-884B-B915-05BD728A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E8185-C6D1-5847-AF19-3153AF7E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49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Discrete Numbers: </a:t>
            </a:r>
            <a:r>
              <a:rPr lang="en-US" sz="3600" dirty="0"/>
              <a:t>Property or characteristic of a variable</a:t>
            </a:r>
          </a:p>
          <a:p>
            <a:r>
              <a:rPr lang="en-US" sz="3600" dirty="0"/>
              <a:t>No possible values in between</a:t>
            </a:r>
          </a:p>
          <a:p>
            <a:r>
              <a:rPr lang="en-US" sz="3600" dirty="0"/>
              <a:t>E.g., Number of students </a:t>
            </a:r>
          </a:p>
          <a:p>
            <a:pPr marL="0" indent="0">
              <a:buNone/>
            </a:pPr>
            <a:r>
              <a:rPr lang="en-US" sz="3600" dirty="0"/>
              <a:t>  in this class</a:t>
            </a:r>
          </a:p>
        </p:txBody>
      </p:sp>
      <p:pic>
        <p:nvPicPr>
          <p:cNvPr id="8194" name="Picture 2" descr="Are There Too Many Kids in Your Child's Class?">
            <a:extLst>
              <a:ext uri="{FF2B5EF4-FFF2-40B4-BE49-F238E27FC236}">
                <a16:creationId xmlns:a16="http://schemas.microsoft.com/office/drawing/2014/main" id="{38E8E569-3A9E-9F4C-AE39-3C44D427AD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13"/>
          <a:stretch/>
        </p:blipFill>
        <p:spPr bwMode="auto">
          <a:xfrm>
            <a:off x="6362700" y="3063875"/>
            <a:ext cx="53149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9.5-inch Large Digital Clock - Clocks | AcuRite Weather">
            <a:extLst>
              <a:ext uri="{FF2B5EF4-FFF2-40B4-BE49-F238E27FC236}">
                <a16:creationId xmlns:a16="http://schemas.microsoft.com/office/drawing/2014/main" id="{F344CD75-4037-7D49-B39A-CC3D78E717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58" b="21875"/>
          <a:stretch/>
        </p:blipFill>
        <p:spPr bwMode="auto">
          <a:xfrm>
            <a:off x="1557337" y="4319587"/>
            <a:ext cx="3524250" cy="2173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274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3602-1E5F-884B-B915-05BD728A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E8185-C6D1-5847-AF19-3153AF7E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49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Continuous Numbers: </a:t>
            </a:r>
            <a:r>
              <a:rPr lang="en-US" sz="3600" dirty="0"/>
              <a:t>Numbers that have either finite or infinite number of values</a:t>
            </a:r>
          </a:p>
          <a:p>
            <a:r>
              <a:rPr lang="en-US" sz="3600" dirty="0"/>
              <a:t>Can have values in between</a:t>
            </a:r>
          </a:p>
          <a:p>
            <a:r>
              <a:rPr lang="en-US" sz="3600" dirty="0"/>
              <a:t>E.g., age</a:t>
            </a:r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5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6780B132-10CB-C345-9DE2-4E22B83A4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2" y="4139684"/>
            <a:ext cx="9029700" cy="2718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La Crosse Technology WT-3102S 10-Inch Atomic Analog Wall Clock, Silver:  Amazon.ca: Home &amp; Kitchen">
            <a:extLst>
              <a:ext uri="{FF2B5EF4-FFF2-40B4-BE49-F238E27FC236}">
                <a16:creationId xmlns:a16="http://schemas.microsoft.com/office/drawing/2014/main" id="{0EE69A20-36EE-5847-983E-58EEF60F33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4514850"/>
            <a:ext cx="2201802" cy="2200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5946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elebrate Your Age — Case Cured - Rebecca Conquers BPDCN">
            <a:extLst>
              <a:ext uri="{FF2B5EF4-FFF2-40B4-BE49-F238E27FC236}">
                <a16:creationId xmlns:a16="http://schemas.microsoft.com/office/drawing/2014/main" id="{60A32E73-9F27-F742-8B32-B23629D27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2" y="4139684"/>
            <a:ext cx="9029700" cy="2718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F73602-1E5F-884B-B915-05BD728A6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E8185-C6D1-5847-AF19-3153AF7EF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27463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Discrete Continuum: </a:t>
            </a:r>
            <a:r>
              <a:rPr lang="en-US" sz="3600" dirty="0"/>
              <a:t>A discrete scale with underlying continuous measure</a:t>
            </a:r>
          </a:p>
          <a:p>
            <a:r>
              <a:rPr lang="en-US" sz="3600" dirty="0"/>
              <a:t>E.g., age can be young or old</a:t>
            </a:r>
          </a:p>
          <a:p>
            <a:pPr lvl="1"/>
            <a:r>
              <a:rPr lang="en-US" sz="3200" dirty="0"/>
              <a:t>The underlying scale could be 0 to 50 years old is </a:t>
            </a:r>
            <a:r>
              <a:rPr lang="en-US" sz="3200" i="1" dirty="0"/>
              <a:t>young</a:t>
            </a:r>
            <a:r>
              <a:rPr lang="en-US" sz="3200" dirty="0"/>
              <a:t> and 51 to 100 years old is </a:t>
            </a:r>
            <a:r>
              <a:rPr lang="en-US" sz="3200" i="1" dirty="0"/>
              <a:t>old</a:t>
            </a:r>
          </a:p>
          <a:p>
            <a:pPr marL="0" indent="0">
              <a:buNone/>
            </a:pPr>
            <a:endParaRPr lang="en-US" sz="3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233763-5D84-CC4D-819E-7C57B56A102F}"/>
              </a:ext>
            </a:extLst>
          </p:cNvPr>
          <p:cNvCxnSpPr/>
          <p:nvPr/>
        </p:nvCxnSpPr>
        <p:spPr>
          <a:xfrm>
            <a:off x="8143875" y="4014788"/>
            <a:ext cx="0" cy="2843212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9.5-inch Large Digital Clock - Clocks | AcuRite Weather">
            <a:extLst>
              <a:ext uri="{FF2B5EF4-FFF2-40B4-BE49-F238E27FC236}">
                <a16:creationId xmlns:a16="http://schemas.microsoft.com/office/drawing/2014/main" id="{7C5936B0-3CA3-734E-B195-15312436C06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58" b="21875"/>
          <a:stretch/>
        </p:blipFill>
        <p:spPr bwMode="auto">
          <a:xfrm>
            <a:off x="0" y="4829175"/>
            <a:ext cx="2697891" cy="166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37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222B-D86D-B246-B951-7479A0CD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Datum and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1630-F5DC-9D43-AA70-F2377A9D2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443855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Datum: </a:t>
            </a:r>
            <a:r>
              <a:rPr lang="en-US" sz="3600" dirty="0"/>
              <a:t>A single observed value </a:t>
            </a:r>
          </a:p>
          <a:p>
            <a:r>
              <a:rPr lang="en-US" sz="3600" dirty="0"/>
              <a:t>Depicted as </a:t>
            </a:r>
            <a:r>
              <a:rPr lang="en-US" sz="3600" i="1" dirty="0"/>
              <a:t>X</a:t>
            </a:r>
            <a:r>
              <a:rPr lang="en-US" sz="3600" i="1" baseline="-25000" dirty="0"/>
              <a:t>O</a:t>
            </a:r>
          </a:p>
          <a:p>
            <a:r>
              <a:rPr lang="en-US" sz="3600" dirty="0"/>
              <a:t>Chad received 85%</a:t>
            </a:r>
          </a:p>
          <a:p>
            <a:endParaRPr lang="en-US" sz="3600" i="1" baseline="-25000" dirty="0"/>
          </a:p>
          <a:p>
            <a:endParaRPr lang="en-US" sz="3600" i="1" baseline="-25000" dirty="0"/>
          </a:p>
          <a:p>
            <a:pPr marL="0" indent="0">
              <a:buNone/>
            </a:pPr>
            <a:r>
              <a:rPr lang="en-US" sz="3600" b="1" dirty="0"/>
              <a:t>Data: </a:t>
            </a:r>
            <a:r>
              <a:rPr lang="en-US" sz="3600" dirty="0"/>
              <a:t>Multiple observed values</a:t>
            </a:r>
          </a:p>
          <a:p>
            <a:r>
              <a:rPr lang="en-US" sz="3600" dirty="0"/>
              <a:t>Depicted as </a:t>
            </a:r>
            <a:r>
              <a:rPr lang="en-US" sz="3600" i="1" dirty="0"/>
              <a:t>X values</a:t>
            </a:r>
          </a:p>
          <a:p>
            <a:r>
              <a:rPr lang="en-US" sz="3600" dirty="0"/>
              <a:t>The students received 85%, 72%, 98%...</a:t>
            </a:r>
          </a:p>
          <a:p>
            <a:pPr marL="0" indent="0">
              <a:buNone/>
            </a:pPr>
            <a:endParaRPr lang="en-US" sz="2800" i="1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254EA-B6BC-5A48-8824-2D68AFB62518}"/>
              </a:ext>
            </a:extLst>
          </p:cNvPr>
          <p:cNvSpPr txBox="1"/>
          <p:nvPr/>
        </p:nvSpPr>
        <p:spPr>
          <a:xfrm>
            <a:off x="3289300" y="1181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1266" name="Picture 2" descr="HD Matrix Numbers - YouTube">
            <a:extLst>
              <a:ext uri="{FF2B5EF4-FFF2-40B4-BE49-F238E27FC236}">
                <a16:creationId xmlns:a16="http://schemas.microsoft.com/office/drawing/2014/main" id="{D85B6341-D26C-5E49-B478-9A8DA29ACD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42"/>
          <a:stretch/>
        </p:blipFill>
        <p:spPr bwMode="auto">
          <a:xfrm>
            <a:off x="7143751" y="1550432"/>
            <a:ext cx="4911434" cy="4201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856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5222B-D86D-B246-B951-7479A0CD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1630-F5DC-9D43-AA70-F2377A9D2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4438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i="1" dirty="0"/>
              <a:t>X</a:t>
            </a:r>
            <a:r>
              <a:rPr lang="en-US" sz="6600" i="1" baseline="-25000" dirty="0"/>
              <a:t>O</a:t>
            </a:r>
            <a:r>
              <a:rPr lang="en-US" sz="6600" i="1" dirty="0"/>
              <a:t> = </a:t>
            </a:r>
            <a:r>
              <a:rPr lang="en-US" sz="6600" i="1" dirty="0" err="1"/>
              <a:t>X</a:t>
            </a:r>
            <a:r>
              <a:rPr lang="en-US" sz="6600" i="1" baseline="-25000" dirty="0" err="1"/>
              <a:t>t</a:t>
            </a:r>
            <a:r>
              <a:rPr lang="en-US" sz="6600" i="1" dirty="0"/>
              <a:t> + X</a:t>
            </a:r>
            <a:r>
              <a:rPr lang="en-US" sz="6600" i="1" baseline="-25000" dirty="0"/>
              <a:t>e</a:t>
            </a:r>
          </a:p>
          <a:p>
            <a:pPr marL="0" indent="0" algn="ctr">
              <a:buNone/>
            </a:pPr>
            <a:endParaRPr lang="en-US" sz="6600" i="1" baseline="-25000" dirty="0"/>
          </a:p>
          <a:p>
            <a:pPr marL="0" indent="0" algn="ctr">
              <a:buNone/>
            </a:pPr>
            <a:r>
              <a:rPr lang="en-US" sz="6600" i="1" baseline="-25000" dirty="0"/>
              <a:t>What we measured = </a:t>
            </a:r>
          </a:p>
          <a:p>
            <a:pPr marL="0" indent="0" algn="ctr">
              <a:buNone/>
            </a:pPr>
            <a:r>
              <a:rPr lang="en-US" sz="6600" i="1" baseline="-25000" dirty="0"/>
              <a:t>What we tried to measure + how bad we messed up</a:t>
            </a:r>
          </a:p>
          <a:p>
            <a:pPr marL="0" indent="0" algn="ctr">
              <a:buNone/>
            </a:pPr>
            <a:endParaRPr lang="en-US" sz="6600" i="1" baseline="-25000" dirty="0"/>
          </a:p>
          <a:p>
            <a:pPr marL="0" indent="0" algn="ctr">
              <a:buNone/>
            </a:pPr>
            <a:r>
              <a:rPr lang="en-US" sz="6600" i="1" baseline="-25000" dirty="0"/>
              <a:t>Observed = True Score + 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5254EA-B6BC-5A48-8824-2D68AFB62518}"/>
              </a:ext>
            </a:extLst>
          </p:cNvPr>
          <p:cNvSpPr txBox="1"/>
          <p:nvPr/>
        </p:nvSpPr>
        <p:spPr>
          <a:xfrm>
            <a:off x="3289300" y="11811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193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A02B-6461-C24D-9767-3E5185411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B3D78-C0D5-FE45-BDCE-8CFD3E5A4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84256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Measurement Error</a:t>
            </a:r>
            <a:r>
              <a:rPr lang="en-US" sz="3200" dirty="0"/>
              <a:t>: When we over or underestimate a true value</a:t>
            </a:r>
          </a:p>
          <a:p>
            <a:r>
              <a:rPr lang="en-US" sz="3200" b="1" dirty="0"/>
              <a:t>Systematic Error</a:t>
            </a:r>
            <a:r>
              <a:rPr lang="en-US" sz="3200" dirty="0"/>
              <a:t>: An error that is consistent and repeatable</a:t>
            </a:r>
          </a:p>
          <a:p>
            <a:pPr lvl="1"/>
            <a:r>
              <a:rPr lang="en-US" sz="2800" b="1" dirty="0"/>
              <a:t>Offset Errors: </a:t>
            </a:r>
            <a:r>
              <a:rPr lang="en-US" sz="2800" dirty="0"/>
              <a:t>There is a fixed error that is the same across all values being measured</a:t>
            </a:r>
          </a:p>
          <a:p>
            <a:pPr lvl="2"/>
            <a:r>
              <a:rPr lang="en-US" sz="2400" dirty="0"/>
              <a:t>E.g., the scale plate is heavier than it’s supposed to be</a:t>
            </a:r>
          </a:p>
          <a:p>
            <a:pPr lvl="1"/>
            <a:r>
              <a:rPr lang="en-US" sz="2800" b="1" dirty="0"/>
              <a:t>Scale Errors</a:t>
            </a:r>
            <a:r>
              <a:rPr lang="en-US" sz="2800" dirty="0"/>
              <a:t>: When there is an error that is proportional to the values being measured</a:t>
            </a:r>
          </a:p>
          <a:p>
            <a:pPr lvl="2"/>
            <a:r>
              <a:rPr lang="en-US" sz="2400" dirty="0"/>
              <a:t>E.g., weak spring on scale</a:t>
            </a:r>
          </a:p>
        </p:txBody>
      </p:sp>
      <p:pic>
        <p:nvPicPr>
          <p:cNvPr id="5" name="Picture 4" descr="Chart, diagram&#10;&#10;Description automatically generated">
            <a:extLst>
              <a:ext uri="{FF2B5EF4-FFF2-40B4-BE49-F238E27FC236}">
                <a16:creationId xmlns:a16="http://schemas.microsoft.com/office/drawing/2014/main" id="{A954C851-C433-1945-A2C5-E075D71BA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5223" y="1026453"/>
            <a:ext cx="2618577" cy="2867965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67B24B76-B03B-AA48-A5A0-BD23BB018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5223" y="3894418"/>
            <a:ext cx="2673035" cy="296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716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1A02B-6461-C24D-9767-3E5185411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Measurement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B3D78-C0D5-FE45-BDCE-8CFD3E5A4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7842565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Measurement Error</a:t>
            </a:r>
            <a:endParaRPr lang="en-US" sz="3200" dirty="0"/>
          </a:p>
          <a:p>
            <a:r>
              <a:rPr lang="en-US" sz="3200" b="1" dirty="0"/>
              <a:t>Random Error: </a:t>
            </a:r>
            <a:r>
              <a:rPr lang="en-US" sz="3200" dirty="0"/>
              <a:t>An error without any consistent pattern</a:t>
            </a:r>
          </a:p>
          <a:p>
            <a:pPr lvl="1"/>
            <a:r>
              <a:rPr lang="en-US" sz="2800" dirty="0"/>
              <a:t>Random errors average over participants/measures</a:t>
            </a:r>
          </a:p>
          <a:p>
            <a:pPr lvl="1"/>
            <a:r>
              <a:rPr lang="en-US" sz="2800" dirty="0"/>
              <a:t>E.g., experimenter error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9D7EB54F-FC93-4A4A-BC8B-732F8DDEC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4712" y="1690688"/>
            <a:ext cx="3788713" cy="440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115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29E6F93-1BE2-A24C-A958-7E838335E275}"/>
              </a:ext>
            </a:extLst>
          </p:cNvPr>
          <p:cNvGrpSpPr/>
          <p:nvPr/>
        </p:nvGrpSpPr>
        <p:grpSpPr>
          <a:xfrm>
            <a:off x="294429" y="602116"/>
            <a:ext cx="5458932" cy="5307690"/>
            <a:chOff x="1462829" y="602117"/>
            <a:chExt cx="5458932" cy="530769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AAD576-3FD9-034D-97C2-DB233589DD70}"/>
                </a:ext>
              </a:extLst>
            </p:cNvPr>
            <p:cNvGrpSpPr/>
            <p:nvPr/>
          </p:nvGrpSpPr>
          <p:grpSpPr>
            <a:xfrm>
              <a:off x="1462829" y="602117"/>
              <a:ext cx="5458932" cy="5307690"/>
              <a:chOff x="1779790" y="1493134"/>
              <a:chExt cx="4490974" cy="4366550"/>
            </a:xfrm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3F7C5F54-F4ED-494E-983A-AD64CA969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5652" y="1493134"/>
                <a:ext cx="0" cy="436655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A9EC6B0-CB23-D64F-986C-DBA67CB518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79790" y="5816277"/>
                <a:ext cx="4490974" cy="0"/>
              </a:xfrm>
              <a:prstGeom prst="straightConnector1">
                <a:avLst/>
              </a:prstGeom>
              <a:ln w="127000">
                <a:solidFill>
                  <a:schemeClr val="bg1">
                    <a:lumMod val="50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56D5E8B-B79A-CE4A-9B3E-284711C7414D}"/>
                  </a:ext>
                </a:extLst>
              </p:cNvPr>
              <p:cNvSpPr/>
              <p:nvPr/>
            </p:nvSpPr>
            <p:spPr>
              <a:xfrm>
                <a:off x="1939274" y="3449119"/>
                <a:ext cx="1893537" cy="2087919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  <a:alpha val="84678"/>
                </a:schemeClr>
              </a:solidFill>
              <a:ln>
                <a:solidFill>
                  <a:schemeClr val="accent1">
                    <a:lumMod val="50000"/>
                    <a:alpha val="85134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2BF8C57-2D60-534C-B131-447BD8F8385A}"/>
                  </a:ext>
                </a:extLst>
              </p:cNvPr>
              <p:cNvSpPr/>
              <p:nvPr/>
            </p:nvSpPr>
            <p:spPr>
              <a:xfrm>
                <a:off x="2842958" y="2826560"/>
                <a:ext cx="1893537" cy="2710478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2">
                  <a:lumMod val="40000"/>
                  <a:lumOff val="60000"/>
                  <a:alpha val="85220"/>
                </a:schemeClr>
              </a:solidFill>
              <a:ln>
                <a:solidFill>
                  <a:schemeClr val="accent2">
                    <a:lumMod val="50000"/>
                    <a:alpha val="85199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6FDFA582-4592-114B-A82E-7632E7D351C5}"/>
                  </a:ext>
                </a:extLst>
              </p:cNvPr>
              <p:cNvSpPr/>
              <p:nvPr/>
            </p:nvSpPr>
            <p:spPr>
              <a:xfrm>
                <a:off x="3722204" y="2311601"/>
                <a:ext cx="2101382" cy="3225437"/>
              </a:xfrm>
              <a:custGeom>
                <a:avLst/>
                <a:gdLst>
                  <a:gd name="connsiteX0" fmla="*/ 0 w 1893537"/>
                  <a:gd name="connsiteY0" fmla="*/ 2879376 h 2887468"/>
                  <a:gd name="connsiteX1" fmla="*/ 412694 w 1893537"/>
                  <a:gd name="connsiteY1" fmla="*/ 2361486 h 2887468"/>
                  <a:gd name="connsiteX2" fmla="*/ 841572 w 1893537"/>
                  <a:gd name="connsiteY2" fmla="*/ 233281 h 2887468"/>
                  <a:gd name="connsiteX3" fmla="*/ 1068149 w 1893537"/>
                  <a:gd name="connsiteY3" fmla="*/ 289925 h 2887468"/>
                  <a:gd name="connsiteX4" fmla="*/ 1472751 w 1893537"/>
                  <a:gd name="connsiteY4" fmla="*/ 2321026 h 2887468"/>
                  <a:gd name="connsiteX5" fmla="*/ 1893537 w 1893537"/>
                  <a:gd name="connsiteY5" fmla="*/ 2887468 h 2887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93537" h="2887468">
                    <a:moveTo>
                      <a:pt x="0" y="2879376"/>
                    </a:moveTo>
                    <a:cubicBezTo>
                      <a:pt x="136216" y="2840939"/>
                      <a:pt x="272432" y="2802502"/>
                      <a:pt x="412694" y="2361486"/>
                    </a:cubicBezTo>
                    <a:cubicBezTo>
                      <a:pt x="552956" y="1920470"/>
                      <a:pt x="732330" y="578541"/>
                      <a:pt x="841572" y="233281"/>
                    </a:cubicBezTo>
                    <a:cubicBezTo>
                      <a:pt x="950814" y="-111979"/>
                      <a:pt x="962953" y="-58032"/>
                      <a:pt x="1068149" y="289925"/>
                    </a:cubicBezTo>
                    <a:cubicBezTo>
                      <a:pt x="1173345" y="637882"/>
                      <a:pt x="1335186" y="1888102"/>
                      <a:pt x="1472751" y="2321026"/>
                    </a:cubicBezTo>
                    <a:cubicBezTo>
                      <a:pt x="1610316" y="2753950"/>
                      <a:pt x="1689888" y="2863192"/>
                      <a:pt x="1893537" y="2887468"/>
                    </a:cubicBezTo>
                  </a:path>
                </a:pathLst>
              </a:custGeom>
              <a:solidFill>
                <a:schemeClr val="accent6">
                  <a:lumMod val="40000"/>
                  <a:lumOff val="60000"/>
                  <a:alpha val="85188"/>
                </a:schemeClr>
              </a:solidFill>
              <a:ln>
                <a:solidFill>
                  <a:schemeClr val="accent6">
                    <a:lumMod val="50000"/>
                    <a:alpha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94D678-6CFD-DB44-AB89-228139B919EC}"/>
                </a:ext>
              </a:extLst>
            </p:cNvPr>
            <p:cNvSpPr/>
            <p:nvPr/>
          </p:nvSpPr>
          <p:spPr>
            <a:xfrm>
              <a:off x="1812853" y="2979683"/>
              <a:ext cx="3708069" cy="2264351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708069"/>
                <a:gd name="connsiteY0" fmla="*/ 2264351 h 2264351"/>
                <a:gd name="connsiteX1" fmla="*/ 1156598 w 3708069"/>
                <a:gd name="connsiteY1" fmla="*/ 1991032 h 2264351"/>
                <a:gd name="connsiteX2" fmla="*/ 1731785 w 3708069"/>
                <a:gd name="connsiteY2" fmla="*/ 1401097 h 2264351"/>
                <a:gd name="connsiteX3" fmla="*/ 2262727 w 3708069"/>
                <a:gd name="connsiteY3" fmla="*/ 1238864 h 2264351"/>
                <a:gd name="connsiteX4" fmla="*/ 2911656 w 3708069"/>
                <a:gd name="connsiteY4" fmla="*/ 693174 h 2264351"/>
                <a:gd name="connsiteX5" fmla="*/ 3708069 w 3708069"/>
                <a:gd name="connsiteY5" fmla="*/ 0 h 226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08069" h="2264351">
                  <a:moveTo>
                    <a:pt x="0" y="2264351"/>
                  </a:moveTo>
                  <a:lnTo>
                    <a:pt x="1156598" y="1991032"/>
                  </a:lnTo>
                  <a:lnTo>
                    <a:pt x="1731785" y="1401097"/>
                  </a:lnTo>
                  <a:lnTo>
                    <a:pt x="2262727" y="1238864"/>
                  </a:lnTo>
                  <a:lnTo>
                    <a:pt x="2911656" y="693174"/>
                  </a:lnTo>
                  <a:lnTo>
                    <a:pt x="3708069" y="0"/>
                  </a:lnTo>
                </a:path>
              </a:pathLst>
            </a:custGeom>
            <a:noFill/>
            <a:ln w="127000">
              <a:solidFill>
                <a:schemeClr val="bg1">
                  <a:alpha val="84175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82CC9CC0-B87F-4541-AA63-DC8E7082AF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0015" y="2762124"/>
              <a:ext cx="122104" cy="12603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EFDC0CF-7CB9-1240-8601-062318CD71F3}"/>
                </a:ext>
              </a:extLst>
            </p:cNvPr>
            <p:cNvSpPr/>
            <p:nvPr/>
          </p:nvSpPr>
          <p:spPr>
            <a:xfrm>
              <a:off x="1817303" y="2889806"/>
              <a:ext cx="3812712" cy="2352582"/>
            </a:xfrm>
            <a:custGeom>
              <a:avLst/>
              <a:gdLst>
                <a:gd name="connsiteX0" fmla="*/ 0 w 3229897"/>
                <a:gd name="connsiteY0" fmla="*/ 2138516 h 2138516"/>
                <a:gd name="connsiteX1" fmla="*/ 678426 w 3229897"/>
                <a:gd name="connsiteY1" fmla="*/ 1991032 h 2138516"/>
                <a:gd name="connsiteX2" fmla="*/ 1253613 w 3229897"/>
                <a:gd name="connsiteY2" fmla="*/ 1401097 h 2138516"/>
                <a:gd name="connsiteX3" fmla="*/ 1784555 w 3229897"/>
                <a:gd name="connsiteY3" fmla="*/ 1238864 h 2138516"/>
                <a:gd name="connsiteX4" fmla="*/ 2433484 w 3229897"/>
                <a:gd name="connsiteY4" fmla="*/ 693174 h 2138516"/>
                <a:gd name="connsiteX5" fmla="*/ 3229897 w 3229897"/>
                <a:gd name="connsiteY5" fmla="*/ 0 h 2138516"/>
                <a:gd name="connsiteX0" fmla="*/ 0 w 3326150"/>
                <a:gd name="connsiteY0" fmla="*/ 2226747 h 2226747"/>
                <a:gd name="connsiteX1" fmla="*/ 678426 w 3326150"/>
                <a:gd name="connsiteY1" fmla="*/ 2079263 h 2226747"/>
                <a:gd name="connsiteX2" fmla="*/ 1253613 w 3326150"/>
                <a:gd name="connsiteY2" fmla="*/ 1489328 h 2226747"/>
                <a:gd name="connsiteX3" fmla="*/ 1784555 w 3326150"/>
                <a:gd name="connsiteY3" fmla="*/ 1327095 h 2226747"/>
                <a:gd name="connsiteX4" fmla="*/ 2433484 w 3326150"/>
                <a:gd name="connsiteY4" fmla="*/ 781405 h 2226747"/>
                <a:gd name="connsiteX5" fmla="*/ 3326150 w 3326150"/>
                <a:gd name="connsiteY5" fmla="*/ 0 h 2226747"/>
                <a:gd name="connsiteX0" fmla="*/ 0 w 3812712"/>
                <a:gd name="connsiteY0" fmla="*/ 2352582 h 2352582"/>
                <a:gd name="connsiteX1" fmla="*/ 1164988 w 3812712"/>
                <a:gd name="connsiteY1" fmla="*/ 2079263 h 2352582"/>
                <a:gd name="connsiteX2" fmla="*/ 1740175 w 3812712"/>
                <a:gd name="connsiteY2" fmla="*/ 1489328 h 2352582"/>
                <a:gd name="connsiteX3" fmla="*/ 2271117 w 3812712"/>
                <a:gd name="connsiteY3" fmla="*/ 1327095 h 2352582"/>
                <a:gd name="connsiteX4" fmla="*/ 2920046 w 3812712"/>
                <a:gd name="connsiteY4" fmla="*/ 781405 h 2352582"/>
                <a:gd name="connsiteX5" fmla="*/ 3812712 w 3812712"/>
                <a:gd name="connsiteY5" fmla="*/ 0 h 2352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12712" h="2352582">
                  <a:moveTo>
                    <a:pt x="0" y="2352582"/>
                  </a:moveTo>
                  <a:lnTo>
                    <a:pt x="1164988" y="2079263"/>
                  </a:lnTo>
                  <a:lnTo>
                    <a:pt x="1740175" y="1489328"/>
                  </a:lnTo>
                  <a:lnTo>
                    <a:pt x="2271117" y="1327095"/>
                  </a:lnTo>
                  <a:lnTo>
                    <a:pt x="2920046" y="781405"/>
                  </a:lnTo>
                  <a:lnTo>
                    <a:pt x="3812712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6908BF5-DC34-654A-B5A7-2058EDE59DBD}"/>
                </a:ext>
              </a:extLst>
            </p:cNvPr>
            <p:cNvSpPr/>
            <p:nvPr/>
          </p:nvSpPr>
          <p:spPr>
            <a:xfrm>
              <a:off x="1737815" y="5180385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F48FE7-F539-4342-94A2-F6015FD2D873}"/>
                </a:ext>
              </a:extLst>
            </p:cNvPr>
            <p:cNvSpPr/>
            <p:nvPr/>
          </p:nvSpPr>
          <p:spPr>
            <a:xfrm>
              <a:off x="2889176" y="4884308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4746F38-866B-0F47-B0A0-B99614E7FEC9}"/>
                </a:ext>
              </a:extLst>
            </p:cNvPr>
            <p:cNvSpPr/>
            <p:nvPr/>
          </p:nvSpPr>
          <p:spPr>
            <a:xfrm>
              <a:off x="3464941" y="43162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40E1110-447B-984F-AC7A-290231E67CA7}"/>
                </a:ext>
              </a:extLst>
            </p:cNvPr>
            <p:cNvSpPr/>
            <p:nvPr/>
          </p:nvSpPr>
          <p:spPr>
            <a:xfrm>
              <a:off x="4014062" y="4120703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AA2D0A7-EAF8-A146-A4DF-F4163AC7CA4F}"/>
                </a:ext>
              </a:extLst>
            </p:cNvPr>
            <p:cNvSpPr/>
            <p:nvPr/>
          </p:nvSpPr>
          <p:spPr>
            <a:xfrm>
              <a:off x="4660823" y="3598409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AD647C8-7583-2544-9496-EC74345F4596}"/>
                </a:ext>
              </a:extLst>
            </p:cNvPr>
            <p:cNvSpPr/>
            <p:nvPr/>
          </p:nvSpPr>
          <p:spPr>
            <a:xfrm>
              <a:off x="5260932" y="3074751"/>
              <a:ext cx="154830" cy="154830"/>
            </a:xfrm>
            <a:prstGeom prst="ellipse">
              <a:avLst/>
            </a:prstGeom>
            <a:solidFill>
              <a:srgbClr val="FF0000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7E4F8C96-B1F8-F340-9530-E0398316CFA5}"/>
              </a:ext>
            </a:extLst>
          </p:cNvPr>
          <p:cNvSpPr txBox="1">
            <a:spLocks/>
          </p:cNvSpPr>
          <p:nvPr/>
        </p:nvSpPr>
        <p:spPr>
          <a:xfrm>
            <a:off x="5809077" y="602116"/>
            <a:ext cx="6468542" cy="590028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b="1" u="sng" dirty="0">
                <a:latin typeface="Calibri" panose="020F0502020204030204" pitchFamily="34" charset="0"/>
                <a:cs typeface="Calibri" panose="020F0502020204030204" pitchFamily="34" charset="0"/>
              </a:rPr>
              <a:t>Lecture Outline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Structure of Statistics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Research Design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Numbers</a:t>
            </a:r>
          </a:p>
          <a:p>
            <a:endParaRPr lang="en-US" sz="4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Scales of Measurement</a:t>
            </a:r>
          </a:p>
        </p:txBody>
      </p:sp>
    </p:spTree>
    <p:extLst>
      <p:ext uri="{BB962C8B-B14F-4D97-AF65-F5344CB8AC3E}">
        <p14:creationId xmlns:p14="http://schemas.microsoft.com/office/powerpoint/2010/main" val="26312706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EB64-AFE3-B64F-88C1-53F598E5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Scales of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545C1-E16C-7842-B236-40A581634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607800" cy="541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Four different types of data:</a:t>
            </a:r>
          </a:p>
          <a:p>
            <a:r>
              <a:rPr lang="en-US" sz="3600" dirty="0"/>
              <a:t>Nominal</a:t>
            </a:r>
          </a:p>
          <a:p>
            <a:r>
              <a:rPr lang="en-US" sz="3600" dirty="0"/>
              <a:t>Ordinal</a:t>
            </a:r>
          </a:p>
          <a:p>
            <a:r>
              <a:rPr lang="en-US" sz="3600" dirty="0"/>
              <a:t>Interval</a:t>
            </a:r>
          </a:p>
          <a:p>
            <a:r>
              <a:rPr lang="en-US" sz="3600" dirty="0"/>
              <a:t>Ratio</a:t>
            </a:r>
          </a:p>
          <a:p>
            <a:endParaRPr lang="en-US" sz="3600" dirty="0"/>
          </a:p>
          <a:p>
            <a:pPr marL="0" indent="0">
              <a:buNone/>
            </a:pPr>
            <a:r>
              <a:rPr lang="en-US" sz="3600" dirty="0"/>
              <a:t>These types of data determine which statistical tests we use</a:t>
            </a:r>
          </a:p>
        </p:txBody>
      </p:sp>
      <p:pic>
        <p:nvPicPr>
          <p:cNvPr id="5" name="Picture 4" descr="A collection of charts and graphs&#10;&#10;AI-generated content may be incorrect.">
            <a:extLst>
              <a:ext uri="{FF2B5EF4-FFF2-40B4-BE49-F238E27FC236}">
                <a16:creationId xmlns:a16="http://schemas.microsoft.com/office/drawing/2014/main" id="{7224B9AD-9BD1-5BC3-ADAD-97C119A8B8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22"/>
          <a:stretch>
            <a:fillRect/>
          </a:stretch>
        </p:blipFill>
        <p:spPr>
          <a:xfrm>
            <a:off x="6686875" y="800101"/>
            <a:ext cx="518049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5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EB64-AFE3-B64F-88C1-53F598E5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Scales of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545C1-E16C-7842-B236-40A581634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Nominal Scale: </a:t>
            </a:r>
            <a:r>
              <a:rPr lang="en-US" sz="3600" dirty="0"/>
              <a:t>Categorical representations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13314" name="Picture 2" descr="Amazon.com : World Political Map (36&quot; W x 26&quot; H) : Office Products">
            <a:extLst>
              <a:ext uri="{FF2B5EF4-FFF2-40B4-BE49-F238E27FC236}">
                <a16:creationId xmlns:a16="http://schemas.microsoft.com/office/drawing/2014/main" id="{46501D82-1F90-1B4A-BFE3-70E0FA65B7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53"/>
          <a:stretch/>
        </p:blipFill>
        <p:spPr bwMode="auto">
          <a:xfrm>
            <a:off x="7477623" y="2400301"/>
            <a:ext cx="4538165" cy="3643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60EFA37-39D8-FF4F-AC32-DAA10C8F2851}"/>
              </a:ext>
            </a:extLst>
          </p:cNvPr>
          <p:cNvSpPr txBox="1">
            <a:spLocks/>
          </p:cNvSpPr>
          <p:nvPr/>
        </p:nvSpPr>
        <p:spPr>
          <a:xfrm>
            <a:off x="838200" y="1692274"/>
            <a:ext cx="6639423" cy="5165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3600" b="1" dirty="0"/>
          </a:p>
          <a:p>
            <a:pPr lvl="1"/>
            <a:r>
              <a:rPr lang="en-US" sz="3200" dirty="0"/>
              <a:t>E.g., Birthplace</a:t>
            </a:r>
          </a:p>
          <a:p>
            <a:r>
              <a:rPr lang="en-US" sz="3600" dirty="0"/>
              <a:t>Qualitative</a:t>
            </a:r>
          </a:p>
          <a:p>
            <a:r>
              <a:rPr lang="en-US" sz="3600" dirty="0"/>
              <a:t>Each category is distinct</a:t>
            </a:r>
          </a:p>
          <a:p>
            <a:r>
              <a:rPr lang="en-US" sz="3600" dirty="0"/>
              <a:t>There is no order to the categories</a:t>
            </a:r>
          </a:p>
          <a:p>
            <a:r>
              <a:rPr lang="en-US" sz="3600" dirty="0"/>
              <a:t>Measure by counting how many participants responded per category</a:t>
            </a:r>
          </a:p>
          <a:p>
            <a:endParaRPr lang="en-US" sz="3600" dirty="0"/>
          </a:p>
          <a:p>
            <a:endParaRPr lang="en-US" sz="36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4710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EB64-AFE3-B64F-88C1-53F598E5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Scales of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545C1-E16C-7842-B236-40A581634B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Ordinal Scale: </a:t>
            </a:r>
            <a:r>
              <a:rPr lang="en-US" sz="3600" dirty="0"/>
              <a:t>Rank-ordered measure</a:t>
            </a:r>
          </a:p>
          <a:p>
            <a:pPr lvl="1"/>
            <a:r>
              <a:rPr lang="en-US" sz="3200" dirty="0"/>
              <a:t>E.g., Olympic medals</a:t>
            </a:r>
          </a:p>
          <a:p>
            <a:r>
              <a:rPr lang="en-US" sz="3600" dirty="0"/>
              <a:t>Qualitative</a:t>
            </a:r>
          </a:p>
          <a:p>
            <a:r>
              <a:rPr lang="en-US" sz="3600" dirty="0"/>
              <a:t>Each rank is distinct</a:t>
            </a:r>
          </a:p>
          <a:p>
            <a:r>
              <a:rPr lang="en-US" sz="3600" dirty="0"/>
              <a:t>There exists a relative order</a:t>
            </a:r>
          </a:p>
          <a:p>
            <a:r>
              <a:rPr lang="en-US" sz="3600" dirty="0"/>
              <a:t>No information about distance </a:t>
            </a:r>
          </a:p>
          <a:p>
            <a:pPr marL="0" indent="0">
              <a:buNone/>
            </a:pPr>
            <a:r>
              <a:rPr lang="en-US" sz="3600" dirty="0"/>
              <a:t>  between ranks</a:t>
            </a:r>
          </a:p>
          <a:p>
            <a:endParaRPr lang="en-US" sz="3600" dirty="0"/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14338" name="Picture 2" descr="To Win the Sales Race, Stop Thinking About Winning | Digital Dealer">
            <a:extLst>
              <a:ext uri="{FF2B5EF4-FFF2-40B4-BE49-F238E27FC236}">
                <a16:creationId xmlns:a16="http://schemas.microsoft.com/office/drawing/2014/main" id="{8B04F6E2-6012-294C-9BBD-8485E3D2A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1836" y="2486025"/>
            <a:ext cx="484822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62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EB64-AFE3-B64F-88C1-53F598E5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Scales of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545C1-E16C-7842-B236-40A581634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76913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Interval Scale: </a:t>
            </a:r>
            <a:r>
              <a:rPr lang="en-US" sz="3600" dirty="0"/>
              <a:t>Measure with meaningfully equal distances</a:t>
            </a:r>
          </a:p>
          <a:p>
            <a:pPr lvl="1"/>
            <a:r>
              <a:rPr lang="en-US" sz="3200" dirty="0"/>
              <a:t>E.g., Temperature in Celsius</a:t>
            </a:r>
          </a:p>
          <a:p>
            <a:r>
              <a:rPr lang="en-US" sz="3600" dirty="0"/>
              <a:t>Quantitative</a:t>
            </a:r>
          </a:p>
          <a:p>
            <a:r>
              <a:rPr lang="en-US" sz="3600" dirty="0"/>
              <a:t>There exists meaningful order</a:t>
            </a:r>
          </a:p>
          <a:p>
            <a:r>
              <a:rPr lang="en-US" sz="3600" dirty="0"/>
              <a:t>Distance between each value is equal</a:t>
            </a:r>
          </a:p>
          <a:p>
            <a:r>
              <a:rPr lang="en-US" sz="3600" dirty="0"/>
              <a:t>Does not have </a:t>
            </a:r>
            <a:r>
              <a:rPr lang="en-US" sz="3600" i="1" dirty="0"/>
              <a:t>meaningful</a:t>
            </a:r>
            <a:r>
              <a:rPr lang="en-US" sz="3600" dirty="0"/>
              <a:t> zero </a:t>
            </a:r>
          </a:p>
          <a:p>
            <a:pPr lvl="1"/>
            <a:r>
              <a:rPr lang="en-US" sz="3200" dirty="0"/>
              <a:t>i.e., absence of measure</a:t>
            </a:r>
          </a:p>
          <a:p>
            <a:pPr lvl="1"/>
            <a:r>
              <a:rPr lang="en-US" sz="3200" dirty="0"/>
              <a:t>Thus, cannot claim proportions</a:t>
            </a:r>
          </a:p>
          <a:p>
            <a:pPr lvl="2"/>
            <a:r>
              <a:rPr lang="en-US" sz="2800" dirty="0"/>
              <a:t>10°C is not twice as hot as 5°C</a:t>
            </a:r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15362" name="Picture 2" descr="What's the ideal temperature for running? - Canadian Running Magazine">
            <a:extLst>
              <a:ext uri="{FF2B5EF4-FFF2-40B4-BE49-F238E27FC236}">
                <a16:creationId xmlns:a16="http://schemas.microsoft.com/office/drawing/2014/main" id="{2F655415-2FFC-BF4D-BB60-9FE06DBE7F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6" t="16586" r="36599" b="8774"/>
          <a:stretch/>
        </p:blipFill>
        <p:spPr bwMode="auto">
          <a:xfrm>
            <a:off x="9558337" y="2426424"/>
            <a:ext cx="1685925" cy="4431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0782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EB64-AFE3-B64F-88C1-53F598E52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Scales of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545C1-E16C-7842-B236-40A581634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368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600" b="1" dirty="0"/>
              <a:t>Ratio Scale: </a:t>
            </a:r>
            <a:r>
              <a:rPr lang="en-US" sz="3600" dirty="0"/>
              <a:t>Measure with meaningfully equal distances</a:t>
            </a:r>
          </a:p>
          <a:p>
            <a:pPr lvl="1"/>
            <a:r>
              <a:rPr lang="en-US" sz="3200" dirty="0"/>
              <a:t>E.g., salary</a:t>
            </a:r>
          </a:p>
          <a:p>
            <a:r>
              <a:rPr lang="en-US" sz="3600" dirty="0"/>
              <a:t>Quantitative</a:t>
            </a:r>
          </a:p>
          <a:p>
            <a:r>
              <a:rPr lang="en-US" sz="3600" dirty="0"/>
              <a:t>There exists meaningful order</a:t>
            </a:r>
          </a:p>
          <a:p>
            <a:r>
              <a:rPr lang="en-US" sz="3600" dirty="0"/>
              <a:t>Distance between each value is equal</a:t>
            </a:r>
          </a:p>
          <a:p>
            <a:r>
              <a:rPr lang="en-US" sz="3600" dirty="0"/>
              <a:t>There exists a true zero</a:t>
            </a:r>
          </a:p>
          <a:p>
            <a:pPr lvl="1"/>
            <a:r>
              <a:rPr lang="en-US" sz="3200" dirty="0"/>
              <a:t>i.e., an absence of measure</a:t>
            </a:r>
          </a:p>
          <a:p>
            <a:pPr lvl="1"/>
            <a:r>
              <a:rPr lang="en-US" sz="3200" dirty="0"/>
              <a:t>Thus, can claim proportions</a:t>
            </a:r>
          </a:p>
          <a:p>
            <a:pPr lvl="2"/>
            <a:r>
              <a:rPr lang="en-US" sz="2800" dirty="0"/>
              <a:t>60 is twice as old as 30</a:t>
            </a:r>
            <a:endParaRPr lang="en-US" sz="3200" i="1" dirty="0"/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5F351F-178C-6651-EA17-A78C88A38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183" y="2560393"/>
            <a:ext cx="3956858" cy="4297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01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AA774-9FEE-2B7C-0282-3C2786AA6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CE6E-F9E5-7313-C9B8-99D1037F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Scales of Measurement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5E5EE-79DE-8E50-A75D-DBB2D5624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003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dirty="0"/>
              <a:t>Well-Standardized Scales: </a:t>
            </a:r>
            <a:r>
              <a:rPr lang="en-US" sz="3600" dirty="0"/>
              <a:t>A survey that has been carefully assessed and produces consistent, comparable, and reliable results</a:t>
            </a:r>
          </a:p>
          <a:p>
            <a:pPr lvl="1"/>
            <a:r>
              <a:rPr lang="en-US" sz="3200" dirty="0"/>
              <a:t>E.g., PHQ-9 (Depression survey)</a:t>
            </a:r>
          </a:p>
          <a:p>
            <a:r>
              <a:rPr lang="en-US" sz="3600" dirty="0"/>
              <a:t>Likert scales are considered an ordinal scale </a:t>
            </a:r>
          </a:p>
          <a:p>
            <a:r>
              <a:rPr lang="en-US" sz="3600" dirty="0"/>
              <a:t>However, if they are well-standardized, they are instead treated as an interval scale</a:t>
            </a:r>
          </a:p>
          <a:p>
            <a:pPr lvl="1"/>
            <a:endParaRPr lang="en-US" sz="3600" dirty="0"/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01BA3D0-75EF-5CA8-0724-EAA881D51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523144"/>
              </p:ext>
            </p:extLst>
          </p:nvPr>
        </p:nvGraphicFramePr>
        <p:xfrm>
          <a:off x="2032000" y="5302820"/>
          <a:ext cx="81280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0083668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703591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5152056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3756288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31697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Strongly Disagree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Disagree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Undecided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Agree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Strongly 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Agree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033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0769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95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65D539-D2CE-8AE6-D64F-0522D0872F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186581"/>
              </p:ext>
            </p:extLst>
          </p:nvPr>
        </p:nvGraphicFramePr>
        <p:xfrm>
          <a:off x="291580" y="1053363"/>
          <a:ext cx="11608840" cy="4751273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372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72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7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31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45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85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49814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Order of values 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Can quantify the difference between each 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Can add or subtract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Compute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Has a “true zero”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solidFill>
                            <a:schemeClr val="tx1"/>
                          </a:solidFill>
                        </a:rPr>
                        <a:t>Examples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328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Nationality, eye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colour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, marital status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328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Ordinal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Letter grades, SES, clothing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328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Interval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°C, date, IQ scores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328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Percentage grade, salary, height, length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70751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F6DAC35-1FD6-1F4B-B5FA-3EA2F825A010}"/>
              </a:ext>
            </a:extLst>
          </p:cNvPr>
          <p:cNvGrpSpPr/>
          <p:nvPr/>
        </p:nvGrpSpPr>
        <p:grpSpPr>
          <a:xfrm>
            <a:off x="645318" y="19862"/>
            <a:ext cx="11129963" cy="6854170"/>
            <a:chOff x="-1021591" y="-1500809"/>
            <a:chExt cx="17635882" cy="10860713"/>
          </a:xfrm>
        </p:grpSpPr>
        <p:pic>
          <p:nvPicPr>
            <p:cNvPr id="5" name="Picture 4" descr="Text&#10;&#10;Description automatically generated with medium confidence">
              <a:extLst>
                <a:ext uri="{FF2B5EF4-FFF2-40B4-BE49-F238E27FC236}">
                  <a16:creationId xmlns:a16="http://schemas.microsoft.com/office/drawing/2014/main" id="{B6C939F2-054D-C540-8471-22CA79E37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021589" y="-1435098"/>
              <a:ext cx="7962900" cy="5384801"/>
            </a:xfrm>
            <a:prstGeom prst="rect">
              <a:avLst/>
            </a:prstGeom>
          </p:spPr>
        </p:pic>
        <p:pic>
          <p:nvPicPr>
            <p:cNvPr id="7" name="Picture 6" descr="A picture containing text, person, screenshot&#10;&#10;Description automatically generated">
              <a:extLst>
                <a:ext uri="{FF2B5EF4-FFF2-40B4-BE49-F238E27FC236}">
                  <a16:creationId xmlns:a16="http://schemas.microsoft.com/office/drawing/2014/main" id="{6B7CACF8-C254-A34A-AE10-D94B8F4FB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35491" y="-1500809"/>
              <a:ext cx="8178800" cy="5397500"/>
            </a:xfrm>
            <a:prstGeom prst="rect">
              <a:avLst/>
            </a:prstGeom>
          </p:spPr>
        </p:pic>
        <p:pic>
          <p:nvPicPr>
            <p:cNvPr id="9" name="Picture 8" descr="Graphical user interface, application&#10;&#10;Description automatically generated">
              <a:extLst>
                <a:ext uri="{FF2B5EF4-FFF2-40B4-BE49-F238E27FC236}">
                  <a16:creationId xmlns:a16="http://schemas.microsoft.com/office/drawing/2014/main" id="{9CA8FAE6-A40B-6D4B-BD11-7214A921AF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021591" y="3962403"/>
              <a:ext cx="7962900" cy="5397501"/>
            </a:xfrm>
            <a:prstGeom prst="rect">
              <a:avLst/>
            </a:prstGeom>
          </p:spPr>
        </p:pic>
        <p:pic>
          <p:nvPicPr>
            <p:cNvPr id="11" name="Picture 10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23659A93-7209-F448-B35B-C023DB316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64091" y="3924301"/>
              <a:ext cx="7950200" cy="5410200"/>
            </a:xfrm>
            <a:prstGeom prst="rect">
              <a:avLst/>
            </a:prstGeom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020049-34FE-3749-821C-2653B0494D61}"/>
              </a:ext>
            </a:extLst>
          </p:cNvPr>
          <p:cNvCxnSpPr/>
          <p:nvPr/>
        </p:nvCxnSpPr>
        <p:spPr>
          <a:xfrm>
            <a:off x="0" y="3451651"/>
            <a:ext cx="1219200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B1BEF97-68C5-E841-B281-9E132A3C452C}"/>
              </a:ext>
            </a:extLst>
          </p:cNvPr>
          <p:cNvCxnSpPr>
            <a:cxnSpLocks/>
          </p:cNvCxnSpPr>
          <p:nvPr/>
        </p:nvCxnSpPr>
        <p:spPr>
          <a:xfrm>
            <a:off x="6027873" y="45301"/>
            <a:ext cx="0" cy="68126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24D83B-05BD-0A8F-B531-BD3DEC6303DD}"/>
              </a:ext>
            </a:extLst>
          </p:cNvPr>
          <p:cNvSpPr txBox="1"/>
          <p:nvPr/>
        </p:nvSpPr>
        <p:spPr>
          <a:xfrm>
            <a:off x="8906493" y="6553982"/>
            <a:ext cx="3384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You do not need to learn this slide</a:t>
            </a:r>
          </a:p>
        </p:txBody>
      </p:sp>
    </p:spTree>
    <p:extLst>
      <p:ext uri="{BB962C8B-B14F-4D97-AF65-F5344CB8AC3E}">
        <p14:creationId xmlns:p14="http://schemas.microsoft.com/office/powerpoint/2010/main" val="41779461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33129-C00B-120B-3925-17A6B35FB5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</p:spTree>
    <p:extLst>
      <p:ext uri="{BB962C8B-B14F-4D97-AF65-F5344CB8AC3E}">
        <p14:creationId xmlns:p14="http://schemas.microsoft.com/office/powerpoint/2010/main" val="5168810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F4E0D-0815-ADB4-D56E-FD719151B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Resources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2729C82E-19D3-056E-E197-06D25918A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833" y="1822077"/>
            <a:ext cx="7624333" cy="428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4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c61d377-9894-427c-b13b-1d6a51662b4e}" enabled="0" method="" siteId="{9c61d377-9894-427c-b13b-1d6a51662b4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455</TotalTime>
  <Words>1164</Words>
  <Application>Microsoft Office PowerPoint</Application>
  <PresentationFormat>Widescreen</PresentationFormat>
  <Paragraphs>263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Office Theme</vt:lpstr>
      <vt:lpstr>Basics of  Measurement</vt:lpstr>
      <vt:lpstr>PowerPoint Presentation</vt:lpstr>
      <vt:lpstr>PowerPoint Presentation</vt:lpstr>
      <vt:lpstr>Types of Statistics</vt:lpstr>
      <vt:lpstr>Types of NHST Statistics</vt:lpstr>
      <vt:lpstr>Types of NHST Statistics</vt:lpstr>
      <vt:lpstr>PowerPoint Presentation</vt:lpstr>
      <vt:lpstr>PowerPoint Presentation</vt:lpstr>
      <vt:lpstr>Research Design</vt:lpstr>
      <vt:lpstr>Research Design</vt:lpstr>
      <vt:lpstr>Research Design</vt:lpstr>
      <vt:lpstr>Research Design</vt:lpstr>
      <vt:lpstr>PowerPoint Presentation</vt:lpstr>
      <vt:lpstr>Research Design</vt:lpstr>
      <vt:lpstr>Research Design</vt:lpstr>
      <vt:lpstr>Research Design</vt:lpstr>
      <vt:lpstr>Population and Sample</vt:lpstr>
      <vt:lpstr>Population and Sample</vt:lpstr>
      <vt:lpstr>Population and Sample</vt:lpstr>
      <vt:lpstr>PowerPoint Presentation</vt:lpstr>
      <vt:lpstr>Numerals vs Numbers </vt:lpstr>
      <vt:lpstr>Numbers</vt:lpstr>
      <vt:lpstr>Numbers</vt:lpstr>
      <vt:lpstr>Numbers</vt:lpstr>
      <vt:lpstr>Numbers</vt:lpstr>
      <vt:lpstr>Datum and Data</vt:lpstr>
      <vt:lpstr>Measurement Error</vt:lpstr>
      <vt:lpstr>Measurement Error</vt:lpstr>
      <vt:lpstr>Measurement Error</vt:lpstr>
      <vt:lpstr>PowerPoint Presentation</vt:lpstr>
      <vt:lpstr>Scales of Measurement</vt:lpstr>
      <vt:lpstr>Scales of Measurement</vt:lpstr>
      <vt:lpstr>Scales of Measurement</vt:lpstr>
      <vt:lpstr>Scales of Measurement</vt:lpstr>
      <vt:lpstr>Scales of Measurement</vt:lpstr>
      <vt:lpstr>Scales of Measurement</vt:lpstr>
      <vt:lpstr>PowerPoint Presentation</vt:lpstr>
      <vt:lpstr>PowerPoint Presentation</vt:lpstr>
      <vt:lpstr>Extra Resources</vt:lpstr>
      <vt:lpstr>Extra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Chad Williams</cp:lastModifiedBy>
  <cp:revision>136</cp:revision>
  <dcterms:created xsi:type="dcterms:W3CDTF">2021-05-09T21:31:49Z</dcterms:created>
  <dcterms:modified xsi:type="dcterms:W3CDTF">2026-08-20T19:37:46Z</dcterms:modified>
</cp:coreProperties>
</file>