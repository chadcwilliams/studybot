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7" r:id="rId2"/>
    <p:sldId id="280" r:id="rId3"/>
    <p:sldId id="336" r:id="rId4"/>
    <p:sldId id="315" r:id="rId5"/>
    <p:sldId id="335" r:id="rId6"/>
    <p:sldId id="317" r:id="rId7"/>
    <p:sldId id="263" r:id="rId8"/>
    <p:sldId id="264" r:id="rId9"/>
    <p:sldId id="265" r:id="rId10"/>
    <p:sldId id="266" r:id="rId11"/>
    <p:sldId id="299" r:id="rId12"/>
    <p:sldId id="308" r:id="rId13"/>
    <p:sldId id="309" r:id="rId14"/>
    <p:sldId id="337" r:id="rId15"/>
    <p:sldId id="318" r:id="rId16"/>
    <p:sldId id="320" r:id="rId17"/>
    <p:sldId id="321" r:id="rId18"/>
    <p:sldId id="338" r:id="rId19"/>
    <p:sldId id="329" r:id="rId20"/>
    <p:sldId id="267" r:id="rId21"/>
    <p:sldId id="330" r:id="rId22"/>
    <p:sldId id="331" r:id="rId23"/>
    <p:sldId id="333" r:id="rId24"/>
    <p:sldId id="340" r:id="rId25"/>
    <p:sldId id="368" r:id="rId26"/>
    <p:sldId id="373" r:id="rId27"/>
    <p:sldId id="352" r:id="rId28"/>
    <p:sldId id="272" r:id="rId29"/>
    <p:sldId id="258" r:id="rId30"/>
    <p:sldId id="273" r:id="rId31"/>
    <p:sldId id="367" r:id="rId32"/>
    <p:sldId id="342" r:id="rId33"/>
    <p:sldId id="347" r:id="rId34"/>
    <p:sldId id="359" r:id="rId35"/>
    <p:sldId id="349" r:id="rId36"/>
    <p:sldId id="283" r:id="rId37"/>
    <p:sldId id="369" r:id="rId38"/>
    <p:sldId id="364" r:id="rId39"/>
    <p:sldId id="370" r:id="rId40"/>
    <p:sldId id="355" r:id="rId41"/>
    <p:sldId id="353" r:id="rId42"/>
    <p:sldId id="356" r:id="rId43"/>
    <p:sldId id="357" r:id="rId44"/>
    <p:sldId id="365" r:id="rId45"/>
    <p:sldId id="371" r:id="rId46"/>
    <p:sldId id="277" r:id="rId47"/>
    <p:sldId id="363" r:id="rId48"/>
    <p:sldId id="310" r:id="rId49"/>
    <p:sldId id="366" r:id="rId50"/>
    <p:sldId id="313" r:id="rId51"/>
    <p:sldId id="288" r:id="rId52"/>
    <p:sldId id="372" r:id="rId53"/>
    <p:sldId id="38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a:srgbClr val="AB861E"/>
    <a:srgbClr val="4472C4"/>
    <a:srgbClr val="E59883"/>
    <a:srgbClr val="156082"/>
    <a:srgbClr val="9E7800"/>
    <a:srgbClr val="0B76A0"/>
    <a:srgbClr val="61CBF4"/>
    <a:srgbClr val="BBB70D"/>
    <a:srgbClr val="DEDE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0037AD-B819-413D-BA09-B1F059CC0EB2}" v="1" dt="2026-07-28T22:00:43.5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9091" autoAdjust="0"/>
    <p:restoredTop sz="94660"/>
  </p:normalViewPr>
  <p:slideViewPr>
    <p:cSldViewPr snapToGrid="0">
      <p:cViewPr varScale="1">
        <p:scale>
          <a:sx n="102" d="100"/>
          <a:sy n="102" d="100"/>
        </p:scale>
        <p:origin x="80" y="43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redo custSel addSld delSld modSld sldOrd">
      <pc:chgData name="Chad Williams" userId="618f96a3-8672-4e43-ae03-eeed93bb7387" providerId="ADAL" clId="{DFF2BB08-185E-495B-B2A0-BE0942C7B81E}" dt="2026-07-28T22:01:56.727" v="33044" actId="20577"/>
      <pc:docMkLst>
        <pc:docMk/>
      </pc:docMkLst>
      <pc:sldChg chg="modSp add mod">
        <pc:chgData name="Chad Williams" userId="618f96a3-8672-4e43-ae03-eeed93bb7387" providerId="ADAL" clId="{DFF2BB08-185E-495B-B2A0-BE0942C7B81E}" dt="2026-07-28T22:01:56.727" v="33044" actId="20577"/>
        <pc:sldMkLst>
          <pc:docMk/>
          <pc:sldMk cId="1446489920" sldId="382"/>
        </pc:sldMkLst>
        <pc:spChg chg="mod">
          <ac:chgData name="Chad Williams" userId="618f96a3-8672-4e43-ae03-eeed93bb7387" providerId="ADAL" clId="{DFF2BB08-185E-495B-B2A0-BE0942C7B81E}" dt="2026-07-28T22:01:56.727" v="33044" actId="20577"/>
          <ac:spMkLst>
            <pc:docMk/>
            <pc:sldMk cId="1446489920" sldId="382"/>
            <ac:spMk id="5" creationId="{67F61BB8-1FC1-AFE2-DABD-CEF63125C9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58E55-DF54-4DED-9AD7-D46FCB7DC95A}"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5B977-0B2D-4610-A9FA-D6352649F8AC}" type="slidenum">
              <a:rPr lang="en-US" smtClean="0"/>
              <a:t>‹#›</a:t>
            </a:fld>
            <a:endParaRPr lang="en-US"/>
          </a:p>
        </p:txBody>
      </p:sp>
    </p:spTree>
    <p:extLst>
      <p:ext uri="{BB962C8B-B14F-4D97-AF65-F5344CB8AC3E}">
        <p14:creationId xmlns:p14="http://schemas.microsoft.com/office/powerpoint/2010/main" val="410549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23</a:t>
            </a:fld>
            <a:endParaRPr lang="en-US"/>
          </a:p>
        </p:txBody>
      </p:sp>
    </p:spTree>
    <p:extLst>
      <p:ext uri="{BB962C8B-B14F-4D97-AF65-F5344CB8AC3E}">
        <p14:creationId xmlns:p14="http://schemas.microsoft.com/office/powerpoint/2010/main" val="804753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53</a:t>
            </a:fld>
            <a:endParaRPr lang="en-US"/>
          </a:p>
        </p:txBody>
      </p:sp>
    </p:spTree>
    <p:extLst>
      <p:ext uri="{BB962C8B-B14F-4D97-AF65-F5344CB8AC3E}">
        <p14:creationId xmlns:p14="http://schemas.microsoft.com/office/powerpoint/2010/main" val="3417364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CC9F-153C-5BED-77D1-0EA8FA851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AFA1B-9317-E4FA-9E5F-71F307F14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BA73E4-6544-A008-5669-868A3733E124}"/>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ECEB6D09-B653-253C-7468-CB695721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3E8E0-BCE4-8E2F-3CAF-4A0155F06C56}"/>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63491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D079-863E-8E80-51B0-7CE72BACC0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03BEF-88ED-FA81-799F-132222CC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72EFB-BE09-46CC-5EB5-923F524CE21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4826EFA9-57FE-A7B8-0152-0677077C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A541-BCB9-1489-0D4F-34671F1D1B0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0467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1885-73A8-5C98-F85B-FD93EF337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C37A30-0AAF-9C64-D450-3D3E62C2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A13C8-8130-0C7A-54B4-8B2AA151012C}"/>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3FD934BF-4EF4-090A-5327-72E3A111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C1FC7-CF5C-AD75-EEBC-C726161ED01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4678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A28B-31B8-90E0-AADB-E4AC95AD4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A5B33-9A1F-2B19-2C08-444D6F7E5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6D7EEE-51DA-00F0-2BC4-0203809C71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B6CCE-3D6C-9C92-E8CD-17CF1A156521}"/>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67C9986-80E1-876A-BDE4-EF8F4D69C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FCFA4-1493-0C60-41EB-5E0360F8EA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20551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F673-6B17-CAA7-EDD6-EB6A46BEC5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42013-5E11-D28F-B4C3-E07D6D43A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4C146-9506-960E-B2C6-114BA150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EBEDC7-17C2-A78A-F73C-3BFFAAC16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650B-E297-256A-06A0-1688F7254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1E005-308A-9E31-CDC4-583D302CCF90}"/>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8" name="Footer Placeholder 7">
            <a:extLst>
              <a:ext uri="{FF2B5EF4-FFF2-40B4-BE49-F238E27FC236}">
                <a16:creationId xmlns:a16="http://schemas.microsoft.com/office/drawing/2014/main" id="{4888BA9C-2513-9724-E7D8-B6AEAE22AF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60F89A-69C7-2DC4-2A67-FB0B568A64EF}"/>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3902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9B60-4ECB-D4C5-8F9C-72E834BA5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469B5F-2004-DA7B-ABF6-7D712B038AE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4" name="Footer Placeholder 3">
            <a:extLst>
              <a:ext uri="{FF2B5EF4-FFF2-40B4-BE49-F238E27FC236}">
                <a16:creationId xmlns:a16="http://schemas.microsoft.com/office/drawing/2014/main" id="{EA00A102-A3B7-C8B1-77C9-E4C9BB985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487EC4-7497-0271-3E6A-E842B57483B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02066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70430-559B-8C59-E57F-58CA50ADF97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3" name="Footer Placeholder 2">
            <a:extLst>
              <a:ext uri="{FF2B5EF4-FFF2-40B4-BE49-F238E27FC236}">
                <a16:creationId xmlns:a16="http://schemas.microsoft.com/office/drawing/2014/main" id="{A5199E04-CCEF-3AEF-0EB8-28DACA6714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C6E08-EFFD-76A2-23F6-9951F33CF72A}"/>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5277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80C6-0265-BCB2-D248-70F79E4FA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128-5EA3-9110-61E8-6E54054C5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DFD61-4640-6E89-117E-8033F215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AE60-E065-FA6D-E126-F6A63283DD6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1E7DA105-935B-CDCB-5819-3E9730FC0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2526E-01B6-82CE-B0F6-217F7B28CF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565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489F-F723-CF7F-7BF9-B198245EF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D3A86-032B-BCD7-6A72-9F5BEBC9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6F5CEA-D30D-B373-82E9-DCD1FAE80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9203E-0C3D-FD43-06CF-BFC0FE6F73A7}"/>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D0392B7-3636-A5E9-BA01-ECA6E682D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85FEB-1518-7D4D-8A18-4FE72BCE5F6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96254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8754-A5FA-D976-080B-7F0E83EF7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D0E94-9358-341D-4038-E76888268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95BA3-992C-3CDB-41CD-646B7C252618}"/>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6EAEFD14-CAE1-5E67-18B9-50B714E3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5021C-74B3-CB99-976A-1F95B561168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99563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E7540-105A-F4AF-F5BE-95400982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61B68-319D-3491-F4AB-52C88C4C7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48040-C41C-A2CF-88F3-C132E0479FCB}"/>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ADDF7DA8-1DE6-4EA3-1B7F-D800D360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BA4F0-46E8-02C8-7D5F-BE788AB8E0D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5055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EC4E-DC2D-5EE1-5C7A-4C2592957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D4BA5-8DC3-EE54-47B9-587EBF40A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1E6DD-3F7D-93DE-45F6-7A594444F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C9C9E689-9319-DF25-D096-A79BFECCE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9A93C1-3576-E67E-2759-17A9F78C5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13C4C-01C6-4528-B855-C0BB2AC8454B}" type="slidenum">
              <a:rPr lang="en-US" smtClean="0"/>
              <a:t>‹#›</a:t>
            </a:fld>
            <a:endParaRPr lang="en-US"/>
          </a:p>
        </p:txBody>
      </p:sp>
    </p:spTree>
    <p:extLst>
      <p:ext uri="{BB962C8B-B14F-4D97-AF65-F5344CB8AC3E}">
        <p14:creationId xmlns:p14="http://schemas.microsoft.com/office/powerpoint/2010/main" val="1616205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ideo" Target="https://www.youtube.com/embed/gSmf7W3DUjs?feature=oembed"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22.png"/><Relationship Id="rId4" Type="http://schemas.microsoft.com/office/2007/relationships/hdphoto" Target="../media/hdphoto1.wdp"/></Relationships>
</file>

<file path=ppt/slides/_rels/slide5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Attention &amp; </a:t>
            </a:r>
            <a:br>
              <a:rPr lang="en-US" sz="4800" b="1" dirty="0">
                <a:latin typeface="Calibri" panose="020F0502020204030204" pitchFamily="34" charset="0"/>
                <a:cs typeface="Calibri" panose="020F0502020204030204" pitchFamily="34" charset="0"/>
              </a:rPr>
            </a:br>
            <a:r>
              <a:rPr lang="en-US" sz="4800" b="1">
                <a:latin typeface="Calibri" panose="020F0502020204030204" pitchFamily="34" charset="0"/>
                <a:cs typeface="Calibri" panose="020F0502020204030204" pitchFamily="34" charset="0"/>
              </a:rPr>
              <a:t>Executive Control</a:t>
            </a:r>
            <a:endParaRPr lang="en-US" sz="4800" b="1" dirty="0">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pic>
        <p:nvPicPr>
          <p:cNvPr id="10" name="Picture 9" descr="A colorful and black and white brain&#10;&#10;AI-generated content may be incorrect.">
            <a:extLst>
              <a:ext uri="{FF2B5EF4-FFF2-40B4-BE49-F238E27FC236}">
                <a16:creationId xmlns:a16="http://schemas.microsoft.com/office/drawing/2014/main" id="{2517674F-1EF5-6501-66B2-CCB81D59B9A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E4F8C96-B1F8-F340-9530-E0398316CFA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Attention</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Endogenous &amp; Exogenous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Visual Search</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Attentional Components</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Executive Functioning</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Effort</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Control</a:t>
            </a:r>
          </a:p>
        </p:txBody>
      </p:sp>
      <p:pic>
        <p:nvPicPr>
          <p:cNvPr id="2" name="Picture 1" descr="A colorful and black and white brain&#10;&#10;AI-generated content may be incorrect.">
            <a:extLst>
              <a:ext uri="{FF2B5EF4-FFF2-40B4-BE49-F238E27FC236}">
                <a16:creationId xmlns:a16="http://schemas.microsoft.com/office/drawing/2014/main" id="{FF63C198-1FEA-CEA5-594F-622A66BCB8F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97783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EB5F-8FD8-D386-AC9F-6E898E7F5A54}"/>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2319C8E6-6E4C-BB33-2981-7A69322E26C6}"/>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solidFill>
                <a:srgbClr val="FF0000"/>
              </a:solidFill>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Attention</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Endogenous &amp; Exogenous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Visual Search</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Attentional Components</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Executive Functioning</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Effort</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Control</a:t>
            </a:r>
          </a:p>
        </p:txBody>
      </p:sp>
      <p:pic>
        <p:nvPicPr>
          <p:cNvPr id="2" name="Picture 1" descr="A colorful and black and white brain&#10;&#10;AI-generated content may be incorrect.">
            <a:extLst>
              <a:ext uri="{FF2B5EF4-FFF2-40B4-BE49-F238E27FC236}">
                <a16:creationId xmlns:a16="http://schemas.microsoft.com/office/drawing/2014/main" id="{A2683DC7-E4B0-33ED-27D7-E00AFBB907DE}"/>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842034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D434E-6AF4-E428-69F3-1F95D88D1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0B1C8-E800-ACB1-EE4B-B8E83EDA5B1D}"/>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0F8138E4-24A8-A808-6B9F-2384B79C1F80}"/>
              </a:ext>
            </a:extLst>
          </p:cNvPr>
          <p:cNvSpPr>
            <a:spLocks noGrp="1"/>
          </p:cNvSpPr>
          <p:nvPr>
            <p:ph idx="1"/>
          </p:nvPr>
        </p:nvSpPr>
        <p:spPr>
          <a:xfrm>
            <a:off x="838200" y="1825625"/>
            <a:ext cx="7757160" cy="4616470"/>
          </a:xfrm>
        </p:spPr>
        <p:txBody>
          <a:bodyPr>
            <a:normAutofit fontScale="92500" lnSpcReduction="20000"/>
          </a:bodyPr>
          <a:lstStyle/>
          <a:p>
            <a:pPr marL="0" indent="0">
              <a:buNone/>
            </a:pPr>
            <a:r>
              <a:rPr lang="en-US" b="1" dirty="0"/>
              <a:t>Attention</a:t>
            </a:r>
            <a:r>
              <a:rPr lang="en-US" dirty="0"/>
              <a:t>: Process where we focus on one or more specific internal or external stimuli to enhance analysis</a:t>
            </a:r>
          </a:p>
          <a:p>
            <a:r>
              <a:rPr lang="en-US" b="1" dirty="0"/>
              <a:t>Overt Attention</a:t>
            </a:r>
            <a:r>
              <a:rPr lang="en-US" dirty="0"/>
              <a:t>: Attention in focus of senses</a:t>
            </a:r>
          </a:p>
          <a:p>
            <a:r>
              <a:rPr lang="en-US" b="1" dirty="0"/>
              <a:t>Covert Attention</a:t>
            </a:r>
            <a:r>
              <a:rPr lang="en-US" dirty="0"/>
              <a:t>: Attention not in focus of senses</a:t>
            </a:r>
          </a:p>
          <a:p>
            <a:pPr marL="0" indent="0">
              <a:buNone/>
            </a:pPr>
            <a:endParaRPr lang="en-US" dirty="0"/>
          </a:p>
          <a:p>
            <a:r>
              <a:rPr lang="en-CA" b="1" dirty="0"/>
              <a:t>Limits of Attention: </a:t>
            </a:r>
            <a:r>
              <a:rPr lang="en-CA" dirty="0"/>
              <a:t>Attention is limited in how many things it can focus on simultaneously</a:t>
            </a:r>
          </a:p>
          <a:p>
            <a:pPr lvl="1"/>
            <a:r>
              <a:rPr lang="en-CA" dirty="0"/>
              <a:t>Difficult to focus on more than one thing</a:t>
            </a:r>
          </a:p>
          <a:p>
            <a:pPr lvl="1"/>
            <a:r>
              <a:rPr lang="en-CA" b="1" dirty="0"/>
              <a:t>Attentional Spotlight</a:t>
            </a:r>
            <a:r>
              <a:rPr lang="en-CA" dirty="0"/>
              <a:t>: Metaphor for how we selectively focus our attention</a:t>
            </a:r>
          </a:p>
          <a:p>
            <a:pPr lvl="2"/>
            <a:r>
              <a:rPr lang="en-CA" dirty="0"/>
              <a:t>Attend relevant stimuli</a:t>
            </a:r>
          </a:p>
          <a:p>
            <a:pPr lvl="2"/>
            <a:r>
              <a:rPr lang="en-CA" dirty="0"/>
              <a:t>Ignore irrelevant stimuli</a:t>
            </a:r>
          </a:p>
          <a:p>
            <a:pPr lvl="1"/>
            <a:endParaRPr lang="en-CA" dirty="0"/>
          </a:p>
          <a:p>
            <a:endParaRPr lang="en-US" dirty="0"/>
          </a:p>
          <a:p>
            <a:endParaRPr lang="en-US" dirty="0"/>
          </a:p>
        </p:txBody>
      </p:sp>
      <p:pic>
        <p:nvPicPr>
          <p:cNvPr id="5" name="Picture 1" descr="Illustration shows Helmholtz’s visual attention experiment.&#10;A man is gazing at a group of letters projected on the wall. The trajector of his gaze of eyes and location attended (covertly) is marked on the wall.">
            <a:extLst>
              <a:ext uri="{FF2B5EF4-FFF2-40B4-BE49-F238E27FC236}">
                <a16:creationId xmlns:a16="http://schemas.microsoft.com/office/drawing/2014/main" id="{55B174C5-DAAB-8742-DEF8-FF37C4AAB50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689041" y="1509714"/>
            <a:ext cx="3364209" cy="4667249"/>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894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57BD5-5218-FB6B-B012-5181BFA2F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B438F-5E4F-0134-0B40-DEFBB9A251B6}"/>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044903A3-AE58-6D08-43E9-82030AA6A591}"/>
              </a:ext>
            </a:extLst>
          </p:cNvPr>
          <p:cNvSpPr>
            <a:spLocks noGrp="1"/>
          </p:cNvSpPr>
          <p:nvPr>
            <p:ph idx="1"/>
          </p:nvPr>
        </p:nvSpPr>
        <p:spPr>
          <a:xfrm>
            <a:off x="838200" y="1825625"/>
            <a:ext cx="7757160" cy="4616470"/>
          </a:xfrm>
        </p:spPr>
        <p:txBody>
          <a:bodyPr>
            <a:normAutofit/>
          </a:bodyPr>
          <a:lstStyle/>
          <a:p>
            <a:pPr marL="0" indent="0">
              <a:buNone/>
            </a:pPr>
            <a:r>
              <a:rPr lang="en-US" b="1" dirty="0"/>
              <a:t>Attention</a:t>
            </a:r>
          </a:p>
          <a:p>
            <a:r>
              <a:rPr lang="en-CA" b="1" dirty="0"/>
              <a:t>Endogenous Attention</a:t>
            </a:r>
            <a:r>
              <a:rPr lang="en-CA" dirty="0"/>
              <a:t>: Top-down, goal-driven process</a:t>
            </a:r>
          </a:p>
          <a:p>
            <a:pPr lvl="1"/>
            <a:r>
              <a:rPr lang="en-CA" dirty="0"/>
              <a:t>Voluntary attention</a:t>
            </a:r>
          </a:p>
          <a:p>
            <a:pPr lvl="1"/>
            <a:r>
              <a:rPr lang="en-CA" dirty="0"/>
              <a:t>Ability to intentionally attend to something</a:t>
            </a:r>
          </a:p>
          <a:p>
            <a:endParaRPr lang="en-CA" dirty="0"/>
          </a:p>
          <a:p>
            <a:r>
              <a:rPr lang="en-CA" b="1" dirty="0"/>
              <a:t>Exogenous Attention</a:t>
            </a:r>
            <a:r>
              <a:rPr lang="en-CA" dirty="0"/>
              <a:t>: Bottom-up, stimulus driven process</a:t>
            </a:r>
          </a:p>
          <a:p>
            <a:pPr lvl="1"/>
            <a:r>
              <a:rPr lang="en-CA" dirty="0"/>
              <a:t>Involuntary attention</a:t>
            </a:r>
          </a:p>
          <a:p>
            <a:pPr lvl="1"/>
            <a:r>
              <a:rPr lang="en-CA" dirty="0"/>
              <a:t>Pulling attention away from task</a:t>
            </a:r>
          </a:p>
          <a:p>
            <a:pPr lvl="1"/>
            <a:endParaRPr lang="en-CA" dirty="0"/>
          </a:p>
          <a:p>
            <a:endParaRPr lang="en-US" dirty="0"/>
          </a:p>
          <a:p>
            <a:endParaRPr lang="en-US" dirty="0"/>
          </a:p>
        </p:txBody>
      </p:sp>
      <p:pic>
        <p:nvPicPr>
          <p:cNvPr id="4" name="Picture 1" descr="Photo of a woman looking into her phone while driving a car and about to dash into another car whose driver is looking at her with shock.">
            <a:extLst>
              <a:ext uri="{FF2B5EF4-FFF2-40B4-BE49-F238E27FC236}">
                <a16:creationId xmlns:a16="http://schemas.microsoft.com/office/drawing/2014/main" id="{C1FD7BCC-93CD-7BDA-2682-6A1D6795893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42323" y="1439228"/>
            <a:ext cx="3092502" cy="481218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3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379B6-3F28-E64D-A00F-9A9ADFE5A8C4}"/>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30BF491F-CD2B-2544-BCEC-DEB292D1A1F9}"/>
              </a:ext>
            </a:extLst>
          </p:cNvPr>
          <p:cNvSpPr>
            <a:spLocks noGrp="1"/>
          </p:cNvSpPr>
          <p:nvPr>
            <p:ph idx="1"/>
          </p:nvPr>
        </p:nvSpPr>
        <p:spPr>
          <a:xfrm>
            <a:off x="838200" y="1825624"/>
            <a:ext cx="7043057" cy="5032375"/>
          </a:xfrm>
        </p:spPr>
        <p:txBody>
          <a:bodyPr>
            <a:normAutofit/>
          </a:bodyPr>
          <a:lstStyle/>
          <a:p>
            <a:pPr marL="0" indent="0">
              <a:buNone/>
            </a:pPr>
            <a:r>
              <a:rPr lang="en-CA" b="1" dirty="0"/>
              <a:t>Endogenous Attention</a:t>
            </a:r>
          </a:p>
          <a:p>
            <a:r>
              <a:rPr lang="en-CA" b="1" dirty="0"/>
              <a:t>Posner et al., 1980:</a:t>
            </a:r>
          </a:p>
          <a:p>
            <a:pPr lvl="1"/>
            <a:r>
              <a:rPr lang="en-CA" b="1" dirty="0"/>
              <a:t>Research Question: </a:t>
            </a:r>
            <a:r>
              <a:rPr lang="en-CA" dirty="0"/>
              <a:t>Can we intentionally allocate our attention?</a:t>
            </a:r>
          </a:p>
          <a:p>
            <a:pPr lvl="1"/>
            <a:endParaRPr lang="en-CA" b="1" dirty="0"/>
          </a:p>
          <a:p>
            <a:pPr lvl="1"/>
            <a:r>
              <a:rPr lang="en-CA" b="1" dirty="0"/>
              <a:t>Task: </a:t>
            </a:r>
            <a:r>
              <a:rPr lang="en-CA" dirty="0"/>
              <a:t>Cued, left or right, with an arrow and then to respond to a target that is either on the left or right of the screen</a:t>
            </a:r>
          </a:p>
          <a:p>
            <a:pPr lvl="1"/>
            <a:endParaRPr lang="en-CA" dirty="0"/>
          </a:p>
          <a:p>
            <a:pPr lvl="1"/>
            <a:r>
              <a:rPr lang="en-CA" b="1" dirty="0"/>
              <a:t>IV</a:t>
            </a:r>
            <a:r>
              <a:rPr lang="en-CA" dirty="0"/>
              <a:t>: Whether the cue correctly identified the location of the target (valid) or not (invalid) or was noninformative (neutral)</a:t>
            </a:r>
            <a:endParaRPr lang="en-US" dirty="0"/>
          </a:p>
        </p:txBody>
      </p:sp>
      <p:pic>
        <p:nvPicPr>
          <p:cNvPr id="15" name="Picture 1" descr="Illustrations show spatial cuing paradigm&#10;Valid trial has a rightward moving sign and a box. Invalid trial has a leftward moving sign and a box. Neutral trial has a bothsides moving sign and a box. Cues are at left and targets are at right.">
            <a:extLst>
              <a:ext uri="{FF2B5EF4-FFF2-40B4-BE49-F238E27FC236}">
                <a16:creationId xmlns:a16="http://schemas.microsoft.com/office/drawing/2014/main" id="{B4C26183-5C98-7740-9D69-220261488B5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762413" y="2205037"/>
            <a:ext cx="4342503" cy="435133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80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E170CC-70BD-8E4E-B808-55EB2EC5F619}"/>
              </a:ext>
            </a:extLst>
          </p:cNvPr>
          <p:cNvSpPr/>
          <p:nvPr/>
        </p:nvSpPr>
        <p:spPr>
          <a:xfrm>
            <a:off x="0" y="0"/>
            <a:ext cx="12192000" cy="6858000"/>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600" dirty="0"/>
              <a:t>+</a:t>
            </a:r>
          </a:p>
        </p:txBody>
      </p:sp>
      <p:sp>
        <p:nvSpPr>
          <p:cNvPr id="5" name="Oval 4">
            <a:extLst>
              <a:ext uri="{FF2B5EF4-FFF2-40B4-BE49-F238E27FC236}">
                <a16:creationId xmlns:a16="http://schemas.microsoft.com/office/drawing/2014/main" id="{7E18FFC3-7FC3-1344-AD52-BDE3F77E3214}"/>
              </a:ext>
            </a:extLst>
          </p:cNvPr>
          <p:cNvSpPr/>
          <p:nvPr/>
        </p:nvSpPr>
        <p:spPr>
          <a:xfrm>
            <a:off x="537029" y="3135087"/>
            <a:ext cx="885371" cy="885371"/>
          </a:xfrm>
          <a:prstGeom prst="ellipse">
            <a:avLst/>
          </a:prstGeom>
          <a:solidFill>
            <a:schemeClr val="tx1">
              <a:lumMod val="65000"/>
              <a:lumOff val="3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669F6A4-A75E-CF42-8F7A-BBCC7753B33E}"/>
              </a:ext>
            </a:extLst>
          </p:cNvPr>
          <p:cNvSpPr/>
          <p:nvPr/>
        </p:nvSpPr>
        <p:spPr>
          <a:xfrm>
            <a:off x="10689772" y="3113316"/>
            <a:ext cx="885371" cy="885371"/>
          </a:xfrm>
          <a:prstGeom prst="ellipse">
            <a:avLst/>
          </a:prstGeom>
          <a:solidFill>
            <a:schemeClr val="tx1">
              <a:lumMod val="65000"/>
              <a:lumOff val="3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787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1" nodeType="afterEffect">
                                  <p:stCondLst>
                                    <p:cond delay="200"/>
                                  </p:stCondLst>
                                  <p:childTnLst>
                                    <p:set>
                                      <p:cBhvr>
                                        <p:cTn id="9" dur="1" fill="hold">
                                          <p:stCondLst>
                                            <p:cond delay="0"/>
                                          </p:stCondLst>
                                        </p:cTn>
                                        <p:tgtEl>
                                          <p:spTgt spid="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0"/>
                            </p:stCondLst>
                            <p:childTnLst>
                              <p:par>
                                <p:cTn id="15" presetID="1" presetClass="exit" presetSubtype="0" fill="hold" grpId="1" nodeType="afterEffect">
                                  <p:stCondLst>
                                    <p:cond delay="20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E170CC-70BD-8E4E-B808-55EB2EC5F619}"/>
              </a:ext>
            </a:extLst>
          </p:cNvPr>
          <p:cNvSpPr/>
          <p:nvPr/>
        </p:nvSpPr>
        <p:spPr>
          <a:xfrm>
            <a:off x="0" y="0"/>
            <a:ext cx="12192000" cy="6858000"/>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dirty="0"/>
          </a:p>
        </p:txBody>
      </p:sp>
      <p:sp>
        <p:nvSpPr>
          <p:cNvPr id="5" name="Oval 4">
            <a:extLst>
              <a:ext uri="{FF2B5EF4-FFF2-40B4-BE49-F238E27FC236}">
                <a16:creationId xmlns:a16="http://schemas.microsoft.com/office/drawing/2014/main" id="{7E18FFC3-7FC3-1344-AD52-BDE3F77E3214}"/>
              </a:ext>
            </a:extLst>
          </p:cNvPr>
          <p:cNvSpPr/>
          <p:nvPr/>
        </p:nvSpPr>
        <p:spPr>
          <a:xfrm>
            <a:off x="537029" y="3135087"/>
            <a:ext cx="885371" cy="885371"/>
          </a:xfrm>
          <a:prstGeom prst="ellipse">
            <a:avLst/>
          </a:prstGeom>
          <a:solidFill>
            <a:schemeClr val="tx1">
              <a:lumMod val="65000"/>
              <a:lumOff val="3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4669F6A4-A75E-CF42-8F7A-BBCC7753B33E}"/>
              </a:ext>
            </a:extLst>
          </p:cNvPr>
          <p:cNvSpPr/>
          <p:nvPr/>
        </p:nvSpPr>
        <p:spPr>
          <a:xfrm>
            <a:off x="529772" y="3142344"/>
            <a:ext cx="885371" cy="885371"/>
          </a:xfrm>
          <a:prstGeom prst="ellipse">
            <a:avLst/>
          </a:prstGeom>
          <a:solidFill>
            <a:schemeClr val="tx1">
              <a:lumMod val="65000"/>
              <a:lumOff val="3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ight Arrow 1">
            <a:extLst>
              <a:ext uri="{FF2B5EF4-FFF2-40B4-BE49-F238E27FC236}">
                <a16:creationId xmlns:a16="http://schemas.microsoft.com/office/drawing/2014/main" id="{C8A6DF43-13B2-B441-8EB1-06543FD1D6D8}"/>
              </a:ext>
            </a:extLst>
          </p:cNvPr>
          <p:cNvSpPr/>
          <p:nvPr/>
        </p:nvSpPr>
        <p:spPr>
          <a:xfrm rot="10800000">
            <a:off x="5210629" y="3193142"/>
            <a:ext cx="1611085" cy="798014"/>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Arrow 8">
            <a:extLst>
              <a:ext uri="{FF2B5EF4-FFF2-40B4-BE49-F238E27FC236}">
                <a16:creationId xmlns:a16="http://schemas.microsoft.com/office/drawing/2014/main" id="{378EA959-BFFE-7648-835D-C9518B283944}"/>
              </a:ext>
            </a:extLst>
          </p:cNvPr>
          <p:cNvSpPr/>
          <p:nvPr/>
        </p:nvSpPr>
        <p:spPr>
          <a:xfrm>
            <a:off x="5392058" y="3200399"/>
            <a:ext cx="1611085" cy="798014"/>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742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xit" presetSubtype="0" fill="hold" grpId="1" nodeType="afterEffect">
                                  <p:stCondLst>
                                    <p:cond delay="200"/>
                                  </p:stCondLst>
                                  <p:childTnLst>
                                    <p:set>
                                      <p:cBhvr>
                                        <p:cTn id="13" dur="1" fill="hold">
                                          <p:stCondLst>
                                            <p:cond delay="0"/>
                                          </p:stCondLst>
                                        </p:cTn>
                                        <p:tgtEl>
                                          <p:spTgt spid="5"/>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1" nodeType="afterEffect">
                                  <p:stCondLst>
                                    <p:cond delay="200"/>
                                  </p:stCondLst>
                                  <p:childTnLst>
                                    <p:set>
                                      <p:cBhvr>
                                        <p:cTn id="28" dur="1" fill="hold">
                                          <p:stCondLst>
                                            <p:cond delay="0"/>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2" grpId="0" animBg="1"/>
      <p:bldP spid="2" grpId="1" animBg="1"/>
      <p:bldP spid="9" grpId="0" animBg="1"/>
      <p:bldP spid="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E170CC-70BD-8E4E-B808-55EB2EC5F619}"/>
              </a:ext>
            </a:extLst>
          </p:cNvPr>
          <p:cNvSpPr/>
          <p:nvPr/>
        </p:nvSpPr>
        <p:spPr>
          <a:xfrm>
            <a:off x="0" y="0"/>
            <a:ext cx="12192000" cy="6858000"/>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dirty="0"/>
          </a:p>
        </p:txBody>
      </p:sp>
      <p:sp>
        <p:nvSpPr>
          <p:cNvPr id="5" name="Oval 4">
            <a:extLst>
              <a:ext uri="{FF2B5EF4-FFF2-40B4-BE49-F238E27FC236}">
                <a16:creationId xmlns:a16="http://schemas.microsoft.com/office/drawing/2014/main" id="{7E18FFC3-7FC3-1344-AD52-BDE3F77E3214}"/>
              </a:ext>
            </a:extLst>
          </p:cNvPr>
          <p:cNvSpPr/>
          <p:nvPr/>
        </p:nvSpPr>
        <p:spPr>
          <a:xfrm>
            <a:off x="537029" y="3135087"/>
            <a:ext cx="885371" cy="885371"/>
          </a:xfrm>
          <a:prstGeom prst="ellipse">
            <a:avLst/>
          </a:prstGeom>
          <a:solidFill>
            <a:schemeClr val="tx1">
              <a:lumMod val="65000"/>
              <a:lumOff val="3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ight Arrow 1">
            <a:extLst>
              <a:ext uri="{FF2B5EF4-FFF2-40B4-BE49-F238E27FC236}">
                <a16:creationId xmlns:a16="http://schemas.microsoft.com/office/drawing/2014/main" id="{C8A6DF43-13B2-B441-8EB1-06543FD1D6D8}"/>
              </a:ext>
            </a:extLst>
          </p:cNvPr>
          <p:cNvSpPr/>
          <p:nvPr/>
        </p:nvSpPr>
        <p:spPr>
          <a:xfrm rot="10800000">
            <a:off x="5210629" y="3193142"/>
            <a:ext cx="1611085" cy="798014"/>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95C268D-5C5D-2A4F-BAD1-34EAAE414EE4}"/>
              </a:ext>
            </a:extLst>
          </p:cNvPr>
          <p:cNvSpPr/>
          <p:nvPr/>
        </p:nvSpPr>
        <p:spPr>
          <a:xfrm>
            <a:off x="4312920" y="1859280"/>
            <a:ext cx="3916680" cy="3291840"/>
          </a:xfrm>
          <a:prstGeom prst="ellipse">
            <a:avLst/>
          </a:prstGeom>
          <a:noFill/>
          <a:ln w="635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6205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2.91667E-6 -1.11111E-6 L -0.34935 0.00671 " pathEditMode="relative" rAng="0" ptsTypes="AA">
                                      <p:cBhvr>
                                        <p:cTn id="10" dur="2000" fill="hold"/>
                                        <p:tgtEl>
                                          <p:spTgt spid="8"/>
                                        </p:tgtEl>
                                        <p:attrNameLst>
                                          <p:attrName>ppt_x</p:attrName>
                                          <p:attrName>ppt_y</p:attrName>
                                        </p:attrNameLst>
                                      </p:cBhvr>
                                      <p:rCtr x="-17474" y="324"/>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par>
                          <p:cTn id="15" fill="hold">
                            <p:stCondLst>
                              <p:cond delay="0"/>
                            </p:stCondLst>
                            <p:childTnLst>
                              <p:par>
                                <p:cTn id="16" presetID="1" presetClass="exit" presetSubtype="0" fill="hold" grpId="1" nodeType="afterEffect">
                                  <p:stCondLst>
                                    <p:cond delay="200"/>
                                  </p:stCondLst>
                                  <p:childTnLst>
                                    <p:set>
                                      <p:cBhvr>
                                        <p:cTn id="17"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E170CC-70BD-8E4E-B808-55EB2EC5F619}"/>
              </a:ext>
            </a:extLst>
          </p:cNvPr>
          <p:cNvSpPr/>
          <p:nvPr/>
        </p:nvSpPr>
        <p:spPr>
          <a:xfrm>
            <a:off x="0" y="0"/>
            <a:ext cx="12192000" cy="6858000"/>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dirty="0"/>
          </a:p>
        </p:txBody>
      </p:sp>
      <p:sp>
        <p:nvSpPr>
          <p:cNvPr id="5" name="Oval 4">
            <a:extLst>
              <a:ext uri="{FF2B5EF4-FFF2-40B4-BE49-F238E27FC236}">
                <a16:creationId xmlns:a16="http://schemas.microsoft.com/office/drawing/2014/main" id="{7E18FFC3-7FC3-1344-AD52-BDE3F77E3214}"/>
              </a:ext>
            </a:extLst>
          </p:cNvPr>
          <p:cNvSpPr/>
          <p:nvPr/>
        </p:nvSpPr>
        <p:spPr>
          <a:xfrm>
            <a:off x="537029" y="3135087"/>
            <a:ext cx="885371" cy="885371"/>
          </a:xfrm>
          <a:prstGeom prst="ellipse">
            <a:avLst/>
          </a:prstGeom>
          <a:solidFill>
            <a:schemeClr val="tx1">
              <a:lumMod val="65000"/>
              <a:lumOff val="3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Arrow 8">
            <a:extLst>
              <a:ext uri="{FF2B5EF4-FFF2-40B4-BE49-F238E27FC236}">
                <a16:creationId xmlns:a16="http://schemas.microsoft.com/office/drawing/2014/main" id="{378EA959-BFFE-7648-835D-C9518B283944}"/>
              </a:ext>
            </a:extLst>
          </p:cNvPr>
          <p:cNvSpPr/>
          <p:nvPr/>
        </p:nvSpPr>
        <p:spPr>
          <a:xfrm>
            <a:off x="5392058" y="3139439"/>
            <a:ext cx="1611085" cy="798014"/>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95C268D-5C5D-2A4F-BAD1-34EAAE414EE4}"/>
              </a:ext>
            </a:extLst>
          </p:cNvPr>
          <p:cNvSpPr/>
          <p:nvPr/>
        </p:nvSpPr>
        <p:spPr>
          <a:xfrm>
            <a:off x="4312920" y="1859280"/>
            <a:ext cx="3916680" cy="3291840"/>
          </a:xfrm>
          <a:prstGeom prst="ellipse">
            <a:avLst/>
          </a:prstGeom>
          <a:noFill/>
          <a:ln w="635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66E7986B-CDB5-384A-84C0-B8B2534FA709}"/>
              </a:ext>
            </a:extLst>
          </p:cNvPr>
          <p:cNvSpPr/>
          <p:nvPr/>
        </p:nvSpPr>
        <p:spPr>
          <a:xfrm>
            <a:off x="8697350" y="1896794"/>
            <a:ext cx="3916680" cy="3291840"/>
          </a:xfrm>
          <a:prstGeom prst="ellipse">
            <a:avLst/>
          </a:prstGeom>
          <a:noFill/>
          <a:ln w="635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5183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42" presetClass="path" presetSubtype="0" accel="50000" decel="50000" fill="hold" grpId="0" nodeType="withEffect">
                                  <p:stCondLst>
                                    <p:cond delay="0"/>
                                  </p:stCondLst>
                                  <p:childTnLst>
                                    <p:animMotion origin="layout" path="M -2.91667E-6 -1.11111E-6 L 0.36315 0.0044 " pathEditMode="relative" rAng="0" ptsTypes="AA">
                                      <p:cBhvr>
                                        <p:cTn id="8" dur="2000" fill="hold"/>
                                        <p:tgtEl>
                                          <p:spTgt spid="8"/>
                                        </p:tgtEl>
                                        <p:attrNameLst>
                                          <p:attrName>ppt_x</p:attrName>
                                          <p:attrName>ppt_y</p:attrName>
                                        </p:attrNameLst>
                                      </p:cBhvr>
                                      <p:rCtr x="18151" y="208"/>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0"/>
                            </p:stCondLst>
                            <p:childTnLst>
                              <p:par>
                                <p:cTn id="14" presetID="1" presetClass="exit" presetSubtype="0" fill="hold" grpId="1" nodeType="afterEffect">
                                  <p:stCondLst>
                                    <p:cond delay="200"/>
                                  </p:stCondLst>
                                  <p:childTnLst>
                                    <p:set>
                                      <p:cBhvr>
                                        <p:cTn id="15" dur="1" fill="hold">
                                          <p:stCondLst>
                                            <p:cond delay="0"/>
                                          </p:stCondLst>
                                        </p:cTn>
                                        <p:tgtEl>
                                          <p:spTgt spid="5"/>
                                        </p:tgtEl>
                                        <p:attrNameLst>
                                          <p:attrName>style.visibility</p:attrName>
                                        </p:attrNameLst>
                                      </p:cBhvr>
                                      <p:to>
                                        <p:strVal val="hidden"/>
                                      </p:to>
                                    </p:set>
                                  </p:childTnLst>
                                </p:cTn>
                              </p:par>
                              <p:par>
                                <p:cTn id="16" presetID="1" presetClass="exit" presetSubtype="0" fill="hold" grpId="1" nodeType="withEffect">
                                  <p:stCondLst>
                                    <p:cond delay="0"/>
                                  </p:stCondLst>
                                  <p:childTnLst>
                                    <p:set>
                                      <p:cBhvr>
                                        <p:cTn id="17" dur="1" fill="hold">
                                          <p:stCondLst>
                                            <p:cond delay="0"/>
                                          </p:stCondLst>
                                        </p:cTn>
                                        <p:tgtEl>
                                          <p:spTgt spid="8"/>
                                        </p:tgtEl>
                                        <p:attrNameLst>
                                          <p:attrName>style.visibility</p:attrName>
                                        </p:attrNameLst>
                                      </p:cBhvr>
                                      <p:to>
                                        <p:strVal val="hidden"/>
                                      </p:to>
                                    </p:set>
                                  </p:childTnLst>
                                </p:cTn>
                              </p:par>
                              <p:par>
                                <p:cTn id="18" presetID="1" presetClass="entr" presetSubtype="0" fill="hold" grpId="1"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42" presetClass="path" presetSubtype="0" accel="50000" decel="50000" fill="hold" grpId="0" nodeType="withEffect">
                                  <p:stCondLst>
                                    <p:cond delay="0"/>
                                  </p:stCondLst>
                                  <p:childTnLst>
                                    <p:animMotion origin="layout" path="M 1.66667E-6 4.81481E-6 L -0.74284 -0.01042 " pathEditMode="relative" rAng="0" ptsTypes="AA">
                                      <p:cBhvr>
                                        <p:cTn id="21" dur="2000" fill="hold"/>
                                        <p:tgtEl>
                                          <p:spTgt spid="10"/>
                                        </p:tgtEl>
                                        <p:attrNameLst>
                                          <p:attrName>ppt_x</p:attrName>
                                          <p:attrName>ppt_y</p:attrName>
                                        </p:attrNameLst>
                                      </p:cBhvr>
                                      <p:rCtr x="-37148" y="-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9" grpId="0" animBg="1"/>
      <p:bldP spid="8" grpId="0" animBg="1"/>
      <p:bldP spid="8" grpId="1" animBg="1"/>
      <p:bldP spid="10" grpId="0" animBg="1"/>
      <p:bldP spid="1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379B6-3F28-E64D-A00F-9A9ADFE5A8C4}"/>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30BF491F-CD2B-2544-BCEC-DEB292D1A1F9}"/>
              </a:ext>
            </a:extLst>
          </p:cNvPr>
          <p:cNvSpPr>
            <a:spLocks noGrp="1"/>
          </p:cNvSpPr>
          <p:nvPr>
            <p:ph idx="1"/>
          </p:nvPr>
        </p:nvSpPr>
        <p:spPr>
          <a:xfrm>
            <a:off x="838200" y="1825624"/>
            <a:ext cx="7299191" cy="5032375"/>
          </a:xfrm>
        </p:spPr>
        <p:txBody>
          <a:bodyPr>
            <a:normAutofit/>
          </a:bodyPr>
          <a:lstStyle/>
          <a:p>
            <a:pPr marL="0" indent="0">
              <a:buNone/>
            </a:pPr>
            <a:r>
              <a:rPr lang="en-CA" b="1" dirty="0"/>
              <a:t>Endogenous Attention</a:t>
            </a:r>
          </a:p>
          <a:p>
            <a:r>
              <a:rPr lang="en-CA" b="1" dirty="0"/>
              <a:t>Posner et al., 1980:</a:t>
            </a:r>
          </a:p>
          <a:p>
            <a:pPr lvl="1"/>
            <a:r>
              <a:rPr lang="en-CA" b="1" dirty="0"/>
              <a:t>Results: </a:t>
            </a:r>
            <a:r>
              <a:rPr lang="en-CA" dirty="0"/>
              <a:t>Reaction time quickest with valid cue</a:t>
            </a:r>
          </a:p>
          <a:p>
            <a:pPr lvl="1"/>
            <a:endParaRPr lang="en-CA" dirty="0"/>
          </a:p>
          <a:p>
            <a:pPr lvl="1"/>
            <a:r>
              <a:rPr lang="en-CA" b="1" dirty="0"/>
              <a:t>Conclusion</a:t>
            </a:r>
            <a:r>
              <a:rPr lang="en-CA" dirty="0"/>
              <a:t>: Demonstrates the existence of endogenous, goal-driven, attention</a:t>
            </a:r>
          </a:p>
          <a:p>
            <a:pPr lvl="2"/>
            <a:r>
              <a:rPr lang="en-CA" dirty="0"/>
              <a:t>Authors described this as an ‘attentional spotlight’</a:t>
            </a:r>
          </a:p>
        </p:txBody>
      </p:sp>
      <p:pic>
        <p:nvPicPr>
          <p:cNvPr id="5" name="Picture 1" descr="Line graphs show quantification of spatial attention using behavioral measures.&#10;The Y axis has reaction time in ms from 0 through 300. Text above reads: Reaction times for expected locations are significantly shorter than those for unexpected and neutral locations. Value for left of fixation graph follow. Invalid 20 percent, 300. Neutral 50 percent, 260. Valid 80 percent, 240. Values follow for right of location line graph. Invalid 20 percent, 300. Neutral 50 percent, 260. Valid 80 percent, 245.">
            <a:extLst>
              <a:ext uri="{FF2B5EF4-FFF2-40B4-BE49-F238E27FC236}">
                <a16:creationId xmlns:a16="http://schemas.microsoft.com/office/drawing/2014/main" id="{7F3A34CE-DD11-7E4A-9128-CB418E185C7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37391" y="1831292"/>
            <a:ext cx="3658556" cy="426470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473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4E6BA-0100-8F47-85B7-3B42FAC9230F}"/>
              </a:ext>
            </a:extLst>
          </p:cNvPr>
          <p:cNvSpPr>
            <a:spLocks noGrp="1"/>
          </p:cNvSpPr>
          <p:nvPr>
            <p:ph type="title"/>
          </p:nvPr>
        </p:nvSpPr>
        <p:spPr/>
        <p:txBody>
          <a:bodyPr/>
          <a:lstStyle/>
          <a:p>
            <a:r>
              <a:rPr lang="en-US" dirty="0"/>
              <a:t>Attention</a:t>
            </a:r>
          </a:p>
        </p:txBody>
      </p:sp>
      <p:sp>
        <p:nvSpPr>
          <p:cNvPr id="9" name="Content Placeholder 2">
            <a:extLst>
              <a:ext uri="{FF2B5EF4-FFF2-40B4-BE49-F238E27FC236}">
                <a16:creationId xmlns:a16="http://schemas.microsoft.com/office/drawing/2014/main" id="{319FF64A-B9D1-8B4F-9215-A4EA359DA658}"/>
              </a:ext>
            </a:extLst>
          </p:cNvPr>
          <p:cNvSpPr>
            <a:spLocks noGrp="1"/>
          </p:cNvSpPr>
          <p:nvPr>
            <p:ph idx="1"/>
          </p:nvPr>
        </p:nvSpPr>
        <p:spPr>
          <a:xfrm>
            <a:off x="838199" y="1825624"/>
            <a:ext cx="7263063" cy="5032375"/>
          </a:xfrm>
        </p:spPr>
        <p:txBody>
          <a:bodyPr>
            <a:normAutofit/>
          </a:bodyPr>
          <a:lstStyle/>
          <a:p>
            <a:pPr marL="0" lvl="0" indent="0">
              <a:buNone/>
            </a:pPr>
            <a:r>
              <a:rPr lang="en-CA" b="1" dirty="0"/>
              <a:t>Exogenous Attention</a:t>
            </a:r>
          </a:p>
          <a:p>
            <a:r>
              <a:rPr lang="en-CA" b="1" dirty="0" err="1"/>
              <a:t>Jonides</a:t>
            </a:r>
            <a:r>
              <a:rPr lang="en-CA" b="1" dirty="0"/>
              <a:t>, 1981</a:t>
            </a:r>
          </a:p>
          <a:p>
            <a:pPr lvl="1"/>
            <a:r>
              <a:rPr lang="en-CA" b="1" dirty="0"/>
              <a:t>Research Question</a:t>
            </a:r>
            <a:r>
              <a:rPr lang="en-CA" dirty="0"/>
              <a:t>: Do we have an automatic attention capturing mechanism? </a:t>
            </a:r>
          </a:p>
          <a:p>
            <a:pPr lvl="1"/>
            <a:endParaRPr lang="en-CA" dirty="0"/>
          </a:p>
          <a:p>
            <a:pPr lvl="1"/>
            <a:r>
              <a:rPr lang="en-CA" b="1" dirty="0"/>
              <a:t>Task</a:t>
            </a:r>
            <a:r>
              <a:rPr lang="en-CA" dirty="0"/>
              <a:t>: Present a flash cue and then a target, participants are to respond to target</a:t>
            </a:r>
          </a:p>
          <a:p>
            <a:pPr lvl="1"/>
            <a:endParaRPr lang="en-CA" dirty="0"/>
          </a:p>
          <a:p>
            <a:pPr lvl="1"/>
            <a:r>
              <a:rPr lang="en-CA" b="1" dirty="0"/>
              <a:t>IV</a:t>
            </a:r>
            <a:endParaRPr lang="en-CA" dirty="0"/>
          </a:p>
          <a:p>
            <a:pPr lvl="2"/>
            <a:r>
              <a:rPr lang="en-CA" dirty="0"/>
              <a:t>Delay between cue and target varies from 50 – 300+ms </a:t>
            </a:r>
          </a:p>
          <a:p>
            <a:pPr lvl="2"/>
            <a:r>
              <a:rPr lang="en-CA" dirty="0"/>
              <a:t>Whether the cue was valid or invalid with the target</a:t>
            </a:r>
          </a:p>
        </p:txBody>
      </p:sp>
      <p:pic>
        <p:nvPicPr>
          <p:cNvPr id="7" name="Picture 1" descr="Illustrations show spatial cuing paradigm&#10;Valid trial has a rightward moving sign and a box. Invalid trial has a leftward moving sign and a box. Neutral trial has a bothsides moving sign and a box. Cues are at left and targets are at right.">
            <a:extLst>
              <a:ext uri="{FF2B5EF4-FFF2-40B4-BE49-F238E27FC236}">
                <a16:creationId xmlns:a16="http://schemas.microsoft.com/office/drawing/2014/main" id="{25E9B870-4482-5145-9851-29CECF9A27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6700"/>
          <a:stretch/>
        </p:blipFill>
        <p:spPr bwMode="auto">
          <a:xfrm>
            <a:off x="7762413" y="2205037"/>
            <a:ext cx="4343563" cy="2319829"/>
          </a:xfrm>
          <a:prstGeom prst="rect">
            <a:avLst/>
          </a:prstGeom>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75B2059-F417-3949-8731-3C7728101002}"/>
              </a:ext>
            </a:extLst>
          </p:cNvPr>
          <p:cNvSpPr/>
          <p:nvPr/>
        </p:nvSpPr>
        <p:spPr>
          <a:xfrm>
            <a:off x="9247695" y="2356701"/>
            <a:ext cx="763571" cy="235670"/>
          </a:xfrm>
          <a:prstGeom prst="rect">
            <a:avLst/>
          </a:prstGeom>
          <a:solidFill>
            <a:srgbClr val="F2E8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F11DA6-7674-474F-B060-CA10B6403F51}"/>
              </a:ext>
            </a:extLst>
          </p:cNvPr>
          <p:cNvSpPr/>
          <p:nvPr/>
        </p:nvSpPr>
        <p:spPr>
          <a:xfrm>
            <a:off x="9170623" y="3615177"/>
            <a:ext cx="763571" cy="235670"/>
          </a:xfrm>
          <a:prstGeom prst="rect">
            <a:avLst/>
          </a:prstGeom>
          <a:solidFill>
            <a:srgbClr val="F2E8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774F051A-CA27-D047-8E65-1F010EADC975}"/>
              </a:ext>
            </a:extLst>
          </p:cNvPr>
          <p:cNvSpPr/>
          <p:nvPr/>
        </p:nvSpPr>
        <p:spPr>
          <a:xfrm>
            <a:off x="9879819" y="2301454"/>
            <a:ext cx="207647" cy="207647"/>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AA8BB542-1491-6B43-8442-2541003B9AC1}"/>
              </a:ext>
            </a:extLst>
          </p:cNvPr>
          <p:cNvSpPr/>
          <p:nvPr/>
        </p:nvSpPr>
        <p:spPr>
          <a:xfrm>
            <a:off x="8962976" y="3525365"/>
            <a:ext cx="207647" cy="207647"/>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794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4E6BA-0100-8F47-85B7-3B42FAC9230F}"/>
              </a:ext>
            </a:extLst>
          </p:cNvPr>
          <p:cNvSpPr>
            <a:spLocks noGrp="1"/>
          </p:cNvSpPr>
          <p:nvPr>
            <p:ph type="title"/>
          </p:nvPr>
        </p:nvSpPr>
        <p:spPr/>
        <p:txBody>
          <a:bodyPr/>
          <a:lstStyle/>
          <a:p>
            <a:r>
              <a:rPr lang="en-US" dirty="0"/>
              <a:t>Attention</a:t>
            </a:r>
          </a:p>
        </p:txBody>
      </p:sp>
      <p:sp>
        <p:nvSpPr>
          <p:cNvPr id="9" name="Content Placeholder 2">
            <a:extLst>
              <a:ext uri="{FF2B5EF4-FFF2-40B4-BE49-F238E27FC236}">
                <a16:creationId xmlns:a16="http://schemas.microsoft.com/office/drawing/2014/main" id="{319FF64A-B9D1-8B4F-9215-A4EA359DA658}"/>
              </a:ext>
            </a:extLst>
          </p:cNvPr>
          <p:cNvSpPr>
            <a:spLocks noGrp="1"/>
          </p:cNvSpPr>
          <p:nvPr>
            <p:ph idx="1"/>
          </p:nvPr>
        </p:nvSpPr>
        <p:spPr>
          <a:xfrm>
            <a:off x="838199" y="1825624"/>
            <a:ext cx="7263063" cy="5032375"/>
          </a:xfrm>
        </p:spPr>
        <p:txBody>
          <a:bodyPr>
            <a:normAutofit/>
          </a:bodyPr>
          <a:lstStyle/>
          <a:p>
            <a:pPr marL="0" lvl="0" indent="0">
              <a:buNone/>
            </a:pPr>
            <a:r>
              <a:rPr lang="en-CA" b="1" dirty="0"/>
              <a:t>Exogenous Attention</a:t>
            </a:r>
          </a:p>
          <a:p>
            <a:r>
              <a:rPr lang="en-CA" b="1" dirty="0" err="1"/>
              <a:t>Jonides</a:t>
            </a:r>
            <a:r>
              <a:rPr lang="en-CA" b="1" dirty="0"/>
              <a:t>, 1981</a:t>
            </a:r>
          </a:p>
          <a:p>
            <a:pPr lvl="1"/>
            <a:r>
              <a:rPr lang="en-CA" b="1" dirty="0"/>
              <a:t>Results</a:t>
            </a:r>
          </a:p>
          <a:p>
            <a:pPr lvl="2"/>
            <a:r>
              <a:rPr lang="en-CA" dirty="0"/>
              <a:t>50-200ms: Faster responses for valid condition</a:t>
            </a:r>
          </a:p>
          <a:p>
            <a:pPr lvl="2"/>
            <a:r>
              <a:rPr lang="en-CA" dirty="0"/>
              <a:t>300+ms: Reversed pattern</a:t>
            </a:r>
          </a:p>
          <a:p>
            <a:pPr lvl="2"/>
            <a:endParaRPr lang="en-CA" dirty="0"/>
          </a:p>
          <a:p>
            <a:pPr lvl="1"/>
            <a:r>
              <a:rPr lang="en-CA" b="1" dirty="0"/>
              <a:t>Conclusion</a:t>
            </a:r>
          </a:p>
          <a:p>
            <a:pPr lvl="2"/>
            <a:r>
              <a:rPr lang="en-CA" dirty="0"/>
              <a:t>Evidence for an automatic attention mechanism</a:t>
            </a:r>
          </a:p>
          <a:p>
            <a:pPr lvl="2"/>
            <a:r>
              <a:rPr lang="en-CA" dirty="0"/>
              <a:t>Evidence for inhibition of return </a:t>
            </a:r>
          </a:p>
          <a:p>
            <a:pPr lvl="3"/>
            <a:r>
              <a:rPr lang="en-CA" b="1" dirty="0"/>
              <a:t>Inhibition of Return: </a:t>
            </a:r>
            <a:r>
              <a:rPr lang="en-CA" dirty="0"/>
              <a:t>Phenomenon where we are neglectful of a previously attended location of space</a:t>
            </a:r>
          </a:p>
        </p:txBody>
      </p:sp>
      <p:pic>
        <p:nvPicPr>
          <p:cNvPr id="7" name="Picture 1" descr="Illustrations show spatial cuing paradigm&#10;Valid trial has a rightward moving sign and a box. Invalid trial has a leftward moving sign and a box. Neutral trial has a bothsides moving sign and a box. Cues are at left and targets are at right.">
            <a:extLst>
              <a:ext uri="{FF2B5EF4-FFF2-40B4-BE49-F238E27FC236}">
                <a16:creationId xmlns:a16="http://schemas.microsoft.com/office/drawing/2014/main" id="{25E9B870-4482-5145-9851-29CECF9A27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6700"/>
          <a:stretch/>
        </p:blipFill>
        <p:spPr bwMode="auto">
          <a:xfrm>
            <a:off x="7762413" y="2205037"/>
            <a:ext cx="4343563" cy="2319829"/>
          </a:xfrm>
          <a:prstGeom prst="rect">
            <a:avLst/>
          </a:prstGeom>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75B2059-F417-3949-8731-3C7728101002}"/>
              </a:ext>
            </a:extLst>
          </p:cNvPr>
          <p:cNvSpPr/>
          <p:nvPr/>
        </p:nvSpPr>
        <p:spPr>
          <a:xfrm>
            <a:off x="9247695" y="2356701"/>
            <a:ext cx="763571" cy="235670"/>
          </a:xfrm>
          <a:prstGeom prst="rect">
            <a:avLst/>
          </a:prstGeom>
          <a:solidFill>
            <a:srgbClr val="F2E8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F11DA6-7674-474F-B060-CA10B6403F51}"/>
              </a:ext>
            </a:extLst>
          </p:cNvPr>
          <p:cNvSpPr/>
          <p:nvPr/>
        </p:nvSpPr>
        <p:spPr>
          <a:xfrm>
            <a:off x="9170623" y="3615177"/>
            <a:ext cx="763571" cy="235670"/>
          </a:xfrm>
          <a:prstGeom prst="rect">
            <a:avLst/>
          </a:prstGeom>
          <a:solidFill>
            <a:srgbClr val="F2E8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774F051A-CA27-D047-8E65-1F010EADC975}"/>
              </a:ext>
            </a:extLst>
          </p:cNvPr>
          <p:cNvSpPr/>
          <p:nvPr/>
        </p:nvSpPr>
        <p:spPr>
          <a:xfrm>
            <a:off x="9879819" y="2301454"/>
            <a:ext cx="207647" cy="207647"/>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AA8BB542-1491-6B43-8442-2541003B9AC1}"/>
              </a:ext>
            </a:extLst>
          </p:cNvPr>
          <p:cNvSpPr/>
          <p:nvPr/>
        </p:nvSpPr>
        <p:spPr>
          <a:xfrm>
            <a:off x="8962976" y="3525365"/>
            <a:ext cx="207647" cy="207647"/>
          </a:xfrm>
          <a:prstGeom prst="star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276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3956-9E9B-E6D4-DA40-0F75D71B927A}"/>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2F548DD8-DEDC-F2BB-FCD0-ED0849B84E9A}"/>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Attention</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Endogenous &amp; Exogenous</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Visual Search</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Attentional Components</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Executive Functioning</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Effort</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Control</a:t>
            </a:r>
          </a:p>
        </p:txBody>
      </p:sp>
      <p:pic>
        <p:nvPicPr>
          <p:cNvPr id="2" name="Picture 1" descr="A colorful and black and white brain&#10;&#10;AI-generated content may be incorrect.">
            <a:extLst>
              <a:ext uri="{FF2B5EF4-FFF2-40B4-BE49-F238E27FC236}">
                <a16:creationId xmlns:a16="http://schemas.microsoft.com/office/drawing/2014/main" id="{B11CBBE0-E270-A122-DF3A-0297A7DAD0A1}"/>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198418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several different types of computer monitors&#10;&#10;AI-generated content may be incorrect.">
            <a:extLst>
              <a:ext uri="{FF2B5EF4-FFF2-40B4-BE49-F238E27FC236}">
                <a16:creationId xmlns:a16="http://schemas.microsoft.com/office/drawing/2014/main" id="{80067BD1-6779-DD5A-F37B-349C211A7124}"/>
              </a:ext>
            </a:extLst>
          </p:cNvPr>
          <p:cNvPicPr>
            <a:picLocks noChangeAspect="1"/>
          </p:cNvPicPr>
          <p:nvPr/>
        </p:nvPicPr>
        <p:blipFill>
          <a:blip r:embed="rId2">
            <a:extLst>
              <a:ext uri="{28A0092B-C50C-407E-A947-70E740481C1C}">
                <a14:useLocalDpi xmlns:a14="http://schemas.microsoft.com/office/drawing/2010/main" val="0"/>
              </a:ext>
            </a:extLst>
          </a:blip>
          <a:srcRect t="2182" r="50121" b="71879"/>
          <a:stretch>
            <a:fillRect/>
          </a:stretch>
        </p:blipFill>
        <p:spPr>
          <a:xfrm>
            <a:off x="8061962" y="1629511"/>
            <a:ext cx="1883408" cy="1778924"/>
          </a:xfrm>
          <a:prstGeom prst="rect">
            <a:avLst/>
          </a:prstGeom>
        </p:spPr>
      </p:pic>
      <p:pic>
        <p:nvPicPr>
          <p:cNvPr id="9" name="Picture 8" descr="A screenshot of several different types of computer monitors&#10;&#10;AI-generated content may be incorrect.">
            <a:extLst>
              <a:ext uri="{FF2B5EF4-FFF2-40B4-BE49-F238E27FC236}">
                <a16:creationId xmlns:a16="http://schemas.microsoft.com/office/drawing/2014/main" id="{E310E509-BE6E-54CC-ECE0-70DE73124D5C}"/>
              </a:ext>
            </a:extLst>
          </p:cNvPr>
          <p:cNvPicPr>
            <a:picLocks noChangeAspect="1"/>
          </p:cNvPicPr>
          <p:nvPr/>
        </p:nvPicPr>
        <p:blipFill>
          <a:blip r:embed="rId2">
            <a:extLst>
              <a:ext uri="{28A0092B-C50C-407E-A947-70E740481C1C}">
                <a14:useLocalDpi xmlns:a14="http://schemas.microsoft.com/office/drawing/2010/main" val="0"/>
              </a:ext>
            </a:extLst>
          </a:blip>
          <a:srcRect l="-1793" t="33454" r="51914" b="40607"/>
          <a:stretch>
            <a:fillRect/>
          </a:stretch>
        </p:blipFill>
        <p:spPr>
          <a:xfrm>
            <a:off x="9945370" y="1650076"/>
            <a:ext cx="1883408" cy="1778924"/>
          </a:xfrm>
          <a:prstGeom prst="rect">
            <a:avLst/>
          </a:prstGeom>
        </p:spPr>
      </p:pic>
      <p:sp>
        <p:nvSpPr>
          <p:cNvPr id="2" name="Title 1">
            <a:extLst>
              <a:ext uri="{FF2B5EF4-FFF2-40B4-BE49-F238E27FC236}">
                <a16:creationId xmlns:a16="http://schemas.microsoft.com/office/drawing/2014/main" id="{2E8B8D4C-C40A-D7FF-BC34-32568829A3C8}"/>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D3385039-F062-D518-AC8B-A665365EEE39}"/>
              </a:ext>
            </a:extLst>
          </p:cNvPr>
          <p:cNvSpPr>
            <a:spLocks noGrp="1"/>
          </p:cNvSpPr>
          <p:nvPr>
            <p:ph idx="1"/>
          </p:nvPr>
        </p:nvSpPr>
        <p:spPr>
          <a:xfrm>
            <a:off x="838200" y="1825624"/>
            <a:ext cx="6559446" cy="4605155"/>
          </a:xfrm>
        </p:spPr>
        <p:txBody>
          <a:bodyPr>
            <a:normAutofit fontScale="77500" lnSpcReduction="20000"/>
          </a:bodyPr>
          <a:lstStyle/>
          <a:p>
            <a:pPr marL="0" indent="0">
              <a:buNone/>
            </a:pPr>
            <a:r>
              <a:rPr lang="en-US" b="1" dirty="0"/>
              <a:t>Visual Search</a:t>
            </a:r>
            <a:r>
              <a:rPr lang="en-US" dirty="0"/>
              <a:t>: Process of identifying specific stimuli among distractor stimuli</a:t>
            </a:r>
          </a:p>
          <a:p>
            <a:r>
              <a:rPr lang="en-CA" b="1" dirty="0"/>
              <a:t>Pop-Out Search</a:t>
            </a:r>
            <a:r>
              <a:rPr lang="en-CA" dirty="0"/>
              <a:t>: Easy to identify target if it is dissociable by a single feature</a:t>
            </a:r>
          </a:p>
          <a:p>
            <a:pPr lvl="1"/>
            <a:r>
              <a:rPr lang="en-CA" dirty="0"/>
              <a:t>The feature is unique</a:t>
            </a:r>
          </a:p>
          <a:p>
            <a:pPr lvl="1"/>
            <a:r>
              <a:rPr lang="en-CA" dirty="0"/>
              <a:t>Automatic, stimuli processed in parallel</a:t>
            </a:r>
          </a:p>
          <a:p>
            <a:pPr marL="0" indent="0">
              <a:buNone/>
            </a:pPr>
            <a:endParaRPr lang="en-CA" dirty="0"/>
          </a:p>
          <a:p>
            <a:r>
              <a:rPr lang="en-CA" b="1" dirty="0"/>
              <a:t>Conjunction Search</a:t>
            </a:r>
            <a:r>
              <a:rPr lang="en-CA" dirty="0"/>
              <a:t>: Difficult to identify target if it shares multiple features with the distractors</a:t>
            </a:r>
          </a:p>
          <a:p>
            <a:pPr lvl="1"/>
            <a:r>
              <a:rPr lang="en-CA" dirty="0"/>
              <a:t>No unique features, but unique conjunction of features</a:t>
            </a:r>
          </a:p>
          <a:p>
            <a:pPr lvl="1"/>
            <a:r>
              <a:rPr lang="en-CA" dirty="0"/>
              <a:t>Effortful, stimuli processed serially</a:t>
            </a:r>
          </a:p>
          <a:p>
            <a:pPr lvl="1"/>
            <a:endParaRPr lang="en-CA" dirty="0"/>
          </a:p>
          <a:p>
            <a:r>
              <a:rPr lang="en-CA" b="1" dirty="0"/>
              <a:t>Feature Search</a:t>
            </a:r>
            <a:r>
              <a:rPr lang="en-CA" dirty="0"/>
              <a:t>: Attention towards different characteristics of the same stimuli</a:t>
            </a:r>
          </a:p>
        </p:txBody>
      </p:sp>
      <p:pic>
        <p:nvPicPr>
          <p:cNvPr id="4" name="Picture 1" descr="Search array and line graph show results for searching for targets among distractors.&#10;&quot;(a) A search array with a pop-out target (red O). Stimuli are said to pop out when they can be identified from among distractor stimuli by a simple single feature and the observer can find the target without searching the entire array. (b) A search array in which the target (red O) is defined by a conjunction of separate features (in this case, letter and color) shared with the distractors. (c) Idealized plot of reaction times as a function of set size (the number of items in the array) during visual search for pop-out stimuli versus feature conjunction stimuli. In pop-out searches, where an item can be distinguished from distractors by a single feature, increasing the set size does not affect the participants’ reaction times as much as it does in conjunction searches. Reaction time line graph values follow. Conjunction search runs from left bottom to right top. Pop-out search runs as a straight horizontal line.&quot;">
            <a:extLst>
              <a:ext uri="{FF2B5EF4-FFF2-40B4-BE49-F238E27FC236}">
                <a16:creationId xmlns:a16="http://schemas.microsoft.com/office/drawing/2014/main" id="{9E92FFEB-A50C-FE86-EA5B-AF579E0F19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601" b="6692"/>
          <a:stretch>
            <a:fillRect/>
          </a:stretch>
        </p:blipFill>
        <p:spPr bwMode="auto">
          <a:xfrm>
            <a:off x="8077200" y="3347258"/>
            <a:ext cx="3736340" cy="2903914"/>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30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1C841-BA56-5F40-9ADB-1F82CF750FF7}"/>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1A637F46-F67C-4942-A02D-3910F2571775}"/>
              </a:ext>
            </a:extLst>
          </p:cNvPr>
          <p:cNvSpPr>
            <a:spLocks noGrp="1"/>
          </p:cNvSpPr>
          <p:nvPr>
            <p:ph idx="1"/>
          </p:nvPr>
        </p:nvSpPr>
        <p:spPr>
          <a:xfrm>
            <a:off x="838199" y="1825625"/>
            <a:ext cx="8743123" cy="5032375"/>
          </a:xfrm>
        </p:spPr>
        <p:txBody>
          <a:bodyPr>
            <a:normAutofit/>
          </a:bodyPr>
          <a:lstStyle/>
          <a:p>
            <a:pPr marL="0" indent="0">
              <a:buNone/>
            </a:pPr>
            <a:r>
              <a:rPr lang="en-US" b="1" dirty="0"/>
              <a:t>Visual Search</a:t>
            </a:r>
          </a:p>
          <a:p>
            <a:r>
              <a:rPr lang="en-CA" b="1" dirty="0"/>
              <a:t>Luck et al., 1993</a:t>
            </a:r>
          </a:p>
          <a:p>
            <a:pPr lvl="1"/>
            <a:r>
              <a:rPr lang="en-CA" b="1" dirty="0"/>
              <a:t>Research Question: </a:t>
            </a:r>
            <a:r>
              <a:rPr lang="en-CA" dirty="0"/>
              <a:t>Do we have an attentional spotlight that is sensitive to locations on the visual field?</a:t>
            </a:r>
          </a:p>
          <a:p>
            <a:pPr lvl="1"/>
            <a:endParaRPr lang="en-CA" b="1" dirty="0"/>
          </a:p>
          <a:p>
            <a:pPr lvl="1"/>
            <a:r>
              <a:rPr lang="en-CA" b="1" dirty="0"/>
              <a:t>Task</a:t>
            </a:r>
          </a:p>
          <a:p>
            <a:pPr lvl="2"/>
            <a:r>
              <a:rPr lang="en-CA" dirty="0"/>
              <a:t>Complex stimuli with one pop-out distractor, and one pop-out target</a:t>
            </a:r>
          </a:p>
          <a:p>
            <a:pPr lvl="2"/>
            <a:r>
              <a:rPr lang="en-CA" dirty="0"/>
              <a:t>A ‘spotlight’ then either flashed on the pop-out distractor or target</a:t>
            </a:r>
          </a:p>
          <a:p>
            <a:pPr lvl="2"/>
            <a:r>
              <a:rPr lang="en-CA" dirty="0"/>
              <a:t>Respond by identifying whether stimuli is upright or upside down</a:t>
            </a:r>
          </a:p>
          <a:p>
            <a:pPr lvl="1"/>
            <a:endParaRPr lang="en-CA" b="1" dirty="0"/>
          </a:p>
          <a:p>
            <a:pPr lvl="1"/>
            <a:r>
              <a:rPr lang="en-CA" b="1" dirty="0"/>
              <a:t>IV: </a:t>
            </a:r>
            <a:r>
              <a:rPr lang="en-CA" dirty="0"/>
              <a:t>Whether the spotlight was on the target or distractor</a:t>
            </a:r>
          </a:p>
          <a:p>
            <a:pPr marL="0" indent="0">
              <a:buNone/>
            </a:pPr>
            <a:endParaRPr lang="en-US" dirty="0"/>
          </a:p>
        </p:txBody>
      </p:sp>
      <p:pic>
        <p:nvPicPr>
          <p:cNvPr id="5" name="Picture 1" descr="Visual search trial with probe stimulus.&#10;Stimuli were shown to participants, who were told to search for either a blue or a green t on each trial, and to indicate by pushing a button whether that item was upright or inverted. The red t’s were always irrelevant distractors. An irrelevant white, outlined square was fl ashed (for 50 ms) as a probe stimulus around either the blue or the green t. Moreover, the white probe could be flashed around the blue or green item when the colored item was the target, or when it was merely an irrelevant distractor. In this way, the amplitude of the probe ERP could be taken as an index of the location and strength of spatial attention just after the onset of the search array, at the point where participants would have located the target and discriminated its form (upright or inverted). The white probe was flashed either 250 ms or 400 ms after the onset search array. The search array remained on the screen for 700 ms. (b) The irrelevant white probe elicited a larger sensory-evoked occipital P1 wave when it occurred at the location of a relevant target (e.g., blue t) compared to the irrelevant target (e.g., green t). These findings support the idea that focal spatial attention is directed to the location of the target in the array during visual search. The corresponding amplitude modulations of sensory-evoked activity in early visual cortex that occur with the focused attention mirror those seen in spatial cuing paradigms.">
            <a:extLst>
              <a:ext uri="{FF2B5EF4-FFF2-40B4-BE49-F238E27FC236}">
                <a16:creationId xmlns:a16="http://schemas.microsoft.com/office/drawing/2014/main" id="{E85BD5D6-1DA1-C444-9190-8CF12BE2D4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660" r="65780" b="7692"/>
          <a:stretch/>
        </p:blipFill>
        <p:spPr bwMode="auto">
          <a:xfrm>
            <a:off x="9633098" y="992008"/>
            <a:ext cx="2360429" cy="5865992"/>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130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1C841-BA56-5F40-9ADB-1F82CF750FF7}"/>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1A637F46-F67C-4942-A02D-3910F2571775}"/>
              </a:ext>
            </a:extLst>
          </p:cNvPr>
          <p:cNvSpPr>
            <a:spLocks noGrp="1"/>
          </p:cNvSpPr>
          <p:nvPr>
            <p:ph idx="1"/>
          </p:nvPr>
        </p:nvSpPr>
        <p:spPr>
          <a:xfrm>
            <a:off x="838200" y="1825625"/>
            <a:ext cx="6705600" cy="5032375"/>
          </a:xfrm>
        </p:spPr>
        <p:txBody>
          <a:bodyPr>
            <a:normAutofit/>
          </a:bodyPr>
          <a:lstStyle/>
          <a:p>
            <a:pPr marL="0" indent="0">
              <a:buNone/>
            </a:pPr>
            <a:r>
              <a:rPr lang="en-US" b="1" dirty="0"/>
              <a:t>Visual Search</a:t>
            </a:r>
          </a:p>
          <a:p>
            <a:r>
              <a:rPr lang="en-CA" b="1" dirty="0"/>
              <a:t>Luck et al., 1993</a:t>
            </a:r>
          </a:p>
          <a:p>
            <a:pPr lvl="1"/>
            <a:r>
              <a:rPr lang="en-CA" b="1" dirty="0"/>
              <a:t>Results: </a:t>
            </a:r>
            <a:r>
              <a:rPr lang="en-CA" dirty="0"/>
              <a:t>Increased P1for valid spotlight</a:t>
            </a:r>
          </a:p>
          <a:p>
            <a:pPr lvl="2"/>
            <a:r>
              <a:rPr lang="en-CA" b="1" dirty="0"/>
              <a:t>P1</a:t>
            </a:r>
            <a:r>
              <a:rPr lang="en-CA" dirty="0"/>
              <a:t>: EEG neural signal, positive deflection at 100ms following stimulus</a:t>
            </a:r>
          </a:p>
          <a:p>
            <a:pPr lvl="1"/>
            <a:endParaRPr lang="en-CA" b="1" dirty="0"/>
          </a:p>
          <a:p>
            <a:pPr lvl="1"/>
            <a:r>
              <a:rPr lang="en-CA" b="1" dirty="0"/>
              <a:t>Conclusion: </a:t>
            </a:r>
            <a:r>
              <a:rPr lang="en-CA" dirty="0"/>
              <a:t>There exists spatial attention mechanisms in complex environments</a:t>
            </a:r>
          </a:p>
          <a:p>
            <a:pPr lvl="2"/>
            <a:r>
              <a:rPr lang="en-CA" dirty="0"/>
              <a:t>P1 reflects a boosting of attention towards the target stimuli</a:t>
            </a:r>
          </a:p>
        </p:txBody>
      </p:sp>
      <p:pic>
        <p:nvPicPr>
          <p:cNvPr id="5" name="Picture 1" descr="Visual search trial with probe stimulus.&#10;Stimuli were shown to participants, who were told to search for either a blue or a green t on each trial, and to indicate by pushing a button whether that item was upright or inverted. The red t’s were always irrelevant distractors. An irrelevant white, outlined square was fl ashed (for 50 ms) as a probe stimulus around either the blue or the green t. Moreover, the white probe could be flashed around the blue or green item when the colored item was the target, or when it was merely an irrelevant distractor. In this way, the amplitude of the probe ERP could be taken as an index of the location and strength of spatial attention just after the onset of the search array, at the point where participants would have located the target and discriminated its form (upright or inverted). The white probe was flashed either 250 ms or 400 ms after the onset search array. The search array remained on the screen for 700 ms. (b) The irrelevant white probe elicited a larger sensory-evoked occipital P1 wave when it occurred at the location of a relevant target (e.g., blue t) compared to the irrelevant target (e.g., green t). These findings support the idea that focal spatial attention is directed to the location of the target in the array during visual search. The corresponding amplitude modulations of sensory-evoked activity in early visual cortex that occur with the focused attention mirror those seen in spatial cuing paradigms.">
            <a:extLst>
              <a:ext uri="{FF2B5EF4-FFF2-40B4-BE49-F238E27FC236}">
                <a16:creationId xmlns:a16="http://schemas.microsoft.com/office/drawing/2014/main" id="{E85BD5D6-1DA1-C444-9190-8CF12BE2D4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657" t="3409" r="507" b="10029"/>
          <a:stretch/>
        </p:blipFill>
        <p:spPr bwMode="auto">
          <a:xfrm>
            <a:off x="7543800" y="992008"/>
            <a:ext cx="4509885" cy="5500867"/>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97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AA910-A4A3-AFFD-DC21-8BE51A29F409}"/>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D8B8DDB0-F184-BE78-146B-09B3138A386C}"/>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Attention</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Endogenous &amp; Exogenous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Visual Search</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Attentional Components</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Executive Functioning</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Effort</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Control</a:t>
            </a:r>
          </a:p>
        </p:txBody>
      </p:sp>
      <p:pic>
        <p:nvPicPr>
          <p:cNvPr id="2" name="Picture 1" descr="A colorful and black and white brain&#10;&#10;AI-generated content may be incorrect.">
            <a:extLst>
              <a:ext uri="{FF2B5EF4-FFF2-40B4-BE49-F238E27FC236}">
                <a16:creationId xmlns:a16="http://schemas.microsoft.com/office/drawing/2014/main" id="{10FD32F8-454D-45AB-2892-4A35596F6DF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663872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1CB6-4B9B-9D40-B6BF-C8C259DF2AAF}"/>
              </a:ext>
            </a:extLst>
          </p:cNvPr>
          <p:cNvSpPr>
            <a:spLocks noGrp="1"/>
          </p:cNvSpPr>
          <p:nvPr>
            <p:ph type="title"/>
          </p:nvPr>
        </p:nvSpPr>
        <p:spPr/>
        <p:txBody>
          <a:bodyPr/>
          <a:lstStyle/>
          <a:p>
            <a:r>
              <a:rPr lang="en-US" dirty="0"/>
              <a:t>Attentional Components</a:t>
            </a:r>
          </a:p>
        </p:txBody>
      </p:sp>
      <p:sp>
        <p:nvSpPr>
          <p:cNvPr id="3" name="Content Placeholder 2">
            <a:extLst>
              <a:ext uri="{FF2B5EF4-FFF2-40B4-BE49-F238E27FC236}">
                <a16:creationId xmlns:a16="http://schemas.microsoft.com/office/drawing/2014/main" id="{EFFD014C-CF20-5148-9C8A-6EC90DFFEC44}"/>
              </a:ext>
            </a:extLst>
          </p:cNvPr>
          <p:cNvSpPr>
            <a:spLocks noGrp="1"/>
          </p:cNvSpPr>
          <p:nvPr>
            <p:ph idx="1"/>
          </p:nvPr>
        </p:nvSpPr>
        <p:spPr>
          <a:xfrm>
            <a:off x="838200" y="1825624"/>
            <a:ext cx="7495309" cy="5032376"/>
          </a:xfrm>
        </p:spPr>
        <p:txBody>
          <a:bodyPr>
            <a:normAutofit fontScale="77500" lnSpcReduction="20000"/>
          </a:bodyPr>
          <a:lstStyle/>
          <a:p>
            <a:pPr marL="0" indent="0">
              <a:buNone/>
            </a:pPr>
            <a:r>
              <a:rPr lang="en-US" sz="3200" b="1" dirty="0"/>
              <a:t>Components of Attention</a:t>
            </a:r>
          </a:p>
          <a:p>
            <a:r>
              <a:rPr lang="en-US" sz="3200" b="1" dirty="0"/>
              <a:t>Alerting</a:t>
            </a:r>
            <a:r>
              <a:rPr lang="en-US" sz="3200" dirty="0"/>
              <a:t>: Signal of preparatory attentional need</a:t>
            </a:r>
          </a:p>
          <a:p>
            <a:pPr lvl="1"/>
            <a:r>
              <a:rPr lang="en-US" sz="2800" dirty="0"/>
              <a:t>A ‘when’ signal to switch out of a resting state towards a preparatory state</a:t>
            </a:r>
          </a:p>
          <a:p>
            <a:pPr lvl="1"/>
            <a:r>
              <a:rPr lang="en-US" sz="2800" dirty="0"/>
              <a:t>Only exists with endogenous control</a:t>
            </a:r>
          </a:p>
          <a:p>
            <a:endParaRPr lang="en-US" sz="3200" dirty="0"/>
          </a:p>
          <a:p>
            <a:r>
              <a:rPr lang="en-US" sz="3200" b="1" dirty="0"/>
              <a:t>Orienting</a:t>
            </a:r>
            <a:r>
              <a:rPr lang="en-US" sz="3200" dirty="0"/>
              <a:t>: Control of attention towards location or modality</a:t>
            </a:r>
          </a:p>
          <a:p>
            <a:pPr lvl="1"/>
            <a:r>
              <a:rPr lang="en-US" sz="2800" dirty="0"/>
              <a:t>A ‘where’ signal used to prioritize target information and disengage from other information</a:t>
            </a:r>
          </a:p>
          <a:p>
            <a:endParaRPr lang="en-US" sz="3200" dirty="0"/>
          </a:p>
          <a:p>
            <a:r>
              <a:rPr lang="en-US" sz="3200" b="1" dirty="0"/>
              <a:t>Executive</a:t>
            </a:r>
            <a:r>
              <a:rPr lang="en-US" sz="3200" dirty="0"/>
              <a:t>: Top-down influence to maintain important information</a:t>
            </a:r>
          </a:p>
          <a:p>
            <a:pPr lvl="1"/>
            <a:r>
              <a:rPr lang="en-US" sz="2800" dirty="0"/>
              <a:t>Determining how mental resources will be used (e.g., cognitive control)</a:t>
            </a:r>
          </a:p>
          <a:p>
            <a:endParaRPr lang="en-US" sz="3200" dirty="0"/>
          </a:p>
        </p:txBody>
      </p:sp>
      <p:grpSp>
        <p:nvGrpSpPr>
          <p:cNvPr id="5" name="Group 4">
            <a:extLst>
              <a:ext uri="{FF2B5EF4-FFF2-40B4-BE49-F238E27FC236}">
                <a16:creationId xmlns:a16="http://schemas.microsoft.com/office/drawing/2014/main" id="{E12DB531-DE05-E540-9133-1B902223668C}"/>
              </a:ext>
            </a:extLst>
          </p:cNvPr>
          <p:cNvGrpSpPr/>
          <p:nvPr/>
        </p:nvGrpSpPr>
        <p:grpSpPr>
          <a:xfrm>
            <a:off x="8177544" y="1690688"/>
            <a:ext cx="3954103" cy="3568831"/>
            <a:chOff x="2713892" y="668215"/>
            <a:chExt cx="6858000" cy="6189785"/>
          </a:xfrm>
        </p:grpSpPr>
        <p:pic>
          <p:nvPicPr>
            <p:cNvPr id="6" name="Picture 5" descr="A picture containing plate&#10;&#10;Description automatically generated">
              <a:extLst>
                <a:ext uri="{FF2B5EF4-FFF2-40B4-BE49-F238E27FC236}">
                  <a16:creationId xmlns:a16="http://schemas.microsoft.com/office/drawing/2014/main" id="{ED547426-F4A2-5640-99A2-6A971AD71217}"/>
                </a:ext>
              </a:extLst>
            </p:cNvPr>
            <p:cNvPicPr>
              <a:picLocks noChangeAspect="1"/>
            </p:cNvPicPr>
            <p:nvPr/>
          </p:nvPicPr>
          <p:blipFill rotWithShape="1">
            <a:blip r:embed="rId2">
              <a:clrChange>
                <a:clrFrom>
                  <a:srgbClr val="FFFFFF"/>
                </a:clrFrom>
                <a:clrTo>
                  <a:srgbClr val="FFFFFF">
                    <a:alpha val="0"/>
                  </a:srgbClr>
                </a:clrTo>
              </a:clrChange>
            </a:blip>
            <a:srcRect b="9744"/>
            <a:stretch/>
          </p:blipFill>
          <p:spPr>
            <a:xfrm>
              <a:off x="2713892" y="668215"/>
              <a:ext cx="6858000" cy="6189785"/>
            </a:xfrm>
            <a:prstGeom prst="rect">
              <a:avLst/>
            </a:prstGeom>
          </p:spPr>
        </p:pic>
        <p:sp>
          <p:nvSpPr>
            <p:cNvPr id="7" name="Freeform 6">
              <a:extLst>
                <a:ext uri="{FF2B5EF4-FFF2-40B4-BE49-F238E27FC236}">
                  <a16:creationId xmlns:a16="http://schemas.microsoft.com/office/drawing/2014/main" id="{0E822E98-0D65-664C-9165-E49AC6DB6A8D}"/>
                </a:ext>
              </a:extLst>
            </p:cNvPr>
            <p:cNvSpPr/>
            <p:nvPr/>
          </p:nvSpPr>
          <p:spPr>
            <a:xfrm>
              <a:off x="6532075" y="4200808"/>
              <a:ext cx="307818" cy="443620"/>
            </a:xfrm>
            <a:custGeom>
              <a:avLst/>
              <a:gdLst>
                <a:gd name="connsiteX0" fmla="*/ 0 w 307818"/>
                <a:gd name="connsiteY0" fmla="*/ 40741 h 443620"/>
                <a:gd name="connsiteX1" fmla="*/ 104115 w 307818"/>
                <a:gd name="connsiteY1" fmla="*/ 158436 h 443620"/>
                <a:gd name="connsiteX2" fmla="*/ 158436 w 307818"/>
                <a:gd name="connsiteY2" fmla="*/ 239917 h 443620"/>
                <a:gd name="connsiteX3" fmla="*/ 203703 w 307818"/>
                <a:gd name="connsiteY3" fmla="*/ 312344 h 443620"/>
                <a:gd name="connsiteX4" fmla="*/ 248971 w 307818"/>
                <a:gd name="connsiteY4" fmla="*/ 398352 h 443620"/>
                <a:gd name="connsiteX5" fmla="*/ 271604 w 307818"/>
                <a:gd name="connsiteY5" fmla="*/ 443620 h 443620"/>
                <a:gd name="connsiteX6" fmla="*/ 271604 w 307818"/>
                <a:gd name="connsiteY6" fmla="*/ 443620 h 443620"/>
                <a:gd name="connsiteX7" fmla="*/ 307818 w 307818"/>
                <a:gd name="connsiteY7" fmla="*/ 420986 h 443620"/>
                <a:gd name="connsiteX8" fmla="*/ 267077 w 307818"/>
                <a:gd name="connsiteY8" fmla="*/ 334978 h 443620"/>
                <a:gd name="connsiteX9" fmla="*/ 221810 w 307818"/>
                <a:gd name="connsiteY9" fmla="*/ 258024 h 443620"/>
                <a:gd name="connsiteX10" fmla="*/ 176543 w 307818"/>
                <a:gd name="connsiteY10" fmla="*/ 185596 h 443620"/>
                <a:gd name="connsiteX11" fmla="*/ 131275 w 307818"/>
                <a:gd name="connsiteY11" fmla="*/ 126748 h 443620"/>
                <a:gd name="connsiteX12" fmla="*/ 90535 w 307818"/>
                <a:gd name="connsiteY12" fmla="*/ 86008 h 443620"/>
                <a:gd name="connsiteX13" fmla="*/ 31687 w 307818"/>
                <a:gd name="connsiteY13" fmla="*/ 0 h 443620"/>
                <a:gd name="connsiteX14" fmla="*/ 0 w 307818"/>
                <a:gd name="connsiteY14" fmla="*/ 40741 h 44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818" h="443620">
                  <a:moveTo>
                    <a:pt x="0" y="40741"/>
                  </a:moveTo>
                  <a:lnTo>
                    <a:pt x="104115" y="158436"/>
                  </a:lnTo>
                  <a:lnTo>
                    <a:pt x="158436" y="239917"/>
                  </a:lnTo>
                  <a:lnTo>
                    <a:pt x="203703" y="312344"/>
                  </a:lnTo>
                  <a:lnTo>
                    <a:pt x="248971" y="398352"/>
                  </a:lnTo>
                  <a:lnTo>
                    <a:pt x="271604" y="443620"/>
                  </a:lnTo>
                  <a:lnTo>
                    <a:pt x="271604" y="443620"/>
                  </a:lnTo>
                  <a:lnTo>
                    <a:pt x="307818" y="420986"/>
                  </a:lnTo>
                  <a:lnTo>
                    <a:pt x="267077" y="334978"/>
                  </a:lnTo>
                  <a:lnTo>
                    <a:pt x="221810" y="258024"/>
                  </a:lnTo>
                  <a:lnTo>
                    <a:pt x="176543" y="185596"/>
                  </a:lnTo>
                  <a:lnTo>
                    <a:pt x="131275" y="126748"/>
                  </a:lnTo>
                  <a:lnTo>
                    <a:pt x="90535" y="86008"/>
                  </a:lnTo>
                  <a:lnTo>
                    <a:pt x="31687" y="0"/>
                  </a:lnTo>
                  <a:lnTo>
                    <a:pt x="0" y="40741"/>
                  </a:lnTo>
                  <a:close/>
                </a:path>
              </a:pathLst>
            </a:custGeom>
            <a:solidFill>
              <a:srgbClr val="E5BAA9"/>
            </a:solidFill>
            <a:ln>
              <a:solidFill>
                <a:srgbClr val="E5BA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5231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E170CC-70BD-8E4E-B808-55EB2EC5F619}"/>
              </a:ext>
            </a:extLst>
          </p:cNvPr>
          <p:cNvSpPr/>
          <p:nvPr/>
        </p:nvSpPr>
        <p:spPr>
          <a:xfrm>
            <a:off x="0" y="0"/>
            <a:ext cx="12192000" cy="6858000"/>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dirty="0"/>
          </a:p>
        </p:txBody>
      </p:sp>
      <p:sp>
        <p:nvSpPr>
          <p:cNvPr id="5" name="Oval 4">
            <a:extLst>
              <a:ext uri="{FF2B5EF4-FFF2-40B4-BE49-F238E27FC236}">
                <a16:creationId xmlns:a16="http://schemas.microsoft.com/office/drawing/2014/main" id="{7E18FFC3-7FC3-1344-AD52-BDE3F77E3214}"/>
              </a:ext>
            </a:extLst>
          </p:cNvPr>
          <p:cNvSpPr/>
          <p:nvPr/>
        </p:nvSpPr>
        <p:spPr>
          <a:xfrm>
            <a:off x="537029" y="3135087"/>
            <a:ext cx="885371" cy="885371"/>
          </a:xfrm>
          <a:prstGeom prst="ellipse">
            <a:avLst/>
          </a:prstGeom>
          <a:solidFill>
            <a:schemeClr val="tx1">
              <a:lumMod val="65000"/>
              <a:lumOff val="3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Arrow 8">
            <a:extLst>
              <a:ext uri="{FF2B5EF4-FFF2-40B4-BE49-F238E27FC236}">
                <a16:creationId xmlns:a16="http://schemas.microsoft.com/office/drawing/2014/main" id="{378EA959-BFFE-7648-835D-C9518B283944}"/>
              </a:ext>
            </a:extLst>
          </p:cNvPr>
          <p:cNvSpPr/>
          <p:nvPr/>
        </p:nvSpPr>
        <p:spPr>
          <a:xfrm>
            <a:off x="5392058" y="3139439"/>
            <a:ext cx="1611085" cy="798014"/>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895C268D-5C5D-2A4F-BAD1-34EAAE414EE4}"/>
              </a:ext>
            </a:extLst>
          </p:cNvPr>
          <p:cNvSpPr/>
          <p:nvPr/>
        </p:nvSpPr>
        <p:spPr>
          <a:xfrm>
            <a:off x="4063538" y="1956262"/>
            <a:ext cx="3916680" cy="3291840"/>
          </a:xfrm>
          <a:prstGeom prst="ellipse">
            <a:avLst/>
          </a:prstGeom>
          <a:noFill/>
          <a:ln w="635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66E7986B-CDB5-384A-84C0-B8B2534FA709}"/>
              </a:ext>
            </a:extLst>
          </p:cNvPr>
          <p:cNvSpPr/>
          <p:nvPr/>
        </p:nvSpPr>
        <p:spPr>
          <a:xfrm>
            <a:off x="8697350" y="1896794"/>
            <a:ext cx="3916680" cy="3291840"/>
          </a:xfrm>
          <a:prstGeom prst="ellipse">
            <a:avLst/>
          </a:prstGeom>
          <a:noFill/>
          <a:ln w="635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5-Point Star 1">
            <a:extLst>
              <a:ext uri="{FF2B5EF4-FFF2-40B4-BE49-F238E27FC236}">
                <a16:creationId xmlns:a16="http://schemas.microsoft.com/office/drawing/2014/main" id="{43F359DF-4FA9-0242-A654-D09F2BAB3958}"/>
              </a:ext>
            </a:extLst>
          </p:cNvPr>
          <p:cNvSpPr/>
          <p:nvPr/>
        </p:nvSpPr>
        <p:spPr>
          <a:xfrm>
            <a:off x="5500254" y="2881746"/>
            <a:ext cx="1122218" cy="1122218"/>
          </a:xfrm>
          <a:prstGeom prst="star5">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457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1" nodeType="afterEffect">
                                  <p:stCondLst>
                                    <p:cond delay="200"/>
                                  </p:stCondLst>
                                  <p:childTnLst>
                                    <p:set>
                                      <p:cBhvr>
                                        <p:cTn id="9" dur="1" fill="hold">
                                          <p:stCondLst>
                                            <p:cond delay="0"/>
                                          </p:stCondLst>
                                        </p:cTn>
                                        <p:tgtEl>
                                          <p:spTgt spid="2"/>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42" presetClass="path" presetSubtype="0" accel="50000" decel="50000" fill="hold" grpId="0" nodeType="withEffect">
                                  <p:stCondLst>
                                    <p:cond delay="0"/>
                                  </p:stCondLst>
                                  <p:childTnLst>
                                    <p:animMotion origin="layout" path="M -2.08333E-7 -1.48148E-6 L 0.36315 0.0044 " pathEditMode="relative" rAng="0" ptsTypes="AA">
                                      <p:cBhvr>
                                        <p:cTn id="15" dur="2000" fill="hold"/>
                                        <p:tgtEl>
                                          <p:spTgt spid="8"/>
                                        </p:tgtEl>
                                        <p:attrNameLst>
                                          <p:attrName>ppt_x</p:attrName>
                                          <p:attrName>ppt_y</p:attrName>
                                        </p:attrNameLst>
                                      </p:cBhvr>
                                      <p:rCtr x="18151" y="208"/>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8"/>
                                        </p:tgtEl>
                                        <p:attrNameLst>
                                          <p:attrName>style.visibility</p:attrName>
                                        </p:attrNameLst>
                                      </p:cBhvr>
                                      <p:to>
                                        <p:strVal val="hidden"/>
                                      </p:to>
                                    </p:set>
                                  </p:childTnLst>
                                </p:cTn>
                              </p:par>
                              <p:par>
                                <p:cTn id="22" presetID="1" presetClass="entr" presetSubtype="0" fill="hold" grpId="1"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42" presetClass="path" presetSubtype="0" accel="50000" decel="50000" fill="hold" grpId="0" nodeType="withEffect">
                                  <p:stCondLst>
                                    <p:cond delay="0"/>
                                  </p:stCondLst>
                                  <p:childTnLst>
                                    <p:animMotion origin="layout" path="M 1.66667E-6 4.81481E-6 L -0.74284 -0.01042 " pathEditMode="relative" rAng="0" ptsTypes="AA">
                                      <p:cBhvr>
                                        <p:cTn id="25" dur="2000" fill="hold"/>
                                        <p:tgtEl>
                                          <p:spTgt spid="10"/>
                                        </p:tgtEl>
                                        <p:attrNameLst>
                                          <p:attrName>ppt_x</p:attrName>
                                          <p:attrName>ppt_y</p:attrName>
                                        </p:attrNameLst>
                                      </p:cBhvr>
                                      <p:rCtr x="-37148" y="-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8" grpId="0" animBg="1"/>
      <p:bldP spid="8" grpId="1" animBg="1"/>
      <p:bldP spid="10" grpId="0" animBg="1"/>
      <p:bldP spid="10" grpId="1" animBg="1"/>
      <p:bldP spid="2" grpId="0" animBg="1"/>
      <p:bldP spid="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447E8-CAEC-7E4B-88A0-3015B1998224}"/>
              </a:ext>
            </a:extLst>
          </p:cNvPr>
          <p:cNvSpPr>
            <a:spLocks noGrp="1"/>
          </p:cNvSpPr>
          <p:nvPr>
            <p:ph type="title"/>
          </p:nvPr>
        </p:nvSpPr>
        <p:spPr/>
        <p:txBody>
          <a:bodyPr/>
          <a:lstStyle/>
          <a:p>
            <a:r>
              <a:rPr lang="en-US" dirty="0"/>
              <a:t>Attentional Components</a:t>
            </a:r>
          </a:p>
        </p:txBody>
      </p:sp>
      <p:sp>
        <p:nvSpPr>
          <p:cNvPr id="3" name="Content Placeholder 2">
            <a:extLst>
              <a:ext uri="{FF2B5EF4-FFF2-40B4-BE49-F238E27FC236}">
                <a16:creationId xmlns:a16="http://schemas.microsoft.com/office/drawing/2014/main" id="{D34E73F6-63A7-D640-A8AC-735717CB84C9}"/>
              </a:ext>
            </a:extLst>
          </p:cNvPr>
          <p:cNvSpPr>
            <a:spLocks noGrp="1"/>
          </p:cNvSpPr>
          <p:nvPr>
            <p:ph idx="1"/>
          </p:nvPr>
        </p:nvSpPr>
        <p:spPr>
          <a:xfrm>
            <a:off x="838199" y="1825625"/>
            <a:ext cx="6126325" cy="4351338"/>
          </a:xfrm>
        </p:spPr>
        <p:txBody>
          <a:bodyPr>
            <a:normAutofit/>
          </a:bodyPr>
          <a:lstStyle/>
          <a:p>
            <a:pPr marL="0" indent="0">
              <a:buNone/>
            </a:pPr>
            <a:r>
              <a:rPr lang="en-US" b="1" dirty="0"/>
              <a:t>Alerting</a:t>
            </a:r>
            <a:endParaRPr lang="en-US" dirty="0"/>
          </a:p>
          <a:p>
            <a:r>
              <a:rPr lang="en-US" b="1" dirty="0"/>
              <a:t>Frontal Cortex</a:t>
            </a:r>
            <a:endParaRPr lang="en-US" dirty="0"/>
          </a:p>
          <a:p>
            <a:pPr lvl="1"/>
            <a:r>
              <a:rPr lang="en-US" dirty="0"/>
              <a:t>Sustains alert state</a:t>
            </a:r>
          </a:p>
          <a:p>
            <a:pPr lvl="1"/>
            <a:r>
              <a:rPr lang="en-US" dirty="0"/>
              <a:t>Top-down readiness to respond</a:t>
            </a:r>
          </a:p>
          <a:p>
            <a:pPr marL="0" indent="0">
              <a:buNone/>
            </a:pPr>
            <a:r>
              <a:rPr lang="en-US" dirty="0"/>
              <a:t>  </a:t>
            </a:r>
          </a:p>
          <a:p>
            <a:r>
              <a:rPr lang="en-US" b="1" dirty="0"/>
              <a:t>Parietal Areas</a:t>
            </a:r>
            <a:endParaRPr lang="en-US" dirty="0"/>
          </a:p>
          <a:p>
            <a:pPr lvl="1"/>
            <a:r>
              <a:rPr lang="en-US" dirty="0"/>
              <a:t>Maintains vigilance</a:t>
            </a:r>
          </a:p>
          <a:p>
            <a:pPr lvl="1"/>
            <a:r>
              <a:rPr lang="en-US" dirty="0"/>
              <a:t>Detects stimulus onset for orienting</a:t>
            </a:r>
          </a:p>
        </p:txBody>
      </p:sp>
      <p:grpSp>
        <p:nvGrpSpPr>
          <p:cNvPr id="4" name="Group 3">
            <a:extLst>
              <a:ext uri="{FF2B5EF4-FFF2-40B4-BE49-F238E27FC236}">
                <a16:creationId xmlns:a16="http://schemas.microsoft.com/office/drawing/2014/main" id="{83468C32-BEA6-69C2-52C6-17FCDB15EC14}"/>
              </a:ext>
            </a:extLst>
          </p:cNvPr>
          <p:cNvGrpSpPr/>
          <p:nvPr/>
        </p:nvGrpSpPr>
        <p:grpSpPr>
          <a:xfrm>
            <a:off x="5862295" y="1495155"/>
            <a:ext cx="6724987" cy="4351339"/>
            <a:chOff x="2713892" y="380506"/>
            <a:chExt cx="10010956" cy="6477494"/>
          </a:xfrm>
        </p:grpSpPr>
        <p:grpSp>
          <p:nvGrpSpPr>
            <p:cNvPr id="6" name="Group 5">
              <a:extLst>
                <a:ext uri="{FF2B5EF4-FFF2-40B4-BE49-F238E27FC236}">
                  <a16:creationId xmlns:a16="http://schemas.microsoft.com/office/drawing/2014/main" id="{08FAF01A-738F-A782-5AEE-55FB9B2433B9}"/>
                </a:ext>
              </a:extLst>
            </p:cNvPr>
            <p:cNvGrpSpPr/>
            <p:nvPr/>
          </p:nvGrpSpPr>
          <p:grpSpPr>
            <a:xfrm>
              <a:off x="2713892" y="668215"/>
              <a:ext cx="6858000" cy="6189785"/>
              <a:chOff x="2713892" y="668215"/>
              <a:chExt cx="6858000" cy="6189785"/>
            </a:xfrm>
          </p:grpSpPr>
          <p:pic>
            <p:nvPicPr>
              <p:cNvPr id="19" name="Picture 18" descr="A picture containing plate&#10;&#10;Description automatically generated">
                <a:extLst>
                  <a:ext uri="{FF2B5EF4-FFF2-40B4-BE49-F238E27FC236}">
                    <a16:creationId xmlns:a16="http://schemas.microsoft.com/office/drawing/2014/main" id="{5766FC2B-3AA8-73E5-E8B5-2FD4FB38EE3E}"/>
                  </a:ext>
                </a:extLst>
              </p:cNvPr>
              <p:cNvPicPr>
                <a:picLocks noChangeAspect="1"/>
              </p:cNvPicPr>
              <p:nvPr/>
            </p:nvPicPr>
            <p:blipFill rotWithShape="1">
              <a:blip r:embed="rId2">
                <a:clrChange>
                  <a:clrFrom>
                    <a:srgbClr val="FFFFFF"/>
                  </a:clrFrom>
                  <a:clrTo>
                    <a:srgbClr val="FFFFFF">
                      <a:alpha val="0"/>
                    </a:srgbClr>
                  </a:clrTo>
                </a:clrChange>
              </a:blip>
              <a:srcRect b="9744"/>
              <a:stretch/>
            </p:blipFill>
            <p:spPr>
              <a:xfrm>
                <a:off x="2713892" y="668215"/>
                <a:ext cx="6858000" cy="6189785"/>
              </a:xfrm>
              <a:prstGeom prst="rect">
                <a:avLst/>
              </a:prstGeom>
            </p:spPr>
          </p:pic>
          <p:sp>
            <p:nvSpPr>
              <p:cNvPr id="20" name="Freeform 6">
                <a:extLst>
                  <a:ext uri="{FF2B5EF4-FFF2-40B4-BE49-F238E27FC236}">
                    <a16:creationId xmlns:a16="http://schemas.microsoft.com/office/drawing/2014/main" id="{0079467B-53DA-8EF4-6A94-6030B04303A1}"/>
                  </a:ext>
                </a:extLst>
              </p:cNvPr>
              <p:cNvSpPr/>
              <p:nvPr/>
            </p:nvSpPr>
            <p:spPr>
              <a:xfrm>
                <a:off x="6532075" y="4200808"/>
                <a:ext cx="307818" cy="443620"/>
              </a:xfrm>
              <a:custGeom>
                <a:avLst/>
                <a:gdLst>
                  <a:gd name="connsiteX0" fmla="*/ 0 w 307818"/>
                  <a:gd name="connsiteY0" fmla="*/ 40741 h 443620"/>
                  <a:gd name="connsiteX1" fmla="*/ 104115 w 307818"/>
                  <a:gd name="connsiteY1" fmla="*/ 158436 h 443620"/>
                  <a:gd name="connsiteX2" fmla="*/ 158436 w 307818"/>
                  <a:gd name="connsiteY2" fmla="*/ 239917 h 443620"/>
                  <a:gd name="connsiteX3" fmla="*/ 203703 w 307818"/>
                  <a:gd name="connsiteY3" fmla="*/ 312344 h 443620"/>
                  <a:gd name="connsiteX4" fmla="*/ 248971 w 307818"/>
                  <a:gd name="connsiteY4" fmla="*/ 398352 h 443620"/>
                  <a:gd name="connsiteX5" fmla="*/ 271604 w 307818"/>
                  <a:gd name="connsiteY5" fmla="*/ 443620 h 443620"/>
                  <a:gd name="connsiteX6" fmla="*/ 271604 w 307818"/>
                  <a:gd name="connsiteY6" fmla="*/ 443620 h 443620"/>
                  <a:gd name="connsiteX7" fmla="*/ 307818 w 307818"/>
                  <a:gd name="connsiteY7" fmla="*/ 420986 h 443620"/>
                  <a:gd name="connsiteX8" fmla="*/ 267077 w 307818"/>
                  <a:gd name="connsiteY8" fmla="*/ 334978 h 443620"/>
                  <a:gd name="connsiteX9" fmla="*/ 221810 w 307818"/>
                  <a:gd name="connsiteY9" fmla="*/ 258024 h 443620"/>
                  <a:gd name="connsiteX10" fmla="*/ 176543 w 307818"/>
                  <a:gd name="connsiteY10" fmla="*/ 185596 h 443620"/>
                  <a:gd name="connsiteX11" fmla="*/ 131275 w 307818"/>
                  <a:gd name="connsiteY11" fmla="*/ 126748 h 443620"/>
                  <a:gd name="connsiteX12" fmla="*/ 90535 w 307818"/>
                  <a:gd name="connsiteY12" fmla="*/ 86008 h 443620"/>
                  <a:gd name="connsiteX13" fmla="*/ 31687 w 307818"/>
                  <a:gd name="connsiteY13" fmla="*/ 0 h 443620"/>
                  <a:gd name="connsiteX14" fmla="*/ 0 w 307818"/>
                  <a:gd name="connsiteY14" fmla="*/ 40741 h 44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818" h="443620">
                    <a:moveTo>
                      <a:pt x="0" y="40741"/>
                    </a:moveTo>
                    <a:lnTo>
                      <a:pt x="104115" y="158436"/>
                    </a:lnTo>
                    <a:lnTo>
                      <a:pt x="158436" y="239917"/>
                    </a:lnTo>
                    <a:lnTo>
                      <a:pt x="203703" y="312344"/>
                    </a:lnTo>
                    <a:lnTo>
                      <a:pt x="248971" y="398352"/>
                    </a:lnTo>
                    <a:lnTo>
                      <a:pt x="271604" y="443620"/>
                    </a:lnTo>
                    <a:lnTo>
                      <a:pt x="271604" y="443620"/>
                    </a:lnTo>
                    <a:lnTo>
                      <a:pt x="307818" y="420986"/>
                    </a:lnTo>
                    <a:lnTo>
                      <a:pt x="267077" y="334978"/>
                    </a:lnTo>
                    <a:lnTo>
                      <a:pt x="221810" y="258024"/>
                    </a:lnTo>
                    <a:lnTo>
                      <a:pt x="176543" y="185596"/>
                    </a:lnTo>
                    <a:lnTo>
                      <a:pt x="131275" y="126748"/>
                    </a:lnTo>
                    <a:lnTo>
                      <a:pt x="90535" y="86008"/>
                    </a:lnTo>
                    <a:lnTo>
                      <a:pt x="31687" y="0"/>
                    </a:lnTo>
                    <a:lnTo>
                      <a:pt x="0" y="40741"/>
                    </a:lnTo>
                    <a:close/>
                  </a:path>
                </a:pathLst>
              </a:custGeom>
              <a:solidFill>
                <a:srgbClr val="E5BAA9"/>
              </a:solidFill>
              <a:ln>
                <a:solidFill>
                  <a:srgbClr val="E5BA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18">
              <a:extLst>
                <a:ext uri="{FF2B5EF4-FFF2-40B4-BE49-F238E27FC236}">
                  <a16:creationId xmlns:a16="http://schemas.microsoft.com/office/drawing/2014/main" id="{4033F643-0FEA-1823-1CCE-A9F8D7DC5E93}"/>
                </a:ext>
              </a:extLst>
            </p:cNvPr>
            <p:cNvSpPr/>
            <p:nvPr/>
          </p:nvSpPr>
          <p:spPr>
            <a:xfrm>
              <a:off x="6825343" y="1763486"/>
              <a:ext cx="1404257" cy="1273628"/>
            </a:xfrm>
            <a:custGeom>
              <a:avLst/>
              <a:gdLst>
                <a:gd name="connsiteX0" fmla="*/ 0 w 1404257"/>
                <a:gd name="connsiteY0" fmla="*/ 930728 h 1273628"/>
                <a:gd name="connsiteX1" fmla="*/ 767443 w 1404257"/>
                <a:gd name="connsiteY1" fmla="*/ 1273628 h 1273628"/>
                <a:gd name="connsiteX2" fmla="*/ 1273628 w 1404257"/>
                <a:gd name="connsiteY2" fmla="*/ 832757 h 1273628"/>
                <a:gd name="connsiteX3" fmla="*/ 1404257 w 1404257"/>
                <a:gd name="connsiteY3" fmla="*/ 408214 h 1273628"/>
                <a:gd name="connsiteX4" fmla="*/ 1094014 w 1404257"/>
                <a:gd name="connsiteY4" fmla="*/ 130628 h 1273628"/>
                <a:gd name="connsiteX5" fmla="*/ 800100 w 1404257"/>
                <a:gd name="connsiteY5" fmla="*/ 0 h 1273628"/>
                <a:gd name="connsiteX6" fmla="*/ 555171 w 1404257"/>
                <a:gd name="connsiteY6" fmla="*/ 16328 h 1273628"/>
                <a:gd name="connsiteX7" fmla="*/ 506186 w 1404257"/>
                <a:gd name="connsiteY7" fmla="*/ 506185 h 1273628"/>
                <a:gd name="connsiteX8" fmla="*/ 359228 w 1404257"/>
                <a:gd name="connsiteY8" fmla="*/ 816428 h 1273628"/>
                <a:gd name="connsiteX9" fmla="*/ 0 w 1404257"/>
                <a:gd name="connsiteY9" fmla="*/ 930728 h 1273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4257" h="1273628">
                  <a:moveTo>
                    <a:pt x="0" y="930728"/>
                  </a:moveTo>
                  <a:lnTo>
                    <a:pt x="767443" y="1273628"/>
                  </a:lnTo>
                  <a:lnTo>
                    <a:pt x="1273628" y="832757"/>
                  </a:lnTo>
                  <a:lnTo>
                    <a:pt x="1404257" y="408214"/>
                  </a:lnTo>
                  <a:lnTo>
                    <a:pt x="1094014" y="130628"/>
                  </a:lnTo>
                  <a:lnTo>
                    <a:pt x="800100" y="0"/>
                  </a:lnTo>
                  <a:lnTo>
                    <a:pt x="555171" y="16328"/>
                  </a:lnTo>
                  <a:lnTo>
                    <a:pt x="506186" y="506185"/>
                  </a:lnTo>
                  <a:lnTo>
                    <a:pt x="359228" y="816428"/>
                  </a:lnTo>
                  <a:lnTo>
                    <a:pt x="0" y="930728"/>
                  </a:lnTo>
                  <a:close/>
                </a:path>
              </a:pathLst>
            </a:custGeom>
            <a:solidFill>
              <a:srgbClr val="4472C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D0EA5C2E-51B6-CA93-4A9C-8632202DF498}"/>
                </a:ext>
              </a:extLst>
            </p:cNvPr>
            <p:cNvCxnSpPr>
              <a:cxnSpLocks/>
            </p:cNvCxnSpPr>
            <p:nvPr/>
          </p:nvCxnSpPr>
          <p:spPr>
            <a:xfrm flipH="1">
              <a:off x="7730837" y="966355"/>
              <a:ext cx="592281" cy="136120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A6B91E8-8ECA-2B96-BCC9-5D4907D60EF3}"/>
                </a:ext>
              </a:extLst>
            </p:cNvPr>
            <p:cNvSpPr txBox="1"/>
            <p:nvPr/>
          </p:nvSpPr>
          <p:spPr>
            <a:xfrm>
              <a:off x="7819425" y="380506"/>
              <a:ext cx="1044019" cy="641427"/>
            </a:xfrm>
            <a:prstGeom prst="rect">
              <a:avLst/>
            </a:prstGeom>
            <a:noFill/>
          </p:spPr>
          <p:txBody>
            <a:bodyPr wrap="square" rtlCol="0">
              <a:spAutoFit/>
            </a:bodyPr>
            <a:lstStyle/>
            <a:p>
              <a:pPr algn="ctr"/>
              <a:r>
                <a:rPr lang="en-US" sz="1100" b="1" dirty="0">
                  <a:solidFill>
                    <a:srgbClr val="4472C4"/>
                  </a:solidFill>
                </a:rPr>
                <a:t>Parietal Cortex</a:t>
              </a:r>
            </a:p>
          </p:txBody>
        </p:sp>
        <p:pic>
          <p:nvPicPr>
            <p:cNvPr id="13" name="Picture 12" descr="A close up of a nut&#10;&#10;Description automatically generated">
              <a:extLst>
                <a:ext uri="{FF2B5EF4-FFF2-40B4-BE49-F238E27FC236}">
                  <a16:creationId xmlns:a16="http://schemas.microsoft.com/office/drawing/2014/main" id="{2E10DFB0-1A83-8E8B-80FB-4B7E65754A2C}"/>
                </a:ext>
              </a:extLst>
            </p:cNvPr>
            <p:cNvPicPr>
              <a:picLocks noChangeAspect="1"/>
            </p:cNvPicPr>
            <p:nvPr/>
          </p:nvPicPr>
          <p:blipFill rotWithShape="1">
            <a:blip r:embed="rId3">
              <a:clrChange>
                <a:clrFrom>
                  <a:srgbClr val="FFFFFF"/>
                </a:clrFrom>
                <a:clrTo>
                  <a:srgbClr val="FFFFFF">
                    <a:alpha val="0"/>
                  </a:srgbClr>
                </a:clrTo>
              </a:clrChange>
            </a:blip>
            <a:srcRect t="37677"/>
            <a:stretch/>
          </p:blipFill>
          <p:spPr>
            <a:xfrm rot="636645">
              <a:off x="7975048" y="412807"/>
              <a:ext cx="4749800" cy="2865230"/>
            </a:xfrm>
            <a:prstGeom prst="rect">
              <a:avLst/>
            </a:prstGeom>
          </p:spPr>
        </p:pic>
        <p:sp>
          <p:nvSpPr>
            <p:cNvPr id="14" name="Freeform 25">
              <a:extLst>
                <a:ext uri="{FF2B5EF4-FFF2-40B4-BE49-F238E27FC236}">
                  <a16:creationId xmlns:a16="http://schemas.microsoft.com/office/drawing/2014/main" id="{55C82E8D-09F5-68D9-D050-0101E2C04349}"/>
                </a:ext>
              </a:extLst>
            </p:cNvPr>
            <p:cNvSpPr/>
            <p:nvPr/>
          </p:nvSpPr>
          <p:spPr>
            <a:xfrm>
              <a:off x="10535478" y="636104"/>
              <a:ext cx="536713" cy="556592"/>
            </a:xfrm>
            <a:custGeom>
              <a:avLst/>
              <a:gdLst>
                <a:gd name="connsiteX0" fmla="*/ 139148 w 536713"/>
                <a:gd name="connsiteY0" fmla="*/ 0 h 556592"/>
                <a:gd name="connsiteX1" fmla="*/ 536713 w 536713"/>
                <a:gd name="connsiteY1" fmla="*/ 178905 h 556592"/>
                <a:gd name="connsiteX2" fmla="*/ 357809 w 536713"/>
                <a:gd name="connsiteY2" fmla="*/ 457200 h 556592"/>
                <a:gd name="connsiteX3" fmla="*/ 318052 w 536713"/>
                <a:gd name="connsiteY3" fmla="*/ 556592 h 556592"/>
                <a:gd name="connsiteX4" fmla="*/ 39757 w 536713"/>
                <a:gd name="connsiteY4" fmla="*/ 437322 h 556592"/>
                <a:gd name="connsiteX5" fmla="*/ 0 w 536713"/>
                <a:gd name="connsiteY5" fmla="*/ 99392 h 556592"/>
                <a:gd name="connsiteX6" fmla="*/ 139148 w 536713"/>
                <a:gd name="connsiteY6" fmla="*/ 0 h 55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6713" h="556592">
                  <a:moveTo>
                    <a:pt x="139148" y="0"/>
                  </a:moveTo>
                  <a:lnTo>
                    <a:pt x="536713" y="178905"/>
                  </a:lnTo>
                  <a:lnTo>
                    <a:pt x="357809" y="457200"/>
                  </a:lnTo>
                  <a:lnTo>
                    <a:pt x="318052" y="556592"/>
                  </a:lnTo>
                  <a:lnTo>
                    <a:pt x="39757" y="437322"/>
                  </a:lnTo>
                  <a:lnTo>
                    <a:pt x="0" y="99392"/>
                  </a:lnTo>
                  <a:lnTo>
                    <a:pt x="139148" y="0"/>
                  </a:lnTo>
                  <a:close/>
                </a:path>
              </a:pathLst>
            </a:custGeom>
            <a:solidFill>
              <a:srgbClr val="4472C4"/>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C6A65073-E936-0A80-9BEA-1144E8657126}"/>
                </a:ext>
              </a:extLst>
            </p:cNvPr>
            <p:cNvCxnSpPr>
              <a:cxnSpLocks/>
            </p:cNvCxnSpPr>
            <p:nvPr/>
          </p:nvCxnSpPr>
          <p:spPr>
            <a:xfrm>
              <a:off x="8773692" y="641677"/>
              <a:ext cx="2000325" cy="292601"/>
            </a:xfrm>
            <a:prstGeom prst="line">
              <a:avLst/>
            </a:prstGeom>
            <a:ln>
              <a:solidFill>
                <a:srgbClr val="4472C4"/>
              </a:solidFill>
            </a:ln>
          </p:spPr>
          <p:style>
            <a:lnRef idx="1">
              <a:schemeClr val="accent1"/>
            </a:lnRef>
            <a:fillRef idx="0">
              <a:schemeClr val="accent1"/>
            </a:fillRef>
            <a:effectRef idx="0">
              <a:schemeClr val="accent1"/>
            </a:effectRef>
            <a:fontRef idx="minor">
              <a:schemeClr val="tx1"/>
            </a:fontRef>
          </p:style>
        </p:cxnSp>
        <p:sp>
          <p:nvSpPr>
            <p:cNvPr id="16" name="Freeform 29">
              <a:extLst>
                <a:ext uri="{FF2B5EF4-FFF2-40B4-BE49-F238E27FC236}">
                  <a16:creationId xmlns:a16="http://schemas.microsoft.com/office/drawing/2014/main" id="{CDDB7A9E-AE8B-BD47-9014-57EFEDD75E25}"/>
                </a:ext>
              </a:extLst>
            </p:cNvPr>
            <p:cNvSpPr/>
            <p:nvPr/>
          </p:nvSpPr>
          <p:spPr>
            <a:xfrm>
              <a:off x="8130209" y="1053548"/>
              <a:ext cx="1232452" cy="1451113"/>
            </a:xfrm>
            <a:custGeom>
              <a:avLst/>
              <a:gdLst>
                <a:gd name="connsiteX0" fmla="*/ 1053548 w 1232452"/>
                <a:gd name="connsiteY0" fmla="*/ 1311965 h 1451113"/>
                <a:gd name="connsiteX1" fmla="*/ 1232452 w 1232452"/>
                <a:gd name="connsiteY1" fmla="*/ 496956 h 1451113"/>
                <a:gd name="connsiteX2" fmla="*/ 735495 w 1232452"/>
                <a:gd name="connsiteY2" fmla="*/ 0 h 1451113"/>
                <a:gd name="connsiteX3" fmla="*/ 377687 w 1232452"/>
                <a:gd name="connsiteY3" fmla="*/ 0 h 1451113"/>
                <a:gd name="connsiteX4" fmla="*/ 39756 w 1232452"/>
                <a:gd name="connsiteY4" fmla="*/ 576469 h 1451113"/>
                <a:gd name="connsiteX5" fmla="*/ 0 w 1232452"/>
                <a:gd name="connsiteY5" fmla="*/ 993913 h 1451113"/>
                <a:gd name="connsiteX6" fmla="*/ 19878 w 1232452"/>
                <a:gd name="connsiteY6" fmla="*/ 1192695 h 1451113"/>
                <a:gd name="connsiteX7" fmla="*/ 397565 w 1232452"/>
                <a:gd name="connsiteY7" fmla="*/ 1371600 h 1451113"/>
                <a:gd name="connsiteX8" fmla="*/ 1033669 w 1232452"/>
                <a:gd name="connsiteY8" fmla="*/ 1451113 h 1451113"/>
                <a:gd name="connsiteX9" fmla="*/ 1053548 w 1232452"/>
                <a:gd name="connsiteY9" fmla="*/ 1311965 h 1451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2452" h="1451113">
                  <a:moveTo>
                    <a:pt x="1053548" y="1311965"/>
                  </a:moveTo>
                  <a:lnTo>
                    <a:pt x="1232452" y="496956"/>
                  </a:lnTo>
                  <a:lnTo>
                    <a:pt x="735495" y="0"/>
                  </a:lnTo>
                  <a:lnTo>
                    <a:pt x="377687" y="0"/>
                  </a:lnTo>
                  <a:lnTo>
                    <a:pt x="39756" y="576469"/>
                  </a:lnTo>
                  <a:lnTo>
                    <a:pt x="0" y="993913"/>
                  </a:lnTo>
                  <a:lnTo>
                    <a:pt x="19878" y="1192695"/>
                  </a:lnTo>
                  <a:lnTo>
                    <a:pt x="397565" y="1371600"/>
                  </a:lnTo>
                  <a:lnTo>
                    <a:pt x="1033669" y="1451113"/>
                  </a:lnTo>
                  <a:lnTo>
                    <a:pt x="1053548" y="1311965"/>
                  </a:lnTo>
                  <a:close/>
                </a:path>
              </a:pathLst>
            </a:custGeom>
            <a:solidFill>
              <a:srgbClr val="4472C4"/>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724247CD-13EF-6662-EA79-4C5A4B820F54}"/>
                </a:ext>
              </a:extLst>
            </p:cNvPr>
            <p:cNvCxnSpPr>
              <a:cxnSpLocks/>
              <a:stCxn id="18" idx="0"/>
            </p:cNvCxnSpPr>
            <p:nvPr/>
          </p:nvCxnSpPr>
          <p:spPr>
            <a:xfrm flipH="1" flipV="1">
              <a:off x="8845828" y="2146854"/>
              <a:ext cx="842315" cy="1151695"/>
            </a:xfrm>
            <a:prstGeom prst="line">
              <a:avLst/>
            </a:prstGeom>
            <a:ln>
              <a:solidFill>
                <a:srgbClr val="4472C4"/>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6CB04D7-9C66-48D1-0065-36E4A1B99986}"/>
                </a:ext>
              </a:extLst>
            </p:cNvPr>
            <p:cNvSpPr txBox="1"/>
            <p:nvPr/>
          </p:nvSpPr>
          <p:spPr>
            <a:xfrm>
              <a:off x="9138568" y="3298550"/>
              <a:ext cx="1099149" cy="641427"/>
            </a:xfrm>
            <a:prstGeom prst="rect">
              <a:avLst/>
            </a:prstGeom>
            <a:noFill/>
          </p:spPr>
          <p:txBody>
            <a:bodyPr wrap="square" rtlCol="0">
              <a:spAutoFit/>
            </a:bodyPr>
            <a:lstStyle/>
            <a:p>
              <a:pPr algn="ctr"/>
              <a:r>
                <a:rPr lang="en-US" sz="1100" b="1" dirty="0">
                  <a:solidFill>
                    <a:srgbClr val="4472C4"/>
                  </a:solidFill>
                </a:rPr>
                <a:t>Frontal Cortex</a:t>
              </a:r>
            </a:p>
          </p:txBody>
        </p:sp>
      </p:grpSp>
    </p:spTree>
    <p:extLst>
      <p:ext uri="{BB962C8B-B14F-4D97-AF65-F5344CB8AC3E}">
        <p14:creationId xmlns:p14="http://schemas.microsoft.com/office/powerpoint/2010/main" val="108535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447E8-CAEC-7E4B-88A0-3015B1998224}"/>
              </a:ext>
            </a:extLst>
          </p:cNvPr>
          <p:cNvSpPr>
            <a:spLocks noGrp="1"/>
          </p:cNvSpPr>
          <p:nvPr>
            <p:ph type="title"/>
          </p:nvPr>
        </p:nvSpPr>
        <p:spPr/>
        <p:txBody>
          <a:bodyPr/>
          <a:lstStyle/>
          <a:p>
            <a:r>
              <a:rPr lang="en-US" dirty="0"/>
              <a:t>Attentional Components</a:t>
            </a:r>
          </a:p>
        </p:txBody>
      </p:sp>
      <p:sp>
        <p:nvSpPr>
          <p:cNvPr id="3" name="Content Placeholder 2">
            <a:extLst>
              <a:ext uri="{FF2B5EF4-FFF2-40B4-BE49-F238E27FC236}">
                <a16:creationId xmlns:a16="http://schemas.microsoft.com/office/drawing/2014/main" id="{D34E73F6-63A7-D640-A8AC-735717CB84C9}"/>
              </a:ext>
            </a:extLst>
          </p:cNvPr>
          <p:cNvSpPr>
            <a:spLocks noGrp="1"/>
          </p:cNvSpPr>
          <p:nvPr>
            <p:ph idx="1"/>
          </p:nvPr>
        </p:nvSpPr>
        <p:spPr>
          <a:xfrm>
            <a:off x="838200" y="1825625"/>
            <a:ext cx="6237807" cy="4667250"/>
          </a:xfrm>
        </p:spPr>
        <p:txBody>
          <a:bodyPr>
            <a:normAutofit fontScale="92500" lnSpcReduction="10000"/>
          </a:bodyPr>
          <a:lstStyle/>
          <a:p>
            <a:pPr marL="0" indent="0">
              <a:buNone/>
            </a:pPr>
            <a:r>
              <a:rPr lang="en-US" b="1" dirty="0"/>
              <a:t>Orienting</a:t>
            </a:r>
            <a:endParaRPr lang="en-US" dirty="0"/>
          </a:p>
          <a:p>
            <a:r>
              <a:rPr lang="en-US" b="1" dirty="0"/>
              <a:t>Ventral Frontal Cortex</a:t>
            </a:r>
            <a:r>
              <a:rPr lang="en-US" dirty="0"/>
              <a:t>: Disengages attention from the current focus</a:t>
            </a:r>
          </a:p>
          <a:p>
            <a:endParaRPr lang="en-US" dirty="0"/>
          </a:p>
          <a:p>
            <a:r>
              <a:rPr lang="en-US" b="1" dirty="0"/>
              <a:t>Temporoparietal Junction</a:t>
            </a:r>
            <a:r>
              <a:rPr lang="en-US" dirty="0"/>
              <a:t>: Reorientation of attention</a:t>
            </a:r>
          </a:p>
          <a:p>
            <a:pPr lvl="1"/>
            <a:r>
              <a:rPr lang="en-US" dirty="0"/>
              <a:t>Exogenous: bottom-up, reflexive orienting</a:t>
            </a:r>
          </a:p>
          <a:p>
            <a:pPr marL="457200" lvl="1" indent="0">
              <a:buNone/>
            </a:pPr>
            <a:endParaRPr lang="en-US" dirty="0"/>
          </a:p>
          <a:p>
            <a:r>
              <a:rPr lang="en-US" b="1" dirty="0"/>
              <a:t>Intraparietal Sulcus</a:t>
            </a:r>
            <a:r>
              <a:rPr lang="en-US" dirty="0"/>
              <a:t>: Directs and maintains attentional spotlight toward relevant locations, features, and objects</a:t>
            </a:r>
          </a:p>
          <a:p>
            <a:pPr lvl="1"/>
            <a:r>
              <a:rPr lang="en-US" dirty="0"/>
              <a:t>Endogenous: top-down voluntary orienting</a:t>
            </a:r>
          </a:p>
          <a:p>
            <a:pPr lvl="1"/>
            <a:endParaRPr lang="en-US" dirty="0"/>
          </a:p>
          <a:p>
            <a:pPr marL="0" indent="0">
              <a:buNone/>
            </a:pPr>
            <a:endParaRPr lang="en-US" dirty="0"/>
          </a:p>
          <a:p>
            <a:pPr marL="0" indent="0">
              <a:buNone/>
            </a:pPr>
            <a:endParaRPr lang="en-US" dirty="0"/>
          </a:p>
          <a:p>
            <a:pPr marL="0" indent="0">
              <a:buNone/>
            </a:pPr>
            <a:endParaRPr lang="en-US" dirty="0"/>
          </a:p>
        </p:txBody>
      </p:sp>
      <p:grpSp>
        <p:nvGrpSpPr>
          <p:cNvPr id="41" name="Group 40">
            <a:extLst>
              <a:ext uri="{FF2B5EF4-FFF2-40B4-BE49-F238E27FC236}">
                <a16:creationId xmlns:a16="http://schemas.microsoft.com/office/drawing/2014/main" id="{AA8CAE1F-C19D-CE8D-14BB-B19575E96675}"/>
              </a:ext>
            </a:extLst>
          </p:cNvPr>
          <p:cNvGrpSpPr/>
          <p:nvPr/>
        </p:nvGrpSpPr>
        <p:grpSpPr>
          <a:xfrm>
            <a:off x="6096000" y="1165014"/>
            <a:ext cx="6109268" cy="4418685"/>
            <a:chOff x="2713892" y="-382681"/>
            <a:chExt cx="10010956" cy="7240681"/>
          </a:xfrm>
        </p:grpSpPr>
        <p:grpSp>
          <p:nvGrpSpPr>
            <p:cNvPr id="24" name="Group 23">
              <a:extLst>
                <a:ext uri="{FF2B5EF4-FFF2-40B4-BE49-F238E27FC236}">
                  <a16:creationId xmlns:a16="http://schemas.microsoft.com/office/drawing/2014/main" id="{641F0F96-CFB4-C75C-5704-9101E1F57667}"/>
                </a:ext>
              </a:extLst>
            </p:cNvPr>
            <p:cNvGrpSpPr/>
            <p:nvPr/>
          </p:nvGrpSpPr>
          <p:grpSpPr>
            <a:xfrm>
              <a:off x="2713892" y="668215"/>
              <a:ext cx="6858000" cy="6189785"/>
              <a:chOff x="2713892" y="668215"/>
              <a:chExt cx="6858000" cy="6189785"/>
            </a:xfrm>
          </p:grpSpPr>
          <p:pic>
            <p:nvPicPr>
              <p:cNvPr id="25" name="Picture 24" descr="A picture containing plate&#10;&#10;Description automatically generated">
                <a:extLst>
                  <a:ext uri="{FF2B5EF4-FFF2-40B4-BE49-F238E27FC236}">
                    <a16:creationId xmlns:a16="http://schemas.microsoft.com/office/drawing/2014/main" id="{E2FE8D91-F948-06FF-497D-512A83DAE9B6}"/>
                  </a:ext>
                </a:extLst>
              </p:cNvPr>
              <p:cNvPicPr>
                <a:picLocks noChangeAspect="1"/>
              </p:cNvPicPr>
              <p:nvPr/>
            </p:nvPicPr>
            <p:blipFill rotWithShape="1">
              <a:blip r:embed="rId2">
                <a:clrChange>
                  <a:clrFrom>
                    <a:srgbClr val="FFFFFF"/>
                  </a:clrFrom>
                  <a:clrTo>
                    <a:srgbClr val="FFFFFF">
                      <a:alpha val="0"/>
                    </a:srgbClr>
                  </a:clrTo>
                </a:clrChange>
              </a:blip>
              <a:srcRect b="9744"/>
              <a:stretch/>
            </p:blipFill>
            <p:spPr>
              <a:xfrm>
                <a:off x="2713892" y="668215"/>
                <a:ext cx="6858000" cy="6189785"/>
              </a:xfrm>
              <a:prstGeom prst="rect">
                <a:avLst/>
              </a:prstGeom>
            </p:spPr>
          </p:pic>
          <p:sp>
            <p:nvSpPr>
              <p:cNvPr id="26" name="Freeform 6">
                <a:extLst>
                  <a:ext uri="{FF2B5EF4-FFF2-40B4-BE49-F238E27FC236}">
                    <a16:creationId xmlns:a16="http://schemas.microsoft.com/office/drawing/2014/main" id="{E69E2A45-5247-AE01-C342-48EA136F32B6}"/>
                  </a:ext>
                </a:extLst>
              </p:cNvPr>
              <p:cNvSpPr/>
              <p:nvPr/>
            </p:nvSpPr>
            <p:spPr>
              <a:xfrm>
                <a:off x="6532075" y="4200808"/>
                <a:ext cx="307818" cy="443620"/>
              </a:xfrm>
              <a:custGeom>
                <a:avLst/>
                <a:gdLst>
                  <a:gd name="connsiteX0" fmla="*/ 0 w 307818"/>
                  <a:gd name="connsiteY0" fmla="*/ 40741 h 443620"/>
                  <a:gd name="connsiteX1" fmla="*/ 104115 w 307818"/>
                  <a:gd name="connsiteY1" fmla="*/ 158436 h 443620"/>
                  <a:gd name="connsiteX2" fmla="*/ 158436 w 307818"/>
                  <a:gd name="connsiteY2" fmla="*/ 239917 h 443620"/>
                  <a:gd name="connsiteX3" fmla="*/ 203703 w 307818"/>
                  <a:gd name="connsiteY3" fmla="*/ 312344 h 443620"/>
                  <a:gd name="connsiteX4" fmla="*/ 248971 w 307818"/>
                  <a:gd name="connsiteY4" fmla="*/ 398352 h 443620"/>
                  <a:gd name="connsiteX5" fmla="*/ 271604 w 307818"/>
                  <a:gd name="connsiteY5" fmla="*/ 443620 h 443620"/>
                  <a:gd name="connsiteX6" fmla="*/ 271604 w 307818"/>
                  <a:gd name="connsiteY6" fmla="*/ 443620 h 443620"/>
                  <a:gd name="connsiteX7" fmla="*/ 307818 w 307818"/>
                  <a:gd name="connsiteY7" fmla="*/ 420986 h 443620"/>
                  <a:gd name="connsiteX8" fmla="*/ 267077 w 307818"/>
                  <a:gd name="connsiteY8" fmla="*/ 334978 h 443620"/>
                  <a:gd name="connsiteX9" fmla="*/ 221810 w 307818"/>
                  <a:gd name="connsiteY9" fmla="*/ 258024 h 443620"/>
                  <a:gd name="connsiteX10" fmla="*/ 176543 w 307818"/>
                  <a:gd name="connsiteY10" fmla="*/ 185596 h 443620"/>
                  <a:gd name="connsiteX11" fmla="*/ 131275 w 307818"/>
                  <a:gd name="connsiteY11" fmla="*/ 126748 h 443620"/>
                  <a:gd name="connsiteX12" fmla="*/ 90535 w 307818"/>
                  <a:gd name="connsiteY12" fmla="*/ 86008 h 443620"/>
                  <a:gd name="connsiteX13" fmla="*/ 31687 w 307818"/>
                  <a:gd name="connsiteY13" fmla="*/ 0 h 443620"/>
                  <a:gd name="connsiteX14" fmla="*/ 0 w 307818"/>
                  <a:gd name="connsiteY14" fmla="*/ 40741 h 44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818" h="443620">
                    <a:moveTo>
                      <a:pt x="0" y="40741"/>
                    </a:moveTo>
                    <a:lnTo>
                      <a:pt x="104115" y="158436"/>
                    </a:lnTo>
                    <a:lnTo>
                      <a:pt x="158436" y="239917"/>
                    </a:lnTo>
                    <a:lnTo>
                      <a:pt x="203703" y="312344"/>
                    </a:lnTo>
                    <a:lnTo>
                      <a:pt x="248971" y="398352"/>
                    </a:lnTo>
                    <a:lnTo>
                      <a:pt x="271604" y="443620"/>
                    </a:lnTo>
                    <a:lnTo>
                      <a:pt x="271604" y="443620"/>
                    </a:lnTo>
                    <a:lnTo>
                      <a:pt x="307818" y="420986"/>
                    </a:lnTo>
                    <a:lnTo>
                      <a:pt x="267077" y="334978"/>
                    </a:lnTo>
                    <a:lnTo>
                      <a:pt x="221810" y="258024"/>
                    </a:lnTo>
                    <a:lnTo>
                      <a:pt x="176543" y="185596"/>
                    </a:lnTo>
                    <a:lnTo>
                      <a:pt x="131275" y="126748"/>
                    </a:lnTo>
                    <a:lnTo>
                      <a:pt x="90535" y="86008"/>
                    </a:lnTo>
                    <a:lnTo>
                      <a:pt x="31687" y="0"/>
                    </a:lnTo>
                    <a:lnTo>
                      <a:pt x="0" y="40741"/>
                    </a:lnTo>
                    <a:close/>
                  </a:path>
                </a:pathLst>
              </a:custGeom>
              <a:solidFill>
                <a:srgbClr val="E5BAA9"/>
              </a:solidFill>
              <a:ln>
                <a:solidFill>
                  <a:srgbClr val="E5BA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7" name="Picture 26" descr="A close up of a nut&#10;&#10;Description automatically generated">
              <a:extLst>
                <a:ext uri="{FF2B5EF4-FFF2-40B4-BE49-F238E27FC236}">
                  <a16:creationId xmlns:a16="http://schemas.microsoft.com/office/drawing/2014/main" id="{FA05331F-B7C3-8444-87A5-085593431179}"/>
                </a:ext>
              </a:extLst>
            </p:cNvPr>
            <p:cNvPicPr>
              <a:picLocks noChangeAspect="1"/>
            </p:cNvPicPr>
            <p:nvPr/>
          </p:nvPicPr>
          <p:blipFill rotWithShape="1">
            <a:blip r:embed="rId3">
              <a:clrChange>
                <a:clrFrom>
                  <a:srgbClr val="FFFFFF"/>
                </a:clrFrom>
                <a:clrTo>
                  <a:srgbClr val="FFFFFF">
                    <a:alpha val="0"/>
                  </a:srgbClr>
                </a:clrTo>
              </a:clrChange>
            </a:blip>
            <a:srcRect t="37677"/>
            <a:stretch/>
          </p:blipFill>
          <p:spPr>
            <a:xfrm rot="636645">
              <a:off x="7975048" y="412807"/>
              <a:ext cx="4749800" cy="2865230"/>
            </a:xfrm>
            <a:prstGeom prst="rect">
              <a:avLst/>
            </a:prstGeom>
          </p:spPr>
        </p:pic>
        <p:sp>
          <p:nvSpPr>
            <p:cNvPr id="28" name="Freeform 33">
              <a:extLst>
                <a:ext uri="{FF2B5EF4-FFF2-40B4-BE49-F238E27FC236}">
                  <a16:creationId xmlns:a16="http://schemas.microsoft.com/office/drawing/2014/main" id="{F149B827-500F-7D87-1B1E-4B759A02BC48}"/>
                </a:ext>
              </a:extLst>
            </p:cNvPr>
            <p:cNvSpPr/>
            <p:nvPr/>
          </p:nvSpPr>
          <p:spPr>
            <a:xfrm>
              <a:off x="10875264" y="1267968"/>
              <a:ext cx="694944" cy="536448"/>
            </a:xfrm>
            <a:custGeom>
              <a:avLst/>
              <a:gdLst>
                <a:gd name="connsiteX0" fmla="*/ 0 w 694944"/>
                <a:gd name="connsiteY0" fmla="*/ 0 h 536448"/>
                <a:gd name="connsiteX1" fmla="*/ 280416 w 694944"/>
                <a:gd name="connsiteY1" fmla="*/ 231648 h 536448"/>
                <a:gd name="connsiteX2" fmla="*/ 475488 w 694944"/>
                <a:gd name="connsiteY2" fmla="*/ 329184 h 536448"/>
                <a:gd name="connsiteX3" fmla="*/ 633984 w 694944"/>
                <a:gd name="connsiteY3" fmla="*/ 475488 h 536448"/>
                <a:gd name="connsiteX4" fmla="*/ 694944 w 694944"/>
                <a:gd name="connsiteY4" fmla="*/ 536448 h 536448"/>
                <a:gd name="connsiteX5" fmla="*/ 682752 w 694944"/>
                <a:gd name="connsiteY5" fmla="*/ 463296 h 536448"/>
                <a:gd name="connsiteX6" fmla="*/ 548640 w 694944"/>
                <a:gd name="connsiteY6" fmla="*/ 304800 h 536448"/>
                <a:gd name="connsiteX7" fmla="*/ 353568 w 694944"/>
                <a:gd name="connsiteY7" fmla="*/ 219456 h 536448"/>
                <a:gd name="connsiteX8" fmla="*/ 60960 w 694944"/>
                <a:gd name="connsiteY8" fmla="*/ 0 h 536448"/>
                <a:gd name="connsiteX9" fmla="*/ 0 w 694944"/>
                <a:gd name="connsiteY9" fmla="*/ 0 h 53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944" h="536448">
                  <a:moveTo>
                    <a:pt x="0" y="0"/>
                  </a:moveTo>
                  <a:lnTo>
                    <a:pt x="280416" y="231648"/>
                  </a:lnTo>
                  <a:lnTo>
                    <a:pt x="475488" y="329184"/>
                  </a:lnTo>
                  <a:lnTo>
                    <a:pt x="633984" y="475488"/>
                  </a:lnTo>
                  <a:lnTo>
                    <a:pt x="694944" y="536448"/>
                  </a:lnTo>
                  <a:lnTo>
                    <a:pt x="682752" y="463296"/>
                  </a:lnTo>
                  <a:lnTo>
                    <a:pt x="548640" y="304800"/>
                  </a:lnTo>
                  <a:lnTo>
                    <a:pt x="353568" y="219456"/>
                  </a:lnTo>
                  <a:lnTo>
                    <a:pt x="60960" y="0"/>
                  </a:lnTo>
                  <a:lnTo>
                    <a:pt x="0" y="0"/>
                  </a:lnTo>
                  <a:close/>
                </a:path>
              </a:pathLst>
            </a:custGeom>
            <a:solidFill>
              <a:schemeClr val="accent6">
                <a:lumMod val="7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E60E6251-8A2B-ED4B-D4EF-7E416F908682}"/>
                </a:ext>
              </a:extLst>
            </p:cNvPr>
            <p:cNvCxnSpPr>
              <a:cxnSpLocks/>
              <a:stCxn id="30" idx="2"/>
              <a:endCxn id="28" idx="7"/>
            </p:cNvCxnSpPr>
            <p:nvPr/>
          </p:nvCxnSpPr>
          <p:spPr>
            <a:xfrm flipH="1">
              <a:off x="11228831" y="407824"/>
              <a:ext cx="93310" cy="107960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2BFC11C-15AA-24D1-0F6C-12BD2F1E1EE9}"/>
                </a:ext>
              </a:extLst>
            </p:cNvPr>
            <p:cNvSpPr txBox="1"/>
            <p:nvPr/>
          </p:nvSpPr>
          <p:spPr>
            <a:xfrm>
              <a:off x="10418998" y="-382681"/>
              <a:ext cx="1806285" cy="790505"/>
            </a:xfrm>
            <a:prstGeom prst="rect">
              <a:avLst/>
            </a:prstGeom>
            <a:noFill/>
          </p:spPr>
          <p:txBody>
            <a:bodyPr wrap="square" rtlCol="0">
              <a:spAutoFit/>
            </a:bodyPr>
            <a:lstStyle/>
            <a:p>
              <a:pPr algn="ctr"/>
              <a:r>
                <a:rPr lang="en-US" sz="1100" b="1" dirty="0">
                  <a:solidFill>
                    <a:schemeClr val="accent6">
                      <a:lumMod val="75000"/>
                    </a:schemeClr>
                  </a:solidFill>
                </a:rPr>
                <a:t>Intraparietal Sulcus</a:t>
              </a:r>
            </a:p>
          </p:txBody>
        </p:sp>
        <p:sp>
          <p:nvSpPr>
            <p:cNvPr id="31" name="Freeform 37">
              <a:extLst>
                <a:ext uri="{FF2B5EF4-FFF2-40B4-BE49-F238E27FC236}">
                  <a16:creationId xmlns:a16="http://schemas.microsoft.com/office/drawing/2014/main" id="{DEF1813B-9F5E-A9B0-9559-472C7DBCD2C9}"/>
                </a:ext>
              </a:extLst>
            </p:cNvPr>
            <p:cNvSpPr/>
            <p:nvPr/>
          </p:nvSpPr>
          <p:spPr>
            <a:xfrm>
              <a:off x="10753344" y="1780032"/>
              <a:ext cx="719328" cy="353568"/>
            </a:xfrm>
            <a:custGeom>
              <a:avLst/>
              <a:gdLst>
                <a:gd name="connsiteX0" fmla="*/ 0 w 719328"/>
                <a:gd name="connsiteY0" fmla="*/ 73152 h 353568"/>
                <a:gd name="connsiteX1" fmla="*/ 256032 w 719328"/>
                <a:gd name="connsiteY1" fmla="*/ 170688 h 353568"/>
                <a:gd name="connsiteX2" fmla="*/ 560832 w 719328"/>
                <a:gd name="connsiteY2" fmla="*/ 353568 h 353568"/>
                <a:gd name="connsiteX3" fmla="*/ 719328 w 719328"/>
                <a:gd name="connsiteY3" fmla="*/ 353568 h 353568"/>
                <a:gd name="connsiteX4" fmla="*/ 719328 w 719328"/>
                <a:gd name="connsiteY4" fmla="*/ 353568 h 353568"/>
                <a:gd name="connsiteX5" fmla="*/ 536448 w 719328"/>
                <a:gd name="connsiteY5" fmla="*/ 256032 h 353568"/>
                <a:gd name="connsiteX6" fmla="*/ 36576 w 719328"/>
                <a:gd name="connsiteY6" fmla="*/ 0 h 353568"/>
                <a:gd name="connsiteX7" fmla="*/ 0 w 719328"/>
                <a:gd name="connsiteY7" fmla="*/ 73152 h 35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9328" h="353568">
                  <a:moveTo>
                    <a:pt x="0" y="73152"/>
                  </a:moveTo>
                  <a:lnTo>
                    <a:pt x="256032" y="170688"/>
                  </a:lnTo>
                  <a:lnTo>
                    <a:pt x="560832" y="353568"/>
                  </a:lnTo>
                  <a:lnTo>
                    <a:pt x="719328" y="353568"/>
                  </a:lnTo>
                  <a:lnTo>
                    <a:pt x="719328" y="353568"/>
                  </a:lnTo>
                  <a:lnTo>
                    <a:pt x="536448" y="256032"/>
                  </a:lnTo>
                  <a:lnTo>
                    <a:pt x="36576" y="0"/>
                  </a:lnTo>
                  <a:lnTo>
                    <a:pt x="0" y="73152"/>
                  </a:lnTo>
                  <a:close/>
                </a:path>
              </a:pathLst>
            </a:custGeom>
            <a:solidFill>
              <a:schemeClr val="accent6">
                <a:lumMod val="7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5E48B102-DD33-AC9B-C892-8DD79883A4DC}"/>
                </a:ext>
              </a:extLst>
            </p:cNvPr>
            <p:cNvCxnSpPr>
              <a:cxnSpLocks/>
              <a:endCxn id="33" idx="0"/>
            </p:cNvCxnSpPr>
            <p:nvPr/>
          </p:nvCxnSpPr>
          <p:spPr>
            <a:xfrm flipH="1">
              <a:off x="10699732" y="1830391"/>
              <a:ext cx="144064" cy="1429109"/>
            </a:xfrm>
            <a:prstGeom prst="line">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F72342A-456A-6CB8-2C40-1153446ABD13}"/>
                </a:ext>
              </a:extLst>
            </p:cNvPr>
            <p:cNvSpPr txBox="1"/>
            <p:nvPr/>
          </p:nvSpPr>
          <p:spPr>
            <a:xfrm>
              <a:off x="9394466" y="3259500"/>
              <a:ext cx="2610531" cy="790505"/>
            </a:xfrm>
            <a:prstGeom prst="rect">
              <a:avLst/>
            </a:prstGeom>
            <a:noFill/>
          </p:spPr>
          <p:txBody>
            <a:bodyPr wrap="square" rtlCol="0">
              <a:spAutoFit/>
            </a:bodyPr>
            <a:lstStyle/>
            <a:p>
              <a:pPr algn="ctr"/>
              <a:r>
                <a:rPr lang="en-US" sz="1100" b="1" dirty="0">
                  <a:solidFill>
                    <a:schemeClr val="accent6">
                      <a:lumMod val="75000"/>
                    </a:schemeClr>
                  </a:solidFill>
                </a:rPr>
                <a:t>Temporoparietal junction</a:t>
              </a:r>
            </a:p>
          </p:txBody>
        </p:sp>
        <p:sp>
          <p:nvSpPr>
            <p:cNvPr id="34" name="Freeform 40">
              <a:extLst>
                <a:ext uri="{FF2B5EF4-FFF2-40B4-BE49-F238E27FC236}">
                  <a16:creationId xmlns:a16="http://schemas.microsoft.com/office/drawing/2014/main" id="{9A1BC66E-5F89-8393-284B-8E3B11C31719}"/>
                </a:ext>
              </a:extLst>
            </p:cNvPr>
            <p:cNvSpPr/>
            <p:nvPr/>
          </p:nvSpPr>
          <p:spPr>
            <a:xfrm>
              <a:off x="8473440" y="1402080"/>
              <a:ext cx="711200" cy="589280"/>
            </a:xfrm>
            <a:custGeom>
              <a:avLst/>
              <a:gdLst>
                <a:gd name="connsiteX0" fmla="*/ 690880 w 711200"/>
                <a:gd name="connsiteY0" fmla="*/ 568960 h 589280"/>
                <a:gd name="connsiteX1" fmla="*/ 711200 w 711200"/>
                <a:gd name="connsiteY1" fmla="*/ 101600 h 589280"/>
                <a:gd name="connsiteX2" fmla="*/ 386080 w 711200"/>
                <a:gd name="connsiteY2" fmla="*/ 0 h 589280"/>
                <a:gd name="connsiteX3" fmla="*/ 0 w 711200"/>
                <a:gd name="connsiteY3" fmla="*/ 243840 h 589280"/>
                <a:gd name="connsiteX4" fmla="*/ 142240 w 711200"/>
                <a:gd name="connsiteY4" fmla="*/ 589280 h 589280"/>
                <a:gd name="connsiteX5" fmla="*/ 690880 w 711200"/>
                <a:gd name="connsiteY5" fmla="*/ 568960 h 58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200" h="589280">
                  <a:moveTo>
                    <a:pt x="690880" y="568960"/>
                  </a:moveTo>
                  <a:lnTo>
                    <a:pt x="711200" y="101600"/>
                  </a:lnTo>
                  <a:lnTo>
                    <a:pt x="386080" y="0"/>
                  </a:lnTo>
                  <a:lnTo>
                    <a:pt x="0" y="243840"/>
                  </a:lnTo>
                  <a:lnTo>
                    <a:pt x="142240" y="589280"/>
                  </a:lnTo>
                  <a:lnTo>
                    <a:pt x="690880" y="568960"/>
                  </a:lnTo>
                  <a:close/>
                </a:path>
              </a:pathLst>
            </a:custGeom>
            <a:solidFill>
              <a:schemeClr val="accent6">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AC0ED9D9-26E7-5325-D9A6-0B1FADEF6B0E}"/>
                </a:ext>
              </a:extLst>
            </p:cNvPr>
            <p:cNvCxnSpPr>
              <a:cxnSpLocks/>
            </p:cNvCxnSpPr>
            <p:nvPr/>
          </p:nvCxnSpPr>
          <p:spPr>
            <a:xfrm>
              <a:off x="7650480" y="650240"/>
              <a:ext cx="1270000" cy="1137920"/>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1750126-A202-1E71-57EA-072C8439B870}"/>
                </a:ext>
              </a:extLst>
            </p:cNvPr>
            <p:cNvSpPr txBox="1"/>
            <p:nvPr/>
          </p:nvSpPr>
          <p:spPr>
            <a:xfrm>
              <a:off x="6747338" y="-377592"/>
              <a:ext cx="1806285" cy="1101061"/>
            </a:xfrm>
            <a:prstGeom prst="rect">
              <a:avLst/>
            </a:prstGeom>
            <a:noFill/>
          </p:spPr>
          <p:txBody>
            <a:bodyPr wrap="square" rtlCol="0">
              <a:spAutoFit/>
            </a:bodyPr>
            <a:lstStyle/>
            <a:p>
              <a:pPr algn="ctr"/>
              <a:r>
                <a:rPr lang="en-US" sz="1100" b="1" dirty="0">
                  <a:solidFill>
                    <a:schemeClr val="accent6">
                      <a:lumMod val="75000"/>
                    </a:schemeClr>
                  </a:solidFill>
                </a:rPr>
                <a:t>Ventral Frontal Cortex</a:t>
              </a:r>
            </a:p>
          </p:txBody>
        </p:sp>
      </p:grpSp>
    </p:spTree>
    <p:extLst>
      <p:ext uri="{BB962C8B-B14F-4D97-AF65-F5344CB8AC3E}">
        <p14:creationId xmlns:p14="http://schemas.microsoft.com/office/powerpoint/2010/main" val="5675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B8DA-FAAA-E24D-B8D7-5BFD8BCD5D85}"/>
              </a:ext>
            </a:extLst>
          </p:cNvPr>
          <p:cNvSpPr>
            <a:spLocks noGrp="1"/>
          </p:cNvSpPr>
          <p:nvPr>
            <p:ph type="title"/>
          </p:nvPr>
        </p:nvSpPr>
        <p:spPr/>
        <p:txBody>
          <a:bodyPr/>
          <a:lstStyle/>
          <a:p>
            <a:r>
              <a:rPr lang="en-US" dirty="0"/>
              <a:t>Attentional Components</a:t>
            </a:r>
          </a:p>
        </p:txBody>
      </p:sp>
      <p:sp>
        <p:nvSpPr>
          <p:cNvPr id="3" name="Content Placeholder 2">
            <a:extLst>
              <a:ext uri="{FF2B5EF4-FFF2-40B4-BE49-F238E27FC236}">
                <a16:creationId xmlns:a16="http://schemas.microsoft.com/office/drawing/2014/main" id="{626EDE80-8F30-184A-A7F5-CD75C0A3789B}"/>
              </a:ext>
            </a:extLst>
          </p:cNvPr>
          <p:cNvSpPr>
            <a:spLocks noGrp="1"/>
          </p:cNvSpPr>
          <p:nvPr>
            <p:ph idx="1"/>
          </p:nvPr>
        </p:nvSpPr>
        <p:spPr>
          <a:xfrm>
            <a:off x="838200" y="1825624"/>
            <a:ext cx="6837218" cy="4820503"/>
          </a:xfrm>
        </p:spPr>
        <p:txBody>
          <a:bodyPr>
            <a:normAutofit fontScale="92500" lnSpcReduction="20000"/>
          </a:bodyPr>
          <a:lstStyle/>
          <a:p>
            <a:pPr marL="0" indent="0">
              <a:buNone/>
            </a:pPr>
            <a:r>
              <a:rPr lang="en-US" b="1" dirty="0"/>
              <a:t>Executive</a:t>
            </a:r>
          </a:p>
          <a:p>
            <a:r>
              <a:rPr lang="en-US" b="1" dirty="0"/>
              <a:t>Pre-Supplementary Motor Area</a:t>
            </a:r>
            <a:endParaRPr lang="en-US" dirty="0"/>
          </a:p>
          <a:p>
            <a:pPr lvl="1"/>
            <a:r>
              <a:rPr lang="en-US" dirty="0"/>
              <a:t>Target detection and awareness </a:t>
            </a:r>
          </a:p>
          <a:p>
            <a:pPr lvl="1"/>
            <a:r>
              <a:rPr lang="en-US" dirty="0"/>
              <a:t>Sustained maintenance of attention</a:t>
            </a:r>
          </a:p>
          <a:p>
            <a:pPr lvl="1"/>
            <a:r>
              <a:rPr lang="en-US" dirty="0"/>
              <a:t>Response preparation</a:t>
            </a:r>
          </a:p>
          <a:p>
            <a:pPr marL="0" indent="0">
              <a:buNone/>
            </a:pPr>
            <a:endParaRPr lang="en-US" b="1" dirty="0"/>
          </a:p>
          <a:p>
            <a:r>
              <a:rPr lang="en-US" b="1" dirty="0"/>
              <a:t>ACC</a:t>
            </a:r>
            <a:endParaRPr lang="en-US" dirty="0"/>
          </a:p>
          <a:p>
            <a:pPr lvl="1"/>
            <a:r>
              <a:rPr lang="en-US" dirty="0"/>
              <a:t>Conflict detection</a:t>
            </a:r>
          </a:p>
          <a:p>
            <a:pPr lvl="1"/>
            <a:r>
              <a:rPr lang="en-US" dirty="0"/>
              <a:t>Sustained attentional effort</a:t>
            </a:r>
          </a:p>
          <a:p>
            <a:pPr marL="0" indent="0">
              <a:buNone/>
            </a:pPr>
            <a:endParaRPr lang="en-US" b="1" dirty="0"/>
          </a:p>
          <a:p>
            <a:r>
              <a:rPr lang="en-US" b="1" dirty="0"/>
              <a:t>Dorsolateral PFC</a:t>
            </a:r>
            <a:endParaRPr lang="en-US" dirty="0"/>
          </a:p>
          <a:p>
            <a:pPr lvl="1"/>
            <a:r>
              <a:rPr lang="en-US" dirty="0"/>
              <a:t>Maintains goal-relevant information</a:t>
            </a:r>
          </a:p>
          <a:p>
            <a:pPr lvl="1"/>
            <a:r>
              <a:rPr lang="en-US" dirty="0"/>
              <a:t>Resolves conflict</a:t>
            </a:r>
          </a:p>
          <a:p>
            <a:endParaRPr lang="en-US" dirty="0"/>
          </a:p>
          <a:p>
            <a:pPr marL="0" indent="0">
              <a:buNone/>
            </a:pPr>
            <a:endParaRPr lang="en-US" dirty="0"/>
          </a:p>
        </p:txBody>
      </p:sp>
      <p:grpSp>
        <p:nvGrpSpPr>
          <p:cNvPr id="4" name="Group 3">
            <a:extLst>
              <a:ext uri="{FF2B5EF4-FFF2-40B4-BE49-F238E27FC236}">
                <a16:creationId xmlns:a16="http://schemas.microsoft.com/office/drawing/2014/main" id="{D30254E9-BDCB-BB3C-7532-4F0E1C8C8388}"/>
              </a:ext>
            </a:extLst>
          </p:cNvPr>
          <p:cNvGrpSpPr/>
          <p:nvPr/>
        </p:nvGrpSpPr>
        <p:grpSpPr>
          <a:xfrm>
            <a:off x="5665594" y="1651113"/>
            <a:ext cx="6869599" cy="4360221"/>
            <a:chOff x="1802038" y="-74845"/>
            <a:chExt cx="10922810" cy="6932845"/>
          </a:xfrm>
        </p:grpSpPr>
        <p:grpSp>
          <p:nvGrpSpPr>
            <p:cNvPr id="6" name="Group 5">
              <a:extLst>
                <a:ext uri="{FF2B5EF4-FFF2-40B4-BE49-F238E27FC236}">
                  <a16:creationId xmlns:a16="http://schemas.microsoft.com/office/drawing/2014/main" id="{4187D920-2CFB-0966-6BCA-415CBC56AEF0}"/>
                </a:ext>
              </a:extLst>
            </p:cNvPr>
            <p:cNvGrpSpPr/>
            <p:nvPr/>
          </p:nvGrpSpPr>
          <p:grpSpPr>
            <a:xfrm>
              <a:off x="2713892" y="668215"/>
              <a:ext cx="6858000" cy="6189785"/>
              <a:chOff x="2713892" y="668215"/>
              <a:chExt cx="6858000" cy="6189785"/>
            </a:xfrm>
          </p:grpSpPr>
          <p:pic>
            <p:nvPicPr>
              <p:cNvPr id="17" name="Picture 16" descr="A picture containing plate&#10;&#10;Description automatically generated">
                <a:extLst>
                  <a:ext uri="{FF2B5EF4-FFF2-40B4-BE49-F238E27FC236}">
                    <a16:creationId xmlns:a16="http://schemas.microsoft.com/office/drawing/2014/main" id="{B10C35BD-5AB6-CD2C-D3ED-0DBA60E2C265}"/>
                  </a:ext>
                </a:extLst>
              </p:cNvPr>
              <p:cNvPicPr>
                <a:picLocks noChangeAspect="1"/>
              </p:cNvPicPr>
              <p:nvPr/>
            </p:nvPicPr>
            <p:blipFill rotWithShape="1">
              <a:blip r:embed="rId3">
                <a:clrChange>
                  <a:clrFrom>
                    <a:srgbClr val="FFFFFF"/>
                  </a:clrFrom>
                  <a:clrTo>
                    <a:srgbClr val="FFFFFF">
                      <a:alpha val="0"/>
                    </a:srgbClr>
                  </a:clrTo>
                </a:clrChange>
              </a:blip>
              <a:srcRect b="9744"/>
              <a:stretch/>
            </p:blipFill>
            <p:spPr>
              <a:xfrm>
                <a:off x="2713892" y="668215"/>
                <a:ext cx="6858000" cy="6189785"/>
              </a:xfrm>
              <a:prstGeom prst="rect">
                <a:avLst/>
              </a:prstGeom>
            </p:spPr>
          </p:pic>
          <p:sp>
            <p:nvSpPr>
              <p:cNvPr id="18" name="Freeform 6">
                <a:extLst>
                  <a:ext uri="{FF2B5EF4-FFF2-40B4-BE49-F238E27FC236}">
                    <a16:creationId xmlns:a16="http://schemas.microsoft.com/office/drawing/2014/main" id="{2C32DB04-057B-41B7-CA11-86D1675A94C2}"/>
                  </a:ext>
                </a:extLst>
              </p:cNvPr>
              <p:cNvSpPr/>
              <p:nvPr/>
            </p:nvSpPr>
            <p:spPr>
              <a:xfrm>
                <a:off x="6532075" y="4200808"/>
                <a:ext cx="307818" cy="443620"/>
              </a:xfrm>
              <a:custGeom>
                <a:avLst/>
                <a:gdLst>
                  <a:gd name="connsiteX0" fmla="*/ 0 w 307818"/>
                  <a:gd name="connsiteY0" fmla="*/ 40741 h 443620"/>
                  <a:gd name="connsiteX1" fmla="*/ 104115 w 307818"/>
                  <a:gd name="connsiteY1" fmla="*/ 158436 h 443620"/>
                  <a:gd name="connsiteX2" fmla="*/ 158436 w 307818"/>
                  <a:gd name="connsiteY2" fmla="*/ 239917 h 443620"/>
                  <a:gd name="connsiteX3" fmla="*/ 203703 w 307818"/>
                  <a:gd name="connsiteY3" fmla="*/ 312344 h 443620"/>
                  <a:gd name="connsiteX4" fmla="*/ 248971 w 307818"/>
                  <a:gd name="connsiteY4" fmla="*/ 398352 h 443620"/>
                  <a:gd name="connsiteX5" fmla="*/ 271604 w 307818"/>
                  <a:gd name="connsiteY5" fmla="*/ 443620 h 443620"/>
                  <a:gd name="connsiteX6" fmla="*/ 271604 w 307818"/>
                  <a:gd name="connsiteY6" fmla="*/ 443620 h 443620"/>
                  <a:gd name="connsiteX7" fmla="*/ 307818 w 307818"/>
                  <a:gd name="connsiteY7" fmla="*/ 420986 h 443620"/>
                  <a:gd name="connsiteX8" fmla="*/ 267077 w 307818"/>
                  <a:gd name="connsiteY8" fmla="*/ 334978 h 443620"/>
                  <a:gd name="connsiteX9" fmla="*/ 221810 w 307818"/>
                  <a:gd name="connsiteY9" fmla="*/ 258024 h 443620"/>
                  <a:gd name="connsiteX10" fmla="*/ 176543 w 307818"/>
                  <a:gd name="connsiteY10" fmla="*/ 185596 h 443620"/>
                  <a:gd name="connsiteX11" fmla="*/ 131275 w 307818"/>
                  <a:gd name="connsiteY11" fmla="*/ 126748 h 443620"/>
                  <a:gd name="connsiteX12" fmla="*/ 90535 w 307818"/>
                  <a:gd name="connsiteY12" fmla="*/ 86008 h 443620"/>
                  <a:gd name="connsiteX13" fmla="*/ 31687 w 307818"/>
                  <a:gd name="connsiteY13" fmla="*/ 0 h 443620"/>
                  <a:gd name="connsiteX14" fmla="*/ 0 w 307818"/>
                  <a:gd name="connsiteY14" fmla="*/ 40741 h 44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818" h="443620">
                    <a:moveTo>
                      <a:pt x="0" y="40741"/>
                    </a:moveTo>
                    <a:lnTo>
                      <a:pt x="104115" y="158436"/>
                    </a:lnTo>
                    <a:lnTo>
                      <a:pt x="158436" y="239917"/>
                    </a:lnTo>
                    <a:lnTo>
                      <a:pt x="203703" y="312344"/>
                    </a:lnTo>
                    <a:lnTo>
                      <a:pt x="248971" y="398352"/>
                    </a:lnTo>
                    <a:lnTo>
                      <a:pt x="271604" y="443620"/>
                    </a:lnTo>
                    <a:lnTo>
                      <a:pt x="271604" y="443620"/>
                    </a:lnTo>
                    <a:lnTo>
                      <a:pt x="307818" y="420986"/>
                    </a:lnTo>
                    <a:lnTo>
                      <a:pt x="267077" y="334978"/>
                    </a:lnTo>
                    <a:lnTo>
                      <a:pt x="221810" y="258024"/>
                    </a:lnTo>
                    <a:lnTo>
                      <a:pt x="176543" y="185596"/>
                    </a:lnTo>
                    <a:lnTo>
                      <a:pt x="131275" y="126748"/>
                    </a:lnTo>
                    <a:lnTo>
                      <a:pt x="90535" y="86008"/>
                    </a:lnTo>
                    <a:lnTo>
                      <a:pt x="31687" y="0"/>
                    </a:lnTo>
                    <a:lnTo>
                      <a:pt x="0" y="40741"/>
                    </a:lnTo>
                    <a:close/>
                  </a:path>
                </a:pathLst>
              </a:custGeom>
              <a:solidFill>
                <a:srgbClr val="E5BAA9"/>
              </a:solidFill>
              <a:ln>
                <a:solidFill>
                  <a:srgbClr val="E5BA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reeform 14">
              <a:extLst>
                <a:ext uri="{FF2B5EF4-FFF2-40B4-BE49-F238E27FC236}">
                  <a16:creationId xmlns:a16="http://schemas.microsoft.com/office/drawing/2014/main" id="{502B1620-8CD5-C994-0FA0-B787ECD7C8FA}"/>
                </a:ext>
              </a:extLst>
            </p:cNvPr>
            <p:cNvSpPr/>
            <p:nvPr/>
          </p:nvSpPr>
          <p:spPr>
            <a:xfrm>
              <a:off x="4068566" y="2465798"/>
              <a:ext cx="1674688" cy="1438382"/>
            </a:xfrm>
            <a:custGeom>
              <a:avLst/>
              <a:gdLst>
                <a:gd name="connsiteX0" fmla="*/ 554805 w 1674688"/>
                <a:gd name="connsiteY0" fmla="*/ 1438382 h 1438382"/>
                <a:gd name="connsiteX1" fmla="*/ 719191 w 1674688"/>
                <a:gd name="connsiteY1" fmla="*/ 1263721 h 1438382"/>
                <a:gd name="connsiteX2" fmla="*/ 390418 w 1674688"/>
                <a:gd name="connsiteY2" fmla="*/ 1068512 h 1438382"/>
                <a:gd name="connsiteX3" fmla="*/ 318499 w 1674688"/>
                <a:gd name="connsiteY3" fmla="*/ 801384 h 1438382"/>
                <a:gd name="connsiteX4" fmla="*/ 410967 w 1674688"/>
                <a:gd name="connsiteY4" fmla="*/ 554804 h 1438382"/>
                <a:gd name="connsiteX5" fmla="*/ 565079 w 1674688"/>
                <a:gd name="connsiteY5" fmla="*/ 441789 h 1438382"/>
                <a:gd name="connsiteX6" fmla="*/ 821933 w 1674688"/>
                <a:gd name="connsiteY6" fmla="*/ 472611 h 1438382"/>
                <a:gd name="connsiteX7" fmla="*/ 1047964 w 1674688"/>
                <a:gd name="connsiteY7" fmla="*/ 410966 h 1438382"/>
                <a:gd name="connsiteX8" fmla="*/ 1674688 w 1674688"/>
                <a:gd name="connsiteY8" fmla="*/ 369869 h 1438382"/>
                <a:gd name="connsiteX9" fmla="*/ 1643865 w 1674688"/>
                <a:gd name="connsiteY9" fmla="*/ 30822 h 1438382"/>
                <a:gd name="connsiteX10" fmla="*/ 1212351 w 1674688"/>
                <a:gd name="connsiteY10" fmla="*/ 0 h 1438382"/>
                <a:gd name="connsiteX11" fmla="*/ 626724 w 1674688"/>
                <a:gd name="connsiteY11" fmla="*/ 143838 h 1438382"/>
                <a:gd name="connsiteX12" fmla="*/ 380144 w 1674688"/>
                <a:gd name="connsiteY12" fmla="*/ 205483 h 1438382"/>
                <a:gd name="connsiteX13" fmla="*/ 61645 w 1674688"/>
                <a:gd name="connsiteY13" fmla="*/ 472611 h 1438382"/>
                <a:gd name="connsiteX14" fmla="*/ 0 w 1674688"/>
                <a:gd name="connsiteY14" fmla="*/ 904126 h 1438382"/>
                <a:gd name="connsiteX15" fmla="*/ 102742 w 1674688"/>
                <a:gd name="connsiteY15" fmla="*/ 1160980 h 1438382"/>
                <a:gd name="connsiteX16" fmla="*/ 297951 w 1674688"/>
                <a:gd name="connsiteY16" fmla="*/ 1356189 h 1438382"/>
                <a:gd name="connsiteX17" fmla="*/ 554805 w 1674688"/>
                <a:gd name="connsiteY17" fmla="*/ 1438382 h 14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74688" h="1438382">
                  <a:moveTo>
                    <a:pt x="554805" y="1438382"/>
                  </a:moveTo>
                  <a:lnTo>
                    <a:pt x="719191" y="1263721"/>
                  </a:lnTo>
                  <a:lnTo>
                    <a:pt x="390418" y="1068512"/>
                  </a:lnTo>
                  <a:lnTo>
                    <a:pt x="318499" y="801384"/>
                  </a:lnTo>
                  <a:lnTo>
                    <a:pt x="410967" y="554804"/>
                  </a:lnTo>
                  <a:lnTo>
                    <a:pt x="565079" y="441789"/>
                  </a:lnTo>
                  <a:lnTo>
                    <a:pt x="821933" y="472611"/>
                  </a:lnTo>
                  <a:lnTo>
                    <a:pt x="1047964" y="410966"/>
                  </a:lnTo>
                  <a:lnTo>
                    <a:pt x="1674688" y="369869"/>
                  </a:lnTo>
                  <a:lnTo>
                    <a:pt x="1643865" y="30822"/>
                  </a:lnTo>
                  <a:lnTo>
                    <a:pt x="1212351" y="0"/>
                  </a:lnTo>
                  <a:lnTo>
                    <a:pt x="626724" y="143838"/>
                  </a:lnTo>
                  <a:lnTo>
                    <a:pt x="380144" y="205483"/>
                  </a:lnTo>
                  <a:lnTo>
                    <a:pt x="61645" y="472611"/>
                  </a:lnTo>
                  <a:lnTo>
                    <a:pt x="0" y="904126"/>
                  </a:lnTo>
                  <a:lnTo>
                    <a:pt x="102742" y="1160980"/>
                  </a:lnTo>
                  <a:lnTo>
                    <a:pt x="297951" y="1356189"/>
                  </a:lnTo>
                  <a:lnTo>
                    <a:pt x="554805" y="1438382"/>
                  </a:lnTo>
                  <a:close/>
                </a:path>
              </a:pathLst>
            </a:custGeom>
            <a:solidFill>
              <a:srgbClr val="FFD966"/>
            </a:solidFill>
            <a:ln>
              <a:solidFill>
                <a:srgbClr val="9E7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8" name="TextBox 7">
              <a:extLst>
                <a:ext uri="{FF2B5EF4-FFF2-40B4-BE49-F238E27FC236}">
                  <a16:creationId xmlns:a16="http://schemas.microsoft.com/office/drawing/2014/main" id="{07CB7A59-A50B-A83A-0FF3-0C9A420E50E9}"/>
                </a:ext>
              </a:extLst>
            </p:cNvPr>
            <p:cNvSpPr txBox="1"/>
            <p:nvPr/>
          </p:nvSpPr>
          <p:spPr>
            <a:xfrm>
              <a:off x="1802038" y="2160814"/>
              <a:ext cx="865065" cy="489372"/>
            </a:xfrm>
            <a:prstGeom prst="rect">
              <a:avLst/>
            </a:prstGeom>
            <a:noFill/>
          </p:spPr>
          <p:txBody>
            <a:bodyPr wrap="none" rtlCol="0">
              <a:spAutoFit/>
            </a:bodyPr>
            <a:lstStyle/>
            <a:p>
              <a:pPr algn="ctr"/>
              <a:r>
                <a:rPr lang="en-US" sz="1400" b="1" dirty="0">
                  <a:solidFill>
                    <a:srgbClr val="9E7800"/>
                  </a:solidFill>
                </a:rPr>
                <a:t>ACC</a:t>
              </a:r>
            </a:p>
          </p:txBody>
        </p:sp>
        <p:cxnSp>
          <p:nvCxnSpPr>
            <p:cNvPr id="9" name="Straight Connector 8">
              <a:extLst>
                <a:ext uri="{FF2B5EF4-FFF2-40B4-BE49-F238E27FC236}">
                  <a16:creationId xmlns:a16="http://schemas.microsoft.com/office/drawing/2014/main" id="{A26EFE60-C41C-D394-AAF1-5EF0583E5C68}"/>
                </a:ext>
              </a:extLst>
            </p:cNvPr>
            <p:cNvCxnSpPr>
              <a:cxnSpLocks/>
            </p:cNvCxnSpPr>
            <p:nvPr/>
          </p:nvCxnSpPr>
          <p:spPr>
            <a:xfrm>
              <a:off x="2571025" y="2382864"/>
              <a:ext cx="1756046" cy="572607"/>
            </a:xfrm>
            <a:prstGeom prst="line">
              <a:avLst/>
            </a:prstGeom>
            <a:ln>
              <a:solidFill>
                <a:srgbClr val="9E7800"/>
              </a:solidFill>
            </a:ln>
          </p:spPr>
          <p:style>
            <a:lnRef idx="1">
              <a:schemeClr val="accent1"/>
            </a:lnRef>
            <a:fillRef idx="0">
              <a:schemeClr val="accent1"/>
            </a:fillRef>
            <a:effectRef idx="0">
              <a:schemeClr val="accent1"/>
            </a:effectRef>
            <a:fontRef idx="minor">
              <a:schemeClr val="tx1"/>
            </a:fontRef>
          </p:style>
        </p:cxnSp>
        <p:pic>
          <p:nvPicPr>
            <p:cNvPr id="10" name="Picture 9" descr="A close up of a nut&#10;&#10;Description automatically generated">
              <a:extLst>
                <a:ext uri="{FF2B5EF4-FFF2-40B4-BE49-F238E27FC236}">
                  <a16:creationId xmlns:a16="http://schemas.microsoft.com/office/drawing/2014/main" id="{B9161773-A050-374E-FDBA-ECE03635B093}"/>
                </a:ext>
              </a:extLst>
            </p:cNvPr>
            <p:cNvPicPr>
              <a:picLocks noChangeAspect="1"/>
            </p:cNvPicPr>
            <p:nvPr/>
          </p:nvPicPr>
          <p:blipFill rotWithShape="1">
            <a:blip r:embed="rId4">
              <a:clrChange>
                <a:clrFrom>
                  <a:srgbClr val="FFFFFF"/>
                </a:clrFrom>
                <a:clrTo>
                  <a:srgbClr val="FFFFFF">
                    <a:alpha val="0"/>
                  </a:srgbClr>
                </a:clrTo>
              </a:clrChange>
            </a:blip>
            <a:srcRect t="37677"/>
            <a:stretch/>
          </p:blipFill>
          <p:spPr>
            <a:xfrm rot="636645">
              <a:off x="7975048" y="412807"/>
              <a:ext cx="4749800" cy="2865230"/>
            </a:xfrm>
            <a:prstGeom prst="rect">
              <a:avLst/>
            </a:prstGeom>
          </p:spPr>
        </p:pic>
        <p:sp>
          <p:nvSpPr>
            <p:cNvPr id="11" name="Freeform: Shape 10">
              <a:extLst>
                <a:ext uri="{FF2B5EF4-FFF2-40B4-BE49-F238E27FC236}">
                  <a16:creationId xmlns:a16="http://schemas.microsoft.com/office/drawing/2014/main" id="{2E3EBE84-8C73-415B-217B-7A751E424465}"/>
                </a:ext>
              </a:extLst>
            </p:cNvPr>
            <p:cNvSpPr/>
            <p:nvPr/>
          </p:nvSpPr>
          <p:spPr>
            <a:xfrm>
              <a:off x="9377899" y="520042"/>
              <a:ext cx="433494" cy="429622"/>
            </a:xfrm>
            <a:custGeom>
              <a:avLst/>
              <a:gdLst>
                <a:gd name="csX0" fmla="*/ 927946 w 927946"/>
                <a:gd name="csY0" fmla="*/ 40640 h 650240"/>
                <a:gd name="csX1" fmla="*/ 921173 w 927946"/>
                <a:gd name="csY1" fmla="*/ 304800 h 650240"/>
                <a:gd name="csX2" fmla="*/ 555413 w 927946"/>
                <a:gd name="csY2" fmla="*/ 650240 h 650240"/>
                <a:gd name="csX3" fmla="*/ 0 w 927946"/>
                <a:gd name="csY3" fmla="*/ 419947 h 650240"/>
                <a:gd name="csX4" fmla="*/ 6773 w 927946"/>
                <a:gd name="csY4" fmla="*/ 182880 h 650240"/>
                <a:gd name="csX5" fmla="*/ 270933 w 927946"/>
                <a:gd name="csY5" fmla="*/ 27094 h 650240"/>
                <a:gd name="csX6" fmla="*/ 772160 w 927946"/>
                <a:gd name="csY6" fmla="*/ 0 h 650240"/>
                <a:gd name="csX7" fmla="*/ 927946 w 927946"/>
                <a:gd name="csY7" fmla="*/ 40640 h 6502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27946" h="650240">
                  <a:moveTo>
                    <a:pt x="927946" y="40640"/>
                  </a:moveTo>
                  <a:lnTo>
                    <a:pt x="921173" y="304800"/>
                  </a:lnTo>
                  <a:lnTo>
                    <a:pt x="555413" y="650240"/>
                  </a:lnTo>
                  <a:lnTo>
                    <a:pt x="0" y="419947"/>
                  </a:lnTo>
                  <a:lnTo>
                    <a:pt x="6773" y="182880"/>
                  </a:lnTo>
                  <a:lnTo>
                    <a:pt x="270933" y="27094"/>
                  </a:lnTo>
                  <a:lnTo>
                    <a:pt x="772160" y="0"/>
                  </a:lnTo>
                  <a:lnTo>
                    <a:pt x="927946" y="40640"/>
                  </a:lnTo>
                  <a:close/>
                </a:path>
              </a:pathLst>
            </a:custGeom>
            <a:solidFill>
              <a:srgbClr val="FFD966"/>
            </a:solidFill>
            <a:ln>
              <a:solidFill>
                <a:srgbClr val="AB86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F069611-140A-B519-9989-91A7FC42DD52}"/>
                </a:ext>
              </a:extLst>
            </p:cNvPr>
            <p:cNvSpPr txBox="1"/>
            <p:nvPr/>
          </p:nvSpPr>
          <p:spPr>
            <a:xfrm>
              <a:off x="6477604" y="-74845"/>
              <a:ext cx="2354386" cy="831931"/>
            </a:xfrm>
            <a:prstGeom prst="rect">
              <a:avLst/>
            </a:prstGeom>
            <a:noFill/>
          </p:spPr>
          <p:txBody>
            <a:bodyPr wrap="none" rtlCol="0">
              <a:spAutoFit/>
            </a:bodyPr>
            <a:lstStyle/>
            <a:p>
              <a:pPr algn="ctr"/>
              <a:r>
                <a:rPr lang="en-US" sz="1400" b="1" dirty="0">
                  <a:solidFill>
                    <a:srgbClr val="9E7800"/>
                  </a:solidFill>
                </a:rPr>
                <a:t>Supplementary </a:t>
              </a:r>
            </a:p>
            <a:p>
              <a:pPr algn="ctr"/>
              <a:r>
                <a:rPr lang="en-US" sz="1400" b="1" dirty="0">
                  <a:solidFill>
                    <a:srgbClr val="9E7800"/>
                  </a:solidFill>
                </a:rPr>
                <a:t>Motor Area</a:t>
              </a:r>
            </a:p>
          </p:txBody>
        </p:sp>
        <p:cxnSp>
          <p:nvCxnSpPr>
            <p:cNvPr id="13" name="Straight Connector 12">
              <a:extLst>
                <a:ext uri="{FF2B5EF4-FFF2-40B4-BE49-F238E27FC236}">
                  <a16:creationId xmlns:a16="http://schemas.microsoft.com/office/drawing/2014/main" id="{EBE28476-0C34-CCAC-78FD-3C45E7FA0305}"/>
                </a:ext>
              </a:extLst>
            </p:cNvPr>
            <p:cNvCxnSpPr>
              <a:cxnSpLocks/>
              <a:endCxn id="11" idx="1"/>
            </p:cNvCxnSpPr>
            <p:nvPr/>
          </p:nvCxnSpPr>
          <p:spPr>
            <a:xfrm>
              <a:off x="8585419" y="404896"/>
              <a:ext cx="1222809" cy="316532"/>
            </a:xfrm>
            <a:prstGeom prst="line">
              <a:avLst/>
            </a:prstGeom>
            <a:ln>
              <a:solidFill>
                <a:srgbClr val="9E7800"/>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E2CAD373-1108-7C1E-298C-5CF391E5A6DD}"/>
                </a:ext>
              </a:extLst>
            </p:cNvPr>
            <p:cNvSpPr/>
            <p:nvPr/>
          </p:nvSpPr>
          <p:spPr>
            <a:xfrm>
              <a:off x="8168640" y="704427"/>
              <a:ext cx="1225973" cy="1232746"/>
            </a:xfrm>
            <a:custGeom>
              <a:avLst/>
              <a:gdLst>
                <a:gd name="csX0" fmla="*/ 717973 w 1225973"/>
                <a:gd name="csY0" fmla="*/ 1232746 h 1232746"/>
                <a:gd name="csX1" fmla="*/ 1225973 w 1225973"/>
                <a:gd name="csY1" fmla="*/ 799253 h 1232746"/>
                <a:gd name="csX2" fmla="*/ 1198880 w 1225973"/>
                <a:gd name="csY2" fmla="*/ 33866 h 1232746"/>
                <a:gd name="csX3" fmla="*/ 900853 w 1225973"/>
                <a:gd name="csY3" fmla="*/ 0 h 1232746"/>
                <a:gd name="csX4" fmla="*/ 277707 w 1225973"/>
                <a:gd name="csY4" fmla="*/ 460586 h 1232746"/>
                <a:gd name="csX5" fmla="*/ 6773 w 1225973"/>
                <a:gd name="csY5" fmla="*/ 860213 h 1232746"/>
                <a:gd name="csX6" fmla="*/ 0 w 1225973"/>
                <a:gd name="csY6" fmla="*/ 1056640 h 1232746"/>
                <a:gd name="csX7" fmla="*/ 717973 w 1225973"/>
                <a:gd name="csY7" fmla="*/ 1232746 h 123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25973" h="1232746">
                  <a:moveTo>
                    <a:pt x="717973" y="1232746"/>
                  </a:moveTo>
                  <a:lnTo>
                    <a:pt x="1225973" y="799253"/>
                  </a:lnTo>
                  <a:lnTo>
                    <a:pt x="1198880" y="33866"/>
                  </a:lnTo>
                  <a:lnTo>
                    <a:pt x="900853" y="0"/>
                  </a:lnTo>
                  <a:lnTo>
                    <a:pt x="277707" y="460586"/>
                  </a:lnTo>
                  <a:lnTo>
                    <a:pt x="6773" y="860213"/>
                  </a:lnTo>
                  <a:lnTo>
                    <a:pt x="0" y="1056640"/>
                  </a:lnTo>
                  <a:lnTo>
                    <a:pt x="717973" y="1232746"/>
                  </a:lnTo>
                  <a:close/>
                </a:path>
              </a:pathLst>
            </a:custGeom>
            <a:solidFill>
              <a:srgbClr val="FFD966"/>
            </a:solidFill>
            <a:ln>
              <a:solidFill>
                <a:srgbClr val="AB861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A946B114-04F0-6E7F-DF57-7AC1E63FAB93}"/>
                </a:ext>
              </a:extLst>
            </p:cNvPr>
            <p:cNvSpPr txBox="1"/>
            <p:nvPr/>
          </p:nvSpPr>
          <p:spPr>
            <a:xfrm>
              <a:off x="9506942" y="3390600"/>
              <a:ext cx="1907835" cy="831931"/>
            </a:xfrm>
            <a:prstGeom prst="rect">
              <a:avLst/>
            </a:prstGeom>
            <a:noFill/>
          </p:spPr>
          <p:txBody>
            <a:bodyPr wrap="none" rtlCol="0">
              <a:spAutoFit/>
            </a:bodyPr>
            <a:lstStyle/>
            <a:p>
              <a:pPr algn="ctr"/>
              <a:r>
                <a:rPr lang="en-US" sz="1400" b="1" dirty="0">
                  <a:solidFill>
                    <a:srgbClr val="9E7800"/>
                  </a:solidFill>
                </a:rPr>
                <a:t>Dorsolateral</a:t>
              </a:r>
            </a:p>
            <a:p>
              <a:pPr algn="ctr"/>
              <a:r>
                <a:rPr lang="en-US" sz="1400" b="1" dirty="0">
                  <a:solidFill>
                    <a:srgbClr val="9E7800"/>
                  </a:solidFill>
                </a:rPr>
                <a:t>PFC</a:t>
              </a:r>
            </a:p>
          </p:txBody>
        </p:sp>
        <p:cxnSp>
          <p:nvCxnSpPr>
            <p:cNvPr id="16" name="Straight Connector 15">
              <a:extLst>
                <a:ext uri="{FF2B5EF4-FFF2-40B4-BE49-F238E27FC236}">
                  <a16:creationId xmlns:a16="http://schemas.microsoft.com/office/drawing/2014/main" id="{0774885C-0491-5190-2A25-D661B96A81D2}"/>
                </a:ext>
              </a:extLst>
            </p:cNvPr>
            <p:cNvCxnSpPr>
              <a:cxnSpLocks/>
            </p:cNvCxnSpPr>
            <p:nvPr/>
          </p:nvCxnSpPr>
          <p:spPr>
            <a:xfrm>
              <a:off x="8831991" y="1687012"/>
              <a:ext cx="1156680" cy="1741988"/>
            </a:xfrm>
            <a:prstGeom prst="line">
              <a:avLst/>
            </a:prstGeom>
            <a:ln>
              <a:solidFill>
                <a:srgbClr val="9E78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6413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B239-311A-1E7B-C1FD-8E474EDFB54B}"/>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7CA83904-4C1A-A5F3-31C3-A1C7045F6A4A}"/>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Attention</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Endogenous &amp; Exogenous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Visual Search</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Attentional Components</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Executive Functioning</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Effort</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Control</a:t>
            </a:r>
          </a:p>
        </p:txBody>
      </p:sp>
      <p:pic>
        <p:nvPicPr>
          <p:cNvPr id="2" name="Picture 1" descr="A colorful and black and white brain&#10;&#10;AI-generated content may be incorrect.">
            <a:extLst>
              <a:ext uri="{FF2B5EF4-FFF2-40B4-BE49-F238E27FC236}">
                <a16:creationId xmlns:a16="http://schemas.microsoft.com/office/drawing/2014/main" id="{332E3C41-FA9F-A029-4AC6-0DA8EA26122C}"/>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808477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3185B-F33F-CF4A-86EF-85A774BF9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F6015-14C0-6C54-BDCB-9B419141F87E}"/>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BC995199-D3D4-F8EB-B76D-C035D1C4BE96}"/>
              </a:ext>
            </a:extLst>
          </p:cNvPr>
          <p:cNvSpPr>
            <a:spLocks noGrp="1"/>
          </p:cNvSpPr>
          <p:nvPr>
            <p:ph idx="1"/>
          </p:nvPr>
        </p:nvSpPr>
        <p:spPr>
          <a:xfrm>
            <a:off x="838200" y="1825625"/>
            <a:ext cx="6596270" cy="4351338"/>
          </a:xfrm>
        </p:spPr>
        <p:txBody>
          <a:bodyPr>
            <a:normAutofit/>
          </a:bodyPr>
          <a:lstStyle/>
          <a:p>
            <a:pPr marL="0" indent="0">
              <a:buNone/>
            </a:pPr>
            <a:r>
              <a:rPr lang="en-US" b="1" dirty="0"/>
              <a:t>Executive Functioning</a:t>
            </a:r>
            <a:r>
              <a:rPr lang="en-US" dirty="0"/>
              <a:t>: Suite of high-level cognitive processes that require mental effort to plan, regulate, and direct </a:t>
            </a:r>
            <a:r>
              <a:rPr lang="en-US" dirty="0" err="1"/>
              <a:t>behaviour</a:t>
            </a:r>
            <a:r>
              <a:rPr lang="en-US" dirty="0"/>
              <a:t> toward goals</a:t>
            </a:r>
          </a:p>
          <a:p>
            <a:r>
              <a:rPr lang="en-US" dirty="0"/>
              <a:t>Recruited when there is a need for effort</a:t>
            </a:r>
          </a:p>
          <a:p>
            <a:pPr marL="0" indent="0">
              <a:buNone/>
            </a:pPr>
            <a:endParaRPr lang="en-US" dirty="0"/>
          </a:p>
          <a:p>
            <a:pPr marL="0" indent="0">
              <a:buNone/>
            </a:pPr>
            <a:endParaRPr lang="en-US" dirty="0"/>
          </a:p>
        </p:txBody>
      </p:sp>
      <p:pic>
        <p:nvPicPr>
          <p:cNvPr id="5" name="Picture 4" descr="A diagram of a light bulb with text&#10;&#10;AI-generated content may be incorrect.">
            <a:extLst>
              <a:ext uri="{FF2B5EF4-FFF2-40B4-BE49-F238E27FC236}">
                <a16:creationId xmlns:a16="http://schemas.microsoft.com/office/drawing/2014/main" id="{814ABC2C-B834-EE61-7448-8FB899B4BBC1}"/>
              </a:ext>
            </a:extLst>
          </p:cNvPr>
          <p:cNvPicPr>
            <a:picLocks noChangeAspect="1"/>
          </p:cNvPicPr>
          <p:nvPr/>
        </p:nvPicPr>
        <p:blipFill>
          <a:blip r:embed="rId2">
            <a:extLst>
              <a:ext uri="{28A0092B-C50C-407E-A947-70E740481C1C}">
                <a14:useLocalDpi xmlns:a14="http://schemas.microsoft.com/office/drawing/2010/main" val="0"/>
              </a:ext>
            </a:extLst>
          </a:blip>
          <a:srcRect r="28678" b="8454"/>
          <a:stretch>
            <a:fillRect/>
          </a:stretch>
        </p:blipFill>
        <p:spPr>
          <a:xfrm>
            <a:off x="7291936" y="1531426"/>
            <a:ext cx="4812600" cy="4169658"/>
          </a:xfrm>
          <a:prstGeom prst="rect">
            <a:avLst/>
          </a:prstGeom>
        </p:spPr>
      </p:pic>
    </p:spTree>
    <p:extLst>
      <p:ext uri="{BB962C8B-B14F-4D97-AF65-F5344CB8AC3E}">
        <p14:creationId xmlns:p14="http://schemas.microsoft.com/office/powerpoint/2010/main" val="3853630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DA5B05-F744-1613-23AD-38A26744C4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8950" y="361950"/>
            <a:ext cx="6134100" cy="6134100"/>
          </a:xfrm>
          <a:prstGeom prst="rect">
            <a:avLst/>
          </a:prstGeom>
        </p:spPr>
      </p:pic>
    </p:spTree>
    <p:extLst>
      <p:ext uri="{BB962C8B-B14F-4D97-AF65-F5344CB8AC3E}">
        <p14:creationId xmlns:p14="http://schemas.microsoft.com/office/powerpoint/2010/main" val="3026630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F2C019-E4F1-38A2-F47C-7EF539C4B516}"/>
              </a:ext>
            </a:extLst>
          </p:cNvPr>
          <p:cNvPicPr>
            <a:picLocks noChangeAspect="1"/>
          </p:cNvPicPr>
          <p:nvPr/>
        </p:nvPicPr>
        <p:blipFill>
          <a:blip r:embed="rId2">
            <a:extLst>
              <a:ext uri="{28A0092B-C50C-407E-A947-70E740481C1C}">
                <a14:useLocalDpi xmlns:a14="http://schemas.microsoft.com/office/drawing/2010/main" val="0"/>
              </a:ext>
            </a:extLst>
          </a:blip>
          <a:srcRect l="59747" t="40157" r="20420" b="40125"/>
          <a:stretch>
            <a:fillRect/>
          </a:stretch>
        </p:blipFill>
        <p:spPr>
          <a:xfrm>
            <a:off x="3480425" y="694638"/>
            <a:ext cx="5301497" cy="5270442"/>
          </a:xfrm>
          <a:prstGeom prst="rect">
            <a:avLst/>
          </a:prstGeom>
        </p:spPr>
      </p:pic>
    </p:spTree>
    <p:extLst>
      <p:ext uri="{BB962C8B-B14F-4D97-AF65-F5344CB8AC3E}">
        <p14:creationId xmlns:p14="http://schemas.microsoft.com/office/powerpoint/2010/main" val="367945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5069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56C4F-AC1A-2F97-954C-A56311565ED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DC5AA35-E3E6-835F-A0A0-E2D853528068}"/>
              </a:ext>
            </a:extLst>
          </p:cNvPr>
          <p:cNvPicPr>
            <a:picLocks noChangeAspect="1"/>
          </p:cNvPicPr>
          <p:nvPr/>
        </p:nvPicPr>
        <p:blipFill>
          <a:blip r:embed="rId2">
            <a:extLst>
              <a:ext uri="{28A0092B-C50C-407E-A947-70E740481C1C}">
                <a14:useLocalDpi xmlns:a14="http://schemas.microsoft.com/office/drawing/2010/main" val="0"/>
              </a:ext>
            </a:extLst>
          </a:blip>
          <a:srcRect l="40218" t="79482" r="40140" b="233"/>
          <a:stretch>
            <a:fillRect/>
          </a:stretch>
        </p:blipFill>
        <p:spPr>
          <a:xfrm rot="10800000">
            <a:off x="3458821" y="689390"/>
            <a:ext cx="5397933" cy="5574660"/>
          </a:xfrm>
          <a:prstGeom prst="rect">
            <a:avLst/>
          </a:prstGeom>
        </p:spPr>
      </p:pic>
    </p:spTree>
    <p:extLst>
      <p:ext uri="{BB962C8B-B14F-4D97-AF65-F5344CB8AC3E}">
        <p14:creationId xmlns:p14="http://schemas.microsoft.com/office/powerpoint/2010/main" val="3238341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9363-47CC-C077-D5F8-7F659816BFF5}"/>
            </a:ext>
          </a:extLst>
        </p:cNvPr>
        <p:cNvGrpSpPr/>
        <p:nvPr/>
      </p:nvGrpSpPr>
      <p:grpSpPr>
        <a:xfrm>
          <a:off x="0" y="0"/>
          <a:ext cx="0" cy="0"/>
          <a:chOff x="0" y="0"/>
          <a:chExt cx="0" cy="0"/>
        </a:xfrm>
      </p:grpSpPr>
    </p:spTree>
    <p:extLst>
      <p:ext uri="{BB962C8B-B14F-4D97-AF65-F5344CB8AC3E}">
        <p14:creationId xmlns:p14="http://schemas.microsoft.com/office/powerpoint/2010/main" val="2288673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D8465-B4F2-96F1-4E5E-6E4E606904F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0DDB033-80A5-B146-9845-B67FD16C7507}"/>
              </a:ext>
            </a:extLst>
          </p:cNvPr>
          <p:cNvPicPr>
            <a:picLocks noChangeAspect="1"/>
          </p:cNvPicPr>
          <p:nvPr/>
        </p:nvPicPr>
        <p:blipFill>
          <a:blip r:embed="rId2">
            <a:extLst>
              <a:ext uri="{28A0092B-C50C-407E-A947-70E740481C1C}">
                <a14:useLocalDpi xmlns:a14="http://schemas.microsoft.com/office/drawing/2010/main" val="0"/>
              </a:ext>
            </a:extLst>
          </a:blip>
          <a:srcRect l="40218" t="79482" r="40140" b="233"/>
          <a:stretch>
            <a:fillRect/>
          </a:stretch>
        </p:blipFill>
        <p:spPr>
          <a:xfrm>
            <a:off x="3458821" y="689390"/>
            <a:ext cx="5397933" cy="5574660"/>
          </a:xfrm>
          <a:prstGeom prst="rect">
            <a:avLst/>
          </a:prstGeom>
        </p:spPr>
      </p:pic>
    </p:spTree>
    <p:extLst>
      <p:ext uri="{BB962C8B-B14F-4D97-AF65-F5344CB8AC3E}">
        <p14:creationId xmlns:p14="http://schemas.microsoft.com/office/powerpoint/2010/main" val="17375668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07E1A-F8D4-3DB9-60B9-8BCCBFF544D2}"/>
            </a:ext>
          </a:extLst>
        </p:cNvPr>
        <p:cNvGrpSpPr/>
        <p:nvPr/>
      </p:nvGrpSpPr>
      <p:grpSpPr>
        <a:xfrm>
          <a:off x="0" y="0"/>
          <a:ext cx="0" cy="0"/>
          <a:chOff x="0" y="0"/>
          <a:chExt cx="0" cy="0"/>
        </a:xfrm>
      </p:grpSpPr>
      <p:pic>
        <p:nvPicPr>
          <p:cNvPr id="5" name="Picture 4" descr="A diagram of a light bulb with text&#10;&#10;AI-generated content may be incorrect.">
            <a:extLst>
              <a:ext uri="{FF2B5EF4-FFF2-40B4-BE49-F238E27FC236}">
                <a16:creationId xmlns:a16="http://schemas.microsoft.com/office/drawing/2014/main" id="{731190FB-42E4-5FF8-0908-D59F0CD0D730}"/>
              </a:ext>
            </a:extLst>
          </p:cNvPr>
          <p:cNvPicPr>
            <a:picLocks noChangeAspect="1"/>
          </p:cNvPicPr>
          <p:nvPr/>
        </p:nvPicPr>
        <p:blipFill>
          <a:blip r:embed="rId2">
            <a:extLst>
              <a:ext uri="{28A0092B-C50C-407E-A947-70E740481C1C}">
                <a14:useLocalDpi xmlns:a14="http://schemas.microsoft.com/office/drawing/2010/main" val="0"/>
              </a:ext>
            </a:extLst>
          </a:blip>
          <a:srcRect r="28678" b="8454"/>
          <a:stretch>
            <a:fillRect/>
          </a:stretch>
        </p:blipFill>
        <p:spPr>
          <a:xfrm>
            <a:off x="7291936" y="1531426"/>
            <a:ext cx="4812600" cy="4169658"/>
          </a:xfrm>
          <a:prstGeom prst="rect">
            <a:avLst/>
          </a:prstGeom>
        </p:spPr>
      </p:pic>
      <p:sp>
        <p:nvSpPr>
          <p:cNvPr id="2" name="Title 1">
            <a:extLst>
              <a:ext uri="{FF2B5EF4-FFF2-40B4-BE49-F238E27FC236}">
                <a16:creationId xmlns:a16="http://schemas.microsoft.com/office/drawing/2014/main" id="{E906F4EC-B750-A5AE-0F13-715180F461B4}"/>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15A51117-A57B-A1C2-4A11-5D6D711C53CB}"/>
              </a:ext>
            </a:extLst>
          </p:cNvPr>
          <p:cNvSpPr>
            <a:spLocks noGrp="1"/>
          </p:cNvSpPr>
          <p:nvPr>
            <p:ph idx="1"/>
          </p:nvPr>
        </p:nvSpPr>
        <p:spPr>
          <a:xfrm>
            <a:off x="838200" y="1825625"/>
            <a:ext cx="6596270" cy="4351338"/>
          </a:xfrm>
        </p:spPr>
        <p:txBody>
          <a:bodyPr>
            <a:normAutofit fontScale="85000" lnSpcReduction="20000"/>
          </a:bodyPr>
          <a:lstStyle/>
          <a:p>
            <a:pPr marL="0" indent="0">
              <a:buNone/>
            </a:pPr>
            <a:r>
              <a:rPr lang="en-US" b="1" dirty="0"/>
              <a:t>Executive Functioning</a:t>
            </a:r>
            <a:r>
              <a:rPr lang="en-US" dirty="0"/>
              <a:t>: Suite of high-level cognitive processes that require mental effort to plan, regulate, and direct </a:t>
            </a:r>
            <a:r>
              <a:rPr lang="en-US" dirty="0" err="1"/>
              <a:t>behaviour</a:t>
            </a:r>
            <a:r>
              <a:rPr lang="en-US" dirty="0"/>
              <a:t> toward goals</a:t>
            </a:r>
          </a:p>
          <a:p>
            <a:r>
              <a:rPr lang="en-US" dirty="0"/>
              <a:t>Recruited when there is a need for effort</a:t>
            </a:r>
          </a:p>
          <a:p>
            <a:pPr lvl="1"/>
            <a:r>
              <a:rPr lang="en-US" dirty="0"/>
              <a:t>Cognitive control determines whether we must exert effort by recruiting these high-level processes</a:t>
            </a:r>
          </a:p>
          <a:p>
            <a:r>
              <a:rPr lang="en-US" b="1" dirty="0"/>
              <a:t>Cognitive Control</a:t>
            </a:r>
            <a:r>
              <a:rPr lang="en-US" dirty="0"/>
              <a:t>: A signal to indicate whether there is a need for effort</a:t>
            </a:r>
          </a:p>
          <a:p>
            <a:pPr lvl="1"/>
            <a:r>
              <a:rPr lang="en-US" dirty="0"/>
              <a:t>Mechanism that regulates and coordinates high-level processes</a:t>
            </a:r>
          </a:p>
          <a:p>
            <a:r>
              <a:rPr lang="en-US" b="1" dirty="0"/>
              <a:t>Cognitive Effort</a:t>
            </a:r>
            <a:r>
              <a:rPr lang="en-US" dirty="0"/>
              <a:t>: Engaging with an effortful task by recruiting high-level processes</a:t>
            </a:r>
          </a:p>
          <a:p>
            <a:pPr lvl="1"/>
            <a:r>
              <a:rPr lang="en-US" dirty="0"/>
              <a:t>Processes include attention, working memory, inhibition, cognitive flexibility, planning, and decision-making</a:t>
            </a:r>
          </a:p>
        </p:txBody>
      </p:sp>
    </p:spTree>
    <p:extLst>
      <p:ext uri="{BB962C8B-B14F-4D97-AF65-F5344CB8AC3E}">
        <p14:creationId xmlns:p14="http://schemas.microsoft.com/office/powerpoint/2010/main" val="53814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CA1D-9E10-F5BF-245C-24E1D8742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4CA2F-CDEA-1989-25FF-70C677EB0F51}"/>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67027C2C-B7C5-D2AB-44FB-620058A287F4}"/>
              </a:ext>
            </a:extLst>
          </p:cNvPr>
          <p:cNvSpPr>
            <a:spLocks noGrp="1"/>
          </p:cNvSpPr>
          <p:nvPr>
            <p:ph idx="1"/>
          </p:nvPr>
        </p:nvSpPr>
        <p:spPr>
          <a:xfrm>
            <a:off x="838199" y="1825625"/>
            <a:ext cx="10448925" cy="4351338"/>
          </a:xfrm>
        </p:spPr>
        <p:txBody>
          <a:bodyPr>
            <a:normAutofit/>
          </a:bodyPr>
          <a:lstStyle/>
          <a:p>
            <a:pPr marL="0" indent="0" algn="ctr">
              <a:buNone/>
            </a:pPr>
            <a:endParaRPr lang="en-US" dirty="0"/>
          </a:p>
          <a:p>
            <a:pPr marL="0" indent="0" algn="ctr">
              <a:buNone/>
            </a:pPr>
            <a:endParaRPr lang="en-US" dirty="0"/>
          </a:p>
          <a:p>
            <a:pPr marL="0" indent="0" algn="ctr">
              <a:buNone/>
            </a:pPr>
            <a:r>
              <a:rPr lang="en-US" dirty="0"/>
              <a:t>In a lake, there is a patch of lily pads. Every day, the patch doubles in size. If it takes </a:t>
            </a:r>
            <a:r>
              <a:rPr lang="en-US" b="1" dirty="0"/>
              <a:t>48</a:t>
            </a:r>
            <a:r>
              <a:rPr lang="en-US" dirty="0"/>
              <a:t> days for the patch to cover the entire lake,</a:t>
            </a:r>
            <a:br>
              <a:rPr lang="en-US" dirty="0"/>
            </a:br>
            <a:r>
              <a:rPr lang="en-US" dirty="0"/>
              <a:t>how long would it take for the patch to cover half of the lake?</a:t>
            </a:r>
          </a:p>
          <a:p>
            <a:pPr marL="0" indent="0" algn="ctr">
              <a:buNone/>
            </a:pPr>
            <a:endParaRPr lang="en-US" dirty="0"/>
          </a:p>
          <a:p>
            <a:pPr marL="0" indent="0" algn="ctr">
              <a:buNone/>
            </a:pPr>
            <a:r>
              <a:rPr lang="en-US" dirty="0">
                <a:solidFill>
                  <a:srgbClr val="FF0000"/>
                </a:solidFill>
              </a:rPr>
              <a:t>47 days</a:t>
            </a:r>
          </a:p>
        </p:txBody>
      </p:sp>
    </p:spTree>
    <p:extLst>
      <p:ext uri="{BB962C8B-B14F-4D97-AF65-F5344CB8AC3E}">
        <p14:creationId xmlns:p14="http://schemas.microsoft.com/office/powerpoint/2010/main" val="135086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CA430-EA51-751B-FBD6-521713466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8B1EC-3378-2C41-BF41-27A996016368}"/>
              </a:ext>
            </a:extLst>
          </p:cNvPr>
          <p:cNvSpPr>
            <a:spLocks noGrp="1"/>
          </p:cNvSpPr>
          <p:nvPr>
            <p:ph type="title"/>
          </p:nvPr>
        </p:nvSpPr>
        <p:spPr/>
        <p:txBody>
          <a:bodyPr/>
          <a:lstStyle/>
          <a:p>
            <a:r>
              <a:rPr lang="en-US" dirty="0"/>
              <a:t>Executive Functioning</a:t>
            </a:r>
          </a:p>
        </p:txBody>
      </p:sp>
      <p:sp>
        <p:nvSpPr>
          <p:cNvPr id="4" name="Oval 3">
            <a:extLst>
              <a:ext uri="{FF2B5EF4-FFF2-40B4-BE49-F238E27FC236}">
                <a16:creationId xmlns:a16="http://schemas.microsoft.com/office/drawing/2014/main" id="{02DEB3E7-229B-0B32-C6BB-133C278C44FC}"/>
              </a:ext>
            </a:extLst>
          </p:cNvPr>
          <p:cNvSpPr/>
          <p:nvPr/>
        </p:nvSpPr>
        <p:spPr>
          <a:xfrm>
            <a:off x="3783343" y="1578429"/>
            <a:ext cx="4625314" cy="18505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COGNITIVE CONTROL:</a:t>
            </a:r>
          </a:p>
          <a:p>
            <a:pPr algn="ctr"/>
            <a:endParaRPr lang="en-US" sz="2400" dirty="0"/>
          </a:p>
          <a:p>
            <a:pPr algn="ctr"/>
            <a:r>
              <a:rPr lang="en-US" sz="2400" dirty="0"/>
              <a:t>Should I exert effort?</a:t>
            </a:r>
          </a:p>
        </p:txBody>
      </p:sp>
      <p:cxnSp>
        <p:nvCxnSpPr>
          <p:cNvPr id="7" name="Straight Arrow Connector 6">
            <a:extLst>
              <a:ext uri="{FF2B5EF4-FFF2-40B4-BE49-F238E27FC236}">
                <a16:creationId xmlns:a16="http://schemas.microsoft.com/office/drawing/2014/main" id="{9756A357-F72E-29CE-A5AF-DB9B1EE3BB63}"/>
              </a:ext>
            </a:extLst>
          </p:cNvPr>
          <p:cNvCxnSpPr/>
          <p:nvPr/>
        </p:nvCxnSpPr>
        <p:spPr>
          <a:xfrm flipH="1">
            <a:off x="4077257" y="3292929"/>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FC7EAC28-993D-42F6-F486-C6A774B76CFA}"/>
              </a:ext>
            </a:extLst>
          </p:cNvPr>
          <p:cNvCxnSpPr>
            <a:cxnSpLocks/>
          </p:cNvCxnSpPr>
          <p:nvPr/>
        </p:nvCxnSpPr>
        <p:spPr>
          <a:xfrm>
            <a:off x="7163357" y="3292476"/>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027DCA8-1C48-31DE-FE35-928EAC50DAAC}"/>
              </a:ext>
            </a:extLst>
          </p:cNvPr>
          <p:cNvSpPr txBox="1"/>
          <p:nvPr/>
        </p:nvSpPr>
        <p:spPr>
          <a:xfrm rot="18032078">
            <a:off x="3975059" y="3754523"/>
            <a:ext cx="583814" cy="461665"/>
          </a:xfrm>
          <a:prstGeom prst="rect">
            <a:avLst/>
          </a:prstGeom>
          <a:noFill/>
        </p:spPr>
        <p:txBody>
          <a:bodyPr wrap="none" rtlCol="0">
            <a:spAutoFit/>
          </a:bodyPr>
          <a:lstStyle/>
          <a:p>
            <a:r>
              <a:rPr lang="en-US" sz="2400" b="1" dirty="0"/>
              <a:t>No</a:t>
            </a:r>
          </a:p>
        </p:txBody>
      </p:sp>
      <p:sp>
        <p:nvSpPr>
          <p:cNvPr id="10" name="TextBox 9">
            <a:extLst>
              <a:ext uri="{FF2B5EF4-FFF2-40B4-BE49-F238E27FC236}">
                <a16:creationId xmlns:a16="http://schemas.microsoft.com/office/drawing/2014/main" id="{9FB00E41-D863-447B-16B4-11A9740DA8F7}"/>
              </a:ext>
            </a:extLst>
          </p:cNvPr>
          <p:cNvSpPr txBox="1"/>
          <p:nvPr/>
        </p:nvSpPr>
        <p:spPr>
          <a:xfrm rot="3503917">
            <a:off x="7420573" y="3756912"/>
            <a:ext cx="674544" cy="461665"/>
          </a:xfrm>
          <a:prstGeom prst="rect">
            <a:avLst/>
          </a:prstGeom>
          <a:noFill/>
        </p:spPr>
        <p:txBody>
          <a:bodyPr wrap="none" rtlCol="0">
            <a:spAutoFit/>
          </a:bodyPr>
          <a:lstStyle/>
          <a:p>
            <a:r>
              <a:rPr lang="en-US" sz="2400" b="1" dirty="0"/>
              <a:t>Yes</a:t>
            </a:r>
          </a:p>
        </p:txBody>
      </p:sp>
      <p:sp>
        <p:nvSpPr>
          <p:cNvPr id="11" name="Oval 10">
            <a:extLst>
              <a:ext uri="{FF2B5EF4-FFF2-40B4-BE49-F238E27FC236}">
                <a16:creationId xmlns:a16="http://schemas.microsoft.com/office/drawing/2014/main" id="{BC92E32A-15E2-0F4D-C29B-7143C6203693}"/>
              </a:ext>
            </a:extLst>
          </p:cNvPr>
          <p:cNvSpPr/>
          <p:nvPr/>
        </p:nvSpPr>
        <p:spPr>
          <a:xfrm>
            <a:off x="7239558" y="4642304"/>
            <a:ext cx="2415624" cy="18505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Recruit executive functioning</a:t>
            </a:r>
          </a:p>
        </p:txBody>
      </p:sp>
      <p:sp>
        <p:nvSpPr>
          <p:cNvPr id="12" name="Oval 11">
            <a:extLst>
              <a:ext uri="{FF2B5EF4-FFF2-40B4-BE49-F238E27FC236}">
                <a16:creationId xmlns:a16="http://schemas.microsoft.com/office/drawing/2014/main" id="{7D53145E-E3A8-64C2-9E57-3D48FBCD9206}"/>
              </a:ext>
            </a:extLst>
          </p:cNvPr>
          <p:cNvSpPr/>
          <p:nvPr/>
        </p:nvSpPr>
        <p:spPr>
          <a:xfrm>
            <a:off x="2358821" y="4642304"/>
            <a:ext cx="2415624" cy="18505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Rely on associative/habitual responses </a:t>
            </a:r>
          </a:p>
        </p:txBody>
      </p:sp>
    </p:spTree>
    <p:extLst>
      <p:ext uri="{BB962C8B-B14F-4D97-AF65-F5344CB8AC3E}">
        <p14:creationId xmlns:p14="http://schemas.microsoft.com/office/powerpoint/2010/main" val="272683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inking Hard Images – Browse 186,399 Stock Photos, Vectors, and Video |  Adobe Stock">
            <a:extLst>
              <a:ext uri="{FF2B5EF4-FFF2-40B4-BE49-F238E27FC236}">
                <a16:creationId xmlns:a16="http://schemas.microsoft.com/office/drawing/2014/main" id="{B2E22873-1352-CB75-5B8F-14DD86F8A8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2286" y="4159570"/>
            <a:ext cx="4789714" cy="26984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3AA7758-EE85-35ED-E106-948097851B4F}"/>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E7BF7EA7-84D4-A68D-9C88-E7256DAEDAB4}"/>
              </a:ext>
            </a:extLst>
          </p:cNvPr>
          <p:cNvSpPr>
            <a:spLocks noGrp="1"/>
          </p:cNvSpPr>
          <p:nvPr>
            <p:ph idx="1"/>
          </p:nvPr>
        </p:nvSpPr>
        <p:spPr/>
        <p:txBody>
          <a:bodyPr/>
          <a:lstStyle/>
          <a:p>
            <a:pPr marL="0" indent="0">
              <a:buNone/>
            </a:pPr>
            <a:r>
              <a:rPr lang="en-US" b="1" dirty="0"/>
              <a:t>Types of Processing</a:t>
            </a:r>
          </a:p>
          <a:p>
            <a:r>
              <a:rPr lang="en-US" b="1" dirty="0"/>
              <a:t>System 1</a:t>
            </a:r>
            <a:r>
              <a:rPr lang="en-US" dirty="0"/>
              <a:t>: Fast, automatic, effortless</a:t>
            </a:r>
          </a:p>
          <a:p>
            <a:pPr lvl="1"/>
            <a:r>
              <a:rPr lang="en-US" dirty="0"/>
              <a:t>Take $100 or enter a draw for a 10% chance of $200?</a:t>
            </a:r>
          </a:p>
          <a:p>
            <a:pPr lvl="1"/>
            <a:r>
              <a:rPr lang="en-US" dirty="0"/>
              <a:t>Recruits automatic processes </a:t>
            </a:r>
          </a:p>
          <a:p>
            <a:pPr lvl="2"/>
            <a:r>
              <a:rPr lang="en-US" dirty="0"/>
              <a:t>E.g., associative thinking, habitual responses</a:t>
            </a:r>
          </a:p>
          <a:p>
            <a:r>
              <a:rPr lang="en-US" b="1" dirty="0"/>
              <a:t>System 2</a:t>
            </a:r>
            <a:r>
              <a:rPr lang="en-US" dirty="0"/>
              <a:t>: Slow, contemplative, effortful</a:t>
            </a:r>
          </a:p>
          <a:p>
            <a:pPr lvl="1"/>
            <a:r>
              <a:rPr lang="en-US" dirty="0"/>
              <a:t>Take $100 or enter a draw for a 10% chance of $1200?</a:t>
            </a:r>
          </a:p>
          <a:p>
            <a:pPr lvl="1"/>
            <a:r>
              <a:rPr lang="en-US" dirty="0"/>
              <a:t>Recruits executive functioning processes</a:t>
            </a:r>
          </a:p>
          <a:p>
            <a:pPr lvl="2"/>
            <a:r>
              <a:rPr lang="en-US" dirty="0"/>
              <a:t>E.g., reasoning, working memory</a:t>
            </a:r>
          </a:p>
        </p:txBody>
      </p:sp>
    </p:spTree>
    <p:extLst>
      <p:ext uri="{BB962C8B-B14F-4D97-AF65-F5344CB8AC3E}">
        <p14:creationId xmlns:p14="http://schemas.microsoft.com/office/powerpoint/2010/main" val="267149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D0E5D-A7CB-C2A6-A4EA-69B1EC727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6968C-23F4-267B-5BE7-A1EA3CDDA500}"/>
              </a:ext>
            </a:extLst>
          </p:cNvPr>
          <p:cNvSpPr>
            <a:spLocks noGrp="1"/>
          </p:cNvSpPr>
          <p:nvPr>
            <p:ph type="title"/>
          </p:nvPr>
        </p:nvSpPr>
        <p:spPr/>
        <p:txBody>
          <a:bodyPr/>
          <a:lstStyle/>
          <a:p>
            <a:r>
              <a:rPr lang="en-US" dirty="0"/>
              <a:t>Two Modes of Thinking</a:t>
            </a:r>
          </a:p>
        </p:txBody>
      </p:sp>
      <p:pic>
        <p:nvPicPr>
          <p:cNvPr id="5" name="Picture 4" descr="A cartoon character from a movie&#10;&#10;AI-generated content may be incorrect.">
            <a:extLst>
              <a:ext uri="{FF2B5EF4-FFF2-40B4-BE49-F238E27FC236}">
                <a16:creationId xmlns:a16="http://schemas.microsoft.com/office/drawing/2014/main" id="{7908A50A-EF87-86FE-737E-36E8A56F8EC1}"/>
              </a:ext>
            </a:extLst>
          </p:cNvPr>
          <p:cNvPicPr>
            <a:picLocks noChangeAspect="1"/>
          </p:cNvPicPr>
          <p:nvPr/>
        </p:nvPicPr>
        <p:blipFill>
          <a:blip r:embed="rId2">
            <a:extLst>
              <a:ext uri="{28A0092B-C50C-407E-A947-70E740481C1C}">
                <a14:useLocalDpi xmlns:a14="http://schemas.microsoft.com/office/drawing/2010/main" val="0"/>
              </a:ext>
            </a:extLst>
          </a:blip>
          <a:srcRect l="12709" r="19167"/>
          <a:stretch>
            <a:fillRect/>
          </a:stretch>
        </p:blipFill>
        <p:spPr>
          <a:xfrm>
            <a:off x="1943100" y="1388338"/>
            <a:ext cx="8305800" cy="5180737"/>
          </a:xfrm>
          <a:prstGeom prst="rect">
            <a:avLst/>
          </a:prstGeom>
        </p:spPr>
      </p:pic>
      <p:sp>
        <p:nvSpPr>
          <p:cNvPr id="6" name="Speech Bubble: Oval 5">
            <a:extLst>
              <a:ext uri="{FF2B5EF4-FFF2-40B4-BE49-F238E27FC236}">
                <a16:creationId xmlns:a16="http://schemas.microsoft.com/office/drawing/2014/main" id="{4845F000-A0E8-E097-CD89-0673E89A22C4}"/>
              </a:ext>
            </a:extLst>
          </p:cNvPr>
          <p:cNvSpPr/>
          <p:nvPr/>
        </p:nvSpPr>
        <p:spPr>
          <a:xfrm>
            <a:off x="7429500" y="129006"/>
            <a:ext cx="4597400" cy="2518664"/>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b="1" dirty="0">
                <a:solidFill>
                  <a:schemeClr val="tx1"/>
                </a:solidFill>
              </a:rPr>
              <a:t>System 1</a:t>
            </a:r>
          </a:p>
          <a:p>
            <a:pPr algn="ctr"/>
            <a:r>
              <a:rPr lang="en-US" sz="2000" dirty="0">
                <a:solidFill>
                  <a:schemeClr val="tx1"/>
                </a:solidFill>
              </a:rPr>
              <a:t>Automatic, quick, effortless</a:t>
            </a:r>
          </a:p>
          <a:p>
            <a:pPr algn="ctr"/>
            <a:r>
              <a:rPr lang="en-US" sz="2000" dirty="0">
                <a:solidFill>
                  <a:schemeClr val="tx1"/>
                </a:solidFill>
              </a:rPr>
              <a:t>Innate, animalistic</a:t>
            </a:r>
          </a:p>
          <a:p>
            <a:pPr algn="ctr"/>
            <a:r>
              <a:rPr lang="en-US" sz="2000" dirty="0">
                <a:solidFill>
                  <a:schemeClr val="tx1"/>
                </a:solidFill>
              </a:rPr>
              <a:t>Associative, efficient</a:t>
            </a:r>
          </a:p>
          <a:p>
            <a:pPr algn="ctr"/>
            <a:r>
              <a:rPr lang="en-US" sz="2000" u="sng" dirty="0">
                <a:solidFill>
                  <a:schemeClr val="tx1"/>
                </a:solidFill>
              </a:rPr>
              <a:t>No voluntary control</a:t>
            </a:r>
          </a:p>
          <a:p>
            <a:pPr algn="ctr"/>
            <a:endParaRPr lang="en-US" b="1" dirty="0">
              <a:solidFill>
                <a:schemeClr val="tx1"/>
              </a:solidFill>
            </a:endParaRPr>
          </a:p>
        </p:txBody>
      </p:sp>
      <p:sp>
        <p:nvSpPr>
          <p:cNvPr id="7" name="Speech Bubble: Oval 6">
            <a:extLst>
              <a:ext uri="{FF2B5EF4-FFF2-40B4-BE49-F238E27FC236}">
                <a16:creationId xmlns:a16="http://schemas.microsoft.com/office/drawing/2014/main" id="{4A9BCAFE-6527-0C9A-8A36-0D4B4A5FE62E}"/>
              </a:ext>
            </a:extLst>
          </p:cNvPr>
          <p:cNvSpPr/>
          <p:nvPr/>
        </p:nvSpPr>
        <p:spPr>
          <a:xfrm flipH="1">
            <a:off x="165101" y="288925"/>
            <a:ext cx="4597400" cy="2518664"/>
          </a:xfrm>
          <a:prstGeom prst="wedgeEllipse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b="1" dirty="0">
                <a:solidFill>
                  <a:schemeClr val="tx1"/>
                </a:solidFill>
              </a:rPr>
              <a:t>System 2</a:t>
            </a:r>
          </a:p>
          <a:p>
            <a:pPr algn="ctr"/>
            <a:r>
              <a:rPr lang="en-US" sz="2000" dirty="0">
                <a:solidFill>
                  <a:schemeClr val="tx1"/>
                </a:solidFill>
              </a:rPr>
              <a:t>Deliberate, slow, effortful</a:t>
            </a:r>
          </a:p>
          <a:p>
            <a:pPr algn="ctr"/>
            <a:r>
              <a:rPr lang="en-US" sz="2000" dirty="0">
                <a:solidFill>
                  <a:schemeClr val="tx1"/>
                </a:solidFill>
              </a:rPr>
              <a:t>Learned, civilized</a:t>
            </a:r>
          </a:p>
          <a:p>
            <a:pPr algn="ctr"/>
            <a:r>
              <a:rPr lang="en-US" sz="2000" dirty="0">
                <a:solidFill>
                  <a:schemeClr val="tx1"/>
                </a:solidFill>
              </a:rPr>
              <a:t>Analytical, laborious</a:t>
            </a:r>
          </a:p>
          <a:p>
            <a:pPr algn="ctr"/>
            <a:r>
              <a:rPr lang="en-US" sz="2000" u="sng" dirty="0">
                <a:solidFill>
                  <a:schemeClr val="tx1"/>
                </a:solidFill>
              </a:rPr>
              <a:t>Sense of agency, choice</a:t>
            </a:r>
          </a:p>
          <a:p>
            <a:pPr algn="ctr"/>
            <a:endParaRPr lang="en-US" b="1" dirty="0">
              <a:solidFill>
                <a:schemeClr val="tx1"/>
              </a:solidFill>
            </a:endParaRPr>
          </a:p>
        </p:txBody>
      </p:sp>
    </p:spTree>
    <p:extLst>
      <p:ext uri="{BB962C8B-B14F-4D97-AF65-F5344CB8AC3E}">
        <p14:creationId xmlns:p14="http://schemas.microsoft.com/office/powerpoint/2010/main" val="329953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uiExpand="1" build="allAtOnce"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69E7E-6F68-7804-C940-218EE8A66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2B569-C9AC-434B-A257-68B205190B9F}"/>
              </a:ext>
            </a:extLst>
          </p:cNvPr>
          <p:cNvSpPr>
            <a:spLocks noGrp="1"/>
          </p:cNvSpPr>
          <p:nvPr>
            <p:ph type="title"/>
          </p:nvPr>
        </p:nvSpPr>
        <p:spPr/>
        <p:txBody>
          <a:bodyPr/>
          <a:lstStyle/>
          <a:p>
            <a:r>
              <a:rPr lang="en-US" dirty="0"/>
              <a:t>Executive Functioning</a:t>
            </a:r>
          </a:p>
        </p:txBody>
      </p:sp>
      <p:sp>
        <p:nvSpPr>
          <p:cNvPr id="4" name="Oval 3">
            <a:extLst>
              <a:ext uri="{FF2B5EF4-FFF2-40B4-BE49-F238E27FC236}">
                <a16:creationId xmlns:a16="http://schemas.microsoft.com/office/drawing/2014/main" id="{0C9FA8FF-55E1-B04A-A5A3-9D52A883F3BA}"/>
              </a:ext>
            </a:extLst>
          </p:cNvPr>
          <p:cNvSpPr/>
          <p:nvPr/>
        </p:nvSpPr>
        <p:spPr>
          <a:xfrm>
            <a:off x="3783343" y="1578429"/>
            <a:ext cx="4625314" cy="18505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COGNITIVE CONTROL:</a:t>
            </a:r>
          </a:p>
          <a:p>
            <a:pPr algn="ctr"/>
            <a:endParaRPr lang="en-US" sz="2400" dirty="0"/>
          </a:p>
          <a:p>
            <a:pPr algn="ctr"/>
            <a:r>
              <a:rPr lang="en-US" sz="2400" dirty="0"/>
              <a:t>Should I exert effort?</a:t>
            </a:r>
          </a:p>
        </p:txBody>
      </p:sp>
      <p:cxnSp>
        <p:nvCxnSpPr>
          <p:cNvPr id="7" name="Straight Arrow Connector 6">
            <a:extLst>
              <a:ext uri="{FF2B5EF4-FFF2-40B4-BE49-F238E27FC236}">
                <a16:creationId xmlns:a16="http://schemas.microsoft.com/office/drawing/2014/main" id="{9577B0F7-4A15-7A42-BF2F-07AEF1B165D8}"/>
              </a:ext>
            </a:extLst>
          </p:cNvPr>
          <p:cNvCxnSpPr/>
          <p:nvPr/>
        </p:nvCxnSpPr>
        <p:spPr>
          <a:xfrm flipH="1">
            <a:off x="4077257" y="3292929"/>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21325BE6-5A2A-D407-4D96-12160FC77365}"/>
              </a:ext>
            </a:extLst>
          </p:cNvPr>
          <p:cNvCxnSpPr>
            <a:cxnSpLocks/>
          </p:cNvCxnSpPr>
          <p:nvPr/>
        </p:nvCxnSpPr>
        <p:spPr>
          <a:xfrm>
            <a:off x="7163357" y="3292476"/>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B93F61F-26EE-11B5-02D0-A15A678E9AA6}"/>
              </a:ext>
            </a:extLst>
          </p:cNvPr>
          <p:cNvSpPr txBox="1"/>
          <p:nvPr/>
        </p:nvSpPr>
        <p:spPr>
          <a:xfrm rot="18032078">
            <a:off x="3975059" y="3754523"/>
            <a:ext cx="583814" cy="461665"/>
          </a:xfrm>
          <a:prstGeom prst="rect">
            <a:avLst/>
          </a:prstGeom>
          <a:noFill/>
        </p:spPr>
        <p:txBody>
          <a:bodyPr wrap="none" rtlCol="0">
            <a:spAutoFit/>
          </a:bodyPr>
          <a:lstStyle/>
          <a:p>
            <a:r>
              <a:rPr lang="en-US" sz="2400" b="1" dirty="0"/>
              <a:t>No</a:t>
            </a:r>
          </a:p>
        </p:txBody>
      </p:sp>
      <p:sp>
        <p:nvSpPr>
          <p:cNvPr id="10" name="TextBox 9">
            <a:extLst>
              <a:ext uri="{FF2B5EF4-FFF2-40B4-BE49-F238E27FC236}">
                <a16:creationId xmlns:a16="http://schemas.microsoft.com/office/drawing/2014/main" id="{1A7C6ED2-16C2-4156-B5C2-6B7A6D6482FB}"/>
              </a:ext>
            </a:extLst>
          </p:cNvPr>
          <p:cNvSpPr txBox="1"/>
          <p:nvPr/>
        </p:nvSpPr>
        <p:spPr>
          <a:xfrm rot="3503917">
            <a:off x="7420573" y="3756912"/>
            <a:ext cx="674544" cy="461665"/>
          </a:xfrm>
          <a:prstGeom prst="rect">
            <a:avLst/>
          </a:prstGeom>
          <a:noFill/>
        </p:spPr>
        <p:txBody>
          <a:bodyPr wrap="none" rtlCol="0">
            <a:spAutoFit/>
          </a:bodyPr>
          <a:lstStyle/>
          <a:p>
            <a:r>
              <a:rPr lang="en-US" sz="2400" b="1" dirty="0"/>
              <a:t>Yes</a:t>
            </a:r>
          </a:p>
        </p:txBody>
      </p:sp>
      <p:sp>
        <p:nvSpPr>
          <p:cNvPr id="11" name="Oval 10">
            <a:extLst>
              <a:ext uri="{FF2B5EF4-FFF2-40B4-BE49-F238E27FC236}">
                <a16:creationId xmlns:a16="http://schemas.microsoft.com/office/drawing/2014/main" id="{A1F570AB-F3C1-A462-E799-2679CEDE3F36}"/>
              </a:ext>
            </a:extLst>
          </p:cNvPr>
          <p:cNvSpPr/>
          <p:nvPr/>
        </p:nvSpPr>
        <p:spPr>
          <a:xfrm>
            <a:off x="7239558" y="4642304"/>
            <a:ext cx="2415624" cy="18505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System 2</a:t>
            </a:r>
          </a:p>
        </p:txBody>
      </p:sp>
      <p:sp>
        <p:nvSpPr>
          <p:cNvPr id="12" name="Oval 11">
            <a:extLst>
              <a:ext uri="{FF2B5EF4-FFF2-40B4-BE49-F238E27FC236}">
                <a16:creationId xmlns:a16="http://schemas.microsoft.com/office/drawing/2014/main" id="{00C42179-5B0C-6960-AF44-9394C173C048}"/>
              </a:ext>
            </a:extLst>
          </p:cNvPr>
          <p:cNvSpPr/>
          <p:nvPr/>
        </p:nvSpPr>
        <p:spPr>
          <a:xfrm>
            <a:off x="2358821" y="4642304"/>
            <a:ext cx="2415624" cy="18505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System 1</a:t>
            </a:r>
          </a:p>
        </p:txBody>
      </p:sp>
    </p:spTree>
    <p:extLst>
      <p:ext uri="{BB962C8B-B14F-4D97-AF65-F5344CB8AC3E}">
        <p14:creationId xmlns:p14="http://schemas.microsoft.com/office/powerpoint/2010/main" val="319853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72633-77BA-6BF8-1F17-401FBDC4AC13}"/>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19118000-F84A-0965-CFDB-9FA48A7D41AA}"/>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Attention</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Endogenous &amp; Exogenous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Visual Search</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Attentional Components</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Executive Functioning</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Cognitive Effort</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Control</a:t>
            </a:r>
          </a:p>
        </p:txBody>
      </p:sp>
      <p:pic>
        <p:nvPicPr>
          <p:cNvPr id="2" name="Picture 1" descr="A colorful and black and white brain&#10;&#10;AI-generated content may be incorrect.">
            <a:extLst>
              <a:ext uri="{FF2B5EF4-FFF2-40B4-BE49-F238E27FC236}">
                <a16:creationId xmlns:a16="http://schemas.microsoft.com/office/drawing/2014/main" id="{2E72DCBB-1A28-7E94-9245-0E3CC65C6EB6}"/>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44359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D9765-E0A8-FCC8-72FA-470BF1FA3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CD4BE-78C7-9C79-1AAD-B06B15CC5572}"/>
              </a:ext>
            </a:extLst>
          </p:cNvPr>
          <p:cNvSpPr>
            <a:spLocks noGrp="1"/>
          </p:cNvSpPr>
          <p:nvPr>
            <p:ph type="title"/>
          </p:nvPr>
        </p:nvSpPr>
        <p:spPr/>
        <p:txBody>
          <a:bodyPr/>
          <a:lstStyle/>
          <a:p>
            <a:r>
              <a:rPr lang="en-US" dirty="0"/>
              <a:t>Executive Functioning</a:t>
            </a:r>
          </a:p>
        </p:txBody>
      </p:sp>
      <p:sp>
        <p:nvSpPr>
          <p:cNvPr id="4" name="Oval 3">
            <a:extLst>
              <a:ext uri="{FF2B5EF4-FFF2-40B4-BE49-F238E27FC236}">
                <a16:creationId xmlns:a16="http://schemas.microsoft.com/office/drawing/2014/main" id="{02E1EA0E-E767-DD7E-BCDC-341ECF681117}"/>
              </a:ext>
            </a:extLst>
          </p:cNvPr>
          <p:cNvSpPr/>
          <p:nvPr/>
        </p:nvSpPr>
        <p:spPr>
          <a:xfrm>
            <a:off x="3783343" y="1578429"/>
            <a:ext cx="4625314" cy="18505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COGNITIVE CONTROL:</a:t>
            </a:r>
          </a:p>
          <a:p>
            <a:pPr algn="ctr"/>
            <a:endParaRPr lang="en-US" sz="2400" dirty="0"/>
          </a:p>
          <a:p>
            <a:pPr algn="ctr"/>
            <a:r>
              <a:rPr lang="en-US" sz="2400" dirty="0"/>
              <a:t>Should I exert effort?</a:t>
            </a:r>
          </a:p>
        </p:txBody>
      </p:sp>
      <p:cxnSp>
        <p:nvCxnSpPr>
          <p:cNvPr id="7" name="Straight Arrow Connector 6">
            <a:extLst>
              <a:ext uri="{FF2B5EF4-FFF2-40B4-BE49-F238E27FC236}">
                <a16:creationId xmlns:a16="http://schemas.microsoft.com/office/drawing/2014/main" id="{B0393DE9-DA8F-68F1-3DDB-5D6EFB183D05}"/>
              </a:ext>
            </a:extLst>
          </p:cNvPr>
          <p:cNvCxnSpPr/>
          <p:nvPr/>
        </p:nvCxnSpPr>
        <p:spPr>
          <a:xfrm flipH="1">
            <a:off x="4077257" y="3292929"/>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2EF7865-68CB-2032-8AFE-83D6A73027EE}"/>
              </a:ext>
            </a:extLst>
          </p:cNvPr>
          <p:cNvCxnSpPr>
            <a:cxnSpLocks/>
          </p:cNvCxnSpPr>
          <p:nvPr/>
        </p:nvCxnSpPr>
        <p:spPr>
          <a:xfrm>
            <a:off x="7163357" y="3292476"/>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9EA69C7-CD24-F252-3E93-CEC46BE83D03}"/>
              </a:ext>
            </a:extLst>
          </p:cNvPr>
          <p:cNvSpPr txBox="1"/>
          <p:nvPr/>
        </p:nvSpPr>
        <p:spPr>
          <a:xfrm rot="18032078">
            <a:off x="3975059" y="3754523"/>
            <a:ext cx="583814" cy="461665"/>
          </a:xfrm>
          <a:prstGeom prst="rect">
            <a:avLst/>
          </a:prstGeom>
          <a:noFill/>
        </p:spPr>
        <p:txBody>
          <a:bodyPr wrap="none" rtlCol="0">
            <a:spAutoFit/>
          </a:bodyPr>
          <a:lstStyle/>
          <a:p>
            <a:r>
              <a:rPr lang="en-US" sz="2400" b="1" dirty="0"/>
              <a:t>No</a:t>
            </a:r>
          </a:p>
        </p:txBody>
      </p:sp>
      <p:sp>
        <p:nvSpPr>
          <p:cNvPr id="10" name="TextBox 9">
            <a:extLst>
              <a:ext uri="{FF2B5EF4-FFF2-40B4-BE49-F238E27FC236}">
                <a16:creationId xmlns:a16="http://schemas.microsoft.com/office/drawing/2014/main" id="{D429A3F4-9968-1B89-F98A-24A61A892A40}"/>
              </a:ext>
            </a:extLst>
          </p:cNvPr>
          <p:cNvSpPr txBox="1"/>
          <p:nvPr/>
        </p:nvSpPr>
        <p:spPr>
          <a:xfrm rot="3503917">
            <a:off x="7420573" y="3756912"/>
            <a:ext cx="674544" cy="461665"/>
          </a:xfrm>
          <a:prstGeom prst="rect">
            <a:avLst/>
          </a:prstGeom>
          <a:noFill/>
        </p:spPr>
        <p:txBody>
          <a:bodyPr wrap="none" rtlCol="0">
            <a:spAutoFit/>
          </a:bodyPr>
          <a:lstStyle/>
          <a:p>
            <a:r>
              <a:rPr lang="en-US" sz="2400" b="1" dirty="0"/>
              <a:t>Yes</a:t>
            </a:r>
          </a:p>
        </p:txBody>
      </p:sp>
      <p:sp>
        <p:nvSpPr>
          <p:cNvPr id="11" name="Oval 10">
            <a:extLst>
              <a:ext uri="{FF2B5EF4-FFF2-40B4-BE49-F238E27FC236}">
                <a16:creationId xmlns:a16="http://schemas.microsoft.com/office/drawing/2014/main" id="{86EF6360-5604-B701-7AAA-1D96C93FBA19}"/>
              </a:ext>
            </a:extLst>
          </p:cNvPr>
          <p:cNvSpPr/>
          <p:nvPr/>
        </p:nvSpPr>
        <p:spPr>
          <a:xfrm>
            <a:off x="7239558" y="4642304"/>
            <a:ext cx="2415624" cy="185057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System 2</a:t>
            </a:r>
          </a:p>
        </p:txBody>
      </p:sp>
      <p:sp>
        <p:nvSpPr>
          <p:cNvPr id="12" name="Oval 11">
            <a:extLst>
              <a:ext uri="{FF2B5EF4-FFF2-40B4-BE49-F238E27FC236}">
                <a16:creationId xmlns:a16="http://schemas.microsoft.com/office/drawing/2014/main" id="{D89807EC-1626-4D7F-421A-286D3F775EBD}"/>
              </a:ext>
            </a:extLst>
          </p:cNvPr>
          <p:cNvSpPr/>
          <p:nvPr/>
        </p:nvSpPr>
        <p:spPr>
          <a:xfrm>
            <a:off x="2358821" y="4642304"/>
            <a:ext cx="2415624" cy="185057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System 1</a:t>
            </a:r>
          </a:p>
        </p:txBody>
      </p:sp>
    </p:spTree>
    <p:extLst>
      <p:ext uri="{BB962C8B-B14F-4D97-AF65-F5344CB8AC3E}">
        <p14:creationId xmlns:p14="http://schemas.microsoft.com/office/powerpoint/2010/main" val="3357439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F42DE-20D7-550E-64EC-097808CEA9F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A2012C2-E66A-0686-D442-B6E46489F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1730" y="3650697"/>
            <a:ext cx="3935323" cy="2842178"/>
          </a:xfrm>
          <a:prstGeom prst="rect">
            <a:avLst/>
          </a:prstGeom>
        </p:spPr>
      </p:pic>
      <p:sp>
        <p:nvSpPr>
          <p:cNvPr id="2" name="Title 1">
            <a:extLst>
              <a:ext uri="{FF2B5EF4-FFF2-40B4-BE49-F238E27FC236}">
                <a16:creationId xmlns:a16="http://schemas.microsoft.com/office/drawing/2014/main" id="{87326DAB-F8FE-1F96-0594-CD4712908E28}"/>
              </a:ext>
            </a:extLst>
          </p:cNvPr>
          <p:cNvSpPr>
            <a:spLocks noGrp="1"/>
          </p:cNvSpPr>
          <p:nvPr>
            <p:ph type="title"/>
          </p:nvPr>
        </p:nvSpPr>
        <p:spPr/>
        <p:txBody>
          <a:bodyPr/>
          <a:lstStyle/>
          <a:p>
            <a:r>
              <a:rPr lang="en-US" dirty="0"/>
              <a:t>Executive Functioning</a:t>
            </a:r>
          </a:p>
        </p:txBody>
      </p:sp>
      <p:sp>
        <p:nvSpPr>
          <p:cNvPr id="8" name="Content Placeholder 2">
            <a:extLst>
              <a:ext uri="{FF2B5EF4-FFF2-40B4-BE49-F238E27FC236}">
                <a16:creationId xmlns:a16="http://schemas.microsoft.com/office/drawing/2014/main" id="{BAD02872-66AB-DB1E-7884-8598FC48B345}"/>
              </a:ext>
            </a:extLst>
          </p:cNvPr>
          <p:cNvSpPr txBox="1">
            <a:spLocks/>
          </p:cNvSpPr>
          <p:nvPr/>
        </p:nvSpPr>
        <p:spPr>
          <a:xfrm>
            <a:off x="838200" y="1825625"/>
            <a:ext cx="713142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Williams et al., 2019</a:t>
            </a:r>
          </a:p>
          <a:p>
            <a:r>
              <a:rPr lang="en-US" b="1" dirty="0"/>
              <a:t>Research Question</a:t>
            </a:r>
            <a:r>
              <a:rPr lang="en-US" dirty="0"/>
              <a:t>: Are there differing neural systems of effortless (System 1) and effortful (System 2) processing?</a:t>
            </a:r>
          </a:p>
          <a:p>
            <a:endParaRPr lang="en-US" dirty="0"/>
          </a:p>
          <a:p>
            <a:r>
              <a:rPr lang="en-US" b="1" dirty="0"/>
              <a:t>Methods</a:t>
            </a:r>
            <a:r>
              <a:rPr lang="en-US" dirty="0"/>
              <a:t>: Participants completed the add-one task, where they heard four numbers and were either to repeat those numbers or add one to each of them</a:t>
            </a:r>
          </a:p>
          <a:p>
            <a:pPr lvl="1"/>
            <a:r>
              <a:rPr lang="en-US" dirty="0"/>
              <a:t>Pupil size and EEG data were recorded </a:t>
            </a:r>
          </a:p>
          <a:p>
            <a:pPr marL="0" indent="0">
              <a:buNone/>
            </a:pPr>
            <a:endParaRPr lang="en-US" dirty="0"/>
          </a:p>
          <a:p>
            <a:endParaRPr lang="en-US" dirty="0"/>
          </a:p>
        </p:txBody>
      </p:sp>
      <p:pic>
        <p:nvPicPr>
          <p:cNvPr id="9" name="Picture 8" descr="A graph showing the number of numbers&#10;&#10;AI-generated content may be incorrect.">
            <a:extLst>
              <a:ext uri="{FF2B5EF4-FFF2-40B4-BE49-F238E27FC236}">
                <a16:creationId xmlns:a16="http://schemas.microsoft.com/office/drawing/2014/main" id="{D0CD00B4-97AE-60DB-6176-BD3B9BA1F2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8464" y="365125"/>
            <a:ext cx="3974513" cy="3053798"/>
          </a:xfrm>
          <a:prstGeom prst="rect">
            <a:avLst/>
          </a:prstGeom>
        </p:spPr>
      </p:pic>
    </p:spTree>
    <p:extLst>
      <p:ext uri="{BB962C8B-B14F-4D97-AF65-F5344CB8AC3E}">
        <p14:creationId xmlns:p14="http://schemas.microsoft.com/office/powerpoint/2010/main" val="406870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60 BPM Metronome">
            <a:hlinkClick r:id="" action="ppaction://media"/>
            <a:extLst>
              <a:ext uri="{FF2B5EF4-FFF2-40B4-BE49-F238E27FC236}">
                <a16:creationId xmlns:a16="http://schemas.microsoft.com/office/drawing/2014/main" id="{3D33E26D-A312-FFB1-A131-C0FBD875F762}"/>
              </a:ext>
            </a:extLst>
          </p:cNvPr>
          <p:cNvPicPr>
            <a:picLocks noRot="1" noChangeAspect="1"/>
          </p:cNvPicPr>
          <p:nvPr>
            <a:videoFile r:link="rId1"/>
          </p:nvPr>
        </p:nvPicPr>
        <p:blipFill>
          <a:blip r:embed="rId3"/>
          <a:stretch>
            <a:fillRect/>
          </a:stretch>
        </p:blipFill>
        <p:spPr>
          <a:xfrm>
            <a:off x="26988" y="0"/>
            <a:ext cx="12138025" cy="6858000"/>
          </a:xfrm>
          <a:prstGeom prst="rect">
            <a:avLst/>
          </a:prstGeom>
        </p:spPr>
      </p:pic>
    </p:spTree>
    <p:extLst>
      <p:ext uri="{BB962C8B-B14F-4D97-AF65-F5344CB8AC3E}">
        <p14:creationId xmlns:p14="http://schemas.microsoft.com/office/powerpoint/2010/main" val="352627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5E57B-A382-6A59-3B59-359CB05EDEC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F3872DF-C379-0A3E-E1F7-09DE97EFD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1730" y="3650697"/>
            <a:ext cx="3935323" cy="2842178"/>
          </a:xfrm>
          <a:prstGeom prst="rect">
            <a:avLst/>
          </a:prstGeom>
        </p:spPr>
      </p:pic>
      <p:sp>
        <p:nvSpPr>
          <p:cNvPr id="2" name="Title 1">
            <a:extLst>
              <a:ext uri="{FF2B5EF4-FFF2-40B4-BE49-F238E27FC236}">
                <a16:creationId xmlns:a16="http://schemas.microsoft.com/office/drawing/2014/main" id="{8885BB16-5F8F-D0A8-31D0-87A5F5F6ADA6}"/>
              </a:ext>
            </a:extLst>
          </p:cNvPr>
          <p:cNvSpPr>
            <a:spLocks noGrp="1"/>
          </p:cNvSpPr>
          <p:nvPr>
            <p:ph type="title"/>
          </p:nvPr>
        </p:nvSpPr>
        <p:spPr/>
        <p:txBody>
          <a:bodyPr/>
          <a:lstStyle/>
          <a:p>
            <a:r>
              <a:rPr lang="en-US" dirty="0"/>
              <a:t>Executive Functioning</a:t>
            </a:r>
          </a:p>
        </p:txBody>
      </p:sp>
      <p:sp>
        <p:nvSpPr>
          <p:cNvPr id="8" name="Content Placeholder 2">
            <a:extLst>
              <a:ext uri="{FF2B5EF4-FFF2-40B4-BE49-F238E27FC236}">
                <a16:creationId xmlns:a16="http://schemas.microsoft.com/office/drawing/2014/main" id="{5C0B7168-DFD6-9DA7-B353-9E849C019F8B}"/>
              </a:ext>
            </a:extLst>
          </p:cNvPr>
          <p:cNvSpPr txBox="1">
            <a:spLocks/>
          </p:cNvSpPr>
          <p:nvPr/>
        </p:nvSpPr>
        <p:spPr>
          <a:xfrm>
            <a:off x="838200" y="1825625"/>
            <a:ext cx="7321062"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Williams et al., 2019</a:t>
            </a:r>
          </a:p>
          <a:p>
            <a:r>
              <a:rPr lang="en-US" b="1" dirty="0"/>
              <a:t>IV</a:t>
            </a:r>
            <a:endParaRPr lang="en-US" dirty="0"/>
          </a:p>
          <a:p>
            <a:pPr lvl="1"/>
            <a:r>
              <a:rPr lang="en-US" b="1" dirty="0"/>
              <a:t>Add-Zero</a:t>
            </a:r>
            <a:r>
              <a:rPr lang="en-US" dirty="0"/>
              <a:t>: Repeat the numbers as heard</a:t>
            </a:r>
          </a:p>
          <a:p>
            <a:pPr lvl="1"/>
            <a:r>
              <a:rPr lang="en-US" b="1" dirty="0"/>
              <a:t>Add-One</a:t>
            </a:r>
            <a:r>
              <a:rPr lang="en-US" dirty="0"/>
              <a:t>: Add one to each number</a:t>
            </a:r>
          </a:p>
          <a:p>
            <a:endParaRPr lang="en-US" dirty="0"/>
          </a:p>
          <a:p>
            <a:r>
              <a:rPr lang="en-US" b="1" dirty="0"/>
              <a:t>DV</a:t>
            </a:r>
            <a:r>
              <a:rPr lang="en-US" dirty="0"/>
              <a:t>: </a:t>
            </a:r>
          </a:p>
          <a:p>
            <a:pPr lvl="1"/>
            <a:r>
              <a:rPr lang="en-US" dirty="0"/>
              <a:t>Pupil size</a:t>
            </a:r>
          </a:p>
          <a:p>
            <a:pPr lvl="1"/>
            <a:r>
              <a:rPr lang="en-US" dirty="0"/>
              <a:t>EEG activity looking at theta and alpha</a:t>
            </a:r>
          </a:p>
          <a:p>
            <a:pPr lvl="2"/>
            <a:r>
              <a:rPr lang="en-US" dirty="0"/>
              <a:t>Theta is within the prefrontal cortex</a:t>
            </a:r>
          </a:p>
          <a:p>
            <a:pPr lvl="3"/>
            <a:r>
              <a:rPr lang="en-US" dirty="0"/>
              <a:t>Known to correlate with an engaged state</a:t>
            </a:r>
          </a:p>
          <a:p>
            <a:pPr lvl="2"/>
            <a:r>
              <a:rPr lang="en-US" dirty="0"/>
              <a:t>Alpha is within the parietal cortex</a:t>
            </a:r>
          </a:p>
          <a:p>
            <a:pPr lvl="3"/>
            <a:r>
              <a:rPr lang="en-US" dirty="0"/>
              <a:t>Known to correlate with a calm state</a:t>
            </a:r>
          </a:p>
          <a:p>
            <a:pPr lvl="1"/>
            <a:endParaRPr lang="en-US" dirty="0"/>
          </a:p>
          <a:p>
            <a:pPr marL="0" indent="0">
              <a:buNone/>
            </a:pPr>
            <a:endParaRPr lang="en-US" dirty="0"/>
          </a:p>
          <a:p>
            <a:endParaRPr lang="en-US" dirty="0"/>
          </a:p>
        </p:txBody>
      </p:sp>
      <p:pic>
        <p:nvPicPr>
          <p:cNvPr id="9" name="Picture 8" descr="A graph showing the number of numbers&#10;&#10;AI-generated content may be incorrect.">
            <a:extLst>
              <a:ext uri="{FF2B5EF4-FFF2-40B4-BE49-F238E27FC236}">
                <a16:creationId xmlns:a16="http://schemas.microsoft.com/office/drawing/2014/main" id="{C86AF890-5A66-DE80-4D96-38AF87C36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8464" y="365125"/>
            <a:ext cx="3974513" cy="3053798"/>
          </a:xfrm>
          <a:prstGeom prst="rect">
            <a:avLst/>
          </a:prstGeom>
        </p:spPr>
      </p:pic>
    </p:spTree>
    <p:extLst>
      <p:ext uri="{BB962C8B-B14F-4D97-AF65-F5344CB8AC3E}">
        <p14:creationId xmlns:p14="http://schemas.microsoft.com/office/powerpoint/2010/main" val="404670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34B0-57D1-842D-E5F1-9532D6B6D66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F0869C-2183-7B6B-425C-8CFF2FE04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1730" y="3650697"/>
            <a:ext cx="3935323" cy="2842178"/>
          </a:xfrm>
          <a:prstGeom prst="rect">
            <a:avLst/>
          </a:prstGeom>
        </p:spPr>
      </p:pic>
      <p:sp>
        <p:nvSpPr>
          <p:cNvPr id="2" name="Title 1">
            <a:extLst>
              <a:ext uri="{FF2B5EF4-FFF2-40B4-BE49-F238E27FC236}">
                <a16:creationId xmlns:a16="http://schemas.microsoft.com/office/drawing/2014/main" id="{01411C27-6C8B-7500-2DA5-505D98C7EDCB}"/>
              </a:ext>
            </a:extLst>
          </p:cNvPr>
          <p:cNvSpPr>
            <a:spLocks noGrp="1"/>
          </p:cNvSpPr>
          <p:nvPr>
            <p:ph type="title"/>
          </p:nvPr>
        </p:nvSpPr>
        <p:spPr/>
        <p:txBody>
          <a:bodyPr/>
          <a:lstStyle/>
          <a:p>
            <a:r>
              <a:rPr lang="en-US" dirty="0"/>
              <a:t>Executive Functioning</a:t>
            </a:r>
          </a:p>
        </p:txBody>
      </p:sp>
      <p:sp>
        <p:nvSpPr>
          <p:cNvPr id="8" name="Content Placeholder 2">
            <a:extLst>
              <a:ext uri="{FF2B5EF4-FFF2-40B4-BE49-F238E27FC236}">
                <a16:creationId xmlns:a16="http://schemas.microsoft.com/office/drawing/2014/main" id="{7B6D2C81-9B74-F87B-40B1-BE47D00C48D1}"/>
              </a:ext>
            </a:extLst>
          </p:cNvPr>
          <p:cNvSpPr txBox="1">
            <a:spLocks/>
          </p:cNvSpPr>
          <p:nvPr/>
        </p:nvSpPr>
        <p:spPr>
          <a:xfrm>
            <a:off x="838200" y="1825624"/>
            <a:ext cx="7321062" cy="474290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Williams et al., 2019</a:t>
            </a:r>
          </a:p>
          <a:p>
            <a:r>
              <a:rPr lang="en-US" b="1" dirty="0"/>
              <a:t>Results</a:t>
            </a:r>
          </a:p>
          <a:p>
            <a:pPr lvl="1"/>
            <a:r>
              <a:rPr lang="en-US" dirty="0"/>
              <a:t>Pupil size was larger for the add-one condition</a:t>
            </a:r>
          </a:p>
          <a:p>
            <a:pPr lvl="1"/>
            <a:r>
              <a:rPr lang="en-US" dirty="0"/>
              <a:t>Alpha activity engaged in add-zero (system 1)</a:t>
            </a:r>
          </a:p>
          <a:p>
            <a:pPr lvl="2"/>
            <a:r>
              <a:rPr lang="en-US" dirty="0"/>
              <a:t>Not engaged in the add-one (system 2) condition</a:t>
            </a:r>
          </a:p>
          <a:p>
            <a:pPr lvl="1"/>
            <a:r>
              <a:rPr lang="en-US" dirty="0"/>
              <a:t>Theta activity engaged in add-one (system 2)</a:t>
            </a:r>
          </a:p>
          <a:p>
            <a:pPr lvl="2"/>
            <a:r>
              <a:rPr lang="en-US" dirty="0"/>
              <a:t>Not engaged in the add-zero (system 1) condition</a:t>
            </a:r>
          </a:p>
          <a:p>
            <a:pPr lvl="2"/>
            <a:endParaRPr lang="en-US" dirty="0"/>
          </a:p>
          <a:p>
            <a:r>
              <a:rPr lang="en-US" b="1" dirty="0"/>
              <a:t>Conclusion</a:t>
            </a:r>
            <a:r>
              <a:rPr lang="en-US" dirty="0"/>
              <a:t>: Dissociated neural systems for system 1 and system 2 processing</a:t>
            </a:r>
          </a:p>
          <a:p>
            <a:pPr lvl="1"/>
            <a:r>
              <a:rPr lang="en-US" dirty="0"/>
              <a:t>System 1 recruits low-level parietal regions</a:t>
            </a:r>
          </a:p>
          <a:p>
            <a:pPr lvl="1"/>
            <a:r>
              <a:rPr lang="en-US" dirty="0"/>
              <a:t>System 2 recruits high-level frontal regions</a:t>
            </a:r>
          </a:p>
          <a:p>
            <a:pPr marL="0" indent="0">
              <a:buNone/>
            </a:pPr>
            <a:endParaRPr lang="en-US" dirty="0"/>
          </a:p>
          <a:p>
            <a:endParaRPr lang="en-US" dirty="0"/>
          </a:p>
        </p:txBody>
      </p:sp>
      <p:pic>
        <p:nvPicPr>
          <p:cNvPr id="9" name="Picture 8" descr="A graph showing the number of numbers&#10;&#10;AI-generated content may be incorrect.">
            <a:extLst>
              <a:ext uri="{FF2B5EF4-FFF2-40B4-BE49-F238E27FC236}">
                <a16:creationId xmlns:a16="http://schemas.microsoft.com/office/drawing/2014/main" id="{2AE67C60-F115-64F0-B7ED-B0898548C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8464" y="365125"/>
            <a:ext cx="3974513" cy="3053798"/>
          </a:xfrm>
          <a:prstGeom prst="rect">
            <a:avLst/>
          </a:prstGeom>
        </p:spPr>
      </p:pic>
    </p:spTree>
    <p:extLst>
      <p:ext uri="{BB962C8B-B14F-4D97-AF65-F5344CB8AC3E}">
        <p14:creationId xmlns:p14="http://schemas.microsoft.com/office/powerpoint/2010/main" val="142523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CF756-93B4-8CB9-64B6-7E35EC2C30D4}"/>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7401301A-0CFF-8E69-C4A9-AD2FDD147A4A}"/>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Attention</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Endogenous &amp; Exogenous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Visual Search</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Attentional Components</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Executive Functioning</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Cognitive Effort</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Cognitive Control</a:t>
            </a:r>
          </a:p>
        </p:txBody>
      </p:sp>
      <p:pic>
        <p:nvPicPr>
          <p:cNvPr id="2" name="Picture 1" descr="A colorful and black and white brain&#10;&#10;AI-generated content may be incorrect.">
            <a:extLst>
              <a:ext uri="{FF2B5EF4-FFF2-40B4-BE49-F238E27FC236}">
                <a16:creationId xmlns:a16="http://schemas.microsoft.com/office/drawing/2014/main" id="{8ADE201E-8FE4-2DA8-1D4B-16B25A809292}"/>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7927687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2C97A-9AA2-5C55-2B72-B3BFC91FB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3FB5F-B4D8-3FDC-E6F3-BE26E1A3B8D3}"/>
              </a:ext>
            </a:extLst>
          </p:cNvPr>
          <p:cNvSpPr>
            <a:spLocks noGrp="1"/>
          </p:cNvSpPr>
          <p:nvPr>
            <p:ph type="title"/>
          </p:nvPr>
        </p:nvSpPr>
        <p:spPr/>
        <p:txBody>
          <a:bodyPr/>
          <a:lstStyle/>
          <a:p>
            <a:r>
              <a:rPr lang="en-US" dirty="0"/>
              <a:t>Executive Functioning</a:t>
            </a:r>
          </a:p>
        </p:txBody>
      </p:sp>
      <p:sp>
        <p:nvSpPr>
          <p:cNvPr id="4" name="Oval 3">
            <a:extLst>
              <a:ext uri="{FF2B5EF4-FFF2-40B4-BE49-F238E27FC236}">
                <a16:creationId xmlns:a16="http://schemas.microsoft.com/office/drawing/2014/main" id="{4A1044AF-21BB-A2D2-FF20-8ED14853F640}"/>
              </a:ext>
            </a:extLst>
          </p:cNvPr>
          <p:cNvSpPr/>
          <p:nvPr/>
        </p:nvSpPr>
        <p:spPr>
          <a:xfrm>
            <a:off x="3783343" y="1578429"/>
            <a:ext cx="4625314" cy="185057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COGNITIVE CONTROL:</a:t>
            </a:r>
          </a:p>
          <a:p>
            <a:pPr algn="ctr"/>
            <a:endParaRPr lang="en-US" sz="2400" dirty="0"/>
          </a:p>
          <a:p>
            <a:pPr algn="ctr"/>
            <a:r>
              <a:rPr lang="en-US" sz="2400" dirty="0"/>
              <a:t>Should I exert effort?</a:t>
            </a:r>
          </a:p>
        </p:txBody>
      </p:sp>
      <p:cxnSp>
        <p:nvCxnSpPr>
          <p:cNvPr id="7" name="Straight Arrow Connector 6">
            <a:extLst>
              <a:ext uri="{FF2B5EF4-FFF2-40B4-BE49-F238E27FC236}">
                <a16:creationId xmlns:a16="http://schemas.microsoft.com/office/drawing/2014/main" id="{6B1D3ED1-A46C-2D66-9BF0-0969EA44810F}"/>
              </a:ext>
            </a:extLst>
          </p:cNvPr>
          <p:cNvCxnSpPr/>
          <p:nvPr/>
        </p:nvCxnSpPr>
        <p:spPr>
          <a:xfrm flipH="1">
            <a:off x="4077257" y="3292929"/>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C7798ED-CE40-DC14-3497-28A7123BA241}"/>
              </a:ext>
            </a:extLst>
          </p:cNvPr>
          <p:cNvCxnSpPr>
            <a:cxnSpLocks/>
          </p:cNvCxnSpPr>
          <p:nvPr/>
        </p:nvCxnSpPr>
        <p:spPr>
          <a:xfrm>
            <a:off x="7163357" y="3292476"/>
            <a:ext cx="800100" cy="1349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80D6840-93DC-923E-6988-B955B9B366F3}"/>
              </a:ext>
            </a:extLst>
          </p:cNvPr>
          <p:cNvSpPr txBox="1"/>
          <p:nvPr/>
        </p:nvSpPr>
        <p:spPr>
          <a:xfrm rot="18032078">
            <a:off x="3975059" y="3754523"/>
            <a:ext cx="583814" cy="461665"/>
          </a:xfrm>
          <a:prstGeom prst="rect">
            <a:avLst/>
          </a:prstGeom>
          <a:noFill/>
        </p:spPr>
        <p:txBody>
          <a:bodyPr wrap="none" rtlCol="0">
            <a:spAutoFit/>
          </a:bodyPr>
          <a:lstStyle/>
          <a:p>
            <a:r>
              <a:rPr lang="en-US" sz="2400" b="1" dirty="0"/>
              <a:t>No</a:t>
            </a:r>
          </a:p>
        </p:txBody>
      </p:sp>
      <p:sp>
        <p:nvSpPr>
          <p:cNvPr id="10" name="TextBox 9">
            <a:extLst>
              <a:ext uri="{FF2B5EF4-FFF2-40B4-BE49-F238E27FC236}">
                <a16:creationId xmlns:a16="http://schemas.microsoft.com/office/drawing/2014/main" id="{0D9BAA9B-F2DF-7A71-709B-D689B7AB6201}"/>
              </a:ext>
            </a:extLst>
          </p:cNvPr>
          <p:cNvSpPr txBox="1"/>
          <p:nvPr/>
        </p:nvSpPr>
        <p:spPr>
          <a:xfrm rot="3503917">
            <a:off x="7420573" y="3756912"/>
            <a:ext cx="674544" cy="461665"/>
          </a:xfrm>
          <a:prstGeom prst="rect">
            <a:avLst/>
          </a:prstGeom>
          <a:noFill/>
        </p:spPr>
        <p:txBody>
          <a:bodyPr wrap="none" rtlCol="0">
            <a:spAutoFit/>
          </a:bodyPr>
          <a:lstStyle/>
          <a:p>
            <a:r>
              <a:rPr lang="en-US" sz="2400" b="1" dirty="0"/>
              <a:t>Yes</a:t>
            </a:r>
          </a:p>
        </p:txBody>
      </p:sp>
      <p:sp>
        <p:nvSpPr>
          <p:cNvPr id="11" name="Oval 10">
            <a:extLst>
              <a:ext uri="{FF2B5EF4-FFF2-40B4-BE49-F238E27FC236}">
                <a16:creationId xmlns:a16="http://schemas.microsoft.com/office/drawing/2014/main" id="{463E0B24-BC76-9980-60DD-4C82C9A4CB2C}"/>
              </a:ext>
            </a:extLst>
          </p:cNvPr>
          <p:cNvSpPr/>
          <p:nvPr/>
        </p:nvSpPr>
        <p:spPr>
          <a:xfrm>
            <a:off x="7239558" y="4642304"/>
            <a:ext cx="2415624" cy="1850571"/>
          </a:xfrm>
          <a:prstGeom prst="ellipse">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System 2</a:t>
            </a:r>
          </a:p>
        </p:txBody>
      </p:sp>
      <p:sp>
        <p:nvSpPr>
          <p:cNvPr id="12" name="Oval 11">
            <a:extLst>
              <a:ext uri="{FF2B5EF4-FFF2-40B4-BE49-F238E27FC236}">
                <a16:creationId xmlns:a16="http://schemas.microsoft.com/office/drawing/2014/main" id="{ECD5DF14-A127-9790-429C-FAED645432C9}"/>
              </a:ext>
            </a:extLst>
          </p:cNvPr>
          <p:cNvSpPr/>
          <p:nvPr/>
        </p:nvSpPr>
        <p:spPr>
          <a:xfrm>
            <a:off x="2358821" y="4642304"/>
            <a:ext cx="2415624" cy="1850571"/>
          </a:xfrm>
          <a:prstGeom prst="ellipse">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System 1</a:t>
            </a:r>
          </a:p>
        </p:txBody>
      </p:sp>
    </p:spTree>
    <p:extLst>
      <p:ext uri="{BB962C8B-B14F-4D97-AF65-F5344CB8AC3E}">
        <p14:creationId xmlns:p14="http://schemas.microsoft.com/office/powerpoint/2010/main" val="30633107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2C2A-2E03-D468-1AA5-E2AC5EC1B737}"/>
              </a:ext>
            </a:extLst>
          </p:cNvPr>
          <p:cNvSpPr>
            <a:spLocks noGrp="1"/>
          </p:cNvSpPr>
          <p:nvPr>
            <p:ph type="title"/>
          </p:nvPr>
        </p:nvSpPr>
        <p:spPr/>
        <p:txBody>
          <a:bodyPr/>
          <a:lstStyle/>
          <a:p>
            <a:r>
              <a:rPr lang="en-US" dirty="0"/>
              <a:t>Executive Functioning</a:t>
            </a:r>
          </a:p>
        </p:txBody>
      </p:sp>
      <p:pic>
        <p:nvPicPr>
          <p:cNvPr id="7" name="Content Placeholder 6" descr="A cartoon of a sloth sleeping on a pillow&#10;&#10;AI-generated content may be incorrect.">
            <a:extLst>
              <a:ext uri="{FF2B5EF4-FFF2-40B4-BE49-F238E27FC236}">
                <a16:creationId xmlns:a16="http://schemas.microsoft.com/office/drawing/2014/main" id="{4DBB0ACB-9E88-01E5-08A9-1AF7518BC5A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511" t="5294" r="4471" b="1465"/>
          <a:stretch>
            <a:fillRect/>
          </a:stretch>
        </p:blipFill>
        <p:spPr>
          <a:xfrm>
            <a:off x="7276289" y="3798277"/>
            <a:ext cx="4756192" cy="2771136"/>
          </a:xfrm>
          <a:custGeom>
            <a:avLst/>
            <a:gdLst>
              <a:gd name="connsiteX0" fmla="*/ 1942290 w 3884580"/>
              <a:gd name="connsiteY0" fmla="*/ 0 h 2263302"/>
              <a:gd name="connsiteX1" fmla="*/ 3884580 w 3884580"/>
              <a:gd name="connsiteY1" fmla="*/ 1131651 h 2263302"/>
              <a:gd name="connsiteX2" fmla="*/ 1942290 w 3884580"/>
              <a:gd name="connsiteY2" fmla="*/ 2263302 h 2263302"/>
              <a:gd name="connsiteX3" fmla="*/ 0 w 3884580"/>
              <a:gd name="connsiteY3" fmla="*/ 1131651 h 2263302"/>
              <a:gd name="connsiteX4" fmla="*/ 1942290 w 3884580"/>
              <a:gd name="connsiteY4" fmla="*/ 0 h 2263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4580" h="2263302">
                <a:moveTo>
                  <a:pt x="1942290" y="0"/>
                </a:moveTo>
                <a:cubicBezTo>
                  <a:pt x="3014987" y="0"/>
                  <a:pt x="3884580" y="506657"/>
                  <a:pt x="3884580" y="1131651"/>
                </a:cubicBezTo>
                <a:cubicBezTo>
                  <a:pt x="3884580" y="1756645"/>
                  <a:pt x="3014987" y="2263302"/>
                  <a:pt x="1942290" y="2263302"/>
                </a:cubicBezTo>
                <a:cubicBezTo>
                  <a:pt x="869593" y="2263302"/>
                  <a:pt x="0" y="1756645"/>
                  <a:pt x="0" y="1131651"/>
                </a:cubicBezTo>
                <a:cubicBezTo>
                  <a:pt x="0" y="506657"/>
                  <a:pt x="869593" y="0"/>
                  <a:pt x="1942290" y="0"/>
                </a:cubicBezTo>
                <a:close/>
              </a:path>
            </a:pathLst>
          </a:custGeom>
          <a:effectLst>
            <a:softEdge rad="127000"/>
          </a:effectLst>
        </p:spPr>
      </p:pic>
      <p:sp>
        <p:nvSpPr>
          <p:cNvPr id="8" name="Content Placeholder 2">
            <a:extLst>
              <a:ext uri="{FF2B5EF4-FFF2-40B4-BE49-F238E27FC236}">
                <a16:creationId xmlns:a16="http://schemas.microsoft.com/office/drawing/2014/main" id="{4824AA7A-0FE4-8E9B-4451-A9A7DB47834E}"/>
              </a:ext>
            </a:extLst>
          </p:cNvPr>
          <p:cNvSpPr txBox="1">
            <a:spLocks/>
          </p:cNvSpPr>
          <p:nvPr/>
        </p:nvSpPr>
        <p:spPr>
          <a:xfrm>
            <a:off x="838200" y="1825625"/>
            <a:ext cx="747646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Effort (System 2) pulls from a </a:t>
            </a:r>
            <a:r>
              <a:rPr lang="en-US" i="1" dirty="0"/>
              <a:t>limited resource</a:t>
            </a:r>
            <a:endParaRPr lang="en-US" dirty="0"/>
          </a:p>
          <a:p>
            <a:r>
              <a:rPr lang="en-US" b="1" i="1" dirty="0"/>
              <a:t>Law of least effort</a:t>
            </a:r>
          </a:p>
          <a:p>
            <a:r>
              <a:rPr lang="en-US" dirty="0"/>
              <a:t>We cherish this resource, so we avoid effort</a:t>
            </a:r>
          </a:p>
          <a:p>
            <a:r>
              <a:rPr lang="en-US" dirty="0"/>
              <a:t>We conserve energy for things we are motivated to do</a:t>
            </a:r>
          </a:p>
          <a:p>
            <a:pPr lvl="1"/>
            <a:r>
              <a:rPr lang="en-US" dirty="0"/>
              <a:t>System 1 will handle most</a:t>
            </a:r>
          </a:p>
          <a:p>
            <a:pPr lvl="1"/>
            <a:r>
              <a:rPr lang="en-US" dirty="0"/>
              <a:t>System 2 intervenes only when it has to</a:t>
            </a:r>
          </a:p>
          <a:p>
            <a:pPr marL="0" indent="0">
              <a:buNone/>
            </a:pPr>
            <a:endParaRPr lang="en-US" dirty="0"/>
          </a:p>
          <a:p>
            <a:endParaRPr lang="en-US" dirty="0"/>
          </a:p>
        </p:txBody>
      </p:sp>
    </p:spTree>
    <p:extLst>
      <p:ext uri="{BB962C8B-B14F-4D97-AF65-F5344CB8AC3E}">
        <p14:creationId xmlns:p14="http://schemas.microsoft.com/office/powerpoint/2010/main" val="134928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DB0ED-B731-1DA4-2926-3212EC82A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A3D589-F240-514D-A309-CB401A051FE5}"/>
              </a:ext>
            </a:extLst>
          </p:cNvPr>
          <p:cNvSpPr>
            <a:spLocks noGrp="1"/>
          </p:cNvSpPr>
          <p:nvPr>
            <p:ph type="title"/>
          </p:nvPr>
        </p:nvSpPr>
        <p:spPr/>
        <p:txBody>
          <a:bodyPr/>
          <a:lstStyle/>
          <a:p>
            <a:r>
              <a:rPr lang="en-US" dirty="0"/>
              <a:t>Executive Functioning</a:t>
            </a:r>
          </a:p>
        </p:txBody>
      </p:sp>
      <p:pic>
        <p:nvPicPr>
          <p:cNvPr id="7" name="Content Placeholder 6" descr="A cartoon of a sloth sleeping on a pillow&#10;&#10;AI-generated content may be incorrect.">
            <a:extLst>
              <a:ext uri="{FF2B5EF4-FFF2-40B4-BE49-F238E27FC236}">
                <a16:creationId xmlns:a16="http://schemas.microsoft.com/office/drawing/2014/main" id="{E19AF236-9813-92D2-77A7-71170114D37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511" t="5294" r="4471" b="1465"/>
          <a:stretch>
            <a:fillRect/>
          </a:stretch>
        </p:blipFill>
        <p:spPr>
          <a:xfrm>
            <a:off x="7276289" y="3798277"/>
            <a:ext cx="4756192" cy="2771136"/>
          </a:xfrm>
          <a:custGeom>
            <a:avLst/>
            <a:gdLst>
              <a:gd name="connsiteX0" fmla="*/ 1942290 w 3884580"/>
              <a:gd name="connsiteY0" fmla="*/ 0 h 2263302"/>
              <a:gd name="connsiteX1" fmla="*/ 3884580 w 3884580"/>
              <a:gd name="connsiteY1" fmla="*/ 1131651 h 2263302"/>
              <a:gd name="connsiteX2" fmla="*/ 1942290 w 3884580"/>
              <a:gd name="connsiteY2" fmla="*/ 2263302 h 2263302"/>
              <a:gd name="connsiteX3" fmla="*/ 0 w 3884580"/>
              <a:gd name="connsiteY3" fmla="*/ 1131651 h 2263302"/>
              <a:gd name="connsiteX4" fmla="*/ 1942290 w 3884580"/>
              <a:gd name="connsiteY4" fmla="*/ 0 h 2263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4580" h="2263302">
                <a:moveTo>
                  <a:pt x="1942290" y="0"/>
                </a:moveTo>
                <a:cubicBezTo>
                  <a:pt x="3014987" y="0"/>
                  <a:pt x="3884580" y="506657"/>
                  <a:pt x="3884580" y="1131651"/>
                </a:cubicBezTo>
                <a:cubicBezTo>
                  <a:pt x="3884580" y="1756645"/>
                  <a:pt x="3014987" y="2263302"/>
                  <a:pt x="1942290" y="2263302"/>
                </a:cubicBezTo>
                <a:cubicBezTo>
                  <a:pt x="869593" y="2263302"/>
                  <a:pt x="0" y="1756645"/>
                  <a:pt x="0" y="1131651"/>
                </a:cubicBezTo>
                <a:cubicBezTo>
                  <a:pt x="0" y="506657"/>
                  <a:pt x="869593" y="0"/>
                  <a:pt x="1942290" y="0"/>
                </a:cubicBezTo>
                <a:close/>
              </a:path>
            </a:pathLst>
          </a:custGeom>
          <a:effectLst>
            <a:softEdge rad="127000"/>
          </a:effectLst>
        </p:spPr>
      </p:pic>
      <p:sp>
        <p:nvSpPr>
          <p:cNvPr id="8" name="Content Placeholder 2">
            <a:extLst>
              <a:ext uri="{FF2B5EF4-FFF2-40B4-BE49-F238E27FC236}">
                <a16:creationId xmlns:a16="http://schemas.microsoft.com/office/drawing/2014/main" id="{F898CF8D-89D2-BAF4-112F-8BDC1414D234}"/>
              </a:ext>
            </a:extLst>
          </p:cNvPr>
          <p:cNvSpPr txBox="1">
            <a:spLocks/>
          </p:cNvSpPr>
          <p:nvPr/>
        </p:nvSpPr>
        <p:spPr>
          <a:xfrm>
            <a:off x="838200" y="1825625"/>
            <a:ext cx="69306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Expected Value of Control Theory</a:t>
            </a:r>
          </a:p>
          <a:p>
            <a:r>
              <a:rPr lang="en-US" dirty="0"/>
              <a:t>We conduct a cost-benefit computation to determine whether we should exert effort </a:t>
            </a:r>
          </a:p>
          <a:p>
            <a:pPr lvl="1"/>
            <a:r>
              <a:rPr lang="en-US" dirty="0"/>
              <a:t>What constitutes a cost and a benefit is under investigation, but mostly unknown</a:t>
            </a:r>
          </a:p>
          <a:p>
            <a:pPr lvl="2"/>
            <a:r>
              <a:rPr lang="en-US" dirty="0"/>
              <a:t>May be too diverse and context-specific to fully describe in a list</a:t>
            </a:r>
          </a:p>
          <a:p>
            <a:pPr lvl="1"/>
            <a:r>
              <a:rPr lang="en-US" b="1" dirty="0"/>
              <a:t>Costs</a:t>
            </a:r>
            <a:r>
              <a:rPr lang="en-US" dirty="0"/>
              <a:t>: Diverse such as monetary costs, time costs, energy we have in a day </a:t>
            </a:r>
          </a:p>
          <a:p>
            <a:pPr lvl="1"/>
            <a:r>
              <a:rPr lang="en-US" b="1" dirty="0"/>
              <a:t>Benefits</a:t>
            </a:r>
            <a:r>
              <a:rPr lang="en-US" dirty="0"/>
              <a:t>: Diverse such as a </a:t>
            </a:r>
            <a:r>
              <a:rPr lang="en-US" dirty="0" err="1"/>
              <a:t>paycheque</a:t>
            </a:r>
            <a:r>
              <a:rPr lang="en-US" dirty="0"/>
              <a:t>, a good grade, social praise, intrinsic pride</a:t>
            </a:r>
          </a:p>
          <a:p>
            <a:pPr marL="0" indent="0">
              <a:buNone/>
            </a:pPr>
            <a:endParaRPr lang="en-US" dirty="0"/>
          </a:p>
          <a:p>
            <a:endParaRPr lang="en-US" dirty="0"/>
          </a:p>
        </p:txBody>
      </p:sp>
    </p:spTree>
    <p:extLst>
      <p:ext uri="{BB962C8B-B14F-4D97-AF65-F5344CB8AC3E}">
        <p14:creationId xmlns:p14="http://schemas.microsoft.com/office/powerpoint/2010/main" val="87394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209D-103E-5C44-87E3-F9F3792B50F5}"/>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C6BB4145-3D06-4E47-81AB-C1A6F9C961C3}"/>
              </a:ext>
            </a:extLst>
          </p:cNvPr>
          <p:cNvSpPr>
            <a:spLocks noGrp="1"/>
          </p:cNvSpPr>
          <p:nvPr>
            <p:ph idx="1"/>
          </p:nvPr>
        </p:nvSpPr>
        <p:spPr>
          <a:xfrm>
            <a:off x="838200" y="1825624"/>
            <a:ext cx="6802933" cy="5032375"/>
          </a:xfrm>
        </p:spPr>
        <p:txBody>
          <a:bodyPr>
            <a:normAutofit fontScale="92500" lnSpcReduction="20000"/>
          </a:bodyPr>
          <a:lstStyle/>
          <a:p>
            <a:pPr marL="0" indent="0">
              <a:buNone/>
            </a:pPr>
            <a:r>
              <a:rPr lang="en-CA" b="1" dirty="0"/>
              <a:t>Hayden, 2011</a:t>
            </a:r>
            <a:endParaRPr lang="en-CA" dirty="0"/>
          </a:p>
          <a:p>
            <a:r>
              <a:rPr lang="en-CA" b="1" dirty="0"/>
              <a:t>Research Question</a:t>
            </a:r>
            <a:r>
              <a:rPr lang="en-CA" dirty="0"/>
              <a:t>: What does the ACC code for during decision making?</a:t>
            </a:r>
          </a:p>
          <a:p>
            <a:endParaRPr lang="en-CA" dirty="0"/>
          </a:p>
          <a:p>
            <a:r>
              <a:rPr lang="en-CA" b="1" dirty="0"/>
              <a:t>Task</a:t>
            </a:r>
            <a:endParaRPr lang="en-CA" dirty="0"/>
          </a:p>
          <a:p>
            <a:pPr lvl="1"/>
            <a:r>
              <a:rPr lang="en-CA" dirty="0"/>
              <a:t>Monkey may remain at current stimulus each trial and receive depreciating reward </a:t>
            </a:r>
          </a:p>
          <a:p>
            <a:pPr lvl="1"/>
            <a:r>
              <a:rPr lang="en-CA" dirty="0"/>
              <a:t>or choose to forgo reward for a certain time to reach a different stimulus with unknown reward</a:t>
            </a:r>
          </a:p>
          <a:p>
            <a:endParaRPr lang="en-CA" dirty="0"/>
          </a:p>
          <a:p>
            <a:r>
              <a:rPr lang="en-CA" b="1" dirty="0"/>
              <a:t>IV</a:t>
            </a:r>
            <a:r>
              <a:rPr lang="en-CA" dirty="0"/>
              <a:t>: Monkeys decision to explore or exploit</a:t>
            </a:r>
          </a:p>
          <a:p>
            <a:endParaRPr lang="en-CA" dirty="0"/>
          </a:p>
          <a:p>
            <a:r>
              <a:rPr lang="en-CA" b="1" dirty="0"/>
              <a:t>DV</a:t>
            </a:r>
            <a:r>
              <a:rPr lang="en-CA" dirty="0"/>
              <a:t>: Neural activity in the ACC</a:t>
            </a:r>
          </a:p>
          <a:p>
            <a:pPr lvl="1"/>
            <a:r>
              <a:rPr lang="en-CA" dirty="0"/>
              <a:t>Used extracellular recordings</a:t>
            </a:r>
          </a:p>
          <a:p>
            <a:pPr lvl="1"/>
            <a:endParaRPr lang="en-CA" dirty="0"/>
          </a:p>
        </p:txBody>
      </p:sp>
      <p:pic>
        <p:nvPicPr>
          <p:cNvPr id="4" name="Content Placeholder 2" descr="Line graphs show neuronal activity in ACC correlated with decisions by monkeys to change to a new patch in sequential foraging task.&#10;The X axis measures time in patch in seconds from 0 through 30 with increments of 5 and the Y axis measures normalized firing rate from 0 through 2 with increments of 0.2. The data for 4 line graphs start around 2.5 on the X axis and between 0.8 and 1.1 on the Y axis. The graphs rise up to 15, 2; 18, 2; 25, 2; and to 28, 2 and end there. Pointer at the top value reads, At this firing rate the animal looks elsewhere for food.">
            <a:extLst>
              <a:ext uri="{FF2B5EF4-FFF2-40B4-BE49-F238E27FC236}">
                <a16:creationId xmlns:a16="http://schemas.microsoft.com/office/drawing/2014/main" id="{29CF69B5-8BA2-414F-B665-98F70401A300}"/>
              </a:ext>
            </a:extLst>
          </p:cNvPr>
          <p:cNvPicPr>
            <a:picLocks noChangeAspect="1"/>
          </p:cNvPicPr>
          <p:nvPr/>
        </p:nvPicPr>
        <p:blipFill>
          <a:blip r:embed="rId2">
            <a:extLst>
              <a:ext uri="{28A0092B-C50C-407E-A947-70E740481C1C}">
                <a14:useLocalDpi xmlns:a14="http://schemas.microsoft.com/office/drawing/2010/main" val="0"/>
              </a:ext>
            </a:extLst>
          </a:blip>
          <a:srcRect b="2918"/>
          <a:stretch>
            <a:fillRect/>
          </a:stretch>
        </p:blipFill>
        <p:spPr>
          <a:xfrm>
            <a:off x="7641133" y="1970016"/>
            <a:ext cx="4301774" cy="3943982"/>
          </a:xfrm>
          <a:prstGeom prst="rect">
            <a:avLst/>
          </a:prstGeom>
          <a:noFill/>
          <a:ln>
            <a:noFill/>
          </a:ln>
        </p:spPr>
      </p:pic>
    </p:spTree>
    <p:extLst>
      <p:ext uri="{BB962C8B-B14F-4D97-AF65-F5344CB8AC3E}">
        <p14:creationId xmlns:p14="http://schemas.microsoft.com/office/powerpoint/2010/main" val="23010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4101B-3823-602A-E626-792D7482B006}"/>
              </a:ext>
            </a:extLst>
          </p:cNvPr>
          <p:cNvSpPr>
            <a:spLocks noGrp="1"/>
          </p:cNvSpPr>
          <p:nvPr>
            <p:ph type="title"/>
          </p:nvPr>
        </p:nvSpPr>
        <p:spPr/>
        <p:txBody>
          <a:bodyPr/>
          <a:lstStyle/>
          <a:p>
            <a:r>
              <a:rPr lang="en-US" dirty="0"/>
              <a:t>Executive Functioning</a:t>
            </a:r>
          </a:p>
        </p:txBody>
      </p:sp>
      <p:pic>
        <p:nvPicPr>
          <p:cNvPr id="1026" name="Picture 2" descr="Illustration Green Bush On White Background Stock Illustration 125040251 |  Shutterstock">
            <a:extLst>
              <a:ext uri="{FF2B5EF4-FFF2-40B4-BE49-F238E27FC236}">
                <a16:creationId xmlns:a16="http://schemas.microsoft.com/office/drawing/2014/main" id="{88D4F20F-35C2-C5AA-5F40-DB4153DC2F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59" t="5584" r="3169" b="10780"/>
          <a:stretch>
            <a:fillRect/>
          </a:stretch>
        </p:blipFill>
        <p:spPr bwMode="auto">
          <a:xfrm>
            <a:off x="581328" y="2251363"/>
            <a:ext cx="5514672" cy="29302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llustration Green Bush On White Background Stock Illustration 125040251 |  Shutterstock">
            <a:extLst>
              <a:ext uri="{FF2B5EF4-FFF2-40B4-BE49-F238E27FC236}">
                <a16:creationId xmlns:a16="http://schemas.microsoft.com/office/drawing/2014/main" id="{AC7FE12F-4A9B-220F-E3F1-98A024E6BA12}"/>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2859" t="5584" r="3169" b="10780"/>
          <a:stretch>
            <a:fillRect/>
          </a:stretch>
        </p:blipFill>
        <p:spPr bwMode="auto">
          <a:xfrm>
            <a:off x="6498345" y="2251363"/>
            <a:ext cx="5514672" cy="29302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DDB1C7-D24C-A03F-375B-B8BC18B0060B}"/>
              </a:ext>
            </a:extLst>
          </p:cNvPr>
          <p:cNvSpPr txBox="1"/>
          <p:nvPr/>
        </p:nvSpPr>
        <p:spPr>
          <a:xfrm>
            <a:off x="8433695" y="2393043"/>
            <a:ext cx="1285929" cy="2646878"/>
          </a:xfrm>
          <a:prstGeom prst="rect">
            <a:avLst/>
          </a:prstGeom>
          <a:noFill/>
        </p:spPr>
        <p:txBody>
          <a:bodyPr wrap="none" rtlCol="0">
            <a:spAutoFit/>
          </a:bodyPr>
          <a:lstStyle/>
          <a:p>
            <a:r>
              <a:rPr lang="en-US" sz="16600" b="1" dirty="0">
                <a:solidFill>
                  <a:schemeClr val="bg1"/>
                </a:solidFill>
              </a:rPr>
              <a:t>?</a:t>
            </a:r>
          </a:p>
        </p:txBody>
      </p:sp>
      <p:sp>
        <p:nvSpPr>
          <p:cNvPr id="9" name="TextBox 8">
            <a:extLst>
              <a:ext uri="{FF2B5EF4-FFF2-40B4-BE49-F238E27FC236}">
                <a16:creationId xmlns:a16="http://schemas.microsoft.com/office/drawing/2014/main" id="{A9395BD4-D0A4-4D44-BC96-145A2866B5AC}"/>
              </a:ext>
            </a:extLst>
          </p:cNvPr>
          <p:cNvSpPr txBox="1"/>
          <p:nvPr/>
        </p:nvSpPr>
        <p:spPr>
          <a:xfrm>
            <a:off x="4711160" y="2251363"/>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11" name="TextBox 10">
            <a:extLst>
              <a:ext uri="{FF2B5EF4-FFF2-40B4-BE49-F238E27FC236}">
                <a16:creationId xmlns:a16="http://schemas.microsoft.com/office/drawing/2014/main" id="{BD0D609B-CB90-EA23-19AB-514109EAE6E7}"/>
              </a:ext>
            </a:extLst>
          </p:cNvPr>
          <p:cNvSpPr txBox="1"/>
          <p:nvPr/>
        </p:nvSpPr>
        <p:spPr>
          <a:xfrm>
            <a:off x="4711160" y="2251362"/>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12" name="TextBox 11">
            <a:extLst>
              <a:ext uri="{FF2B5EF4-FFF2-40B4-BE49-F238E27FC236}">
                <a16:creationId xmlns:a16="http://schemas.microsoft.com/office/drawing/2014/main" id="{501A4889-A576-920E-CA43-CCA9E5B80586}"/>
              </a:ext>
            </a:extLst>
          </p:cNvPr>
          <p:cNvSpPr txBox="1"/>
          <p:nvPr/>
        </p:nvSpPr>
        <p:spPr>
          <a:xfrm>
            <a:off x="4711160" y="2251361"/>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13" name="TextBox 12">
            <a:extLst>
              <a:ext uri="{FF2B5EF4-FFF2-40B4-BE49-F238E27FC236}">
                <a16:creationId xmlns:a16="http://schemas.microsoft.com/office/drawing/2014/main" id="{6EF3C116-C88A-FA45-CFC4-22ED8DD7DD3C}"/>
              </a:ext>
            </a:extLst>
          </p:cNvPr>
          <p:cNvSpPr txBox="1"/>
          <p:nvPr/>
        </p:nvSpPr>
        <p:spPr>
          <a:xfrm>
            <a:off x="4711160" y="2251360"/>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14" name="TextBox 13">
            <a:extLst>
              <a:ext uri="{FF2B5EF4-FFF2-40B4-BE49-F238E27FC236}">
                <a16:creationId xmlns:a16="http://schemas.microsoft.com/office/drawing/2014/main" id="{D47E3106-4729-D163-C0AF-6E63A852F5FF}"/>
              </a:ext>
            </a:extLst>
          </p:cNvPr>
          <p:cNvSpPr txBox="1"/>
          <p:nvPr/>
        </p:nvSpPr>
        <p:spPr>
          <a:xfrm>
            <a:off x="4711160" y="2251359"/>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15" name="TextBox 14">
            <a:extLst>
              <a:ext uri="{FF2B5EF4-FFF2-40B4-BE49-F238E27FC236}">
                <a16:creationId xmlns:a16="http://schemas.microsoft.com/office/drawing/2014/main" id="{0EE1BAB6-27B0-1AC9-D859-AC28827DE132}"/>
              </a:ext>
            </a:extLst>
          </p:cNvPr>
          <p:cNvSpPr txBox="1"/>
          <p:nvPr/>
        </p:nvSpPr>
        <p:spPr>
          <a:xfrm>
            <a:off x="4711160" y="2251358"/>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18" name="TextBox 17">
            <a:extLst>
              <a:ext uri="{FF2B5EF4-FFF2-40B4-BE49-F238E27FC236}">
                <a16:creationId xmlns:a16="http://schemas.microsoft.com/office/drawing/2014/main" id="{9344A968-AEAA-8C91-408D-74BE09A50C45}"/>
              </a:ext>
            </a:extLst>
          </p:cNvPr>
          <p:cNvSpPr txBox="1"/>
          <p:nvPr/>
        </p:nvSpPr>
        <p:spPr>
          <a:xfrm>
            <a:off x="4711160" y="2251358"/>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19" name="TextBox 18">
            <a:extLst>
              <a:ext uri="{FF2B5EF4-FFF2-40B4-BE49-F238E27FC236}">
                <a16:creationId xmlns:a16="http://schemas.microsoft.com/office/drawing/2014/main" id="{26F222DB-3C7C-5086-5A58-056B167C4BB4}"/>
              </a:ext>
            </a:extLst>
          </p:cNvPr>
          <p:cNvSpPr txBox="1"/>
          <p:nvPr/>
        </p:nvSpPr>
        <p:spPr>
          <a:xfrm>
            <a:off x="4711160" y="2251358"/>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20" name="TextBox 19">
            <a:extLst>
              <a:ext uri="{FF2B5EF4-FFF2-40B4-BE49-F238E27FC236}">
                <a16:creationId xmlns:a16="http://schemas.microsoft.com/office/drawing/2014/main" id="{FE3879D5-A743-4110-F3C1-A00BD6EB91E5}"/>
              </a:ext>
            </a:extLst>
          </p:cNvPr>
          <p:cNvSpPr txBox="1"/>
          <p:nvPr/>
        </p:nvSpPr>
        <p:spPr>
          <a:xfrm>
            <a:off x="4711160" y="2251357"/>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21" name="TextBox 20">
            <a:extLst>
              <a:ext uri="{FF2B5EF4-FFF2-40B4-BE49-F238E27FC236}">
                <a16:creationId xmlns:a16="http://schemas.microsoft.com/office/drawing/2014/main" id="{81EA1D8F-B5E7-6957-6048-CF1722939724}"/>
              </a:ext>
            </a:extLst>
          </p:cNvPr>
          <p:cNvSpPr txBox="1"/>
          <p:nvPr/>
        </p:nvSpPr>
        <p:spPr>
          <a:xfrm>
            <a:off x="4711160" y="2251356"/>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22" name="TextBox 21">
            <a:extLst>
              <a:ext uri="{FF2B5EF4-FFF2-40B4-BE49-F238E27FC236}">
                <a16:creationId xmlns:a16="http://schemas.microsoft.com/office/drawing/2014/main" id="{0157878C-7E9B-D6E0-9B45-CCE1095D7E89}"/>
              </a:ext>
            </a:extLst>
          </p:cNvPr>
          <p:cNvSpPr txBox="1"/>
          <p:nvPr/>
        </p:nvSpPr>
        <p:spPr>
          <a:xfrm>
            <a:off x="4711160" y="2251356"/>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23" name="TextBox 22">
            <a:extLst>
              <a:ext uri="{FF2B5EF4-FFF2-40B4-BE49-F238E27FC236}">
                <a16:creationId xmlns:a16="http://schemas.microsoft.com/office/drawing/2014/main" id="{CD7B1124-5ED1-05F8-5A1D-589E7A5A9C77}"/>
              </a:ext>
            </a:extLst>
          </p:cNvPr>
          <p:cNvSpPr txBox="1"/>
          <p:nvPr/>
        </p:nvSpPr>
        <p:spPr>
          <a:xfrm>
            <a:off x="4711160" y="2251356"/>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pic>
        <p:nvPicPr>
          <p:cNvPr id="25" name="Picture 24" descr="Illustration Green Bush On White Background Stock Illustration 125040251 |  Shutterstock">
            <a:extLst>
              <a:ext uri="{FF2B5EF4-FFF2-40B4-BE49-F238E27FC236}">
                <a16:creationId xmlns:a16="http://schemas.microsoft.com/office/drawing/2014/main" id="{F28B1BC3-0CFB-4804-FFBB-60C71C5348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59" t="5584" r="3169" b="10780"/>
          <a:stretch>
            <a:fillRect/>
          </a:stretch>
        </p:blipFill>
        <p:spPr bwMode="auto">
          <a:xfrm>
            <a:off x="6498345" y="2251363"/>
            <a:ext cx="5514672" cy="293023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Illustration Green Bush On White Background Stock Illustration 125040251 |  Shutterstock">
            <a:extLst>
              <a:ext uri="{FF2B5EF4-FFF2-40B4-BE49-F238E27FC236}">
                <a16:creationId xmlns:a16="http://schemas.microsoft.com/office/drawing/2014/main" id="{409D55CA-BECE-C160-88E5-1A7C6F4E4D15}"/>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2859" t="5584" r="3169" b="10780"/>
          <a:stretch>
            <a:fillRect/>
          </a:stretch>
        </p:blipFill>
        <p:spPr bwMode="auto">
          <a:xfrm>
            <a:off x="590794" y="2251363"/>
            <a:ext cx="5514672" cy="293023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DFE81828-C503-69C7-0C17-37C079FFD5B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956" b="97555" l="8444" r="93709">
                        <a14:foregroundMark x1="18046" y1="10636" x2="17715" y2="13570"/>
                        <a14:foregroundMark x1="45861" y1="10513" x2="28808" y2="15526"/>
                        <a14:foregroundMark x1="86589" y1="29951" x2="93543" y2="14792"/>
                        <a14:foregroundMark x1="93543" y1="14792" x2="78974" y2="26161"/>
                        <a14:foregroundMark x1="78974" y1="26161" x2="93709" y2="29340"/>
                        <a14:foregroundMark x1="22669" y1="12889" x2="4967" y2="11125"/>
                        <a14:foregroundMark x1="24689" y1="13090" x2="22883" y2="12910"/>
                        <a14:foregroundMark x1="25828" y1="13203" x2="24700" y2="13091"/>
                        <a14:foregroundMark x1="4967" y1="11125" x2="16556" y2="24694"/>
                        <a14:foregroundMark x1="22491" y1="11546" x2="23165" y2="10053"/>
                        <a14:foregroundMark x1="16556" y1="24694" x2="22273" y2="12030"/>
                        <a14:foregroundMark x1="29801" y1="12836" x2="43439" y2="4762"/>
                        <a14:foregroundMark x1="53375" y1="3697" x2="67881" y2="8557"/>
                        <a14:foregroundMark x1="67881" y1="8557" x2="33940" y2="20782"/>
                        <a14:foregroundMark x1="33940" y1="20782" x2="31126" y2="10880"/>
                        <a14:foregroundMark x1="12086" y1="90465" x2="32119" y2="95355"/>
                        <a14:foregroundMark x1="32119" y1="95355" x2="56788" y2="96333"/>
                        <a14:foregroundMark x1="56788" y1="96333" x2="34272" y2="89364"/>
                        <a14:foregroundMark x1="34272" y1="89364" x2="14570" y2="91687"/>
                        <a14:foregroundMark x1="23344" y1="95721" x2="22517" y2="90098"/>
                        <a14:foregroundMark x1="62252" y1="97677" x2="53146" y2="93521"/>
                        <a14:foregroundMark x1="11589" y1="83863" x2="23841" y2="76284"/>
                        <a14:foregroundMark x1="15563" y1="95599" x2="13245" y2="91932"/>
                        <a14:foregroundMark x1="11755" y1="86797" x2="15232" y2="72738"/>
                        <a14:foregroundMark x1="15232" y1="72738" x2="16060" y2="91809"/>
                        <a14:foregroundMark x1="16060" y1="91809" x2="17881" y2="93154"/>
                        <a14:foregroundMark x1="8444" y1="22005" x2="20530" y2="13814"/>
                        <a14:backgroundMark x1="19868" y1="7457" x2="20861" y2="5257"/>
                        <a14:backgroundMark x1="45199" y1="2567" x2="54967" y2="1711"/>
                        <a14:backgroundMark x1="20364" y1="5868" x2="21523" y2="5990"/>
                        <a14:backgroundMark x1="23841" y1="5623" x2="17219" y2="3545"/>
                        <a14:backgroundMark x1="24007" y1="8313" x2="22185" y2="9413"/>
                        <a14:backgroundMark x1="23510" y1="10636" x2="23344" y2="10269"/>
                        <a14:backgroundMark x1="21854" y1="11125" x2="20695" y2="7090"/>
                      </a14:backgroundRemoval>
                    </a14:imgEffect>
                  </a14:imgLayer>
                </a14:imgProps>
              </a:ext>
              <a:ext uri="{28A0092B-C50C-407E-A947-70E740481C1C}">
                <a14:useLocalDpi xmlns:a14="http://schemas.microsoft.com/office/drawing/2010/main" val="0"/>
              </a:ext>
            </a:extLst>
          </a:blip>
          <a:stretch>
            <a:fillRect/>
          </a:stretch>
        </p:blipFill>
        <p:spPr>
          <a:xfrm>
            <a:off x="1993736" y="3370873"/>
            <a:ext cx="2386734" cy="3232365"/>
          </a:xfrm>
          <a:prstGeom prst="rect">
            <a:avLst/>
          </a:prstGeom>
        </p:spPr>
      </p:pic>
      <p:sp>
        <p:nvSpPr>
          <p:cNvPr id="27" name="TextBox 26">
            <a:extLst>
              <a:ext uri="{FF2B5EF4-FFF2-40B4-BE49-F238E27FC236}">
                <a16:creationId xmlns:a16="http://schemas.microsoft.com/office/drawing/2014/main" id="{A4E973A5-4595-414F-4453-9DA481051B49}"/>
              </a:ext>
            </a:extLst>
          </p:cNvPr>
          <p:cNvSpPr txBox="1"/>
          <p:nvPr/>
        </p:nvSpPr>
        <p:spPr>
          <a:xfrm>
            <a:off x="10597632" y="1990106"/>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28" name="TextBox 27">
            <a:extLst>
              <a:ext uri="{FF2B5EF4-FFF2-40B4-BE49-F238E27FC236}">
                <a16:creationId xmlns:a16="http://schemas.microsoft.com/office/drawing/2014/main" id="{C6F8FFE5-61A5-9056-5F54-DC378AD193F3}"/>
              </a:ext>
            </a:extLst>
          </p:cNvPr>
          <p:cNvSpPr txBox="1"/>
          <p:nvPr/>
        </p:nvSpPr>
        <p:spPr>
          <a:xfrm>
            <a:off x="10597632" y="1990105"/>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29" name="TextBox 28">
            <a:extLst>
              <a:ext uri="{FF2B5EF4-FFF2-40B4-BE49-F238E27FC236}">
                <a16:creationId xmlns:a16="http://schemas.microsoft.com/office/drawing/2014/main" id="{D0C1ACEA-F278-D752-D8D7-A2054E40FFAF}"/>
              </a:ext>
            </a:extLst>
          </p:cNvPr>
          <p:cNvSpPr txBox="1"/>
          <p:nvPr/>
        </p:nvSpPr>
        <p:spPr>
          <a:xfrm>
            <a:off x="10597632" y="1990104"/>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30" name="TextBox 29">
            <a:extLst>
              <a:ext uri="{FF2B5EF4-FFF2-40B4-BE49-F238E27FC236}">
                <a16:creationId xmlns:a16="http://schemas.microsoft.com/office/drawing/2014/main" id="{0F8CC68D-BE45-CC62-8D9F-A199B92046B2}"/>
              </a:ext>
            </a:extLst>
          </p:cNvPr>
          <p:cNvSpPr txBox="1"/>
          <p:nvPr/>
        </p:nvSpPr>
        <p:spPr>
          <a:xfrm>
            <a:off x="10597632" y="1990103"/>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31" name="TextBox 30">
            <a:extLst>
              <a:ext uri="{FF2B5EF4-FFF2-40B4-BE49-F238E27FC236}">
                <a16:creationId xmlns:a16="http://schemas.microsoft.com/office/drawing/2014/main" id="{D9AAEDBF-EBB0-133C-44B5-BEBF308983E4}"/>
              </a:ext>
            </a:extLst>
          </p:cNvPr>
          <p:cNvSpPr txBox="1"/>
          <p:nvPr/>
        </p:nvSpPr>
        <p:spPr>
          <a:xfrm>
            <a:off x="10597632" y="1990102"/>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32" name="TextBox 31">
            <a:extLst>
              <a:ext uri="{FF2B5EF4-FFF2-40B4-BE49-F238E27FC236}">
                <a16:creationId xmlns:a16="http://schemas.microsoft.com/office/drawing/2014/main" id="{8D956AB4-FB12-33BC-E0D5-49B7488E89C3}"/>
              </a:ext>
            </a:extLst>
          </p:cNvPr>
          <p:cNvSpPr txBox="1"/>
          <p:nvPr/>
        </p:nvSpPr>
        <p:spPr>
          <a:xfrm>
            <a:off x="10597632" y="1990101"/>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33" name="TextBox 32">
            <a:extLst>
              <a:ext uri="{FF2B5EF4-FFF2-40B4-BE49-F238E27FC236}">
                <a16:creationId xmlns:a16="http://schemas.microsoft.com/office/drawing/2014/main" id="{3C6C836F-78B0-1F7F-B147-043DC7AAB0CD}"/>
              </a:ext>
            </a:extLst>
          </p:cNvPr>
          <p:cNvSpPr txBox="1"/>
          <p:nvPr/>
        </p:nvSpPr>
        <p:spPr>
          <a:xfrm>
            <a:off x="10597632" y="1990101"/>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34" name="TextBox 33">
            <a:extLst>
              <a:ext uri="{FF2B5EF4-FFF2-40B4-BE49-F238E27FC236}">
                <a16:creationId xmlns:a16="http://schemas.microsoft.com/office/drawing/2014/main" id="{B325994B-DD87-E3B9-2B37-43F303DF5050}"/>
              </a:ext>
            </a:extLst>
          </p:cNvPr>
          <p:cNvSpPr txBox="1"/>
          <p:nvPr/>
        </p:nvSpPr>
        <p:spPr>
          <a:xfrm>
            <a:off x="10597632" y="1990101"/>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35" name="TextBox 34">
            <a:extLst>
              <a:ext uri="{FF2B5EF4-FFF2-40B4-BE49-F238E27FC236}">
                <a16:creationId xmlns:a16="http://schemas.microsoft.com/office/drawing/2014/main" id="{97D308A9-A27B-9F35-A891-0D76039BC248}"/>
              </a:ext>
            </a:extLst>
          </p:cNvPr>
          <p:cNvSpPr txBox="1"/>
          <p:nvPr/>
        </p:nvSpPr>
        <p:spPr>
          <a:xfrm>
            <a:off x="10597632" y="1990100"/>
            <a:ext cx="1057342" cy="954107"/>
          </a:xfrm>
          <a:prstGeom prst="rect">
            <a:avLst/>
          </a:prstGeom>
          <a:noFill/>
        </p:spPr>
        <p:txBody>
          <a:bodyPr wrap="none" rtlCol="0">
            <a:spAutoFit/>
          </a:bodyPr>
          <a:lstStyle/>
          <a:p>
            <a:pPr algn="ctr"/>
            <a:r>
              <a:rPr lang="en-US" sz="2800" b="1" dirty="0">
                <a:solidFill>
                  <a:schemeClr val="accent6">
                    <a:lumMod val="75000"/>
                  </a:schemeClr>
                </a:solidFill>
              </a:rPr>
              <a:t>Tasty</a:t>
            </a:r>
          </a:p>
          <a:p>
            <a:pPr algn="ctr"/>
            <a:r>
              <a:rPr lang="en-US" sz="2800" b="1" dirty="0">
                <a:solidFill>
                  <a:schemeClr val="accent6">
                    <a:lumMod val="75000"/>
                  </a:schemeClr>
                </a:solidFill>
              </a:rPr>
              <a:t>Berry</a:t>
            </a:r>
          </a:p>
        </p:txBody>
      </p:sp>
      <p:sp>
        <p:nvSpPr>
          <p:cNvPr id="36" name="TextBox 35">
            <a:extLst>
              <a:ext uri="{FF2B5EF4-FFF2-40B4-BE49-F238E27FC236}">
                <a16:creationId xmlns:a16="http://schemas.microsoft.com/office/drawing/2014/main" id="{2D2A848D-962F-3137-B762-FEDDEDC827A6}"/>
              </a:ext>
            </a:extLst>
          </p:cNvPr>
          <p:cNvSpPr txBox="1"/>
          <p:nvPr/>
        </p:nvSpPr>
        <p:spPr>
          <a:xfrm>
            <a:off x="10597632" y="1990099"/>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37" name="TextBox 36">
            <a:extLst>
              <a:ext uri="{FF2B5EF4-FFF2-40B4-BE49-F238E27FC236}">
                <a16:creationId xmlns:a16="http://schemas.microsoft.com/office/drawing/2014/main" id="{22470535-DEA5-C857-8FCC-5FDE29C18938}"/>
              </a:ext>
            </a:extLst>
          </p:cNvPr>
          <p:cNvSpPr txBox="1"/>
          <p:nvPr/>
        </p:nvSpPr>
        <p:spPr>
          <a:xfrm>
            <a:off x="10597632" y="1990099"/>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
        <p:nvSpPr>
          <p:cNvPr id="38" name="TextBox 37">
            <a:extLst>
              <a:ext uri="{FF2B5EF4-FFF2-40B4-BE49-F238E27FC236}">
                <a16:creationId xmlns:a16="http://schemas.microsoft.com/office/drawing/2014/main" id="{B94AFC8E-BFB6-0F52-AD98-EF17CF6C205A}"/>
              </a:ext>
            </a:extLst>
          </p:cNvPr>
          <p:cNvSpPr txBox="1"/>
          <p:nvPr/>
        </p:nvSpPr>
        <p:spPr>
          <a:xfrm>
            <a:off x="10597632" y="1990099"/>
            <a:ext cx="1057342" cy="954107"/>
          </a:xfrm>
          <a:prstGeom prst="rect">
            <a:avLst/>
          </a:prstGeom>
          <a:noFill/>
        </p:spPr>
        <p:txBody>
          <a:bodyPr wrap="none" rtlCol="0">
            <a:spAutoFit/>
          </a:bodyPr>
          <a:lstStyle/>
          <a:p>
            <a:pPr algn="ctr"/>
            <a:r>
              <a:rPr lang="en-US" sz="2800" b="1" dirty="0">
                <a:solidFill>
                  <a:schemeClr val="accent2">
                    <a:lumMod val="75000"/>
                  </a:schemeClr>
                </a:solidFill>
              </a:rPr>
              <a:t>Sour</a:t>
            </a:r>
          </a:p>
          <a:p>
            <a:pPr algn="ctr"/>
            <a:r>
              <a:rPr lang="en-US" sz="2800" b="1" dirty="0">
                <a:solidFill>
                  <a:schemeClr val="accent2">
                    <a:lumMod val="75000"/>
                  </a:schemeClr>
                </a:solidFill>
              </a:rPr>
              <a:t>Berry</a:t>
            </a:r>
          </a:p>
        </p:txBody>
      </p:sp>
    </p:spTree>
    <p:extLst>
      <p:ext uri="{BB962C8B-B14F-4D97-AF65-F5344CB8AC3E}">
        <p14:creationId xmlns:p14="http://schemas.microsoft.com/office/powerpoint/2010/main" val="1609316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42" presetClass="path" presetSubtype="0" accel="50000" decel="50000" fill="hold" grpId="0" nodeType="withEffect">
                                  <p:stCondLst>
                                    <p:cond delay="0"/>
                                  </p:stCondLst>
                                  <p:childTnLst>
                                    <p:animMotion origin="layout" path="M 2.29167E-6 4.81481E-6 L 2.29167E-6 -0.15325 " pathEditMode="relative" rAng="0" ptsTypes="AA">
                                      <p:cBhvr>
                                        <p:cTn id="8" dur="2000" fill="hold"/>
                                        <p:tgtEl>
                                          <p:spTgt spid="9"/>
                                        </p:tgtEl>
                                        <p:attrNameLst>
                                          <p:attrName>ppt_x</p:attrName>
                                          <p:attrName>ppt_y</p:attrName>
                                        </p:attrNameLst>
                                      </p:cBhvr>
                                      <p:rCtr x="0" y="-7662"/>
                                    </p:animMotion>
                                  </p:childTnLst>
                                </p:cTn>
                              </p:par>
                              <p:par>
                                <p:cTn id="9" presetID="10" presetClass="exit" presetSubtype="0" fill="hold" grpId="1" nodeType="withEffect">
                                  <p:stCondLst>
                                    <p:cond delay="0"/>
                                  </p:stCondLst>
                                  <p:childTnLst>
                                    <p:animEffect transition="out" filter="fade">
                                      <p:cBhvr>
                                        <p:cTn id="10" dur="2000"/>
                                        <p:tgtEl>
                                          <p:spTgt spid="9"/>
                                        </p:tgtEl>
                                      </p:cBhvr>
                                    </p:animEffect>
                                    <p:set>
                                      <p:cBhvr>
                                        <p:cTn id="11" dur="1" fill="hold">
                                          <p:stCondLst>
                                            <p:cond delay="1999"/>
                                          </p:stCondLst>
                                        </p:cTn>
                                        <p:tgtEl>
                                          <p:spTgt spid="9"/>
                                        </p:tgtEl>
                                        <p:attrNameLst>
                                          <p:attrName>style.visibility</p:attrName>
                                        </p:attrNameLst>
                                      </p:cBhvr>
                                      <p:to>
                                        <p:strVal val="hidden"/>
                                      </p:to>
                                    </p:set>
                                  </p:childTnLst>
                                </p:cTn>
                              </p:par>
                            </p:childTnLst>
                          </p:cTn>
                        </p:par>
                        <p:par>
                          <p:cTn id="12" fill="hold">
                            <p:stCondLst>
                              <p:cond delay="2000"/>
                            </p:stCondLst>
                            <p:childTnLst>
                              <p:par>
                                <p:cTn id="13" presetID="1" presetClass="entr" presetSubtype="0" fill="hold" grpId="2" nodeType="after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42" presetClass="path" presetSubtype="0" accel="50000" decel="50000" fill="hold" grpId="0" nodeType="withEffect">
                                  <p:stCondLst>
                                    <p:cond delay="0"/>
                                  </p:stCondLst>
                                  <p:childTnLst>
                                    <p:animMotion origin="layout" path="M 2.29167E-6 4.81481E-6 L 2.29167E-6 -0.15325 " pathEditMode="relative" rAng="0" ptsTypes="AA">
                                      <p:cBhvr>
                                        <p:cTn id="16" dur="2000" fill="hold"/>
                                        <p:tgtEl>
                                          <p:spTgt spid="11"/>
                                        </p:tgtEl>
                                        <p:attrNameLst>
                                          <p:attrName>ppt_x</p:attrName>
                                          <p:attrName>ppt_y</p:attrName>
                                        </p:attrNameLst>
                                      </p:cBhvr>
                                      <p:rCtr x="0" y="-7662"/>
                                    </p:animMotion>
                                  </p:childTnLst>
                                </p:cTn>
                              </p:par>
                              <p:par>
                                <p:cTn id="17" presetID="10" presetClass="exit" presetSubtype="0" fill="hold" grpId="1" nodeType="withEffect">
                                  <p:stCondLst>
                                    <p:cond delay="0"/>
                                  </p:stCondLst>
                                  <p:childTnLst>
                                    <p:animEffect transition="out" filter="fade">
                                      <p:cBhvr>
                                        <p:cTn id="18" dur="2000"/>
                                        <p:tgtEl>
                                          <p:spTgt spid="11"/>
                                        </p:tgtEl>
                                      </p:cBhvr>
                                    </p:animEffect>
                                    <p:set>
                                      <p:cBhvr>
                                        <p:cTn id="19" dur="1" fill="hold">
                                          <p:stCondLst>
                                            <p:cond delay="1999"/>
                                          </p:stCondLst>
                                        </p:cTn>
                                        <p:tgtEl>
                                          <p:spTgt spid="11"/>
                                        </p:tgtEl>
                                        <p:attrNameLst>
                                          <p:attrName>style.visibility</p:attrName>
                                        </p:attrNameLst>
                                      </p:cBhvr>
                                      <p:to>
                                        <p:strVal val="hidden"/>
                                      </p:to>
                                    </p:set>
                                  </p:childTnLst>
                                </p:cTn>
                              </p:par>
                            </p:childTnLst>
                          </p:cTn>
                        </p:par>
                        <p:par>
                          <p:cTn id="20" fill="hold">
                            <p:stCondLst>
                              <p:cond delay="4000"/>
                            </p:stCondLst>
                            <p:childTnLst>
                              <p:par>
                                <p:cTn id="21" presetID="1" presetClass="entr" presetSubtype="0" fill="hold" grpId="2" nodeType="after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42" presetClass="path" presetSubtype="0" accel="50000" decel="50000" fill="hold" grpId="0" nodeType="withEffect">
                                  <p:stCondLst>
                                    <p:cond delay="0"/>
                                  </p:stCondLst>
                                  <p:childTnLst>
                                    <p:animMotion origin="layout" path="M 2.29167E-6 4.81481E-6 L 2.29167E-6 -0.15325 " pathEditMode="relative" rAng="0" ptsTypes="AA">
                                      <p:cBhvr>
                                        <p:cTn id="24" dur="2000" fill="hold"/>
                                        <p:tgtEl>
                                          <p:spTgt spid="12"/>
                                        </p:tgtEl>
                                        <p:attrNameLst>
                                          <p:attrName>ppt_x</p:attrName>
                                          <p:attrName>ppt_y</p:attrName>
                                        </p:attrNameLst>
                                      </p:cBhvr>
                                      <p:rCtr x="0" y="-7662"/>
                                    </p:animMotion>
                                  </p:childTnLst>
                                </p:cTn>
                              </p:par>
                              <p:par>
                                <p:cTn id="25" presetID="10" presetClass="exit" presetSubtype="0" fill="hold" grpId="1" nodeType="withEffect">
                                  <p:stCondLst>
                                    <p:cond delay="0"/>
                                  </p:stCondLst>
                                  <p:childTnLst>
                                    <p:animEffect transition="out" filter="fade">
                                      <p:cBhvr>
                                        <p:cTn id="26" dur="2000"/>
                                        <p:tgtEl>
                                          <p:spTgt spid="12"/>
                                        </p:tgtEl>
                                      </p:cBhvr>
                                    </p:animEffect>
                                    <p:set>
                                      <p:cBhvr>
                                        <p:cTn id="27" dur="1" fill="hold">
                                          <p:stCondLst>
                                            <p:cond delay="1999"/>
                                          </p:stCondLst>
                                        </p:cTn>
                                        <p:tgtEl>
                                          <p:spTgt spid="12"/>
                                        </p:tgtEl>
                                        <p:attrNameLst>
                                          <p:attrName>style.visibility</p:attrName>
                                        </p:attrNameLst>
                                      </p:cBhvr>
                                      <p:to>
                                        <p:strVal val="hidden"/>
                                      </p:to>
                                    </p:set>
                                  </p:childTnLst>
                                </p:cTn>
                              </p:par>
                            </p:childTnLst>
                          </p:cTn>
                        </p:par>
                        <p:par>
                          <p:cTn id="28" fill="hold">
                            <p:stCondLst>
                              <p:cond delay="6000"/>
                            </p:stCondLst>
                            <p:childTnLst>
                              <p:par>
                                <p:cTn id="29" presetID="1" presetClass="entr" presetSubtype="0" fill="hold" grpId="2" nodeType="after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42" presetClass="path" presetSubtype="0" accel="50000" decel="50000" fill="hold" grpId="0" nodeType="withEffect">
                                  <p:stCondLst>
                                    <p:cond delay="0"/>
                                  </p:stCondLst>
                                  <p:childTnLst>
                                    <p:animMotion origin="layout" path="M 2.29167E-6 4.81481E-6 L 2.29167E-6 -0.15325 " pathEditMode="relative" rAng="0" ptsTypes="AA">
                                      <p:cBhvr>
                                        <p:cTn id="32" dur="2000" fill="hold"/>
                                        <p:tgtEl>
                                          <p:spTgt spid="13"/>
                                        </p:tgtEl>
                                        <p:attrNameLst>
                                          <p:attrName>ppt_x</p:attrName>
                                          <p:attrName>ppt_y</p:attrName>
                                        </p:attrNameLst>
                                      </p:cBhvr>
                                      <p:rCtr x="0" y="-7662"/>
                                    </p:animMotion>
                                  </p:childTnLst>
                                </p:cTn>
                              </p:par>
                              <p:par>
                                <p:cTn id="33" presetID="10" presetClass="exit" presetSubtype="0" fill="hold" grpId="1" nodeType="withEffect">
                                  <p:stCondLst>
                                    <p:cond delay="0"/>
                                  </p:stCondLst>
                                  <p:childTnLst>
                                    <p:animEffect transition="out" filter="fade">
                                      <p:cBhvr>
                                        <p:cTn id="34" dur="2000"/>
                                        <p:tgtEl>
                                          <p:spTgt spid="13"/>
                                        </p:tgtEl>
                                      </p:cBhvr>
                                    </p:animEffect>
                                    <p:set>
                                      <p:cBhvr>
                                        <p:cTn id="35" dur="1" fill="hold">
                                          <p:stCondLst>
                                            <p:cond delay="1999"/>
                                          </p:stCondLst>
                                        </p:cTn>
                                        <p:tgtEl>
                                          <p:spTgt spid="13"/>
                                        </p:tgtEl>
                                        <p:attrNameLst>
                                          <p:attrName>style.visibility</p:attrName>
                                        </p:attrNameLst>
                                      </p:cBhvr>
                                      <p:to>
                                        <p:strVal val="hidden"/>
                                      </p:to>
                                    </p:set>
                                  </p:childTnLst>
                                </p:cTn>
                              </p:par>
                            </p:childTnLst>
                          </p:cTn>
                        </p:par>
                        <p:par>
                          <p:cTn id="36" fill="hold">
                            <p:stCondLst>
                              <p:cond delay="8000"/>
                            </p:stCondLst>
                            <p:childTnLst>
                              <p:par>
                                <p:cTn id="37" presetID="1" presetClass="entr" presetSubtype="0" fill="hold" grpId="2" nodeType="after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42" presetClass="path" presetSubtype="0" accel="50000" decel="50000" fill="hold" grpId="0" nodeType="withEffect">
                                  <p:stCondLst>
                                    <p:cond delay="0"/>
                                  </p:stCondLst>
                                  <p:childTnLst>
                                    <p:animMotion origin="layout" path="M 2.29167E-6 4.81481E-6 L 2.29167E-6 -0.15325 " pathEditMode="relative" rAng="0" ptsTypes="AA">
                                      <p:cBhvr>
                                        <p:cTn id="40" dur="2000" fill="hold"/>
                                        <p:tgtEl>
                                          <p:spTgt spid="14"/>
                                        </p:tgtEl>
                                        <p:attrNameLst>
                                          <p:attrName>ppt_x</p:attrName>
                                          <p:attrName>ppt_y</p:attrName>
                                        </p:attrNameLst>
                                      </p:cBhvr>
                                      <p:rCtr x="0" y="-7662"/>
                                    </p:animMotion>
                                  </p:childTnLst>
                                </p:cTn>
                              </p:par>
                              <p:par>
                                <p:cTn id="41" presetID="10" presetClass="exit" presetSubtype="0" fill="hold" grpId="1" nodeType="withEffect">
                                  <p:stCondLst>
                                    <p:cond delay="0"/>
                                  </p:stCondLst>
                                  <p:childTnLst>
                                    <p:animEffect transition="out" filter="fade">
                                      <p:cBhvr>
                                        <p:cTn id="42" dur="2000"/>
                                        <p:tgtEl>
                                          <p:spTgt spid="14"/>
                                        </p:tgtEl>
                                      </p:cBhvr>
                                    </p:animEffect>
                                    <p:set>
                                      <p:cBhvr>
                                        <p:cTn id="43" dur="1" fill="hold">
                                          <p:stCondLst>
                                            <p:cond delay="1999"/>
                                          </p:stCondLst>
                                        </p:cTn>
                                        <p:tgtEl>
                                          <p:spTgt spid="14"/>
                                        </p:tgtEl>
                                        <p:attrNameLst>
                                          <p:attrName>style.visibility</p:attrName>
                                        </p:attrNameLst>
                                      </p:cBhvr>
                                      <p:to>
                                        <p:strVal val="hidden"/>
                                      </p:to>
                                    </p:set>
                                  </p:childTnLst>
                                </p:cTn>
                              </p:par>
                            </p:childTnLst>
                          </p:cTn>
                        </p:par>
                        <p:par>
                          <p:cTn id="44" fill="hold">
                            <p:stCondLst>
                              <p:cond delay="10000"/>
                            </p:stCondLst>
                            <p:childTnLst>
                              <p:par>
                                <p:cTn id="45" presetID="1" presetClass="entr" presetSubtype="0" fill="hold" grpId="2" nodeType="after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42" presetClass="path" presetSubtype="0" accel="50000" decel="50000" fill="hold" grpId="0" nodeType="withEffect">
                                  <p:stCondLst>
                                    <p:cond delay="0"/>
                                  </p:stCondLst>
                                  <p:childTnLst>
                                    <p:animMotion origin="layout" path="M 2.29167E-6 4.81481E-6 L 2.29167E-6 -0.15325 " pathEditMode="relative" rAng="0" ptsTypes="AA">
                                      <p:cBhvr>
                                        <p:cTn id="48" dur="2000" fill="hold"/>
                                        <p:tgtEl>
                                          <p:spTgt spid="15"/>
                                        </p:tgtEl>
                                        <p:attrNameLst>
                                          <p:attrName>ppt_x</p:attrName>
                                          <p:attrName>ppt_y</p:attrName>
                                        </p:attrNameLst>
                                      </p:cBhvr>
                                      <p:rCtr x="0" y="-7662"/>
                                    </p:animMotion>
                                  </p:childTnLst>
                                </p:cTn>
                              </p:par>
                              <p:par>
                                <p:cTn id="49" presetID="10" presetClass="exit" presetSubtype="0" fill="hold" grpId="1" nodeType="withEffect">
                                  <p:stCondLst>
                                    <p:cond delay="0"/>
                                  </p:stCondLst>
                                  <p:childTnLst>
                                    <p:animEffect transition="out" filter="fade">
                                      <p:cBhvr>
                                        <p:cTn id="50" dur="2000"/>
                                        <p:tgtEl>
                                          <p:spTgt spid="15"/>
                                        </p:tgtEl>
                                      </p:cBhvr>
                                    </p:animEffect>
                                    <p:set>
                                      <p:cBhvr>
                                        <p:cTn id="51" dur="1" fill="hold">
                                          <p:stCondLst>
                                            <p:cond delay="1999"/>
                                          </p:stCondLst>
                                        </p:cTn>
                                        <p:tgtEl>
                                          <p:spTgt spid="15"/>
                                        </p:tgtEl>
                                        <p:attrNameLst>
                                          <p:attrName>style.visibility</p:attrName>
                                        </p:attrNameLst>
                                      </p:cBhvr>
                                      <p:to>
                                        <p:strVal val="hidden"/>
                                      </p:to>
                                    </p:set>
                                  </p:childTnLst>
                                </p:cTn>
                              </p:par>
                            </p:childTnLst>
                          </p:cTn>
                        </p:par>
                        <p:par>
                          <p:cTn id="52" fill="hold">
                            <p:stCondLst>
                              <p:cond delay="12000"/>
                            </p:stCondLst>
                            <p:childTnLst>
                              <p:par>
                                <p:cTn id="53" presetID="1" presetClass="entr" presetSubtype="0" fill="hold" grpId="2" nodeType="after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2.29167E-6 4.81481E-6 L 2.29167E-6 -0.15325 " pathEditMode="relative" rAng="0" ptsTypes="AA">
                                      <p:cBhvr>
                                        <p:cTn id="56" dur="2000" fill="hold"/>
                                        <p:tgtEl>
                                          <p:spTgt spid="18"/>
                                        </p:tgtEl>
                                        <p:attrNameLst>
                                          <p:attrName>ppt_x</p:attrName>
                                          <p:attrName>ppt_y</p:attrName>
                                        </p:attrNameLst>
                                      </p:cBhvr>
                                      <p:rCtr x="0" y="-7662"/>
                                    </p:animMotion>
                                  </p:childTnLst>
                                </p:cTn>
                              </p:par>
                              <p:par>
                                <p:cTn id="57" presetID="10" presetClass="exit" presetSubtype="0" fill="hold" grpId="1" nodeType="withEffect">
                                  <p:stCondLst>
                                    <p:cond delay="0"/>
                                  </p:stCondLst>
                                  <p:childTnLst>
                                    <p:animEffect transition="out" filter="fade">
                                      <p:cBhvr>
                                        <p:cTn id="58" dur="2000"/>
                                        <p:tgtEl>
                                          <p:spTgt spid="18"/>
                                        </p:tgtEl>
                                      </p:cBhvr>
                                    </p:animEffect>
                                    <p:set>
                                      <p:cBhvr>
                                        <p:cTn id="59" dur="1" fill="hold">
                                          <p:stCondLst>
                                            <p:cond delay="1999"/>
                                          </p:stCondLst>
                                        </p:cTn>
                                        <p:tgtEl>
                                          <p:spTgt spid="18"/>
                                        </p:tgtEl>
                                        <p:attrNameLst>
                                          <p:attrName>style.visibility</p:attrName>
                                        </p:attrNameLst>
                                      </p:cBhvr>
                                      <p:to>
                                        <p:strVal val="hidden"/>
                                      </p:to>
                                    </p:set>
                                  </p:childTnLst>
                                </p:cTn>
                              </p:par>
                            </p:childTnLst>
                          </p:cTn>
                        </p:par>
                        <p:par>
                          <p:cTn id="60" fill="hold">
                            <p:stCondLst>
                              <p:cond delay="14000"/>
                            </p:stCondLst>
                            <p:childTnLst>
                              <p:par>
                                <p:cTn id="61" presetID="1" presetClass="entr" presetSubtype="0" fill="hold" grpId="2" nodeType="after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42" presetClass="path" presetSubtype="0" accel="50000" decel="50000" fill="hold" grpId="0" nodeType="withEffect">
                                  <p:stCondLst>
                                    <p:cond delay="0"/>
                                  </p:stCondLst>
                                  <p:childTnLst>
                                    <p:animMotion origin="layout" path="M 2.29167E-6 4.81481E-6 L 2.29167E-6 -0.15325 " pathEditMode="relative" rAng="0" ptsTypes="AA">
                                      <p:cBhvr>
                                        <p:cTn id="64" dur="2000" fill="hold"/>
                                        <p:tgtEl>
                                          <p:spTgt spid="19"/>
                                        </p:tgtEl>
                                        <p:attrNameLst>
                                          <p:attrName>ppt_x</p:attrName>
                                          <p:attrName>ppt_y</p:attrName>
                                        </p:attrNameLst>
                                      </p:cBhvr>
                                      <p:rCtr x="0" y="-7662"/>
                                    </p:animMotion>
                                  </p:childTnLst>
                                </p:cTn>
                              </p:par>
                              <p:par>
                                <p:cTn id="65" presetID="10" presetClass="exit" presetSubtype="0" fill="hold" grpId="1" nodeType="withEffect">
                                  <p:stCondLst>
                                    <p:cond delay="0"/>
                                  </p:stCondLst>
                                  <p:childTnLst>
                                    <p:animEffect transition="out" filter="fade">
                                      <p:cBhvr>
                                        <p:cTn id="66" dur="2000"/>
                                        <p:tgtEl>
                                          <p:spTgt spid="19"/>
                                        </p:tgtEl>
                                      </p:cBhvr>
                                    </p:animEffect>
                                    <p:set>
                                      <p:cBhvr>
                                        <p:cTn id="67" dur="1" fill="hold">
                                          <p:stCondLst>
                                            <p:cond delay="1999"/>
                                          </p:stCondLst>
                                        </p:cTn>
                                        <p:tgtEl>
                                          <p:spTgt spid="19"/>
                                        </p:tgtEl>
                                        <p:attrNameLst>
                                          <p:attrName>style.visibility</p:attrName>
                                        </p:attrNameLst>
                                      </p:cBhvr>
                                      <p:to>
                                        <p:strVal val="hidden"/>
                                      </p:to>
                                    </p:set>
                                  </p:childTnLst>
                                </p:cTn>
                              </p:par>
                            </p:childTnLst>
                          </p:cTn>
                        </p:par>
                        <p:par>
                          <p:cTn id="68" fill="hold">
                            <p:stCondLst>
                              <p:cond delay="16000"/>
                            </p:stCondLst>
                            <p:childTnLst>
                              <p:par>
                                <p:cTn id="69" presetID="1" presetClass="entr" presetSubtype="0" fill="hold" grpId="2" nodeType="after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42" presetClass="path" presetSubtype="0" accel="50000" decel="50000" fill="hold" grpId="0" nodeType="withEffect">
                                  <p:stCondLst>
                                    <p:cond delay="0"/>
                                  </p:stCondLst>
                                  <p:childTnLst>
                                    <p:animMotion origin="layout" path="M 2.29167E-6 4.81481E-6 L 2.29167E-6 -0.15325 " pathEditMode="relative" rAng="0" ptsTypes="AA">
                                      <p:cBhvr>
                                        <p:cTn id="72" dur="2000" fill="hold"/>
                                        <p:tgtEl>
                                          <p:spTgt spid="20"/>
                                        </p:tgtEl>
                                        <p:attrNameLst>
                                          <p:attrName>ppt_x</p:attrName>
                                          <p:attrName>ppt_y</p:attrName>
                                        </p:attrNameLst>
                                      </p:cBhvr>
                                      <p:rCtr x="0" y="-7662"/>
                                    </p:animMotion>
                                  </p:childTnLst>
                                </p:cTn>
                              </p:par>
                              <p:par>
                                <p:cTn id="73" presetID="10" presetClass="exit" presetSubtype="0" fill="hold" grpId="1" nodeType="withEffect">
                                  <p:stCondLst>
                                    <p:cond delay="0"/>
                                  </p:stCondLst>
                                  <p:childTnLst>
                                    <p:animEffect transition="out" filter="fade">
                                      <p:cBhvr>
                                        <p:cTn id="74" dur="2000"/>
                                        <p:tgtEl>
                                          <p:spTgt spid="20"/>
                                        </p:tgtEl>
                                      </p:cBhvr>
                                    </p:animEffect>
                                    <p:set>
                                      <p:cBhvr>
                                        <p:cTn id="75" dur="1" fill="hold">
                                          <p:stCondLst>
                                            <p:cond delay="1999"/>
                                          </p:stCondLst>
                                        </p:cTn>
                                        <p:tgtEl>
                                          <p:spTgt spid="20"/>
                                        </p:tgtEl>
                                        <p:attrNameLst>
                                          <p:attrName>style.visibility</p:attrName>
                                        </p:attrNameLst>
                                      </p:cBhvr>
                                      <p:to>
                                        <p:strVal val="hidden"/>
                                      </p:to>
                                    </p:set>
                                  </p:childTnLst>
                                </p:cTn>
                              </p:par>
                            </p:childTnLst>
                          </p:cTn>
                        </p:par>
                        <p:par>
                          <p:cTn id="76" fill="hold">
                            <p:stCondLst>
                              <p:cond delay="18000"/>
                            </p:stCondLst>
                            <p:childTnLst>
                              <p:par>
                                <p:cTn id="77" presetID="1" presetClass="entr" presetSubtype="0" fill="hold" grpId="2" nodeType="after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par>
                                <p:cTn id="79" presetID="42" presetClass="path" presetSubtype="0" accel="50000" decel="50000" fill="hold" grpId="0" nodeType="withEffect">
                                  <p:stCondLst>
                                    <p:cond delay="0"/>
                                  </p:stCondLst>
                                  <p:childTnLst>
                                    <p:animMotion origin="layout" path="M 2.29167E-6 4.81481E-6 L 2.29167E-6 -0.15325 " pathEditMode="relative" rAng="0" ptsTypes="AA">
                                      <p:cBhvr>
                                        <p:cTn id="80" dur="2000" fill="hold"/>
                                        <p:tgtEl>
                                          <p:spTgt spid="21"/>
                                        </p:tgtEl>
                                        <p:attrNameLst>
                                          <p:attrName>ppt_x</p:attrName>
                                          <p:attrName>ppt_y</p:attrName>
                                        </p:attrNameLst>
                                      </p:cBhvr>
                                      <p:rCtr x="0" y="-7662"/>
                                    </p:animMotion>
                                  </p:childTnLst>
                                </p:cTn>
                              </p:par>
                              <p:par>
                                <p:cTn id="81" presetID="10" presetClass="exit" presetSubtype="0" fill="hold" grpId="1" nodeType="withEffect">
                                  <p:stCondLst>
                                    <p:cond delay="0"/>
                                  </p:stCondLst>
                                  <p:childTnLst>
                                    <p:animEffect transition="out" filter="fade">
                                      <p:cBhvr>
                                        <p:cTn id="82" dur="2000"/>
                                        <p:tgtEl>
                                          <p:spTgt spid="21"/>
                                        </p:tgtEl>
                                      </p:cBhvr>
                                    </p:animEffect>
                                    <p:set>
                                      <p:cBhvr>
                                        <p:cTn id="83" dur="1" fill="hold">
                                          <p:stCondLst>
                                            <p:cond delay="1999"/>
                                          </p:stCondLst>
                                        </p:cTn>
                                        <p:tgtEl>
                                          <p:spTgt spid="21"/>
                                        </p:tgtEl>
                                        <p:attrNameLst>
                                          <p:attrName>style.visibility</p:attrName>
                                        </p:attrNameLst>
                                      </p:cBhvr>
                                      <p:to>
                                        <p:strVal val="hidden"/>
                                      </p:to>
                                    </p:set>
                                  </p:childTnLst>
                                </p:cTn>
                              </p:par>
                            </p:childTnLst>
                          </p:cTn>
                        </p:par>
                        <p:par>
                          <p:cTn id="84" fill="hold">
                            <p:stCondLst>
                              <p:cond delay="20000"/>
                            </p:stCondLst>
                            <p:childTnLst>
                              <p:par>
                                <p:cTn id="85" presetID="1" presetClass="entr" presetSubtype="0" fill="hold" grpId="2" nodeType="afterEffect">
                                  <p:stCondLst>
                                    <p:cond delay="0"/>
                                  </p:stCondLst>
                                  <p:childTnLst>
                                    <p:set>
                                      <p:cBhvr>
                                        <p:cTn id="86" dur="1" fill="hold">
                                          <p:stCondLst>
                                            <p:cond delay="0"/>
                                          </p:stCondLst>
                                        </p:cTn>
                                        <p:tgtEl>
                                          <p:spTgt spid="22"/>
                                        </p:tgtEl>
                                        <p:attrNameLst>
                                          <p:attrName>style.visibility</p:attrName>
                                        </p:attrNameLst>
                                      </p:cBhvr>
                                      <p:to>
                                        <p:strVal val="visible"/>
                                      </p:to>
                                    </p:set>
                                  </p:childTnLst>
                                </p:cTn>
                              </p:par>
                              <p:par>
                                <p:cTn id="87" presetID="42" presetClass="path" presetSubtype="0" accel="50000" decel="50000" fill="hold" grpId="0" nodeType="withEffect">
                                  <p:stCondLst>
                                    <p:cond delay="0"/>
                                  </p:stCondLst>
                                  <p:childTnLst>
                                    <p:animMotion origin="layout" path="M 2.29167E-6 4.81481E-6 L 2.29167E-6 -0.15325 " pathEditMode="relative" rAng="0" ptsTypes="AA">
                                      <p:cBhvr>
                                        <p:cTn id="88" dur="2000" fill="hold"/>
                                        <p:tgtEl>
                                          <p:spTgt spid="22"/>
                                        </p:tgtEl>
                                        <p:attrNameLst>
                                          <p:attrName>ppt_x</p:attrName>
                                          <p:attrName>ppt_y</p:attrName>
                                        </p:attrNameLst>
                                      </p:cBhvr>
                                      <p:rCtr x="0" y="-7662"/>
                                    </p:animMotion>
                                  </p:childTnLst>
                                </p:cTn>
                              </p:par>
                              <p:par>
                                <p:cTn id="89" presetID="10" presetClass="exit" presetSubtype="0" fill="hold" grpId="1" nodeType="withEffect">
                                  <p:stCondLst>
                                    <p:cond delay="0"/>
                                  </p:stCondLst>
                                  <p:childTnLst>
                                    <p:animEffect transition="out" filter="fade">
                                      <p:cBhvr>
                                        <p:cTn id="90" dur="2000"/>
                                        <p:tgtEl>
                                          <p:spTgt spid="22"/>
                                        </p:tgtEl>
                                      </p:cBhvr>
                                    </p:animEffect>
                                    <p:set>
                                      <p:cBhvr>
                                        <p:cTn id="91" dur="1" fill="hold">
                                          <p:stCondLst>
                                            <p:cond delay="1999"/>
                                          </p:stCondLst>
                                        </p:cTn>
                                        <p:tgtEl>
                                          <p:spTgt spid="22"/>
                                        </p:tgtEl>
                                        <p:attrNameLst>
                                          <p:attrName>style.visibility</p:attrName>
                                        </p:attrNameLst>
                                      </p:cBhvr>
                                      <p:to>
                                        <p:strVal val="hidden"/>
                                      </p:to>
                                    </p:set>
                                  </p:childTnLst>
                                </p:cTn>
                              </p:par>
                            </p:childTnLst>
                          </p:cTn>
                        </p:par>
                        <p:par>
                          <p:cTn id="92" fill="hold">
                            <p:stCondLst>
                              <p:cond delay="22000"/>
                            </p:stCondLst>
                            <p:childTnLst>
                              <p:par>
                                <p:cTn id="93" presetID="1" presetClass="entr" presetSubtype="0" fill="hold" grpId="2" nodeType="after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par>
                                <p:cTn id="95" presetID="42" presetClass="path" presetSubtype="0" accel="50000" decel="50000" fill="hold" grpId="0" nodeType="withEffect">
                                  <p:stCondLst>
                                    <p:cond delay="0"/>
                                  </p:stCondLst>
                                  <p:childTnLst>
                                    <p:animMotion origin="layout" path="M 2.29167E-6 4.81481E-6 L 2.29167E-6 -0.15325 " pathEditMode="relative" rAng="0" ptsTypes="AA">
                                      <p:cBhvr>
                                        <p:cTn id="96" dur="2000" fill="hold"/>
                                        <p:tgtEl>
                                          <p:spTgt spid="23"/>
                                        </p:tgtEl>
                                        <p:attrNameLst>
                                          <p:attrName>ppt_x</p:attrName>
                                          <p:attrName>ppt_y</p:attrName>
                                        </p:attrNameLst>
                                      </p:cBhvr>
                                      <p:rCtr x="0" y="-7662"/>
                                    </p:animMotion>
                                  </p:childTnLst>
                                </p:cTn>
                              </p:par>
                              <p:par>
                                <p:cTn id="97" presetID="10" presetClass="exit" presetSubtype="0" fill="hold" grpId="1" nodeType="withEffect">
                                  <p:stCondLst>
                                    <p:cond delay="0"/>
                                  </p:stCondLst>
                                  <p:childTnLst>
                                    <p:animEffect transition="out" filter="fade">
                                      <p:cBhvr>
                                        <p:cTn id="98" dur="2000"/>
                                        <p:tgtEl>
                                          <p:spTgt spid="23"/>
                                        </p:tgtEl>
                                      </p:cBhvr>
                                    </p:animEffect>
                                    <p:set>
                                      <p:cBhvr>
                                        <p:cTn id="99" dur="1" fill="hold">
                                          <p:stCondLst>
                                            <p:cond delay="1999"/>
                                          </p:stCondLst>
                                        </p:cTn>
                                        <p:tgtEl>
                                          <p:spTgt spid="23"/>
                                        </p:tgtEl>
                                        <p:attrNameLst>
                                          <p:attrName>style.visibility</p:attrName>
                                        </p:attrNameLst>
                                      </p:cBhvr>
                                      <p:to>
                                        <p:strVal val="hidden"/>
                                      </p:to>
                                    </p:set>
                                  </p:childTnLst>
                                </p:cTn>
                              </p:par>
                            </p:childTnLst>
                          </p:cTn>
                        </p:par>
                        <p:par>
                          <p:cTn id="100" fill="hold">
                            <p:stCondLst>
                              <p:cond delay="24000"/>
                            </p:stCondLst>
                            <p:childTnLst>
                              <p:par>
                                <p:cTn id="101" presetID="42" presetClass="path" presetSubtype="0" accel="50000" decel="50000" fill="hold" nodeType="afterEffect">
                                  <p:stCondLst>
                                    <p:cond delay="0"/>
                                  </p:stCondLst>
                                  <p:childTnLst>
                                    <p:animMotion origin="layout" path="M 1.875E-6 -3.33333E-6 L 0.49219 -0.00324 " pathEditMode="relative" rAng="0" ptsTypes="AA">
                                      <p:cBhvr>
                                        <p:cTn id="102" dur="2000" fill="hold"/>
                                        <p:tgtEl>
                                          <p:spTgt spid="24"/>
                                        </p:tgtEl>
                                        <p:attrNameLst>
                                          <p:attrName>ppt_x</p:attrName>
                                          <p:attrName>ppt_y</p:attrName>
                                        </p:attrNameLst>
                                      </p:cBhvr>
                                      <p:rCtr x="24609" y="-162"/>
                                    </p:animMotion>
                                  </p:childTnLst>
                                </p:cTn>
                              </p:par>
                            </p:childTnLst>
                          </p:cTn>
                        </p:par>
                        <p:par>
                          <p:cTn id="103" fill="hold">
                            <p:stCondLst>
                              <p:cond delay="26000"/>
                            </p:stCondLst>
                            <p:childTnLst>
                              <p:par>
                                <p:cTn id="104" presetID="1" presetClass="entr" presetSubtype="0" fill="hold" nodeType="afterEffect">
                                  <p:stCondLst>
                                    <p:cond delay="0"/>
                                  </p:stCondLst>
                                  <p:childTnLst>
                                    <p:set>
                                      <p:cBhvr>
                                        <p:cTn id="105" dur="1" fill="hold">
                                          <p:stCondLst>
                                            <p:cond delay="0"/>
                                          </p:stCondLst>
                                        </p:cTn>
                                        <p:tgtEl>
                                          <p:spTgt spid="25"/>
                                        </p:tgtEl>
                                        <p:attrNameLst>
                                          <p:attrName>style.visibility</p:attrName>
                                        </p:attrNameLst>
                                      </p:cBhvr>
                                      <p:to>
                                        <p:strVal val="visible"/>
                                      </p:to>
                                    </p:set>
                                  </p:childTnLst>
                                </p:cTn>
                              </p:par>
                            </p:childTnLst>
                          </p:cTn>
                        </p:par>
                        <p:par>
                          <p:cTn id="106" fill="hold">
                            <p:stCondLst>
                              <p:cond delay="26000"/>
                            </p:stCondLst>
                            <p:childTnLst>
                              <p:par>
                                <p:cTn id="107" presetID="1" presetClass="entr" presetSubtype="0" fill="hold" nodeType="afterEffect">
                                  <p:stCondLst>
                                    <p:cond delay="0"/>
                                  </p:stCondLst>
                                  <p:childTnLst>
                                    <p:set>
                                      <p:cBhvr>
                                        <p:cTn id="108" dur="1" fill="hold">
                                          <p:stCondLst>
                                            <p:cond delay="0"/>
                                          </p:stCondLst>
                                        </p:cTn>
                                        <p:tgtEl>
                                          <p:spTgt spid="26"/>
                                        </p:tgtEl>
                                        <p:attrNameLst>
                                          <p:attrName>style.visibility</p:attrName>
                                        </p:attrNameLst>
                                      </p:cBhvr>
                                      <p:to>
                                        <p:strVal val="visible"/>
                                      </p:to>
                                    </p:set>
                                  </p:childTnLst>
                                </p:cTn>
                              </p:par>
                            </p:childTnLst>
                          </p:cTn>
                        </p:par>
                        <p:par>
                          <p:cTn id="109" fill="hold">
                            <p:stCondLst>
                              <p:cond delay="26000"/>
                            </p:stCondLst>
                            <p:childTnLst>
                              <p:par>
                                <p:cTn id="110" presetID="1" presetClass="entr" presetSubtype="0" fill="hold" grpId="2" nodeType="afterEffect">
                                  <p:stCondLst>
                                    <p:cond delay="1000"/>
                                  </p:stCondLst>
                                  <p:childTnLst>
                                    <p:set>
                                      <p:cBhvr>
                                        <p:cTn id="111" dur="1" fill="hold">
                                          <p:stCondLst>
                                            <p:cond delay="0"/>
                                          </p:stCondLst>
                                        </p:cTn>
                                        <p:tgtEl>
                                          <p:spTgt spid="27"/>
                                        </p:tgtEl>
                                        <p:attrNameLst>
                                          <p:attrName>style.visibility</p:attrName>
                                        </p:attrNameLst>
                                      </p:cBhvr>
                                      <p:to>
                                        <p:strVal val="visible"/>
                                      </p:to>
                                    </p:set>
                                  </p:childTnLst>
                                </p:cTn>
                              </p:par>
                              <p:par>
                                <p:cTn id="112" presetID="42" presetClass="path" presetSubtype="0" accel="50000" decel="50000" fill="hold" grpId="0" nodeType="withEffect">
                                  <p:stCondLst>
                                    <p:cond delay="0"/>
                                  </p:stCondLst>
                                  <p:childTnLst>
                                    <p:animMotion origin="layout" path="M -2.08333E-7 -2.22222E-6 L -2.08333E-7 -0.15324 " pathEditMode="relative" rAng="0" ptsTypes="AA">
                                      <p:cBhvr>
                                        <p:cTn id="113" dur="2000" fill="hold"/>
                                        <p:tgtEl>
                                          <p:spTgt spid="27"/>
                                        </p:tgtEl>
                                        <p:attrNameLst>
                                          <p:attrName>ppt_x</p:attrName>
                                          <p:attrName>ppt_y</p:attrName>
                                        </p:attrNameLst>
                                      </p:cBhvr>
                                      <p:rCtr x="0" y="-7662"/>
                                    </p:animMotion>
                                  </p:childTnLst>
                                </p:cTn>
                              </p:par>
                              <p:par>
                                <p:cTn id="114" presetID="10" presetClass="exit" presetSubtype="0" fill="hold" grpId="1" nodeType="withEffect">
                                  <p:stCondLst>
                                    <p:cond delay="0"/>
                                  </p:stCondLst>
                                  <p:childTnLst>
                                    <p:animEffect transition="out" filter="fade">
                                      <p:cBhvr>
                                        <p:cTn id="115" dur="2000"/>
                                        <p:tgtEl>
                                          <p:spTgt spid="27"/>
                                        </p:tgtEl>
                                      </p:cBhvr>
                                    </p:animEffect>
                                    <p:set>
                                      <p:cBhvr>
                                        <p:cTn id="116" dur="1" fill="hold">
                                          <p:stCondLst>
                                            <p:cond delay="1999"/>
                                          </p:stCondLst>
                                        </p:cTn>
                                        <p:tgtEl>
                                          <p:spTgt spid="27"/>
                                        </p:tgtEl>
                                        <p:attrNameLst>
                                          <p:attrName>style.visibility</p:attrName>
                                        </p:attrNameLst>
                                      </p:cBhvr>
                                      <p:to>
                                        <p:strVal val="hidden"/>
                                      </p:to>
                                    </p:set>
                                  </p:childTnLst>
                                </p:cTn>
                              </p:par>
                            </p:childTnLst>
                          </p:cTn>
                        </p:par>
                        <p:par>
                          <p:cTn id="117" fill="hold">
                            <p:stCondLst>
                              <p:cond delay="28000"/>
                            </p:stCondLst>
                            <p:childTnLst>
                              <p:par>
                                <p:cTn id="118" presetID="1" presetClass="entr" presetSubtype="0" fill="hold" grpId="2" nodeType="afterEffect">
                                  <p:stCondLst>
                                    <p:cond delay="0"/>
                                  </p:stCondLst>
                                  <p:childTnLst>
                                    <p:set>
                                      <p:cBhvr>
                                        <p:cTn id="119" dur="1" fill="hold">
                                          <p:stCondLst>
                                            <p:cond delay="0"/>
                                          </p:stCondLst>
                                        </p:cTn>
                                        <p:tgtEl>
                                          <p:spTgt spid="28"/>
                                        </p:tgtEl>
                                        <p:attrNameLst>
                                          <p:attrName>style.visibility</p:attrName>
                                        </p:attrNameLst>
                                      </p:cBhvr>
                                      <p:to>
                                        <p:strVal val="visible"/>
                                      </p:to>
                                    </p:set>
                                  </p:childTnLst>
                                </p:cTn>
                              </p:par>
                              <p:par>
                                <p:cTn id="120" presetID="42" presetClass="path" presetSubtype="0" accel="50000" decel="50000" fill="hold" grpId="0" nodeType="withEffect">
                                  <p:stCondLst>
                                    <p:cond delay="0"/>
                                  </p:stCondLst>
                                  <p:childTnLst>
                                    <p:animMotion origin="layout" path="M -2.08333E-7 -2.22222E-6 L -2.08333E-7 -0.15324 " pathEditMode="relative" rAng="0" ptsTypes="AA">
                                      <p:cBhvr>
                                        <p:cTn id="121" dur="2000" fill="hold"/>
                                        <p:tgtEl>
                                          <p:spTgt spid="28"/>
                                        </p:tgtEl>
                                        <p:attrNameLst>
                                          <p:attrName>ppt_x</p:attrName>
                                          <p:attrName>ppt_y</p:attrName>
                                        </p:attrNameLst>
                                      </p:cBhvr>
                                      <p:rCtr x="0" y="-7662"/>
                                    </p:animMotion>
                                  </p:childTnLst>
                                </p:cTn>
                              </p:par>
                              <p:par>
                                <p:cTn id="122" presetID="10" presetClass="exit" presetSubtype="0" fill="hold" grpId="1" nodeType="withEffect">
                                  <p:stCondLst>
                                    <p:cond delay="0"/>
                                  </p:stCondLst>
                                  <p:childTnLst>
                                    <p:animEffect transition="out" filter="fade">
                                      <p:cBhvr>
                                        <p:cTn id="123" dur="2000"/>
                                        <p:tgtEl>
                                          <p:spTgt spid="28"/>
                                        </p:tgtEl>
                                      </p:cBhvr>
                                    </p:animEffect>
                                    <p:set>
                                      <p:cBhvr>
                                        <p:cTn id="124" dur="1" fill="hold">
                                          <p:stCondLst>
                                            <p:cond delay="1999"/>
                                          </p:stCondLst>
                                        </p:cTn>
                                        <p:tgtEl>
                                          <p:spTgt spid="28"/>
                                        </p:tgtEl>
                                        <p:attrNameLst>
                                          <p:attrName>style.visibility</p:attrName>
                                        </p:attrNameLst>
                                      </p:cBhvr>
                                      <p:to>
                                        <p:strVal val="hidden"/>
                                      </p:to>
                                    </p:set>
                                  </p:childTnLst>
                                </p:cTn>
                              </p:par>
                            </p:childTnLst>
                          </p:cTn>
                        </p:par>
                        <p:par>
                          <p:cTn id="125" fill="hold">
                            <p:stCondLst>
                              <p:cond delay="30000"/>
                            </p:stCondLst>
                            <p:childTnLst>
                              <p:par>
                                <p:cTn id="126" presetID="1" presetClass="entr" presetSubtype="0" fill="hold" grpId="2" nodeType="afterEffect">
                                  <p:stCondLst>
                                    <p:cond delay="0"/>
                                  </p:stCondLst>
                                  <p:childTnLst>
                                    <p:set>
                                      <p:cBhvr>
                                        <p:cTn id="127" dur="1" fill="hold">
                                          <p:stCondLst>
                                            <p:cond delay="0"/>
                                          </p:stCondLst>
                                        </p:cTn>
                                        <p:tgtEl>
                                          <p:spTgt spid="29"/>
                                        </p:tgtEl>
                                        <p:attrNameLst>
                                          <p:attrName>style.visibility</p:attrName>
                                        </p:attrNameLst>
                                      </p:cBhvr>
                                      <p:to>
                                        <p:strVal val="visible"/>
                                      </p:to>
                                    </p:set>
                                  </p:childTnLst>
                                </p:cTn>
                              </p:par>
                              <p:par>
                                <p:cTn id="128" presetID="42" presetClass="path" presetSubtype="0" accel="50000" decel="50000" fill="hold" grpId="0" nodeType="withEffect">
                                  <p:stCondLst>
                                    <p:cond delay="0"/>
                                  </p:stCondLst>
                                  <p:childTnLst>
                                    <p:animMotion origin="layout" path="M -2.08333E-7 -2.22222E-6 L -2.08333E-7 -0.15324 " pathEditMode="relative" rAng="0" ptsTypes="AA">
                                      <p:cBhvr>
                                        <p:cTn id="129" dur="2000" fill="hold"/>
                                        <p:tgtEl>
                                          <p:spTgt spid="29"/>
                                        </p:tgtEl>
                                        <p:attrNameLst>
                                          <p:attrName>ppt_x</p:attrName>
                                          <p:attrName>ppt_y</p:attrName>
                                        </p:attrNameLst>
                                      </p:cBhvr>
                                      <p:rCtr x="0" y="-7662"/>
                                    </p:animMotion>
                                  </p:childTnLst>
                                </p:cTn>
                              </p:par>
                              <p:par>
                                <p:cTn id="130" presetID="10" presetClass="exit" presetSubtype="0" fill="hold" grpId="1" nodeType="withEffect">
                                  <p:stCondLst>
                                    <p:cond delay="0"/>
                                  </p:stCondLst>
                                  <p:childTnLst>
                                    <p:animEffect transition="out" filter="fade">
                                      <p:cBhvr>
                                        <p:cTn id="131" dur="2000"/>
                                        <p:tgtEl>
                                          <p:spTgt spid="29"/>
                                        </p:tgtEl>
                                      </p:cBhvr>
                                    </p:animEffect>
                                    <p:set>
                                      <p:cBhvr>
                                        <p:cTn id="132" dur="1" fill="hold">
                                          <p:stCondLst>
                                            <p:cond delay="1999"/>
                                          </p:stCondLst>
                                        </p:cTn>
                                        <p:tgtEl>
                                          <p:spTgt spid="29"/>
                                        </p:tgtEl>
                                        <p:attrNameLst>
                                          <p:attrName>style.visibility</p:attrName>
                                        </p:attrNameLst>
                                      </p:cBhvr>
                                      <p:to>
                                        <p:strVal val="hidden"/>
                                      </p:to>
                                    </p:set>
                                  </p:childTnLst>
                                </p:cTn>
                              </p:par>
                            </p:childTnLst>
                          </p:cTn>
                        </p:par>
                        <p:par>
                          <p:cTn id="133" fill="hold">
                            <p:stCondLst>
                              <p:cond delay="32000"/>
                            </p:stCondLst>
                            <p:childTnLst>
                              <p:par>
                                <p:cTn id="134" presetID="1" presetClass="entr" presetSubtype="0" fill="hold" grpId="2" nodeType="afterEffect">
                                  <p:stCondLst>
                                    <p:cond delay="0"/>
                                  </p:stCondLst>
                                  <p:childTnLst>
                                    <p:set>
                                      <p:cBhvr>
                                        <p:cTn id="135" dur="1" fill="hold">
                                          <p:stCondLst>
                                            <p:cond delay="0"/>
                                          </p:stCondLst>
                                        </p:cTn>
                                        <p:tgtEl>
                                          <p:spTgt spid="30"/>
                                        </p:tgtEl>
                                        <p:attrNameLst>
                                          <p:attrName>style.visibility</p:attrName>
                                        </p:attrNameLst>
                                      </p:cBhvr>
                                      <p:to>
                                        <p:strVal val="visible"/>
                                      </p:to>
                                    </p:set>
                                  </p:childTnLst>
                                </p:cTn>
                              </p:par>
                              <p:par>
                                <p:cTn id="136" presetID="42" presetClass="path" presetSubtype="0" accel="50000" decel="50000" fill="hold" grpId="0" nodeType="withEffect">
                                  <p:stCondLst>
                                    <p:cond delay="0"/>
                                  </p:stCondLst>
                                  <p:childTnLst>
                                    <p:animMotion origin="layout" path="M -2.08333E-7 -2.22222E-6 L -2.08333E-7 -0.15324 " pathEditMode="relative" rAng="0" ptsTypes="AA">
                                      <p:cBhvr>
                                        <p:cTn id="137" dur="2000" fill="hold"/>
                                        <p:tgtEl>
                                          <p:spTgt spid="30"/>
                                        </p:tgtEl>
                                        <p:attrNameLst>
                                          <p:attrName>ppt_x</p:attrName>
                                          <p:attrName>ppt_y</p:attrName>
                                        </p:attrNameLst>
                                      </p:cBhvr>
                                      <p:rCtr x="0" y="-7662"/>
                                    </p:animMotion>
                                  </p:childTnLst>
                                </p:cTn>
                              </p:par>
                              <p:par>
                                <p:cTn id="138" presetID="10" presetClass="exit" presetSubtype="0" fill="hold" grpId="1" nodeType="withEffect">
                                  <p:stCondLst>
                                    <p:cond delay="0"/>
                                  </p:stCondLst>
                                  <p:childTnLst>
                                    <p:animEffect transition="out" filter="fade">
                                      <p:cBhvr>
                                        <p:cTn id="139" dur="2000"/>
                                        <p:tgtEl>
                                          <p:spTgt spid="30"/>
                                        </p:tgtEl>
                                      </p:cBhvr>
                                    </p:animEffect>
                                    <p:set>
                                      <p:cBhvr>
                                        <p:cTn id="140" dur="1" fill="hold">
                                          <p:stCondLst>
                                            <p:cond delay="1999"/>
                                          </p:stCondLst>
                                        </p:cTn>
                                        <p:tgtEl>
                                          <p:spTgt spid="30"/>
                                        </p:tgtEl>
                                        <p:attrNameLst>
                                          <p:attrName>style.visibility</p:attrName>
                                        </p:attrNameLst>
                                      </p:cBhvr>
                                      <p:to>
                                        <p:strVal val="hidden"/>
                                      </p:to>
                                    </p:set>
                                  </p:childTnLst>
                                </p:cTn>
                              </p:par>
                            </p:childTnLst>
                          </p:cTn>
                        </p:par>
                        <p:par>
                          <p:cTn id="141" fill="hold">
                            <p:stCondLst>
                              <p:cond delay="34000"/>
                            </p:stCondLst>
                            <p:childTnLst>
                              <p:par>
                                <p:cTn id="142" presetID="1" presetClass="entr" presetSubtype="0" fill="hold" grpId="2" nodeType="afterEffect">
                                  <p:stCondLst>
                                    <p:cond delay="0"/>
                                  </p:stCondLst>
                                  <p:childTnLst>
                                    <p:set>
                                      <p:cBhvr>
                                        <p:cTn id="143" dur="1" fill="hold">
                                          <p:stCondLst>
                                            <p:cond delay="0"/>
                                          </p:stCondLst>
                                        </p:cTn>
                                        <p:tgtEl>
                                          <p:spTgt spid="31"/>
                                        </p:tgtEl>
                                        <p:attrNameLst>
                                          <p:attrName>style.visibility</p:attrName>
                                        </p:attrNameLst>
                                      </p:cBhvr>
                                      <p:to>
                                        <p:strVal val="visible"/>
                                      </p:to>
                                    </p:set>
                                  </p:childTnLst>
                                </p:cTn>
                              </p:par>
                              <p:par>
                                <p:cTn id="144" presetID="42" presetClass="path" presetSubtype="0" accel="50000" decel="50000" fill="hold" grpId="0" nodeType="withEffect">
                                  <p:stCondLst>
                                    <p:cond delay="0"/>
                                  </p:stCondLst>
                                  <p:childTnLst>
                                    <p:animMotion origin="layout" path="M -2.08333E-7 -2.22222E-6 L -2.08333E-7 -0.15324 " pathEditMode="relative" rAng="0" ptsTypes="AA">
                                      <p:cBhvr>
                                        <p:cTn id="145" dur="2000" fill="hold"/>
                                        <p:tgtEl>
                                          <p:spTgt spid="31"/>
                                        </p:tgtEl>
                                        <p:attrNameLst>
                                          <p:attrName>ppt_x</p:attrName>
                                          <p:attrName>ppt_y</p:attrName>
                                        </p:attrNameLst>
                                      </p:cBhvr>
                                      <p:rCtr x="0" y="-7662"/>
                                    </p:animMotion>
                                  </p:childTnLst>
                                </p:cTn>
                              </p:par>
                              <p:par>
                                <p:cTn id="146" presetID="10" presetClass="exit" presetSubtype="0" fill="hold" grpId="1" nodeType="withEffect">
                                  <p:stCondLst>
                                    <p:cond delay="0"/>
                                  </p:stCondLst>
                                  <p:childTnLst>
                                    <p:animEffect transition="out" filter="fade">
                                      <p:cBhvr>
                                        <p:cTn id="147" dur="2000"/>
                                        <p:tgtEl>
                                          <p:spTgt spid="31"/>
                                        </p:tgtEl>
                                      </p:cBhvr>
                                    </p:animEffect>
                                    <p:set>
                                      <p:cBhvr>
                                        <p:cTn id="148" dur="1" fill="hold">
                                          <p:stCondLst>
                                            <p:cond delay="1999"/>
                                          </p:stCondLst>
                                        </p:cTn>
                                        <p:tgtEl>
                                          <p:spTgt spid="31"/>
                                        </p:tgtEl>
                                        <p:attrNameLst>
                                          <p:attrName>style.visibility</p:attrName>
                                        </p:attrNameLst>
                                      </p:cBhvr>
                                      <p:to>
                                        <p:strVal val="hidden"/>
                                      </p:to>
                                    </p:set>
                                  </p:childTnLst>
                                </p:cTn>
                              </p:par>
                            </p:childTnLst>
                          </p:cTn>
                        </p:par>
                        <p:par>
                          <p:cTn id="149" fill="hold">
                            <p:stCondLst>
                              <p:cond delay="36000"/>
                            </p:stCondLst>
                            <p:childTnLst>
                              <p:par>
                                <p:cTn id="150" presetID="1" presetClass="entr" presetSubtype="0" fill="hold" grpId="2" nodeType="afterEffect">
                                  <p:stCondLst>
                                    <p:cond delay="0"/>
                                  </p:stCondLst>
                                  <p:childTnLst>
                                    <p:set>
                                      <p:cBhvr>
                                        <p:cTn id="151" dur="1" fill="hold">
                                          <p:stCondLst>
                                            <p:cond delay="0"/>
                                          </p:stCondLst>
                                        </p:cTn>
                                        <p:tgtEl>
                                          <p:spTgt spid="32"/>
                                        </p:tgtEl>
                                        <p:attrNameLst>
                                          <p:attrName>style.visibility</p:attrName>
                                        </p:attrNameLst>
                                      </p:cBhvr>
                                      <p:to>
                                        <p:strVal val="visible"/>
                                      </p:to>
                                    </p:set>
                                  </p:childTnLst>
                                </p:cTn>
                              </p:par>
                              <p:par>
                                <p:cTn id="152" presetID="42" presetClass="path" presetSubtype="0" accel="50000" decel="50000" fill="hold" grpId="0" nodeType="withEffect">
                                  <p:stCondLst>
                                    <p:cond delay="0"/>
                                  </p:stCondLst>
                                  <p:childTnLst>
                                    <p:animMotion origin="layout" path="M -2.08333E-7 -2.22222E-6 L -2.08333E-7 -0.15324 " pathEditMode="relative" rAng="0" ptsTypes="AA">
                                      <p:cBhvr>
                                        <p:cTn id="153" dur="2000" fill="hold"/>
                                        <p:tgtEl>
                                          <p:spTgt spid="32"/>
                                        </p:tgtEl>
                                        <p:attrNameLst>
                                          <p:attrName>ppt_x</p:attrName>
                                          <p:attrName>ppt_y</p:attrName>
                                        </p:attrNameLst>
                                      </p:cBhvr>
                                      <p:rCtr x="0" y="-7662"/>
                                    </p:animMotion>
                                  </p:childTnLst>
                                </p:cTn>
                              </p:par>
                              <p:par>
                                <p:cTn id="154" presetID="10" presetClass="exit" presetSubtype="0" fill="hold" grpId="1" nodeType="withEffect">
                                  <p:stCondLst>
                                    <p:cond delay="0"/>
                                  </p:stCondLst>
                                  <p:childTnLst>
                                    <p:animEffect transition="out" filter="fade">
                                      <p:cBhvr>
                                        <p:cTn id="155" dur="2000"/>
                                        <p:tgtEl>
                                          <p:spTgt spid="32"/>
                                        </p:tgtEl>
                                      </p:cBhvr>
                                    </p:animEffect>
                                    <p:set>
                                      <p:cBhvr>
                                        <p:cTn id="156" dur="1" fill="hold">
                                          <p:stCondLst>
                                            <p:cond delay="1999"/>
                                          </p:stCondLst>
                                        </p:cTn>
                                        <p:tgtEl>
                                          <p:spTgt spid="32"/>
                                        </p:tgtEl>
                                        <p:attrNameLst>
                                          <p:attrName>style.visibility</p:attrName>
                                        </p:attrNameLst>
                                      </p:cBhvr>
                                      <p:to>
                                        <p:strVal val="hidden"/>
                                      </p:to>
                                    </p:set>
                                  </p:childTnLst>
                                </p:cTn>
                              </p:par>
                            </p:childTnLst>
                          </p:cTn>
                        </p:par>
                        <p:par>
                          <p:cTn id="157" fill="hold">
                            <p:stCondLst>
                              <p:cond delay="38000"/>
                            </p:stCondLst>
                            <p:childTnLst>
                              <p:par>
                                <p:cTn id="158" presetID="1" presetClass="entr" presetSubtype="0" fill="hold" grpId="2" nodeType="afterEffect">
                                  <p:stCondLst>
                                    <p:cond delay="0"/>
                                  </p:stCondLst>
                                  <p:childTnLst>
                                    <p:set>
                                      <p:cBhvr>
                                        <p:cTn id="159" dur="1" fill="hold">
                                          <p:stCondLst>
                                            <p:cond delay="0"/>
                                          </p:stCondLst>
                                        </p:cTn>
                                        <p:tgtEl>
                                          <p:spTgt spid="33"/>
                                        </p:tgtEl>
                                        <p:attrNameLst>
                                          <p:attrName>style.visibility</p:attrName>
                                        </p:attrNameLst>
                                      </p:cBhvr>
                                      <p:to>
                                        <p:strVal val="visible"/>
                                      </p:to>
                                    </p:set>
                                  </p:childTnLst>
                                </p:cTn>
                              </p:par>
                              <p:par>
                                <p:cTn id="160" presetID="42" presetClass="path" presetSubtype="0" accel="50000" decel="50000" fill="hold" grpId="0" nodeType="withEffect">
                                  <p:stCondLst>
                                    <p:cond delay="0"/>
                                  </p:stCondLst>
                                  <p:childTnLst>
                                    <p:animMotion origin="layout" path="M -2.08333E-7 -2.22222E-6 L -2.08333E-7 -0.15324 " pathEditMode="relative" rAng="0" ptsTypes="AA">
                                      <p:cBhvr>
                                        <p:cTn id="161" dur="2000" fill="hold"/>
                                        <p:tgtEl>
                                          <p:spTgt spid="33"/>
                                        </p:tgtEl>
                                        <p:attrNameLst>
                                          <p:attrName>ppt_x</p:attrName>
                                          <p:attrName>ppt_y</p:attrName>
                                        </p:attrNameLst>
                                      </p:cBhvr>
                                      <p:rCtr x="0" y="-7662"/>
                                    </p:animMotion>
                                  </p:childTnLst>
                                </p:cTn>
                              </p:par>
                              <p:par>
                                <p:cTn id="162" presetID="10" presetClass="exit" presetSubtype="0" fill="hold" grpId="1" nodeType="withEffect">
                                  <p:stCondLst>
                                    <p:cond delay="0"/>
                                  </p:stCondLst>
                                  <p:childTnLst>
                                    <p:animEffect transition="out" filter="fade">
                                      <p:cBhvr>
                                        <p:cTn id="163" dur="2000"/>
                                        <p:tgtEl>
                                          <p:spTgt spid="33"/>
                                        </p:tgtEl>
                                      </p:cBhvr>
                                    </p:animEffect>
                                    <p:set>
                                      <p:cBhvr>
                                        <p:cTn id="164" dur="1" fill="hold">
                                          <p:stCondLst>
                                            <p:cond delay="1999"/>
                                          </p:stCondLst>
                                        </p:cTn>
                                        <p:tgtEl>
                                          <p:spTgt spid="33"/>
                                        </p:tgtEl>
                                        <p:attrNameLst>
                                          <p:attrName>style.visibility</p:attrName>
                                        </p:attrNameLst>
                                      </p:cBhvr>
                                      <p:to>
                                        <p:strVal val="hidden"/>
                                      </p:to>
                                    </p:set>
                                  </p:childTnLst>
                                </p:cTn>
                              </p:par>
                            </p:childTnLst>
                          </p:cTn>
                        </p:par>
                        <p:par>
                          <p:cTn id="165" fill="hold">
                            <p:stCondLst>
                              <p:cond delay="40000"/>
                            </p:stCondLst>
                            <p:childTnLst>
                              <p:par>
                                <p:cTn id="166" presetID="1" presetClass="entr" presetSubtype="0" fill="hold" grpId="2" nodeType="afterEffect">
                                  <p:stCondLst>
                                    <p:cond delay="0"/>
                                  </p:stCondLst>
                                  <p:childTnLst>
                                    <p:set>
                                      <p:cBhvr>
                                        <p:cTn id="167" dur="1" fill="hold">
                                          <p:stCondLst>
                                            <p:cond delay="0"/>
                                          </p:stCondLst>
                                        </p:cTn>
                                        <p:tgtEl>
                                          <p:spTgt spid="34"/>
                                        </p:tgtEl>
                                        <p:attrNameLst>
                                          <p:attrName>style.visibility</p:attrName>
                                        </p:attrNameLst>
                                      </p:cBhvr>
                                      <p:to>
                                        <p:strVal val="visible"/>
                                      </p:to>
                                    </p:set>
                                  </p:childTnLst>
                                </p:cTn>
                              </p:par>
                              <p:par>
                                <p:cTn id="168" presetID="42" presetClass="path" presetSubtype="0" accel="50000" decel="50000" fill="hold" grpId="0" nodeType="withEffect">
                                  <p:stCondLst>
                                    <p:cond delay="0"/>
                                  </p:stCondLst>
                                  <p:childTnLst>
                                    <p:animMotion origin="layout" path="M -2.08333E-7 -2.22222E-6 L -2.08333E-7 -0.15324 " pathEditMode="relative" rAng="0" ptsTypes="AA">
                                      <p:cBhvr>
                                        <p:cTn id="169" dur="2000" fill="hold"/>
                                        <p:tgtEl>
                                          <p:spTgt spid="34"/>
                                        </p:tgtEl>
                                        <p:attrNameLst>
                                          <p:attrName>ppt_x</p:attrName>
                                          <p:attrName>ppt_y</p:attrName>
                                        </p:attrNameLst>
                                      </p:cBhvr>
                                      <p:rCtr x="0" y="-7662"/>
                                    </p:animMotion>
                                  </p:childTnLst>
                                </p:cTn>
                              </p:par>
                              <p:par>
                                <p:cTn id="170" presetID="10" presetClass="exit" presetSubtype="0" fill="hold" grpId="1" nodeType="withEffect">
                                  <p:stCondLst>
                                    <p:cond delay="0"/>
                                  </p:stCondLst>
                                  <p:childTnLst>
                                    <p:animEffect transition="out" filter="fade">
                                      <p:cBhvr>
                                        <p:cTn id="171" dur="2000"/>
                                        <p:tgtEl>
                                          <p:spTgt spid="34"/>
                                        </p:tgtEl>
                                      </p:cBhvr>
                                    </p:animEffect>
                                    <p:set>
                                      <p:cBhvr>
                                        <p:cTn id="172" dur="1" fill="hold">
                                          <p:stCondLst>
                                            <p:cond delay="1999"/>
                                          </p:stCondLst>
                                        </p:cTn>
                                        <p:tgtEl>
                                          <p:spTgt spid="34"/>
                                        </p:tgtEl>
                                        <p:attrNameLst>
                                          <p:attrName>style.visibility</p:attrName>
                                        </p:attrNameLst>
                                      </p:cBhvr>
                                      <p:to>
                                        <p:strVal val="hidden"/>
                                      </p:to>
                                    </p:set>
                                  </p:childTnLst>
                                </p:cTn>
                              </p:par>
                            </p:childTnLst>
                          </p:cTn>
                        </p:par>
                        <p:par>
                          <p:cTn id="173" fill="hold">
                            <p:stCondLst>
                              <p:cond delay="42000"/>
                            </p:stCondLst>
                            <p:childTnLst>
                              <p:par>
                                <p:cTn id="174" presetID="1" presetClass="entr" presetSubtype="0" fill="hold" grpId="2" nodeType="afterEffect">
                                  <p:stCondLst>
                                    <p:cond delay="0"/>
                                  </p:stCondLst>
                                  <p:childTnLst>
                                    <p:set>
                                      <p:cBhvr>
                                        <p:cTn id="175" dur="1" fill="hold">
                                          <p:stCondLst>
                                            <p:cond delay="0"/>
                                          </p:stCondLst>
                                        </p:cTn>
                                        <p:tgtEl>
                                          <p:spTgt spid="35"/>
                                        </p:tgtEl>
                                        <p:attrNameLst>
                                          <p:attrName>style.visibility</p:attrName>
                                        </p:attrNameLst>
                                      </p:cBhvr>
                                      <p:to>
                                        <p:strVal val="visible"/>
                                      </p:to>
                                    </p:set>
                                  </p:childTnLst>
                                </p:cTn>
                              </p:par>
                              <p:par>
                                <p:cTn id="176" presetID="42" presetClass="path" presetSubtype="0" accel="50000" decel="50000" fill="hold" grpId="0" nodeType="withEffect">
                                  <p:stCondLst>
                                    <p:cond delay="0"/>
                                  </p:stCondLst>
                                  <p:childTnLst>
                                    <p:animMotion origin="layout" path="M -2.08333E-7 -2.22222E-6 L -2.08333E-7 -0.15324 " pathEditMode="relative" rAng="0" ptsTypes="AA">
                                      <p:cBhvr>
                                        <p:cTn id="177" dur="2000" fill="hold"/>
                                        <p:tgtEl>
                                          <p:spTgt spid="35"/>
                                        </p:tgtEl>
                                        <p:attrNameLst>
                                          <p:attrName>ppt_x</p:attrName>
                                          <p:attrName>ppt_y</p:attrName>
                                        </p:attrNameLst>
                                      </p:cBhvr>
                                      <p:rCtr x="0" y="-7662"/>
                                    </p:animMotion>
                                  </p:childTnLst>
                                </p:cTn>
                              </p:par>
                              <p:par>
                                <p:cTn id="178" presetID="10" presetClass="exit" presetSubtype="0" fill="hold" grpId="1" nodeType="withEffect">
                                  <p:stCondLst>
                                    <p:cond delay="0"/>
                                  </p:stCondLst>
                                  <p:childTnLst>
                                    <p:animEffect transition="out" filter="fade">
                                      <p:cBhvr>
                                        <p:cTn id="179" dur="2000"/>
                                        <p:tgtEl>
                                          <p:spTgt spid="35"/>
                                        </p:tgtEl>
                                      </p:cBhvr>
                                    </p:animEffect>
                                    <p:set>
                                      <p:cBhvr>
                                        <p:cTn id="180" dur="1" fill="hold">
                                          <p:stCondLst>
                                            <p:cond delay="1999"/>
                                          </p:stCondLst>
                                        </p:cTn>
                                        <p:tgtEl>
                                          <p:spTgt spid="35"/>
                                        </p:tgtEl>
                                        <p:attrNameLst>
                                          <p:attrName>style.visibility</p:attrName>
                                        </p:attrNameLst>
                                      </p:cBhvr>
                                      <p:to>
                                        <p:strVal val="hidden"/>
                                      </p:to>
                                    </p:set>
                                  </p:childTnLst>
                                </p:cTn>
                              </p:par>
                            </p:childTnLst>
                          </p:cTn>
                        </p:par>
                        <p:par>
                          <p:cTn id="181" fill="hold">
                            <p:stCondLst>
                              <p:cond delay="44000"/>
                            </p:stCondLst>
                            <p:childTnLst>
                              <p:par>
                                <p:cTn id="182" presetID="1" presetClass="entr" presetSubtype="0" fill="hold" grpId="2" nodeType="afterEffect">
                                  <p:stCondLst>
                                    <p:cond delay="0"/>
                                  </p:stCondLst>
                                  <p:childTnLst>
                                    <p:set>
                                      <p:cBhvr>
                                        <p:cTn id="183" dur="1" fill="hold">
                                          <p:stCondLst>
                                            <p:cond delay="0"/>
                                          </p:stCondLst>
                                        </p:cTn>
                                        <p:tgtEl>
                                          <p:spTgt spid="36"/>
                                        </p:tgtEl>
                                        <p:attrNameLst>
                                          <p:attrName>style.visibility</p:attrName>
                                        </p:attrNameLst>
                                      </p:cBhvr>
                                      <p:to>
                                        <p:strVal val="visible"/>
                                      </p:to>
                                    </p:set>
                                  </p:childTnLst>
                                </p:cTn>
                              </p:par>
                              <p:par>
                                <p:cTn id="184" presetID="42" presetClass="path" presetSubtype="0" accel="50000" decel="50000" fill="hold" grpId="0" nodeType="withEffect">
                                  <p:stCondLst>
                                    <p:cond delay="0"/>
                                  </p:stCondLst>
                                  <p:childTnLst>
                                    <p:animMotion origin="layout" path="M -2.08333E-7 -2.22222E-6 L -2.08333E-7 -0.15324 " pathEditMode="relative" rAng="0" ptsTypes="AA">
                                      <p:cBhvr>
                                        <p:cTn id="185" dur="2000" fill="hold"/>
                                        <p:tgtEl>
                                          <p:spTgt spid="36"/>
                                        </p:tgtEl>
                                        <p:attrNameLst>
                                          <p:attrName>ppt_x</p:attrName>
                                          <p:attrName>ppt_y</p:attrName>
                                        </p:attrNameLst>
                                      </p:cBhvr>
                                      <p:rCtr x="0" y="-7662"/>
                                    </p:animMotion>
                                  </p:childTnLst>
                                </p:cTn>
                              </p:par>
                              <p:par>
                                <p:cTn id="186" presetID="10" presetClass="exit" presetSubtype="0" fill="hold" grpId="1" nodeType="withEffect">
                                  <p:stCondLst>
                                    <p:cond delay="0"/>
                                  </p:stCondLst>
                                  <p:childTnLst>
                                    <p:animEffect transition="out" filter="fade">
                                      <p:cBhvr>
                                        <p:cTn id="187" dur="2000"/>
                                        <p:tgtEl>
                                          <p:spTgt spid="36"/>
                                        </p:tgtEl>
                                      </p:cBhvr>
                                    </p:animEffect>
                                    <p:set>
                                      <p:cBhvr>
                                        <p:cTn id="188" dur="1" fill="hold">
                                          <p:stCondLst>
                                            <p:cond delay="1999"/>
                                          </p:stCondLst>
                                        </p:cTn>
                                        <p:tgtEl>
                                          <p:spTgt spid="36"/>
                                        </p:tgtEl>
                                        <p:attrNameLst>
                                          <p:attrName>style.visibility</p:attrName>
                                        </p:attrNameLst>
                                      </p:cBhvr>
                                      <p:to>
                                        <p:strVal val="hidden"/>
                                      </p:to>
                                    </p:set>
                                  </p:childTnLst>
                                </p:cTn>
                              </p:par>
                            </p:childTnLst>
                          </p:cTn>
                        </p:par>
                        <p:par>
                          <p:cTn id="189" fill="hold">
                            <p:stCondLst>
                              <p:cond delay="46000"/>
                            </p:stCondLst>
                            <p:childTnLst>
                              <p:par>
                                <p:cTn id="190" presetID="1" presetClass="entr" presetSubtype="0" fill="hold" grpId="2" nodeType="afterEffect">
                                  <p:stCondLst>
                                    <p:cond delay="0"/>
                                  </p:stCondLst>
                                  <p:childTnLst>
                                    <p:set>
                                      <p:cBhvr>
                                        <p:cTn id="191" dur="1" fill="hold">
                                          <p:stCondLst>
                                            <p:cond delay="0"/>
                                          </p:stCondLst>
                                        </p:cTn>
                                        <p:tgtEl>
                                          <p:spTgt spid="37"/>
                                        </p:tgtEl>
                                        <p:attrNameLst>
                                          <p:attrName>style.visibility</p:attrName>
                                        </p:attrNameLst>
                                      </p:cBhvr>
                                      <p:to>
                                        <p:strVal val="visible"/>
                                      </p:to>
                                    </p:set>
                                  </p:childTnLst>
                                </p:cTn>
                              </p:par>
                              <p:par>
                                <p:cTn id="192" presetID="42" presetClass="path" presetSubtype="0" accel="50000" decel="50000" fill="hold" grpId="0" nodeType="withEffect">
                                  <p:stCondLst>
                                    <p:cond delay="0"/>
                                  </p:stCondLst>
                                  <p:childTnLst>
                                    <p:animMotion origin="layout" path="M -2.08333E-7 -2.22222E-6 L -2.08333E-7 -0.15324 " pathEditMode="relative" rAng="0" ptsTypes="AA">
                                      <p:cBhvr>
                                        <p:cTn id="193" dur="2000" fill="hold"/>
                                        <p:tgtEl>
                                          <p:spTgt spid="37"/>
                                        </p:tgtEl>
                                        <p:attrNameLst>
                                          <p:attrName>ppt_x</p:attrName>
                                          <p:attrName>ppt_y</p:attrName>
                                        </p:attrNameLst>
                                      </p:cBhvr>
                                      <p:rCtr x="0" y="-7662"/>
                                    </p:animMotion>
                                  </p:childTnLst>
                                </p:cTn>
                              </p:par>
                              <p:par>
                                <p:cTn id="194" presetID="10" presetClass="exit" presetSubtype="0" fill="hold" grpId="1" nodeType="withEffect">
                                  <p:stCondLst>
                                    <p:cond delay="0"/>
                                  </p:stCondLst>
                                  <p:childTnLst>
                                    <p:animEffect transition="out" filter="fade">
                                      <p:cBhvr>
                                        <p:cTn id="195" dur="2000"/>
                                        <p:tgtEl>
                                          <p:spTgt spid="37"/>
                                        </p:tgtEl>
                                      </p:cBhvr>
                                    </p:animEffect>
                                    <p:set>
                                      <p:cBhvr>
                                        <p:cTn id="196" dur="1" fill="hold">
                                          <p:stCondLst>
                                            <p:cond delay="1999"/>
                                          </p:stCondLst>
                                        </p:cTn>
                                        <p:tgtEl>
                                          <p:spTgt spid="37"/>
                                        </p:tgtEl>
                                        <p:attrNameLst>
                                          <p:attrName>style.visibility</p:attrName>
                                        </p:attrNameLst>
                                      </p:cBhvr>
                                      <p:to>
                                        <p:strVal val="hidden"/>
                                      </p:to>
                                    </p:set>
                                  </p:childTnLst>
                                </p:cTn>
                              </p:par>
                            </p:childTnLst>
                          </p:cTn>
                        </p:par>
                        <p:par>
                          <p:cTn id="197" fill="hold">
                            <p:stCondLst>
                              <p:cond delay="48000"/>
                            </p:stCondLst>
                            <p:childTnLst>
                              <p:par>
                                <p:cTn id="198" presetID="1" presetClass="entr" presetSubtype="0" fill="hold" grpId="2" nodeType="afterEffect">
                                  <p:stCondLst>
                                    <p:cond delay="0"/>
                                  </p:stCondLst>
                                  <p:childTnLst>
                                    <p:set>
                                      <p:cBhvr>
                                        <p:cTn id="199" dur="1" fill="hold">
                                          <p:stCondLst>
                                            <p:cond delay="0"/>
                                          </p:stCondLst>
                                        </p:cTn>
                                        <p:tgtEl>
                                          <p:spTgt spid="38"/>
                                        </p:tgtEl>
                                        <p:attrNameLst>
                                          <p:attrName>style.visibility</p:attrName>
                                        </p:attrNameLst>
                                      </p:cBhvr>
                                      <p:to>
                                        <p:strVal val="visible"/>
                                      </p:to>
                                    </p:set>
                                  </p:childTnLst>
                                </p:cTn>
                              </p:par>
                              <p:par>
                                <p:cTn id="200" presetID="42" presetClass="path" presetSubtype="0" accel="50000" decel="50000" fill="hold" grpId="0" nodeType="withEffect">
                                  <p:stCondLst>
                                    <p:cond delay="0"/>
                                  </p:stCondLst>
                                  <p:childTnLst>
                                    <p:animMotion origin="layout" path="M -2.08333E-7 -2.22222E-6 L -2.08333E-7 -0.15324 " pathEditMode="relative" rAng="0" ptsTypes="AA">
                                      <p:cBhvr>
                                        <p:cTn id="201" dur="2000" fill="hold"/>
                                        <p:tgtEl>
                                          <p:spTgt spid="38"/>
                                        </p:tgtEl>
                                        <p:attrNameLst>
                                          <p:attrName>ppt_x</p:attrName>
                                          <p:attrName>ppt_y</p:attrName>
                                        </p:attrNameLst>
                                      </p:cBhvr>
                                      <p:rCtr x="0" y="-7662"/>
                                    </p:animMotion>
                                  </p:childTnLst>
                                </p:cTn>
                              </p:par>
                              <p:par>
                                <p:cTn id="202" presetID="10" presetClass="exit" presetSubtype="0" fill="hold" grpId="1" nodeType="withEffect">
                                  <p:stCondLst>
                                    <p:cond delay="0"/>
                                  </p:stCondLst>
                                  <p:childTnLst>
                                    <p:animEffect transition="out" filter="fade">
                                      <p:cBhvr>
                                        <p:cTn id="203" dur="2000"/>
                                        <p:tgtEl>
                                          <p:spTgt spid="38"/>
                                        </p:tgtEl>
                                      </p:cBhvr>
                                    </p:animEffect>
                                    <p:set>
                                      <p:cBhvr>
                                        <p:cTn id="204" dur="1" fill="hold">
                                          <p:stCondLst>
                                            <p:cond delay="19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9" grpId="2"/>
      <p:bldP spid="11" grpId="0"/>
      <p:bldP spid="11" grpId="1"/>
      <p:bldP spid="11" grpId="2"/>
      <p:bldP spid="12" grpId="0"/>
      <p:bldP spid="12" grpId="1"/>
      <p:bldP spid="12" grpId="2"/>
      <p:bldP spid="13" grpId="0"/>
      <p:bldP spid="13" grpId="1"/>
      <p:bldP spid="13" grpId="2"/>
      <p:bldP spid="14" grpId="0"/>
      <p:bldP spid="14" grpId="1"/>
      <p:bldP spid="14" grpId="2"/>
      <p:bldP spid="15" grpId="0"/>
      <p:bldP spid="15" grpId="1"/>
      <p:bldP spid="15" grpId="2"/>
      <p:bldP spid="18" grpId="0"/>
      <p:bldP spid="18" grpId="1"/>
      <p:bldP spid="18" grpId="2"/>
      <p:bldP spid="19" grpId="0"/>
      <p:bldP spid="19" grpId="1"/>
      <p:bldP spid="19" grpId="2"/>
      <p:bldP spid="20" grpId="0"/>
      <p:bldP spid="20" grpId="1"/>
      <p:bldP spid="20" grpId="2"/>
      <p:bldP spid="21" grpId="0"/>
      <p:bldP spid="21" grpId="1"/>
      <p:bldP spid="21" grpId="2"/>
      <p:bldP spid="22" grpId="0"/>
      <p:bldP spid="22" grpId="1"/>
      <p:bldP spid="22" grpId="2"/>
      <p:bldP spid="23" grpId="0"/>
      <p:bldP spid="23" grpId="1"/>
      <p:bldP spid="23" grpId="2"/>
      <p:bldP spid="27" grpId="0"/>
      <p:bldP spid="27" grpId="1"/>
      <p:bldP spid="27" grpId="2"/>
      <p:bldP spid="28" grpId="0"/>
      <p:bldP spid="28" grpId="1"/>
      <p:bldP spid="28" grpId="2"/>
      <p:bldP spid="29" grpId="0"/>
      <p:bldP spid="29" grpId="1"/>
      <p:bldP spid="29" grpId="2"/>
      <p:bldP spid="30" grpId="0"/>
      <p:bldP spid="30" grpId="1"/>
      <p:bldP spid="30" grpId="2"/>
      <p:bldP spid="31" grpId="0"/>
      <p:bldP spid="31" grpId="1"/>
      <p:bldP spid="31" grpId="2"/>
      <p:bldP spid="32" grpId="0"/>
      <p:bldP spid="32" grpId="1"/>
      <p:bldP spid="32" grpId="2"/>
      <p:bldP spid="33" grpId="0"/>
      <p:bldP spid="33" grpId="1"/>
      <p:bldP spid="33" grpId="2"/>
      <p:bldP spid="34" grpId="0"/>
      <p:bldP spid="34" grpId="1"/>
      <p:bldP spid="34" grpId="2"/>
      <p:bldP spid="35" grpId="0"/>
      <p:bldP spid="35" grpId="1"/>
      <p:bldP spid="35" grpId="2"/>
      <p:bldP spid="36" grpId="0"/>
      <p:bldP spid="36" grpId="1"/>
      <p:bldP spid="36" grpId="2"/>
      <p:bldP spid="37" grpId="0"/>
      <p:bldP spid="37" grpId="1"/>
      <p:bldP spid="37" grpId="2"/>
      <p:bldP spid="38" grpId="0"/>
      <p:bldP spid="38" grpId="1"/>
      <p:bldP spid="38" grpId="2"/>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209D-103E-5C44-87E3-F9F3792B50F5}"/>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C6BB4145-3D06-4E47-81AB-C1A6F9C961C3}"/>
              </a:ext>
            </a:extLst>
          </p:cNvPr>
          <p:cNvSpPr>
            <a:spLocks noGrp="1"/>
          </p:cNvSpPr>
          <p:nvPr>
            <p:ph idx="1"/>
          </p:nvPr>
        </p:nvSpPr>
        <p:spPr>
          <a:xfrm>
            <a:off x="838200" y="1825624"/>
            <a:ext cx="6802933" cy="5032375"/>
          </a:xfrm>
        </p:spPr>
        <p:txBody>
          <a:bodyPr>
            <a:normAutofit/>
          </a:bodyPr>
          <a:lstStyle/>
          <a:p>
            <a:pPr marL="0" indent="0">
              <a:buNone/>
            </a:pPr>
            <a:r>
              <a:rPr lang="en-CA" b="1" dirty="0"/>
              <a:t>Hayden, 2011</a:t>
            </a:r>
            <a:endParaRPr lang="en-CA" dirty="0"/>
          </a:p>
          <a:p>
            <a:r>
              <a:rPr lang="en-CA" b="1" dirty="0"/>
              <a:t>Results</a:t>
            </a:r>
            <a:r>
              <a:rPr lang="en-CA" dirty="0"/>
              <a:t>: ACC activity was proportional to the likelihood the monkey will undergo effort to get new patch</a:t>
            </a:r>
          </a:p>
          <a:p>
            <a:pPr lvl="1"/>
            <a:endParaRPr lang="en-CA" dirty="0"/>
          </a:p>
          <a:p>
            <a:r>
              <a:rPr lang="en-CA" b="1" dirty="0"/>
              <a:t>Conclusion</a:t>
            </a:r>
            <a:r>
              <a:rPr lang="en-CA" dirty="0"/>
              <a:t>: ACC codes the engagement of control to adapt behaviour</a:t>
            </a:r>
          </a:p>
          <a:p>
            <a:pPr lvl="1"/>
            <a:r>
              <a:rPr lang="en-CA" dirty="0"/>
              <a:t>Codes the expected payoff of engaging cognitive control (and exploring)</a:t>
            </a:r>
          </a:p>
          <a:p>
            <a:pPr lvl="1"/>
            <a:r>
              <a:rPr lang="en-CA" dirty="0"/>
              <a:t>BOLD signals in ACC show similar pattern where it correlates with explore likelihood, regardless of participant choice</a:t>
            </a:r>
          </a:p>
        </p:txBody>
      </p:sp>
      <p:pic>
        <p:nvPicPr>
          <p:cNvPr id="4" name="Content Placeholder 2" descr="Line graphs show neuronal activity in ACC correlated with decisions by monkeys to change to a new patch in sequential foraging task.&#10;The X axis measures time in patch in seconds from 0 through 30 with increments of 5 and the Y axis measures normalized firing rate from 0 through 2 with increments of 0.2. The data for 4 line graphs start around 2.5 on the X axis and between 0.8 and 1.1 on the Y axis. The graphs rise up to 15, 2; 18, 2; 25, 2; and to 28, 2 and end there. Pointer at the top value reads, At this firing rate the animal looks elsewhere for food.">
            <a:extLst>
              <a:ext uri="{FF2B5EF4-FFF2-40B4-BE49-F238E27FC236}">
                <a16:creationId xmlns:a16="http://schemas.microsoft.com/office/drawing/2014/main" id="{0CB00B8C-4C78-9E4F-895F-54B0A28C33AC}"/>
              </a:ext>
            </a:extLst>
          </p:cNvPr>
          <p:cNvPicPr>
            <a:picLocks noChangeAspect="1"/>
          </p:cNvPicPr>
          <p:nvPr/>
        </p:nvPicPr>
        <p:blipFill>
          <a:blip r:embed="rId2">
            <a:extLst>
              <a:ext uri="{28A0092B-C50C-407E-A947-70E740481C1C}">
                <a14:useLocalDpi xmlns:a14="http://schemas.microsoft.com/office/drawing/2010/main" val="0"/>
              </a:ext>
            </a:extLst>
          </a:blip>
          <a:srcRect b="4376"/>
          <a:stretch>
            <a:fillRect/>
          </a:stretch>
        </p:blipFill>
        <p:spPr>
          <a:xfrm>
            <a:off x="7641133" y="1970016"/>
            <a:ext cx="4301774" cy="3884776"/>
          </a:xfrm>
          <a:prstGeom prst="rect">
            <a:avLst/>
          </a:prstGeom>
          <a:noFill/>
          <a:ln>
            <a:noFill/>
          </a:ln>
        </p:spPr>
      </p:pic>
    </p:spTree>
    <p:extLst>
      <p:ext uri="{BB962C8B-B14F-4D97-AF65-F5344CB8AC3E}">
        <p14:creationId xmlns:p14="http://schemas.microsoft.com/office/powerpoint/2010/main" val="254960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B26D-3654-0334-9B47-765E9464258C}"/>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B53CAEC-D76F-4110-5DB9-D57132C22714}"/>
              </a:ext>
            </a:extLst>
          </p:cNvPr>
          <p:cNvGrpSpPr/>
          <p:nvPr/>
        </p:nvGrpSpPr>
        <p:grpSpPr>
          <a:xfrm>
            <a:off x="7847011" y="607101"/>
            <a:ext cx="4368873" cy="5752384"/>
            <a:chOff x="7713199" y="607101"/>
            <a:chExt cx="4368873" cy="5752384"/>
          </a:xfrm>
        </p:grpSpPr>
        <p:pic>
          <p:nvPicPr>
            <p:cNvPr id="5" name="Picture 4" descr="A close-up of the brain&#10;&#10;AI-generated content may be incorrect.">
              <a:extLst>
                <a:ext uri="{FF2B5EF4-FFF2-40B4-BE49-F238E27FC236}">
                  <a16:creationId xmlns:a16="http://schemas.microsoft.com/office/drawing/2014/main" id="{341E82E9-D729-7314-9984-6DE9D98785F2}"/>
                </a:ext>
              </a:extLst>
            </p:cNvPr>
            <p:cNvPicPr>
              <a:picLocks noChangeAspect="1"/>
            </p:cNvPicPr>
            <p:nvPr/>
          </p:nvPicPr>
          <p:blipFill>
            <a:blip r:embed="rId2">
              <a:extLst>
                <a:ext uri="{28A0092B-C50C-407E-A947-70E740481C1C}">
                  <a14:useLocalDpi xmlns:a14="http://schemas.microsoft.com/office/drawing/2010/main" val="0"/>
                </a:ext>
              </a:extLst>
            </a:blip>
            <a:srcRect r="54073"/>
            <a:stretch>
              <a:fillRect/>
            </a:stretch>
          </p:blipFill>
          <p:spPr>
            <a:xfrm>
              <a:off x="8404773" y="607101"/>
              <a:ext cx="3677299" cy="2930485"/>
            </a:xfrm>
            <a:prstGeom prst="rect">
              <a:avLst/>
            </a:prstGeom>
          </p:spPr>
        </p:pic>
        <p:pic>
          <p:nvPicPr>
            <p:cNvPr id="6" name="Picture 5" descr="A close-up of the brain&#10;&#10;AI-generated content may be incorrect.">
              <a:extLst>
                <a:ext uri="{FF2B5EF4-FFF2-40B4-BE49-F238E27FC236}">
                  <a16:creationId xmlns:a16="http://schemas.microsoft.com/office/drawing/2014/main" id="{E4E344CD-ED2E-D6AC-F20C-5F24741E1C20}"/>
                </a:ext>
              </a:extLst>
            </p:cNvPr>
            <p:cNvPicPr>
              <a:picLocks noChangeAspect="1"/>
            </p:cNvPicPr>
            <p:nvPr/>
          </p:nvPicPr>
          <p:blipFill>
            <a:blip r:embed="rId2">
              <a:extLst>
                <a:ext uri="{28A0092B-C50C-407E-A947-70E740481C1C}">
                  <a14:useLocalDpi xmlns:a14="http://schemas.microsoft.com/office/drawing/2010/main" val="0"/>
                </a:ext>
              </a:extLst>
            </a:blip>
            <a:srcRect l="45902" t="467" r="-467" b="-467"/>
            <a:stretch>
              <a:fillRect/>
            </a:stretch>
          </p:blipFill>
          <p:spPr>
            <a:xfrm>
              <a:off x="7713199" y="3429000"/>
              <a:ext cx="4368873" cy="2930485"/>
            </a:xfrm>
            <a:prstGeom prst="rect">
              <a:avLst/>
            </a:prstGeom>
          </p:spPr>
        </p:pic>
        <p:sp>
          <p:nvSpPr>
            <p:cNvPr id="7" name="Freeform: Shape 6">
              <a:extLst>
                <a:ext uri="{FF2B5EF4-FFF2-40B4-BE49-F238E27FC236}">
                  <a16:creationId xmlns:a16="http://schemas.microsoft.com/office/drawing/2014/main" id="{B3ADED98-F893-5116-9A56-157D63ACF6A3}"/>
                </a:ext>
              </a:extLst>
            </p:cNvPr>
            <p:cNvSpPr/>
            <p:nvPr/>
          </p:nvSpPr>
          <p:spPr>
            <a:xfrm>
              <a:off x="9601200" y="4373880"/>
              <a:ext cx="685800" cy="689610"/>
            </a:xfrm>
            <a:custGeom>
              <a:avLst/>
              <a:gdLst>
                <a:gd name="connsiteX0" fmla="*/ 483870 w 685800"/>
                <a:gd name="connsiteY0" fmla="*/ 689610 h 689610"/>
                <a:gd name="connsiteX1" fmla="*/ 685800 w 685800"/>
                <a:gd name="connsiteY1" fmla="*/ 647700 h 689610"/>
                <a:gd name="connsiteX2" fmla="*/ 643890 w 685800"/>
                <a:gd name="connsiteY2" fmla="*/ 438150 h 689610"/>
                <a:gd name="connsiteX3" fmla="*/ 563880 w 685800"/>
                <a:gd name="connsiteY3" fmla="*/ 224790 h 689610"/>
                <a:gd name="connsiteX4" fmla="*/ 327660 w 685800"/>
                <a:gd name="connsiteY4" fmla="*/ 140970 h 689610"/>
                <a:gd name="connsiteX5" fmla="*/ 95250 w 685800"/>
                <a:gd name="connsiteY5" fmla="*/ 0 h 689610"/>
                <a:gd name="connsiteX6" fmla="*/ 0 w 685800"/>
                <a:gd name="connsiteY6" fmla="*/ 163830 h 689610"/>
                <a:gd name="connsiteX7" fmla="*/ 224790 w 685800"/>
                <a:gd name="connsiteY7" fmla="*/ 281940 h 689610"/>
                <a:gd name="connsiteX8" fmla="*/ 472440 w 685800"/>
                <a:gd name="connsiteY8" fmla="*/ 441960 h 689610"/>
                <a:gd name="connsiteX9" fmla="*/ 541020 w 685800"/>
                <a:gd name="connsiteY9" fmla="*/ 560070 h 689610"/>
                <a:gd name="connsiteX10" fmla="*/ 483870 w 685800"/>
                <a:gd name="connsiteY10" fmla="*/ 689610 h 68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 h="689610">
                  <a:moveTo>
                    <a:pt x="483870" y="689610"/>
                  </a:moveTo>
                  <a:lnTo>
                    <a:pt x="685800" y="647700"/>
                  </a:lnTo>
                  <a:lnTo>
                    <a:pt x="643890" y="438150"/>
                  </a:lnTo>
                  <a:lnTo>
                    <a:pt x="563880" y="224790"/>
                  </a:lnTo>
                  <a:lnTo>
                    <a:pt x="327660" y="140970"/>
                  </a:lnTo>
                  <a:lnTo>
                    <a:pt x="95250" y="0"/>
                  </a:lnTo>
                  <a:lnTo>
                    <a:pt x="0" y="163830"/>
                  </a:lnTo>
                  <a:lnTo>
                    <a:pt x="224790" y="281940"/>
                  </a:lnTo>
                  <a:lnTo>
                    <a:pt x="472440" y="441960"/>
                  </a:lnTo>
                  <a:lnTo>
                    <a:pt x="541020" y="560070"/>
                  </a:lnTo>
                  <a:lnTo>
                    <a:pt x="483870" y="689610"/>
                  </a:lnTo>
                  <a:close/>
                </a:path>
              </a:pathLst>
            </a:custGeom>
            <a:solidFill>
              <a:srgbClr val="C04F15">
                <a:alpha val="7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2934E08D-A416-B1DC-5094-A68E1C08EF81}"/>
                </a:ext>
              </a:extLst>
            </p:cNvPr>
            <p:cNvCxnSpPr/>
            <p:nvPr/>
          </p:nvCxnSpPr>
          <p:spPr>
            <a:xfrm flipV="1">
              <a:off x="9998170" y="3706879"/>
              <a:ext cx="0" cy="936302"/>
            </a:xfrm>
            <a:prstGeom prst="line">
              <a:avLst/>
            </a:prstGeom>
            <a:ln w="28575"/>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23147A99-CB2A-4BE6-206D-6A561B34DA34}"/>
                </a:ext>
              </a:extLst>
            </p:cNvPr>
            <p:cNvSpPr txBox="1"/>
            <p:nvPr/>
          </p:nvSpPr>
          <p:spPr>
            <a:xfrm>
              <a:off x="9648555" y="3372138"/>
              <a:ext cx="699230" cy="400110"/>
            </a:xfrm>
            <a:prstGeom prst="rect">
              <a:avLst/>
            </a:prstGeom>
            <a:noFill/>
          </p:spPr>
          <p:txBody>
            <a:bodyPr wrap="none" rtlCol="0">
              <a:spAutoFit/>
            </a:bodyPr>
            <a:lstStyle/>
            <a:p>
              <a:r>
                <a:rPr lang="en-US" sz="2000" b="1" dirty="0"/>
                <a:t>ACC</a:t>
              </a:r>
            </a:p>
          </p:txBody>
        </p:sp>
      </p:grpSp>
      <p:sp>
        <p:nvSpPr>
          <p:cNvPr id="2" name="Title 1">
            <a:extLst>
              <a:ext uri="{FF2B5EF4-FFF2-40B4-BE49-F238E27FC236}">
                <a16:creationId xmlns:a16="http://schemas.microsoft.com/office/drawing/2014/main" id="{1DFC9AC1-81F8-8386-AB6E-F335FDB940C5}"/>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868395B6-CD79-84C1-49F5-194534270B80}"/>
              </a:ext>
            </a:extLst>
          </p:cNvPr>
          <p:cNvSpPr>
            <a:spLocks noGrp="1"/>
          </p:cNvSpPr>
          <p:nvPr>
            <p:ph idx="1"/>
          </p:nvPr>
        </p:nvSpPr>
        <p:spPr/>
        <p:txBody>
          <a:bodyPr>
            <a:normAutofit fontScale="85000" lnSpcReduction="20000"/>
          </a:bodyPr>
          <a:lstStyle/>
          <a:p>
            <a:pPr marL="0" indent="0">
              <a:buNone/>
            </a:pPr>
            <a:r>
              <a:rPr lang="en-US" b="1" dirty="0"/>
              <a:t>Prefrontal Cortex (PFC) in general</a:t>
            </a:r>
          </a:p>
          <a:p>
            <a:r>
              <a:rPr lang="en-US" dirty="0"/>
              <a:t>Goal setting and planning </a:t>
            </a:r>
          </a:p>
          <a:p>
            <a:r>
              <a:rPr lang="en-US" dirty="0"/>
              <a:t>Sustained and selective allocation of attention</a:t>
            </a:r>
          </a:p>
          <a:p>
            <a:endParaRPr lang="en-US" dirty="0"/>
          </a:p>
          <a:p>
            <a:pPr marL="0" indent="0">
              <a:buNone/>
            </a:pPr>
            <a:r>
              <a:rPr lang="en-US" b="1" dirty="0"/>
              <a:t>Anterior Cingulate Cortex (ACC)</a:t>
            </a:r>
          </a:p>
          <a:p>
            <a:r>
              <a:rPr lang="en-US" dirty="0"/>
              <a:t>Monitoring for conflict and errors</a:t>
            </a:r>
          </a:p>
          <a:p>
            <a:r>
              <a:rPr lang="en-US" dirty="0"/>
              <a:t>Signaling for the need of increased control</a:t>
            </a:r>
          </a:p>
          <a:p>
            <a:pPr lvl="1"/>
            <a:endParaRPr lang="en-US" dirty="0"/>
          </a:p>
          <a:p>
            <a:pPr marL="0" indent="0">
              <a:buNone/>
            </a:pPr>
            <a:r>
              <a:rPr lang="en-US" b="1" dirty="0"/>
              <a:t>Dorsolateral PFC (</a:t>
            </a:r>
            <a:r>
              <a:rPr lang="en-US" b="1" dirty="0" err="1"/>
              <a:t>dlPFC</a:t>
            </a:r>
            <a:r>
              <a:rPr lang="en-US" b="1" dirty="0"/>
              <a:t>)</a:t>
            </a:r>
          </a:p>
          <a:p>
            <a:r>
              <a:rPr lang="en-US" dirty="0"/>
              <a:t>Maintenance and manipulation in working memory</a:t>
            </a:r>
          </a:p>
          <a:p>
            <a:r>
              <a:rPr lang="en-US" dirty="0"/>
              <a:t>Conflict resolution</a:t>
            </a:r>
          </a:p>
          <a:p>
            <a:pPr lvl="1"/>
            <a:endParaRPr lang="en-US" dirty="0"/>
          </a:p>
          <a:p>
            <a:pPr marL="457200" lvl="1" indent="0">
              <a:buNone/>
            </a:pPr>
            <a:endParaRPr lang="en-US" dirty="0">
              <a:highlight>
                <a:srgbClr val="FFFF00"/>
              </a:highlight>
            </a:endParaRPr>
          </a:p>
          <a:p>
            <a:pPr lvl="2"/>
            <a:endParaRPr lang="en-US" dirty="0"/>
          </a:p>
          <a:p>
            <a:pPr lvl="2"/>
            <a:endParaRPr lang="en-US" dirty="0"/>
          </a:p>
          <a:p>
            <a:pPr lvl="1"/>
            <a:endParaRPr lang="en-US" dirty="0"/>
          </a:p>
          <a:p>
            <a:pPr lvl="1"/>
            <a:endParaRPr lang="en-US" dirty="0"/>
          </a:p>
          <a:p>
            <a:pPr lvl="2"/>
            <a:endParaRPr lang="en-US" dirty="0"/>
          </a:p>
        </p:txBody>
      </p:sp>
      <p:sp>
        <p:nvSpPr>
          <p:cNvPr id="16" name="Freeform: Shape 15">
            <a:extLst>
              <a:ext uri="{FF2B5EF4-FFF2-40B4-BE49-F238E27FC236}">
                <a16:creationId xmlns:a16="http://schemas.microsoft.com/office/drawing/2014/main" id="{E469A174-FD10-173B-5FF4-250AE44563C2}"/>
              </a:ext>
            </a:extLst>
          </p:cNvPr>
          <p:cNvSpPr/>
          <p:nvPr/>
        </p:nvSpPr>
        <p:spPr>
          <a:xfrm>
            <a:off x="8186057" y="5508171"/>
            <a:ext cx="2645229" cy="919843"/>
          </a:xfrm>
          <a:custGeom>
            <a:avLst/>
            <a:gdLst>
              <a:gd name="connsiteX0" fmla="*/ 299357 w 2645229"/>
              <a:gd name="connsiteY0" fmla="*/ 27215 h 919843"/>
              <a:gd name="connsiteX1" fmla="*/ 865414 w 2645229"/>
              <a:gd name="connsiteY1" fmla="*/ 0 h 919843"/>
              <a:gd name="connsiteX2" fmla="*/ 1311729 w 2645229"/>
              <a:gd name="connsiteY2" fmla="*/ 462643 h 919843"/>
              <a:gd name="connsiteX3" fmla="*/ 1556657 w 2645229"/>
              <a:gd name="connsiteY3" fmla="*/ 261258 h 919843"/>
              <a:gd name="connsiteX4" fmla="*/ 1872343 w 2645229"/>
              <a:gd name="connsiteY4" fmla="*/ 212272 h 919843"/>
              <a:gd name="connsiteX5" fmla="*/ 2645229 w 2645229"/>
              <a:gd name="connsiteY5" fmla="*/ 919843 h 919843"/>
              <a:gd name="connsiteX6" fmla="*/ 968829 w 2645229"/>
              <a:gd name="connsiteY6" fmla="*/ 908958 h 919843"/>
              <a:gd name="connsiteX7" fmla="*/ 0 w 2645229"/>
              <a:gd name="connsiteY7" fmla="*/ 609600 h 919843"/>
              <a:gd name="connsiteX8" fmla="*/ 299357 w 2645229"/>
              <a:gd name="connsiteY8" fmla="*/ 27215 h 91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5229" h="919843">
                <a:moveTo>
                  <a:pt x="299357" y="27215"/>
                </a:moveTo>
                <a:lnTo>
                  <a:pt x="865414" y="0"/>
                </a:lnTo>
                <a:lnTo>
                  <a:pt x="1311729" y="462643"/>
                </a:lnTo>
                <a:lnTo>
                  <a:pt x="1556657" y="261258"/>
                </a:lnTo>
                <a:lnTo>
                  <a:pt x="1872343" y="212272"/>
                </a:lnTo>
                <a:lnTo>
                  <a:pt x="2645229" y="919843"/>
                </a:lnTo>
                <a:lnTo>
                  <a:pt x="968829" y="908958"/>
                </a:lnTo>
                <a:lnTo>
                  <a:pt x="0" y="609600"/>
                </a:lnTo>
                <a:lnTo>
                  <a:pt x="299357" y="27215"/>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Shape 3">
            <a:extLst>
              <a:ext uri="{FF2B5EF4-FFF2-40B4-BE49-F238E27FC236}">
                <a16:creationId xmlns:a16="http://schemas.microsoft.com/office/drawing/2014/main" id="{B00051AD-3E9B-19F3-F217-914F3643EB18}"/>
              </a:ext>
            </a:extLst>
          </p:cNvPr>
          <p:cNvSpPr/>
          <p:nvPr/>
        </p:nvSpPr>
        <p:spPr>
          <a:xfrm>
            <a:off x="10624012" y="3550920"/>
            <a:ext cx="1539240" cy="975360"/>
          </a:xfrm>
          <a:custGeom>
            <a:avLst/>
            <a:gdLst>
              <a:gd name="csX0" fmla="*/ 0 w 1539240"/>
              <a:gd name="csY0" fmla="*/ 751840 h 975360"/>
              <a:gd name="csX1" fmla="*/ 127000 w 1539240"/>
              <a:gd name="csY1" fmla="*/ 975360 h 975360"/>
              <a:gd name="csX2" fmla="*/ 1529080 w 1539240"/>
              <a:gd name="csY2" fmla="*/ 614680 h 975360"/>
              <a:gd name="csX3" fmla="*/ 1539240 w 1539240"/>
              <a:gd name="csY3" fmla="*/ 0 h 975360"/>
              <a:gd name="csX4" fmla="*/ 264160 w 1539240"/>
              <a:gd name="csY4" fmla="*/ 157480 h 975360"/>
              <a:gd name="csX5" fmla="*/ 0 w 1539240"/>
              <a:gd name="csY5" fmla="*/ 751840 h 975360"/>
            </a:gdLst>
            <a:ahLst/>
            <a:cxnLst>
              <a:cxn ang="0">
                <a:pos x="csX0" y="csY0"/>
              </a:cxn>
              <a:cxn ang="0">
                <a:pos x="csX1" y="csY1"/>
              </a:cxn>
              <a:cxn ang="0">
                <a:pos x="csX2" y="csY2"/>
              </a:cxn>
              <a:cxn ang="0">
                <a:pos x="csX3" y="csY3"/>
              </a:cxn>
              <a:cxn ang="0">
                <a:pos x="csX4" y="csY4"/>
              </a:cxn>
              <a:cxn ang="0">
                <a:pos x="csX5" y="csY5"/>
              </a:cxn>
            </a:cxnLst>
            <a:rect l="l" t="t" r="r" b="b"/>
            <a:pathLst>
              <a:path w="1539240" h="975360">
                <a:moveTo>
                  <a:pt x="0" y="751840"/>
                </a:moveTo>
                <a:lnTo>
                  <a:pt x="127000" y="975360"/>
                </a:lnTo>
                <a:lnTo>
                  <a:pt x="1529080" y="614680"/>
                </a:lnTo>
                <a:lnTo>
                  <a:pt x="1539240" y="0"/>
                </a:lnTo>
                <a:lnTo>
                  <a:pt x="264160" y="157480"/>
                </a:lnTo>
                <a:lnTo>
                  <a:pt x="0" y="75184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183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BA7E7-06E5-2DF9-7B98-94C03FB39369}"/>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D497753E-C989-4C5F-69FA-1DEE9873872B}"/>
              </a:ext>
            </a:extLst>
          </p:cNvPr>
          <p:cNvGrpSpPr/>
          <p:nvPr/>
        </p:nvGrpSpPr>
        <p:grpSpPr>
          <a:xfrm>
            <a:off x="7847011" y="607101"/>
            <a:ext cx="4368873" cy="5752384"/>
            <a:chOff x="7713199" y="607101"/>
            <a:chExt cx="4368873" cy="5752384"/>
          </a:xfrm>
        </p:grpSpPr>
        <p:pic>
          <p:nvPicPr>
            <p:cNvPr id="5" name="Picture 4" descr="A close-up of the brain&#10;&#10;AI-generated content may be incorrect.">
              <a:extLst>
                <a:ext uri="{FF2B5EF4-FFF2-40B4-BE49-F238E27FC236}">
                  <a16:creationId xmlns:a16="http://schemas.microsoft.com/office/drawing/2014/main" id="{C54F1095-3A78-9515-20B9-9233B004A34F}"/>
                </a:ext>
              </a:extLst>
            </p:cNvPr>
            <p:cNvPicPr>
              <a:picLocks noChangeAspect="1"/>
            </p:cNvPicPr>
            <p:nvPr/>
          </p:nvPicPr>
          <p:blipFill>
            <a:blip r:embed="rId2">
              <a:extLst>
                <a:ext uri="{28A0092B-C50C-407E-A947-70E740481C1C}">
                  <a14:useLocalDpi xmlns:a14="http://schemas.microsoft.com/office/drawing/2010/main" val="0"/>
                </a:ext>
              </a:extLst>
            </a:blip>
            <a:srcRect r="54073"/>
            <a:stretch>
              <a:fillRect/>
            </a:stretch>
          </p:blipFill>
          <p:spPr>
            <a:xfrm>
              <a:off x="8404773" y="607101"/>
              <a:ext cx="3677299" cy="2930485"/>
            </a:xfrm>
            <a:prstGeom prst="rect">
              <a:avLst/>
            </a:prstGeom>
          </p:spPr>
        </p:pic>
        <p:pic>
          <p:nvPicPr>
            <p:cNvPr id="6" name="Picture 5" descr="A close-up of the brain&#10;&#10;AI-generated content may be incorrect.">
              <a:extLst>
                <a:ext uri="{FF2B5EF4-FFF2-40B4-BE49-F238E27FC236}">
                  <a16:creationId xmlns:a16="http://schemas.microsoft.com/office/drawing/2014/main" id="{79A83B79-00D0-C428-4128-E642C8AB154F}"/>
                </a:ext>
              </a:extLst>
            </p:cNvPr>
            <p:cNvPicPr>
              <a:picLocks noChangeAspect="1"/>
            </p:cNvPicPr>
            <p:nvPr/>
          </p:nvPicPr>
          <p:blipFill>
            <a:blip r:embed="rId2">
              <a:extLst>
                <a:ext uri="{28A0092B-C50C-407E-A947-70E740481C1C}">
                  <a14:useLocalDpi xmlns:a14="http://schemas.microsoft.com/office/drawing/2010/main" val="0"/>
                </a:ext>
              </a:extLst>
            </a:blip>
            <a:srcRect l="45902" t="467" r="-467" b="-467"/>
            <a:stretch>
              <a:fillRect/>
            </a:stretch>
          </p:blipFill>
          <p:spPr>
            <a:xfrm>
              <a:off x="7713199" y="3429000"/>
              <a:ext cx="4368873" cy="2930485"/>
            </a:xfrm>
            <a:prstGeom prst="rect">
              <a:avLst/>
            </a:prstGeom>
          </p:spPr>
        </p:pic>
        <p:sp>
          <p:nvSpPr>
            <p:cNvPr id="7" name="Freeform: Shape 6">
              <a:extLst>
                <a:ext uri="{FF2B5EF4-FFF2-40B4-BE49-F238E27FC236}">
                  <a16:creationId xmlns:a16="http://schemas.microsoft.com/office/drawing/2014/main" id="{279AA413-67E1-EF72-216E-9004C42FC90F}"/>
                </a:ext>
              </a:extLst>
            </p:cNvPr>
            <p:cNvSpPr/>
            <p:nvPr/>
          </p:nvSpPr>
          <p:spPr>
            <a:xfrm>
              <a:off x="9601200" y="4373880"/>
              <a:ext cx="685800" cy="689610"/>
            </a:xfrm>
            <a:custGeom>
              <a:avLst/>
              <a:gdLst>
                <a:gd name="connsiteX0" fmla="*/ 483870 w 685800"/>
                <a:gd name="connsiteY0" fmla="*/ 689610 h 689610"/>
                <a:gd name="connsiteX1" fmla="*/ 685800 w 685800"/>
                <a:gd name="connsiteY1" fmla="*/ 647700 h 689610"/>
                <a:gd name="connsiteX2" fmla="*/ 643890 w 685800"/>
                <a:gd name="connsiteY2" fmla="*/ 438150 h 689610"/>
                <a:gd name="connsiteX3" fmla="*/ 563880 w 685800"/>
                <a:gd name="connsiteY3" fmla="*/ 224790 h 689610"/>
                <a:gd name="connsiteX4" fmla="*/ 327660 w 685800"/>
                <a:gd name="connsiteY4" fmla="*/ 140970 h 689610"/>
                <a:gd name="connsiteX5" fmla="*/ 95250 w 685800"/>
                <a:gd name="connsiteY5" fmla="*/ 0 h 689610"/>
                <a:gd name="connsiteX6" fmla="*/ 0 w 685800"/>
                <a:gd name="connsiteY6" fmla="*/ 163830 h 689610"/>
                <a:gd name="connsiteX7" fmla="*/ 224790 w 685800"/>
                <a:gd name="connsiteY7" fmla="*/ 281940 h 689610"/>
                <a:gd name="connsiteX8" fmla="*/ 472440 w 685800"/>
                <a:gd name="connsiteY8" fmla="*/ 441960 h 689610"/>
                <a:gd name="connsiteX9" fmla="*/ 541020 w 685800"/>
                <a:gd name="connsiteY9" fmla="*/ 560070 h 689610"/>
                <a:gd name="connsiteX10" fmla="*/ 483870 w 685800"/>
                <a:gd name="connsiteY10" fmla="*/ 689610 h 68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 h="689610">
                  <a:moveTo>
                    <a:pt x="483870" y="689610"/>
                  </a:moveTo>
                  <a:lnTo>
                    <a:pt x="685800" y="647700"/>
                  </a:lnTo>
                  <a:lnTo>
                    <a:pt x="643890" y="438150"/>
                  </a:lnTo>
                  <a:lnTo>
                    <a:pt x="563880" y="224790"/>
                  </a:lnTo>
                  <a:lnTo>
                    <a:pt x="327660" y="140970"/>
                  </a:lnTo>
                  <a:lnTo>
                    <a:pt x="95250" y="0"/>
                  </a:lnTo>
                  <a:lnTo>
                    <a:pt x="0" y="163830"/>
                  </a:lnTo>
                  <a:lnTo>
                    <a:pt x="224790" y="281940"/>
                  </a:lnTo>
                  <a:lnTo>
                    <a:pt x="472440" y="441960"/>
                  </a:lnTo>
                  <a:lnTo>
                    <a:pt x="541020" y="560070"/>
                  </a:lnTo>
                  <a:lnTo>
                    <a:pt x="483870" y="689610"/>
                  </a:lnTo>
                  <a:close/>
                </a:path>
              </a:pathLst>
            </a:custGeom>
            <a:solidFill>
              <a:srgbClr val="C04F15">
                <a:alpha val="7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0B0E61F-A974-ACCC-70FD-D067B0D944C9}"/>
                </a:ext>
              </a:extLst>
            </p:cNvPr>
            <p:cNvCxnSpPr/>
            <p:nvPr/>
          </p:nvCxnSpPr>
          <p:spPr>
            <a:xfrm flipV="1">
              <a:off x="9998170" y="3706879"/>
              <a:ext cx="0" cy="936302"/>
            </a:xfrm>
            <a:prstGeom prst="line">
              <a:avLst/>
            </a:prstGeom>
            <a:ln w="28575"/>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ABC3497A-06F0-3F15-F5DB-0A433F99DE75}"/>
                </a:ext>
              </a:extLst>
            </p:cNvPr>
            <p:cNvSpPr txBox="1"/>
            <p:nvPr/>
          </p:nvSpPr>
          <p:spPr>
            <a:xfrm>
              <a:off x="9648555" y="3372138"/>
              <a:ext cx="699230" cy="400110"/>
            </a:xfrm>
            <a:prstGeom prst="rect">
              <a:avLst/>
            </a:prstGeom>
            <a:noFill/>
          </p:spPr>
          <p:txBody>
            <a:bodyPr wrap="none" rtlCol="0">
              <a:spAutoFit/>
            </a:bodyPr>
            <a:lstStyle/>
            <a:p>
              <a:r>
                <a:rPr lang="en-US" sz="2000" b="1" dirty="0"/>
                <a:t>ACC</a:t>
              </a:r>
            </a:p>
          </p:txBody>
        </p:sp>
      </p:grpSp>
      <p:sp>
        <p:nvSpPr>
          <p:cNvPr id="2" name="Title 1">
            <a:extLst>
              <a:ext uri="{FF2B5EF4-FFF2-40B4-BE49-F238E27FC236}">
                <a16:creationId xmlns:a16="http://schemas.microsoft.com/office/drawing/2014/main" id="{A86DA257-EC29-1DC4-A674-DBA2A7F787E2}"/>
              </a:ext>
            </a:extLst>
          </p:cNvPr>
          <p:cNvSpPr>
            <a:spLocks noGrp="1"/>
          </p:cNvSpPr>
          <p:nvPr>
            <p:ph type="title"/>
          </p:nvPr>
        </p:nvSpPr>
        <p:spPr/>
        <p:txBody>
          <a:bodyPr/>
          <a:lstStyle/>
          <a:p>
            <a:r>
              <a:rPr lang="en-US" dirty="0"/>
              <a:t>Executive Functioning</a:t>
            </a:r>
          </a:p>
        </p:txBody>
      </p:sp>
      <p:sp>
        <p:nvSpPr>
          <p:cNvPr id="3" name="Content Placeholder 2">
            <a:extLst>
              <a:ext uri="{FF2B5EF4-FFF2-40B4-BE49-F238E27FC236}">
                <a16:creationId xmlns:a16="http://schemas.microsoft.com/office/drawing/2014/main" id="{ACB299FB-F09E-5163-CCB7-BB2747A1AC83}"/>
              </a:ext>
            </a:extLst>
          </p:cNvPr>
          <p:cNvSpPr>
            <a:spLocks noGrp="1"/>
          </p:cNvSpPr>
          <p:nvPr>
            <p:ph idx="1"/>
          </p:nvPr>
        </p:nvSpPr>
        <p:spPr/>
        <p:txBody>
          <a:bodyPr>
            <a:normAutofit fontScale="92500" lnSpcReduction="10000"/>
          </a:bodyPr>
          <a:lstStyle/>
          <a:p>
            <a:pPr marL="0" indent="0">
              <a:buNone/>
            </a:pPr>
            <a:r>
              <a:rPr lang="en-US" b="1" dirty="0"/>
              <a:t>Ventrolateral PFC (</a:t>
            </a:r>
            <a:r>
              <a:rPr lang="en-US" b="1" dirty="0" err="1"/>
              <a:t>vlPFC</a:t>
            </a:r>
            <a:r>
              <a:rPr lang="en-US" b="1" dirty="0"/>
              <a:t>)</a:t>
            </a:r>
          </a:p>
          <a:p>
            <a:r>
              <a:rPr lang="en-US" dirty="0"/>
              <a:t>Inhibiting a dominant but incorrect response</a:t>
            </a:r>
          </a:p>
          <a:p>
            <a:pPr marL="457200" lvl="1" indent="0">
              <a:buNone/>
            </a:pPr>
            <a:endParaRPr lang="en-US" dirty="0"/>
          </a:p>
          <a:p>
            <a:pPr marL="0" indent="0">
              <a:buNone/>
            </a:pPr>
            <a:r>
              <a:rPr lang="en-US" b="1" dirty="0"/>
              <a:t>Ventromedial PFC (</a:t>
            </a:r>
            <a:r>
              <a:rPr lang="en-US" b="1" dirty="0" err="1"/>
              <a:t>vmPFC</a:t>
            </a:r>
            <a:r>
              <a:rPr lang="en-US" b="1" dirty="0"/>
              <a:t>)</a:t>
            </a:r>
          </a:p>
          <a:p>
            <a:r>
              <a:rPr lang="en-US" dirty="0"/>
              <a:t>Representing subjective value to guide choices</a:t>
            </a:r>
          </a:p>
          <a:p>
            <a:r>
              <a:rPr lang="en-US" dirty="0"/>
              <a:t>Integrating emotions in decision making</a:t>
            </a:r>
          </a:p>
          <a:p>
            <a:pPr marL="457200" lvl="1" indent="0">
              <a:buNone/>
            </a:pPr>
            <a:endParaRPr lang="en-US" dirty="0"/>
          </a:p>
          <a:p>
            <a:pPr marL="0" indent="0">
              <a:buNone/>
            </a:pPr>
            <a:r>
              <a:rPr lang="en-US" b="1" dirty="0"/>
              <a:t>Orbitofrontal Cortex (OFC)</a:t>
            </a:r>
          </a:p>
          <a:p>
            <a:r>
              <a:rPr lang="en-US" dirty="0"/>
              <a:t>Evaluating reward value of possible actions</a:t>
            </a:r>
          </a:p>
          <a:p>
            <a:r>
              <a:rPr lang="en-US" dirty="0"/>
              <a:t>Updating expectations based on outcome</a:t>
            </a:r>
          </a:p>
          <a:p>
            <a:pPr lvl="2"/>
            <a:endParaRPr lang="en-US" dirty="0">
              <a:highlight>
                <a:srgbClr val="FFFF00"/>
              </a:highlight>
            </a:endParaRPr>
          </a:p>
        </p:txBody>
      </p:sp>
      <p:sp>
        <p:nvSpPr>
          <p:cNvPr id="16" name="Freeform: Shape 15">
            <a:extLst>
              <a:ext uri="{FF2B5EF4-FFF2-40B4-BE49-F238E27FC236}">
                <a16:creationId xmlns:a16="http://schemas.microsoft.com/office/drawing/2014/main" id="{D922B709-B7A2-D1C2-E938-EBF7E34D8420}"/>
              </a:ext>
            </a:extLst>
          </p:cNvPr>
          <p:cNvSpPr/>
          <p:nvPr/>
        </p:nvSpPr>
        <p:spPr>
          <a:xfrm>
            <a:off x="8186057" y="5508171"/>
            <a:ext cx="2645229" cy="919843"/>
          </a:xfrm>
          <a:custGeom>
            <a:avLst/>
            <a:gdLst>
              <a:gd name="connsiteX0" fmla="*/ 299357 w 2645229"/>
              <a:gd name="connsiteY0" fmla="*/ 27215 h 919843"/>
              <a:gd name="connsiteX1" fmla="*/ 865414 w 2645229"/>
              <a:gd name="connsiteY1" fmla="*/ 0 h 919843"/>
              <a:gd name="connsiteX2" fmla="*/ 1311729 w 2645229"/>
              <a:gd name="connsiteY2" fmla="*/ 462643 h 919843"/>
              <a:gd name="connsiteX3" fmla="*/ 1556657 w 2645229"/>
              <a:gd name="connsiteY3" fmla="*/ 261258 h 919843"/>
              <a:gd name="connsiteX4" fmla="*/ 1872343 w 2645229"/>
              <a:gd name="connsiteY4" fmla="*/ 212272 h 919843"/>
              <a:gd name="connsiteX5" fmla="*/ 2645229 w 2645229"/>
              <a:gd name="connsiteY5" fmla="*/ 919843 h 919843"/>
              <a:gd name="connsiteX6" fmla="*/ 968829 w 2645229"/>
              <a:gd name="connsiteY6" fmla="*/ 908958 h 919843"/>
              <a:gd name="connsiteX7" fmla="*/ 0 w 2645229"/>
              <a:gd name="connsiteY7" fmla="*/ 609600 h 919843"/>
              <a:gd name="connsiteX8" fmla="*/ 299357 w 2645229"/>
              <a:gd name="connsiteY8" fmla="*/ 27215 h 91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5229" h="919843">
                <a:moveTo>
                  <a:pt x="299357" y="27215"/>
                </a:moveTo>
                <a:lnTo>
                  <a:pt x="865414" y="0"/>
                </a:lnTo>
                <a:lnTo>
                  <a:pt x="1311729" y="462643"/>
                </a:lnTo>
                <a:lnTo>
                  <a:pt x="1556657" y="261258"/>
                </a:lnTo>
                <a:lnTo>
                  <a:pt x="1872343" y="212272"/>
                </a:lnTo>
                <a:lnTo>
                  <a:pt x="2645229" y="919843"/>
                </a:lnTo>
                <a:lnTo>
                  <a:pt x="968829" y="908958"/>
                </a:lnTo>
                <a:lnTo>
                  <a:pt x="0" y="609600"/>
                </a:lnTo>
                <a:lnTo>
                  <a:pt x="299357" y="27215"/>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Shape 3">
            <a:extLst>
              <a:ext uri="{FF2B5EF4-FFF2-40B4-BE49-F238E27FC236}">
                <a16:creationId xmlns:a16="http://schemas.microsoft.com/office/drawing/2014/main" id="{F9D4313E-398E-3D7B-E649-D4D023F96DD9}"/>
              </a:ext>
            </a:extLst>
          </p:cNvPr>
          <p:cNvSpPr/>
          <p:nvPr/>
        </p:nvSpPr>
        <p:spPr>
          <a:xfrm>
            <a:off x="10624012" y="3550920"/>
            <a:ext cx="1539240" cy="975360"/>
          </a:xfrm>
          <a:custGeom>
            <a:avLst/>
            <a:gdLst>
              <a:gd name="csX0" fmla="*/ 0 w 1539240"/>
              <a:gd name="csY0" fmla="*/ 751840 h 975360"/>
              <a:gd name="csX1" fmla="*/ 127000 w 1539240"/>
              <a:gd name="csY1" fmla="*/ 975360 h 975360"/>
              <a:gd name="csX2" fmla="*/ 1529080 w 1539240"/>
              <a:gd name="csY2" fmla="*/ 614680 h 975360"/>
              <a:gd name="csX3" fmla="*/ 1539240 w 1539240"/>
              <a:gd name="csY3" fmla="*/ 0 h 975360"/>
              <a:gd name="csX4" fmla="*/ 264160 w 1539240"/>
              <a:gd name="csY4" fmla="*/ 157480 h 975360"/>
              <a:gd name="csX5" fmla="*/ 0 w 1539240"/>
              <a:gd name="csY5" fmla="*/ 751840 h 975360"/>
            </a:gdLst>
            <a:ahLst/>
            <a:cxnLst>
              <a:cxn ang="0">
                <a:pos x="csX0" y="csY0"/>
              </a:cxn>
              <a:cxn ang="0">
                <a:pos x="csX1" y="csY1"/>
              </a:cxn>
              <a:cxn ang="0">
                <a:pos x="csX2" y="csY2"/>
              </a:cxn>
              <a:cxn ang="0">
                <a:pos x="csX3" y="csY3"/>
              </a:cxn>
              <a:cxn ang="0">
                <a:pos x="csX4" y="csY4"/>
              </a:cxn>
              <a:cxn ang="0">
                <a:pos x="csX5" y="csY5"/>
              </a:cxn>
            </a:cxnLst>
            <a:rect l="l" t="t" r="r" b="b"/>
            <a:pathLst>
              <a:path w="1539240" h="975360">
                <a:moveTo>
                  <a:pt x="0" y="751840"/>
                </a:moveTo>
                <a:lnTo>
                  <a:pt x="127000" y="975360"/>
                </a:lnTo>
                <a:lnTo>
                  <a:pt x="1529080" y="614680"/>
                </a:lnTo>
                <a:lnTo>
                  <a:pt x="1539240" y="0"/>
                </a:lnTo>
                <a:lnTo>
                  <a:pt x="264160" y="157480"/>
                </a:lnTo>
                <a:lnTo>
                  <a:pt x="0" y="751840"/>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393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76176F-5A0E-0080-99AE-1BF8FD57412B}"/>
              </a:ext>
            </a:extLst>
          </p:cNvPr>
          <p:cNvPicPr>
            <a:picLocks noChangeAspect="1"/>
          </p:cNvPicPr>
          <p:nvPr/>
        </p:nvPicPr>
        <p:blipFill>
          <a:blip r:embed="rId3">
            <a:extLst>
              <a:ext uri="{28A0092B-C50C-407E-A947-70E740481C1C}">
                <a14:useLocalDpi xmlns:a14="http://schemas.microsoft.com/office/drawing/2010/main" val="0"/>
              </a:ext>
            </a:extLst>
          </a:blip>
          <a:srcRect l="17534"/>
          <a:stretch>
            <a:fillRect/>
          </a:stretch>
        </p:blipFill>
        <p:spPr>
          <a:xfrm>
            <a:off x="7737231" y="0"/>
            <a:ext cx="4454769" cy="6858000"/>
          </a:xfrm>
          <a:prstGeom prst="rect">
            <a:avLst/>
          </a:prstGeom>
        </p:spPr>
      </p:pic>
      <p:sp>
        <p:nvSpPr>
          <p:cNvPr id="2" name="Title 1">
            <a:extLst>
              <a:ext uri="{FF2B5EF4-FFF2-40B4-BE49-F238E27FC236}">
                <a16:creationId xmlns:a16="http://schemas.microsoft.com/office/drawing/2014/main" id="{BA416ADD-E773-4270-74A4-6EEDDBBC93B6}"/>
              </a:ext>
            </a:extLst>
          </p:cNvPr>
          <p:cNvSpPr>
            <a:spLocks noGrp="1"/>
          </p:cNvSpPr>
          <p:nvPr>
            <p:ph type="title"/>
          </p:nvPr>
        </p:nvSpPr>
        <p:spPr/>
        <p:txBody>
          <a:bodyPr/>
          <a:lstStyle/>
          <a:p>
            <a:r>
              <a:rPr lang="en-US" dirty="0"/>
              <a:t>Testable Figures</a:t>
            </a:r>
          </a:p>
        </p:txBody>
      </p:sp>
      <p:sp>
        <p:nvSpPr>
          <p:cNvPr id="3" name="TextBox 2">
            <a:extLst>
              <a:ext uri="{FF2B5EF4-FFF2-40B4-BE49-F238E27FC236}">
                <a16:creationId xmlns:a16="http://schemas.microsoft.com/office/drawing/2014/main" id="{83BD16DB-37E6-F1F5-7348-E2153B7BC2FD}"/>
              </a:ext>
            </a:extLst>
          </p:cNvPr>
          <p:cNvSpPr txBox="1"/>
          <p:nvPr/>
        </p:nvSpPr>
        <p:spPr>
          <a:xfrm>
            <a:off x="0" y="6492875"/>
            <a:ext cx="7212103" cy="369332"/>
          </a:xfrm>
          <a:prstGeom prst="rect">
            <a:avLst/>
          </a:prstGeom>
          <a:noFill/>
        </p:spPr>
        <p:txBody>
          <a:bodyPr wrap="none" rtlCol="0">
            <a:spAutoFit/>
          </a:bodyPr>
          <a:lstStyle/>
          <a:p>
            <a:r>
              <a:rPr lang="en-US" i="1" dirty="0"/>
              <a:t>All figures corresponding to the results of a study are testable material. </a:t>
            </a:r>
          </a:p>
        </p:txBody>
      </p:sp>
      <p:sp>
        <p:nvSpPr>
          <p:cNvPr id="5" name="Content Placeholder 2">
            <a:extLst>
              <a:ext uri="{FF2B5EF4-FFF2-40B4-BE49-F238E27FC236}">
                <a16:creationId xmlns:a16="http://schemas.microsoft.com/office/drawing/2014/main" id="{67F61BB8-1FC1-AFE2-DABD-CEF63125C9FB}"/>
              </a:ext>
            </a:extLst>
          </p:cNvPr>
          <p:cNvSpPr>
            <a:spLocks noGrp="1"/>
          </p:cNvSpPr>
          <p:nvPr>
            <p:ph idx="1"/>
          </p:nvPr>
        </p:nvSpPr>
        <p:spPr>
          <a:xfrm>
            <a:off x="838200" y="1825625"/>
            <a:ext cx="10515600" cy="4351338"/>
          </a:xfrm>
        </p:spPr>
        <p:txBody>
          <a:bodyPr/>
          <a:lstStyle/>
          <a:p>
            <a:pPr marL="0" indent="0">
              <a:buNone/>
            </a:pPr>
            <a:r>
              <a:rPr lang="en-US" dirty="0"/>
              <a:t>Slide 15</a:t>
            </a:r>
          </a:p>
          <a:p>
            <a:pPr marL="0" indent="0">
              <a:buNone/>
            </a:pPr>
            <a:r>
              <a:rPr lang="en-US" dirty="0"/>
              <a:t>Slides 21-23</a:t>
            </a:r>
          </a:p>
          <a:p>
            <a:pPr marL="0" indent="0">
              <a:buNone/>
            </a:pPr>
            <a:r>
              <a:rPr lang="en-US" dirty="0"/>
              <a:t>Slide 51</a:t>
            </a:r>
          </a:p>
          <a:p>
            <a:pPr marL="0" indent="0">
              <a:buNone/>
            </a:pPr>
            <a:endParaRPr lang="en-US" dirty="0"/>
          </a:p>
        </p:txBody>
      </p:sp>
    </p:spTree>
    <p:extLst>
      <p:ext uri="{BB962C8B-B14F-4D97-AF65-F5344CB8AC3E}">
        <p14:creationId xmlns:p14="http://schemas.microsoft.com/office/powerpoint/2010/main" val="1446489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c61d377-9894-427c-b13b-1d6a51662b4e}" enabled="0" method="" siteId="{9c61d377-9894-427c-b13b-1d6a51662b4e}" removed="1"/>
</clbl:labelList>
</file>

<file path=docProps/app.xml><?xml version="1.0" encoding="utf-8"?>
<Properties xmlns="http://schemas.openxmlformats.org/officeDocument/2006/extended-properties" xmlns:vt="http://schemas.openxmlformats.org/officeDocument/2006/docPropsVTypes">
  <TotalTime>10258</TotalTime>
  <Words>1832</Words>
  <Application>Microsoft Office PowerPoint</Application>
  <PresentationFormat>Widescreen</PresentationFormat>
  <Paragraphs>438</Paragraphs>
  <Slides>53</Slides>
  <Notes>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Aptos</vt:lpstr>
      <vt:lpstr>Aptos Display</vt:lpstr>
      <vt:lpstr>Arial</vt:lpstr>
      <vt:lpstr>Calibri</vt:lpstr>
      <vt:lpstr>Office Theme</vt:lpstr>
      <vt:lpstr>Attention &amp;  Executive Control</vt:lpstr>
      <vt:lpstr>PowerPoint Presentation</vt:lpstr>
      <vt:lpstr>PowerPoint Presentation</vt:lpstr>
      <vt:lpstr>Attention</vt:lpstr>
      <vt:lpstr>Attention</vt:lpstr>
      <vt:lpstr>Attention</vt:lpstr>
      <vt:lpstr>PowerPoint Presentation</vt:lpstr>
      <vt:lpstr>PowerPoint Presentation</vt:lpstr>
      <vt:lpstr>PowerPoint Presentation</vt:lpstr>
      <vt:lpstr>PowerPoint Presentation</vt:lpstr>
      <vt:lpstr>Attention</vt:lpstr>
      <vt:lpstr>Attention</vt:lpstr>
      <vt:lpstr>Attention</vt:lpstr>
      <vt:lpstr>PowerPoint Presentation</vt:lpstr>
      <vt:lpstr>Attention</vt:lpstr>
      <vt:lpstr>Attention</vt:lpstr>
      <vt:lpstr>Attention</vt:lpstr>
      <vt:lpstr>PowerPoint Presentation</vt:lpstr>
      <vt:lpstr>Attentional Components</vt:lpstr>
      <vt:lpstr>PowerPoint Presentation</vt:lpstr>
      <vt:lpstr>Attentional Components</vt:lpstr>
      <vt:lpstr>Attentional Components</vt:lpstr>
      <vt:lpstr>Attentional Components</vt:lpstr>
      <vt:lpstr>PowerPoint Presentation</vt:lpstr>
      <vt:lpstr>Executive Functioning</vt:lpstr>
      <vt:lpstr>PowerPoint Presentation</vt:lpstr>
      <vt:lpstr>PowerPoint Presentation</vt:lpstr>
      <vt:lpstr>PowerPoint Presentation</vt:lpstr>
      <vt:lpstr>PowerPoint Presentation</vt:lpstr>
      <vt:lpstr>PowerPoint Presentation</vt:lpstr>
      <vt:lpstr>PowerPoint Presentation</vt:lpstr>
      <vt:lpstr>Executive Functioning</vt:lpstr>
      <vt:lpstr>Executive Functioning</vt:lpstr>
      <vt:lpstr>Executive Functioning</vt:lpstr>
      <vt:lpstr>Executive Functioning</vt:lpstr>
      <vt:lpstr>Two Modes of Thinking</vt:lpstr>
      <vt:lpstr>Executive Functioning</vt:lpstr>
      <vt:lpstr>PowerPoint Presentation</vt:lpstr>
      <vt:lpstr>Executive Functioning</vt:lpstr>
      <vt:lpstr>Executive Functioning</vt:lpstr>
      <vt:lpstr>PowerPoint Presentation</vt:lpstr>
      <vt:lpstr>Executive Functioning</vt:lpstr>
      <vt:lpstr>Executive Functioning</vt:lpstr>
      <vt:lpstr>PowerPoint Presentation</vt:lpstr>
      <vt:lpstr>Executive Functioning</vt:lpstr>
      <vt:lpstr>Executive Functioning</vt:lpstr>
      <vt:lpstr>Executive Functioning</vt:lpstr>
      <vt:lpstr>Executive Functioning</vt:lpstr>
      <vt:lpstr>Executive Functioning</vt:lpstr>
      <vt:lpstr>Executive Functioning</vt:lpstr>
      <vt:lpstr>Executive Functioning</vt:lpstr>
      <vt:lpstr>Executive Functioning</vt:lpstr>
      <vt:lpstr>Testable Figures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2</cp:revision>
  <dcterms:created xsi:type="dcterms:W3CDTF">2025-08-11T14:51:42Z</dcterms:created>
  <dcterms:modified xsi:type="dcterms:W3CDTF">2026-07-28T22:02:03Z</dcterms:modified>
</cp:coreProperties>
</file>