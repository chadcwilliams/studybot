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7" r:id="rId2"/>
    <p:sldId id="280" r:id="rId3"/>
    <p:sldId id="340" r:id="rId4"/>
    <p:sldId id="283" r:id="rId5"/>
    <p:sldId id="284" r:id="rId6"/>
    <p:sldId id="285" r:id="rId7"/>
    <p:sldId id="341" r:id="rId8"/>
    <p:sldId id="286" r:id="rId9"/>
    <p:sldId id="342" r:id="rId10"/>
    <p:sldId id="294" r:id="rId11"/>
    <p:sldId id="291" r:id="rId12"/>
    <p:sldId id="347" r:id="rId13"/>
    <p:sldId id="292" r:id="rId14"/>
    <p:sldId id="488" r:id="rId15"/>
    <p:sldId id="295" r:id="rId16"/>
    <p:sldId id="348" r:id="rId17"/>
    <p:sldId id="349" r:id="rId18"/>
    <p:sldId id="289" r:id="rId19"/>
    <p:sldId id="297" r:id="rId20"/>
    <p:sldId id="489" r:id="rId21"/>
    <p:sldId id="343" r:id="rId22"/>
    <p:sldId id="298" r:id="rId23"/>
    <p:sldId id="299" r:id="rId24"/>
    <p:sldId id="300" r:id="rId25"/>
    <p:sldId id="301" r:id="rId26"/>
    <p:sldId id="344" r:id="rId27"/>
    <p:sldId id="304" r:id="rId28"/>
    <p:sldId id="305" r:id="rId29"/>
    <p:sldId id="306" r:id="rId30"/>
    <p:sldId id="336" r:id="rId31"/>
    <p:sldId id="334" r:id="rId32"/>
    <p:sldId id="335" r:id="rId33"/>
    <p:sldId id="345" r:id="rId34"/>
    <p:sldId id="338" r:id="rId35"/>
    <p:sldId id="486" r:id="rId36"/>
    <p:sldId id="478" r:id="rId37"/>
    <p:sldId id="487" r:id="rId38"/>
    <p:sldId id="482" r:id="rId39"/>
    <p:sldId id="475" r:id="rId40"/>
    <p:sldId id="480" r:id="rId41"/>
    <p:sldId id="481" r:id="rId42"/>
    <p:sldId id="312" r:id="rId43"/>
    <p:sldId id="363"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6082"/>
    <a:srgbClr val="E97132"/>
    <a:srgbClr val="215F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465419-D4BA-4B79-AD58-98E23D747F6F}" v="1" dt="2026-07-28T21:48:32.9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varScale="1">
        <p:scale>
          <a:sx n="118" d="100"/>
          <a:sy n="118" d="100"/>
        </p:scale>
        <p:origin x="14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d Williams" userId="618f96a3-8672-4e43-ae03-eeed93bb7387" providerId="ADAL" clId="{DFF2BB08-185E-495B-B2A0-BE0942C7B81E}"/>
    <pc:docChg chg="undo custSel addSld delSld modSld sldOrd">
      <pc:chgData name="Chad Williams" userId="618f96a3-8672-4e43-ae03-eeed93bb7387" providerId="ADAL" clId="{DFF2BB08-185E-495B-B2A0-BE0942C7B81E}" dt="2026-07-28T21:51:05.849" v="5990" actId="20577"/>
      <pc:docMkLst>
        <pc:docMk/>
      </pc:docMkLst>
      <pc:sldChg chg="modSp add mod">
        <pc:chgData name="Chad Williams" userId="618f96a3-8672-4e43-ae03-eeed93bb7387" providerId="ADAL" clId="{DFF2BB08-185E-495B-B2A0-BE0942C7B81E}" dt="2026-07-28T21:51:05.849" v="5990" actId="20577"/>
        <pc:sldMkLst>
          <pc:docMk/>
          <pc:sldMk cId="1446489920" sldId="363"/>
        </pc:sldMkLst>
        <pc:spChg chg="mod">
          <ac:chgData name="Chad Williams" userId="618f96a3-8672-4e43-ae03-eeed93bb7387" providerId="ADAL" clId="{DFF2BB08-185E-495B-B2A0-BE0942C7B81E}" dt="2026-07-28T21:51:05.849" v="5990" actId="20577"/>
          <ac:spMkLst>
            <pc:docMk/>
            <pc:sldMk cId="1446489920" sldId="363"/>
            <ac:spMk id="5" creationId="{67F61BB8-1FC1-AFE2-DABD-CEF63125C9F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A58E55-DF54-4DED-9AD7-D46FCB7DC95A}" type="datetimeFigureOut">
              <a:rPr lang="en-US" smtClean="0"/>
              <a:t>7/28/2026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5B977-0B2D-4610-A9FA-D6352649F8AC}" type="slidenum">
              <a:rPr lang="en-US" smtClean="0"/>
              <a:t>‹#›</a:t>
            </a:fld>
            <a:endParaRPr lang="en-US"/>
          </a:p>
        </p:txBody>
      </p:sp>
    </p:spTree>
    <p:extLst>
      <p:ext uri="{BB962C8B-B14F-4D97-AF65-F5344CB8AC3E}">
        <p14:creationId xmlns:p14="http://schemas.microsoft.com/office/powerpoint/2010/main" val="41054981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13</a:t>
            </a:fld>
            <a:endParaRPr lang="en-US"/>
          </a:p>
        </p:txBody>
      </p:sp>
    </p:spTree>
    <p:extLst>
      <p:ext uri="{BB962C8B-B14F-4D97-AF65-F5344CB8AC3E}">
        <p14:creationId xmlns:p14="http://schemas.microsoft.com/office/powerpoint/2010/main" val="1292916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64903-BA2B-7AAC-21B0-76B2145CD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1A3ACE-0128-4C96-909C-943FF30007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32B1E8-15EF-7D00-61DB-BA6B0EFA97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620743-A7B6-244A-2C3B-CFCE636A5BB2}"/>
              </a:ext>
            </a:extLst>
          </p:cNvPr>
          <p:cNvSpPr>
            <a:spLocks noGrp="1"/>
          </p:cNvSpPr>
          <p:nvPr>
            <p:ph type="sldNum" sz="quarter" idx="5"/>
          </p:nvPr>
        </p:nvSpPr>
        <p:spPr/>
        <p:txBody>
          <a:bodyPr/>
          <a:lstStyle/>
          <a:p>
            <a:fld id="{81B5B977-0B2D-4610-A9FA-D6352649F8AC}" type="slidenum">
              <a:rPr lang="en-US" smtClean="0"/>
              <a:t>14</a:t>
            </a:fld>
            <a:endParaRPr lang="en-US"/>
          </a:p>
        </p:txBody>
      </p:sp>
    </p:spTree>
    <p:extLst>
      <p:ext uri="{BB962C8B-B14F-4D97-AF65-F5344CB8AC3E}">
        <p14:creationId xmlns:p14="http://schemas.microsoft.com/office/powerpoint/2010/main" val="3005758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30</a:t>
            </a:fld>
            <a:endParaRPr lang="en-US"/>
          </a:p>
        </p:txBody>
      </p:sp>
    </p:spTree>
    <p:extLst>
      <p:ext uri="{BB962C8B-B14F-4D97-AF65-F5344CB8AC3E}">
        <p14:creationId xmlns:p14="http://schemas.microsoft.com/office/powerpoint/2010/main" val="1462941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42</a:t>
            </a:fld>
            <a:endParaRPr lang="en-US"/>
          </a:p>
        </p:txBody>
      </p:sp>
    </p:spTree>
    <p:extLst>
      <p:ext uri="{BB962C8B-B14F-4D97-AF65-F5344CB8AC3E}">
        <p14:creationId xmlns:p14="http://schemas.microsoft.com/office/powerpoint/2010/main" val="2402571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B5B977-0B2D-4610-A9FA-D6352649F8AC}" type="slidenum">
              <a:rPr lang="en-US" smtClean="0"/>
              <a:t>43</a:t>
            </a:fld>
            <a:endParaRPr lang="en-US"/>
          </a:p>
        </p:txBody>
      </p:sp>
    </p:spTree>
    <p:extLst>
      <p:ext uri="{BB962C8B-B14F-4D97-AF65-F5344CB8AC3E}">
        <p14:creationId xmlns:p14="http://schemas.microsoft.com/office/powerpoint/2010/main" val="3417364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CC9F-153C-5BED-77D1-0EA8FA851C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4AFA1B-9317-E4FA-9E5F-71F307F14B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BA73E4-6544-A008-5669-868A3733E124}"/>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ECEB6D09-B653-253C-7468-CB6957216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43E8E0-BCE4-8E2F-3CAF-4A0155F06C56}"/>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63491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D079-863E-8E80-51B0-7CE72BACC0F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103BEF-88ED-FA81-799F-132222CC51F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772EFB-BE09-46CC-5EB5-923F524CE21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4826EFA9-57FE-A7B8-0152-0677077C84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A9A541-BCB9-1489-0D4F-34671F1D1B0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046767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A1885-73A8-5C98-F85B-FD93EF337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FC37A30-0AAF-9C64-D450-3D3E62C289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DA13C8-8130-0C7A-54B4-8B2AA151012C}"/>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3FD934BF-4EF4-090A-5327-72E3A11168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3C1FC7-CF5C-AD75-EEBC-C726161ED01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467823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6A28B-31B8-90E0-AADB-E4AC95AD4C3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0A5B33-9A1F-2B19-2C08-444D6F7E55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26D7EEE-51DA-00F0-2BC4-0203809C71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3B6CCE-3D6C-9C92-E8CD-17CF1A156521}"/>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67C9986-80E1-876A-BDE4-EF8F4D69CA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FFCFA4-1493-0C60-41EB-5E0360F8EA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20551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5F673-6B17-CAA7-EDD6-EB6A46BEC53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E42013-5E11-D28F-B4C3-E07D6D43AE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74C146-9506-960E-B2C6-114BA15006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EBEDC7-17C2-A78A-F73C-3BFFAAC160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AF650B-E297-256A-06A0-1688F7254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01E005-308A-9E31-CDC4-583D302CCF90}"/>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8" name="Footer Placeholder 7">
            <a:extLst>
              <a:ext uri="{FF2B5EF4-FFF2-40B4-BE49-F238E27FC236}">
                <a16:creationId xmlns:a16="http://schemas.microsoft.com/office/drawing/2014/main" id="{4888BA9C-2513-9724-E7D8-B6AEAE22AF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60F89A-69C7-2DC4-2A67-FB0B568A64EF}"/>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390201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729B60-4ECB-D4C5-8F9C-72E834BA593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6469B5F-2004-DA7B-ABF6-7D712B038AE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4" name="Footer Placeholder 3">
            <a:extLst>
              <a:ext uri="{FF2B5EF4-FFF2-40B4-BE49-F238E27FC236}">
                <a16:creationId xmlns:a16="http://schemas.microsoft.com/office/drawing/2014/main" id="{EA00A102-A3B7-C8B1-77C9-E4C9BB9858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487EC4-7497-0271-3E6A-E842B57483B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0206661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E70430-559B-8C59-E57F-58CA50ADF97A}"/>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3" name="Footer Placeholder 2">
            <a:extLst>
              <a:ext uri="{FF2B5EF4-FFF2-40B4-BE49-F238E27FC236}">
                <a16:creationId xmlns:a16="http://schemas.microsoft.com/office/drawing/2014/main" id="{A5199E04-CCEF-3AEF-0EB8-28DACA67142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3C6E08-EFFD-76A2-23F6-9951F33CF72A}"/>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52776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980C6-0265-BCB2-D248-70F79E4FA6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C3128-5EA3-9110-61E8-6E54054C5D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6DFD61-4640-6E89-117E-8033F215AA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CDAE60-E065-FA6D-E126-F6A63283DD69}"/>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1E7DA105-935B-CDCB-5819-3E9730FC08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CB2526E-01B6-82CE-B0F6-217F7B28CF6C}"/>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7565661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9489F-F723-CF7F-7BF9-B198245EF6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1D3A86-032B-BCD7-6A72-9F5BEBC9AF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6F5CEA-D30D-B373-82E9-DCD1FAE807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29203E-0C3D-FD43-06CF-BFC0FE6F73A7}"/>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6" name="Footer Placeholder 5">
            <a:extLst>
              <a:ext uri="{FF2B5EF4-FFF2-40B4-BE49-F238E27FC236}">
                <a16:creationId xmlns:a16="http://schemas.microsoft.com/office/drawing/2014/main" id="{8D0392B7-3636-A5E9-BA01-ECA6E682D4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F85FEB-1518-7D4D-8A18-4FE72BCE5F61}"/>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39625450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48754-A5FA-D976-080B-7F0E83EF78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BD0E94-9358-341D-4038-E768882680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095BA3-992C-3CDB-41CD-646B7C252618}"/>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6EAEFD14-CAE1-5E67-18B9-50B714E34D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5021C-74B3-CB99-976A-1F95B561168E}"/>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299563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E7540-105A-F4AF-F5BE-954009823E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C61B68-319D-3491-F4AB-52C88C4C74E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548040-C41C-A2CF-88F3-C132E0479FCB}"/>
              </a:ext>
            </a:extLst>
          </p:cNvPr>
          <p:cNvSpPr>
            <a:spLocks noGrp="1"/>
          </p:cNvSpPr>
          <p:nvPr>
            <p:ph type="dt" sz="half" idx="10"/>
          </p:nvPr>
        </p:nvSpPr>
        <p:spPr/>
        <p:txBody>
          <a:body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ADDF7DA8-1DE6-4EA3-1B7F-D800D360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EBA4F0-46E8-02C8-7D5F-BE788AB8E0D0}"/>
              </a:ext>
            </a:extLst>
          </p:cNvPr>
          <p:cNvSpPr>
            <a:spLocks noGrp="1"/>
          </p:cNvSpPr>
          <p:nvPr>
            <p:ph type="sldNum" sz="quarter" idx="12"/>
          </p:nvPr>
        </p:nvSpPr>
        <p:spPr/>
        <p:txBody>
          <a:bodyPr/>
          <a:lstStyle/>
          <a:p>
            <a:fld id="{69F13C4C-01C6-4528-B855-C0BB2AC8454B}" type="slidenum">
              <a:rPr lang="en-US" smtClean="0"/>
              <a:t>‹#›</a:t>
            </a:fld>
            <a:endParaRPr lang="en-US"/>
          </a:p>
        </p:txBody>
      </p:sp>
    </p:spTree>
    <p:extLst>
      <p:ext uri="{BB962C8B-B14F-4D97-AF65-F5344CB8AC3E}">
        <p14:creationId xmlns:p14="http://schemas.microsoft.com/office/powerpoint/2010/main" val="1505573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9EEC4E-DC2D-5EE1-5C7A-4C25929572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D4BA5-8DC3-EE54-47B9-587EBF40AD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31E6DD-3F7D-93DE-45F6-7A594444FC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C11407-8E1B-4C97-B51B-FFA28C554ED7}" type="datetimeFigureOut">
              <a:rPr lang="en-US" smtClean="0"/>
              <a:t>7/28/2026</a:t>
            </a:fld>
            <a:endParaRPr lang="en-US"/>
          </a:p>
        </p:txBody>
      </p:sp>
      <p:sp>
        <p:nvSpPr>
          <p:cNvPr id="5" name="Footer Placeholder 4">
            <a:extLst>
              <a:ext uri="{FF2B5EF4-FFF2-40B4-BE49-F238E27FC236}">
                <a16:creationId xmlns:a16="http://schemas.microsoft.com/office/drawing/2014/main" id="{C9C9E689-9319-DF25-D096-A79BFECCEA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C9A93C1-3576-E67E-2759-17A9F78C56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F13C4C-01C6-4528-B855-C0BB2AC8454B}" type="slidenum">
              <a:rPr lang="en-US" smtClean="0"/>
              <a:t>‹#›</a:t>
            </a:fld>
            <a:endParaRPr lang="en-US"/>
          </a:p>
        </p:txBody>
      </p:sp>
    </p:spTree>
    <p:extLst>
      <p:ext uri="{BB962C8B-B14F-4D97-AF65-F5344CB8AC3E}">
        <p14:creationId xmlns:p14="http://schemas.microsoft.com/office/powerpoint/2010/main" val="16162050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2.xml"/><Relationship Id="rId1" Type="http://schemas.openxmlformats.org/officeDocument/2006/relationships/video" Target="https://www.youtube.com/embed/3F0U-VuLaec?feature=oembed"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2.xml"/><Relationship Id="rId1" Type="http://schemas.openxmlformats.org/officeDocument/2006/relationships/video" Target="https://www.youtube.com/embed/GOu5nhQLYz8?feature=oembed"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slideLayout" Target="../slideLayouts/slideLayout2.xml"/><Relationship Id="rId1" Type="http://schemas.openxmlformats.org/officeDocument/2006/relationships/video" Target="https://www.youtube.com/embed/CXCGqwdtJ78?start=64&amp;feature=oembed"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04505-984A-784F-B784-AEBB8FD005B0}"/>
              </a:ext>
            </a:extLst>
          </p:cNvPr>
          <p:cNvSpPr>
            <a:spLocks noGrp="1"/>
          </p:cNvSpPr>
          <p:nvPr>
            <p:ph type="ctrTitle"/>
          </p:nvPr>
        </p:nvSpPr>
        <p:spPr>
          <a:xfrm>
            <a:off x="5872805" y="1122363"/>
            <a:ext cx="6197089" cy="2387600"/>
          </a:xfrm>
        </p:spPr>
        <p:txBody>
          <a:bodyPr>
            <a:noAutofit/>
          </a:bodyPr>
          <a:lstStyle/>
          <a:p>
            <a:r>
              <a:rPr lang="en-US" sz="4800" b="1" dirty="0">
                <a:latin typeface="Calibri" panose="020F0502020204030204" pitchFamily="34" charset="0"/>
                <a:cs typeface="Calibri" panose="020F0502020204030204" pitchFamily="34" charset="0"/>
              </a:rPr>
              <a:t>Motor Control</a:t>
            </a:r>
          </a:p>
        </p:txBody>
      </p:sp>
      <p:sp>
        <p:nvSpPr>
          <p:cNvPr id="3" name="Subtitle 2">
            <a:extLst>
              <a:ext uri="{FF2B5EF4-FFF2-40B4-BE49-F238E27FC236}">
                <a16:creationId xmlns:a16="http://schemas.microsoft.com/office/drawing/2014/main" id="{3C4BDEC7-4CE5-0C42-AD2E-FA8453064E39}"/>
              </a:ext>
            </a:extLst>
          </p:cNvPr>
          <p:cNvSpPr>
            <a:spLocks noGrp="1"/>
          </p:cNvSpPr>
          <p:nvPr>
            <p:ph type="subTitle" idx="1"/>
          </p:nvPr>
        </p:nvSpPr>
        <p:spPr>
          <a:xfrm>
            <a:off x="5872805" y="3602038"/>
            <a:ext cx="6197089" cy="1655762"/>
          </a:xfrm>
        </p:spPr>
        <p:txBody>
          <a:bodyPr>
            <a:normAutofit/>
          </a:bodyPr>
          <a:lstStyle/>
          <a:p>
            <a:r>
              <a:rPr lang="en-US" sz="3600" dirty="0"/>
              <a:t>Chad Williams</a:t>
            </a:r>
          </a:p>
          <a:p>
            <a:r>
              <a:rPr lang="en-US" sz="2800" dirty="0"/>
              <a:t>University of Victoria</a:t>
            </a:r>
            <a:endParaRPr lang="en-US" dirty="0"/>
          </a:p>
        </p:txBody>
      </p:sp>
      <p:pic>
        <p:nvPicPr>
          <p:cNvPr id="10" name="Picture 9" descr="A colorful and black and white brain&#10;&#10;AI-generated content may be incorrect.">
            <a:extLst>
              <a:ext uri="{FF2B5EF4-FFF2-40B4-BE49-F238E27FC236}">
                <a16:creationId xmlns:a16="http://schemas.microsoft.com/office/drawing/2014/main" id="{2517674F-1EF5-6501-66B2-CCB81D59B9A8}"/>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639529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7E4F8C96-B1F8-F340-9530-E0398316CFA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FF63C198-1FEA-CEA5-594F-622A66BCB8FD}"/>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97783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1FC0D-5539-96D7-518D-ABFE5313B270}"/>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F12DDCD3-DD31-3E79-130B-C1A91D8F5BBD}"/>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E93B329C-9FC9-33FD-9238-3CFE2BCCDDBB}"/>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116092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vement is Key">
            <a:extLst>
              <a:ext uri="{FF2B5EF4-FFF2-40B4-BE49-F238E27FC236}">
                <a16:creationId xmlns:a16="http://schemas.microsoft.com/office/drawing/2014/main" id="{02081A40-E7BD-B68B-1BFB-39662FD36E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4240114"/>
            <a:ext cx="8382000" cy="254406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80059783-1620-E898-38D6-A1500E0AC582}"/>
              </a:ext>
            </a:extLst>
          </p:cNvPr>
          <p:cNvSpPr>
            <a:spLocks noGrp="1"/>
          </p:cNvSpPr>
          <p:nvPr>
            <p:ph type="title"/>
          </p:nvPr>
        </p:nvSpPr>
        <p:spPr/>
        <p:txBody>
          <a:bodyPr/>
          <a:lstStyle/>
          <a:p>
            <a:r>
              <a:rPr lang="en-US" dirty="0"/>
              <a:t>Motor Control</a:t>
            </a:r>
          </a:p>
        </p:txBody>
      </p:sp>
      <p:sp>
        <p:nvSpPr>
          <p:cNvPr id="3" name="Content Placeholder 2">
            <a:extLst>
              <a:ext uri="{FF2B5EF4-FFF2-40B4-BE49-F238E27FC236}">
                <a16:creationId xmlns:a16="http://schemas.microsoft.com/office/drawing/2014/main" id="{408F32E5-906E-BCFB-086B-4B12E3636A44}"/>
              </a:ext>
            </a:extLst>
          </p:cNvPr>
          <p:cNvSpPr>
            <a:spLocks noGrp="1"/>
          </p:cNvSpPr>
          <p:nvPr>
            <p:ph idx="1"/>
          </p:nvPr>
        </p:nvSpPr>
        <p:spPr>
          <a:xfrm>
            <a:off x="838200" y="1825625"/>
            <a:ext cx="10515600" cy="4351338"/>
          </a:xfrm>
        </p:spPr>
        <p:txBody>
          <a:bodyPr/>
          <a:lstStyle/>
          <a:p>
            <a:pPr marL="0" indent="0">
              <a:buNone/>
            </a:pPr>
            <a:r>
              <a:rPr lang="en-US" b="1" dirty="0"/>
              <a:t>Motor Control</a:t>
            </a:r>
            <a:endParaRPr lang="en-US" dirty="0"/>
          </a:p>
          <a:p>
            <a:r>
              <a:rPr lang="en-US" b="1" dirty="0"/>
              <a:t>Reflexes</a:t>
            </a:r>
            <a:r>
              <a:rPr lang="en-US" dirty="0"/>
              <a:t>: Simple, consistent responses to sensory stimuli</a:t>
            </a:r>
          </a:p>
          <a:p>
            <a:pPr lvl="1"/>
            <a:r>
              <a:rPr lang="en-US" dirty="0"/>
              <a:t>Involuntary</a:t>
            </a:r>
          </a:p>
          <a:p>
            <a:pPr lvl="1"/>
            <a:endParaRPr lang="en-US" dirty="0"/>
          </a:p>
          <a:p>
            <a:r>
              <a:rPr lang="en-US" b="1" dirty="0"/>
              <a:t>Motor Plan/ Program</a:t>
            </a:r>
            <a:r>
              <a:rPr lang="en-US" dirty="0"/>
              <a:t>: Complex sets of commands to muscles established before </a:t>
            </a:r>
            <a:r>
              <a:rPr lang="en-US" dirty="0" err="1"/>
              <a:t>behaviour</a:t>
            </a:r>
            <a:endParaRPr lang="en-US" dirty="0"/>
          </a:p>
          <a:p>
            <a:pPr lvl="1"/>
            <a:r>
              <a:rPr lang="en-US" dirty="0"/>
              <a:t>Voluntary</a:t>
            </a:r>
          </a:p>
          <a:p>
            <a:pPr marL="0" indent="0">
              <a:buNone/>
            </a:pPr>
            <a:endParaRPr lang="en-US" dirty="0"/>
          </a:p>
        </p:txBody>
      </p:sp>
    </p:spTree>
    <p:extLst>
      <p:ext uri="{BB962C8B-B14F-4D97-AF65-F5344CB8AC3E}">
        <p14:creationId xmlns:p14="http://schemas.microsoft.com/office/powerpoint/2010/main" val="3905370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5B2F5-3BB4-BFDA-C938-AA84F175795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AC50D2C-A68C-FC80-BCBC-2692260D3D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19013" y="1777443"/>
            <a:ext cx="3924848" cy="3982006"/>
          </a:xfrm>
          <a:prstGeom prst="rect">
            <a:avLst/>
          </a:prstGeom>
        </p:spPr>
      </p:pic>
      <p:sp>
        <p:nvSpPr>
          <p:cNvPr id="2" name="Title 1">
            <a:extLst>
              <a:ext uri="{FF2B5EF4-FFF2-40B4-BE49-F238E27FC236}">
                <a16:creationId xmlns:a16="http://schemas.microsoft.com/office/drawing/2014/main" id="{54D24452-E7F3-5333-C966-68F4F046A64C}"/>
              </a:ext>
            </a:extLst>
          </p:cNvPr>
          <p:cNvSpPr>
            <a:spLocks noGrp="1"/>
          </p:cNvSpPr>
          <p:nvPr>
            <p:ph type="title"/>
          </p:nvPr>
        </p:nvSpPr>
        <p:spPr/>
        <p:txBody>
          <a:bodyPr/>
          <a:lstStyle/>
          <a:p>
            <a:r>
              <a:rPr lang="en-US" dirty="0"/>
              <a:t>Motor Control</a:t>
            </a:r>
          </a:p>
        </p:txBody>
      </p:sp>
      <p:sp>
        <p:nvSpPr>
          <p:cNvPr id="3" name="Content Placeholder 2">
            <a:extLst>
              <a:ext uri="{FF2B5EF4-FFF2-40B4-BE49-F238E27FC236}">
                <a16:creationId xmlns:a16="http://schemas.microsoft.com/office/drawing/2014/main" id="{36B29CDC-9DF9-C5EF-3750-B609E3A47A12}"/>
              </a:ext>
            </a:extLst>
          </p:cNvPr>
          <p:cNvSpPr>
            <a:spLocks noGrp="1"/>
          </p:cNvSpPr>
          <p:nvPr>
            <p:ph idx="1"/>
          </p:nvPr>
        </p:nvSpPr>
        <p:spPr>
          <a:xfrm>
            <a:off x="838200" y="1825625"/>
            <a:ext cx="6362700" cy="4351338"/>
          </a:xfrm>
        </p:spPr>
        <p:txBody>
          <a:bodyPr/>
          <a:lstStyle/>
          <a:p>
            <a:pPr marL="0" indent="0">
              <a:buNone/>
            </a:pPr>
            <a:r>
              <a:rPr lang="en-US" b="1" dirty="0"/>
              <a:t>Speed-Accuracy Tradeoff</a:t>
            </a:r>
            <a:r>
              <a:rPr lang="en-US" dirty="0"/>
              <a:t>: A negative</a:t>
            </a:r>
            <a:r>
              <a:rPr lang="en-US" i="1" dirty="0"/>
              <a:t> </a:t>
            </a:r>
            <a:r>
              <a:rPr lang="en-US" dirty="0"/>
              <a:t>relationship between speed and accuracy</a:t>
            </a:r>
          </a:p>
          <a:p>
            <a:r>
              <a:rPr lang="en-US" b="1" dirty="0"/>
              <a:t>Closed-Loop Control</a:t>
            </a:r>
            <a:r>
              <a:rPr lang="en-US" dirty="0"/>
              <a:t>: Control achieved by adjusting motor commands to external feedback</a:t>
            </a:r>
          </a:p>
          <a:p>
            <a:pPr lvl="1"/>
            <a:r>
              <a:rPr lang="en-US" dirty="0"/>
              <a:t>Continuous process until desired movement is achieved</a:t>
            </a:r>
          </a:p>
          <a:p>
            <a:pPr lvl="1"/>
            <a:r>
              <a:rPr lang="en-US" dirty="0"/>
              <a:t>Maximizes accuracy</a:t>
            </a:r>
          </a:p>
          <a:p>
            <a:pPr lvl="1"/>
            <a:r>
              <a:rPr lang="en-US" dirty="0"/>
              <a:t>e.g., keeping stable on ice</a:t>
            </a:r>
          </a:p>
        </p:txBody>
      </p:sp>
      <p:pic>
        <p:nvPicPr>
          <p:cNvPr id="1026" name="Picture 2" descr="Slipping On Ice GIFs | Tenor">
            <a:extLst>
              <a:ext uri="{FF2B5EF4-FFF2-40B4-BE49-F238E27FC236}">
                <a16:creationId xmlns:a16="http://schemas.microsoft.com/office/drawing/2014/main" id="{5AE9E1B4-C8AD-EA9F-1176-69426AC898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0036" y="1785868"/>
            <a:ext cx="3943764" cy="3943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128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AB85B-FBA6-F565-321C-62CB596491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4A3508-E7D5-C3A7-B91F-9E8323503A72}"/>
              </a:ext>
            </a:extLst>
          </p:cNvPr>
          <p:cNvSpPr>
            <a:spLocks noGrp="1"/>
          </p:cNvSpPr>
          <p:nvPr>
            <p:ph type="title"/>
          </p:nvPr>
        </p:nvSpPr>
        <p:spPr/>
        <p:txBody>
          <a:bodyPr/>
          <a:lstStyle/>
          <a:p>
            <a:r>
              <a:rPr lang="en-US" dirty="0"/>
              <a:t>Motor Control</a:t>
            </a:r>
          </a:p>
        </p:txBody>
      </p:sp>
      <p:sp>
        <p:nvSpPr>
          <p:cNvPr id="3" name="Content Placeholder 2">
            <a:extLst>
              <a:ext uri="{FF2B5EF4-FFF2-40B4-BE49-F238E27FC236}">
                <a16:creationId xmlns:a16="http://schemas.microsoft.com/office/drawing/2014/main" id="{267AAB20-2AF5-FA46-5AE1-295C8216CA83}"/>
              </a:ext>
            </a:extLst>
          </p:cNvPr>
          <p:cNvSpPr>
            <a:spLocks noGrp="1"/>
          </p:cNvSpPr>
          <p:nvPr>
            <p:ph idx="1"/>
          </p:nvPr>
        </p:nvSpPr>
        <p:spPr>
          <a:xfrm>
            <a:off x="838200" y="1825625"/>
            <a:ext cx="6504826" cy="4933990"/>
          </a:xfrm>
        </p:spPr>
        <p:txBody>
          <a:bodyPr>
            <a:normAutofit/>
          </a:bodyPr>
          <a:lstStyle/>
          <a:p>
            <a:pPr marL="0" indent="0">
              <a:buNone/>
            </a:pPr>
            <a:r>
              <a:rPr lang="en-US" b="1" dirty="0"/>
              <a:t>Speed-Accuracy Tradeoff</a:t>
            </a:r>
          </a:p>
          <a:p>
            <a:r>
              <a:rPr lang="en-US" b="1" dirty="0"/>
              <a:t>Open-Loop Control: </a:t>
            </a:r>
            <a:r>
              <a:rPr lang="en-US" dirty="0"/>
              <a:t>Preprogrammed responses that do not integrate external feedback during movement</a:t>
            </a:r>
            <a:endParaRPr lang="en-US" b="1" dirty="0"/>
          </a:p>
          <a:p>
            <a:pPr lvl="1"/>
            <a:r>
              <a:rPr lang="en-US" dirty="0"/>
              <a:t>Rapid process that does not allow time for feedback integration</a:t>
            </a:r>
          </a:p>
          <a:p>
            <a:pPr lvl="1"/>
            <a:r>
              <a:rPr lang="en-US" dirty="0"/>
              <a:t>Maximizes speed</a:t>
            </a:r>
          </a:p>
          <a:p>
            <a:pPr lvl="1"/>
            <a:r>
              <a:rPr lang="en-US" dirty="0"/>
              <a:t>Correcting these responses require adapting the program </a:t>
            </a:r>
            <a:r>
              <a:rPr lang="en-US" i="1" dirty="0"/>
              <a:t>across </a:t>
            </a:r>
            <a:r>
              <a:rPr lang="en-US" dirty="0"/>
              <a:t>occurrences</a:t>
            </a:r>
          </a:p>
          <a:p>
            <a:pPr lvl="1"/>
            <a:r>
              <a:rPr lang="en-US" dirty="0"/>
              <a:t>E.g., speeded punch in martial arts</a:t>
            </a:r>
          </a:p>
        </p:txBody>
      </p:sp>
      <p:pic>
        <p:nvPicPr>
          <p:cNvPr id="6" name="Online Media 5" title="BASIC KARATE TRAINING IN JAPAN | WITH RIKA USAMI">
            <a:hlinkClick r:id="" action="ppaction://media"/>
            <a:extLst>
              <a:ext uri="{FF2B5EF4-FFF2-40B4-BE49-F238E27FC236}">
                <a16:creationId xmlns:a16="http://schemas.microsoft.com/office/drawing/2014/main" id="{5A98CBAB-44D3-33CE-20F8-A840ABA45ED2}"/>
              </a:ext>
            </a:extLst>
          </p:cNvPr>
          <p:cNvPicPr>
            <a:picLocks noRot="1" noChangeAspect="1"/>
          </p:cNvPicPr>
          <p:nvPr>
            <a:videoFile r:link="rId1"/>
          </p:nvPr>
        </p:nvPicPr>
        <p:blipFill>
          <a:blip r:embed="rId3"/>
          <a:stretch>
            <a:fillRect/>
          </a:stretch>
        </p:blipFill>
        <p:spPr>
          <a:xfrm>
            <a:off x="8539163" y="835025"/>
            <a:ext cx="3062287" cy="5419534"/>
          </a:xfrm>
          <a:prstGeom prst="rect">
            <a:avLst/>
          </a:prstGeom>
        </p:spPr>
      </p:pic>
    </p:spTree>
    <p:extLst>
      <p:ext uri="{BB962C8B-B14F-4D97-AF65-F5344CB8AC3E}">
        <p14:creationId xmlns:p14="http://schemas.microsoft.com/office/powerpoint/2010/main" val="327102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mediacall" presetSubtype="0" fill="hold" nodeType="clickEffect">
                                  <p:stCondLst>
                                    <p:cond delay="0"/>
                                  </p:stCondLst>
                                  <p:childTnLst>
                                    <p:cmd type="call" cmd="playFrom(0.0)">
                                      <p:cBhvr>
                                        <p:cTn id="22"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23" fill="hold" display="0">
                  <p:stCondLst>
                    <p:cond delay="indefinite"/>
                  </p:stCondLst>
                </p:cTn>
                <p:tgtEl>
                  <p:spTgt spid="6"/>
                </p:tgtEl>
              </p:cMediaNode>
            </p:video>
            <p:seq concurrent="1" nextAc="seek">
              <p:cTn id="24" restart="whenNotActive" fill="hold" evtFilter="cancelBubble" nodeType="interactiveSeq">
                <p:stCondLst>
                  <p:cond evt="onClick" delay="0">
                    <p:tgtEl>
                      <p:spTgt spid="6"/>
                    </p:tgtEl>
                  </p:cond>
                </p:stCondLst>
                <p:endSync evt="end" delay="0">
                  <p:rtn val="all"/>
                </p:endSync>
                <p:childTnLst>
                  <p:par>
                    <p:cTn id="25" fill="hold">
                      <p:stCondLst>
                        <p:cond delay="0"/>
                      </p:stCondLst>
                      <p:childTnLst>
                        <p:par>
                          <p:cTn id="26" fill="hold">
                            <p:stCondLst>
                              <p:cond delay="0"/>
                            </p:stCondLst>
                            <p:childTnLst>
                              <p:par>
                                <p:cTn id="27" presetID="2" presetClass="mediacall" presetSubtype="0" fill="hold" nodeType="clickEffect">
                                  <p:stCondLst>
                                    <p:cond delay="0"/>
                                  </p:stCondLst>
                                  <p:childTnLst>
                                    <p:cmd type="call" cmd="togglePause">
                                      <p:cBhvr>
                                        <p:cTn id="28"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BC4B8-237F-0C97-3965-1340314D66AD}"/>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337553F8-5B37-D47A-62F4-936A75E89E04}"/>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2F52341B-05FD-A5F6-A39B-770F31C19AD9}"/>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1489258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1A608-541B-6B11-8CC3-7730033E9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726E86-A3D9-CE87-E40C-90E2E31B1072}"/>
              </a:ext>
            </a:extLst>
          </p:cNvPr>
          <p:cNvSpPr>
            <a:spLocks noGrp="1"/>
          </p:cNvSpPr>
          <p:nvPr>
            <p:ph type="title"/>
          </p:nvPr>
        </p:nvSpPr>
        <p:spPr/>
        <p:txBody>
          <a:bodyPr/>
          <a:lstStyle/>
          <a:p>
            <a:r>
              <a:rPr lang="en-US" dirty="0"/>
              <a:t>Hierarchical Motor Control</a:t>
            </a:r>
          </a:p>
        </p:txBody>
      </p:sp>
      <p:sp>
        <p:nvSpPr>
          <p:cNvPr id="3" name="Content Placeholder 2">
            <a:extLst>
              <a:ext uri="{FF2B5EF4-FFF2-40B4-BE49-F238E27FC236}">
                <a16:creationId xmlns:a16="http://schemas.microsoft.com/office/drawing/2014/main" id="{9C6623D8-B856-D4CE-511D-EAE42F9C02A1}"/>
              </a:ext>
            </a:extLst>
          </p:cNvPr>
          <p:cNvSpPr>
            <a:spLocks noGrp="1"/>
          </p:cNvSpPr>
          <p:nvPr>
            <p:ph idx="1"/>
          </p:nvPr>
        </p:nvSpPr>
        <p:spPr>
          <a:xfrm>
            <a:off x="838200" y="1825625"/>
            <a:ext cx="6651661" cy="4933990"/>
          </a:xfrm>
        </p:spPr>
        <p:txBody>
          <a:bodyPr>
            <a:normAutofit/>
          </a:bodyPr>
          <a:lstStyle/>
          <a:p>
            <a:pPr marL="0" indent="0">
              <a:buNone/>
            </a:pPr>
            <a:r>
              <a:rPr lang="en-US" b="1" dirty="0"/>
              <a:t>Levels of Hierarchy</a:t>
            </a:r>
          </a:p>
          <a:p>
            <a:r>
              <a:rPr lang="en-US" b="1" dirty="0"/>
              <a:t>Skeletal System: </a:t>
            </a:r>
            <a:r>
              <a:rPr lang="en-US" dirty="0"/>
              <a:t>Bones and attached muscles determine possible movements</a:t>
            </a:r>
          </a:p>
          <a:p>
            <a:r>
              <a:rPr lang="en-US" b="1" dirty="0"/>
              <a:t>Spinal Cord</a:t>
            </a:r>
            <a:r>
              <a:rPr lang="en-US" dirty="0"/>
              <a:t>: Controls muscles in response to sensory information</a:t>
            </a:r>
          </a:p>
          <a:p>
            <a:r>
              <a:rPr lang="en-US" b="1" dirty="0"/>
              <a:t>Brainstem</a:t>
            </a:r>
            <a:r>
              <a:rPr lang="en-US" dirty="0"/>
              <a:t>: Integrates motor commands, transmits to spinal cord</a:t>
            </a:r>
          </a:p>
          <a:p>
            <a:r>
              <a:rPr lang="en-US" b="1" dirty="0"/>
              <a:t>Motor Cortices: </a:t>
            </a:r>
            <a:r>
              <a:rPr lang="en-US" dirty="0"/>
              <a:t>Initiation of main motor commands </a:t>
            </a:r>
          </a:p>
        </p:txBody>
      </p:sp>
      <p:grpSp>
        <p:nvGrpSpPr>
          <p:cNvPr id="13" name="Group 12">
            <a:extLst>
              <a:ext uri="{FF2B5EF4-FFF2-40B4-BE49-F238E27FC236}">
                <a16:creationId xmlns:a16="http://schemas.microsoft.com/office/drawing/2014/main" id="{203E5428-F1DC-700F-CB51-B3D62AFC4F9F}"/>
              </a:ext>
            </a:extLst>
          </p:cNvPr>
          <p:cNvGrpSpPr/>
          <p:nvPr/>
        </p:nvGrpSpPr>
        <p:grpSpPr>
          <a:xfrm>
            <a:off x="7381729" y="1825625"/>
            <a:ext cx="4667217" cy="3919591"/>
            <a:chOff x="7381729" y="1825625"/>
            <a:chExt cx="4667217" cy="3919591"/>
          </a:xfrm>
        </p:grpSpPr>
        <p:grpSp>
          <p:nvGrpSpPr>
            <p:cNvPr id="12" name="Group 11">
              <a:extLst>
                <a:ext uri="{FF2B5EF4-FFF2-40B4-BE49-F238E27FC236}">
                  <a16:creationId xmlns:a16="http://schemas.microsoft.com/office/drawing/2014/main" id="{9580DFB8-FA4B-AA29-C4B6-108784FE6250}"/>
                </a:ext>
              </a:extLst>
            </p:cNvPr>
            <p:cNvGrpSpPr/>
            <p:nvPr/>
          </p:nvGrpSpPr>
          <p:grpSpPr>
            <a:xfrm>
              <a:off x="7381729" y="1825625"/>
              <a:ext cx="4667217" cy="3919591"/>
              <a:chOff x="7381729" y="1825625"/>
              <a:chExt cx="4667217" cy="3919591"/>
            </a:xfrm>
          </p:grpSpPr>
          <p:grpSp>
            <p:nvGrpSpPr>
              <p:cNvPr id="7" name="Group 6">
                <a:extLst>
                  <a:ext uri="{FF2B5EF4-FFF2-40B4-BE49-F238E27FC236}">
                    <a16:creationId xmlns:a16="http://schemas.microsoft.com/office/drawing/2014/main" id="{49BEA582-61F8-8D0B-9B42-D81536DADBAC}"/>
                  </a:ext>
                </a:extLst>
              </p:cNvPr>
              <p:cNvGrpSpPr/>
              <p:nvPr/>
            </p:nvGrpSpPr>
            <p:grpSpPr>
              <a:xfrm>
                <a:off x="7381729" y="1825625"/>
                <a:ext cx="4667217" cy="3919591"/>
                <a:chOff x="7381729" y="1825625"/>
                <a:chExt cx="4667217" cy="3919591"/>
              </a:xfrm>
            </p:grpSpPr>
            <p:pic>
              <p:nvPicPr>
                <p:cNvPr id="2050" name="Picture 2" descr="Examples of Somatic Nervous System Pathways | GetBodySmart">
                  <a:extLst>
                    <a:ext uri="{FF2B5EF4-FFF2-40B4-BE49-F238E27FC236}">
                      <a16:creationId xmlns:a16="http://schemas.microsoft.com/office/drawing/2014/main" id="{0D082EA6-D17E-072E-776D-A9AF8EE214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1729" y="1825625"/>
                  <a:ext cx="4667217" cy="391959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B5D0EEC6-4CE5-A976-C76E-A5A12412F73F}"/>
                    </a:ext>
                  </a:extLst>
                </p:cNvPr>
                <p:cNvSpPr/>
                <p:nvPr/>
              </p:nvSpPr>
              <p:spPr>
                <a:xfrm>
                  <a:off x="10878834" y="3679754"/>
                  <a:ext cx="1017142" cy="4828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Rectangle 10">
                <a:extLst>
                  <a:ext uri="{FF2B5EF4-FFF2-40B4-BE49-F238E27FC236}">
                    <a16:creationId xmlns:a16="http://schemas.microsoft.com/office/drawing/2014/main" id="{CFC11A75-FF6C-61FC-64C3-B7A4669E50C3}"/>
                  </a:ext>
                </a:extLst>
              </p:cNvPr>
              <p:cNvSpPr/>
              <p:nvPr/>
            </p:nvSpPr>
            <p:spPr>
              <a:xfrm>
                <a:off x="10525126" y="4250192"/>
                <a:ext cx="1017142" cy="35038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 name="Rectangle 3">
              <a:extLst>
                <a:ext uri="{FF2B5EF4-FFF2-40B4-BE49-F238E27FC236}">
                  <a16:creationId xmlns:a16="http://schemas.microsoft.com/office/drawing/2014/main" id="{BD3350E5-B7AD-1044-1CE0-E368043375A0}"/>
                </a:ext>
              </a:extLst>
            </p:cNvPr>
            <p:cNvSpPr/>
            <p:nvPr/>
          </p:nvSpPr>
          <p:spPr>
            <a:xfrm>
              <a:off x="8116584" y="5137079"/>
              <a:ext cx="1017142" cy="4828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6A0FA8CB-7B35-7AD5-F2D3-7D10A60795BD}"/>
                </a:ext>
              </a:extLst>
            </p:cNvPr>
            <p:cNvSpPr txBox="1"/>
            <p:nvPr/>
          </p:nvSpPr>
          <p:spPr>
            <a:xfrm>
              <a:off x="10865140" y="3767307"/>
              <a:ext cx="875561" cy="276999"/>
            </a:xfrm>
            <a:prstGeom prst="rect">
              <a:avLst/>
            </a:prstGeom>
            <a:noFill/>
          </p:spPr>
          <p:txBody>
            <a:bodyPr wrap="none" rtlCol="0">
              <a:spAutoFit/>
            </a:bodyPr>
            <a:lstStyle/>
            <a:p>
              <a:r>
                <a:rPr lang="en-US" sz="1200" dirty="0">
                  <a:latin typeface="Arial" panose="020B0604020202020204" pitchFamily="34" charset="0"/>
                  <a:cs typeface="Arial" panose="020B0604020202020204" pitchFamily="34" charset="0"/>
                </a:rPr>
                <a:t>Brainstem</a:t>
              </a:r>
            </a:p>
          </p:txBody>
        </p:sp>
      </p:grpSp>
    </p:spTree>
    <p:extLst>
      <p:ext uri="{BB962C8B-B14F-4D97-AF65-F5344CB8AC3E}">
        <p14:creationId xmlns:p14="http://schemas.microsoft.com/office/powerpoint/2010/main" val="4001774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6E859-0330-8FC8-98C6-53B0BE6A92DA}"/>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2DD763CE-F5A1-96D7-7844-AAFE0E490948}"/>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35FEA50B-50A9-83B8-0593-67149FF2AACB}"/>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801473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D8F72-625F-A5B4-3AEE-79B19F24A4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89BD9-0016-91E0-42F5-BFF17181B037}"/>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ADA59494-F6E7-AFBA-1100-FDBADEEF2DE0}"/>
              </a:ext>
            </a:extLst>
          </p:cNvPr>
          <p:cNvSpPr>
            <a:spLocks noGrp="1"/>
          </p:cNvSpPr>
          <p:nvPr>
            <p:ph idx="1"/>
          </p:nvPr>
        </p:nvSpPr>
        <p:spPr>
          <a:xfrm>
            <a:off x="838200" y="1825625"/>
            <a:ext cx="6800850" cy="4933990"/>
          </a:xfrm>
        </p:spPr>
        <p:txBody>
          <a:bodyPr>
            <a:normAutofit lnSpcReduction="10000"/>
          </a:bodyPr>
          <a:lstStyle/>
          <a:p>
            <a:pPr marL="0" indent="0">
              <a:buNone/>
            </a:pPr>
            <a:r>
              <a:rPr lang="en-US" b="1" dirty="0"/>
              <a:t>Skeletal &amp; Muscle System</a:t>
            </a:r>
          </a:p>
          <a:p>
            <a:r>
              <a:rPr lang="en-US" dirty="0"/>
              <a:t>Skeleton mechanically determines possible movements</a:t>
            </a:r>
          </a:p>
          <a:p>
            <a:r>
              <a:rPr lang="en-US" dirty="0"/>
              <a:t>Move through the </a:t>
            </a:r>
            <a:r>
              <a:rPr lang="en-US" i="1" dirty="0"/>
              <a:t>contraction</a:t>
            </a:r>
            <a:r>
              <a:rPr lang="en-US" dirty="0"/>
              <a:t> (shortening) of muscles</a:t>
            </a:r>
          </a:p>
          <a:p>
            <a:pPr lvl="1"/>
            <a:r>
              <a:rPr lang="en-US" b="1" dirty="0"/>
              <a:t>Motor neurons: </a:t>
            </a:r>
            <a:r>
              <a:rPr lang="en-US" dirty="0"/>
              <a:t>Contraction is driven by excitation</a:t>
            </a:r>
          </a:p>
          <a:p>
            <a:pPr lvl="1"/>
            <a:r>
              <a:rPr lang="en-US" b="1" dirty="0"/>
              <a:t>Synergists: </a:t>
            </a:r>
            <a:r>
              <a:rPr lang="en-US" dirty="0"/>
              <a:t>Muscles that work together as a group</a:t>
            </a:r>
          </a:p>
          <a:p>
            <a:pPr lvl="2"/>
            <a:r>
              <a:rPr lang="en-US" dirty="0"/>
              <a:t>E.g., the three heads of the </a:t>
            </a:r>
            <a:r>
              <a:rPr lang="en-US" dirty="0" err="1"/>
              <a:t>tricep</a:t>
            </a:r>
            <a:endParaRPr lang="en-US" dirty="0"/>
          </a:p>
          <a:p>
            <a:pPr lvl="1"/>
            <a:r>
              <a:rPr lang="en-US" b="1" dirty="0"/>
              <a:t>Antagonists</a:t>
            </a:r>
            <a:r>
              <a:rPr lang="en-US" dirty="0"/>
              <a:t>: Muscles groups are paired in that the contraction of one will stretch the other</a:t>
            </a:r>
          </a:p>
          <a:p>
            <a:pPr lvl="2"/>
            <a:r>
              <a:rPr lang="en-US" dirty="0"/>
              <a:t>E.g., bicep vs </a:t>
            </a:r>
            <a:r>
              <a:rPr lang="en-US" dirty="0" err="1"/>
              <a:t>tricep</a:t>
            </a:r>
            <a:endParaRPr lang="en-US" dirty="0"/>
          </a:p>
          <a:p>
            <a:pPr lvl="1"/>
            <a:endParaRPr lang="en-US" dirty="0"/>
          </a:p>
          <a:p>
            <a:pPr lvl="1"/>
            <a:endParaRPr lang="en-US" dirty="0"/>
          </a:p>
          <a:p>
            <a:endParaRPr lang="en-US" dirty="0"/>
          </a:p>
        </p:txBody>
      </p:sp>
      <p:pic>
        <p:nvPicPr>
          <p:cNvPr id="7" name="Picture 6" descr="A diagram of a person's body&#10;&#10;AI-generated content may be incorrect.">
            <a:extLst>
              <a:ext uri="{FF2B5EF4-FFF2-40B4-BE49-F238E27FC236}">
                <a16:creationId xmlns:a16="http://schemas.microsoft.com/office/drawing/2014/main" id="{7D80CF66-169D-B0AF-E321-686F51D91A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2323" y="1237796"/>
            <a:ext cx="4240885" cy="5032375"/>
          </a:xfrm>
          <a:prstGeom prst="rect">
            <a:avLst/>
          </a:prstGeom>
        </p:spPr>
      </p:pic>
    </p:spTree>
    <p:extLst>
      <p:ext uri="{BB962C8B-B14F-4D97-AF65-F5344CB8AC3E}">
        <p14:creationId xmlns:p14="http://schemas.microsoft.com/office/powerpoint/2010/main" val="4140838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DC19F-5B60-5BBA-8CD0-4DF77B93C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409F4C-B51A-EAC7-0EC6-B4BAE2C9C15A}"/>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55DD6D63-09BC-349B-8B1C-7A347352AE5C}"/>
              </a:ext>
            </a:extLst>
          </p:cNvPr>
          <p:cNvSpPr>
            <a:spLocks noGrp="1"/>
          </p:cNvSpPr>
          <p:nvPr>
            <p:ph idx="1"/>
          </p:nvPr>
        </p:nvSpPr>
        <p:spPr>
          <a:xfrm>
            <a:off x="838200" y="1825625"/>
            <a:ext cx="6381750" cy="4933990"/>
          </a:xfrm>
        </p:spPr>
        <p:txBody>
          <a:bodyPr>
            <a:normAutofit fontScale="92500" lnSpcReduction="10000"/>
          </a:bodyPr>
          <a:lstStyle/>
          <a:p>
            <a:pPr marL="0" indent="0">
              <a:buNone/>
            </a:pPr>
            <a:r>
              <a:rPr lang="en-US" b="1" dirty="0"/>
              <a:t>Anatomy of a Striated Muscle</a:t>
            </a:r>
          </a:p>
          <a:p>
            <a:r>
              <a:rPr lang="en-US" b="1" dirty="0"/>
              <a:t>Tendon: </a:t>
            </a:r>
            <a:r>
              <a:rPr lang="en-US" dirty="0"/>
              <a:t>Connects muscle to skeleton</a:t>
            </a:r>
          </a:p>
          <a:p>
            <a:r>
              <a:rPr lang="en-US" b="1" dirty="0"/>
              <a:t>Muscle Fibers: </a:t>
            </a:r>
            <a:r>
              <a:rPr lang="en-US" dirty="0"/>
              <a:t>Single large cell with many nuclei</a:t>
            </a:r>
          </a:p>
          <a:p>
            <a:pPr lvl="1"/>
            <a:r>
              <a:rPr lang="en-US" dirty="0"/>
              <a:t>Thousands work together to compose a muscle</a:t>
            </a:r>
          </a:p>
          <a:p>
            <a:r>
              <a:rPr lang="en-US" b="1" dirty="0"/>
              <a:t>Myofilaments: </a:t>
            </a:r>
            <a:r>
              <a:rPr lang="en-US" dirty="0"/>
              <a:t>Protein filaments within muscle fibers that produce contraction</a:t>
            </a:r>
          </a:p>
          <a:p>
            <a:pPr lvl="1"/>
            <a:r>
              <a:rPr lang="en-US" dirty="0"/>
              <a:t>Actin and myosin</a:t>
            </a:r>
          </a:p>
          <a:p>
            <a:pPr lvl="1"/>
            <a:r>
              <a:rPr lang="en-US" dirty="0"/>
              <a:t>Organized into repeated sections called </a:t>
            </a:r>
            <a:r>
              <a:rPr lang="en-US" b="1" dirty="0"/>
              <a:t>sarcomeres</a:t>
            </a:r>
            <a:endParaRPr lang="en-US" dirty="0"/>
          </a:p>
          <a:p>
            <a:pPr lvl="1"/>
            <a:r>
              <a:rPr lang="en-US" dirty="0"/>
              <a:t>The interaction between actin and myosin cause contraction</a:t>
            </a:r>
          </a:p>
          <a:p>
            <a:pPr lvl="1"/>
            <a:endParaRPr lang="en-US" dirty="0"/>
          </a:p>
          <a:p>
            <a:pPr lvl="1"/>
            <a:endParaRPr lang="en-US" dirty="0"/>
          </a:p>
          <a:p>
            <a:endParaRPr lang="en-US" dirty="0"/>
          </a:p>
        </p:txBody>
      </p:sp>
      <p:pic>
        <p:nvPicPr>
          <p:cNvPr id="8" name="Picture 7" descr="A diagram of a person's body&#10;&#10;AI-generated content may be incorrect.">
            <a:extLst>
              <a:ext uri="{FF2B5EF4-FFF2-40B4-BE49-F238E27FC236}">
                <a16:creationId xmlns:a16="http://schemas.microsoft.com/office/drawing/2014/main" id="{EC4CD597-2D89-D4D6-E719-25C5753390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4501" y="614519"/>
            <a:ext cx="4552929" cy="5878356"/>
          </a:xfrm>
          <a:prstGeom prst="rect">
            <a:avLst/>
          </a:prstGeom>
        </p:spPr>
      </p:pic>
    </p:spTree>
    <p:extLst>
      <p:ext uri="{BB962C8B-B14F-4D97-AF65-F5344CB8AC3E}">
        <p14:creationId xmlns:p14="http://schemas.microsoft.com/office/powerpoint/2010/main" val="2712416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41765-7F0D-9593-469B-C0F5201C8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B6C86-DA32-9E15-7304-F18C237D80BB}"/>
              </a:ext>
            </a:extLst>
          </p:cNvPr>
          <p:cNvSpPr>
            <a:spLocks noGrp="1"/>
          </p:cNvSpPr>
          <p:nvPr>
            <p:ph type="title"/>
          </p:nvPr>
        </p:nvSpPr>
        <p:spPr/>
        <p:txBody>
          <a:bodyPr/>
          <a:lstStyle/>
          <a:p>
            <a:r>
              <a:rPr lang="en-US" dirty="0"/>
              <a:t>Skeletal &amp; Muscle System</a:t>
            </a:r>
          </a:p>
        </p:txBody>
      </p:sp>
      <p:pic>
        <p:nvPicPr>
          <p:cNvPr id="4" name="Online Media 3" title="How a sarcomere works ? #shortvideo">
            <a:hlinkClick r:id="" action="ppaction://media"/>
            <a:extLst>
              <a:ext uri="{FF2B5EF4-FFF2-40B4-BE49-F238E27FC236}">
                <a16:creationId xmlns:a16="http://schemas.microsoft.com/office/drawing/2014/main" id="{121BF1F8-416C-E48B-C23F-F7343508223E}"/>
              </a:ext>
            </a:extLst>
          </p:cNvPr>
          <p:cNvPicPr>
            <a:picLocks noRot="1" noChangeAspect="1"/>
          </p:cNvPicPr>
          <p:nvPr>
            <a:videoFile r:link="rId1"/>
          </p:nvPr>
        </p:nvPicPr>
        <p:blipFill>
          <a:blip r:embed="rId3"/>
          <a:srcRect t="8962" b="8960"/>
          <a:stretch>
            <a:fillRect/>
          </a:stretch>
        </p:blipFill>
        <p:spPr>
          <a:xfrm>
            <a:off x="7863898" y="614519"/>
            <a:ext cx="3875087" cy="5628962"/>
          </a:xfrm>
          <a:prstGeom prst="rect">
            <a:avLst/>
          </a:prstGeom>
        </p:spPr>
      </p:pic>
      <p:sp>
        <p:nvSpPr>
          <p:cNvPr id="7" name="Content Placeholder 2">
            <a:extLst>
              <a:ext uri="{FF2B5EF4-FFF2-40B4-BE49-F238E27FC236}">
                <a16:creationId xmlns:a16="http://schemas.microsoft.com/office/drawing/2014/main" id="{ED1F709F-80C7-DD33-81E9-1C0391AF1BB3}"/>
              </a:ext>
            </a:extLst>
          </p:cNvPr>
          <p:cNvSpPr txBox="1">
            <a:spLocks/>
          </p:cNvSpPr>
          <p:nvPr/>
        </p:nvSpPr>
        <p:spPr>
          <a:xfrm>
            <a:off x="838200" y="1825625"/>
            <a:ext cx="6381750" cy="4933990"/>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Anatomy of a Striated Muscle</a:t>
            </a:r>
          </a:p>
          <a:p>
            <a:r>
              <a:rPr lang="en-US" b="1" dirty="0"/>
              <a:t>Tendon: </a:t>
            </a:r>
            <a:r>
              <a:rPr lang="en-US" dirty="0"/>
              <a:t>Connects muscle to skeleton</a:t>
            </a:r>
          </a:p>
          <a:p>
            <a:r>
              <a:rPr lang="en-US" b="1" dirty="0"/>
              <a:t>Muscle Fibers: </a:t>
            </a:r>
            <a:r>
              <a:rPr lang="en-US" dirty="0"/>
              <a:t>Single large cell with many nuclei</a:t>
            </a:r>
          </a:p>
          <a:p>
            <a:pPr lvl="1"/>
            <a:r>
              <a:rPr lang="en-US" dirty="0"/>
              <a:t>Thousands work together to compose a muscle</a:t>
            </a:r>
          </a:p>
          <a:p>
            <a:r>
              <a:rPr lang="en-US" b="1" dirty="0"/>
              <a:t>Myofilaments: </a:t>
            </a:r>
            <a:r>
              <a:rPr lang="en-US" dirty="0"/>
              <a:t>Protein filaments within muscle fibers that produce contraction</a:t>
            </a:r>
          </a:p>
          <a:p>
            <a:pPr lvl="1"/>
            <a:r>
              <a:rPr lang="en-US" dirty="0"/>
              <a:t>Actin and myosin</a:t>
            </a:r>
          </a:p>
          <a:p>
            <a:pPr lvl="1"/>
            <a:r>
              <a:rPr lang="en-US" dirty="0"/>
              <a:t>Organized into repeated sections called </a:t>
            </a:r>
            <a:r>
              <a:rPr lang="en-US" b="1" dirty="0"/>
              <a:t>sarcomeres</a:t>
            </a:r>
            <a:endParaRPr lang="en-US" dirty="0"/>
          </a:p>
          <a:p>
            <a:pPr lvl="1"/>
            <a:r>
              <a:rPr lang="en-US" dirty="0"/>
              <a:t>The interaction between actin and myosin cause contraction</a:t>
            </a:r>
          </a:p>
          <a:p>
            <a:pPr lvl="1"/>
            <a:endParaRPr lang="en-US" dirty="0"/>
          </a:p>
          <a:p>
            <a:pPr lvl="1"/>
            <a:endParaRPr lang="en-US" dirty="0"/>
          </a:p>
          <a:p>
            <a:endParaRPr lang="en-US" dirty="0"/>
          </a:p>
        </p:txBody>
      </p:sp>
    </p:spTree>
    <p:extLst>
      <p:ext uri="{BB962C8B-B14F-4D97-AF65-F5344CB8AC3E}">
        <p14:creationId xmlns:p14="http://schemas.microsoft.com/office/powerpoint/2010/main" val="4086945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0866A-B898-FF83-2FFF-040C4D4F1C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F0998F-0B32-63BC-1313-B068FDDB977D}"/>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326F701D-9995-3DB9-F3CD-713FDA939054}"/>
              </a:ext>
            </a:extLst>
          </p:cNvPr>
          <p:cNvSpPr>
            <a:spLocks noGrp="1"/>
          </p:cNvSpPr>
          <p:nvPr>
            <p:ph idx="1"/>
          </p:nvPr>
        </p:nvSpPr>
        <p:spPr>
          <a:xfrm>
            <a:off x="838200" y="1825625"/>
            <a:ext cx="6448425" cy="4933990"/>
          </a:xfrm>
        </p:spPr>
        <p:txBody>
          <a:bodyPr>
            <a:normAutofit/>
          </a:bodyPr>
          <a:lstStyle/>
          <a:p>
            <a:pPr marL="0" indent="0">
              <a:buNone/>
            </a:pPr>
            <a:r>
              <a:rPr lang="en-US" b="1" dirty="0"/>
              <a:t>Anatomy of a Striated Muscle</a:t>
            </a:r>
            <a:endParaRPr lang="en-US" dirty="0"/>
          </a:p>
          <a:p>
            <a:r>
              <a:rPr lang="en-US" b="1" dirty="0"/>
              <a:t>Slow-Twitch (Type I)</a:t>
            </a:r>
            <a:r>
              <a:rPr lang="en-US" dirty="0"/>
              <a:t>: Produces slower, sustained contractions</a:t>
            </a:r>
          </a:p>
          <a:p>
            <a:pPr lvl="1"/>
            <a:r>
              <a:rPr lang="en-US" dirty="0"/>
              <a:t>Low force</a:t>
            </a:r>
          </a:p>
          <a:p>
            <a:pPr lvl="1"/>
            <a:r>
              <a:rPr lang="en-US" dirty="0"/>
              <a:t>High resistance to fatigue</a:t>
            </a:r>
          </a:p>
          <a:p>
            <a:pPr lvl="1"/>
            <a:r>
              <a:rPr lang="en-US" dirty="0"/>
              <a:t>Used in endurance activities</a:t>
            </a:r>
          </a:p>
          <a:p>
            <a:pPr lvl="2"/>
            <a:r>
              <a:rPr lang="en-US" dirty="0"/>
              <a:t>Postural maintenance, long-distance running</a:t>
            </a:r>
          </a:p>
          <a:p>
            <a:pPr lvl="1"/>
            <a:endParaRPr lang="en-US" dirty="0"/>
          </a:p>
          <a:p>
            <a:pPr lvl="2"/>
            <a:endParaRPr lang="en-US" dirty="0">
              <a:highlight>
                <a:srgbClr val="FFFF00"/>
              </a:highlight>
            </a:endParaRPr>
          </a:p>
          <a:p>
            <a:pPr lvl="2"/>
            <a:endParaRPr lang="en-US" dirty="0">
              <a:highlight>
                <a:srgbClr val="FFFF00"/>
              </a:highlight>
            </a:endParaRPr>
          </a:p>
          <a:p>
            <a:pPr lvl="1"/>
            <a:endParaRPr lang="en-US" dirty="0"/>
          </a:p>
          <a:p>
            <a:endParaRPr lang="en-US" dirty="0"/>
          </a:p>
        </p:txBody>
      </p:sp>
      <p:pic>
        <p:nvPicPr>
          <p:cNvPr id="8" name="Picture 7" descr="A diagram of a person's body&#10;&#10;AI-generated content may be incorrect.">
            <a:extLst>
              <a:ext uri="{FF2B5EF4-FFF2-40B4-BE49-F238E27FC236}">
                <a16:creationId xmlns:a16="http://schemas.microsoft.com/office/drawing/2014/main" id="{AFC054AE-5D84-5828-1321-86C81BC829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4501" y="614519"/>
            <a:ext cx="4552929" cy="5878356"/>
          </a:xfrm>
          <a:prstGeom prst="rect">
            <a:avLst/>
          </a:prstGeom>
        </p:spPr>
      </p:pic>
    </p:spTree>
    <p:extLst>
      <p:ext uri="{BB962C8B-B14F-4D97-AF65-F5344CB8AC3E}">
        <p14:creationId xmlns:p14="http://schemas.microsoft.com/office/powerpoint/2010/main" val="3033974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E26F1-EEF8-2A3C-9C4A-A3712A99FC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6F6433-5F9A-CF19-94E5-C139924F1DEA}"/>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C9E92810-F00D-2031-2B6A-6CA549BF2AB5}"/>
              </a:ext>
            </a:extLst>
          </p:cNvPr>
          <p:cNvSpPr>
            <a:spLocks noGrp="1"/>
          </p:cNvSpPr>
          <p:nvPr>
            <p:ph idx="1"/>
          </p:nvPr>
        </p:nvSpPr>
        <p:spPr>
          <a:xfrm>
            <a:off x="838200" y="1825625"/>
            <a:ext cx="6448425" cy="4933990"/>
          </a:xfrm>
        </p:spPr>
        <p:txBody>
          <a:bodyPr>
            <a:normAutofit fontScale="92500" lnSpcReduction="10000"/>
          </a:bodyPr>
          <a:lstStyle/>
          <a:p>
            <a:pPr marL="0" indent="0">
              <a:buNone/>
            </a:pPr>
            <a:r>
              <a:rPr lang="en-US" b="1" dirty="0"/>
              <a:t>Anatomy of a Striated Muscle</a:t>
            </a:r>
            <a:endParaRPr lang="en-US" dirty="0"/>
          </a:p>
          <a:p>
            <a:r>
              <a:rPr lang="en-US" b="1" dirty="0"/>
              <a:t>Fast-Twitch (Type IIa): </a:t>
            </a:r>
            <a:r>
              <a:rPr lang="en-US" dirty="0"/>
              <a:t>Produces rapid contractions</a:t>
            </a:r>
          </a:p>
          <a:p>
            <a:pPr lvl="1"/>
            <a:r>
              <a:rPr lang="en-US" dirty="0"/>
              <a:t>Medium force</a:t>
            </a:r>
          </a:p>
          <a:p>
            <a:pPr lvl="1"/>
            <a:r>
              <a:rPr lang="en-US" dirty="0"/>
              <a:t>Moderate resistance to fatigue</a:t>
            </a:r>
          </a:p>
          <a:p>
            <a:pPr lvl="1"/>
            <a:r>
              <a:rPr lang="en-US" dirty="0"/>
              <a:t>Used in repeated rapid movements</a:t>
            </a:r>
          </a:p>
          <a:p>
            <a:pPr lvl="2"/>
            <a:r>
              <a:rPr lang="en-US" dirty="0"/>
              <a:t>Middle-distance running, repeated sprinting</a:t>
            </a:r>
          </a:p>
          <a:p>
            <a:pPr lvl="2"/>
            <a:endParaRPr lang="en-US" dirty="0"/>
          </a:p>
          <a:p>
            <a:r>
              <a:rPr lang="en-US" b="1" dirty="0"/>
              <a:t>Fast-Twitch (Type </a:t>
            </a:r>
            <a:r>
              <a:rPr lang="en-US" b="1" dirty="0" err="1"/>
              <a:t>IIx</a:t>
            </a:r>
            <a:r>
              <a:rPr lang="en-US" b="1" dirty="0"/>
              <a:t>): </a:t>
            </a:r>
            <a:r>
              <a:rPr lang="en-US" dirty="0"/>
              <a:t>Produces very rapid, powerful contractions</a:t>
            </a:r>
          </a:p>
          <a:p>
            <a:pPr lvl="1"/>
            <a:r>
              <a:rPr lang="en-US" dirty="0"/>
              <a:t>High force</a:t>
            </a:r>
          </a:p>
          <a:p>
            <a:pPr lvl="1"/>
            <a:r>
              <a:rPr lang="en-US" dirty="0"/>
              <a:t>Low resistance to fatigue</a:t>
            </a:r>
          </a:p>
          <a:p>
            <a:pPr lvl="1"/>
            <a:r>
              <a:rPr lang="en-US" dirty="0"/>
              <a:t>Used in maximal explosive movements</a:t>
            </a:r>
          </a:p>
          <a:p>
            <a:pPr lvl="2"/>
            <a:r>
              <a:rPr lang="en-US" dirty="0"/>
              <a:t>Sprinting, jumping, Olympic lifting</a:t>
            </a:r>
          </a:p>
          <a:p>
            <a:pPr lvl="2"/>
            <a:endParaRPr lang="en-US" dirty="0">
              <a:highlight>
                <a:srgbClr val="FFFF00"/>
              </a:highlight>
            </a:endParaRPr>
          </a:p>
          <a:p>
            <a:pPr lvl="2"/>
            <a:endParaRPr lang="en-US" dirty="0">
              <a:highlight>
                <a:srgbClr val="FFFF00"/>
              </a:highlight>
            </a:endParaRPr>
          </a:p>
          <a:p>
            <a:pPr lvl="1"/>
            <a:endParaRPr lang="en-US" dirty="0"/>
          </a:p>
          <a:p>
            <a:endParaRPr lang="en-US" dirty="0"/>
          </a:p>
        </p:txBody>
      </p:sp>
      <p:pic>
        <p:nvPicPr>
          <p:cNvPr id="8" name="Picture 7" descr="A diagram of a person's body&#10;&#10;AI-generated content may be incorrect.">
            <a:extLst>
              <a:ext uri="{FF2B5EF4-FFF2-40B4-BE49-F238E27FC236}">
                <a16:creationId xmlns:a16="http://schemas.microsoft.com/office/drawing/2014/main" id="{05A55AB7-BACE-867B-AF11-25CB82C7F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4501" y="614519"/>
            <a:ext cx="4552929" cy="5878356"/>
          </a:xfrm>
          <a:prstGeom prst="rect">
            <a:avLst/>
          </a:prstGeom>
        </p:spPr>
      </p:pic>
    </p:spTree>
    <p:extLst>
      <p:ext uri="{BB962C8B-B14F-4D97-AF65-F5344CB8AC3E}">
        <p14:creationId xmlns:p14="http://schemas.microsoft.com/office/powerpoint/2010/main" val="340606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7E287-29C6-CAA8-343A-D67FED0A7E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E0BD49-32B9-5AB7-D8E8-314E46F6AF1F}"/>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398E6F6B-67DC-014B-E063-046EA5ECF3F3}"/>
              </a:ext>
            </a:extLst>
          </p:cNvPr>
          <p:cNvSpPr>
            <a:spLocks noGrp="1"/>
          </p:cNvSpPr>
          <p:nvPr>
            <p:ph idx="1"/>
          </p:nvPr>
        </p:nvSpPr>
        <p:spPr>
          <a:xfrm>
            <a:off x="838200" y="1825625"/>
            <a:ext cx="7336221" cy="4933990"/>
          </a:xfrm>
        </p:spPr>
        <p:txBody>
          <a:bodyPr>
            <a:normAutofit/>
          </a:bodyPr>
          <a:lstStyle/>
          <a:p>
            <a:pPr marL="0" indent="0">
              <a:buNone/>
            </a:pPr>
            <a:r>
              <a:rPr lang="en-US" b="1" dirty="0"/>
              <a:t>Motor Neurons</a:t>
            </a:r>
          </a:p>
          <a:p>
            <a:r>
              <a:rPr lang="en-US" dirty="0"/>
              <a:t>Largest neuron in the spinal cord</a:t>
            </a:r>
          </a:p>
          <a:p>
            <a:pPr lvl="1"/>
            <a:r>
              <a:rPr lang="en-US" dirty="0"/>
              <a:t>Up to a meter long in humans</a:t>
            </a:r>
          </a:p>
          <a:p>
            <a:endParaRPr lang="en-US" dirty="0"/>
          </a:p>
        </p:txBody>
      </p:sp>
      <p:pic>
        <p:nvPicPr>
          <p:cNvPr id="5" name="Picture 4" descr="A diagram of a human body&#10;&#10;AI-generated content may be incorrect.">
            <a:extLst>
              <a:ext uri="{FF2B5EF4-FFF2-40B4-BE49-F238E27FC236}">
                <a16:creationId xmlns:a16="http://schemas.microsoft.com/office/drawing/2014/main" id="{A751D93B-60F9-D797-97A3-5804CD773929}"/>
              </a:ext>
            </a:extLst>
          </p:cNvPr>
          <p:cNvPicPr>
            <a:picLocks noChangeAspect="1"/>
          </p:cNvPicPr>
          <p:nvPr/>
        </p:nvPicPr>
        <p:blipFill>
          <a:blip r:embed="rId2">
            <a:extLst>
              <a:ext uri="{28A0092B-C50C-407E-A947-70E740481C1C}">
                <a14:useLocalDpi xmlns:a14="http://schemas.microsoft.com/office/drawing/2010/main" val="0"/>
              </a:ext>
            </a:extLst>
          </a:blip>
          <a:srcRect l="42406"/>
          <a:stretch>
            <a:fillRect/>
          </a:stretch>
        </p:blipFill>
        <p:spPr>
          <a:xfrm>
            <a:off x="8275320" y="1211580"/>
            <a:ext cx="3688351" cy="5406390"/>
          </a:xfrm>
          <a:prstGeom prst="rect">
            <a:avLst/>
          </a:prstGeom>
        </p:spPr>
      </p:pic>
      <p:pic>
        <p:nvPicPr>
          <p:cNvPr id="6" name="Picture 5" descr="A diagram of a human body&#10;&#10;AI-generated content may be incorrect.">
            <a:extLst>
              <a:ext uri="{FF2B5EF4-FFF2-40B4-BE49-F238E27FC236}">
                <a16:creationId xmlns:a16="http://schemas.microsoft.com/office/drawing/2014/main" id="{F5AE6E7D-7662-ED24-F183-480CDC5927EC}"/>
              </a:ext>
            </a:extLst>
          </p:cNvPr>
          <p:cNvPicPr>
            <a:picLocks noChangeAspect="1"/>
          </p:cNvPicPr>
          <p:nvPr/>
        </p:nvPicPr>
        <p:blipFill>
          <a:blip r:embed="rId2">
            <a:extLst>
              <a:ext uri="{28A0092B-C50C-407E-A947-70E740481C1C}">
                <a14:useLocalDpi xmlns:a14="http://schemas.microsoft.com/office/drawing/2010/main" val="0"/>
              </a:ext>
            </a:extLst>
          </a:blip>
          <a:srcRect l="-383" t="2620" r="58729" b="52741"/>
          <a:stretch>
            <a:fillRect/>
          </a:stretch>
        </p:blipFill>
        <p:spPr>
          <a:xfrm>
            <a:off x="7482926" y="-236083"/>
            <a:ext cx="2129703" cy="1926771"/>
          </a:xfrm>
          <a:prstGeom prst="rect">
            <a:avLst/>
          </a:prstGeom>
        </p:spPr>
      </p:pic>
    </p:spTree>
    <p:extLst>
      <p:ext uri="{BB962C8B-B14F-4D97-AF65-F5344CB8AC3E}">
        <p14:creationId xmlns:p14="http://schemas.microsoft.com/office/powerpoint/2010/main" val="389137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The Squids Giant Axons">
            <a:hlinkClick r:id="" action="ppaction://media"/>
            <a:extLst>
              <a:ext uri="{FF2B5EF4-FFF2-40B4-BE49-F238E27FC236}">
                <a16:creationId xmlns:a16="http://schemas.microsoft.com/office/drawing/2014/main" id="{2FD20BC0-D802-CB58-7F75-E6925F86443E}"/>
              </a:ext>
            </a:extLst>
          </p:cNvPr>
          <p:cNvPicPr>
            <a:picLocks noGrp="1" noRot="1" noChangeAspect="1"/>
          </p:cNvPicPr>
          <p:nvPr>
            <p:ph idx="1"/>
            <a:videoFile r:link="rId1"/>
          </p:nvPr>
        </p:nvPicPr>
        <p:blipFill>
          <a:blip r:embed="rId3"/>
          <a:stretch>
            <a:fillRect/>
          </a:stretch>
        </p:blipFill>
        <p:spPr>
          <a:xfrm>
            <a:off x="958747" y="628650"/>
            <a:ext cx="10274506" cy="5805488"/>
          </a:xfrm>
          <a:prstGeom prst="rect">
            <a:avLst/>
          </a:prstGeom>
        </p:spPr>
      </p:pic>
    </p:spTree>
    <p:extLst>
      <p:ext uri="{BB962C8B-B14F-4D97-AF65-F5344CB8AC3E}">
        <p14:creationId xmlns:p14="http://schemas.microsoft.com/office/powerpoint/2010/main" val="3455326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C594E-1954-A1B4-DD38-25D6947989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85249F-2D2C-60EE-D0BF-D9F72A3D1255}"/>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57625F57-029A-9641-0B40-737CECB739A6}"/>
              </a:ext>
            </a:extLst>
          </p:cNvPr>
          <p:cNvSpPr>
            <a:spLocks noGrp="1"/>
          </p:cNvSpPr>
          <p:nvPr>
            <p:ph idx="1"/>
          </p:nvPr>
        </p:nvSpPr>
        <p:spPr>
          <a:xfrm>
            <a:off x="838200" y="1825625"/>
            <a:ext cx="7336221" cy="4933990"/>
          </a:xfrm>
        </p:spPr>
        <p:txBody>
          <a:bodyPr>
            <a:normAutofit lnSpcReduction="10000"/>
          </a:bodyPr>
          <a:lstStyle/>
          <a:p>
            <a:pPr marL="0" indent="0">
              <a:buNone/>
            </a:pPr>
            <a:r>
              <a:rPr lang="en-US" b="1" dirty="0"/>
              <a:t>Motor Neurons</a:t>
            </a:r>
          </a:p>
          <a:p>
            <a:r>
              <a:rPr lang="en-US" dirty="0"/>
              <a:t>Largest neuron in the spinal cord</a:t>
            </a:r>
          </a:p>
          <a:p>
            <a:pPr lvl="1"/>
            <a:r>
              <a:rPr lang="en-US" dirty="0"/>
              <a:t>Up to a meter long in humans</a:t>
            </a:r>
          </a:p>
          <a:p>
            <a:r>
              <a:rPr lang="en-US" dirty="0"/>
              <a:t>Only releases acetylcholine (</a:t>
            </a:r>
            <a:r>
              <a:rPr lang="en-US" dirty="0" err="1"/>
              <a:t>ACh</a:t>
            </a:r>
            <a:r>
              <a:rPr lang="en-US" dirty="0"/>
              <a:t>)</a:t>
            </a:r>
          </a:p>
          <a:p>
            <a:r>
              <a:rPr lang="en-US" dirty="0"/>
              <a:t>Excites muscle fibers that have their own action potential</a:t>
            </a:r>
          </a:p>
          <a:p>
            <a:pPr lvl="1"/>
            <a:r>
              <a:rPr lang="en-US" dirty="0"/>
              <a:t>Entering Na</a:t>
            </a:r>
            <a:r>
              <a:rPr lang="en-US" baseline="30000" dirty="0"/>
              <a:t>+</a:t>
            </a:r>
            <a:r>
              <a:rPr lang="en-US" dirty="0"/>
              <a:t> and Ca</a:t>
            </a:r>
            <a:r>
              <a:rPr lang="en-US" baseline="30000" dirty="0"/>
              <a:t>2+</a:t>
            </a:r>
            <a:r>
              <a:rPr lang="en-US" dirty="0"/>
              <a:t> causes changes in myosin and actin, producing contraction</a:t>
            </a:r>
          </a:p>
          <a:p>
            <a:r>
              <a:rPr lang="en-US" b="1" dirty="0"/>
              <a:t>Neuromuscular Junction (NMJ)</a:t>
            </a:r>
          </a:p>
          <a:p>
            <a:pPr lvl="1"/>
            <a:r>
              <a:rPr lang="en-US" dirty="0"/>
              <a:t>The </a:t>
            </a:r>
            <a:r>
              <a:rPr lang="en-US" i="1" dirty="0"/>
              <a:t>synaptic cleft</a:t>
            </a:r>
            <a:r>
              <a:rPr lang="en-US" dirty="0"/>
              <a:t> between neuron and muscle</a:t>
            </a:r>
          </a:p>
          <a:p>
            <a:pPr lvl="1"/>
            <a:r>
              <a:rPr lang="en-US" dirty="0"/>
              <a:t>Many of these exists per motor neuron</a:t>
            </a:r>
          </a:p>
          <a:p>
            <a:pPr lvl="1"/>
            <a:r>
              <a:rPr lang="en-US" dirty="0"/>
              <a:t>Larger site than neuron-neuron synapses</a:t>
            </a:r>
          </a:p>
        </p:txBody>
      </p:sp>
      <p:pic>
        <p:nvPicPr>
          <p:cNvPr id="5" name="Picture 4" descr="A diagram of a human body&#10;&#10;AI-generated content may be incorrect.">
            <a:extLst>
              <a:ext uri="{FF2B5EF4-FFF2-40B4-BE49-F238E27FC236}">
                <a16:creationId xmlns:a16="http://schemas.microsoft.com/office/drawing/2014/main" id="{7897F851-C7B8-CDAE-7DF1-90966BD921CA}"/>
              </a:ext>
            </a:extLst>
          </p:cNvPr>
          <p:cNvPicPr>
            <a:picLocks noChangeAspect="1"/>
          </p:cNvPicPr>
          <p:nvPr/>
        </p:nvPicPr>
        <p:blipFill>
          <a:blip r:embed="rId2">
            <a:extLst>
              <a:ext uri="{28A0092B-C50C-407E-A947-70E740481C1C}">
                <a14:useLocalDpi xmlns:a14="http://schemas.microsoft.com/office/drawing/2010/main" val="0"/>
              </a:ext>
            </a:extLst>
          </a:blip>
          <a:srcRect l="42406"/>
          <a:stretch>
            <a:fillRect/>
          </a:stretch>
        </p:blipFill>
        <p:spPr>
          <a:xfrm>
            <a:off x="8275320" y="1211580"/>
            <a:ext cx="3688351" cy="5406390"/>
          </a:xfrm>
          <a:prstGeom prst="rect">
            <a:avLst/>
          </a:prstGeom>
        </p:spPr>
      </p:pic>
      <p:pic>
        <p:nvPicPr>
          <p:cNvPr id="6" name="Picture 5" descr="A diagram of a human body&#10;&#10;AI-generated content may be incorrect.">
            <a:extLst>
              <a:ext uri="{FF2B5EF4-FFF2-40B4-BE49-F238E27FC236}">
                <a16:creationId xmlns:a16="http://schemas.microsoft.com/office/drawing/2014/main" id="{636A2325-2B1E-90A8-A0AC-69BAE07BCA85}"/>
              </a:ext>
            </a:extLst>
          </p:cNvPr>
          <p:cNvPicPr>
            <a:picLocks noChangeAspect="1"/>
          </p:cNvPicPr>
          <p:nvPr/>
        </p:nvPicPr>
        <p:blipFill>
          <a:blip r:embed="rId2">
            <a:extLst>
              <a:ext uri="{28A0092B-C50C-407E-A947-70E740481C1C}">
                <a14:useLocalDpi xmlns:a14="http://schemas.microsoft.com/office/drawing/2010/main" val="0"/>
              </a:ext>
            </a:extLst>
          </a:blip>
          <a:srcRect l="-383" t="2620" r="58729" b="52741"/>
          <a:stretch>
            <a:fillRect/>
          </a:stretch>
        </p:blipFill>
        <p:spPr>
          <a:xfrm>
            <a:off x="7482926" y="-236083"/>
            <a:ext cx="2129703" cy="1926771"/>
          </a:xfrm>
          <a:prstGeom prst="rect">
            <a:avLst/>
          </a:prstGeom>
        </p:spPr>
      </p:pic>
    </p:spTree>
    <p:extLst>
      <p:ext uri="{BB962C8B-B14F-4D97-AF65-F5344CB8AC3E}">
        <p14:creationId xmlns:p14="http://schemas.microsoft.com/office/powerpoint/2010/main" val="415047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CA3D3-5A11-250F-C174-3AC2C0754F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E52D0-C8CA-0390-BAD3-5F2731DE1687}"/>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85B7B5DA-5E51-18C1-1823-DCAE55D2C48A}"/>
              </a:ext>
            </a:extLst>
          </p:cNvPr>
          <p:cNvSpPr>
            <a:spLocks noGrp="1"/>
          </p:cNvSpPr>
          <p:nvPr>
            <p:ph idx="1"/>
          </p:nvPr>
        </p:nvSpPr>
        <p:spPr>
          <a:xfrm>
            <a:off x="838200" y="1825625"/>
            <a:ext cx="7934827" cy="4933990"/>
          </a:xfrm>
        </p:spPr>
        <p:txBody>
          <a:bodyPr>
            <a:normAutofit/>
          </a:bodyPr>
          <a:lstStyle/>
          <a:p>
            <a:pPr marL="0" indent="0">
              <a:buNone/>
            </a:pPr>
            <a:r>
              <a:rPr lang="en-US" b="1" dirty="0"/>
              <a:t>Proprioception: </a:t>
            </a:r>
            <a:r>
              <a:rPr lang="en-US" dirty="0"/>
              <a:t>Perception of body movements and position</a:t>
            </a:r>
          </a:p>
          <a:p>
            <a:r>
              <a:rPr lang="en-US" dirty="0"/>
              <a:t>Includes two proprioceptive receptor cells, </a:t>
            </a:r>
            <a:r>
              <a:rPr lang="en-US" b="1" dirty="0"/>
              <a:t>muscle spindles</a:t>
            </a:r>
            <a:r>
              <a:rPr lang="en-US" dirty="0"/>
              <a:t> and </a:t>
            </a:r>
            <a:r>
              <a:rPr lang="en-US" b="1" dirty="0"/>
              <a:t>Golgi tendon organs</a:t>
            </a:r>
          </a:p>
          <a:p>
            <a:r>
              <a:rPr lang="en-US" dirty="0"/>
              <a:t>Perceives length and tension of muscle</a:t>
            </a:r>
          </a:p>
          <a:p>
            <a:r>
              <a:rPr lang="en-US" dirty="0"/>
              <a:t>Driven by stretch-sensitive ion channels</a:t>
            </a:r>
          </a:p>
          <a:p>
            <a:pPr lvl="1"/>
            <a:r>
              <a:rPr lang="en-US" dirty="0"/>
              <a:t>Similar to touch</a:t>
            </a:r>
          </a:p>
          <a:p>
            <a:pPr lvl="3"/>
            <a:endParaRPr lang="en-US" dirty="0"/>
          </a:p>
          <a:p>
            <a:pPr lvl="3"/>
            <a:endParaRPr lang="en-US" dirty="0"/>
          </a:p>
        </p:txBody>
      </p:sp>
      <p:grpSp>
        <p:nvGrpSpPr>
          <p:cNvPr id="13" name="Group 12">
            <a:extLst>
              <a:ext uri="{FF2B5EF4-FFF2-40B4-BE49-F238E27FC236}">
                <a16:creationId xmlns:a16="http://schemas.microsoft.com/office/drawing/2014/main" id="{C8F8CFB6-868B-81B9-EEDB-5DCA584FBB15}"/>
              </a:ext>
            </a:extLst>
          </p:cNvPr>
          <p:cNvGrpSpPr/>
          <p:nvPr/>
        </p:nvGrpSpPr>
        <p:grpSpPr>
          <a:xfrm>
            <a:off x="8872968" y="229980"/>
            <a:ext cx="2721189" cy="6628020"/>
            <a:chOff x="5087156" y="1024731"/>
            <a:chExt cx="4266604" cy="10392198"/>
          </a:xfrm>
        </p:grpSpPr>
        <p:pic>
          <p:nvPicPr>
            <p:cNvPr id="10" name="Picture 9" descr="A diagram of a structure&#10;&#10;AI-generated content may be incorrect.">
              <a:extLst>
                <a:ext uri="{FF2B5EF4-FFF2-40B4-BE49-F238E27FC236}">
                  <a16:creationId xmlns:a16="http://schemas.microsoft.com/office/drawing/2014/main" id="{032CBBEE-B38A-DCFA-B036-39AB4184C9B2}"/>
                </a:ext>
              </a:extLst>
            </p:cNvPr>
            <p:cNvPicPr>
              <a:picLocks noChangeAspect="1"/>
            </p:cNvPicPr>
            <p:nvPr/>
          </p:nvPicPr>
          <p:blipFill>
            <a:blip r:embed="rId2">
              <a:extLst>
                <a:ext uri="{28A0092B-C50C-407E-A947-70E740481C1C}">
                  <a14:useLocalDpi xmlns:a14="http://schemas.microsoft.com/office/drawing/2010/main" val="0"/>
                </a:ext>
              </a:extLst>
            </a:blip>
            <a:srcRect l="33836" t="-34065" r="33345" b="34065"/>
            <a:stretch>
              <a:fillRect/>
            </a:stretch>
          </p:blipFill>
          <p:spPr>
            <a:xfrm>
              <a:off x="5352374" y="2311254"/>
              <a:ext cx="4001386" cy="4991199"/>
            </a:xfrm>
            <a:prstGeom prst="rect">
              <a:avLst/>
            </a:prstGeom>
          </p:spPr>
        </p:pic>
        <p:grpSp>
          <p:nvGrpSpPr>
            <p:cNvPr id="12" name="Group 11">
              <a:extLst>
                <a:ext uri="{FF2B5EF4-FFF2-40B4-BE49-F238E27FC236}">
                  <a16:creationId xmlns:a16="http://schemas.microsoft.com/office/drawing/2014/main" id="{5E497A50-54EE-5B65-B092-D50674191270}"/>
                </a:ext>
              </a:extLst>
            </p:cNvPr>
            <p:cNvGrpSpPr/>
            <p:nvPr/>
          </p:nvGrpSpPr>
          <p:grpSpPr>
            <a:xfrm>
              <a:off x="5087156" y="1024731"/>
              <a:ext cx="3889744" cy="10392198"/>
              <a:chOff x="5087156" y="1024731"/>
              <a:chExt cx="3889744" cy="10392198"/>
            </a:xfrm>
          </p:grpSpPr>
          <p:pic>
            <p:nvPicPr>
              <p:cNvPr id="9" name="Picture 8" descr="A diagram of a structure&#10;&#10;AI-generated content may be incorrect.">
                <a:extLst>
                  <a:ext uri="{FF2B5EF4-FFF2-40B4-BE49-F238E27FC236}">
                    <a16:creationId xmlns:a16="http://schemas.microsoft.com/office/drawing/2014/main" id="{D8B361B1-AEA7-5BE7-AFED-AB3ABDA8B48F}"/>
                  </a:ext>
                </a:extLst>
              </p:cNvPr>
              <p:cNvPicPr>
                <a:picLocks noChangeAspect="1"/>
              </p:cNvPicPr>
              <p:nvPr/>
            </p:nvPicPr>
            <p:blipFill>
              <a:blip r:embed="rId2">
                <a:extLst>
                  <a:ext uri="{28A0092B-C50C-407E-A947-70E740481C1C}">
                    <a14:useLocalDpi xmlns:a14="http://schemas.microsoft.com/office/drawing/2010/main" val="0"/>
                  </a:ext>
                </a:extLst>
              </a:blip>
              <a:srcRect r="69012" b="40201"/>
              <a:stretch>
                <a:fillRect/>
              </a:stretch>
            </p:blipFill>
            <p:spPr>
              <a:xfrm>
                <a:off x="5087156" y="1024731"/>
                <a:ext cx="3778102" cy="2984697"/>
              </a:xfrm>
              <a:prstGeom prst="rect">
                <a:avLst/>
              </a:prstGeom>
            </p:spPr>
          </p:pic>
          <p:pic>
            <p:nvPicPr>
              <p:cNvPr id="11" name="Picture 10" descr="A diagram of a structure&#10;&#10;AI-generated content may be incorrect.">
                <a:extLst>
                  <a:ext uri="{FF2B5EF4-FFF2-40B4-BE49-F238E27FC236}">
                    <a16:creationId xmlns:a16="http://schemas.microsoft.com/office/drawing/2014/main" id="{834F63B5-DF59-4F87-B5A1-9E76B94B9DF9}"/>
                  </a:ext>
                </a:extLst>
              </p:cNvPr>
              <p:cNvPicPr>
                <a:picLocks noChangeAspect="1"/>
              </p:cNvPicPr>
              <p:nvPr/>
            </p:nvPicPr>
            <p:blipFill>
              <a:blip r:embed="rId2">
                <a:extLst>
                  <a:ext uri="{28A0092B-C50C-407E-A947-70E740481C1C}">
                    <a14:useLocalDpi xmlns:a14="http://schemas.microsoft.com/office/drawing/2010/main" val="0"/>
                  </a:ext>
                </a:extLst>
              </a:blip>
              <a:srcRect l="62436" t="6491" r="65" b="-8048"/>
              <a:stretch>
                <a:fillRect/>
              </a:stretch>
            </p:blipFill>
            <p:spPr>
              <a:xfrm>
                <a:off x="5293128" y="7332771"/>
                <a:ext cx="3683772" cy="4084158"/>
              </a:xfrm>
              <a:prstGeom prst="rect">
                <a:avLst/>
              </a:prstGeom>
            </p:spPr>
          </p:pic>
        </p:grpSp>
      </p:grpSp>
      <p:sp>
        <p:nvSpPr>
          <p:cNvPr id="14" name="Rectangle 13">
            <a:extLst>
              <a:ext uri="{FF2B5EF4-FFF2-40B4-BE49-F238E27FC236}">
                <a16:creationId xmlns:a16="http://schemas.microsoft.com/office/drawing/2014/main" id="{82A36EA8-3AD3-5233-4B16-BAF0142487F7}"/>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5422187-EEC2-CA41-736A-FA74DDFCB154}"/>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2706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30A1A-7A38-70CA-5A2D-8E2DA0441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5C51F-4D96-6864-BC6A-1FDB08A3CAD3}"/>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ABF0BB1C-7114-C5DC-8070-739C033BFACC}"/>
              </a:ext>
            </a:extLst>
          </p:cNvPr>
          <p:cNvSpPr>
            <a:spLocks noGrp="1"/>
          </p:cNvSpPr>
          <p:nvPr>
            <p:ph idx="1"/>
          </p:nvPr>
        </p:nvSpPr>
        <p:spPr>
          <a:xfrm>
            <a:off x="838200" y="1825625"/>
            <a:ext cx="7934827" cy="4933990"/>
          </a:xfrm>
        </p:spPr>
        <p:txBody>
          <a:bodyPr>
            <a:normAutofit/>
          </a:bodyPr>
          <a:lstStyle/>
          <a:p>
            <a:pPr marL="0" indent="0">
              <a:buNone/>
            </a:pPr>
            <a:r>
              <a:rPr lang="en-US" b="1" dirty="0"/>
              <a:t>Proprioception</a:t>
            </a:r>
          </a:p>
          <a:p>
            <a:r>
              <a:rPr lang="en-US" b="1" dirty="0"/>
              <a:t>Muscle Spindles</a:t>
            </a:r>
            <a:endParaRPr lang="en-US" dirty="0"/>
          </a:p>
          <a:p>
            <a:pPr lvl="1"/>
            <a:r>
              <a:rPr lang="en-US" dirty="0"/>
              <a:t>Monitor muscle length</a:t>
            </a:r>
          </a:p>
          <a:p>
            <a:pPr lvl="1"/>
            <a:r>
              <a:rPr lang="en-US" b="1" dirty="0"/>
              <a:t>Primary Sensory Endings: </a:t>
            </a:r>
            <a:r>
              <a:rPr lang="en-US" dirty="0"/>
              <a:t>Respond quickly and to early changes in stretch</a:t>
            </a:r>
          </a:p>
          <a:p>
            <a:pPr lvl="2"/>
            <a:r>
              <a:rPr lang="en-US" dirty="0"/>
              <a:t>Velocity of muscle stretch</a:t>
            </a:r>
          </a:p>
          <a:p>
            <a:pPr lvl="1"/>
            <a:r>
              <a:rPr lang="en-US" b="1" dirty="0"/>
              <a:t>Secondary Sensory Endings: </a:t>
            </a:r>
            <a:r>
              <a:rPr lang="en-US" dirty="0"/>
              <a:t>Respond slowly and to maintained muscle length</a:t>
            </a:r>
          </a:p>
          <a:p>
            <a:pPr lvl="2"/>
            <a:r>
              <a:rPr lang="en-US" dirty="0"/>
              <a:t>Static stretch</a:t>
            </a:r>
          </a:p>
          <a:p>
            <a:pPr lvl="1"/>
            <a:endParaRPr lang="en-US" dirty="0"/>
          </a:p>
          <a:p>
            <a:pPr lvl="3"/>
            <a:endParaRPr lang="en-US" dirty="0"/>
          </a:p>
        </p:txBody>
      </p:sp>
      <p:grpSp>
        <p:nvGrpSpPr>
          <p:cNvPr id="13" name="Group 12">
            <a:extLst>
              <a:ext uri="{FF2B5EF4-FFF2-40B4-BE49-F238E27FC236}">
                <a16:creationId xmlns:a16="http://schemas.microsoft.com/office/drawing/2014/main" id="{DD41A516-C647-1729-5826-B746DCC8F8DA}"/>
              </a:ext>
            </a:extLst>
          </p:cNvPr>
          <p:cNvGrpSpPr/>
          <p:nvPr/>
        </p:nvGrpSpPr>
        <p:grpSpPr>
          <a:xfrm>
            <a:off x="8872968" y="229980"/>
            <a:ext cx="2721189" cy="6628020"/>
            <a:chOff x="5087156" y="1024731"/>
            <a:chExt cx="4266604" cy="10392198"/>
          </a:xfrm>
        </p:grpSpPr>
        <p:pic>
          <p:nvPicPr>
            <p:cNvPr id="10" name="Picture 9" descr="A diagram of a structure&#10;&#10;AI-generated content may be incorrect.">
              <a:extLst>
                <a:ext uri="{FF2B5EF4-FFF2-40B4-BE49-F238E27FC236}">
                  <a16:creationId xmlns:a16="http://schemas.microsoft.com/office/drawing/2014/main" id="{31EB5D91-8882-7A12-1C84-B9C9F1F1BA02}"/>
                </a:ext>
              </a:extLst>
            </p:cNvPr>
            <p:cNvPicPr>
              <a:picLocks noChangeAspect="1"/>
            </p:cNvPicPr>
            <p:nvPr/>
          </p:nvPicPr>
          <p:blipFill>
            <a:blip r:embed="rId2">
              <a:extLst>
                <a:ext uri="{28A0092B-C50C-407E-A947-70E740481C1C}">
                  <a14:useLocalDpi xmlns:a14="http://schemas.microsoft.com/office/drawing/2010/main" val="0"/>
                </a:ext>
              </a:extLst>
            </a:blip>
            <a:srcRect l="33836" t="-34065" r="33345" b="34065"/>
            <a:stretch>
              <a:fillRect/>
            </a:stretch>
          </p:blipFill>
          <p:spPr>
            <a:xfrm>
              <a:off x="5352374" y="2311254"/>
              <a:ext cx="4001386" cy="4991199"/>
            </a:xfrm>
            <a:prstGeom prst="rect">
              <a:avLst/>
            </a:prstGeom>
          </p:spPr>
        </p:pic>
        <p:grpSp>
          <p:nvGrpSpPr>
            <p:cNvPr id="12" name="Group 11">
              <a:extLst>
                <a:ext uri="{FF2B5EF4-FFF2-40B4-BE49-F238E27FC236}">
                  <a16:creationId xmlns:a16="http://schemas.microsoft.com/office/drawing/2014/main" id="{3B3CF451-FE5F-89B9-A692-D7F42687EFC3}"/>
                </a:ext>
              </a:extLst>
            </p:cNvPr>
            <p:cNvGrpSpPr/>
            <p:nvPr/>
          </p:nvGrpSpPr>
          <p:grpSpPr>
            <a:xfrm>
              <a:off x="5087156" y="1024731"/>
              <a:ext cx="3889744" cy="10392198"/>
              <a:chOff x="5087156" y="1024731"/>
              <a:chExt cx="3889744" cy="10392198"/>
            </a:xfrm>
          </p:grpSpPr>
          <p:pic>
            <p:nvPicPr>
              <p:cNvPr id="9" name="Picture 8" descr="A diagram of a structure&#10;&#10;AI-generated content may be incorrect.">
                <a:extLst>
                  <a:ext uri="{FF2B5EF4-FFF2-40B4-BE49-F238E27FC236}">
                    <a16:creationId xmlns:a16="http://schemas.microsoft.com/office/drawing/2014/main" id="{5EDB0F6E-AB5A-04F5-3A28-EB73E647E4D1}"/>
                  </a:ext>
                </a:extLst>
              </p:cNvPr>
              <p:cNvPicPr>
                <a:picLocks noChangeAspect="1"/>
              </p:cNvPicPr>
              <p:nvPr/>
            </p:nvPicPr>
            <p:blipFill>
              <a:blip r:embed="rId2">
                <a:extLst>
                  <a:ext uri="{28A0092B-C50C-407E-A947-70E740481C1C}">
                    <a14:useLocalDpi xmlns:a14="http://schemas.microsoft.com/office/drawing/2010/main" val="0"/>
                  </a:ext>
                </a:extLst>
              </a:blip>
              <a:srcRect r="69012" b="40201"/>
              <a:stretch>
                <a:fillRect/>
              </a:stretch>
            </p:blipFill>
            <p:spPr>
              <a:xfrm>
                <a:off x="5087156" y="1024731"/>
                <a:ext cx="3778102" cy="2984697"/>
              </a:xfrm>
              <a:prstGeom prst="rect">
                <a:avLst/>
              </a:prstGeom>
            </p:spPr>
          </p:pic>
          <p:pic>
            <p:nvPicPr>
              <p:cNvPr id="11" name="Picture 10" descr="A diagram of a structure&#10;&#10;AI-generated content may be incorrect.">
                <a:extLst>
                  <a:ext uri="{FF2B5EF4-FFF2-40B4-BE49-F238E27FC236}">
                    <a16:creationId xmlns:a16="http://schemas.microsoft.com/office/drawing/2014/main" id="{9E468A5B-E75B-0D77-748B-876E153DB167}"/>
                  </a:ext>
                </a:extLst>
              </p:cNvPr>
              <p:cNvPicPr>
                <a:picLocks noChangeAspect="1"/>
              </p:cNvPicPr>
              <p:nvPr/>
            </p:nvPicPr>
            <p:blipFill>
              <a:blip r:embed="rId2">
                <a:extLst>
                  <a:ext uri="{28A0092B-C50C-407E-A947-70E740481C1C}">
                    <a14:useLocalDpi xmlns:a14="http://schemas.microsoft.com/office/drawing/2010/main" val="0"/>
                  </a:ext>
                </a:extLst>
              </a:blip>
              <a:srcRect l="62436" t="6491" r="65" b="-8048"/>
              <a:stretch>
                <a:fillRect/>
              </a:stretch>
            </p:blipFill>
            <p:spPr>
              <a:xfrm>
                <a:off x="5293128" y="7332771"/>
                <a:ext cx="3683772" cy="4084158"/>
              </a:xfrm>
              <a:prstGeom prst="rect">
                <a:avLst/>
              </a:prstGeom>
            </p:spPr>
          </p:pic>
        </p:grpSp>
      </p:grpSp>
      <p:sp>
        <p:nvSpPr>
          <p:cNvPr id="14" name="Rectangle 13">
            <a:extLst>
              <a:ext uri="{FF2B5EF4-FFF2-40B4-BE49-F238E27FC236}">
                <a16:creationId xmlns:a16="http://schemas.microsoft.com/office/drawing/2014/main" id="{9BA1E945-DCDA-0FC8-F75F-9D31B717C36A}"/>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9702400-DD6C-7CB2-2522-3254B1D3BF4F}"/>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425946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11CCE-FF94-746E-451F-F762348A0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00653-BB69-6040-BC76-AE262F69D9F6}"/>
              </a:ext>
            </a:extLst>
          </p:cNvPr>
          <p:cNvSpPr>
            <a:spLocks noGrp="1"/>
          </p:cNvSpPr>
          <p:nvPr>
            <p:ph type="title"/>
          </p:nvPr>
        </p:nvSpPr>
        <p:spPr/>
        <p:txBody>
          <a:bodyPr/>
          <a:lstStyle/>
          <a:p>
            <a:r>
              <a:rPr lang="en-US" dirty="0"/>
              <a:t>Skeletal &amp; Muscle System</a:t>
            </a:r>
          </a:p>
        </p:txBody>
      </p:sp>
      <p:sp>
        <p:nvSpPr>
          <p:cNvPr id="3" name="Content Placeholder 2">
            <a:extLst>
              <a:ext uri="{FF2B5EF4-FFF2-40B4-BE49-F238E27FC236}">
                <a16:creationId xmlns:a16="http://schemas.microsoft.com/office/drawing/2014/main" id="{E5685DEA-EA15-5888-31D5-011CBE0B6E5C}"/>
              </a:ext>
            </a:extLst>
          </p:cNvPr>
          <p:cNvSpPr>
            <a:spLocks noGrp="1"/>
          </p:cNvSpPr>
          <p:nvPr>
            <p:ph idx="1"/>
          </p:nvPr>
        </p:nvSpPr>
        <p:spPr>
          <a:xfrm>
            <a:off x="838200" y="1825625"/>
            <a:ext cx="7934827" cy="4933990"/>
          </a:xfrm>
        </p:spPr>
        <p:txBody>
          <a:bodyPr>
            <a:normAutofit/>
          </a:bodyPr>
          <a:lstStyle/>
          <a:p>
            <a:pPr marL="0" indent="0">
              <a:buNone/>
            </a:pPr>
            <a:r>
              <a:rPr lang="en-US" b="1" dirty="0"/>
              <a:t>Proprioception</a:t>
            </a:r>
            <a:endParaRPr lang="en-US" dirty="0"/>
          </a:p>
          <a:p>
            <a:r>
              <a:rPr lang="en-US" b="1" dirty="0"/>
              <a:t>Golgi Tendon</a:t>
            </a:r>
          </a:p>
          <a:p>
            <a:pPr lvl="1"/>
            <a:r>
              <a:rPr lang="en-US" dirty="0"/>
              <a:t>Monitor muscle tension</a:t>
            </a:r>
          </a:p>
          <a:p>
            <a:pPr lvl="1"/>
            <a:r>
              <a:rPr lang="en-US" dirty="0"/>
              <a:t>Monitors the force of muscle contraction</a:t>
            </a:r>
          </a:p>
          <a:p>
            <a:pPr lvl="1"/>
            <a:r>
              <a:rPr lang="en-US" b="1" dirty="0"/>
              <a:t>Protective</a:t>
            </a:r>
            <a:r>
              <a:rPr lang="en-US" dirty="0"/>
              <a:t>: Monitor overloads that threaten to tear muscles and tendons</a:t>
            </a:r>
          </a:p>
          <a:p>
            <a:pPr lvl="2"/>
            <a:r>
              <a:rPr lang="en-US" dirty="0"/>
              <a:t>Strong stimulation inhibits motor neurons, relaxing the contraction and tension</a:t>
            </a:r>
          </a:p>
          <a:p>
            <a:pPr lvl="3"/>
            <a:endParaRPr lang="en-US" dirty="0"/>
          </a:p>
          <a:p>
            <a:pPr lvl="3"/>
            <a:endParaRPr lang="en-US" dirty="0"/>
          </a:p>
        </p:txBody>
      </p:sp>
      <p:grpSp>
        <p:nvGrpSpPr>
          <p:cNvPr id="13" name="Group 12">
            <a:extLst>
              <a:ext uri="{FF2B5EF4-FFF2-40B4-BE49-F238E27FC236}">
                <a16:creationId xmlns:a16="http://schemas.microsoft.com/office/drawing/2014/main" id="{62689450-CD3D-EBE3-F097-5B4291A56E24}"/>
              </a:ext>
            </a:extLst>
          </p:cNvPr>
          <p:cNvGrpSpPr/>
          <p:nvPr/>
        </p:nvGrpSpPr>
        <p:grpSpPr>
          <a:xfrm>
            <a:off x="8872968" y="229980"/>
            <a:ext cx="2721189" cy="6628020"/>
            <a:chOff x="5087156" y="1024731"/>
            <a:chExt cx="4266604" cy="10392198"/>
          </a:xfrm>
        </p:grpSpPr>
        <p:pic>
          <p:nvPicPr>
            <p:cNvPr id="10" name="Picture 9" descr="A diagram of a structure&#10;&#10;AI-generated content may be incorrect.">
              <a:extLst>
                <a:ext uri="{FF2B5EF4-FFF2-40B4-BE49-F238E27FC236}">
                  <a16:creationId xmlns:a16="http://schemas.microsoft.com/office/drawing/2014/main" id="{C1936F5C-8099-962F-AE54-50E19AF75084}"/>
                </a:ext>
              </a:extLst>
            </p:cNvPr>
            <p:cNvPicPr>
              <a:picLocks noChangeAspect="1"/>
            </p:cNvPicPr>
            <p:nvPr/>
          </p:nvPicPr>
          <p:blipFill>
            <a:blip r:embed="rId2">
              <a:extLst>
                <a:ext uri="{28A0092B-C50C-407E-A947-70E740481C1C}">
                  <a14:useLocalDpi xmlns:a14="http://schemas.microsoft.com/office/drawing/2010/main" val="0"/>
                </a:ext>
              </a:extLst>
            </a:blip>
            <a:srcRect l="33836" t="-34065" r="33345" b="34065"/>
            <a:stretch>
              <a:fillRect/>
            </a:stretch>
          </p:blipFill>
          <p:spPr>
            <a:xfrm>
              <a:off x="5352374" y="2311254"/>
              <a:ext cx="4001386" cy="4991199"/>
            </a:xfrm>
            <a:prstGeom prst="rect">
              <a:avLst/>
            </a:prstGeom>
          </p:spPr>
        </p:pic>
        <p:grpSp>
          <p:nvGrpSpPr>
            <p:cNvPr id="12" name="Group 11">
              <a:extLst>
                <a:ext uri="{FF2B5EF4-FFF2-40B4-BE49-F238E27FC236}">
                  <a16:creationId xmlns:a16="http://schemas.microsoft.com/office/drawing/2014/main" id="{B352E1C4-E71C-8745-946B-3FEE4499C415}"/>
                </a:ext>
              </a:extLst>
            </p:cNvPr>
            <p:cNvGrpSpPr/>
            <p:nvPr/>
          </p:nvGrpSpPr>
          <p:grpSpPr>
            <a:xfrm>
              <a:off x="5087156" y="1024731"/>
              <a:ext cx="3889744" cy="10392198"/>
              <a:chOff x="5087156" y="1024731"/>
              <a:chExt cx="3889744" cy="10392198"/>
            </a:xfrm>
          </p:grpSpPr>
          <p:pic>
            <p:nvPicPr>
              <p:cNvPr id="9" name="Picture 8" descr="A diagram of a structure&#10;&#10;AI-generated content may be incorrect.">
                <a:extLst>
                  <a:ext uri="{FF2B5EF4-FFF2-40B4-BE49-F238E27FC236}">
                    <a16:creationId xmlns:a16="http://schemas.microsoft.com/office/drawing/2014/main" id="{1AF93F4E-113B-B0EB-8DE2-79F7A787C21F}"/>
                  </a:ext>
                </a:extLst>
              </p:cNvPr>
              <p:cNvPicPr>
                <a:picLocks noChangeAspect="1"/>
              </p:cNvPicPr>
              <p:nvPr/>
            </p:nvPicPr>
            <p:blipFill>
              <a:blip r:embed="rId2">
                <a:extLst>
                  <a:ext uri="{28A0092B-C50C-407E-A947-70E740481C1C}">
                    <a14:useLocalDpi xmlns:a14="http://schemas.microsoft.com/office/drawing/2010/main" val="0"/>
                  </a:ext>
                </a:extLst>
              </a:blip>
              <a:srcRect r="69012" b="40201"/>
              <a:stretch>
                <a:fillRect/>
              </a:stretch>
            </p:blipFill>
            <p:spPr>
              <a:xfrm>
                <a:off x="5087156" y="1024731"/>
                <a:ext cx="3778102" cy="2984697"/>
              </a:xfrm>
              <a:prstGeom prst="rect">
                <a:avLst/>
              </a:prstGeom>
            </p:spPr>
          </p:pic>
          <p:pic>
            <p:nvPicPr>
              <p:cNvPr id="11" name="Picture 10" descr="A diagram of a structure&#10;&#10;AI-generated content may be incorrect.">
                <a:extLst>
                  <a:ext uri="{FF2B5EF4-FFF2-40B4-BE49-F238E27FC236}">
                    <a16:creationId xmlns:a16="http://schemas.microsoft.com/office/drawing/2014/main" id="{DB0A45DA-E2C2-1CF4-50D8-AD0A0226B40B}"/>
                  </a:ext>
                </a:extLst>
              </p:cNvPr>
              <p:cNvPicPr>
                <a:picLocks noChangeAspect="1"/>
              </p:cNvPicPr>
              <p:nvPr/>
            </p:nvPicPr>
            <p:blipFill>
              <a:blip r:embed="rId2">
                <a:extLst>
                  <a:ext uri="{28A0092B-C50C-407E-A947-70E740481C1C}">
                    <a14:useLocalDpi xmlns:a14="http://schemas.microsoft.com/office/drawing/2010/main" val="0"/>
                  </a:ext>
                </a:extLst>
              </a:blip>
              <a:srcRect l="62436" t="6491" r="65" b="-8048"/>
              <a:stretch>
                <a:fillRect/>
              </a:stretch>
            </p:blipFill>
            <p:spPr>
              <a:xfrm>
                <a:off x="5293128" y="7332771"/>
                <a:ext cx="3683772" cy="4084158"/>
              </a:xfrm>
              <a:prstGeom prst="rect">
                <a:avLst/>
              </a:prstGeom>
            </p:spPr>
          </p:pic>
        </p:grpSp>
      </p:grpSp>
      <p:sp>
        <p:nvSpPr>
          <p:cNvPr id="14" name="Rectangle 13">
            <a:extLst>
              <a:ext uri="{FF2B5EF4-FFF2-40B4-BE49-F238E27FC236}">
                <a16:creationId xmlns:a16="http://schemas.microsoft.com/office/drawing/2014/main" id="{DA07F24E-FE9A-25AE-1728-E9A6DD501041}"/>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0DB8A43-6ECB-C02E-E793-2B2E8218BF03}"/>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3312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57098-5F57-778D-6198-C7C57E866585}"/>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1CB067F8-11FC-00AB-6CEF-1C728341580A}"/>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55E0C31B-1A56-F515-EEB2-40347241646C}"/>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3997191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2ADBB-C71E-FB3E-5F21-14BF65474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B2E3F-C431-9783-1DDC-670CDCB85679}"/>
              </a:ext>
            </a:extLst>
          </p:cNvPr>
          <p:cNvSpPr>
            <a:spLocks noGrp="1"/>
          </p:cNvSpPr>
          <p:nvPr>
            <p:ph type="title"/>
          </p:nvPr>
        </p:nvSpPr>
        <p:spPr/>
        <p:txBody>
          <a:bodyPr/>
          <a:lstStyle/>
          <a:p>
            <a:r>
              <a:rPr lang="en-US" dirty="0"/>
              <a:t>Spinal Cord System</a:t>
            </a:r>
          </a:p>
        </p:txBody>
      </p:sp>
      <p:sp>
        <p:nvSpPr>
          <p:cNvPr id="3" name="Content Placeholder 2">
            <a:extLst>
              <a:ext uri="{FF2B5EF4-FFF2-40B4-BE49-F238E27FC236}">
                <a16:creationId xmlns:a16="http://schemas.microsoft.com/office/drawing/2014/main" id="{5A704756-311D-1248-D207-C3116F30B3A6}"/>
              </a:ext>
            </a:extLst>
          </p:cNvPr>
          <p:cNvSpPr>
            <a:spLocks noGrp="1"/>
          </p:cNvSpPr>
          <p:nvPr>
            <p:ph idx="1"/>
          </p:nvPr>
        </p:nvSpPr>
        <p:spPr>
          <a:xfrm>
            <a:off x="838200" y="1825624"/>
            <a:ext cx="6423310" cy="4787553"/>
          </a:xfrm>
        </p:spPr>
        <p:txBody>
          <a:bodyPr>
            <a:normAutofit fontScale="92500" lnSpcReduction="10000"/>
          </a:bodyPr>
          <a:lstStyle/>
          <a:p>
            <a:pPr marL="0" indent="0">
              <a:buNone/>
            </a:pPr>
            <a:r>
              <a:rPr lang="en-US" b="1" dirty="0"/>
              <a:t>Automatic Responses in Spinal Cord: </a:t>
            </a:r>
            <a:r>
              <a:rPr lang="en-US" dirty="0"/>
              <a:t>Motor commands that do not require cognition (brain)</a:t>
            </a:r>
          </a:p>
          <a:p>
            <a:r>
              <a:rPr lang="en-US" b="1" dirty="0"/>
              <a:t>Stretch Reflex: </a:t>
            </a:r>
            <a:r>
              <a:rPr lang="en-US" dirty="0"/>
              <a:t>A sensory neuron activates motor neurons in the spinal cord</a:t>
            </a:r>
          </a:p>
          <a:p>
            <a:pPr lvl="1"/>
            <a:r>
              <a:rPr lang="en-US" dirty="0"/>
              <a:t>Sensory neurons enter spinal cord</a:t>
            </a:r>
          </a:p>
          <a:p>
            <a:pPr lvl="1"/>
            <a:r>
              <a:rPr lang="en-US" dirty="0"/>
              <a:t>They synapse directly with motor neurons to contract the target muscle</a:t>
            </a:r>
          </a:p>
          <a:p>
            <a:pPr lvl="1"/>
            <a:r>
              <a:rPr lang="en-US" dirty="0"/>
              <a:t>They also synapse with interneurons, which inhibit motor neurons to relax the antagonist muscle</a:t>
            </a:r>
          </a:p>
          <a:p>
            <a:pPr lvl="1"/>
            <a:r>
              <a:rPr lang="en-US" dirty="0"/>
              <a:t>E.g., placing a weight on hand requires more contraction of bicep, and more stretching of </a:t>
            </a:r>
            <a:r>
              <a:rPr lang="en-US" dirty="0" err="1"/>
              <a:t>tricep</a:t>
            </a:r>
            <a:r>
              <a:rPr lang="en-US" dirty="0"/>
              <a:t>, to keep hand stable</a:t>
            </a:r>
          </a:p>
          <a:p>
            <a:pPr marL="0" indent="0">
              <a:buNone/>
            </a:pPr>
            <a:endParaRPr lang="en-US" dirty="0"/>
          </a:p>
          <a:p>
            <a:pPr lvl="2"/>
            <a:endParaRPr lang="en-US" dirty="0"/>
          </a:p>
          <a:p>
            <a:pPr lvl="3"/>
            <a:endParaRPr lang="en-US" dirty="0"/>
          </a:p>
          <a:p>
            <a:pPr lvl="3"/>
            <a:endParaRPr lang="en-US" dirty="0"/>
          </a:p>
        </p:txBody>
      </p:sp>
      <p:sp>
        <p:nvSpPr>
          <p:cNvPr id="14" name="Rectangle 13">
            <a:extLst>
              <a:ext uri="{FF2B5EF4-FFF2-40B4-BE49-F238E27FC236}">
                <a16:creationId xmlns:a16="http://schemas.microsoft.com/office/drawing/2014/main" id="{0D640BDE-87D8-F215-8656-130B6D33B668}"/>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D98E844-9B85-7D69-C551-3C015218A6E1}"/>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a human body&#10;&#10;AI-generated content may be incorrect.">
            <a:extLst>
              <a:ext uri="{FF2B5EF4-FFF2-40B4-BE49-F238E27FC236}">
                <a16:creationId xmlns:a16="http://schemas.microsoft.com/office/drawing/2014/main" id="{9C4F3C88-283D-2A43-9AB1-83FC24101C5A}"/>
              </a:ext>
            </a:extLst>
          </p:cNvPr>
          <p:cNvPicPr>
            <a:picLocks noChangeAspect="1"/>
          </p:cNvPicPr>
          <p:nvPr/>
        </p:nvPicPr>
        <p:blipFill>
          <a:blip r:embed="rId2">
            <a:extLst>
              <a:ext uri="{28A0092B-C50C-407E-A947-70E740481C1C}">
                <a14:useLocalDpi xmlns:a14="http://schemas.microsoft.com/office/drawing/2010/main" val="0"/>
              </a:ext>
            </a:extLst>
          </a:blip>
          <a:srcRect r="35123"/>
          <a:stretch>
            <a:fillRect/>
          </a:stretch>
        </p:blipFill>
        <p:spPr>
          <a:xfrm>
            <a:off x="7261510" y="1480737"/>
            <a:ext cx="4601741" cy="4632317"/>
          </a:xfrm>
          <a:prstGeom prst="rect">
            <a:avLst/>
          </a:prstGeom>
        </p:spPr>
      </p:pic>
    </p:spTree>
    <p:extLst>
      <p:ext uri="{BB962C8B-B14F-4D97-AF65-F5344CB8AC3E}">
        <p14:creationId xmlns:p14="http://schemas.microsoft.com/office/powerpoint/2010/main" val="268424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28319-66A0-AC11-D860-68D3B27DC4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48E19D-8C34-CA3C-A0F6-EA890235BC9C}"/>
              </a:ext>
            </a:extLst>
          </p:cNvPr>
          <p:cNvSpPr>
            <a:spLocks noGrp="1"/>
          </p:cNvSpPr>
          <p:nvPr>
            <p:ph type="title"/>
          </p:nvPr>
        </p:nvSpPr>
        <p:spPr/>
        <p:txBody>
          <a:bodyPr/>
          <a:lstStyle/>
          <a:p>
            <a:r>
              <a:rPr lang="en-US" dirty="0"/>
              <a:t>Spinal Cord System</a:t>
            </a:r>
          </a:p>
        </p:txBody>
      </p:sp>
      <p:sp>
        <p:nvSpPr>
          <p:cNvPr id="3" name="Content Placeholder 2">
            <a:extLst>
              <a:ext uri="{FF2B5EF4-FFF2-40B4-BE49-F238E27FC236}">
                <a16:creationId xmlns:a16="http://schemas.microsoft.com/office/drawing/2014/main" id="{BFD919E9-513A-9E8D-D77C-9C9E734F6DE4}"/>
              </a:ext>
            </a:extLst>
          </p:cNvPr>
          <p:cNvSpPr>
            <a:spLocks noGrp="1"/>
          </p:cNvSpPr>
          <p:nvPr>
            <p:ph idx="1"/>
          </p:nvPr>
        </p:nvSpPr>
        <p:spPr>
          <a:xfrm>
            <a:off x="838200" y="1825625"/>
            <a:ext cx="6236367" cy="4933990"/>
          </a:xfrm>
        </p:spPr>
        <p:txBody>
          <a:bodyPr>
            <a:normAutofit/>
          </a:bodyPr>
          <a:lstStyle/>
          <a:p>
            <a:pPr marL="0" indent="0">
              <a:buNone/>
            </a:pPr>
            <a:r>
              <a:rPr lang="en-US" b="1" dirty="0"/>
              <a:t>Automatic Responses in Spinal Cord</a:t>
            </a:r>
          </a:p>
          <a:p>
            <a:r>
              <a:rPr lang="en-US" b="1" dirty="0"/>
              <a:t>Central Pattern Generators</a:t>
            </a:r>
          </a:p>
          <a:p>
            <a:pPr lvl="1"/>
            <a:r>
              <a:rPr lang="en-US" dirty="0"/>
              <a:t>Neurons in spinal cord produce autonomous, rhythmic control of movement</a:t>
            </a:r>
          </a:p>
          <a:p>
            <a:pPr lvl="2"/>
            <a:r>
              <a:rPr lang="en-US" dirty="0"/>
              <a:t>Does not need brain signals or external feedback</a:t>
            </a:r>
          </a:p>
          <a:p>
            <a:pPr lvl="1"/>
            <a:r>
              <a:rPr lang="en-US" dirty="0"/>
              <a:t>Rhythmic, repetitive cycles of the same movement (e.g., walking)</a:t>
            </a:r>
          </a:p>
          <a:p>
            <a:pPr marL="0" indent="0">
              <a:buNone/>
            </a:pPr>
            <a:endParaRPr lang="en-US" dirty="0"/>
          </a:p>
          <a:p>
            <a:pPr lvl="2"/>
            <a:endParaRPr lang="en-US" dirty="0"/>
          </a:p>
          <a:p>
            <a:pPr lvl="3"/>
            <a:endParaRPr lang="en-US" dirty="0"/>
          </a:p>
          <a:p>
            <a:pPr lvl="3"/>
            <a:endParaRPr lang="en-US" dirty="0"/>
          </a:p>
        </p:txBody>
      </p:sp>
      <p:sp>
        <p:nvSpPr>
          <p:cNvPr id="14" name="Rectangle 13">
            <a:extLst>
              <a:ext uri="{FF2B5EF4-FFF2-40B4-BE49-F238E27FC236}">
                <a16:creationId xmlns:a16="http://schemas.microsoft.com/office/drawing/2014/main" id="{65F66B13-96CF-E7B3-336C-73696177A460}"/>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EB4825E-469E-FAC4-99C6-98F9E2180B9E}"/>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human body&#10;&#10;AI-generated content may be incorrect.">
            <a:extLst>
              <a:ext uri="{FF2B5EF4-FFF2-40B4-BE49-F238E27FC236}">
                <a16:creationId xmlns:a16="http://schemas.microsoft.com/office/drawing/2014/main" id="{DED1F57F-DE05-5131-0DC3-073024FFA8EE}"/>
              </a:ext>
            </a:extLst>
          </p:cNvPr>
          <p:cNvPicPr>
            <a:picLocks noChangeAspect="1"/>
          </p:cNvPicPr>
          <p:nvPr/>
        </p:nvPicPr>
        <p:blipFill>
          <a:blip r:embed="rId2">
            <a:extLst>
              <a:ext uri="{28A0092B-C50C-407E-A947-70E740481C1C}">
                <a14:useLocalDpi xmlns:a14="http://schemas.microsoft.com/office/drawing/2010/main" val="0"/>
              </a:ext>
            </a:extLst>
          </a:blip>
          <a:srcRect r="35123"/>
          <a:stretch>
            <a:fillRect/>
          </a:stretch>
        </p:blipFill>
        <p:spPr>
          <a:xfrm>
            <a:off x="7261510" y="1480737"/>
            <a:ext cx="4601741" cy="4632317"/>
          </a:xfrm>
          <a:prstGeom prst="rect">
            <a:avLst/>
          </a:prstGeom>
        </p:spPr>
      </p:pic>
    </p:spTree>
    <p:extLst>
      <p:ext uri="{BB962C8B-B14F-4D97-AF65-F5344CB8AC3E}">
        <p14:creationId xmlns:p14="http://schemas.microsoft.com/office/powerpoint/2010/main" val="371291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4F3DB-47E8-711D-DAEB-473723D37B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2C938-6476-22C6-7317-445C319A485A}"/>
              </a:ext>
            </a:extLst>
          </p:cNvPr>
          <p:cNvSpPr>
            <a:spLocks noGrp="1"/>
          </p:cNvSpPr>
          <p:nvPr>
            <p:ph type="title"/>
          </p:nvPr>
        </p:nvSpPr>
        <p:spPr/>
        <p:txBody>
          <a:bodyPr/>
          <a:lstStyle/>
          <a:p>
            <a:r>
              <a:rPr lang="en-US" dirty="0"/>
              <a:t>Spinal Cord System</a:t>
            </a:r>
          </a:p>
        </p:txBody>
      </p:sp>
      <p:sp>
        <p:nvSpPr>
          <p:cNvPr id="3" name="Content Placeholder 2">
            <a:extLst>
              <a:ext uri="{FF2B5EF4-FFF2-40B4-BE49-F238E27FC236}">
                <a16:creationId xmlns:a16="http://schemas.microsoft.com/office/drawing/2014/main" id="{65961CBC-3F57-D5FF-C8FB-268C5D9E66AF}"/>
              </a:ext>
            </a:extLst>
          </p:cNvPr>
          <p:cNvSpPr>
            <a:spLocks noGrp="1"/>
          </p:cNvSpPr>
          <p:nvPr>
            <p:ph idx="1"/>
          </p:nvPr>
        </p:nvSpPr>
        <p:spPr>
          <a:xfrm>
            <a:off x="838201" y="1825625"/>
            <a:ext cx="6311536" cy="4933990"/>
          </a:xfrm>
        </p:spPr>
        <p:txBody>
          <a:bodyPr>
            <a:normAutofit lnSpcReduction="10000"/>
          </a:bodyPr>
          <a:lstStyle/>
          <a:p>
            <a:pPr marL="0" indent="0">
              <a:buNone/>
            </a:pPr>
            <a:r>
              <a:rPr lang="en-US" b="1" dirty="0"/>
              <a:t>Central Pattern Generators</a:t>
            </a:r>
          </a:p>
          <a:p>
            <a:r>
              <a:rPr lang="en-US" b="1" dirty="0"/>
              <a:t>Brown, 1911</a:t>
            </a:r>
          </a:p>
          <a:p>
            <a:pPr lvl="1"/>
            <a:r>
              <a:rPr lang="en-US" b="1" dirty="0"/>
              <a:t>Research Question: </a:t>
            </a:r>
            <a:r>
              <a:rPr lang="en-US" dirty="0"/>
              <a:t>Can the spinal cord generate rhythmic movements without inputs from the brain or senses?</a:t>
            </a:r>
          </a:p>
          <a:p>
            <a:pPr lvl="1"/>
            <a:endParaRPr lang="en-US" dirty="0"/>
          </a:p>
          <a:p>
            <a:pPr lvl="1"/>
            <a:r>
              <a:rPr lang="en-US" b="1" dirty="0"/>
              <a:t>Task</a:t>
            </a:r>
            <a:r>
              <a:rPr lang="en-US" dirty="0"/>
              <a:t>: Severed control (brain) and feedback (senses) information from the CPG network and observed whether the cat could walk normally on a treadmill</a:t>
            </a:r>
          </a:p>
          <a:p>
            <a:pPr lvl="1"/>
            <a:endParaRPr lang="en-US" dirty="0"/>
          </a:p>
          <a:p>
            <a:pPr lvl="1"/>
            <a:r>
              <a:rPr lang="en-US" b="1" dirty="0"/>
              <a:t>Independent Variable</a:t>
            </a:r>
            <a:r>
              <a:rPr lang="en-US" dirty="0"/>
              <a:t>: Surgically cut nerves in the spinal cord</a:t>
            </a:r>
          </a:p>
          <a:p>
            <a:pPr lvl="2"/>
            <a:r>
              <a:rPr lang="en-US" dirty="0"/>
              <a:t>Severed brain and sensory nerves</a:t>
            </a:r>
          </a:p>
          <a:p>
            <a:pPr lvl="2"/>
            <a:endParaRPr lang="en-US" dirty="0"/>
          </a:p>
          <a:p>
            <a:pPr lvl="2"/>
            <a:endParaRPr lang="en-US" dirty="0"/>
          </a:p>
          <a:p>
            <a:pPr lvl="3"/>
            <a:endParaRPr lang="en-US" dirty="0"/>
          </a:p>
          <a:p>
            <a:pPr lvl="3"/>
            <a:endParaRPr lang="en-US" dirty="0"/>
          </a:p>
        </p:txBody>
      </p:sp>
      <p:sp>
        <p:nvSpPr>
          <p:cNvPr id="14" name="Rectangle 13">
            <a:extLst>
              <a:ext uri="{FF2B5EF4-FFF2-40B4-BE49-F238E27FC236}">
                <a16:creationId xmlns:a16="http://schemas.microsoft.com/office/drawing/2014/main" id="{D956B311-F0CE-1ECE-8E99-D1DEFA2AF6FF}"/>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870C651-F842-22AA-1906-3F39678DC8BB}"/>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Illustration shows a spinal cord attached to a brain and a cat on a flat surface.&#10;The nerves to hind legs and nerves to forelegs are mapped on the spinal cord. Extensors and flexors from the cat's hind legs are marked and the spinal cord resection is also marked on the cat.">
            <a:extLst>
              <a:ext uri="{FF2B5EF4-FFF2-40B4-BE49-F238E27FC236}">
                <a16:creationId xmlns:a16="http://schemas.microsoft.com/office/drawing/2014/main" id="{98E5943C-44CB-3207-F243-51CD9173C36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49737" y="2059804"/>
            <a:ext cx="4713514" cy="3765459"/>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7935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C83A1-8345-234E-B7B6-C0C49BA92A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C935C0-6825-72BC-F100-CB5F4B3B4B35}"/>
              </a:ext>
            </a:extLst>
          </p:cNvPr>
          <p:cNvSpPr>
            <a:spLocks noGrp="1"/>
          </p:cNvSpPr>
          <p:nvPr>
            <p:ph type="title"/>
          </p:nvPr>
        </p:nvSpPr>
        <p:spPr/>
        <p:txBody>
          <a:bodyPr/>
          <a:lstStyle/>
          <a:p>
            <a:r>
              <a:rPr lang="en-US" dirty="0"/>
              <a:t>Spinal Cord System</a:t>
            </a:r>
          </a:p>
        </p:txBody>
      </p:sp>
      <p:sp>
        <p:nvSpPr>
          <p:cNvPr id="3" name="Content Placeholder 2">
            <a:extLst>
              <a:ext uri="{FF2B5EF4-FFF2-40B4-BE49-F238E27FC236}">
                <a16:creationId xmlns:a16="http://schemas.microsoft.com/office/drawing/2014/main" id="{ACE0D689-789B-EA93-3C43-67A771A2B0F7}"/>
              </a:ext>
            </a:extLst>
          </p:cNvPr>
          <p:cNvSpPr>
            <a:spLocks noGrp="1"/>
          </p:cNvSpPr>
          <p:nvPr>
            <p:ph idx="1"/>
          </p:nvPr>
        </p:nvSpPr>
        <p:spPr>
          <a:xfrm>
            <a:off x="838201" y="1825625"/>
            <a:ext cx="6311536" cy="4933990"/>
          </a:xfrm>
        </p:spPr>
        <p:txBody>
          <a:bodyPr>
            <a:normAutofit fontScale="92500"/>
          </a:bodyPr>
          <a:lstStyle/>
          <a:p>
            <a:pPr marL="0" indent="0">
              <a:buNone/>
            </a:pPr>
            <a:r>
              <a:rPr lang="en-US" b="1" dirty="0"/>
              <a:t>Central Pattern Generators</a:t>
            </a:r>
          </a:p>
          <a:p>
            <a:r>
              <a:rPr lang="en-US" b="1" dirty="0"/>
              <a:t>Brown, 1911</a:t>
            </a:r>
          </a:p>
          <a:p>
            <a:pPr lvl="1"/>
            <a:r>
              <a:rPr lang="en-US" b="1" dirty="0"/>
              <a:t>Dependent Variable</a:t>
            </a:r>
            <a:r>
              <a:rPr lang="en-US" dirty="0"/>
              <a:t>: Extracellular recording of motor neuron activity specific to extensors and flexors</a:t>
            </a:r>
          </a:p>
          <a:p>
            <a:pPr lvl="2"/>
            <a:r>
              <a:rPr lang="en-US" dirty="0"/>
              <a:t>Extensors: Contraction straightens a joint</a:t>
            </a:r>
          </a:p>
          <a:p>
            <a:pPr lvl="2"/>
            <a:r>
              <a:rPr lang="en-US" dirty="0"/>
              <a:t>Flexors: Contraction bends a joint</a:t>
            </a:r>
          </a:p>
          <a:p>
            <a:pPr lvl="1"/>
            <a:endParaRPr lang="en-US" b="1" dirty="0"/>
          </a:p>
          <a:p>
            <a:pPr lvl="1"/>
            <a:r>
              <a:rPr lang="en-US" b="1" dirty="0"/>
              <a:t>Results: </a:t>
            </a:r>
            <a:r>
              <a:rPr lang="en-US" dirty="0"/>
              <a:t>Normal, rhythmic flexor and extensor contractions</a:t>
            </a:r>
          </a:p>
          <a:p>
            <a:pPr lvl="1"/>
            <a:endParaRPr lang="en-US" dirty="0"/>
          </a:p>
          <a:p>
            <a:pPr lvl="1"/>
            <a:r>
              <a:rPr lang="en-US" b="1" dirty="0"/>
              <a:t>Conclusion</a:t>
            </a:r>
            <a:r>
              <a:rPr lang="en-US" dirty="0"/>
              <a:t>: Spinal cord contains intrinsic neural circuits (CPGs) that produce rhythmic movements without the brain or senses</a:t>
            </a:r>
          </a:p>
          <a:p>
            <a:pPr lvl="1"/>
            <a:endParaRPr lang="en-US" dirty="0"/>
          </a:p>
          <a:p>
            <a:pPr lvl="2"/>
            <a:endParaRPr lang="en-US" dirty="0"/>
          </a:p>
          <a:p>
            <a:pPr lvl="3"/>
            <a:endParaRPr lang="en-US" dirty="0"/>
          </a:p>
          <a:p>
            <a:pPr lvl="3"/>
            <a:endParaRPr lang="en-US" dirty="0"/>
          </a:p>
        </p:txBody>
      </p:sp>
      <p:sp>
        <p:nvSpPr>
          <p:cNvPr id="14" name="Rectangle 13">
            <a:extLst>
              <a:ext uri="{FF2B5EF4-FFF2-40B4-BE49-F238E27FC236}">
                <a16:creationId xmlns:a16="http://schemas.microsoft.com/office/drawing/2014/main" id="{D819EF39-5F7A-4E74-26B5-29FDFE8FF107}"/>
              </a:ext>
            </a:extLst>
          </p:cNvPr>
          <p:cNvSpPr/>
          <p:nvPr/>
        </p:nvSpPr>
        <p:spPr>
          <a:xfrm>
            <a:off x="10844348" y="3145443"/>
            <a:ext cx="1018903" cy="110773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50CD38-AB98-B5F5-C1BD-A1F1EDF0B554}"/>
              </a:ext>
            </a:extLst>
          </p:cNvPr>
          <p:cNvSpPr/>
          <p:nvPr/>
        </p:nvSpPr>
        <p:spPr>
          <a:xfrm>
            <a:off x="8950670" y="4253173"/>
            <a:ext cx="322658" cy="64801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Illustration shows a spinal cord attached to a brain and a cat on a flat surface.&#10;The nerves to hind legs and nerves to forelegs are mapped on the spinal cord. Extensors and flexors from the cat's hind legs are marked and the spinal cord resection is also marked on the cat.">
            <a:extLst>
              <a:ext uri="{FF2B5EF4-FFF2-40B4-BE49-F238E27FC236}">
                <a16:creationId xmlns:a16="http://schemas.microsoft.com/office/drawing/2014/main" id="{190E7341-C5F6-3100-AEF2-1137E83886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149737" y="2059804"/>
            <a:ext cx="4713514" cy="3765459"/>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355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FFA8F-473B-20DB-0758-96C5E80A3F2A}"/>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DE0CCB94-735D-C1B2-6791-C2230DAC0CBE}"/>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1FB4B730-F7A7-5D2F-D8BB-5632DED34642}"/>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8575517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9E8D1-934B-6FA9-BFBE-2DE1A471A97C}"/>
              </a:ext>
            </a:extLst>
          </p:cNvPr>
          <p:cNvSpPr>
            <a:spLocks noGrp="1"/>
          </p:cNvSpPr>
          <p:nvPr>
            <p:ph type="title"/>
          </p:nvPr>
        </p:nvSpPr>
        <p:spPr/>
        <p:txBody>
          <a:bodyPr/>
          <a:lstStyle/>
          <a:p>
            <a:r>
              <a:rPr lang="en-US" dirty="0"/>
              <a:t>Primary Motor Regions</a:t>
            </a:r>
          </a:p>
        </p:txBody>
      </p:sp>
      <p:pic>
        <p:nvPicPr>
          <p:cNvPr id="7" name="Picture 6" descr="A diagram of the brain&#10;&#10;AI-generated content may be incorrect.">
            <a:extLst>
              <a:ext uri="{FF2B5EF4-FFF2-40B4-BE49-F238E27FC236}">
                <a16:creationId xmlns:a16="http://schemas.microsoft.com/office/drawing/2014/main" id="{280F476E-2B84-CF8F-FEAB-154F7E046EC5}"/>
              </a:ext>
            </a:extLst>
          </p:cNvPr>
          <p:cNvPicPr>
            <a:picLocks noChangeAspect="1"/>
          </p:cNvPicPr>
          <p:nvPr/>
        </p:nvPicPr>
        <p:blipFill>
          <a:blip r:embed="rId2">
            <a:extLst>
              <a:ext uri="{28A0092B-C50C-407E-A947-70E740481C1C}">
                <a14:useLocalDpi xmlns:a14="http://schemas.microsoft.com/office/drawing/2010/main" val="0"/>
              </a:ext>
            </a:extLst>
          </a:blip>
          <a:srcRect r="47504"/>
          <a:stretch>
            <a:fillRect/>
          </a:stretch>
        </p:blipFill>
        <p:spPr>
          <a:xfrm>
            <a:off x="8090212" y="102119"/>
            <a:ext cx="3519082" cy="3447012"/>
          </a:xfrm>
          <a:prstGeom prst="rect">
            <a:avLst/>
          </a:prstGeom>
        </p:spPr>
      </p:pic>
      <p:pic>
        <p:nvPicPr>
          <p:cNvPr id="12" name="Picture 11" descr="A diagram of the human body&#10;&#10;AI-generated content may be incorrect.">
            <a:extLst>
              <a:ext uri="{FF2B5EF4-FFF2-40B4-BE49-F238E27FC236}">
                <a16:creationId xmlns:a16="http://schemas.microsoft.com/office/drawing/2014/main" id="{250CCFD1-C5D9-3CD9-163F-3B8934F82072}"/>
              </a:ext>
            </a:extLst>
          </p:cNvPr>
          <p:cNvPicPr>
            <a:picLocks noChangeAspect="1"/>
          </p:cNvPicPr>
          <p:nvPr/>
        </p:nvPicPr>
        <p:blipFill>
          <a:blip r:embed="rId3">
            <a:extLst>
              <a:ext uri="{28A0092B-C50C-407E-A947-70E740481C1C}">
                <a14:useLocalDpi xmlns:a14="http://schemas.microsoft.com/office/drawing/2010/main" val="0"/>
              </a:ext>
            </a:extLst>
          </a:blip>
          <a:srcRect l="71980" t="58294" r="1578" b="695"/>
          <a:stretch>
            <a:fillRect/>
          </a:stretch>
        </p:blipFill>
        <p:spPr>
          <a:xfrm>
            <a:off x="7225387" y="4461393"/>
            <a:ext cx="2154573" cy="2396607"/>
          </a:xfrm>
          <a:prstGeom prst="rect">
            <a:avLst/>
          </a:prstGeom>
        </p:spPr>
      </p:pic>
      <p:pic>
        <p:nvPicPr>
          <p:cNvPr id="11" name="Picture 10" descr="A diagram of the human body&#10;&#10;AI-generated content may be incorrect.">
            <a:extLst>
              <a:ext uri="{FF2B5EF4-FFF2-40B4-BE49-F238E27FC236}">
                <a16:creationId xmlns:a16="http://schemas.microsoft.com/office/drawing/2014/main" id="{9E837CD6-589C-448C-0A8F-2ECBF37F4FA8}"/>
              </a:ext>
            </a:extLst>
          </p:cNvPr>
          <p:cNvPicPr>
            <a:picLocks noChangeAspect="1"/>
          </p:cNvPicPr>
          <p:nvPr/>
        </p:nvPicPr>
        <p:blipFill>
          <a:blip r:embed="rId3">
            <a:extLst>
              <a:ext uri="{28A0092B-C50C-407E-A947-70E740481C1C}">
                <a14:useLocalDpi xmlns:a14="http://schemas.microsoft.com/office/drawing/2010/main" val="0"/>
              </a:ext>
            </a:extLst>
          </a:blip>
          <a:srcRect l="64719" b="47325"/>
          <a:stretch>
            <a:fillRect/>
          </a:stretch>
        </p:blipFill>
        <p:spPr>
          <a:xfrm>
            <a:off x="9317207" y="3677676"/>
            <a:ext cx="2874793" cy="3078205"/>
          </a:xfrm>
          <a:prstGeom prst="rect">
            <a:avLst/>
          </a:prstGeom>
        </p:spPr>
      </p:pic>
      <p:sp>
        <p:nvSpPr>
          <p:cNvPr id="3" name="Content Placeholder 2">
            <a:extLst>
              <a:ext uri="{FF2B5EF4-FFF2-40B4-BE49-F238E27FC236}">
                <a16:creationId xmlns:a16="http://schemas.microsoft.com/office/drawing/2014/main" id="{D629C102-8762-0B78-8DE1-909C15C7571F}"/>
              </a:ext>
            </a:extLst>
          </p:cNvPr>
          <p:cNvSpPr>
            <a:spLocks noGrp="1"/>
          </p:cNvSpPr>
          <p:nvPr>
            <p:ph idx="1"/>
          </p:nvPr>
        </p:nvSpPr>
        <p:spPr>
          <a:xfrm>
            <a:off x="838199" y="1825625"/>
            <a:ext cx="7099407" cy="4813380"/>
          </a:xfrm>
        </p:spPr>
        <p:txBody>
          <a:bodyPr>
            <a:normAutofit fontScale="92500" lnSpcReduction="20000"/>
          </a:bodyPr>
          <a:lstStyle/>
          <a:p>
            <a:pPr marL="0" indent="0">
              <a:buNone/>
            </a:pPr>
            <a:r>
              <a:rPr lang="en-US" b="1" dirty="0"/>
              <a:t>Primary Motor Cortex (M1)</a:t>
            </a:r>
          </a:p>
          <a:p>
            <a:r>
              <a:rPr lang="en-US" b="1" dirty="0"/>
              <a:t>Motor homunculus</a:t>
            </a:r>
            <a:r>
              <a:rPr lang="en-US" dirty="0"/>
              <a:t>: Cortical territory proportional to the precision and fine motor control required by a body part</a:t>
            </a:r>
          </a:p>
          <a:p>
            <a:r>
              <a:rPr lang="en-US" dirty="0"/>
              <a:t>Body parts requiring less precise control are represented by fewer neurons </a:t>
            </a:r>
          </a:p>
          <a:p>
            <a:pPr lvl="1"/>
            <a:r>
              <a:rPr lang="en-US" dirty="0"/>
              <a:t>E.g., trunk, back</a:t>
            </a:r>
          </a:p>
          <a:p>
            <a:r>
              <a:rPr lang="en-US" dirty="0"/>
              <a:t>Body parts requiring greater dexterity are represented by more neurons </a:t>
            </a:r>
          </a:p>
          <a:p>
            <a:pPr lvl="1"/>
            <a:r>
              <a:rPr lang="en-US" dirty="0"/>
              <a:t>E.g., fingers, tongue</a:t>
            </a:r>
          </a:p>
          <a:p>
            <a:r>
              <a:rPr lang="en-US" dirty="0"/>
              <a:t>Individual neurons in M1 are directionally tuned</a:t>
            </a:r>
          </a:p>
          <a:p>
            <a:pPr lvl="1"/>
            <a:r>
              <a:rPr lang="en-US" dirty="0"/>
              <a:t>Each neuron fires most strongly when movement occurs in a specific preferred direction </a:t>
            </a:r>
          </a:p>
          <a:p>
            <a:endParaRPr lang="en-US" dirty="0"/>
          </a:p>
        </p:txBody>
      </p:sp>
    </p:spTree>
    <p:extLst>
      <p:ext uri="{BB962C8B-B14F-4D97-AF65-F5344CB8AC3E}">
        <p14:creationId xmlns:p14="http://schemas.microsoft.com/office/powerpoint/2010/main" val="3888798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18625-A14E-574A-92C5-654AB5F586C1}"/>
              </a:ext>
            </a:extLst>
          </p:cNvPr>
          <p:cNvSpPr>
            <a:spLocks noGrp="1"/>
          </p:cNvSpPr>
          <p:nvPr>
            <p:ph type="title"/>
          </p:nvPr>
        </p:nvSpPr>
        <p:spPr/>
        <p:txBody>
          <a:bodyPr/>
          <a:lstStyle/>
          <a:p>
            <a:r>
              <a:rPr lang="en-US" dirty="0"/>
              <a:t>Primary Motor Regions</a:t>
            </a:r>
          </a:p>
        </p:txBody>
      </p:sp>
      <p:sp>
        <p:nvSpPr>
          <p:cNvPr id="3" name="Content Placeholder 2">
            <a:extLst>
              <a:ext uri="{FF2B5EF4-FFF2-40B4-BE49-F238E27FC236}">
                <a16:creationId xmlns:a16="http://schemas.microsoft.com/office/drawing/2014/main" id="{AC517065-6E11-E24D-9237-AB5F730E0F49}"/>
              </a:ext>
            </a:extLst>
          </p:cNvPr>
          <p:cNvSpPr>
            <a:spLocks noGrp="1"/>
          </p:cNvSpPr>
          <p:nvPr>
            <p:ph idx="1"/>
          </p:nvPr>
        </p:nvSpPr>
        <p:spPr>
          <a:xfrm>
            <a:off x="838200" y="1825625"/>
            <a:ext cx="7342317" cy="4876800"/>
          </a:xfrm>
        </p:spPr>
        <p:txBody>
          <a:bodyPr>
            <a:normAutofit/>
          </a:bodyPr>
          <a:lstStyle/>
          <a:p>
            <a:pPr marL="0" indent="0">
              <a:buNone/>
            </a:pPr>
            <a:r>
              <a:rPr lang="en-CA" sz="3200" b="1" dirty="0"/>
              <a:t>Georgopoulos et al. (1982)</a:t>
            </a:r>
            <a:endParaRPr lang="en-CA" sz="3200" dirty="0"/>
          </a:p>
          <a:p>
            <a:r>
              <a:rPr lang="en-CA" sz="3200" b="1" dirty="0"/>
              <a:t>Research Question</a:t>
            </a:r>
            <a:r>
              <a:rPr lang="en-CA" sz="3200" dirty="0"/>
              <a:t>: How do M1 neurons code movement?</a:t>
            </a:r>
          </a:p>
          <a:p>
            <a:endParaRPr lang="en-CA" sz="3200" dirty="0"/>
          </a:p>
          <a:p>
            <a:r>
              <a:rPr lang="en-CA" sz="3200" b="1" dirty="0"/>
              <a:t>Task</a:t>
            </a:r>
            <a:r>
              <a:rPr lang="en-CA" sz="3200" dirty="0"/>
              <a:t>: Monkeys move a lever towards light arranged in a circle </a:t>
            </a:r>
          </a:p>
          <a:p>
            <a:pPr lvl="1"/>
            <a:r>
              <a:rPr lang="en-CA" dirty="0"/>
              <a:t>Then move the lever back to center</a:t>
            </a:r>
          </a:p>
          <a:p>
            <a:endParaRPr lang="en-CA" sz="3200" b="1" dirty="0"/>
          </a:p>
          <a:p>
            <a:r>
              <a:rPr lang="en-CA" sz="3200" b="1" dirty="0"/>
              <a:t>IV</a:t>
            </a:r>
            <a:r>
              <a:rPr lang="en-CA" sz="3200" dirty="0"/>
              <a:t>: Direction of movement</a:t>
            </a:r>
            <a:endParaRPr lang="en-US" dirty="0"/>
          </a:p>
        </p:txBody>
      </p:sp>
      <p:pic>
        <p:nvPicPr>
          <p:cNvPr id="4" name="Picture 2" descr="Illustrations show a monkey moving a level with its hand and the movements are recorded. (a) The animal was trained to move a lever from the center location to one of eight surrounding locations. The activity of a motor cortex neuron is plotted next to each target location. Each row represents a single movement, and the dots correspond to action potentials. The data are aligned by movement (vertical bar). (b) Here, movements originated at the eight peripheral locations and always terminated at the center location. The activity for the neuron is now plotted next to the starting locations. The neuron is most active (i.e., greatest density of dots) for movements in the downward direction (red arrows in both parts a and b), regardless of starting and final locations.">
            <a:extLst>
              <a:ext uri="{FF2B5EF4-FFF2-40B4-BE49-F238E27FC236}">
                <a16:creationId xmlns:a16="http://schemas.microsoft.com/office/drawing/2014/main" id="{8F25FC8C-3AC2-6B48-B490-1C543B90C5A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64395" y="681037"/>
            <a:ext cx="4627605" cy="602138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229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18625-A14E-574A-92C5-654AB5F586C1}"/>
              </a:ext>
            </a:extLst>
          </p:cNvPr>
          <p:cNvSpPr>
            <a:spLocks noGrp="1"/>
          </p:cNvSpPr>
          <p:nvPr>
            <p:ph type="title"/>
          </p:nvPr>
        </p:nvSpPr>
        <p:spPr/>
        <p:txBody>
          <a:bodyPr/>
          <a:lstStyle/>
          <a:p>
            <a:r>
              <a:rPr lang="en-US" dirty="0"/>
              <a:t>Primary Motor Regions</a:t>
            </a:r>
          </a:p>
        </p:txBody>
      </p:sp>
      <p:sp>
        <p:nvSpPr>
          <p:cNvPr id="3" name="Content Placeholder 2">
            <a:extLst>
              <a:ext uri="{FF2B5EF4-FFF2-40B4-BE49-F238E27FC236}">
                <a16:creationId xmlns:a16="http://schemas.microsoft.com/office/drawing/2014/main" id="{AC517065-6E11-E24D-9237-AB5F730E0F49}"/>
              </a:ext>
            </a:extLst>
          </p:cNvPr>
          <p:cNvSpPr>
            <a:spLocks noGrp="1"/>
          </p:cNvSpPr>
          <p:nvPr>
            <p:ph idx="1"/>
          </p:nvPr>
        </p:nvSpPr>
        <p:spPr>
          <a:xfrm>
            <a:off x="838200" y="1825625"/>
            <a:ext cx="6726195" cy="4876800"/>
          </a:xfrm>
        </p:spPr>
        <p:txBody>
          <a:bodyPr>
            <a:normAutofit fontScale="92500" lnSpcReduction="20000"/>
          </a:bodyPr>
          <a:lstStyle/>
          <a:p>
            <a:pPr marL="0" indent="0">
              <a:buNone/>
            </a:pPr>
            <a:r>
              <a:rPr lang="en-CA" sz="3200" b="1" dirty="0"/>
              <a:t>Georgopoulos et al. (1982)</a:t>
            </a:r>
            <a:endParaRPr lang="en-CA" sz="3200" dirty="0"/>
          </a:p>
          <a:p>
            <a:r>
              <a:rPr lang="en-CA" sz="3200" b="1" dirty="0"/>
              <a:t>DV: </a:t>
            </a:r>
            <a:r>
              <a:rPr lang="en-CA" sz="3200" dirty="0"/>
              <a:t>Single-cell recording of individual neurons</a:t>
            </a:r>
          </a:p>
          <a:p>
            <a:endParaRPr lang="en-CA" sz="3200" b="1" dirty="0"/>
          </a:p>
          <a:p>
            <a:r>
              <a:rPr lang="en-CA" sz="3200" b="1" dirty="0"/>
              <a:t>Results</a:t>
            </a:r>
            <a:r>
              <a:rPr lang="en-CA" sz="3200" dirty="0"/>
              <a:t>: Each neuron showed a tuning curve</a:t>
            </a:r>
          </a:p>
          <a:p>
            <a:pPr lvl="1"/>
            <a:r>
              <a:rPr lang="en-CA" sz="2800" dirty="0"/>
              <a:t>Highest firing rate at a preferred direction</a:t>
            </a:r>
          </a:p>
          <a:p>
            <a:endParaRPr lang="en-CA" sz="3200" dirty="0"/>
          </a:p>
          <a:p>
            <a:r>
              <a:rPr lang="en-CA" sz="3200" b="1" dirty="0"/>
              <a:t>Conclusion</a:t>
            </a:r>
            <a:r>
              <a:rPr lang="en-CA" sz="3200" dirty="0"/>
              <a:t>: M1 neurons are directionally tuned</a:t>
            </a:r>
          </a:p>
          <a:p>
            <a:pPr lvl="1"/>
            <a:r>
              <a:rPr lang="en-CA" dirty="0"/>
              <a:t>Similar directional coding has since been found in other motor areas, including the premotor cortex</a:t>
            </a:r>
          </a:p>
        </p:txBody>
      </p:sp>
      <p:pic>
        <p:nvPicPr>
          <p:cNvPr id="5" name="Picture 2" descr="Illustrations show a monkey moving a level with its hand and the movements are recorded. (a) The animal was trained to move a lever from the center location to one of eight surrounding locations. The activity of a motor cortex neuron is plotted next to each target location. Each row represents a single movement, and the dots correspond to action potentials. The data are aligned by movement (vertical bar). (b) Here, movements originated at the eight peripheral locations and always terminated at the center location. The activity for the neuron is now plotted next to the starting locations. The neuron is most active (i.e., greatest density of dots) for movements in the downward direction (red arrows in both parts a and b), regardless of starting and final locations.">
            <a:extLst>
              <a:ext uri="{FF2B5EF4-FFF2-40B4-BE49-F238E27FC236}">
                <a16:creationId xmlns:a16="http://schemas.microsoft.com/office/drawing/2014/main" id="{060E95E6-0C2A-AC23-1999-899B361E48A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64395" y="681037"/>
            <a:ext cx="4627605" cy="6021388"/>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7969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24CDC-DFBC-12CE-D9C7-477543A82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8F2576-4708-B893-81FA-BB3DFE80DEDC}"/>
              </a:ext>
            </a:extLst>
          </p:cNvPr>
          <p:cNvSpPr>
            <a:spLocks noGrp="1"/>
          </p:cNvSpPr>
          <p:nvPr>
            <p:ph type="title"/>
          </p:nvPr>
        </p:nvSpPr>
        <p:spPr/>
        <p:txBody>
          <a:bodyPr/>
          <a:lstStyle/>
          <a:p>
            <a:r>
              <a:rPr lang="en-US" dirty="0"/>
              <a:t>Primary Motor Regions</a:t>
            </a:r>
          </a:p>
        </p:txBody>
      </p:sp>
      <p:pic>
        <p:nvPicPr>
          <p:cNvPr id="7" name="Picture 6" descr="A diagram of the brain&#10;&#10;AI-generated content may be incorrect.">
            <a:extLst>
              <a:ext uri="{FF2B5EF4-FFF2-40B4-BE49-F238E27FC236}">
                <a16:creationId xmlns:a16="http://schemas.microsoft.com/office/drawing/2014/main" id="{92287C27-1C6C-624B-7B84-1072F54F3AEC}"/>
              </a:ext>
            </a:extLst>
          </p:cNvPr>
          <p:cNvPicPr>
            <a:picLocks noChangeAspect="1"/>
          </p:cNvPicPr>
          <p:nvPr/>
        </p:nvPicPr>
        <p:blipFill>
          <a:blip r:embed="rId3">
            <a:extLst>
              <a:ext uri="{28A0092B-C50C-407E-A947-70E740481C1C}">
                <a14:useLocalDpi xmlns:a14="http://schemas.microsoft.com/office/drawing/2010/main" val="0"/>
              </a:ext>
            </a:extLst>
          </a:blip>
          <a:srcRect r="47504"/>
          <a:stretch>
            <a:fillRect/>
          </a:stretch>
        </p:blipFill>
        <p:spPr>
          <a:xfrm>
            <a:off x="8090212" y="102119"/>
            <a:ext cx="3519082" cy="3447012"/>
          </a:xfrm>
          <a:prstGeom prst="rect">
            <a:avLst/>
          </a:prstGeom>
        </p:spPr>
      </p:pic>
      <p:pic>
        <p:nvPicPr>
          <p:cNvPr id="12" name="Picture 11" descr="A diagram of the human body&#10;&#10;AI-generated content may be incorrect.">
            <a:extLst>
              <a:ext uri="{FF2B5EF4-FFF2-40B4-BE49-F238E27FC236}">
                <a16:creationId xmlns:a16="http://schemas.microsoft.com/office/drawing/2014/main" id="{CEA1BA76-04B8-481B-B8F7-AF65DF6EC4B8}"/>
              </a:ext>
            </a:extLst>
          </p:cNvPr>
          <p:cNvPicPr>
            <a:picLocks noChangeAspect="1"/>
          </p:cNvPicPr>
          <p:nvPr/>
        </p:nvPicPr>
        <p:blipFill>
          <a:blip r:embed="rId4">
            <a:extLst>
              <a:ext uri="{28A0092B-C50C-407E-A947-70E740481C1C}">
                <a14:useLocalDpi xmlns:a14="http://schemas.microsoft.com/office/drawing/2010/main" val="0"/>
              </a:ext>
            </a:extLst>
          </a:blip>
          <a:srcRect l="71980" t="58294" r="1578" b="695"/>
          <a:stretch>
            <a:fillRect/>
          </a:stretch>
        </p:blipFill>
        <p:spPr>
          <a:xfrm>
            <a:off x="7225387" y="4461393"/>
            <a:ext cx="2154573" cy="2396607"/>
          </a:xfrm>
          <a:prstGeom prst="rect">
            <a:avLst/>
          </a:prstGeom>
        </p:spPr>
      </p:pic>
      <p:pic>
        <p:nvPicPr>
          <p:cNvPr id="11" name="Picture 10" descr="A diagram of the human body&#10;&#10;AI-generated content may be incorrect.">
            <a:extLst>
              <a:ext uri="{FF2B5EF4-FFF2-40B4-BE49-F238E27FC236}">
                <a16:creationId xmlns:a16="http://schemas.microsoft.com/office/drawing/2014/main" id="{2A044478-D781-3DEA-BFFB-D8F21BB971A6}"/>
              </a:ext>
            </a:extLst>
          </p:cNvPr>
          <p:cNvPicPr>
            <a:picLocks noChangeAspect="1"/>
          </p:cNvPicPr>
          <p:nvPr/>
        </p:nvPicPr>
        <p:blipFill>
          <a:blip r:embed="rId4">
            <a:extLst>
              <a:ext uri="{28A0092B-C50C-407E-A947-70E740481C1C}">
                <a14:useLocalDpi xmlns:a14="http://schemas.microsoft.com/office/drawing/2010/main" val="0"/>
              </a:ext>
            </a:extLst>
          </a:blip>
          <a:srcRect l="64719" b="47325"/>
          <a:stretch>
            <a:fillRect/>
          </a:stretch>
        </p:blipFill>
        <p:spPr>
          <a:xfrm>
            <a:off x="9317207" y="3677676"/>
            <a:ext cx="2874793" cy="3078205"/>
          </a:xfrm>
          <a:prstGeom prst="rect">
            <a:avLst/>
          </a:prstGeom>
        </p:spPr>
      </p:pic>
      <p:sp>
        <p:nvSpPr>
          <p:cNvPr id="3" name="Content Placeholder 2">
            <a:extLst>
              <a:ext uri="{FF2B5EF4-FFF2-40B4-BE49-F238E27FC236}">
                <a16:creationId xmlns:a16="http://schemas.microsoft.com/office/drawing/2014/main" id="{BC34BB1B-0988-7382-C1F9-D54537CFEC53}"/>
              </a:ext>
            </a:extLst>
          </p:cNvPr>
          <p:cNvSpPr>
            <a:spLocks noGrp="1"/>
          </p:cNvSpPr>
          <p:nvPr>
            <p:ph idx="1"/>
          </p:nvPr>
        </p:nvSpPr>
        <p:spPr>
          <a:xfrm>
            <a:off x="838199" y="1825625"/>
            <a:ext cx="7839635" cy="4351338"/>
          </a:xfrm>
        </p:spPr>
        <p:txBody>
          <a:bodyPr>
            <a:normAutofit/>
          </a:bodyPr>
          <a:lstStyle/>
          <a:p>
            <a:pPr marL="0" indent="0">
              <a:buNone/>
            </a:pPr>
            <a:r>
              <a:rPr lang="en-US" b="1" dirty="0"/>
              <a:t>Primary Motor Cortex (M1)</a:t>
            </a:r>
          </a:p>
          <a:p>
            <a:r>
              <a:rPr lang="en-US" b="1" dirty="0"/>
              <a:t>Neuroplasticity</a:t>
            </a:r>
            <a:endParaRPr lang="en-US" dirty="0"/>
          </a:p>
          <a:p>
            <a:pPr lvl="1"/>
            <a:r>
              <a:rPr lang="en-US" b="1" dirty="0"/>
              <a:t>Neural</a:t>
            </a:r>
            <a:r>
              <a:rPr lang="en-US" dirty="0"/>
              <a:t> </a:t>
            </a:r>
            <a:r>
              <a:rPr lang="en-US" b="1" dirty="0"/>
              <a:t>structure</a:t>
            </a:r>
            <a:r>
              <a:rPr lang="en-US" dirty="0"/>
              <a:t> increases with learning of a skill</a:t>
            </a:r>
          </a:p>
          <a:p>
            <a:pPr lvl="2"/>
            <a:r>
              <a:rPr lang="en-US" dirty="0"/>
              <a:t>Represents increased complexity to represent the skill</a:t>
            </a:r>
          </a:p>
          <a:p>
            <a:pPr lvl="1"/>
            <a:r>
              <a:rPr lang="en-US" b="1" dirty="0"/>
              <a:t>Neural</a:t>
            </a:r>
            <a:r>
              <a:rPr lang="en-US" dirty="0"/>
              <a:t> </a:t>
            </a:r>
            <a:r>
              <a:rPr lang="en-US" b="1" dirty="0"/>
              <a:t>activity </a:t>
            </a:r>
            <a:r>
              <a:rPr lang="en-US" dirty="0"/>
              <a:t>may increase or decrease</a:t>
            </a:r>
            <a:r>
              <a:rPr lang="en-US" i="1" dirty="0"/>
              <a:t> </a:t>
            </a:r>
            <a:r>
              <a:rPr lang="en-US" dirty="0"/>
              <a:t>with learning, depending on the type of skill</a:t>
            </a:r>
          </a:p>
          <a:p>
            <a:pPr lvl="2"/>
            <a:r>
              <a:rPr lang="en-US" b="1" dirty="0"/>
              <a:t>Decreases</a:t>
            </a:r>
            <a:r>
              <a:rPr lang="en-US" dirty="0"/>
              <a:t> with simple repetitive tasks, representing more efficient neural coding</a:t>
            </a:r>
          </a:p>
          <a:p>
            <a:pPr lvl="2"/>
            <a:r>
              <a:rPr lang="en-US" b="1" dirty="0"/>
              <a:t>Increases</a:t>
            </a:r>
            <a:r>
              <a:rPr lang="en-US" dirty="0"/>
              <a:t> with complex, highly refined skills, reflecting expanding structural representation </a:t>
            </a:r>
          </a:p>
          <a:p>
            <a:endParaRPr lang="en-US" dirty="0"/>
          </a:p>
        </p:txBody>
      </p:sp>
    </p:spTree>
    <p:extLst>
      <p:ext uri="{BB962C8B-B14F-4D97-AF65-F5344CB8AC3E}">
        <p14:creationId xmlns:p14="http://schemas.microsoft.com/office/powerpoint/2010/main" val="1476821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2" descr="An illustration of a brain and a scatter plot show the increase in cortical representation of the fingers in musicians who play string instruments.&#10;The illustration of the brain shows MEG activity for controls in a lighter shade (yellow) and for musicians in a darker shade (red) following stimulation of the thumb (Digit 1, D1) and fifth finger (D5). These are marked and shown on the brain. The scatter plot has age at inception of musical practice on the X axis and has values from 0 through 25 with increments of 5. The Y axis measures cortical response and has values from 0 through 30 with increments of 5. The scatter plot has 9 dots spread out at the top and middle for string players and 5 dots stacked atop each other toward the right end for controls. Text above pointing to the dots of the string players reads, Cortical response is larger for musicians who begin training before age 12.">
            <a:extLst>
              <a:ext uri="{FF2B5EF4-FFF2-40B4-BE49-F238E27FC236}">
                <a16:creationId xmlns:a16="http://schemas.microsoft.com/office/drawing/2014/main" id="{EC4A5762-6BD8-B166-9B35-DD6BAEB72ADF}"/>
              </a:ext>
            </a:extLst>
          </p:cNvPr>
          <p:cNvPicPr>
            <a:picLocks noChangeAspect="1"/>
          </p:cNvPicPr>
          <p:nvPr/>
        </p:nvPicPr>
        <p:blipFill>
          <a:blip r:embed="rId2">
            <a:extLst>
              <a:ext uri="{28A0092B-C50C-407E-A947-70E740481C1C}">
                <a14:useLocalDpi xmlns:a14="http://schemas.microsoft.com/office/drawing/2010/main" val="0"/>
              </a:ext>
            </a:extLst>
          </a:blip>
          <a:srcRect b="8046"/>
          <a:stretch>
            <a:fillRect/>
          </a:stretch>
        </p:blipFill>
        <p:spPr>
          <a:xfrm>
            <a:off x="7192114" y="673101"/>
            <a:ext cx="4851719" cy="6019800"/>
          </a:xfrm>
          <a:prstGeom prst="rect">
            <a:avLst/>
          </a:prstGeom>
          <a:noFill/>
          <a:ln>
            <a:noFill/>
          </a:ln>
        </p:spPr>
      </p:pic>
      <p:sp>
        <p:nvSpPr>
          <p:cNvPr id="2" name="Title 1">
            <a:extLst>
              <a:ext uri="{FF2B5EF4-FFF2-40B4-BE49-F238E27FC236}">
                <a16:creationId xmlns:a16="http://schemas.microsoft.com/office/drawing/2014/main" id="{E1368C55-EA82-3E45-B5C3-304EDB8B133F}"/>
              </a:ext>
            </a:extLst>
          </p:cNvPr>
          <p:cNvSpPr>
            <a:spLocks noGrp="1"/>
          </p:cNvSpPr>
          <p:nvPr>
            <p:ph type="title"/>
          </p:nvPr>
        </p:nvSpPr>
        <p:spPr/>
        <p:txBody>
          <a:bodyPr/>
          <a:lstStyle/>
          <a:p>
            <a:r>
              <a:rPr lang="en-US" dirty="0"/>
              <a:t>Primary Motor Regions</a:t>
            </a:r>
          </a:p>
        </p:txBody>
      </p:sp>
      <p:sp>
        <p:nvSpPr>
          <p:cNvPr id="3" name="Content Placeholder 2">
            <a:extLst>
              <a:ext uri="{FF2B5EF4-FFF2-40B4-BE49-F238E27FC236}">
                <a16:creationId xmlns:a16="http://schemas.microsoft.com/office/drawing/2014/main" id="{9EACA168-2415-AC46-97E0-B710A562AB0B}"/>
              </a:ext>
            </a:extLst>
          </p:cNvPr>
          <p:cNvSpPr>
            <a:spLocks noGrp="1"/>
          </p:cNvSpPr>
          <p:nvPr>
            <p:ph idx="1"/>
          </p:nvPr>
        </p:nvSpPr>
        <p:spPr>
          <a:xfrm>
            <a:off x="838201" y="1825624"/>
            <a:ext cx="6832600" cy="5032375"/>
          </a:xfrm>
        </p:spPr>
        <p:txBody>
          <a:bodyPr>
            <a:normAutofit fontScale="85000" lnSpcReduction="10000"/>
          </a:bodyPr>
          <a:lstStyle/>
          <a:p>
            <a:pPr marL="0" indent="0">
              <a:buNone/>
            </a:pPr>
            <a:r>
              <a:rPr lang="en-CA" sz="3200" b="1" dirty="0"/>
              <a:t>Elbert et al., 1995</a:t>
            </a:r>
          </a:p>
          <a:p>
            <a:r>
              <a:rPr lang="en-CA" sz="3200" b="1" dirty="0"/>
              <a:t>Research Question: </a:t>
            </a:r>
            <a:r>
              <a:rPr lang="en-CA" sz="3200" dirty="0"/>
              <a:t>Is the organization of the primary motor cortex malleable?</a:t>
            </a:r>
          </a:p>
          <a:p>
            <a:endParaRPr lang="en-CA" sz="3200" dirty="0"/>
          </a:p>
          <a:p>
            <a:r>
              <a:rPr lang="en-CA" sz="3200" b="1" dirty="0"/>
              <a:t>Task</a:t>
            </a:r>
            <a:r>
              <a:rPr lang="en-CA" sz="3200" dirty="0"/>
              <a:t>: Stimulation of thumb and finger of the hand of musicians and non-musicians</a:t>
            </a:r>
          </a:p>
          <a:p>
            <a:endParaRPr lang="en-CA" sz="3200" dirty="0"/>
          </a:p>
          <a:p>
            <a:r>
              <a:rPr lang="en-CA" sz="3200" b="1" dirty="0"/>
              <a:t>IV</a:t>
            </a:r>
            <a:r>
              <a:rPr lang="en-CA" sz="3200" dirty="0"/>
              <a:t>: Violin players versus non-musicians</a:t>
            </a:r>
          </a:p>
          <a:p>
            <a:pPr lvl="1"/>
            <a:r>
              <a:rPr lang="en-CA" sz="2800" dirty="0"/>
              <a:t>Also, years playing violin</a:t>
            </a:r>
          </a:p>
          <a:p>
            <a:pPr lvl="1"/>
            <a:endParaRPr lang="en-CA" sz="2800" dirty="0"/>
          </a:p>
          <a:p>
            <a:r>
              <a:rPr lang="en-CA" sz="3200" b="1" dirty="0"/>
              <a:t>DV</a:t>
            </a:r>
            <a:r>
              <a:rPr lang="en-CA" sz="3200" dirty="0"/>
              <a:t>: Neural activity of the motor cortex using MEG</a:t>
            </a:r>
          </a:p>
          <a:p>
            <a:pPr marL="0" lvl="0" indent="0">
              <a:buNone/>
            </a:pPr>
            <a:endParaRPr lang="en-CA" b="1" dirty="0"/>
          </a:p>
          <a:p>
            <a:pPr marL="0" lvl="0" indent="0">
              <a:buNone/>
            </a:pPr>
            <a:endParaRPr lang="en-CA" dirty="0"/>
          </a:p>
        </p:txBody>
      </p:sp>
      <p:sp>
        <p:nvSpPr>
          <p:cNvPr id="6" name="Rectangle 5">
            <a:extLst>
              <a:ext uri="{FF2B5EF4-FFF2-40B4-BE49-F238E27FC236}">
                <a16:creationId xmlns:a16="http://schemas.microsoft.com/office/drawing/2014/main" id="{7A9493C1-0B6B-2257-B197-C30A3B710EB3}"/>
              </a:ext>
            </a:extLst>
          </p:cNvPr>
          <p:cNvSpPr/>
          <p:nvPr/>
        </p:nvSpPr>
        <p:spPr>
          <a:xfrm>
            <a:off x="7035800" y="3035300"/>
            <a:ext cx="431800" cy="279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655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2" descr="An illustration of a brain and a scatter plot show the increase in cortical representation of the fingers in musicians who play string instruments.&#10;The illustration of the brain shows MEG activity for controls in a lighter shade (yellow) and for musicians in a darker shade (red) following stimulation of the thumb (Digit 1, D1) and fifth finger (D5). These are marked and shown on the brain. The scatter plot has age at inception of musical practice on the X axis and has values from 0 through 25 with increments of 5. The Y axis measures cortical response and has values from 0 through 30 with increments of 5. The scatter plot has 9 dots spread out at the top and middle for string players and 5 dots stacked atop each other toward the right end for controls. Text above pointing to the dots of the string players reads, Cortical response is larger for musicians who begin training before age 12.">
            <a:extLst>
              <a:ext uri="{FF2B5EF4-FFF2-40B4-BE49-F238E27FC236}">
                <a16:creationId xmlns:a16="http://schemas.microsoft.com/office/drawing/2014/main" id="{00705AD2-C418-BC4F-886D-BAA34DDF577C}"/>
              </a:ext>
            </a:extLst>
          </p:cNvPr>
          <p:cNvPicPr>
            <a:picLocks noChangeAspect="1"/>
          </p:cNvPicPr>
          <p:nvPr/>
        </p:nvPicPr>
        <p:blipFill>
          <a:blip r:embed="rId2">
            <a:extLst>
              <a:ext uri="{28A0092B-C50C-407E-A947-70E740481C1C}">
                <a14:useLocalDpi xmlns:a14="http://schemas.microsoft.com/office/drawing/2010/main" val="0"/>
              </a:ext>
            </a:extLst>
          </a:blip>
          <a:srcRect b="8046"/>
          <a:stretch>
            <a:fillRect/>
          </a:stretch>
        </p:blipFill>
        <p:spPr>
          <a:xfrm>
            <a:off x="7192114" y="673101"/>
            <a:ext cx="4851719" cy="6019800"/>
          </a:xfrm>
          <a:prstGeom prst="rect">
            <a:avLst/>
          </a:prstGeom>
          <a:noFill/>
          <a:ln>
            <a:noFill/>
          </a:ln>
        </p:spPr>
      </p:pic>
      <p:sp>
        <p:nvSpPr>
          <p:cNvPr id="2" name="Title 1">
            <a:extLst>
              <a:ext uri="{FF2B5EF4-FFF2-40B4-BE49-F238E27FC236}">
                <a16:creationId xmlns:a16="http://schemas.microsoft.com/office/drawing/2014/main" id="{E1368C55-EA82-3E45-B5C3-304EDB8B133F}"/>
              </a:ext>
            </a:extLst>
          </p:cNvPr>
          <p:cNvSpPr>
            <a:spLocks noGrp="1"/>
          </p:cNvSpPr>
          <p:nvPr>
            <p:ph type="title"/>
          </p:nvPr>
        </p:nvSpPr>
        <p:spPr/>
        <p:txBody>
          <a:bodyPr/>
          <a:lstStyle/>
          <a:p>
            <a:r>
              <a:rPr lang="en-US" dirty="0"/>
              <a:t>Primary Motor Regions</a:t>
            </a:r>
          </a:p>
        </p:txBody>
      </p:sp>
      <p:sp>
        <p:nvSpPr>
          <p:cNvPr id="3" name="Content Placeholder 2">
            <a:extLst>
              <a:ext uri="{FF2B5EF4-FFF2-40B4-BE49-F238E27FC236}">
                <a16:creationId xmlns:a16="http://schemas.microsoft.com/office/drawing/2014/main" id="{9EACA168-2415-AC46-97E0-B710A562AB0B}"/>
              </a:ext>
            </a:extLst>
          </p:cNvPr>
          <p:cNvSpPr>
            <a:spLocks noGrp="1"/>
          </p:cNvSpPr>
          <p:nvPr>
            <p:ph idx="1"/>
          </p:nvPr>
        </p:nvSpPr>
        <p:spPr>
          <a:xfrm>
            <a:off x="838201" y="1825624"/>
            <a:ext cx="6832600" cy="5032375"/>
          </a:xfrm>
        </p:spPr>
        <p:txBody>
          <a:bodyPr>
            <a:normAutofit/>
          </a:bodyPr>
          <a:lstStyle/>
          <a:p>
            <a:pPr marL="0" indent="0">
              <a:buNone/>
            </a:pPr>
            <a:r>
              <a:rPr lang="en-CA" b="1" dirty="0"/>
              <a:t>Elbert et al., 1995</a:t>
            </a:r>
          </a:p>
          <a:p>
            <a:r>
              <a:rPr lang="en-CA" sz="3200" b="1" dirty="0"/>
              <a:t>Results: </a:t>
            </a:r>
          </a:p>
          <a:p>
            <a:pPr lvl="1"/>
            <a:r>
              <a:rPr lang="en-CA" sz="2800" dirty="0"/>
              <a:t>Increased activity in primary motor cortex for violin players</a:t>
            </a:r>
          </a:p>
          <a:p>
            <a:pPr lvl="1"/>
            <a:r>
              <a:rPr lang="en-CA" sz="2800" dirty="0"/>
              <a:t>The neural response positively correlated with years as a musician</a:t>
            </a:r>
          </a:p>
          <a:p>
            <a:pPr lvl="1"/>
            <a:endParaRPr lang="en-CA" sz="2800" dirty="0"/>
          </a:p>
          <a:p>
            <a:r>
              <a:rPr lang="en-CA" sz="3200" b="1" dirty="0"/>
              <a:t>Conclusion</a:t>
            </a:r>
            <a:r>
              <a:rPr lang="en-CA" sz="3200" dirty="0"/>
              <a:t>: There exists plasticity within the motor cortex</a:t>
            </a:r>
          </a:p>
          <a:p>
            <a:pPr lvl="1"/>
            <a:r>
              <a:rPr lang="en-CA" sz="2800" dirty="0"/>
              <a:t>Experience reshapes cortical organisation</a:t>
            </a:r>
          </a:p>
          <a:p>
            <a:pPr marL="0" lvl="0" indent="0">
              <a:buNone/>
            </a:pPr>
            <a:endParaRPr lang="en-CA" b="1" dirty="0"/>
          </a:p>
          <a:p>
            <a:pPr marL="0" lvl="0" indent="0">
              <a:buNone/>
            </a:pPr>
            <a:endParaRPr lang="en-CA" dirty="0"/>
          </a:p>
        </p:txBody>
      </p:sp>
      <p:sp>
        <p:nvSpPr>
          <p:cNvPr id="4" name="Rectangle 3">
            <a:extLst>
              <a:ext uri="{FF2B5EF4-FFF2-40B4-BE49-F238E27FC236}">
                <a16:creationId xmlns:a16="http://schemas.microsoft.com/office/drawing/2014/main" id="{B5048D70-033B-6918-7555-8662DA202D53}"/>
              </a:ext>
            </a:extLst>
          </p:cNvPr>
          <p:cNvSpPr/>
          <p:nvPr/>
        </p:nvSpPr>
        <p:spPr>
          <a:xfrm>
            <a:off x="7035800" y="3035300"/>
            <a:ext cx="431800" cy="279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5996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E5B28-8FAA-AAC4-6FBD-DE446A008158}"/>
            </a:ext>
          </a:extLst>
        </p:cNvPr>
        <p:cNvGrpSpPr/>
        <p:nvPr/>
      </p:nvGrpSpPr>
      <p:grpSpPr>
        <a:xfrm>
          <a:off x="0" y="0"/>
          <a:ext cx="0" cy="0"/>
          <a:chOff x="0" y="0"/>
          <a:chExt cx="0" cy="0"/>
        </a:xfrm>
      </p:grpSpPr>
      <p:sp>
        <p:nvSpPr>
          <p:cNvPr id="20" name="Title 1">
            <a:extLst>
              <a:ext uri="{FF2B5EF4-FFF2-40B4-BE49-F238E27FC236}">
                <a16:creationId xmlns:a16="http://schemas.microsoft.com/office/drawing/2014/main" id="{DA68D886-C73E-4B51-415F-B6D31791A605}"/>
              </a:ext>
            </a:extLst>
          </p:cNvPr>
          <p:cNvSpPr txBox="1">
            <a:spLocks/>
          </p:cNvSpPr>
          <p:nvPr/>
        </p:nvSpPr>
        <p:spPr>
          <a:xfrm>
            <a:off x="6574665" y="602116"/>
            <a:ext cx="5702954" cy="59002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800" b="1" u="sng" dirty="0">
                <a:latin typeface="Calibri" panose="020F0502020204030204" pitchFamily="34" charset="0"/>
                <a:cs typeface="Calibri" panose="020F0502020204030204" pitchFamily="34" charset="0"/>
              </a:rPr>
              <a:t>Lecture Outline</a:t>
            </a:r>
          </a:p>
          <a:p>
            <a:endParaRPr lang="en-US" sz="4000" dirty="0">
              <a:latin typeface="Calibri" panose="020F0502020204030204" pitchFamily="34" charset="0"/>
              <a:cs typeface="Calibri" panose="020F0502020204030204" pitchFamily="34" charset="0"/>
            </a:endParaRPr>
          </a:p>
          <a:p>
            <a:r>
              <a:rPr lang="en-US" sz="3600" dirty="0">
                <a:latin typeface="Calibri" panose="020F0502020204030204" pitchFamily="34" charset="0"/>
                <a:cs typeface="Calibri" panose="020F0502020204030204" pitchFamily="34" charset="0"/>
              </a:rPr>
              <a:t>Motor Control</a:t>
            </a:r>
          </a:p>
          <a:p>
            <a:endParaRPr lang="en-US" sz="3600" dirty="0">
              <a:latin typeface="Calibri" panose="020F0502020204030204" pitchFamily="34" charset="0"/>
              <a:cs typeface="Calibri" panose="020F0502020204030204" pitchFamily="34" charset="0"/>
            </a:endParaRPr>
          </a:p>
          <a:p>
            <a:r>
              <a:rPr lang="en-US" sz="3600" dirty="0">
                <a:solidFill>
                  <a:srgbClr val="FF0000"/>
                </a:solidFill>
                <a:latin typeface="Calibri" panose="020F0502020204030204" pitchFamily="34" charset="0"/>
                <a:cs typeface="Calibri" panose="020F0502020204030204" pitchFamily="34" charset="0"/>
              </a:rPr>
              <a:t>Hierarchical Motor Control</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Skeletal &amp; Muscle</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Spinal Cord</a:t>
            </a:r>
          </a:p>
          <a:p>
            <a:pPr marL="571500" indent="-571500">
              <a:buFont typeface="Arial" panose="020B0604020202020204" pitchFamily="34" charset="0"/>
              <a:buChar char="•"/>
            </a:pPr>
            <a:r>
              <a:rPr lang="en-US" sz="3600" dirty="0">
                <a:latin typeface="Calibri" panose="020F0502020204030204" pitchFamily="34" charset="0"/>
                <a:cs typeface="Calibri" panose="020F0502020204030204" pitchFamily="34" charset="0"/>
              </a:rPr>
              <a:t>Primary Motor Regions</a:t>
            </a:r>
          </a:p>
          <a:p>
            <a:pPr marL="571500" indent="-571500">
              <a:buFont typeface="Arial" panose="020B0604020202020204" pitchFamily="34" charset="0"/>
              <a:buChar char="•"/>
            </a:pPr>
            <a:r>
              <a:rPr lang="en-US" sz="3600" dirty="0">
                <a:solidFill>
                  <a:srgbClr val="FF0000"/>
                </a:solidFill>
                <a:latin typeface="Calibri" panose="020F0502020204030204" pitchFamily="34" charset="0"/>
                <a:cs typeface="Calibri" panose="020F0502020204030204" pitchFamily="34" charset="0"/>
              </a:rPr>
              <a:t>Secondary Motor Regions</a:t>
            </a:r>
          </a:p>
          <a:p>
            <a:endParaRPr lang="en-US" sz="3600" dirty="0">
              <a:latin typeface="Calibri" panose="020F0502020204030204" pitchFamily="34" charset="0"/>
              <a:cs typeface="Calibri" panose="020F0502020204030204" pitchFamily="34" charset="0"/>
            </a:endParaRPr>
          </a:p>
        </p:txBody>
      </p:sp>
      <p:pic>
        <p:nvPicPr>
          <p:cNvPr id="2" name="Picture 1" descr="A colorful and black and white brain&#10;&#10;AI-generated content may be incorrect.">
            <a:extLst>
              <a:ext uri="{FF2B5EF4-FFF2-40B4-BE49-F238E27FC236}">
                <a16:creationId xmlns:a16="http://schemas.microsoft.com/office/drawing/2014/main" id="{915BC665-A1BD-0CEF-8CF7-8F41152AB996}"/>
              </a:ext>
            </a:extLst>
          </p:cNvPr>
          <p:cNvPicPr>
            <a:picLocks noChangeAspect="1"/>
          </p:cNvPicPr>
          <p:nvPr/>
        </p:nvPicPr>
        <p:blipFill>
          <a:blip r:embed="rId2">
            <a:clrChange>
              <a:clrFrom>
                <a:srgbClr val="F9F9F7"/>
              </a:clrFrom>
              <a:clrTo>
                <a:srgbClr val="F9F9F7">
                  <a:alpha val="0"/>
                </a:srgbClr>
              </a:clrTo>
            </a:clrChange>
            <a:extLst>
              <a:ext uri="{28A0092B-C50C-407E-A947-70E740481C1C}">
                <a14:useLocalDpi xmlns:a14="http://schemas.microsoft.com/office/drawing/2010/main" val="0"/>
              </a:ext>
            </a:extLst>
          </a:blip>
          <a:srcRect l="22953" t="7044" r="23408" b="21998"/>
          <a:stretch>
            <a:fillRect/>
          </a:stretch>
        </p:blipFill>
        <p:spPr>
          <a:xfrm>
            <a:off x="1451809" y="-16931"/>
            <a:ext cx="4908331" cy="6493024"/>
          </a:xfrm>
          <a:prstGeom prst="rect">
            <a:avLst/>
          </a:prstGeom>
        </p:spPr>
      </p:pic>
    </p:spTree>
    <p:extLst>
      <p:ext uri="{BB962C8B-B14F-4D97-AF65-F5344CB8AC3E}">
        <p14:creationId xmlns:p14="http://schemas.microsoft.com/office/powerpoint/2010/main" val="23391607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7D126-EF92-5C48-B20B-4139AB9F3908}"/>
              </a:ext>
            </a:extLst>
          </p:cNvPr>
          <p:cNvSpPr>
            <a:spLocks noGrp="1"/>
          </p:cNvSpPr>
          <p:nvPr>
            <p:ph type="title"/>
          </p:nvPr>
        </p:nvSpPr>
        <p:spPr/>
        <p:txBody>
          <a:bodyPr/>
          <a:lstStyle/>
          <a:p>
            <a:r>
              <a:rPr lang="en-US" dirty="0"/>
              <a:t>Secondary Motor Regions</a:t>
            </a:r>
          </a:p>
        </p:txBody>
      </p:sp>
      <p:grpSp>
        <p:nvGrpSpPr>
          <p:cNvPr id="7" name="Group 6">
            <a:extLst>
              <a:ext uri="{FF2B5EF4-FFF2-40B4-BE49-F238E27FC236}">
                <a16:creationId xmlns:a16="http://schemas.microsoft.com/office/drawing/2014/main" id="{A34CB6F9-B0AC-5579-63ED-B0B7ABBF8A2B}"/>
              </a:ext>
            </a:extLst>
          </p:cNvPr>
          <p:cNvGrpSpPr/>
          <p:nvPr/>
        </p:nvGrpSpPr>
        <p:grpSpPr>
          <a:xfrm>
            <a:off x="8563232" y="266513"/>
            <a:ext cx="3445499" cy="6492875"/>
            <a:chOff x="8410832" y="-60729"/>
            <a:chExt cx="3671482" cy="6918729"/>
          </a:xfrm>
        </p:grpSpPr>
        <p:pic>
          <p:nvPicPr>
            <p:cNvPr id="4" name="Picture 3" descr="A diagram of the brain&#10;&#10;AI-generated content may be incorrect.">
              <a:extLst>
                <a:ext uri="{FF2B5EF4-FFF2-40B4-BE49-F238E27FC236}">
                  <a16:creationId xmlns:a16="http://schemas.microsoft.com/office/drawing/2014/main" id="{C4A9CC62-FF1A-AD6B-9E9A-AE9F50305965}"/>
                </a:ext>
              </a:extLst>
            </p:cNvPr>
            <p:cNvPicPr>
              <a:picLocks noChangeAspect="1"/>
            </p:cNvPicPr>
            <p:nvPr/>
          </p:nvPicPr>
          <p:blipFill>
            <a:blip r:embed="rId2">
              <a:extLst>
                <a:ext uri="{28A0092B-C50C-407E-A947-70E740481C1C}">
                  <a14:useLocalDpi xmlns:a14="http://schemas.microsoft.com/office/drawing/2010/main" val="0"/>
                </a:ext>
              </a:extLst>
            </a:blip>
            <a:srcRect r="47504"/>
            <a:stretch>
              <a:fillRect/>
            </a:stretch>
          </p:blipFill>
          <p:spPr>
            <a:xfrm>
              <a:off x="8563232" y="-60729"/>
              <a:ext cx="3519082" cy="3447012"/>
            </a:xfrm>
            <a:prstGeom prst="rect">
              <a:avLst/>
            </a:prstGeom>
          </p:spPr>
        </p:pic>
        <p:pic>
          <p:nvPicPr>
            <p:cNvPr id="6" name="Picture 5" descr="A diagram of the brain&#10;&#10;AI-generated content may be incorrect.">
              <a:extLst>
                <a:ext uri="{FF2B5EF4-FFF2-40B4-BE49-F238E27FC236}">
                  <a16:creationId xmlns:a16="http://schemas.microsoft.com/office/drawing/2014/main" id="{C6A564E6-735F-B677-500A-08591E327E63}"/>
                </a:ext>
              </a:extLst>
            </p:cNvPr>
            <p:cNvPicPr>
              <a:picLocks noChangeAspect="1"/>
            </p:cNvPicPr>
            <p:nvPr/>
          </p:nvPicPr>
          <p:blipFill>
            <a:blip r:embed="rId2">
              <a:extLst>
                <a:ext uri="{28A0092B-C50C-407E-A947-70E740481C1C}">
                  <a14:useLocalDpi xmlns:a14="http://schemas.microsoft.com/office/drawing/2010/main" val="0"/>
                </a:ext>
              </a:extLst>
            </a:blip>
            <a:srcRect l="51353" r="-3849"/>
            <a:stretch>
              <a:fillRect/>
            </a:stretch>
          </p:blipFill>
          <p:spPr>
            <a:xfrm>
              <a:off x="8410832" y="3410988"/>
              <a:ext cx="3519082" cy="3447012"/>
            </a:xfrm>
            <a:prstGeom prst="rect">
              <a:avLst/>
            </a:prstGeom>
          </p:spPr>
        </p:pic>
      </p:grpSp>
      <p:sp>
        <p:nvSpPr>
          <p:cNvPr id="3" name="Content Placeholder 2">
            <a:extLst>
              <a:ext uri="{FF2B5EF4-FFF2-40B4-BE49-F238E27FC236}">
                <a16:creationId xmlns:a16="http://schemas.microsoft.com/office/drawing/2014/main" id="{DECB352C-6FEF-8840-812D-86B2C00FB702}"/>
              </a:ext>
            </a:extLst>
          </p:cNvPr>
          <p:cNvSpPr>
            <a:spLocks noGrp="1"/>
          </p:cNvSpPr>
          <p:nvPr>
            <p:ph idx="1"/>
          </p:nvPr>
        </p:nvSpPr>
        <p:spPr>
          <a:xfrm>
            <a:off x="838200" y="1825624"/>
            <a:ext cx="8081682" cy="5057081"/>
          </a:xfrm>
        </p:spPr>
        <p:txBody>
          <a:bodyPr>
            <a:normAutofit/>
          </a:bodyPr>
          <a:lstStyle/>
          <a:p>
            <a:pPr marL="0" indent="0">
              <a:buNone/>
            </a:pPr>
            <a:r>
              <a:rPr lang="en-CA" b="1" dirty="0"/>
              <a:t>Premotor: </a:t>
            </a:r>
            <a:r>
              <a:rPr lang="en-CA" dirty="0"/>
              <a:t>Planning of movement respective of external stimuli</a:t>
            </a:r>
          </a:p>
          <a:p>
            <a:r>
              <a:rPr lang="en-CA" dirty="0"/>
              <a:t>Strong connection with parietal lobe (senses)</a:t>
            </a:r>
          </a:p>
          <a:p>
            <a:r>
              <a:rPr lang="en-CA" dirty="0"/>
              <a:t>Contains </a:t>
            </a:r>
            <a:r>
              <a:rPr lang="en-CA" b="1" dirty="0"/>
              <a:t>mirror neurons </a:t>
            </a:r>
            <a:r>
              <a:rPr lang="en-CA" dirty="0"/>
              <a:t>– neurons that fire both when performing and observing an action</a:t>
            </a:r>
          </a:p>
          <a:p>
            <a:r>
              <a:rPr lang="en-CA" dirty="0"/>
              <a:t>E.g., defensive movements in response to threat, reaching for food</a:t>
            </a:r>
          </a:p>
          <a:p>
            <a:pPr marL="0" indent="0">
              <a:buNone/>
            </a:pPr>
            <a:endParaRPr lang="en-CA" dirty="0"/>
          </a:p>
          <a:p>
            <a:pPr marL="0" indent="0">
              <a:buNone/>
            </a:pPr>
            <a:endParaRPr lang="en-CA" dirty="0"/>
          </a:p>
          <a:p>
            <a:pPr marL="0" indent="0">
              <a:buNone/>
            </a:pPr>
            <a:endParaRPr lang="en-CA"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74180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90D7-22CD-CC21-2013-9711F7DC5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8042F-193C-675A-388A-3A7EE906CF79}"/>
              </a:ext>
            </a:extLst>
          </p:cNvPr>
          <p:cNvSpPr>
            <a:spLocks noGrp="1"/>
          </p:cNvSpPr>
          <p:nvPr>
            <p:ph type="title"/>
          </p:nvPr>
        </p:nvSpPr>
        <p:spPr/>
        <p:txBody>
          <a:bodyPr/>
          <a:lstStyle/>
          <a:p>
            <a:r>
              <a:rPr lang="en-US" dirty="0"/>
              <a:t>Secondary Motor Regions</a:t>
            </a:r>
          </a:p>
        </p:txBody>
      </p:sp>
      <p:grpSp>
        <p:nvGrpSpPr>
          <p:cNvPr id="7" name="Group 6">
            <a:extLst>
              <a:ext uri="{FF2B5EF4-FFF2-40B4-BE49-F238E27FC236}">
                <a16:creationId xmlns:a16="http://schemas.microsoft.com/office/drawing/2014/main" id="{DA0EBD14-A60C-C054-8C3A-DF482A6BA30C}"/>
              </a:ext>
            </a:extLst>
          </p:cNvPr>
          <p:cNvGrpSpPr/>
          <p:nvPr/>
        </p:nvGrpSpPr>
        <p:grpSpPr>
          <a:xfrm>
            <a:off x="8563232" y="266513"/>
            <a:ext cx="3445499" cy="6492875"/>
            <a:chOff x="8410832" y="-60729"/>
            <a:chExt cx="3671482" cy="6918729"/>
          </a:xfrm>
        </p:grpSpPr>
        <p:pic>
          <p:nvPicPr>
            <p:cNvPr id="4" name="Picture 3" descr="A diagram of the brain&#10;&#10;AI-generated content may be incorrect.">
              <a:extLst>
                <a:ext uri="{FF2B5EF4-FFF2-40B4-BE49-F238E27FC236}">
                  <a16:creationId xmlns:a16="http://schemas.microsoft.com/office/drawing/2014/main" id="{246F0662-3E09-F905-34F7-59E8989CDB6A}"/>
                </a:ext>
              </a:extLst>
            </p:cNvPr>
            <p:cNvPicPr>
              <a:picLocks noChangeAspect="1"/>
            </p:cNvPicPr>
            <p:nvPr/>
          </p:nvPicPr>
          <p:blipFill>
            <a:blip r:embed="rId2">
              <a:extLst>
                <a:ext uri="{28A0092B-C50C-407E-A947-70E740481C1C}">
                  <a14:useLocalDpi xmlns:a14="http://schemas.microsoft.com/office/drawing/2010/main" val="0"/>
                </a:ext>
              </a:extLst>
            </a:blip>
            <a:srcRect r="47504"/>
            <a:stretch>
              <a:fillRect/>
            </a:stretch>
          </p:blipFill>
          <p:spPr>
            <a:xfrm>
              <a:off x="8563232" y="-60729"/>
              <a:ext cx="3519082" cy="3447012"/>
            </a:xfrm>
            <a:prstGeom prst="rect">
              <a:avLst/>
            </a:prstGeom>
          </p:spPr>
        </p:pic>
        <p:pic>
          <p:nvPicPr>
            <p:cNvPr id="6" name="Picture 5" descr="A diagram of the brain&#10;&#10;AI-generated content may be incorrect.">
              <a:extLst>
                <a:ext uri="{FF2B5EF4-FFF2-40B4-BE49-F238E27FC236}">
                  <a16:creationId xmlns:a16="http://schemas.microsoft.com/office/drawing/2014/main" id="{FBEDB4DA-4CA6-634F-C687-7F744E35194A}"/>
                </a:ext>
              </a:extLst>
            </p:cNvPr>
            <p:cNvPicPr>
              <a:picLocks noChangeAspect="1"/>
            </p:cNvPicPr>
            <p:nvPr/>
          </p:nvPicPr>
          <p:blipFill>
            <a:blip r:embed="rId2">
              <a:extLst>
                <a:ext uri="{28A0092B-C50C-407E-A947-70E740481C1C}">
                  <a14:useLocalDpi xmlns:a14="http://schemas.microsoft.com/office/drawing/2010/main" val="0"/>
                </a:ext>
              </a:extLst>
            </a:blip>
            <a:srcRect l="51353" r="-3849"/>
            <a:stretch>
              <a:fillRect/>
            </a:stretch>
          </p:blipFill>
          <p:spPr>
            <a:xfrm>
              <a:off x="8410832" y="3410988"/>
              <a:ext cx="3519082" cy="3447012"/>
            </a:xfrm>
            <a:prstGeom prst="rect">
              <a:avLst/>
            </a:prstGeom>
          </p:spPr>
        </p:pic>
      </p:grpSp>
      <p:sp>
        <p:nvSpPr>
          <p:cNvPr id="3" name="Content Placeholder 2">
            <a:extLst>
              <a:ext uri="{FF2B5EF4-FFF2-40B4-BE49-F238E27FC236}">
                <a16:creationId xmlns:a16="http://schemas.microsoft.com/office/drawing/2014/main" id="{7CBC03E9-FD68-F68D-B442-BD5AED8984FB}"/>
              </a:ext>
            </a:extLst>
          </p:cNvPr>
          <p:cNvSpPr>
            <a:spLocks noGrp="1"/>
          </p:cNvSpPr>
          <p:nvPr>
            <p:ph idx="1"/>
          </p:nvPr>
        </p:nvSpPr>
        <p:spPr>
          <a:xfrm>
            <a:off x="838200" y="1825624"/>
            <a:ext cx="8081682" cy="5057081"/>
          </a:xfrm>
        </p:spPr>
        <p:txBody>
          <a:bodyPr>
            <a:normAutofit/>
          </a:bodyPr>
          <a:lstStyle/>
          <a:p>
            <a:pPr marL="0" indent="0">
              <a:buNone/>
            </a:pPr>
            <a:r>
              <a:rPr lang="en-CA" b="1" dirty="0"/>
              <a:t>Supplementary Motor Area: </a:t>
            </a:r>
            <a:r>
              <a:rPr lang="en-CA" dirty="0"/>
              <a:t>Planning of movement respective of internal stimuli</a:t>
            </a:r>
          </a:p>
          <a:p>
            <a:r>
              <a:rPr lang="en-CA" dirty="0"/>
              <a:t>Strong connection with medial frontal cortex (goals)</a:t>
            </a:r>
          </a:p>
          <a:p>
            <a:r>
              <a:rPr lang="en-CA" dirty="0"/>
              <a:t>Active during mental rehearsal of a movement, even without executing the movement</a:t>
            </a:r>
          </a:p>
          <a:p>
            <a:r>
              <a:rPr lang="en-CA" dirty="0"/>
              <a:t>E.g., deciding to get out of bed to start the day, playing a memorized piano sequence</a:t>
            </a:r>
          </a:p>
          <a:p>
            <a:pPr marL="0" indent="0">
              <a:buNone/>
            </a:pPr>
            <a:endParaRPr lang="en-CA" dirty="0"/>
          </a:p>
          <a:p>
            <a:pPr marL="0" indent="0">
              <a:buNone/>
            </a:pPr>
            <a:endParaRPr lang="en-CA" dirty="0"/>
          </a:p>
          <a:p>
            <a:pPr marL="0" indent="0">
              <a:buNone/>
            </a:pPr>
            <a:endParaRPr lang="en-CA"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33040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1F322-13FB-F76B-FE1F-A4F2A0191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328D-E3BA-ED45-9F5B-07F6B8EE0FAA}"/>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1BF11E1F-1FBB-F0DE-642C-4276923D5782}"/>
              </a:ext>
            </a:extLst>
          </p:cNvPr>
          <p:cNvSpPr>
            <a:spLocks noGrp="1"/>
          </p:cNvSpPr>
          <p:nvPr>
            <p:ph idx="1"/>
          </p:nvPr>
        </p:nvSpPr>
        <p:spPr>
          <a:xfrm>
            <a:off x="838200" y="1825624"/>
            <a:ext cx="7274358" cy="5032376"/>
          </a:xfrm>
        </p:spPr>
        <p:txBody>
          <a:bodyPr>
            <a:normAutofit fontScale="92500" lnSpcReduction="20000"/>
          </a:bodyPr>
          <a:lstStyle/>
          <a:p>
            <a:pPr marL="0" indent="0">
              <a:buNone/>
            </a:pPr>
            <a:r>
              <a:rPr lang="en-US" b="1" dirty="0"/>
              <a:t>Basal Ganglia:</a:t>
            </a:r>
            <a:r>
              <a:rPr lang="en-US" dirty="0"/>
              <a:t> A collection of subcortical nuclei involved in movement initiation, force generation, and action selection</a:t>
            </a:r>
          </a:p>
          <a:p>
            <a:r>
              <a:rPr lang="en-US" dirty="0"/>
              <a:t>Generate the force required for each movement</a:t>
            </a:r>
            <a:r>
              <a:rPr lang="en-US" b="1" dirty="0"/>
              <a:t> </a:t>
            </a:r>
          </a:p>
          <a:p>
            <a:endParaRPr lang="en-US" b="1" dirty="0"/>
          </a:p>
          <a:p>
            <a:r>
              <a:rPr lang="en-US" b="1" dirty="0">
                <a:highlight>
                  <a:srgbClr val="FFFFFF"/>
                </a:highlight>
              </a:rPr>
              <a:t>Dorsal Striatum</a:t>
            </a:r>
          </a:p>
          <a:p>
            <a:pPr lvl="1"/>
            <a:r>
              <a:rPr lang="en-US" dirty="0">
                <a:highlight>
                  <a:srgbClr val="FFFFFF"/>
                </a:highlight>
              </a:rPr>
              <a:t>Caudate nucleus and Putamen</a:t>
            </a:r>
          </a:p>
          <a:p>
            <a:pPr lvl="1"/>
            <a:r>
              <a:rPr lang="en-US" b="1" dirty="0">
                <a:highlight>
                  <a:srgbClr val="FFFFFF"/>
                </a:highlight>
              </a:rPr>
              <a:t>Motor Control</a:t>
            </a:r>
            <a:r>
              <a:rPr lang="en-US" dirty="0">
                <a:highlight>
                  <a:srgbClr val="FFFFFF"/>
                </a:highlight>
              </a:rPr>
              <a:t>: Regulates movement initiation and force</a:t>
            </a:r>
          </a:p>
          <a:p>
            <a:pPr lvl="1"/>
            <a:r>
              <a:rPr lang="en-US" b="1" dirty="0">
                <a:highlight>
                  <a:srgbClr val="FFFFFF"/>
                </a:highlight>
              </a:rPr>
              <a:t>Action Selection</a:t>
            </a:r>
            <a:r>
              <a:rPr lang="en-US" dirty="0">
                <a:highlight>
                  <a:srgbClr val="FFFFFF"/>
                </a:highlight>
              </a:rPr>
              <a:t>: Selects intended motor program while suppressing competing actions</a:t>
            </a:r>
          </a:p>
          <a:p>
            <a:pPr lvl="2"/>
            <a:endParaRPr lang="en-US" dirty="0"/>
          </a:p>
          <a:p>
            <a:r>
              <a:rPr lang="en-US" b="1" dirty="0">
                <a:highlight>
                  <a:srgbClr val="FFFFFF"/>
                </a:highlight>
              </a:rPr>
              <a:t>Ventral Striatum: </a:t>
            </a:r>
            <a:r>
              <a:rPr lang="en-US" dirty="0">
                <a:highlight>
                  <a:srgbClr val="FFFFFF"/>
                </a:highlight>
              </a:rPr>
              <a:t>Reward and motivation</a:t>
            </a:r>
          </a:p>
          <a:p>
            <a:pPr lvl="1"/>
            <a:r>
              <a:rPr lang="en-US" dirty="0">
                <a:highlight>
                  <a:srgbClr val="FFFFFF"/>
                </a:highlight>
              </a:rPr>
              <a:t>Nucleus accumbens and olfactory tubercle</a:t>
            </a:r>
          </a:p>
          <a:p>
            <a:pPr lvl="1"/>
            <a:r>
              <a:rPr lang="en-US" dirty="0">
                <a:highlight>
                  <a:srgbClr val="FFFFFF"/>
                </a:highlight>
              </a:rPr>
              <a:t>Reward-based learning and assignment of value to actions</a:t>
            </a:r>
          </a:p>
          <a:p>
            <a:pPr lvl="2"/>
            <a:endParaRPr lang="en-US" dirty="0"/>
          </a:p>
        </p:txBody>
      </p:sp>
      <p:pic>
        <p:nvPicPr>
          <p:cNvPr id="12" name="Picture 11">
            <a:extLst>
              <a:ext uri="{FF2B5EF4-FFF2-40B4-BE49-F238E27FC236}">
                <a16:creationId xmlns:a16="http://schemas.microsoft.com/office/drawing/2014/main" id="{C7D2B169-B530-3A98-C96D-4882302A114F}"/>
              </a:ext>
            </a:extLst>
          </p:cNvPr>
          <p:cNvPicPr>
            <a:picLocks noChangeAspect="1"/>
          </p:cNvPicPr>
          <p:nvPr/>
        </p:nvPicPr>
        <p:blipFill>
          <a:blip r:embed="rId2"/>
          <a:stretch>
            <a:fillRect/>
          </a:stretch>
        </p:blipFill>
        <p:spPr>
          <a:xfrm>
            <a:off x="7998618" y="3429000"/>
            <a:ext cx="3805237" cy="2795587"/>
          </a:xfrm>
          <a:prstGeom prst="rect">
            <a:avLst/>
          </a:prstGeom>
        </p:spPr>
      </p:pic>
      <p:sp>
        <p:nvSpPr>
          <p:cNvPr id="6" name="Rectangle 5">
            <a:extLst>
              <a:ext uri="{FF2B5EF4-FFF2-40B4-BE49-F238E27FC236}">
                <a16:creationId xmlns:a16="http://schemas.microsoft.com/office/drawing/2014/main" id="{3F0408B8-5996-5287-C2E2-9C005982FABC}"/>
              </a:ext>
            </a:extLst>
          </p:cNvPr>
          <p:cNvSpPr/>
          <p:nvPr/>
        </p:nvSpPr>
        <p:spPr>
          <a:xfrm>
            <a:off x="10180981" y="6381750"/>
            <a:ext cx="1295400" cy="190500"/>
          </a:xfrm>
          <a:prstGeom prst="rect">
            <a:avLst/>
          </a:prstGeom>
          <a:solidFill>
            <a:srgbClr val="F5E2EB"/>
          </a:solidFill>
          <a:ln>
            <a:solidFill>
              <a:srgbClr val="D592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Force Inhibitory</a:t>
            </a:r>
          </a:p>
        </p:txBody>
      </p:sp>
      <p:sp>
        <p:nvSpPr>
          <p:cNvPr id="4" name="Rectangle 3">
            <a:extLst>
              <a:ext uri="{FF2B5EF4-FFF2-40B4-BE49-F238E27FC236}">
                <a16:creationId xmlns:a16="http://schemas.microsoft.com/office/drawing/2014/main" id="{3D01FCC4-2257-0A87-DD3E-B65023BD7593}"/>
              </a:ext>
            </a:extLst>
          </p:cNvPr>
          <p:cNvSpPr/>
          <p:nvPr/>
        </p:nvSpPr>
        <p:spPr>
          <a:xfrm>
            <a:off x="8486775" y="6381750"/>
            <a:ext cx="1295400" cy="190500"/>
          </a:xfrm>
          <a:prstGeom prst="rect">
            <a:avLst/>
          </a:prstGeom>
          <a:solidFill>
            <a:srgbClr val="D6EEEE"/>
          </a:solidFill>
          <a:ln>
            <a:solidFill>
              <a:srgbClr val="A0D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Force Excitatory</a:t>
            </a:r>
          </a:p>
        </p:txBody>
      </p:sp>
      <p:pic>
        <p:nvPicPr>
          <p:cNvPr id="7" name="Picture 6">
            <a:extLst>
              <a:ext uri="{FF2B5EF4-FFF2-40B4-BE49-F238E27FC236}">
                <a16:creationId xmlns:a16="http://schemas.microsoft.com/office/drawing/2014/main" id="{5403DEA5-FC1D-A843-5122-1004C318E789}"/>
              </a:ext>
            </a:extLst>
          </p:cNvPr>
          <p:cNvPicPr>
            <a:picLocks noChangeAspect="1"/>
          </p:cNvPicPr>
          <p:nvPr/>
        </p:nvPicPr>
        <p:blipFill>
          <a:blip r:embed="rId3"/>
          <a:stretch>
            <a:fillRect/>
          </a:stretch>
        </p:blipFill>
        <p:spPr>
          <a:xfrm>
            <a:off x="8112558" y="713370"/>
            <a:ext cx="3691297" cy="2268962"/>
          </a:xfrm>
          <a:prstGeom prst="rect">
            <a:avLst/>
          </a:prstGeom>
        </p:spPr>
      </p:pic>
    </p:spTree>
    <p:extLst>
      <p:ext uri="{BB962C8B-B14F-4D97-AF65-F5344CB8AC3E}">
        <p14:creationId xmlns:p14="http://schemas.microsoft.com/office/powerpoint/2010/main" val="413499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F6E6AD-DF1F-68B4-8119-D574D136E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4D084D-AECD-DE8A-CDC5-028BC05F1EA6}"/>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7B830B5A-AEB5-0D55-1456-423F75CF91AC}"/>
              </a:ext>
            </a:extLst>
          </p:cNvPr>
          <p:cNvSpPr>
            <a:spLocks noGrp="1"/>
          </p:cNvSpPr>
          <p:nvPr>
            <p:ph idx="1"/>
          </p:nvPr>
        </p:nvSpPr>
        <p:spPr>
          <a:xfrm>
            <a:off x="838200" y="1825624"/>
            <a:ext cx="7229475" cy="4807931"/>
          </a:xfrm>
        </p:spPr>
        <p:txBody>
          <a:bodyPr>
            <a:normAutofit/>
          </a:bodyPr>
          <a:lstStyle/>
          <a:p>
            <a:pPr marL="0" indent="0">
              <a:buNone/>
            </a:pPr>
            <a:r>
              <a:rPr lang="en-US" b="1" dirty="0"/>
              <a:t>Basal Ganglia</a:t>
            </a:r>
            <a:endParaRPr lang="en-US" dirty="0">
              <a:highlight>
                <a:srgbClr val="FFFFFF"/>
              </a:highlight>
            </a:endParaRPr>
          </a:p>
          <a:p>
            <a:r>
              <a:rPr lang="en-US" b="1" dirty="0">
                <a:highlight>
                  <a:srgbClr val="FFFFFF"/>
                </a:highlight>
              </a:rPr>
              <a:t>Subthalamic Nucleus</a:t>
            </a:r>
            <a:r>
              <a:rPr lang="en-US" dirty="0">
                <a:highlight>
                  <a:srgbClr val="FFFFFF"/>
                </a:highlight>
              </a:rPr>
              <a:t>: Suppressing unwanted movements</a:t>
            </a:r>
          </a:p>
          <a:p>
            <a:pPr lvl="1"/>
            <a:r>
              <a:rPr lang="en-US" dirty="0">
                <a:highlight>
                  <a:srgbClr val="FFFFFF"/>
                </a:highlight>
              </a:rPr>
              <a:t>Acts as a motor brake</a:t>
            </a:r>
          </a:p>
          <a:p>
            <a:endParaRPr lang="en-US" b="1" dirty="0"/>
          </a:p>
          <a:p>
            <a:r>
              <a:rPr lang="en-US" b="1" dirty="0"/>
              <a:t>Globus Pallidus Internal (</a:t>
            </a:r>
            <a:r>
              <a:rPr lang="en-US" b="1" dirty="0" err="1"/>
              <a:t>GPi</a:t>
            </a:r>
            <a:r>
              <a:rPr lang="en-US" b="1" dirty="0"/>
              <a:t>):</a:t>
            </a:r>
            <a:r>
              <a:rPr lang="en-US" dirty="0"/>
              <a:t> Acts as the output regulator of the basal ganglia</a:t>
            </a:r>
          </a:p>
          <a:p>
            <a:pPr lvl="1"/>
            <a:r>
              <a:rPr lang="en-US" dirty="0"/>
              <a:t>Inversely related to force</a:t>
            </a:r>
          </a:p>
          <a:p>
            <a:pPr lvl="2"/>
            <a:r>
              <a:rPr lang="en-US" dirty="0"/>
              <a:t>Excitation </a:t>
            </a:r>
            <a:r>
              <a:rPr lang="en-US" i="1" dirty="0"/>
              <a:t>inhibits </a:t>
            </a:r>
            <a:r>
              <a:rPr lang="en-US" dirty="0"/>
              <a:t>the thalamus and M1, reducing force</a:t>
            </a:r>
          </a:p>
          <a:p>
            <a:pPr lvl="2"/>
            <a:r>
              <a:rPr lang="en-US" dirty="0"/>
              <a:t>Inhibition </a:t>
            </a:r>
            <a:r>
              <a:rPr lang="en-US" i="1" dirty="0"/>
              <a:t>excites </a:t>
            </a:r>
            <a:r>
              <a:rPr lang="en-US" dirty="0"/>
              <a:t>the thalamus and M1, increasing force</a:t>
            </a:r>
          </a:p>
          <a:p>
            <a:pPr lvl="2"/>
            <a:endParaRPr lang="en-US" dirty="0"/>
          </a:p>
          <a:p>
            <a:endParaRPr lang="en-US" dirty="0"/>
          </a:p>
        </p:txBody>
      </p:sp>
      <p:pic>
        <p:nvPicPr>
          <p:cNvPr id="12" name="Picture 11">
            <a:extLst>
              <a:ext uri="{FF2B5EF4-FFF2-40B4-BE49-F238E27FC236}">
                <a16:creationId xmlns:a16="http://schemas.microsoft.com/office/drawing/2014/main" id="{3D3AF91E-D6DF-1B74-B4B5-0174D4A1415C}"/>
              </a:ext>
            </a:extLst>
          </p:cNvPr>
          <p:cNvPicPr>
            <a:picLocks noChangeAspect="1"/>
          </p:cNvPicPr>
          <p:nvPr/>
        </p:nvPicPr>
        <p:blipFill>
          <a:blip r:embed="rId2"/>
          <a:stretch>
            <a:fillRect/>
          </a:stretch>
        </p:blipFill>
        <p:spPr>
          <a:xfrm>
            <a:off x="7998618" y="3429000"/>
            <a:ext cx="3805237" cy="2795587"/>
          </a:xfrm>
          <a:prstGeom prst="rect">
            <a:avLst/>
          </a:prstGeom>
        </p:spPr>
      </p:pic>
      <p:sp>
        <p:nvSpPr>
          <p:cNvPr id="6" name="Rectangle 5">
            <a:extLst>
              <a:ext uri="{FF2B5EF4-FFF2-40B4-BE49-F238E27FC236}">
                <a16:creationId xmlns:a16="http://schemas.microsoft.com/office/drawing/2014/main" id="{FD8B13E9-9BCC-78DB-F23E-550EA86AEC2E}"/>
              </a:ext>
            </a:extLst>
          </p:cNvPr>
          <p:cNvSpPr/>
          <p:nvPr/>
        </p:nvSpPr>
        <p:spPr>
          <a:xfrm>
            <a:off x="10180981" y="6381750"/>
            <a:ext cx="1295400" cy="190500"/>
          </a:xfrm>
          <a:prstGeom prst="rect">
            <a:avLst/>
          </a:prstGeom>
          <a:solidFill>
            <a:srgbClr val="F5E2EB"/>
          </a:solidFill>
          <a:ln>
            <a:solidFill>
              <a:srgbClr val="D592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Force Inhibitory</a:t>
            </a:r>
          </a:p>
        </p:txBody>
      </p:sp>
      <p:sp>
        <p:nvSpPr>
          <p:cNvPr id="4" name="Rectangle 3">
            <a:extLst>
              <a:ext uri="{FF2B5EF4-FFF2-40B4-BE49-F238E27FC236}">
                <a16:creationId xmlns:a16="http://schemas.microsoft.com/office/drawing/2014/main" id="{4C34DD8B-CF67-D698-26D1-9EBCBAF24D09}"/>
              </a:ext>
            </a:extLst>
          </p:cNvPr>
          <p:cNvSpPr/>
          <p:nvPr/>
        </p:nvSpPr>
        <p:spPr>
          <a:xfrm>
            <a:off x="8486775" y="6381750"/>
            <a:ext cx="1295400" cy="190500"/>
          </a:xfrm>
          <a:prstGeom prst="rect">
            <a:avLst/>
          </a:prstGeom>
          <a:solidFill>
            <a:srgbClr val="D6EEEE"/>
          </a:solidFill>
          <a:ln>
            <a:solidFill>
              <a:srgbClr val="A0D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Force Excitatory</a:t>
            </a:r>
          </a:p>
        </p:txBody>
      </p:sp>
      <p:pic>
        <p:nvPicPr>
          <p:cNvPr id="7" name="Picture 6">
            <a:extLst>
              <a:ext uri="{FF2B5EF4-FFF2-40B4-BE49-F238E27FC236}">
                <a16:creationId xmlns:a16="http://schemas.microsoft.com/office/drawing/2014/main" id="{9478CB4B-29EC-E0D3-5600-F6B5FCE36CEE}"/>
              </a:ext>
            </a:extLst>
          </p:cNvPr>
          <p:cNvPicPr>
            <a:picLocks noChangeAspect="1"/>
          </p:cNvPicPr>
          <p:nvPr/>
        </p:nvPicPr>
        <p:blipFill>
          <a:blip r:embed="rId3"/>
          <a:stretch>
            <a:fillRect/>
          </a:stretch>
        </p:blipFill>
        <p:spPr>
          <a:xfrm>
            <a:off x="8112558" y="713370"/>
            <a:ext cx="3691297" cy="2268962"/>
          </a:xfrm>
          <a:prstGeom prst="rect">
            <a:avLst/>
          </a:prstGeom>
        </p:spPr>
      </p:pic>
    </p:spTree>
    <p:extLst>
      <p:ext uri="{BB962C8B-B14F-4D97-AF65-F5344CB8AC3E}">
        <p14:creationId xmlns:p14="http://schemas.microsoft.com/office/powerpoint/2010/main" val="68136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D015E-03D9-C11A-1D8D-359C83B337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C2A03A-2EED-84B6-87C1-E2D999D3912F}"/>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EA2982D7-B21D-2423-A893-3F72EC923AA0}"/>
              </a:ext>
            </a:extLst>
          </p:cNvPr>
          <p:cNvSpPr>
            <a:spLocks noGrp="1"/>
          </p:cNvSpPr>
          <p:nvPr>
            <p:ph idx="1"/>
          </p:nvPr>
        </p:nvSpPr>
        <p:spPr>
          <a:xfrm>
            <a:off x="838200" y="1825624"/>
            <a:ext cx="7362825" cy="4807931"/>
          </a:xfrm>
        </p:spPr>
        <p:txBody>
          <a:bodyPr>
            <a:normAutofit/>
          </a:bodyPr>
          <a:lstStyle/>
          <a:p>
            <a:pPr marL="0" indent="0">
              <a:buNone/>
            </a:pPr>
            <a:r>
              <a:rPr lang="en-US" b="1" dirty="0"/>
              <a:t>Basal Ganglia</a:t>
            </a:r>
          </a:p>
          <a:p>
            <a:r>
              <a:rPr lang="en-US" b="1" dirty="0"/>
              <a:t>Globus Pallidus Internal (</a:t>
            </a:r>
            <a:r>
              <a:rPr lang="en-US" b="1" dirty="0" err="1"/>
              <a:t>GPi</a:t>
            </a:r>
            <a:r>
              <a:rPr lang="en-US" b="1" dirty="0"/>
              <a:t>)</a:t>
            </a:r>
            <a:endParaRPr lang="en-US" dirty="0"/>
          </a:p>
          <a:p>
            <a:pPr lvl="1"/>
            <a:r>
              <a:rPr lang="en-US" b="1" dirty="0"/>
              <a:t>Direct pathway (go pathway)</a:t>
            </a:r>
            <a:endParaRPr lang="en-US" dirty="0"/>
          </a:p>
          <a:p>
            <a:pPr lvl="2"/>
            <a:r>
              <a:rPr lang="en-US" dirty="0"/>
              <a:t>Cortex → Putamen → </a:t>
            </a:r>
            <a:r>
              <a:rPr lang="en-US" dirty="0" err="1"/>
              <a:t>GPi</a:t>
            </a:r>
            <a:r>
              <a:rPr lang="en-US" dirty="0"/>
              <a:t> </a:t>
            </a:r>
          </a:p>
          <a:p>
            <a:pPr lvl="2"/>
            <a:r>
              <a:rPr lang="en-US" dirty="0"/>
              <a:t>Inhibits </a:t>
            </a:r>
            <a:r>
              <a:rPr lang="en-US" dirty="0" err="1"/>
              <a:t>GPi</a:t>
            </a:r>
            <a:endParaRPr lang="en-US" dirty="0"/>
          </a:p>
          <a:p>
            <a:pPr lvl="2"/>
            <a:r>
              <a:rPr lang="en-US" dirty="0"/>
              <a:t>Increases movement</a:t>
            </a:r>
          </a:p>
          <a:p>
            <a:pPr lvl="2"/>
            <a:endParaRPr lang="en-US" dirty="0"/>
          </a:p>
          <a:p>
            <a:pPr lvl="1"/>
            <a:r>
              <a:rPr lang="en-US" b="1" dirty="0"/>
              <a:t>Indirect pathway (stop pathway)</a:t>
            </a:r>
            <a:endParaRPr lang="en-US" dirty="0"/>
          </a:p>
          <a:p>
            <a:pPr lvl="2"/>
            <a:r>
              <a:rPr lang="en-US" dirty="0"/>
              <a:t>Cortex → Putamen → </a:t>
            </a:r>
            <a:r>
              <a:rPr lang="en-US" dirty="0" err="1"/>
              <a:t>GPe</a:t>
            </a:r>
            <a:r>
              <a:rPr lang="en-US" dirty="0"/>
              <a:t> → Subthalamic Nucleus → </a:t>
            </a:r>
            <a:r>
              <a:rPr lang="en-US" dirty="0" err="1"/>
              <a:t>GPi</a:t>
            </a:r>
            <a:endParaRPr lang="en-US" dirty="0"/>
          </a:p>
          <a:p>
            <a:pPr lvl="2"/>
            <a:r>
              <a:rPr lang="en-US" dirty="0"/>
              <a:t>Excites </a:t>
            </a:r>
            <a:r>
              <a:rPr lang="en-US" dirty="0" err="1"/>
              <a:t>GPi</a:t>
            </a:r>
            <a:endParaRPr lang="en-US" dirty="0"/>
          </a:p>
          <a:p>
            <a:pPr lvl="2"/>
            <a:r>
              <a:rPr lang="en-US" dirty="0"/>
              <a:t>Suppresses movement</a:t>
            </a:r>
            <a:endParaRPr lang="en-US" b="1" dirty="0"/>
          </a:p>
          <a:p>
            <a:endParaRPr lang="en-US" dirty="0"/>
          </a:p>
        </p:txBody>
      </p:sp>
      <p:pic>
        <p:nvPicPr>
          <p:cNvPr id="12" name="Picture 11">
            <a:extLst>
              <a:ext uri="{FF2B5EF4-FFF2-40B4-BE49-F238E27FC236}">
                <a16:creationId xmlns:a16="http://schemas.microsoft.com/office/drawing/2014/main" id="{A3EF39F6-5075-E05B-4B8C-DD46DB5DA3EA}"/>
              </a:ext>
            </a:extLst>
          </p:cNvPr>
          <p:cNvPicPr>
            <a:picLocks noChangeAspect="1"/>
          </p:cNvPicPr>
          <p:nvPr/>
        </p:nvPicPr>
        <p:blipFill>
          <a:blip r:embed="rId2"/>
          <a:stretch>
            <a:fillRect/>
          </a:stretch>
        </p:blipFill>
        <p:spPr>
          <a:xfrm>
            <a:off x="7998618" y="3429000"/>
            <a:ext cx="3805237" cy="2795587"/>
          </a:xfrm>
          <a:prstGeom prst="rect">
            <a:avLst/>
          </a:prstGeom>
        </p:spPr>
      </p:pic>
      <p:sp>
        <p:nvSpPr>
          <p:cNvPr id="6" name="Rectangle 5">
            <a:extLst>
              <a:ext uri="{FF2B5EF4-FFF2-40B4-BE49-F238E27FC236}">
                <a16:creationId xmlns:a16="http://schemas.microsoft.com/office/drawing/2014/main" id="{819BE5AD-5B2D-D5EE-F26C-DCCD6A5A1837}"/>
              </a:ext>
            </a:extLst>
          </p:cNvPr>
          <p:cNvSpPr/>
          <p:nvPr/>
        </p:nvSpPr>
        <p:spPr>
          <a:xfrm>
            <a:off x="10180981" y="6381750"/>
            <a:ext cx="1295400" cy="190500"/>
          </a:xfrm>
          <a:prstGeom prst="rect">
            <a:avLst/>
          </a:prstGeom>
          <a:solidFill>
            <a:srgbClr val="F5E2EB"/>
          </a:solidFill>
          <a:ln>
            <a:solidFill>
              <a:srgbClr val="D592B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Force Inhibitory</a:t>
            </a:r>
          </a:p>
        </p:txBody>
      </p:sp>
      <p:sp>
        <p:nvSpPr>
          <p:cNvPr id="4" name="Rectangle 3">
            <a:extLst>
              <a:ext uri="{FF2B5EF4-FFF2-40B4-BE49-F238E27FC236}">
                <a16:creationId xmlns:a16="http://schemas.microsoft.com/office/drawing/2014/main" id="{14E10D10-E749-7421-2178-9E74F60818CB}"/>
              </a:ext>
            </a:extLst>
          </p:cNvPr>
          <p:cNvSpPr/>
          <p:nvPr/>
        </p:nvSpPr>
        <p:spPr>
          <a:xfrm>
            <a:off x="8486775" y="6381750"/>
            <a:ext cx="1295400" cy="190500"/>
          </a:xfrm>
          <a:prstGeom prst="rect">
            <a:avLst/>
          </a:prstGeom>
          <a:solidFill>
            <a:srgbClr val="D6EEEE"/>
          </a:solidFill>
          <a:ln>
            <a:solidFill>
              <a:srgbClr val="A0DFD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Force Excitatory</a:t>
            </a:r>
          </a:p>
        </p:txBody>
      </p:sp>
      <p:pic>
        <p:nvPicPr>
          <p:cNvPr id="7" name="Picture 6">
            <a:extLst>
              <a:ext uri="{FF2B5EF4-FFF2-40B4-BE49-F238E27FC236}">
                <a16:creationId xmlns:a16="http://schemas.microsoft.com/office/drawing/2014/main" id="{C490DE9B-97EE-71F1-54AB-B9CA9173EBF8}"/>
              </a:ext>
            </a:extLst>
          </p:cNvPr>
          <p:cNvPicPr>
            <a:picLocks noChangeAspect="1"/>
          </p:cNvPicPr>
          <p:nvPr/>
        </p:nvPicPr>
        <p:blipFill>
          <a:blip r:embed="rId3"/>
          <a:stretch>
            <a:fillRect/>
          </a:stretch>
        </p:blipFill>
        <p:spPr>
          <a:xfrm>
            <a:off x="8112558" y="713370"/>
            <a:ext cx="3691297" cy="2268962"/>
          </a:xfrm>
          <a:prstGeom prst="rect">
            <a:avLst/>
          </a:prstGeom>
        </p:spPr>
      </p:pic>
    </p:spTree>
    <p:extLst>
      <p:ext uri="{BB962C8B-B14F-4D97-AF65-F5344CB8AC3E}">
        <p14:creationId xmlns:p14="http://schemas.microsoft.com/office/powerpoint/2010/main" val="2943076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8CA19-CB8D-11ED-01B2-BF13BAB27219}"/>
            </a:ext>
          </a:extLst>
        </p:cNvPr>
        <p:cNvGrpSpPr/>
        <p:nvPr/>
      </p:nvGrpSpPr>
      <p:grpSpPr>
        <a:xfrm>
          <a:off x="0" y="0"/>
          <a:ext cx="0" cy="0"/>
          <a:chOff x="0" y="0"/>
          <a:chExt cx="0" cy="0"/>
        </a:xfrm>
      </p:grpSpPr>
      <p:pic>
        <p:nvPicPr>
          <p:cNvPr id="1026" name="Picture 2" descr="Cerebellum Brain Damage: Causes, Effects, and Rehabilitation">
            <a:extLst>
              <a:ext uri="{FF2B5EF4-FFF2-40B4-BE49-F238E27FC236}">
                <a16:creationId xmlns:a16="http://schemas.microsoft.com/office/drawing/2014/main" id="{49DDB89F-CF9C-515B-6DCD-DC0323A7AF4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72" r="6690"/>
          <a:stretch>
            <a:fillRect/>
          </a:stretch>
        </p:blipFill>
        <p:spPr bwMode="auto">
          <a:xfrm>
            <a:off x="8479498" y="56291"/>
            <a:ext cx="3595126" cy="29870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B61E821-F3CE-114B-62C7-07A80D530387}"/>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E3973453-FF52-8D4E-8078-F31CEC92CD3D}"/>
              </a:ext>
            </a:extLst>
          </p:cNvPr>
          <p:cNvSpPr>
            <a:spLocks noGrp="1"/>
          </p:cNvSpPr>
          <p:nvPr>
            <p:ph idx="1"/>
          </p:nvPr>
        </p:nvSpPr>
        <p:spPr>
          <a:xfrm>
            <a:off x="838200" y="1825625"/>
            <a:ext cx="7683380" cy="4351338"/>
          </a:xfrm>
        </p:spPr>
        <p:txBody>
          <a:bodyPr>
            <a:normAutofit/>
          </a:bodyPr>
          <a:lstStyle/>
          <a:p>
            <a:pPr marL="0" indent="0">
              <a:buNone/>
            </a:pPr>
            <a:r>
              <a:rPr lang="en-US" b="1" dirty="0"/>
              <a:t>Cerebellum</a:t>
            </a:r>
          </a:p>
          <a:p>
            <a:r>
              <a:rPr lang="en-US" dirty="0"/>
              <a:t>Coordinates and fine-tunes voluntary movement</a:t>
            </a:r>
          </a:p>
          <a:p>
            <a:pPr lvl="1"/>
            <a:r>
              <a:rPr lang="en-US" dirty="0"/>
              <a:t>Coordinates muscles to work together</a:t>
            </a:r>
          </a:p>
          <a:p>
            <a:pPr lvl="2"/>
            <a:r>
              <a:rPr lang="en-US" dirty="0"/>
              <a:t>Ensures smooth movement</a:t>
            </a:r>
          </a:p>
          <a:p>
            <a:pPr lvl="1"/>
            <a:r>
              <a:rPr lang="en-US" dirty="0"/>
              <a:t>Corrects errors during movement</a:t>
            </a:r>
          </a:p>
          <a:p>
            <a:pPr lvl="2"/>
            <a:r>
              <a:rPr lang="en-US" dirty="0"/>
              <a:t>Ensures precise movements</a:t>
            </a:r>
          </a:p>
          <a:p>
            <a:pPr lvl="1"/>
            <a:r>
              <a:rPr lang="en-US" dirty="0"/>
              <a:t>Maintains posture and balance</a:t>
            </a:r>
          </a:p>
          <a:p>
            <a:r>
              <a:rPr lang="en-US" dirty="0"/>
              <a:t>Has somatotopic organization</a:t>
            </a:r>
          </a:p>
          <a:p>
            <a:pPr lvl="1"/>
            <a:r>
              <a:rPr lang="en-US" dirty="0"/>
              <a:t>Body regions are mapped onto the surface</a:t>
            </a:r>
          </a:p>
          <a:p>
            <a:pPr lvl="1"/>
            <a:endParaRPr lang="en-US" dirty="0"/>
          </a:p>
          <a:p>
            <a:endParaRPr lang="en-US" dirty="0"/>
          </a:p>
          <a:p>
            <a:pPr marL="0" indent="0">
              <a:buNone/>
            </a:pPr>
            <a:endParaRPr lang="en-US" b="1" dirty="0"/>
          </a:p>
          <a:p>
            <a:pPr marL="0" indent="0">
              <a:buNone/>
            </a:pPr>
            <a:endParaRPr lang="en-US" b="1" dirty="0"/>
          </a:p>
          <a:p>
            <a:endParaRPr lang="en-US" b="1" dirty="0"/>
          </a:p>
          <a:p>
            <a:endParaRPr lang="en-US" dirty="0"/>
          </a:p>
        </p:txBody>
      </p:sp>
      <p:pic>
        <p:nvPicPr>
          <p:cNvPr id="4" name="Picture 2" descr="The cerebellar homonculus">
            <a:extLst>
              <a:ext uri="{FF2B5EF4-FFF2-40B4-BE49-F238E27FC236}">
                <a16:creationId xmlns:a16="http://schemas.microsoft.com/office/drawing/2014/main" id="{CB171D93-23C4-EC06-C480-4802E57EC8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8437" y="3218060"/>
            <a:ext cx="3314700"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296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A1D73-3CF6-73E8-859D-078D0E25B8C3}"/>
            </a:ext>
          </a:extLst>
        </p:cNvPr>
        <p:cNvGrpSpPr/>
        <p:nvPr/>
      </p:nvGrpSpPr>
      <p:grpSpPr>
        <a:xfrm>
          <a:off x="0" y="0"/>
          <a:ext cx="0" cy="0"/>
          <a:chOff x="0" y="0"/>
          <a:chExt cx="0" cy="0"/>
        </a:xfrm>
      </p:grpSpPr>
      <p:pic>
        <p:nvPicPr>
          <p:cNvPr id="1026" name="Picture 2" descr="Cerebellum Brain Damage: Causes, Effects, and Rehabilitation">
            <a:extLst>
              <a:ext uri="{FF2B5EF4-FFF2-40B4-BE49-F238E27FC236}">
                <a16:creationId xmlns:a16="http://schemas.microsoft.com/office/drawing/2014/main" id="{240712B7-8D6F-5BC7-63EB-73477B6DD83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72" r="6690"/>
          <a:stretch>
            <a:fillRect/>
          </a:stretch>
        </p:blipFill>
        <p:spPr bwMode="auto">
          <a:xfrm>
            <a:off x="8479498" y="56291"/>
            <a:ext cx="3595126" cy="29870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829187E-447B-855C-5FCD-625208CB8E4A}"/>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75EE745C-F0AF-54FD-947B-FC9A167792FB}"/>
              </a:ext>
            </a:extLst>
          </p:cNvPr>
          <p:cNvSpPr>
            <a:spLocks noGrp="1"/>
          </p:cNvSpPr>
          <p:nvPr>
            <p:ph idx="1"/>
          </p:nvPr>
        </p:nvSpPr>
        <p:spPr>
          <a:xfrm>
            <a:off x="838200" y="1825625"/>
            <a:ext cx="7943850" cy="4351338"/>
          </a:xfrm>
        </p:spPr>
        <p:txBody>
          <a:bodyPr>
            <a:normAutofit lnSpcReduction="10000"/>
          </a:bodyPr>
          <a:lstStyle/>
          <a:p>
            <a:pPr marL="0" indent="0">
              <a:buNone/>
            </a:pPr>
            <a:r>
              <a:rPr lang="en-US" b="1" dirty="0"/>
              <a:t>Cerebellum</a:t>
            </a:r>
          </a:p>
          <a:p>
            <a:r>
              <a:rPr lang="en-US" b="1" dirty="0"/>
              <a:t>Flocculus</a:t>
            </a:r>
            <a:r>
              <a:rPr lang="en-US" dirty="0"/>
              <a:t>: Controls balance and eye movements</a:t>
            </a:r>
          </a:p>
          <a:p>
            <a:pPr lvl="1"/>
            <a:r>
              <a:rPr lang="en-US" dirty="0"/>
              <a:t>Integrates vestibular system for balance</a:t>
            </a:r>
          </a:p>
          <a:p>
            <a:pPr lvl="1"/>
            <a:r>
              <a:rPr lang="en-US" dirty="0"/>
              <a:t>Stabilizes gaze</a:t>
            </a:r>
          </a:p>
          <a:p>
            <a:pPr lvl="1"/>
            <a:endParaRPr lang="en-US" dirty="0"/>
          </a:p>
          <a:p>
            <a:r>
              <a:rPr lang="en-US" b="1" dirty="0"/>
              <a:t>Vermis</a:t>
            </a:r>
            <a:r>
              <a:rPr lang="en-US" dirty="0"/>
              <a:t>: Posture and movement of midline muscles </a:t>
            </a:r>
          </a:p>
          <a:p>
            <a:pPr lvl="1"/>
            <a:r>
              <a:rPr lang="en-US" dirty="0"/>
              <a:t>Trunk and face</a:t>
            </a:r>
          </a:p>
          <a:p>
            <a:pPr lvl="1"/>
            <a:r>
              <a:rPr lang="en-US" dirty="0"/>
              <a:t>Maintains upright posture during standing and walking</a:t>
            </a:r>
          </a:p>
          <a:p>
            <a:pPr lvl="1"/>
            <a:r>
              <a:rPr lang="en-US" dirty="0"/>
              <a:t>Controls saccadic eye movements</a:t>
            </a:r>
          </a:p>
          <a:p>
            <a:endParaRPr lang="en-US" dirty="0"/>
          </a:p>
          <a:p>
            <a:pPr lvl="1"/>
            <a:endParaRPr lang="en-US" dirty="0"/>
          </a:p>
          <a:p>
            <a:endParaRPr lang="en-US" dirty="0"/>
          </a:p>
          <a:p>
            <a:pPr marL="0" indent="0">
              <a:buNone/>
            </a:pPr>
            <a:endParaRPr lang="en-US" b="1" dirty="0"/>
          </a:p>
          <a:p>
            <a:pPr marL="0" indent="0">
              <a:buNone/>
            </a:pPr>
            <a:endParaRPr lang="en-US" b="1" dirty="0"/>
          </a:p>
          <a:p>
            <a:endParaRPr lang="en-US" b="1" dirty="0"/>
          </a:p>
          <a:p>
            <a:endParaRPr lang="en-US" dirty="0"/>
          </a:p>
        </p:txBody>
      </p:sp>
      <p:pic>
        <p:nvPicPr>
          <p:cNvPr id="4" name="Picture 2" descr="The cerebellar homonculus">
            <a:extLst>
              <a:ext uri="{FF2B5EF4-FFF2-40B4-BE49-F238E27FC236}">
                <a16:creationId xmlns:a16="http://schemas.microsoft.com/office/drawing/2014/main" id="{ACEC483F-45FF-38F5-8A72-B119A0A331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8437" y="3218060"/>
            <a:ext cx="3314700"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8439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4DA5-4F6E-8A1A-75B7-DEADA5003E3E}"/>
            </a:ext>
          </a:extLst>
        </p:cNvPr>
        <p:cNvGrpSpPr/>
        <p:nvPr/>
      </p:nvGrpSpPr>
      <p:grpSpPr>
        <a:xfrm>
          <a:off x="0" y="0"/>
          <a:ext cx="0" cy="0"/>
          <a:chOff x="0" y="0"/>
          <a:chExt cx="0" cy="0"/>
        </a:xfrm>
      </p:grpSpPr>
      <p:pic>
        <p:nvPicPr>
          <p:cNvPr id="1026" name="Picture 2" descr="Cerebellum Brain Damage: Causes, Effects, and Rehabilitation">
            <a:extLst>
              <a:ext uri="{FF2B5EF4-FFF2-40B4-BE49-F238E27FC236}">
                <a16:creationId xmlns:a16="http://schemas.microsoft.com/office/drawing/2014/main" id="{9CD02C5C-226A-73EB-48BC-E7F078F75E0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072" r="6690"/>
          <a:stretch>
            <a:fillRect/>
          </a:stretch>
        </p:blipFill>
        <p:spPr bwMode="auto">
          <a:xfrm>
            <a:off x="8479498" y="56291"/>
            <a:ext cx="3595126" cy="2987046"/>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B34F444-3355-1F9A-44FC-1F6EF3DABAA1}"/>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9677A645-D4A3-1FC7-864F-98DD93DAFFB3}"/>
              </a:ext>
            </a:extLst>
          </p:cNvPr>
          <p:cNvSpPr>
            <a:spLocks noGrp="1"/>
          </p:cNvSpPr>
          <p:nvPr>
            <p:ph idx="1"/>
          </p:nvPr>
        </p:nvSpPr>
        <p:spPr>
          <a:xfrm>
            <a:off x="838199" y="1825625"/>
            <a:ext cx="8410575" cy="4351338"/>
          </a:xfrm>
        </p:spPr>
        <p:txBody>
          <a:bodyPr>
            <a:normAutofit fontScale="92500" lnSpcReduction="10000"/>
          </a:bodyPr>
          <a:lstStyle/>
          <a:p>
            <a:pPr marL="0" indent="0">
              <a:buNone/>
            </a:pPr>
            <a:r>
              <a:rPr lang="en-US" b="1" dirty="0"/>
              <a:t>Cerebellum</a:t>
            </a:r>
          </a:p>
          <a:p>
            <a:r>
              <a:rPr lang="en-US" b="1" dirty="0"/>
              <a:t>Paravermis: </a:t>
            </a:r>
            <a:r>
              <a:rPr lang="en-US" dirty="0"/>
              <a:t>Coordinates movement of distal limbs</a:t>
            </a:r>
          </a:p>
          <a:p>
            <a:pPr lvl="1"/>
            <a:r>
              <a:rPr lang="en-US" dirty="0"/>
              <a:t>Arms, legs, hands, feet, and digits</a:t>
            </a:r>
          </a:p>
          <a:p>
            <a:pPr lvl="1"/>
            <a:r>
              <a:rPr lang="en-US" dirty="0"/>
              <a:t>Ensures smooth movements </a:t>
            </a:r>
          </a:p>
          <a:p>
            <a:pPr lvl="1"/>
            <a:r>
              <a:rPr lang="en-US" dirty="0"/>
              <a:t>Corrects errors during actions</a:t>
            </a:r>
          </a:p>
          <a:p>
            <a:endParaRPr lang="en-US" dirty="0"/>
          </a:p>
          <a:p>
            <a:r>
              <a:rPr lang="en-US" b="1" dirty="0"/>
              <a:t>Lateral Hemisphere</a:t>
            </a:r>
            <a:r>
              <a:rPr lang="en-US" dirty="0"/>
              <a:t>: Coordination and timing of complex voluntary movements</a:t>
            </a:r>
          </a:p>
          <a:p>
            <a:pPr lvl="1"/>
            <a:r>
              <a:rPr lang="en-US" dirty="0"/>
              <a:t>Contributes to cognitive planning and motor preparation</a:t>
            </a:r>
          </a:p>
          <a:p>
            <a:pPr lvl="2"/>
            <a:r>
              <a:rPr lang="en-US" dirty="0"/>
              <a:t>Connected to premotor and prefrontal cortex</a:t>
            </a:r>
          </a:p>
          <a:p>
            <a:pPr lvl="1"/>
            <a:r>
              <a:rPr lang="en-US" dirty="0"/>
              <a:t>Help refine and organize motor plans</a:t>
            </a:r>
          </a:p>
          <a:p>
            <a:pPr lvl="1"/>
            <a:r>
              <a:rPr lang="en-US" dirty="0"/>
              <a:t>Times and sequences complex actions</a:t>
            </a:r>
          </a:p>
          <a:p>
            <a:endParaRPr lang="en-US" dirty="0"/>
          </a:p>
          <a:p>
            <a:pPr lvl="1"/>
            <a:endParaRPr lang="en-US" dirty="0"/>
          </a:p>
          <a:p>
            <a:endParaRPr lang="en-US" dirty="0"/>
          </a:p>
          <a:p>
            <a:pPr marL="0" indent="0">
              <a:buNone/>
            </a:pPr>
            <a:endParaRPr lang="en-US" b="1" dirty="0"/>
          </a:p>
          <a:p>
            <a:pPr marL="0" indent="0">
              <a:buNone/>
            </a:pPr>
            <a:endParaRPr lang="en-US" b="1" dirty="0"/>
          </a:p>
          <a:p>
            <a:endParaRPr lang="en-US" b="1" dirty="0"/>
          </a:p>
          <a:p>
            <a:endParaRPr lang="en-US" dirty="0"/>
          </a:p>
        </p:txBody>
      </p:sp>
      <p:pic>
        <p:nvPicPr>
          <p:cNvPr id="4" name="Picture 2" descr="The cerebellar homonculus">
            <a:extLst>
              <a:ext uri="{FF2B5EF4-FFF2-40B4-BE49-F238E27FC236}">
                <a16:creationId xmlns:a16="http://schemas.microsoft.com/office/drawing/2014/main" id="{84E8DBA6-4F5C-FCAE-E566-4190F3F129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8437" y="3218060"/>
            <a:ext cx="3314700" cy="3000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7549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diagram of a brain&#10;&#10;AI-generated content may be incorrect.">
            <a:extLst>
              <a:ext uri="{FF2B5EF4-FFF2-40B4-BE49-F238E27FC236}">
                <a16:creationId xmlns:a16="http://schemas.microsoft.com/office/drawing/2014/main" id="{022AC672-8FA6-C469-9890-B7B9A7310A4E}"/>
              </a:ext>
            </a:extLst>
          </p:cNvPr>
          <p:cNvPicPr>
            <a:picLocks noChangeAspect="1"/>
          </p:cNvPicPr>
          <p:nvPr/>
        </p:nvPicPr>
        <p:blipFill>
          <a:blip r:embed="rId3">
            <a:extLst>
              <a:ext uri="{28A0092B-C50C-407E-A947-70E740481C1C}">
                <a14:useLocalDpi xmlns:a14="http://schemas.microsoft.com/office/drawing/2010/main" val="0"/>
              </a:ext>
            </a:extLst>
          </a:blip>
          <a:srcRect l="14324" t="14258" r="21598"/>
          <a:stretch>
            <a:fillRect/>
          </a:stretch>
        </p:blipFill>
        <p:spPr>
          <a:xfrm>
            <a:off x="8006770" y="3276600"/>
            <a:ext cx="4109029" cy="3359150"/>
          </a:xfrm>
          <a:prstGeom prst="rect">
            <a:avLst/>
          </a:prstGeom>
        </p:spPr>
      </p:pic>
      <p:sp>
        <p:nvSpPr>
          <p:cNvPr id="2" name="Title 1">
            <a:extLst>
              <a:ext uri="{FF2B5EF4-FFF2-40B4-BE49-F238E27FC236}">
                <a16:creationId xmlns:a16="http://schemas.microsoft.com/office/drawing/2014/main" id="{6377D126-EF92-5C48-B20B-4139AB9F3908}"/>
              </a:ext>
            </a:extLst>
          </p:cNvPr>
          <p:cNvSpPr>
            <a:spLocks noGrp="1"/>
          </p:cNvSpPr>
          <p:nvPr>
            <p:ph type="title"/>
          </p:nvPr>
        </p:nvSpPr>
        <p:spPr/>
        <p:txBody>
          <a:bodyPr/>
          <a:lstStyle/>
          <a:p>
            <a:r>
              <a:rPr lang="en-US" dirty="0"/>
              <a:t>Secondary Motor Regions</a:t>
            </a:r>
          </a:p>
        </p:txBody>
      </p:sp>
      <p:sp>
        <p:nvSpPr>
          <p:cNvPr id="3" name="Content Placeholder 2">
            <a:extLst>
              <a:ext uri="{FF2B5EF4-FFF2-40B4-BE49-F238E27FC236}">
                <a16:creationId xmlns:a16="http://schemas.microsoft.com/office/drawing/2014/main" id="{DECB352C-6FEF-8840-812D-86B2C00FB702}"/>
              </a:ext>
            </a:extLst>
          </p:cNvPr>
          <p:cNvSpPr>
            <a:spLocks noGrp="1"/>
          </p:cNvSpPr>
          <p:nvPr>
            <p:ph idx="1"/>
          </p:nvPr>
        </p:nvSpPr>
        <p:spPr>
          <a:xfrm>
            <a:off x="838200" y="1825624"/>
            <a:ext cx="7896226" cy="5057081"/>
          </a:xfrm>
        </p:spPr>
        <p:txBody>
          <a:bodyPr>
            <a:normAutofit/>
          </a:bodyPr>
          <a:lstStyle/>
          <a:p>
            <a:pPr marL="0" indent="0">
              <a:buNone/>
            </a:pPr>
            <a:r>
              <a:rPr lang="en-CA" b="1" dirty="0"/>
              <a:t>Posterior Parietal Cortex (PPC)</a:t>
            </a:r>
            <a:endParaRPr lang="en-CA" dirty="0"/>
          </a:p>
          <a:p>
            <a:r>
              <a:rPr lang="en-US" dirty="0"/>
              <a:t>Integrates visual, somatosensory, and proprioceptive input for spatial navigation</a:t>
            </a:r>
          </a:p>
          <a:p>
            <a:pPr lvl="1"/>
            <a:r>
              <a:rPr lang="en-US" dirty="0"/>
              <a:t>Translates sensory information into motor plans</a:t>
            </a:r>
          </a:p>
          <a:p>
            <a:pPr lvl="2"/>
            <a:r>
              <a:rPr lang="en-US" dirty="0"/>
              <a:t>Perceives the world and determines how to act</a:t>
            </a:r>
          </a:p>
          <a:p>
            <a:r>
              <a:rPr lang="en-US" dirty="0"/>
              <a:t>Encodes motor intentions, linking actions to goals </a:t>
            </a:r>
          </a:p>
          <a:p>
            <a:endParaRPr lang="en-CA" dirty="0"/>
          </a:p>
          <a:p>
            <a:pPr marL="0" indent="0">
              <a:buNone/>
            </a:pPr>
            <a:endParaRPr lang="en-CA" dirty="0"/>
          </a:p>
          <a:p>
            <a:pPr marL="0" indent="0">
              <a:buNone/>
            </a:pPr>
            <a:endParaRPr lang="en-CA" dirty="0"/>
          </a:p>
          <a:p>
            <a:pPr marL="0" indent="0">
              <a:buNone/>
            </a:pPr>
            <a:endParaRPr lang="en-CA"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940116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76176F-5A0E-0080-99AE-1BF8FD57412B}"/>
              </a:ext>
            </a:extLst>
          </p:cNvPr>
          <p:cNvPicPr>
            <a:picLocks noChangeAspect="1"/>
          </p:cNvPicPr>
          <p:nvPr/>
        </p:nvPicPr>
        <p:blipFill>
          <a:blip r:embed="rId3">
            <a:extLst>
              <a:ext uri="{28A0092B-C50C-407E-A947-70E740481C1C}">
                <a14:useLocalDpi xmlns:a14="http://schemas.microsoft.com/office/drawing/2010/main" val="0"/>
              </a:ext>
            </a:extLst>
          </a:blip>
          <a:srcRect l="17534"/>
          <a:stretch>
            <a:fillRect/>
          </a:stretch>
        </p:blipFill>
        <p:spPr>
          <a:xfrm>
            <a:off x="7737231" y="0"/>
            <a:ext cx="4454769" cy="6858000"/>
          </a:xfrm>
          <a:prstGeom prst="rect">
            <a:avLst/>
          </a:prstGeom>
        </p:spPr>
      </p:pic>
      <p:sp>
        <p:nvSpPr>
          <p:cNvPr id="2" name="Title 1">
            <a:extLst>
              <a:ext uri="{FF2B5EF4-FFF2-40B4-BE49-F238E27FC236}">
                <a16:creationId xmlns:a16="http://schemas.microsoft.com/office/drawing/2014/main" id="{BA416ADD-E773-4270-74A4-6EEDDBBC93B6}"/>
              </a:ext>
            </a:extLst>
          </p:cNvPr>
          <p:cNvSpPr>
            <a:spLocks noGrp="1"/>
          </p:cNvSpPr>
          <p:nvPr>
            <p:ph type="title"/>
          </p:nvPr>
        </p:nvSpPr>
        <p:spPr/>
        <p:txBody>
          <a:bodyPr/>
          <a:lstStyle/>
          <a:p>
            <a:r>
              <a:rPr lang="en-US" dirty="0"/>
              <a:t>Testable Figures</a:t>
            </a:r>
          </a:p>
        </p:txBody>
      </p:sp>
      <p:sp>
        <p:nvSpPr>
          <p:cNvPr id="3" name="TextBox 2">
            <a:extLst>
              <a:ext uri="{FF2B5EF4-FFF2-40B4-BE49-F238E27FC236}">
                <a16:creationId xmlns:a16="http://schemas.microsoft.com/office/drawing/2014/main" id="{83BD16DB-37E6-F1F5-7348-E2153B7BC2FD}"/>
              </a:ext>
            </a:extLst>
          </p:cNvPr>
          <p:cNvSpPr txBox="1"/>
          <p:nvPr/>
        </p:nvSpPr>
        <p:spPr>
          <a:xfrm>
            <a:off x="0" y="6492875"/>
            <a:ext cx="7212103" cy="369332"/>
          </a:xfrm>
          <a:prstGeom prst="rect">
            <a:avLst/>
          </a:prstGeom>
          <a:noFill/>
        </p:spPr>
        <p:txBody>
          <a:bodyPr wrap="none" rtlCol="0">
            <a:spAutoFit/>
          </a:bodyPr>
          <a:lstStyle/>
          <a:p>
            <a:r>
              <a:rPr lang="en-US" i="1" dirty="0"/>
              <a:t>All figures corresponding to the results of a study are testable material. </a:t>
            </a:r>
          </a:p>
        </p:txBody>
      </p:sp>
      <p:sp>
        <p:nvSpPr>
          <p:cNvPr id="5" name="Content Placeholder 2">
            <a:extLst>
              <a:ext uri="{FF2B5EF4-FFF2-40B4-BE49-F238E27FC236}">
                <a16:creationId xmlns:a16="http://schemas.microsoft.com/office/drawing/2014/main" id="{67F61BB8-1FC1-AFE2-DABD-CEF63125C9FB}"/>
              </a:ext>
            </a:extLst>
          </p:cNvPr>
          <p:cNvSpPr>
            <a:spLocks noGrp="1"/>
          </p:cNvSpPr>
          <p:nvPr>
            <p:ph idx="1"/>
          </p:nvPr>
        </p:nvSpPr>
        <p:spPr>
          <a:xfrm>
            <a:off x="838200" y="1825625"/>
            <a:ext cx="10515600" cy="4351338"/>
          </a:xfrm>
        </p:spPr>
        <p:txBody>
          <a:bodyPr/>
          <a:lstStyle/>
          <a:p>
            <a:pPr marL="0" indent="0">
              <a:buNone/>
            </a:pPr>
            <a:r>
              <a:rPr lang="en-US" dirty="0"/>
              <a:t>Slide 34</a:t>
            </a:r>
          </a:p>
          <a:p>
            <a:pPr marL="0" indent="0">
              <a:buNone/>
            </a:pPr>
            <a:r>
              <a:rPr lang="en-US" dirty="0"/>
              <a:t>Slide 36 (top figure)</a:t>
            </a:r>
          </a:p>
        </p:txBody>
      </p:sp>
    </p:spTree>
    <p:extLst>
      <p:ext uri="{BB962C8B-B14F-4D97-AF65-F5344CB8AC3E}">
        <p14:creationId xmlns:p14="http://schemas.microsoft.com/office/powerpoint/2010/main" val="1446489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c61d377-9894-427c-b13b-1d6a51662b4e}" enabled="0" method="" siteId="{9c61d377-9894-427c-b13b-1d6a51662b4e}" removed="1"/>
</clbl:labelList>
</file>

<file path=docProps/app.xml><?xml version="1.0" encoding="utf-8"?>
<Properties xmlns="http://schemas.openxmlformats.org/officeDocument/2006/extended-properties" xmlns:vt="http://schemas.openxmlformats.org/officeDocument/2006/docPropsVTypes">
  <TotalTime>8354</TotalTime>
  <Words>1892</Words>
  <Application>Microsoft Office PowerPoint</Application>
  <PresentationFormat>Widescreen</PresentationFormat>
  <Paragraphs>396</Paragraphs>
  <Slides>43</Slides>
  <Notes>5</Notes>
  <HiddenSlides>0</HiddenSlides>
  <MMClips>3</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Aptos</vt:lpstr>
      <vt:lpstr>Aptos Display</vt:lpstr>
      <vt:lpstr>Arial</vt:lpstr>
      <vt:lpstr>Calibri</vt:lpstr>
      <vt:lpstr>Office Theme</vt:lpstr>
      <vt:lpstr>Motor Control</vt:lpstr>
      <vt:lpstr>PowerPoint Presentation</vt:lpstr>
      <vt:lpstr>PowerPoint Presentation</vt:lpstr>
      <vt:lpstr>Motor Control</vt:lpstr>
      <vt:lpstr>Motor Control</vt:lpstr>
      <vt:lpstr>Motor Control</vt:lpstr>
      <vt:lpstr>PowerPoint Presentation</vt:lpstr>
      <vt:lpstr>Hierarchical Motor Control</vt:lpstr>
      <vt:lpstr>PowerPoint Presentation</vt:lpstr>
      <vt:lpstr>Skeletal &amp; Muscle System</vt:lpstr>
      <vt:lpstr>Skeletal &amp; Muscle System</vt:lpstr>
      <vt:lpstr>Skeletal &amp; Muscle System</vt:lpstr>
      <vt:lpstr>Skeletal &amp; Muscle System</vt:lpstr>
      <vt:lpstr>Skeletal &amp; Muscle System</vt:lpstr>
      <vt:lpstr>Skeletal &amp; Muscle System</vt:lpstr>
      <vt:lpstr>PowerPoint Presentation</vt:lpstr>
      <vt:lpstr>Skeletal &amp; Muscle System</vt:lpstr>
      <vt:lpstr>Skeletal &amp; Muscle System</vt:lpstr>
      <vt:lpstr>Skeletal &amp; Muscle System</vt:lpstr>
      <vt:lpstr>Skeletal &amp; Muscle System</vt:lpstr>
      <vt:lpstr>PowerPoint Presentation</vt:lpstr>
      <vt:lpstr>Spinal Cord System</vt:lpstr>
      <vt:lpstr>Spinal Cord System</vt:lpstr>
      <vt:lpstr>Spinal Cord System</vt:lpstr>
      <vt:lpstr>Spinal Cord System</vt:lpstr>
      <vt:lpstr>PowerPoint Presentation</vt:lpstr>
      <vt:lpstr>Primary Motor Regions</vt:lpstr>
      <vt:lpstr>Primary Motor Regions</vt:lpstr>
      <vt:lpstr>Primary Motor Regions</vt:lpstr>
      <vt:lpstr>Primary Motor Regions</vt:lpstr>
      <vt:lpstr>Primary Motor Regions</vt:lpstr>
      <vt:lpstr>Primary Motor Regions</vt:lpstr>
      <vt:lpstr>PowerPoint Presentation</vt:lpstr>
      <vt:lpstr>Secondary Motor Regions</vt:lpstr>
      <vt:lpstr>Secondary Motor Regions</vt:lpstr>
      <vt:lpstr>Secondary Motor Regions</vt:lpstr>
      <vt:lpstr>Secondary Motor Regions</vt:lpstr>
      <vt:lpstr>Secondary Motor Regions</vt:lpstr>
      <vt:lpstr>Secondary Motor Regions</vt:lpstr>
      <vt:lpstr>Secondary Motor Regions</vt:lpstr>
      <vt:lpstr>Secondary Motor Regions</vt:lpstr>
      <vt:lpstr>Secondary Motor Regions</vt:lpstr>
      <vt:lpstr>Testable Figures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Chad Williams</dc:creator>
  <cp:lastModifiedBy>Chad Williams</cp:lastModifiedBy>
  <cp:revision>2</cp:revision>
  <dcterms:created xsi:type="dcterms:W3CDTF">2025-08-11T14:51:42Z</dcterms:created>
  <dcterms:modified xsi:type="dcterms:W3CDTF">2026-07-28T21:51:15Z</dcterms:modified>
</cp:coreProperties>
</file>